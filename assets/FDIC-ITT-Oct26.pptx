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0.xml" ContentType="application/vnd.openxmlformats-officedocument.presentationml.tags+xml"/>
  <Override PartName="/ppt/notesSlides/notesSlide26.xml" ContentType="application/vnd.openxmlformats-officedocument.presentationml.notesSlide+xml"/>
  <Override PartName="/ppt/tags/tag11.xml" ContentType="application/vnd.openxmlformats-officedocument.presentationml.tags+xml"/>
  <Override PartName="/ppt/notesSlides/notesSlide27.xml" ContentType="application/vnd.openxmlformats-officedocument.presentationml.notesSlide+xml"/>
  <Override PartName="/ppt/tags/tag12.xml" ContentType="application/vnd.openxmlformats-officedocument.presentationml.tags+xml"/>
  <Override PartName="/ppt/notesSlides/notesSlide28.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29.xml" ContentType="application/vnd.openxmlformats-officedocument.presentationml.notesSlide+xml"/>
  <Override PartName="/ppt/tags/tag15.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16.xml" ContentType="application/vnd.openxmlformats-officedocument.presentationml.tags+xml"/>
  <Override PartName="/ppt/notesSlides/notesSlide43.xml" ContentType="application/vnd.openxmlformats-officedocument.presentationml.notesSlide+xml"/>
  <Override PartName="/ppt/tags/tag17.xml" ContentType="application/vnd.openxmlformats-officedocument.presentationml.tags+xml"/>
  <Override PartName="/ppt/notesSlides/notesSlide44.xml" ContentType="application/vnd.openxmlformats-officedocument.presentationml.notesSlide+xml"/>
  <Override PartName="/ppt/tags/tag18.xml" ContentType="application/vnd.openxmlformats-officedocument.presentationml.tags+xml"/>
  <Override PartName="/ppt/notesSlides/notesSlide45.xml" ContentType="application/vnd.openxmlformats-officedocument.presentationml.notesSlide+xml"/>
  <Override PartName="/ppt/tags/tag19.xml" ContentType="application/vnd.openxmlformats-officedocument.presentationml.tags+xml"/>
  <Override PartName="/ppt/notesSlides/notesSlide46.xml" ContentType="application/vnd.openxmlformats-officedocument.presentationml.notesSlide+xml"/>
  <Override PartName="/ppt/tags/tag20.xml" ContentType="application/vnd.openxmlformats-officedocument.presentationml.tags+xml"/>
  <Override PartName="/ppt/notesSlides/notesSlide47.xml" ContentType="application/vnd.openxmlformats-officedocument.presentationml.notesSlide+xml"/>
  <Override PartName="/ppt/tags/tag21.xml" ContentType="application/vnd.openxmlformats-officedocument.presentationml.tags+xml"/>
  <Override PartName="/ppt/notesSlides/notesSlide48.xml" ContentType="application/vnd.openxmlformats-officedocument.presentationml.notesSlide+xml"/>
  <Override PartName="/ppt/tags/tag22.xml" ContentType="application/vnd.openxmlformats-officedocument.presentationml.tags+xml"/>
  <Override PartName="/ppt/notesSlides/notesSlide49.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50.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27.xml" ContentType="application/vnd.openxmlformats-officedocument.presentationml.tags+xml"/>
  <Override PartName="/ppt/notesSlides/notesSlide53.xml" ContentType="application/vnd.openxmlformats-officedocument.presentationml.notesSlide+xml"/>
  <Override PartName="/ppt/tags/tag28.xml" ContentType="application/vnd.openxmlformats-officedocument.presentationml.tags+xml"/>
  <Override PartName="/ppt/notesSlides/notesSlide54.xml" ContentType="application/vnd.openxmlformats-officedocument.presentationml.notesSlide+xml"/>
  <Override PartName="/ppt/tags/tag29.xml" ContentType="application/vnd.openxmlformats-officedocument.presentationml.tags+xml"/>
  <Override PartName="/ppt/notesSlides/notesSlide55.xml" ContentType="application/vnd.openxmlformats-officedocument.presentationml.notesSlide+xml"/>
  <Override PartName="/ppt/tags/tag30.xml" ContentType="application/vnd.openxmlformats-officedocument.presentationml.tags+xml"/>
  <Override PartName="/ppt/notesSlides/notesSlide56.xml" ContentType="application/vnd.openxmlformats-officedocument.presentationml.notesSlide+xml"/>
  <Override PartName="/ppt/tags/tag31.xml" ContentType="application/vnd.openxmlformats-officedocument.presentationml.tags+xml"/>
  <Override PartName="/ppt/notesSlides/notesSlide57.xml" ContentType="application/vnd.openxmlformats-officedocument.presentationml.notesSlide+xml"/>
  <Override PartName="/ppt/tags/tag32.xml" ContentType="application/vnd.openxmlformats-officedocument.presentationml.tags+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33.xml" ContentType="application/vnd.openxmlformats-officedocument.presentationml.tags+xml"/>
  <Override PartName="/ppt/notesSlides/notesSlide60.xml" ContentType="application/vnd.openxmlformats-officedocument.presentationml.notesSlide+xml"/>
  <Override PartName="/ppt/tags/tag34.xml" ContentType="application/vnd.openxmlformats-officedocument.presentationml.tags+xml"/>
  <Override PartName="/ppt/notesSlides/notesSlide61.xml" ContentType="application/vnd.openxmlformats-officedocument.presentationml.notesSlide+xml"/>
  <Override PartName="/ppt/tags/tag35.xml" ContentType="application/vnd.openxmlformats-officedocument.presentationml.tags+xml"/>
  <Override PartName="/ppt/notesSlides/notesSlide62.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40.xml" ContentType="application/vnd.openxmlformats-officedocument.presentationml.tags+xml"/>
  <Override PartName="/ppt/notesSlides/notesSlide65.xml" ContentType="application/vnd.openxmlformats-officedocument.presentationml.notesSlide+xml"/>
  <Override PartName="/ppt/tags/tag41.xml" ContentType="application/vnd.openxmlformats-officedocument.presentationml.tags+xml"/>
  <Override PartName="/ppt/notesSlides/notesSlide66.xml" ContentType="application/vnd.openxmlformats-officedocument.presentationml.notesSlide+xml"/>
  <Override PartName="/ppt/tags/tag42.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tags/tag43.xml" ContentType="application/vnd.openxmlformats-officedocument.presentationml.tags+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tags/tag44.xml" ContentType="application/vnd.openxmlformats-officedocument.presentationml.tags+xml"/>
  <Override PartName="/ppt/notesSlides/notesSlide74.xml" ContentType="application/vnd.openxmlformats-officedocument.presentationml.notesSlide+xml"/>
  <Override PartName="/ppt/tags/tag45.xml" ContentType="application/vnd.openxmlformats-officedocument.presentationml.tags+xml"/>
  <Override PartName="/ppt/notesSlides/notesSlide75.xml" ContentType="application/vnd.openxmlformats-officedocument.presentationml.notesSlide+xml"/>
  <Override PartName="/ppt/tags/tag46.xml" ContentType="application/vnd.openxmlformats-officedocument.presentationml.tags+xml"/>
  <Override PartName="/ppt/notesSlides/notesSlide76.xml" ContentType="application/vnd.openxmlformats-officedocument.presentationml.notesSlide+xml"/>
  <Override PartName="/ppt/tags/tag47.xml" ContentType="application/vnd.openxmlformats-officedocument.presentationml.tags+xml"/>
  <Override PartName="/ppt/notesSlides/notesSlide77.xml" ContentType="application/vnd.openxmlformats-officedocument.presentationml.notesSlide+xml"/>
  <Override PartName="/ppt/tags/tag48.xml" ContentType="application/vnd.openxmlformats-officedocument.presentationml.tags+xml"/>
  <Override PartName="/ppt/notesSlides/notesSlide78.xml" ContentType="application/vnd.openxmlformats-officedocument.presentationml.notesSlide+xml"/>
  <Override PartName="/ppt/tags/tag49.xml" ContentType="application/vnd.openxmlformats-officedocument.presentationml.tags+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tags/tag50.xml" ContentType="application/vnd.openxmlformats-officedocument.presentationml.tags+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tags/tag51.xml" ContentType="application/vnd.openxmlformats-officedocument.presentationml.tags+xml"/>
  <Override PartName="/ppt/notesSlides/notesSlide87.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88.xml" ContentType="application/vnd.openxmlformats-officedocument.presentationml.notesSlide+xml"/>
  <Override PartName="/ppt/tags/tag61.xml" ContentType="application/vnd.openxmlformats-officedocument.presentationml.tags+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tags/tag62.xml" ContentType="application/vnd.openxmlformats-officedocument.presentationml.tags+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tags/tag63.xml" ContentType="application/vnd.openxmlformats-officedocument.presentationml.tags+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tags/tag64.xml" ContentType="application/vnd.openxmlformats-officedocument.presentationml.tags+xml"/>
  <Override PartName="/ppt/notesSlides/notesSlide115.xml" ContentType="application/vnd.openxmlformats-officedocument.presentationml.notesSlide+xml"/>
  <Override PartName="/ppt/tags/tag65.xml" ContentType="application/vnd.openxmlformats-officedocument.presentationml.tags+xml"/>
  <Override PartName="/ppt/notesSlides/notesSlide116.xml" ContentType="application/vnd.openxmlformats-officedocument.presentationml.notesSlide+xml"/>
  <Override PartName="/ppt/tags/tag66.xml" ContentType="application/vnd.openxmlformats-officedocument.presentationml.tags+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tags/tag67.xml" ContentType="application/vnd.openxmlformats-officedocument.presentationml.tags+xml"/>
  <Override PartName="/ppt/notesSlides/notesSlide121.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22.xml" ContentType="application/vnd.openxmlformats-officedocument.presentationml.notesSlide+xml"/>
  <Override PartName="/ppt/tags/tag71.xml" ContentType="application/vnd.openxmlformats-officedocument.presentationml.tags+xml"/>
  <Override PartName="/ppt/notesSlides/notesSlide123.xml" ContentType="application/vnd.openxmlformats-officedocument.presentationml.notesSlide+xml"/>
  <Override PartName="/ppt/tags/tag72.xml" ContentType="application/vnd.openxmlformats-officedocument.presentationml.tags+xml"/>
  <Override PartName="/ppt/notesSlides/notesSlide124.xml" ContentType="application/vnd.openxmlformats-officedocument.presentationml.notesSlide+xml"/>
  <Override PartName="/ppt/tags/tag73.xml" ContentType="application/vnd.openxmlformats-officedocument.presentationml.tags+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tags/tag74.xml" ContentType="application/vnd.openxmlformats-officedocument.presentationml.tags+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tags/tag75.xml" ContentType="application/vnd.openxmlformats-officedocument.presentationml.tags+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tags/tag76.xml" ContentType="application/vnd.openxmlformats-officedocument.presentationml.tags+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tags/tag77.xml" ContentType="application/vnd.openxmlformats-officedocument.presentationml.tags+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tags/tag78.xml" ContentType="application/vnd.openxmlformats-officedocument.presentationml.tags+xml"/>
  <Override PartName="/ppt/notesSlides/notesSlide155.xml" ContentType="application/vnd.openxmlformats-officedocument.presentationml.notesSlide+xml"/>
  <Override PartName="/ppt/tags/tag79.xml" ContentType="application/vnd.openxmlformats-officedocument.presentationml.tags+xml"/>
  <Override PartName="/ppt/notesSlides/notesSlide156.xml" ContentType="application/vnd.openxmlformats-officedocument.presentationml.notesSlide+xml"/>
  <Override PartName="/ppt/tags/tag80.xml" ContentType="application/vnd.openxmlformats-officedocument.presentationml.tags+xml"/>
  <Override PartName="/ppt/notesSlides/notesSlide157.xml" ContentType="application/vnd.openxmlformats-officedocument.presentationml.notesSlide+xml"/>
  <Override PartName="/ppt/tags/tag81.xml" ContentType="application/vnd.openxmlformats-officedocument.presentationml.tags+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tags/tag82.xml" ContentType="application/vnd.openxmlformats-officedocument.presentationml.tags+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tags/tag83.xml" ContentType="application/vnd.openxmlformats-officedocument.presentationml.tags+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tags/tag84.xml" ContentType="application/vnd.openxmlformats-officedocument.presentationml.tags+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tags/tag85.xml" ContentType="application/vnd.openxmlformats-officedocument.presentationml.tags+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tags/tag86.xml" ContentType="application/vnd.openxmlformats-officedocument.presentationml.tags+xml"/>
  <Override PartName="/ppt/notesSlides/notesSlide18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2" r:id="rId1"/>
  </p:sldMasterIdLst>
  <p:notesMasterIdLst>
    <p:notesMasterId r:id="rId260"/>
  </p:notesMasterIdLst>
  <p:handoutMasterIdLst>
    <p:handoutMasterId r:id="rId261"/>
  </p:handoutMasterIdLst>
  <p:sldIdLst>
    <p:sldId id="256" r:id="rId2"/>
    <p:sldId id="1352" r:id="rId3"/>
    <p:sldId id="571" r:id="rId4"/>
    <p:sldId id="1059" r:id="rId5"/>
    <p:sldId id="1005" r:id="rId6"/>
    <p:sldId id="540" r:id="rId7"/>
    <p:sldId id="995" r:id="rId8"/>
    <p:sldId id="1558" r:id="rId9"/>
    <p:sldId id="1349" r:id="rId10"/>
    <p:sldId id="1353" r:id="rId11"/>
    <p:sldId id="275" r:id="rId12"/>
    <p:sldId id="276" r:id="rId13"/>
    <p:sldId id="1191" r:id="rId14"/>
    <p:sldId id="1190" r:id="rId15"/>
    <p:sldId id="547" r:id="rId16"/>
    <p:sldId id="548" r:id="rId17"/>
    <p:sldId id="549" r:id="rId18"/>
    <p:sldId id="1559" r:id="rId19"/>
    <p:sldId id="1354" r:id="rId20"/>
    <p:sldId id="1355" r:id="rId21"/>
    <p:sldId id="1356" r:id="rId22"/>
    <p:sldId id="1357" r:id="rId23"/>
    <p:sldId id="1358" r:id="rId24"/>
    <p:sldId id="1213" r:id="rId25"/>
    <p:sldId id="1458" r:id="rId26"/>
    <p:sldId id="601" r:id="rId27"/>
    <p:sldId id="1457" r:id="rId28"/>
    <p:sldId id="257" r:id="rId29"/>
    <p:sldId id="258" r:id="rId30"/>
    <p:sldId id="259" r:id="rId31"/>
    <p:sldId id="260" r:id="rId32"/>
    <p:sldId id="261" r:id="rId33"/>
    <p:sldId id="1459" r:id="rId34"/>
    <p:sldId id="1460" r:id="rId35"/>
    <p:sldId id="1461" r:id="rId36"/>
    <p:sldId id="1362" r:id="rId37"/>
    <p:sldId id="1214" r:id="rId38"/>
    <p:sldId id="1219" r:id="rId39"/>
    <p:sldId id="1215" r:id="rId40"/>
    <p:sldId id="1217" r:id="rId41"/>
    <p:sldId id="1220" r:id="rId42"/>
    <p:sldId id="1216" r:id="rId43"/>
    <p:sldId id="1221" r:id="rId44"/>
    <p:sldId id="1218" r:id="rId45"/>
    <p:sldId id="1224" r:id="rId46"/>
    <p:sldId id="1225" r:id="rId47"/>
    <p:sldId id="1226" r:id="rId48"/>
    <p:sldId id="1227" r:id="rId49"/>
    <p:sldId id="1228" r:id="rId50"/>
    <p:sldId id="1229" r:id="rId51"/>
    <p:sldId id="1230" r:id="rId52"/>
    <p:sldId id="1231" r:id="rId53"/>
    <p:sldId id="1235" r:id="rId54"/>
    <p:sldId id="1364" r:id="rId55"/>
    <p:sldId id="1462" r:id="rId56"/>
    <p:sldId id="1367" r:id="rId57"/>
    <p:sldId id="1371" r:id="rId58"/>
    <p:sldId id="1244" r:id="rId59"/>
    <p:sldId id="1261" r:id="rId60"/>
    <p:sldId id="1262" r:id="rId61"/>
    <p:sldId id="1464" r:id="rId62"/>
    <p:sldId id="1266" r:id="rId63"/>
    <p:sldId id="1269" r:id="rId64"/>
    <p:sldId id="1267" r:id="rId65"/>
    <p:sldId id="1270" r:id="rId66"/>
    <p:sldId id="1274" r:id="rId67"/>
    <p:sldId id="1286" r:id="rId68"/>
    <p:sldId id="1285" r:id="rId69"/>
    <p:sldId id="1287" r:id="rId70"/>
    <p:sldId id="1288" r:id="rId71"/>
    <p:sldId id="1289" r:id="rId72"/>
    <p:sldId id="1290" r:id="rId73"/>
    <p:sldId id="1301" r:id="rId74"/>
    <p:sldId id="1463" r:id="rId75"/>
    <p:sldId id="1374" r:id="rId76"/>
    <p:sldId id="1280" r:id="rId77"/>
    <p:sldId id="1281" r:id="rId78"/>
    <p:sldId id="1282" r:id="rId79"/>
    <p:sldId id="1283" r:id="rId80"/>
    <p:sldId id="595" r:id="rId81"/>
    <p:sldId id="1465" r:id="rId82"/>
    <p:sldId id="1466" r:id="rId83"/>
    <p:sldId id="1467" r:id="rId84"/>
    <p:sldId id="1379" r:id="rId85"/>
    <p:sldId id="1380" r:id="rId86"/>
    <p:sldId id="1278" r:id="rId87"/>
    <p:sldId id="1259" r:id="rId88"/>
    <p:sldId id="565" r:id="rId89"/>
    <p:sldId id="1193" r:id="rId90"/>
    <p:sldId id="551" r:id="rId91"/>
    <p:sldId id="552" r:id="rId92"/>
    <p:sldId id="553" r:id="rId93"/>
    <p:sldId id="555" r:id="rId94"/>
    <p:sldId id="557" r:id="rId95"/>
    <p:sldId id="556" r:id="rId96"/>
    <p:sldId id="289" r:id="rId97"/>
    <p:sldId id="1204" r:id="rId98"/>
    <p:sldId id="1205" r:id="rId99"/>
    <p:sldId id="332" r:id="rId100"/>
    <p:sldId id="1381" r:id="rId101"/>
    <p:sldId id="1236" r:id="rId102"/>
    <p:sldId id="1237" r:id="rId103"/>
    <p:sldId id="1240" r:id="rId104"/>
    <p:sldId id="1246" r:id="rId105"/>
    <p:sldId id="1241" r:id="rId106"/>
    <p:sldId id="1350" r:id="rId107"/>
    <p:sldId id="1242" r:id="rId108"/>
    <p:sldId id="1250" r:id="rId109"/>
    <p:sldId id="1383" r:id="rId110"/>
    <p:sldId id="1253" r:id="rId111"/>
    <p:sldId id="1254" r:id="rId112"/>
    <p:sldId id="1255" r:id="rId113"/>
    <p:sldId id="1384" r:id="rId114"/>
    <p:sldId id="1197" r:id="rId115"/>
    <p:sldId id="1303" r:id="rId116"/>
    <p:sldId id="1306" r:id="rId117"/>
    <p:sldId id="1307" r:id="rId118"/>
    <p:sldId id="1304" r:id="rId119"/>
    <p:sldId id="1468" r:id="rId120"/>
    <p:sldId id="1319" r:id="rId121"/>
    <p:sldId id="1469" r:id="rId122"/>
    <p:sldId id="1470" r:id="rId123"/>
    <p:sldId id="1471" r:id="rId124"/>
    <p:sldId id="1472" r:id="rId125"/>
    <p:sldId id="1396" r:id="rId126"/>
    <p:sldId id="1397" r:id="rId127"/>
    <p:sldId id="1398" r:id="rId128"/>
    <p:sldId id="1399" r:id="rId129"/>
    <p:sldId id="1400" r:id="rId130"/>
    <p:sldId id="1401" r:id="rId131"/>
    <p:sldId id="1402" r:id="rId132"/>
    <p:sldId id="1473" r:id="rId133"/>
    <p:sldId id="1474" r:id="rId134"/>
    <p:sldId id="1475" r:id="rId135"/>
    <p:sldId id="1476" r:id="rId136"/>
    <p:sldId id="1408" r:id="rId137"/>
    <p:sldId id="1477" r:id="rId138"/>
    <p:sldId id="1410" r:id="rId139"/>
    <p:sldId id="1411" r:id="rId140"/>
    <p:sldId id="1412" r:id="rId141"/>
    <p:sldId id="1413" r:id="rId142"/>
    <p:sldId id="1478" r:id="rId143"/>
    <p:sldId id="1415" r:id="rId144"/>
    <p:sldId id="1416" r:id="rId145"/>
    <p:sldId id="1417" r:id="rId146"/>
    <p:sldId id="1418" r:id="rId147"/>
    <p:sldId id="1419" r:id="rId148"/>
    <p:sldId id="1420" r:id="rId149"/>
    <p:sldId id="1421" r:id="rId150"/>
    <p:sldId id="1422" r:id="rId151"/>
    <p:sldId id="1423" r:id="rId152"/>
    <p:sldId id="1424" r:id="rId153"/>
    <p:sldId id="1425" r:id="rId154"/>
    <p:sldId id="1426" r:id="rId155"/>
    <p:sldId id="1427" r:id="rId156"/>
    <p:sldId id="1429" r:id="rId157"/>
    <p:sldId id="1430" r:id="rId158"/>
    <p:sldId id="1431" r:id="rId159"/>
    <p:sldId id="1432" r:id="rId160"/>
    <p:sldId id="1433" r:id="rId161"/>
    <p:sldId id="1434" r:id="rId162"/>
    <p:sldId id="1435" r:id="rId163"/>
    <p:sldId id="1436" r:id="rId164"/>
    <p:sldId id="1437" r:id="rId165"/>
    <p:sldId id="1438" r:id="rId166"/>
    <p:sldId id="1439" r:id="rId167"/>
    <p:sldId id="1440" r:id="rId168"/>
    <p:sldId id="1441" r:id="rId169"/>
    <p:sldId id="1442" r:id="rId170"/>
    <p:sldId id="1443" r:id="rId171"/>
    <p:sldId id="1444" r:id="rId172"/>
    <p:sldId id="1446" r:id="rId173"/>
    <p:sldId id="1448" r:id="rId174"/>
    <p:sldId id="1449" r:id="rId175"/>
    <p:sldId id="1450" r:id="rId176"/>
    <p:sldId id="1451" r:id="rId177"/>
    <p:sldId id="1452" r:id="rId178"/>
    <p:sldId id="1453" r:id="rId179"/>
    <p:sldId id="1454" r:id="rId180"/>
    <p:sldId id="1479" r:id="rId181"/>
    <p:sldId id="1480" r:id="rId182"/>
    <p:sldId id="1481" r:id="rId183"/>
    <p:sldId id="1482" r:id="rId184"/>
    <p:sldId id="1483" r:id="rId185"/>
    <p:sldId id="1484" r:id="rId186"/>
    <p:sldId id="1485" r:id="rId187"/>
    <p:sldId id="1486" r:id="rId188"/>
    <p:sldId id="1487" r:id="rId189"/>
    <p:sldId id="1488" r:id="rId190"/>
    <p:sldId id="1489" r:id="rId191"/>
    <p:sldId id="1490" r:id="rId192"/>
    <p:sldId id="1491" r:id="rId193"/>
    <p:sldId id="1492" r:id="rId194"/>
    <p:sldId id="1493" r:id="rId195"/>
    <p:sldId id="1494" r:id="rId196"/>
    <p:sldId id="1495" r:id="rId197"/>
    <p:sldId id="1496" r:id="rId198"/>
    <p:sldId id="1497" r:id="rId199"/>
    <p:sldId id="1498" r:id="rId200"/>
    <p:sldId id="1499" r:id="rId201"/>
    <p:sldId id="1500" r:id="rId202"/>
    <p:sldId id="1501" r:id="rId203"/>
    <p:sldId id="1502" r:id="rId204"/>
    <p:sldId id="1503" r:id="rId205"/>
    <p:sldId id="1504" r:id="rId206"/>
    <p:sldId id="1505" r:id="rId207"/>
    <p:sldId id="1506" r:id="rId208"/>
    <p:sldId id="1507" r:id="rId209"/>
    <p:sldId id="1508" r:id="rId210"/>
    <p:sldId id="1509" r:id="rId211"/>
    <p:sldId id="1510" r:id="rId212"/>
    <p:sldId id="1511" r:id="rId213"/>
    <p:sldId id="1512" r:id="rId214"/>
    <p:sldId id="1513" r:id="rId215"/>
    <p:sldId id="1514" r:id="rId216"/>
    <p:sldId id="1515" r:id="rId217"/>
    <p:sldId id="1516" r:id="rId218"/>
    <p:sldId id="1517" r:id="rId219"/>
    <p:sldId id="1518" r:id="rId220"/>
    <p:sldId id="1519" r:id="rId221"/>
    <p:sldId id="1520" r:id="rId222"/>
    <p:sldId id="1521" r:id="rId223"/>
    <p:sldId id="1522" r:id="rId224"/>
    <p:sldId id="1523" r:id="rId225"/>
    <p:sldId id="1524" r:id="rId226"/>
    <p:sldId id="1525" r:id="rId227"/>
    <p:sldId id="1526" r:id="rId228"/>
    <p:sldId id="1527" r:id="rId229"/>
    <p:sldId id="1528" r:id="rId230"/>
    <p:sldId id="1529" r:id="rId231"/>
    <p:sldId id="1530" r:id="rId232"/>
    <p:sldId id="1531" r:id="rId233"/>
    <p:sldId id="1532" r:id="rId234"/>
    <p:sldId id="1533" r:id="rId235"/>
    <p:sldId id="1534" r:id="rId236"/>
    <p:sldId id="1535" r:id="rId237"/>
    <p:sldId id="1536" r:id="rId238"/>
    <p:sldId id="1537" r:id="rId239"/>
    <p:sldId id="1538" r:id="rId240"/>
    <p:sldId id="1539" r:id="rId241"/>
    <p:sldId id="1540" r:id="rId242"/>
    <p:sldId id="1541" r:id="rId243"/>
    <p:sldId id="1542" r:id="rId244"/>
    <p:sldId id="1543" r:id="rId245"/>
    <p:sldId id="1544" r:id="rId246"/>
    <p:sldId id="1545" r:id="rId247"/>
    <p:sldId id="1546" r:id="rId248"/>
    <p:sldId id="1547" r:id="rId249"/>
    <p:sldId id="1548" r:id="rId250"/>
    <p:sldId id="1549" r:id="rId251"/>
    <p:sldId id="1550" r:id="rId252"/>
    <p:sldId id="1551" r:id="rId253"/>
    <p:sldId id="1552" r:id="rId254"/>
    <p:sldId id="1553" r:id="rId255"/>
    <p:sldId id="1554" r:id="rId256"/>
    <p:sldId id="1555" r:id="rId257"/>
    <p:sldId id="1556" r:id="rId258"/>
    <p:sldId id="1557" r:id="rId259"/>
  </p:sldIdLst>
  <p:sldSz cx="18288000" cy="10287000"/>
  <p:notesSz cx="6858000" cy="9144000"/>
  <p:custDataLst>
    <p:tags r:id="rId26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A285484-1A6D-208A-100F-26CC720AE48E}" name="Matt Kolon" initials="MK" userId="S::mkolon@hill.com::23ffe71c-c649-46c6-9921-4f3dbcef114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Freepiker" initials="F" lastIdx="1" clrIdx="0">
    <p:extLst>
      <p:ext uri="{19B8F6BF-5375-455C-9EA6-DF929625EA0E}">
        <p15:presenceInfo xmlns:p15="http://schemas.microsoft.com/office/powerpoint/2012/main" userId="Freepiker" providerId="None"/>
      </p:ext>
    </p:extLst>
  </p:cmAuthor>
  <p:cmAuthor id="2" name="User" initials="U" lastIdx="3" clrIdx="1">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0FF"/>
    <a:srgbClr val="0432FF"/>
    <a:srgbClr val="FFFC00"/>
    <a:srgbClr val="008F00"/>
    <a:srgbClr val="EE4C59"/>
    <a:srgbClr val="E6E6E6"/>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605C57-ED90-F54B-928E-04A5B432D491}" v="15" dt="2025-06-27T14:56:23.7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33"/>
    <p:restoredTop sz="79432"/>
  </p:normalViewPr>
  <p:slideViewPr>
    <p:cSldViewPr snapToGrid="0">
      <p:cViewPr varScale="1">
        <p:scale>
          <a:sx n="65" d="100"/>
          <a:sy n="65" d="100"/>
        </p:scale>
        <p:origin x="960" y="216"/>
      </p:cViewPr>
      <p:guideLst>
        <p:guide orient="horz" pos="3240"/>
        <p:guide pos="5760"/>
      </p:guideLst>
    </p:cSldViewPr>
  </p:slideViewPr>
  <p:notesTextViewPr>
    <p:cViewPr>
      <p:scale>
        <a:sx n="1" d="1"/>
        <a:sy n="1" d="1"/>
      </p:scale>
      <p:origin x="0" y="0"/>
    </p:cViewPr>
  </p:notesTextViewPr>
  <p:sorterViewPr>
    <p:cViewPr>
      <p:scale>
        <a:sx n="116" d="100"/>
        <a:sy n="116"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microsoft.com/office/2015/10/relationships/revisionInfo" Target="revisionInfo.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microsoft.com/office/2018/10/relationships/authors" Target="author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notesMaster" Target="notesMasters/notesMaster1.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handoutMaster" Target="handoutMasters/handoutMaster1.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tags" Target="tags/tag1.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commentAuthors" Target="commentAuthor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viewProps" Target="viewProps.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theme" Target="theme/theme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tableStyles" Target="tableStyles.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5F1CD92-DA11-42CA-9E28-F57FD4F371F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B6237265-C715-4164-8B30-E32A9AE553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E152FC6-64DD-41BE-A95D-2E3785E1B9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845297-E8C3-4A56-9516-E18309FF2736}" type="slidenum">
              <a:rPr lang="en-US" smtClean="0"/>
              <a:t>‹#›</a:t>
            </a:fld>
            <a:endParaRPr lang="en-US"/>
          </a:p>
        </p:txBody>
      </p:sp>
    </p:spTree>
    <p:extLst>
      <p:ext uri="{BB962C8B-B14F-4D97-AF65-F5344CB8AC3E}">
        <p14:creationId xmlns:p14="http://schemas.microsoft.com/office/powerpoint/2010/main" val="5947280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F10FA5-98E6-FB4E-97B6-D4EB979E8963}" type="datetimeFigureOut">
              <a:rPr lang="en-US" smtClean="0"/>
              <a:t>10/15/26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22E1E8-19DD-9846-964E-7494B0E7F513}" type="slidenum">
              <a:rPr lang="en-US" smtClean="0"/>
              <a:t>‹#›</a:t>
            </a:fld>
            <a:endParaRPr lang="en-US"/>
          </a:p>
        </p:txBody>
      </p:sp>
    </p:spTree>
    <p:extLst>
      <p:ext uri="{BB962C8B-B14F-4D97-AF65-F5344CB8AC3E}">
        <p14:creationId xmlns:p14="http://schemas.microsoft.com/office/powerpoint/2010/main" val="11614769"/>
      </p:ext>
    </p:extLst>
  </p:cSld>
  <p:clrMap bg1="lt1" tx1="dk1" bg2="lt2" tx2="dk2" accent1="accent1" accent2="accent2" accent3="accent3" accent4="accent4" accent5="accent5" accent6="accent6" hlink="hlink" folHlink="folHlink"/>
  <p:notesStyle>
    <a:lvl1pPr marL="0" algn="l" defTabSz="1371600" rtl="0" eaLnBrk="1" latinLnBrk="0" hangingPunct="1">
      <a:defRPr sz="1800" kern="1200">
        <a:solidFill>
          <a:schemeClr val="tx1"/>
        </a:solidFill>
        <a:latin typeface="+mn-lt"/>
        <a:ea typeface="+mn-ea"/>
        <a:cs typeface="+mn-cs"/>
      </a:defRPr>
    </a:lvl1pPr>
    <a:lvl2pPr marL="685800" algn="l" defTabSz="1371600" rtl="0" eaLnBrk="1" latinLnBrk="0" hangingPunct="1">
      <a:defRPr sz="1800" kern="1200">
        <a:solidFill>
          <a:schemeClr val="tx1"/>
        </a:solidFill>
        <a:latin typeface="+mn-lt"/>
        <a:ea typeface="+mn-ea"/>
        <a:cs typeface="+mn-cs"/>
      </a:defRPr>
    </a:lvl2pPr>
    <a:lvl3pPr marL="1371600" algn="l" defTabSz="1371600" rtl="0" eaLnBrk="1" latinLnBrk="0" hangingPunct="1">
      <a:defRPr sz="1800" kern="1200">
        <a:solidFill>
          <a:schemeClr val="tx1"/>
        </a:solidFill>
        <a:latin typeface="+mn-lt"/>
        <a:ea typeface="+mn-ea"/>
        <a:cs typeface="+mn-cs"/>
      </a:defRPr>
    </a:lvl3pPr>
    <a:lvl4pPr marL="2057400" algn="l" defTabSz="1371600" rtl="0" eaLnBrk="1" latinLnBrk="0" hangingPunct="1">
      <a:defRPr sz="1800" kern="1200">
        <a:solidFill>
          <a:schemeClr val="tx1"/>
        </a:solidFill>
        <a:latin typeface="+mn-lt"/>
        <a:ea typeface="+mn-ea"/>
        <a:cs typeface="+mn-cs"/>
      </a:defRPr>
    </a:lvl4pPr>
    <a:lvl5pPr marL="2743200" algn="l" defTabSz="1371600" rtl="0" eaLnBrk="1" latinLnBrk="0" hangingPunct="1">
      <a:defRPr sz="1800" kern="1200">
        <a:solidFill>
          <a:schemeClr val="tx1"/>
        </a:solidFill>
        <a:latin typeface="+mn-lt"/>
        <a:ea typeface="+mn-ea"/>
        <a:cs typeface="+mn-cs"/>
      </a:defRPr>
    </a:lvl5pPr>
    <a:lvl6pPr marL="3429000" algn="l" defTabSz="1371600" rtl="0" eaLnBrk="1" latinLnBrk="0" hangingPunct="1">
      <a:defRPr sz="1800" kern="1200">
        <a:solidFill>
          <a:schemeClr val="tx1"/>
        </a:solidFill>
        <a:latin typeface="+mn-lt"/>
        <a:ea typeface="+mn-ea"/>
        <a:cs typeface="+mn-cs"/>
      </a:defRPr>
    </a:lvl6pPr>
    <a:lvl7pPr marL="4114800" algn="l" defTabSz="1371600" rtl="0" eaLnBrk="1" latinLnBrk="0" hangingPunct="1">
      <a:defRPr sz="1800" kern="1200">
        <a:solidFill>
          <a:schemeClr val="tx1"/>
        </a:solidFill>
        <a:latin typeface="+mn-lt"/>
        <a:ea typeface="+mn-ea"/>
        <a:cs typeface="+mn-cs"/>
      </a:defRPr>
    </a:lvl7pPr>
    <a:lvl8pPr marL="4800600" algn="l" defTabSz="1371600" rtl="0" eaLnBrk="1" latinLnBrk="0" hangingPunct="1">
      <a:defRPr sz="1800" kern="1200">
        <a:solidFill>
          <a:schemeClr val="tx1"/>
        </a:solidFill>
        <a:latin typeface="+mn-lt"/>
        <a:ea typeface="+mn-ea"/>
        <a:cs typeface="+mn-cs"/>
      </a:defRPr>
    </a:lvl8pPr>
    <a:lvl9pPr marL="5486400" algn="l" defTabSz="13716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3" Type="http://schemas.openxmlformats.org/officeDocument/2006/relationships/slide" Target="../slides/slide141.xml"/><Relationship Id="rId2" Type="http://schemas.openxmlformats.org/officeDocument/2006/relationships/notesMaster" Target="../notesMasters/notesMaster1.xml"/><Relationship Id="rId1" Type="http://schemas.openxmlformats.org/officeDocument/2006/relationships/tags" Target="../tags/tag6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1</a:t>
            </a:fld>
            <a:endParaRPr lang="en-US"/>
          </a:p>
        </p:txBody>
      </p:sp>
    </p:spTree>
    <p:extLst>
      <p:ext uri="{BB962C8B-B14F-4D97-AF65-F5344CB8AC3E}">
        <p14:creationId xmlns:p14="http://schemas.microsoft.com/office/powerpoint/2010/main" val="250452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3</a:t>
            </a:fld>
            <a:endParaRPr lang="en-US"/>
          </a:p>
        </p:txBody>
      </p:sp>
    </p:spTree>
    <p:extLst>
      <p:ext uri="{BB962C8B-B14F-4D97-AF65-F5344CB8AC3E}">
        <p14:creationId xmlns:p14="http://schemas.microsoft.com/office/powerpoint/2010/main" val="2914652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a:p>
        </p:txBody>
      </p:sp>
      <p:sp>
        <p:nvSpPr>
          <p:cNvPr id="7" name="Slide Image Placeholder 6"/>
          <p:cNvSpPr>
            <a:spLocks noGrp="1" noRot="1" noChangeAspect="1"/>
          </p:cNvSpPr>
          <p:nvPr>
            <p:ph type="sldImg"/>
          </p:nvPr>
        </p:nvSpPr>
        <p:spPr/>
      </p:sp>
      <p:sp>
        <p:nvSpPr>
          <p:cNvPr id="2" name="Date Placeholder 1"/>
          <p:cNvSpPr>
            <a:spLocks noGrp="1"/>
          </p:cNvSpPr>
          <p:nvPr>
            <p:ph type="dt" idx="10"/>
          </p:nvPr>
        </p:nvSpPr>
        <p:spPr/>
        <p:txBody>
          <a:bodyPr/>
          <a:lstStyle/>
          <a:p>
            <a:fld id="{5C118C42-2F87-4F74-AD38-A7FA6FE02AAE}" type="datetime1">
              <a:rPr lang="en-US" smtClean="0"/>
              <a:t>10/15/26</a:t>
            </a:fld>
            <a:endParaRPr lang="en-US"/>
          </a:p>
        </p:txBody>
      </p:sp>
      <p:sp>
        <p:nvSpPr>
          <p:cNvPr id="4" name="Slide Number Placeholder 3"/>
          <p:cNvSpPr>
            <a:spLocks noGrp="1"/>
          </p:cNvSpPr>
          <p:nvPr>
            <p:ph type="sldNum" sz="quarter" idx="11"/>
          </p:nvPr>
        </p:nvSpPr>
        <p:spPr/>
        <p:txBody>
          <a:bodyPr/>
          <a:lstStyle/>
          <a:p>
            <a:fld id="{A2D9B7C9-1F58-4F07-8711-AA0F3022BC7D}" type="slidenum">
              <a:rPr lang="en-US" smtClean="0"/>
              <a:pPr/>
              <a:t>5</a:t>
            </a:fld>
            <a:endParaRPr lang="en-US" sz="1100"/>
          </a:p>
        </p:txBody>
      </p:sp>
      <p:sp>
        <p:nvSpPr>
          <p:cNvPr id="5" name="Header Placeholder 4"/>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3764711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6</a:t>
            </a:fld>
            <a:endParaRPr lang="en-US"/>
          </a:p>
        </p:txBody>
      </p:sp>
    </p:spTree>
    <p:extLst>
      <p:ext uri="{BB962C8B-B14F-4D97-AF65-F5344CB8AC3E}">
        <p14:creationId xmlns:p14="http://schemas.microsoft.com/office/powerpoint/2010/main" val="1598566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Image Placeholder 6"/>
          <p:cNvSpPr>
            <a:spLocks noGrp="1" noRot="1" noChangeAspect="1"/>
          </p:cNvSpPr>
          <p:nvPr>
            <p:ph type="sldImg"/>
          </p:nvPr>
        </p:nvSpPr>
        <p:spPr/>
      </p:sp>
      <p:sp>
        <p:nvSpPr>
          <p:cNvPr id="8" name="Notes Placeholder 7"/>
          <p:cNvSpPr>
            <a:spLocks noGrp="1"/>
          </p:cNvSpPr>
          <p:nvPr>
            <p:ph type="body" idx="1"/>
          </p:nvPr>
        </p:nvSpPr>
        <p:spPr/>
        <p:txBody>
          <a:bodyPr/>
          <a:lstStyle/>
          <a:p>
            <a:endParaRPr lang="en-US"/>
          </a:p>
        </p:txBody>
      </p:sp>
      <p:sp>
        <p:nvSpPr>
          <p:cNvPr id="2" name="Date Placeholder 1"/>
          <p:cNvSpPr>
            <a:spLocks noGrp="1"/>
          </p:cNvSpPr>
          <p:nvPr>
            <p:ph type="dt" idx="10"/>
          </p:nvPr>
        </p:nvSpPr>
        <p:spPr/>
        <p:txBody>
          <a:bodyPr/>
          <a:lstStyle/>
          <a:p>
            <a:fld id="{41A161C8-7D90-4685-B3C0-33CC435F1DAE}" type="datetime1">
              <a:rPr lang="en-US" smtClean="0"/>
              <a:t>10/15/26</a:t>
            </a:fld>
            <a:endParaRPr lang="en-US"/>
          </a:p>
        </p:txBody>
      </p:sp>
      <p:sp>
        <p:nvSpPr>
          <p:cNvPr id="3" name="Slide Number Placeholder 2"/>
          <p:cNvSpPr>
            <a:spLocks noGrp="1"/>
          </p:cNvSpPr>
          <p:nvPr>
            <p:ph type="sldNum" sz="quarter" idx="11"/>
          </p:nvPr>
        </p:nvSpPr>
        <p:spPr/>
        <p:txBody>
          <a:bodyPr/>
          <a:lstStyle/>
          <a:p>
            <a:fld id="{A2D9B7C9-1F58-4F07-8711-AA0F3022BC7D}" type="slidenum">
              <a:rPr lang="en-US" smtClean="0"/>
              <a:pPr/>
              <a:t>7</a:t>
            </a:fld>
            <a:endParaRPr lang="en-US" sz="1100"/>
          </a:p>
        </p:txBody>
      </p:sp>
      <p:sp>
        <p:nvSpPr>
          <p:cNvPr id="4" name="Header Placeholder 3"/>
          <p:cNvSpPr>
            <a:spLocks noGrp="1"/>
          </p:cNvSpPr>
          <p:nvPr>
            <p:ph type="hdr" sz="quarter" idx="12"/>
          </p:nvPr>
        </p:nvSpPr>
        <p:spPr/>
        <p:txBody>
          <a:bodyPr/>
          <a:lstStyle/>
          <a:p>
            <a:r>
              <a:rPr lang="en-US"/>
              <a:t>Deploying Internet and Intranet Firewalls</a:t>
            </a:r>
          </a:p>
        </p:txBody>
      </p:sp>
    </p:spTree>
    <p:extLst>
      <p:ext uri="{BB962C8B-B14F-4D97-AF65-F5344CB8AC3E}">
        <p14:creationId xmlns:p14="http://schemas.microsoft.com/office/powerpoint/2010/main" val="1851892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week follows one path: from the branch, out over the WAN and the internet, into the data center, the cloud and the vendors, and finally to the applications the bank runs. Friday looks ahead and pulls it together.</a:t>
            </a:r>
          </a:p>
          <a:p>
            <a:endParaRPr/>
          </a:p>
          <a:p>
            <a:r>
              <a:t>Monday, the branch: orientation, the communications landscape, a short history of financial networking, how bank networks are designed, and LANs and Wi-Fi in depth. Exercise 1: tables annotate the LAN segments on a real bank network diagram.</a:t>
            </a:r>
          </a:p>
          <a:p>
            <a:endParaRPr/>
          </a:p>
          <a:p>
            <a:r>
              <a:t>Tuesday, out of the building: WANs and wireless WANs, the internet, IP addressing and routing, and the transport layer, including TLS and certificates. Exercise 2: the same diagrams, now the WAN.</a:t>
            </a:r>
          </a:p>
          <a:p>
            <a:endParaRPr/>
          </a:p>
          <a:p>
            <a:r>
              <a:t>Wednesday, the data center, the cloud and vendors: cryptography, virtualization, cloud basics, outsourcing and vendor risk, and managed services. Exercise 3: a vendor risk tabletop on the diagrams.</a:t>
            </a:r>
          </a:p>
          <a:p>
            <a:endParaRPr/>
          </a:p>
          <a:p>
            <a:r>
              <a:t>Thursday, the applications and the risk landscape: core banking, SaaS, DNS, voice, IoT, and how ransomware, supply chain attacks and incident response play out on a bank network. Exercise 4: a lookalike-domain wire fraud scenario.</a:t>
            </a:r>
          </a:p>
          <a:p>
            <a:endParaRPr/>
          </a:p>
          <a:p>
            <a:r>
              <a:t>Friday (ends 11:00): where networking is headed, quantum and encryption, fintech and M&amp;A, and the capstone, where each table names the three biggest risks on the diagram it has annotated all week.</a:t>
            </a:r>
          </a:p>
          <a:p>
            <a:endParaRPr/>
          </a:p>
          <a:p>
            <a:r>
              <a:t>Point out the diagram thread: the same diagram comes back every day, so by Friday each table has a full picture of one bank.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11</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676CC594-A874-41A3-B947-FF4B49B1AC6C}" type="datetime1">
              <a:rPr lang="en-US" smtClean="0"/>
              <a:t>10/15/26</a:t>
            </a:fld>
            <a:endParaRPr lang="en-US" sz="1200"/>
          </a:p>
        </p:txBody>
      </p:sp>
    </p:spTree>
    <p:extLst>
      <p:ext uri="{BB962C8B-B14F-4D97-AF65-F5344CB8AC3E}">
        <p14:creationId xmlns:p14="http://schemas.microsoft.com/office/powerpoint/2010/main" val="3556125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6" name="Slide Number Placeholder 5"/>
          <p:cNvSpPr>
            <a:spLocks noGrp="1"/>
          </p:cNvSpPr>
          <p:nvPr>
            <p:ph type="sldNum" sz="quarter" idx="12"/>
          </p:nvPr>
        </p:nvSpPr>
        <p:spPr/>
        <p:txBody>
          <a:bodyPr/>
          <a:lstStyle/>
          <a:p>
            <a:fld id="{A2D9B7C9-1F58-4F07-8711-AA0F3022BC7D}" type="slidenum">
              <a:rPr lang="en-US" smtClean="0"/>
              <a:pPr/>
              <a:t>12</a:t>
            </a:fld>
            <a:endParaRPr lang="en-US"/>
          </a:p>
        </p:txBody>
      </p:sp>
      <p:sp>
        <p:nvSpPr>
          <p:cNvPr id="5" name="Date Placeholder 4"/>
          <p:cNvSpPr>
            <a:spLocks noGrp="1"/>
          </p:cNvSpPr>
          <p:nvPr>
            <p:ph type="dt" idx="13"/>
          </p:nvPr>
        </p:nvSpPr>
        <p:spPr/>
        <p:txBody>
          <a:bodyPr/>
          <a:lstStyle/>
          <a:p>
            <a:endParaRPr lang="en-US"/>
          </a:p>
          <a:p>
            <a:fld id="{B1C036EB-380B-4DEC-A52F-64035BDA91D1}" type="datetime1">
              <a:rPr lang="en-US" smtClean="0"/>
              <a:pPr/>
              <a:t>10/15/26</a:t>
            </a:fld>
            <a:endParaRPr lang="en-US"/>
          </a:p>
        </p:txBody>
      </p:sp>
      <p:sp>
        <p:nvSpPr>
          <p:cNvPr id="11" name="Slide Image Placeholder 10"/>
          <p:cNvSpPr>
            <a:spLocks noGrp="1" noRot="1" noChangeAspect="1"/>
          </p:cNvSpPr>
          <p:nvPr>
            <p:ph type="sldImg"/>
          </p:nvPr>
        </p:nvSpPr>
        <p:spPr/>
      </p:sp>
    </p:spTree>
    <p:extLst>
      <p:ext uri="{BB962C8B-B14F-4D97-AF65-F5344CB8AC3E}">
        <p14:creationId xmlns:p14="http://schemas.microsoft.com/office/powerpoint/2010/main" val="23995813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14</a:t>
            </a:fld>
            <a:endParaRPr lang="en-US"/>
          </a:p>
        </p:txBody>
      </p:sp>
    </p:spTree>
    <p:extLst>
      <p:ext uri="{BB962C8B-B14F-4D97-AF65-F5344CB8AC3E}">
        <p14:creationId xmlns:p14="http://schemas.microsoft.com/office/powerpoint/2010/main" val="28407893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7222" name="Rectangle 6"/>
          <p:cNvSpPr>
            <a:spLocks noGrp="1" noRot="1" noChangeAspect="1" noChangeArrowheads="1" noTextEdit="1"/>
          </p:cNvSpPr>
          <p:nvPr>
            <p:ph type="sldImg"/>
          </p:nvPr>
        </p:nvSpPr>
        <p:spPr>
          <a:ln/>
        </p:spPr>
      </p:sp>
      <p:sp>
        <p:nvSpPr>
          <p:cNvPr id="3977223" name="Rectangle 7"/>
          <p:cNvSpPr>
            <a:spLocks noGrp="1" noChangeArrowheads="1"/>
          </p:cNvSpPr>
          <p:nvPr>
            <p:ph type="body" idx="1"/>
          </p:nvPr>
        </p:nvSpPr>
        <p:spPr/>
        <p:txBody>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15</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D82A0E01-8450-42FE-B0D7-F149AE5287FE}" type="datetime1">
              <a:rPr lang="en-US" smtClean="0"/>
              <a:t>10/15/26</a:t>
            </a:fld>
            <a:endParaRPr lang="en-US" sz="1200"/>
          </a:p>
        </p:txBody>
      </p:sp>
    </p:spTree>
    <p:extLst>
      <p:ext uri="{BB962C8B-B14F-4D97-AF65-F5344CB8AC3E}">
        <p14:creationId xmlns:p14="http://schemas.microsoft.com/office/powerpoint/2010/main" val="34862394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Image Placeholder 10"/>
          <p:cNvSpPr>
            <a:spLocks noGrp="1" noRot="1" noChangeAspect="1"/>
          </p:cNvSpPr>
          <p:nvPr>
            <p:ph type="sldImg"/>
          </p:nvPr>
        </p:nvSpPr>
        <p:spPr/>
      </p:sp>
      <p:sp>
        <p:nvSpPr>
          <p:cNvPr id="3900423" name="Rectangle 7"/>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16</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EC5F4A51-4FA1-4686-92EC-FCF99B8F7186}" type="datetime1">
              <a:rPr lang="en-US" smtClean="0"/>
              <a:t>10/15/26</a:t>
            </a:fld>
            <a:endParaRPr lang="en-US" sz="1200"/>
          </a:p>
        </p:txBody>
      </p:sp>
    </p:spTree>
    <p:extLst>
      <p:ext uri="{BB962C8B-B14F-4D97-AF65-F5344CB8AC3E}">
        <p14:creationId xmlns:p14="http://schemas.microsoft.com/office/powerpoint/2010/main" val="903763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Image Placeholder 10"/>
          <p:cNvSpPr>
            <a:spLocks noGrp="1" noRot="1" noChangeAspect="1"/>
          </p:cNvSpPr>
          <p:nvPr>
            <p:ph type="sldImg"/>
          </p:nvPr>
        </p:nvSpPr>
        <p:spPr/>
      </p:sp>
      <p:sp>
        <p:nvSpPr>
          <p:cNvPr id="3904519" name="Rectangle 7"/>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17</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68822596-500F-452A-8D6D-8FB64E5746F2}" type="datetime1">
              <a:rPr lang="en-US" smtClean="0"/>
              <a:t>10/15/26</a:t>
            </a:fld>
            <a:endParaRPr lang="en-US" sz="1200"/>
          </a:p>
        </p:txBody>
      </p:sp>
    </p:spTree>
    <p:extLst>
      <p:ext uri="{BB962C8B-B14F-4D97-AF65-F5344CB8AC3E}">
        <p14:creationId xmlns:p14="http://schemas.microsoft.com/office/powerpoint/2010/main" val="3043486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fourth domain from the Telecommunications Domains slide. The old version of this slide contrasted content (what we watch, read and use) with the providers on the three networks slides that carry it. That clean line is gone.</a:t>
            </a:r>
          </a:p>
          <a:p>
            <a:endParaRPr/>
          </a:p>
          <a:p>
            <a:r>
              <a:t>Left, then: content companies (studios, broadcasters, publishers) made the programs, and carriers (phone companies, cable systems, broadcast networks) delivered them. Regulation helped keep the two apart.</a:t>
            </a:r>
          </a:p>
          <a:p>
            <a:endParaRPr/>
          </a:p>
          <a:p>
            <a:r>
              <a:t>Right, now: the line runs through companies, not between them.</a:t>
            </a:r>
          </a:p>
          <a:p>
            <a:r>
              <a:t>Carriers bought content: Comcast owns NBCUniversal. AT&amp;T bought Time Warner in 2018 and spun it off in 2022, so the combination doesn't always stick.</a:t>
            </a:r>
          </a:p>
          <a:p>
            <a:r>
              <a:t>Content companies built networks: Netflix puts its own caching servers inside ISPs' networks so video travels a short distance. Google, Meta, Amazon and Microsoft own or co-own many of the undersea cables that carry the world's internet traffic; the 'content' companies now run some of the biggest networks there are.</a:t>
            </a:r>
          </a:p>
          <a:p>
            <a:r>
              <a:t>The cloud sits in the middle: the same few companies host the content, deliver it, and sell the cloud services banks run on (Wednesday).</a:t>
            </a:r>
          </a:p>
          <a:p>
            <a:endParaRPr/>
          </a:p>
          <a:p>
            <a:r>
              <a:t>Most internet traffic is now video, which is why content lives as close to the user as possible.</a:t>
            </a:r>
          </a:p>
          <a:p>
            <a:endParaRPr/>
          </a:p>
          <a:p>
            <a:r>
              <a:t>The twist for examiners: the bank is a content provider too. Its website and mobile app are usually delivered through a content delivery network (CDN) such as Akamai or Cloudflare, which is also where the bank's DDoS protection often comes from. We come back to this Thursday with internet and mobile banking.</a:t>
            </a:r>
          </a:p>
          <a:p>
            <a:endParaRPr/>
          </a:p>
          <a:p>
            <a:r>
              <a:t>Deal examples are illustrative and will date; that's fine, the pattern is the point.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24</a:t>
            </a:fld>
            <a:endParaRPr lang="en-US"/>
          </a:p>
        </p:txBody>
      </p:sp>
    </p:spTree>
    <p:extLst>
      <p:ext uri="{BB962C8B-B14F-4D97-AF65-F5344CB8AC3E}">
        <p14:creationId xmlns:p14="http://schemas.microsoft.com/office/powerpoint/2010/main" val="8510085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small, simple branch. One switch connects everything wired; two access points provide Wi-Fi, with guest Wi-Fi kept separate from staff. One router/firewall (or an SD-WAN appliance) connects the branch to the internet, with an LTE backup. The core processor supplies its own VPN device, which builds an encrypted tunnel back to the core.</a:t>
            </a:r>
          </a:p>
          <a:p>
            <a:endParaRPr/>
          </a:p>
          <a:p>
            <a:r>
              <a:t>Questions for the room: Which of these devices does the bank manage, and which does a vendor manage? Which ones can reach the core? What happens to the branch if the firewall fails? Is guest Wi-Fi really separate?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142671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26</a:t>
            </a:fld>
            <a:endParaRPr lang="en-US"/>
          </a:p>
        </p:txBody>
      </p:sp>
    </p:spTree>
    <p:extLst>
      <p:ext uri="{BB962C8B-B14F-4D97-AF65-F5344CB8AC3E}">
        <p14:creationId xmlns:p14="http://schemas.microsoft.com/office/powerpoint/2010/main" val="32969292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One building: a teller line, a few PCs, and one line out to the core processor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188198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A few branches: the WAN appears to tie branches to the main office and the core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444067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Headquarters and a datacenter: an internet connection, a firewall, online banking, remote staff</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355388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  Cloud and SaaS: Microsoft 365, hosted core, and branches that ride the internet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83644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  Vendors and partners: card processing, payments, fintech connections, managed security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589381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Regional, then multinational: hundreds of branches, an acquired bank, many clouds, international links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118914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Day mapping (not on the slide): internet replacing private circuits, remote work and real-time payments are Tuesday; systems moving out of the building and the shift to vendors are Wednesday; customers going digital is Thursday.</a:t>
            </a:r>
          </a:p>
          <a:p>
            <a:endParaRPr/>
          </a:p>
          <a:p>
            <a:r>
              <a:t>Takeaway: the network used to support the bank. Now it is the bank.</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650971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traditional branch: a teller line of full workstations, a local server, desk phones, an ATM, and a router/firewall. The core processor supplies its own VPN device. Most of the work happens inside the building.</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331311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changed:</a:t>
            </a:r>
          </a:p>
          <a:p>
            <a:r>
              <a:rPr dirty="0"/>
              <a:t>- FEWER people: one thin client replaces the teller line; desk phones are gone (calls run on laptops and tablets).</a:t>
            </a:r>
          </a:p>
          <a:p>
            <a:r>
              <a:rPr dirty="0"/>
              <a:t>- SMALLER: the branch server is gone. Core, files and apps live in the hosted core and the cloud, reached through encrypted tunnels from the SD-WAN appliance, which is managed remotely.</a:t>
            </a:r>
          </a:p>
          <a:p>
            <a:r>
              <a:rPr dirty="0"/>
              <a:t>- SELF-SERVICE: a video teller machine replaces the ATM and streams live video to a remote teller; a cash recycler sits in the teller area; universal bankers use tablets on Wi-Fi.</a:t>
            </a:r>
          </a:p>
          <a:p>
            <a:r>
              <a:rPr dirty="0"/>
              <a:t>- Two internet providers plus cellular backup, because nothing works if the branch is offline.</a:t>
            </a:r>
          </a:p>
          <a:p>
            <a:endParaRPr dirty="0"/>
          </a:p>
          <a:p>
            <a:r>
              <a:rPr dirty="0"/>
              <a:t>Questions for the room: What still works here if both internet links fail? Who manages the SD-WAN appliance and the video teller, and from where? Where is customer data now?</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23720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p:cNvSpPr>
            <a:spLocks noGrp="1" noRot="1" noChangeAspect="1"/>
          </p:cNvSpPr>
          <p:nvPr>
            <p:ph type="sldImg"/>
          </p:nvPr>
        </p:nvSpPr>
        <p:spPr/>
      </p:sp>
      <p:sp>
        <p:nvSpPr>
          <p:cNvPr id="1854467" name="Rectangle 3"/>
          <p:cNvSpPr>
            <a:spLocks noGrp="1" noChangeArrowheads="1"/>
          </p:cNvSpPr>
          <p:nvPr>
            <p:ph type="body" idx="1"/>
          </p:nvPr>
        </p:nvSpPr>
        <p:spPr/>
        <p:txBody>
          <a:bodyPr>
            <a:normAutofit/>
          </a:bodyPr>
          <a:lstStyle/>
          <a:p>
            <a:endParaRPr lang="en-US"/>
          </a:p>
        </p:txBody>
      </p:sp>
      <p:sp>
        <p:nvSpPr>
          <p:cNvPr id="6" name="Slide Number Placeholder 5"/>
          <p:cNvSpPr>
            <a:spLocks noGrp="1"/>
          </p:cNvSpPr>
          <p:nvPr>
            <p:ph type="sldNum" sz="quarter" idx="11"/>
          </p:nvPr>
        </p:nvSpPr>
        <p:spPr/>
        <p:txBody>
          <a:bodyPr/>
          <a:lstStyle/>
          <a:p>
            <a:fld id="{A2D9B7C9-1F58-4F07-8711-AA0F3022BC7D}" type="slidenum">
              <a:rPr lang="en-US" smtClean="0"/>
              <a:pPr/>
              <a:t>44</a:t>
            </a:fld>
            <a:endParaRPr lang="en-US" sz="1200"/>
          </a:p>
        </p:txBody>
      </p:sp>
      <p:sp>
        <p:nvSpPr>
          <p:cNvPr id="7" name="Header Placeholder 6"/>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DA9550E4-9E0C-4727-A4E1-00A1454DA9DC}" type="datetime1">
              <a:rPr lang="en-US" smtClean="0"/>
              <a:t>10/15/26</a:t>
            </a:fld>
            <a:endParaRPr lang="en-US" sz="1200"/>
          </a:p>
        </p:txBody>
      </p:sp>
    </p:spTree>
    <p:extLst>
      <p:ext uri="{BB962C8B-B14F-4D97-AF65-F5344CB8AC3E}">
        <p14:creationId xmlns:p14="http://schemas.microsoft.com/office/powerpoint/2010/main" val="11451799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Image Placeholder 6"/>
          <p:cNvSpPr>
            <a:spLocks noGrp="1" noRot="1" noChangeAspect="1"/>
          </p:cNvSpPr>
          <p:nvPr>
            <p:ph type="sldImg"/>
          </p:nvPr>
        </p:nvSpPr>
        <p:spPr/>
      </p:sp>
      <p:sp>
        <p:nvSpPr>
          <p:cNvPr id="8" name="Notes Placeholder 7"/>
          <p:cNvSpPr>
            <a:spLocks noGrp="1"/>
          </p:cNvSpPr>
          <p:nvPr>
            <p:ph type="body" idx="1"/>
          </p:nvPr>
        </p:nvSpPr>
        <p:spPr/>
        <p:txBody>
          <a:bodyPr>
            <a:normAutofit/>
          </a:bodyPr>
          <a:lstStyle/>
          <a:p>
            <a:endParaRPr lang="en-US"/>
          </a:p>
        </p:txBody>
      </p:sp>
      <p:sp>
        <p:nvSpPr>
          <p:cNvPr id="10" name="Slide Number Placeholder 9"/>
          <p:cNvSpPr>
            <a:spLocks noGrp="1"/>
          </p:cNvSpPr>
          <p:nvPr>
            <p:ph type="sldNum" sz="quarter" idx="11"/>
          </p:nvPr>
        </p:nvSpPr>
        <p:spPr/>
        <p:txBody>
          <a:bodyPr/>
          <a:lstStyle/>
          <a:p>
            <a:fld id="{A2D9B7C9-1F58-4F07-8711-AA0F3022BC7D}" type="slidenum">
              <a:rPr lang="en-US" smtClean="0"/>
              <a:pPr/>
              <a:t>46</a:t>
            </a:fld>
            <a:endParaRPr lang="en-US" sz="1200"/>
          </a:p>
        </p:txBody>
      </p:sp>
      <p:sp>
        <p:nvSpPr>
          <p:cNvPr id="11" name="Header Placeholder 10"/>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E5262206-255C-4BAD-8910-ACE3632D23EC}" type="datetime1">
              <a:rPr lang="en-US" smtClean="0"/>
              <a:t>10/15/26</a:t>
            </a:fld>
            <a:endParaRPr lang="en-US" sz="1200"/>
          </a:p>
        </p:txBody>
      </p:sp>
    </p:spTree>
    <p:extLst>
      <p:ext uri="{BB962C8B-B14F-4D97-AF65-F5344CB8AC3E}">
        <p14:creationId xmlns:p14="http://schemas.microsoft.com/office/powerpoint/2010/main" val="1559854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p:sp>
      <p:sp>
        <p:nvSpPr>
          <p:cNvPr id="5" name="Notes Placeholder 4"/>
          <p:cNvSpPr>
            <a:spLocks noGrp="1"/>
          </p:cNvSpPr>
          <p:nvPr>
            <p:ph type="body" idx="1"/>
          </p:nvPr>
        </p:nvSpPr>
        <p:spPr/>
        <p:txBody>
          <a:bodyPr/>
          <a:lstStyle/>
          <a:p>
            <a:endParaRPr lang="en-US"/>
          </a:p>
        </p:txBody>
      </p:sp>
      <p:sp>
        <p:nvSpPr>
          <p:cNvPr id="2" name="Date Placeholder 1"/>
          <p:cNvSpPr>
            <a:spLocks noGrp="1"/>
          </p:cNvSpPr>
          <p:nvPr>
            <p:ph type="dt" idx="10"/>
          </p:nvPr>
        </p:nvSpPr>
        <p:spPr/>
        <p:txBody>
          <a:bodyPr/>
          <a:lstStyle/>
          <a:p>
            <a:fld id="{51456B8E-86B7-4862-B54F-083F9F6B1E1A}" type="datetime1">
              <a:rPr lang="en-US" smtClean="0"/>
              <a:t>10/15/26</a:t>
            </a:fld>
            <a:endParaRPr lang="en-US"/>
          </a:p>
        </p:txBody>
      </p:sp>
      <p:sp>
        <p:nvSpPr>
          <p:cNvPr id="3" name="Slide Number Placeholder 2"/>
          <p:cNvSpPr>
            <a:spLocks noGrp="1"/>
          </p:cNvSpPr>
          <p:nvPr>
            <p:ph type="sldNum" sz="quarter" idx="11"/>
          </p:nvPr>
        </p:nvSpPr>
        <p:spPr/>
        <p:txBody>
          <a:bodyPr/>
          <a:lstStyle/>
          <a:p>
            <a:fld id="{A2D9B7C9-1F58-4F07-8711-AA0F3022BC7D}" type="slidenum">
              <a:rPr lang="en-US" smtClean="0"/>
              <a:pPr/>
              <a:t>48</a:t>
            </a:fld>
            <a:endParaRPr lang="en-US" sz="1100"/>
          </a:p>
        </p:txBody>
      </p:sp>
      <p:sp>
        <p:nvSpPr>
          <p:cNvPr id="9" name="Header Placeholder 8"/>
          <p:cNvSpPr>
            <a:spLocks noGrp="1"/>
          </p:cNvSpPr>
          <p:nvPr>
            <p:ph type="hdr" sz="quarter" idx="12"/>
          </p:nvPr>
        </p:nvSpPr>
        <p:spPr/>
        <p:txBody>
          <a:bodyPr/>
          <a:lstStyle/>
          <a:p>
            <a:r>
              <a:rPr lang="en-US"/>
              <a:t>Security of Wireless Local Area Networks</a:t>
            </a:r>
          </a:p>
        </p:txBody>
      </p:sp>
    </p:spTree>
    <p:extLst>
      <p:ext uri="{BB962C8B-B14F-4D97-AF65-F5344CB8AC3E}">
        <p14:creationId xmlns:p14="http://schemas.microsoft.com/office/powerpoint/2010/main" val="18635578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Image Placeholder 6"/>
          <p:cNvSpPr>
            <a:spLocks noGrp="1" noRot="1" noChangeAspect="1"/>
          </p:cNvSpPr>
          <p:nvPr>
            <p:ph type="sldImg"/>
          </p:nvPr>
        </p:nvSpPr>
        <p:spPr/>
      </p:sp>
      <p:sp>
        <p:nvSpPr>
          <p:cNvPr id="8" name="Notes Placeholder 7"/>
          <p:cNvSpPr>
            <a:spLocks noGrp="1"/>
          </p:cNvSpPr>
          <p:nvPr>
            <p:ph type="body" idx="1"/>
          </p:nvPr>
        </p:nvSpPr>
        <p:spPr/>
        <p:txBody>
          <a:bodyPr>
            <a:normAutofit/>
          </a:bodyPr>
          <a:lstStyle/>
          <a:p>
            <a:endParaRPr lang="en-US"/>
          </a:p>
        </p:txBody>
      </p:sp>
      <p:sp>
        <p:nvSpPr>
          <p:cNvPr id="10" name="Slide Number Placeholder 9"/>
          <p:cNvSpPr>
            <a:spLocks noGrp="1"/>
          </p:cNvSpPr>
          <p:nvPr>
            <p:ph type="sldNum" sz="quarter" idx="11"/>
          </p:nvPr>
        </p:nvSpPr>
        <p:spPr/>
        <p:txBody>
          <a:bodyPr/>
          <a:lstStyle/>
          <a:p>
            <a:fld id="{A2D9B7C9-1F58-4F07-8711-AA0F3022BC7D}" type="slidenum">
              <a:rPr lang="en-US" smtClean="0"/>
              <a:pPr/>
              <a:t>51</a:t>
            </a:fld>
            <a:endParaRPr lang="en-US" sz="1200"/>
          </a:p>
        </p:txBody>
      </p:sp>
      <p:sp>
        <p:nvSpPr>
          <p:cNvPr id="11" name="Header Placeholder 10"/>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44D690D5-2CF3-4104-AC1A-F5B4DDA50434}" type="datetime1">
              <a:rPr lang="en-US" smtClean="0"/>
              <a:t>10/15/26</a:t>
            </a:fld>
            <a:endParaRPr lang="en-US" sz="1200"/>
          </a:p>
        </p:txBody>
      </p:sp>
    </p:spTree>
    <p:extLst>
      <p:ext uri="{BB962C8B-B14F-4D97-AF65-F5344CB8AC3E}">
        <p14:creationId xmlns:p14="http://schemas.microsoft.com/office/powerpoint/2010/main" val="5183228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Image Placeholder 6"/>
          <p:cNvSpPr>
            <a:spLocks noGrp="1" noRot="1" noChangeAspect="1"/>
          </p:cNvSpPr>
          <p:nvPr>
            <p:ph type="sldImg"/>
          </p:nvPr>
        </p:nvSpPr>
        <p:spPr/>
      </p:sp>
      <p:sp>
        <p:nvSpPr>
          <p:cNvPr id="8" name="Notes Placeholder 7"/>
          <p:cNvSpPr>
            <a:spLocks noGrp="1"/>
          </p:cNvSpPr>
          <p:nvPr>
            <p:ph type="body" idx="1"/>
          </p:nvPr>
        </p:nvSpPr>
        <p:spPr/>
        <p:txBody>
          <a:bodyPr>
            <a:normAutofit/>
          </a:bodyPr>
          <a:lstStyle/>
          <a:p>
            <a:endParaRPr lang="en-US"/>
          </a:p>
        </p:txBody>
      </p:sp>
      <p:sp>
        <p:nvSpPr>
          <p:cNvPr id="10" name="Slide Number Placeholder 9"/>
          <p:cNvSpPr>
            <a:spLocks noGrp="1"/>
          </p:cNvSpPr>
          <p:nvPr>
            <p:ph type="sldNum" sz="quarter" idx="11"/>
          </p:nvPr>
        </p:nvSpPr>
        <p:spPr/>
        <p:txBody>
          <a:bodyPr/>
          <a:lstStyle/>
          <a:p>
            <a:fld id="{A2D9B7C9-1F58-4F07-8711-AA0F3022BC7D}" type="slidenum">
              <a:rPr lang="en-US" smtClean="0"/>
              <a:pPr/>
              <a:t>52</a:t>
            </a:fld>
            <a:endParaRPr lang="en-US" sz="1200"/>
          </a:p>
        </p:txBody>
      </p:sp>
      <p:sp>
        <p:nvSpPr>
          <p:cNvPr id="11" name="Header Placeholder 10"/>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9D117E65-E4AA-4F8A-8523-52F765EE8893}" type="datetime1">
              <a:rPr lang="en-US" smtClean="0"/>
              <a:t>10/15/26</a:t>
            </a:fld>
            <a:endParaRPr lang="en-US" sz="1200"/>
          </a:p>
        </p:txBody>
      </p:sp>
    </p:spTree>
    <p:extLst>
      <p:ext uri="{BB962C8B-B14F-4D97-AF65-F5344CB8AC3E}">
        <p14:creationId xmlns:p14="http://schemas.microsoft.com/office/powerpoint/2010/main" val="17066883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Follows Exercise 1. Question 4 is the first thing an examiner learns about a bank's Wi-Fi, and the bank answers it before the exam starts.</a:t>
            </a:r>
          </a:p>
          <a:p>
            <a:endParaRPr dirty="0"/>
          </a:p>
          <a:p>
            <a:r>
              <a:rPr dirty="0"/>
              <a:t>Debrief: the expanded wireless procedures say guest Wi-Fi should be segmented from the internal network AND accurately shown on the network topology diagram. Ask each table: did your diagram show the guest Wi-Fi? Could you tell it was separate?</a:t>
            </a:r>
          </a:p>
          <a:p>
            <a:endParaRPr dirty="0"/>
          </a:p>
          <a:p>
            <a:r>
              <a:rPr dirty="0"/>
              <a:t>The bottom row is a map, not a lesson: question 4 is a doorway into the Network Architecture, Security Monitoring and Encryption procedures, and into the wireless expanded analysis when the bank has Wi-Fi. Procedure numbers are from the September 2023 version; verify against the current version.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99664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PON is how most fiber-to-the-premises service is delivered, including the business fiber a small branch may buy from a local ISP.</a:t>
            </a:r>
          </a:p>
          <a:p>
            <a:endParaRPr/>
          </a:p>
          <a:p>
            <a:r>
              <a:t>OLT (optical line terminal) sits at the provider. ONT (optical network terminal) sits at each customer and hands off Ethernet. In between, a passive splitter divides one fiber's light among many customers, typically 32 or 64, with no powered equipment in the field.</a:t>
            </a:r>
          </a:p>
          <a:p>
            <a:endParaRPr/>
          </a:p>
          <a:p>
            <a:r>
              <a:t>Shared medium: downstream traffic reaches every ONT on the splitter, so GPON encrypts each customer's downstream traffic; capacity is shared, unlike a dedicated fiber or Ethernet circuit.</a:t>
            </a:r>
          </a:p>
          <a:p>
            <a:endParaRPr/>
          </a:p>
          <a:p>
            <a:r>
              <a:t>Contrast with the Ethernet Access slide: dedicated access gives guaranteed capacity and a business SLA at a higher price. Examiner questions: is this business-class service with an SLA, is there a diverse second path (cable, cellular, a second provider), and is the ONT on battery backup?</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570624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65</a:t>
            </a:fld>
            <a:endParaRPr lang="en-US"/>
          </a:p>
        </p:txBody>
      </p:sp>
    </p:spTree>
    <p:extLst>
      <p:ext uri="{BB962C8B-B14F-4D97-AF65-F5344CB8AC3E}">
        <p14:creationId xmlns:p14="http://schemas.microsoft.com/office/powerpoint/2010/main" val="603555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70</a:t>
            </a:fld>
            <a:endParaRPr lang="en-US"/>
          </a:p>
        </p:txBody>
      </p:sp>
    </p:spTree>
    <p:extLst>
      <p:ext uri="{BB962C8B-B14F-4D97-AF65-F5344CB8AC3E}">
        <p14:creationId xmlns:p14="http://schemas.microsoft.com/office/powerpoint/2010/main" val="5967049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72</a:t>
            </a:fld>
            <a:endParaRPr lang="en-US"/>
          </a:p>
        </p:txBody>
      </p:sp>
    </p:spTree>
    <p:extLst>
      <p:ext uri="{BB962C8B-B14F-4D97-AF65-F5344CB8AC3E}">
        <p14:creationId xmlns:p14="http://schemas.microsoft.com/office/powerpoint/2010/main" val="1255312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73</a:t>
            </a:fld>
            <a:endParaRPr lang="en-US"/>
          </a:p>
        </p:txBody>
      </p:sp>
    </p:spTree>
    <p:extLst>
      <p:ext uri="{BB962C8B-B14F-4D97-AF65-F5344CB8AC3E}">
        <p14:creationId xmlns:p14="http://schemas.microsoft.com/office/powerpoint/2010/main" val="27715532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Follows the WAN chapter, where remote access and site-to-site VPNs are taught. Question 3 is how the bank tells examiners who can reach its network from outside: no one, vendors, or employees and board members on bank-owned or personal devices. The personal-device box is the one to dwell on.</a:t>
            </a:r>
          </a:p>
          <a:p>
            <a:endParaRPr dirty="0"/>
          </a:p>
          <a:p>
            <a:r>
              <a:rPr dirty="0"/>
              <a:t>Debrief: on Monday the tables starred remote access on their diagrams. Ask who is behind each star, and whether the diagram tells you how they authenticate. The baseline statement expects encrypted connections and multifactor authentication for employees, contractors and third parties alike.</a:t>
            </a:r>
          </a:p>
          <a:p>
            <a:endParaRPr dirty="0"/>
          </a:p>
          <a:p>
            <a:r>
              <a:rPr dirty="0"/>
              <a:t>The bottom row is a map: the Remote Access procedure, monitoring of third-party access, the required policies (remote access, BYOD, bank-issued mobile devices), and remote connectivity at the backup site. Wording is from the September 2023 version; verify against the current version.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583526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77</a:t>
            </a:fld>
            <a:endParaRPr lang="en-US"/>
          </a:p>
        </p:txBody>
      </p:sp>
    </p:spTree>
    <p:extLst>
      <p:ext uri="{BB962C8B-B14F-4D97-AF65-F5344CB8AC3E}">
        <p14:creationId xmlns:p14="http://schemas.microsoft.com/office/powerpoint/2010/main" val="29997576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80</a:t>
            </a:fld>
            <a:endParaRPr lang="en-US"/>
          </a:p>
        </p:txBody>
      </p:sp>
    </p:spTree>
    <p:extLst>
      <p:ext uri="{BB962C8B-B14F-4D97-AF65-F5344CB8AC3E}">
        <p14:creationId xmlns:p14="http://schemas.microsoft.com/office/powerpoint/2010/main" val="41904584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Fixed wireless is internet delivered by radio to a building that doesn't move. Three kinds: the big mobile carriers' 4G/5G home and business internet (the fastest-growing kind), local wireless ISPs with rooftop antennas aimed at their towers, and point-to-point links the bank sets up itself between two of its buildings.</a:t>
            </a:r>
          </a:p>
          <a:p>
            <a:endParaRPr/>
          </a:p>
          <a:p>
            <a:r>
              <a:t>Why banks use it: sometimes it is the best connection at a rural branch; it fails differently from wireline (a backhoe in the street won't touch it), so it is a natural second link; and it installs in days.</a:t>
            </a:r>
          </a:p>
          <a:p>
            <a:endParaRPr/>
          </a:p>
          <a:p>
            <a:r>
              <a:t>What to watch: line of sight, trees and heavy rain; shared tower capacity, and on cellular networks fixed-wireless customers may be deprioritized when the network is busy; consumer-grade terms with no SLA or static IP; and tower backhaul that may share fiber with the bank's wireline provider, so the 'diverse' backup may not be. Point-to-point links are the bank's own: it owns their encryption, maintenance and the antennas on its roof.</a:t>
            </a:r>
          </a:p>
          <a:p>
            <a:endParaRPr/>
          </a:p>
          <a:p>
            <a:r>
              <a:t>Leads into the Starlink and backup-path slides.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761685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Starlink is satellite internet from a constellation of more than 10,000 low-earth-orbit satellites (mid-2026), roughly 550 km up. Traditional internet satellites sit in geostationary orbit about 36,000 km up, which is why they feel slow: roughly 600 ms round trip, versus about 20-40 ms for Starlink. Typical downloads run roughly 100-400 Mbps depending on plan and location.</a:t>
            </a:r>
          </a:p>
          <a:p>
            <a:endParaRPr/>
          </a:p>
          <a:p>
            <a:r>
              <a:t>How it works: the user dish talks to whichever satellite is overhead; satellites pass traffic to each other by laser; a gateway ground station hands it to the internet.</a:t>
            </a:r>
          </a:p>
          <a:p>
            <a:endParaRPr/>
          </a:p>
          <a:p>
            <a:r>
              <a:t>Why banks use it: it shares nothing with terrestrial wires, so it is a true second path; it can be set up in a day after a storm or for a temporary branch; it reaches the most rural sites.</a:t>
            </a:r>
          </a:p>
          <a:p>
            <a:endParaRPr/>
          </a:p>
          <a:p>
            <a:r>
              <a:t>What to watch: obstructions (trees, buildings) interrupt service; it is a single provider and a single company; capacity is shared and priority data costs more; traffic exits at a gateway that may be far away, so IP geolocation (used by fraud and access controls) can show the wrong location; most plans have no static public IP, so the bank's VPN or SD-WAN must cope.</a:t>
            </a:r>
          </a:p>
          <a:p>
            <a:endParaRPr/>
          </a:p>
          <a:p>
            <a:r>
              <a:t>Leads into 'Choosing a Backup Path: Wireless vs. Second Wireline'.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918847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point: a backup is only as good as what it doesn't share with the primary. Two wireline providers often share the same poles, conduit, building entrance, or even central office, so one backhoe or one fire can take out both. Ask the bank whether it has a route map showing physically diverse paths, or whether 'diverse' is just two bills.</a:t>
            </a:r>
          </a:p>
          <a:p>
            <a:endParaRPr/>
          </a:p>
          <a:p>
            <a:r>
              <a:t>Wireless backups (cellular, fixed wireless, satellite) avoid the street entirely, which is why they pair well with a wireline primary. Each has its own catch: cellular and fixed wireless towers may ride the same fiber backhaul; satellite needs a clear sky and comes from one company.</a:t>
            </a:r>
          </a:p>
          <a:p>
            <a:endParaRPr/>
          </a:p>
          <a:p>
            <a:r>
              <a:t>Other questions: Is failover automatic (SD-WAN) or does someone have to move a cable? Is the backup sized to run the branch, or just to keep the lights on? Does the backup gear (modem, ONT, router) have battery power? When was failover last tested?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540576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1358851" name="Rectangle 3"/>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87</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B825523D-78D0-4900-ACEE-EB50C9F99AEF}" type="datetime1">
              <a:rPr lang="en-US" smtClean="0"/>
              <a:t>10/15/26</a:t>
            </a:fld>
            <a:endParaRPr lang="en-US" sz="1200"/>
          </a:p>
        </p:txBody>
      </p:sp>
    </p:spTree>
    <p:extLst>
      <p:ext uri="{BB962C8B-B14F-4D97-AF65-F5344CB8AC3E}">
        <p14:creationId xmlns:p14="http://schemas.microsoft.com/office/powerpoint/2010/main" val="37039921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Image Placeholder 12"/>
          <p:cNvSpPr>
            <a:spLocks noGrp="1" noRot="1" noChangeAspect="1"/>
          </p:cNvSpPr>
          <p:nvPr>
            <p:ph type="sldImg"/>
          </p:nvPr>
        </p:nvSpPr>
        <p:spPr/>
      </p:sp>
      <p:sp>
        <p:nvSpPr>
          <p:cNvPr id="14" name="Notes Placeholder 13"/>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88</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10D33AF9-4693-42E8-A370-BA4D82451F23}" type="datetime1">
              <a:rPr lang="en-US" smtClean="0"/>
              <a:t>10/15/26</a:t>
            </a:fld>
            <a:endParaRPr lang="en-US" sz="1200"/>
          </a:p>
        </p:txBody>
      </p:sp>
    </p:spTree>
    <p:extLst>
      <p:ext uri="{BB962C8B-B14F-4D97-AF65-F5344CB8AC3E}">
        <p14:creationId xmlns:p14="http://schemas.microsoft.com/office/powerpoint/2010/main" val="37337483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2707" name="Rectangle 3"/>
          <p:cNvSpPr>
            <a:spLocks noGrp="1" noChangeArrowheads="1"/>
          </p:cNvSpPr>
          <p:nvPr>
            <p:ph type="body" idx="1"/>
          </p:nvPr>
        </p:nvSpPr>
        <p:spPr/>
        <p:txBody>
          <a:bodyPr/>
          <a:lstStyle/>
          <a:p>
            <a:endParaRPr lang="en-US"/>
          </a:p>
        </p:txBody>
      </p:sp>
      <p:sp>
        <p:nvSpPr>
          <p:cNvPr id="8" name="Slide Number Placeholder 7"/>
          <p:cNvSpPr>
            <a:spLocks noGrp="1"/>
          </p:cNvSpPr>
          <p:nvPr>
            <p:ph type="sldNum" sz="quarter" idx="11"/>
          </p:nvPr>
        </p:nvSpPr>
        <p:spPr/>
        <p:txBody>
          <a:bodyPr/>
          <a:lstStyle/>
          <a:p>
            <a:endParaRPr lang="en-US"/>
          </a:p>
        </p:txBody>
      </p:sp>
      <p:sp>
        <p:nvSpPr>
          <p:cNvPr id="9" name="Header Placeholder 8"/>
          <p:cNvSpPr>
            <a:spLocks noGrp="1"/>
          </p:cNvSpPr>
          <p:nvPr>
            <p:ph type="hdr" sz="quarter" idx="12"/>
          </p:nvPr>
        </p:nvSpPr>
        <p:spPr/>
        <p:txBody>
          <a:bodyPr/>
          <a:lstStyle/>
          <a:p>
            <a:r>
              <a:rPr lang="en-US"/>
              <a:t>Introduction to Telecommunications and Networking</a:t>
            </a:r>
          </a:p>
        </p:txBody>
      </p:sp>
      <p:sp>
        <p:nvSpPr>
          <p:cNvPr id="6" name="Slide Image Placeholder 5"/>
          <p:cNvSpPr>
            <a:spLocks noGrp="1" noRot="1" noChangeAspect="1"/>
          </p:cNvSpPr>
          <p:nvPr>
            <p:ph type="sldImg"/>
          </p:nvPr>
        </p:nvSpPr>
        <p:spPr/>
      </p:sp>
      <p:sp>
        <p:nvSpPr>
          <p:cNvPr id="2" name="Date Placeholder 1"/>
          <p:cNvSpPr>
            <a:spLocks noGrp="1"/>
          </p:cNvSpPr>
          <p:nvPr>
            <p:ph type="dt" idx="13"/>
          </p:nvPr>
        </p:nvSpPr>
        <p:spPr/>
        <p:txBody>
          <a:bodyPr/>
          <a:lstStyle/>
          <a:p>
            <a:endParaRPr lang="en-US" sz="1200"/>
          </a:p>
          <a:p>
            <a:fld id="{84DC3347-BE6F-4AA4-A28E-4B1B20879679}" type="datetime1">
              <a:rPr lang="en-US" smtClean="0"/>
              <a:t>10/15/26</a:t>
            </a:fld>
            <a:endParaRPr lang="en-US" sz="1200"/>
          </a:p>
        </p:txBody>
      </p:sp>
    </p:spTree>
    <p:extLst>
      <p:ext uri="{BB962C8B-B14F-4D97-AF65-F5344CB8AC3E}">
        <p14:creationId xmlns:p14="http://schemas.microsoft.com/office/powerpoint/2010/main" val="21251205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4755" name="Rectangle 3"/>
          <p:cNvSpPr>
            <a:spLocks noGrp="1" noChangeArrowheads="1"/>
          </p:cNvSpPr>
          <p:nvPr>
            <p:ph type="body" idx="1"/>
          </p:nvPr>
        </p:nvSpPr>
        <p:spPr/>
        <p:txBody>
          <a:bodyPr/>
          <a:lstStyle/>
          <a:p>
            <a:endParaRPr lang="en-US"/>
          </a:p>
        </p:txBody>
      </p:sp>
      <p:sp>
        <p:nvSpPr>
          <p:cNvPr id="8" name="Slide Number Placeholder 7"/>
          <p:cNvSpPr>
            <a:spLocks noGrp="1"/>
          </p:cNvSpPr>
          <p:nvPr>
            <p:ph type="sldNum" sz="quarter" idx="11"/>
          </p:nvPr>
        </p:nvSpPr>
        <p:spPr/>
        <p:txBody>
          <a:bodyPr/>
          <a:lstStyle/>
          <a:p>
            <a:endParaRPr lang="en-US"/>
          </a:p>
        </p:txBody>
      </p:sp>
      <p:sp>
        <p:nvSpPr>
          <p:cNvPr id="9" name="Header Placeholder 8"/>
          <p:cNvSpPr>
            <a:spLocks noGrp="1"/>
          </p:cNvSpPr>
          <p:nvPr>
            <p:ph type="hdr" sz="quarter" idx="12"/>
          </p:nvPr>
        </p:nvSpPr>
        <p:spPr/>
        <p:txBody>
          <a:bodyPr/>
          <a:lstStyle/>
          <a:p>
            <a:r>
              <a:rPr lang="en-US"/>
              <a:t>Introduction to Telecommunications and Networking</a:t>
            </a:r>
          </a:p>
        </p:txBody>
      </p:sp>
      <p:sp>
        <p:nvSpPr>
          <p:cNvPr id="6" name="Slide Image Placeholder 5"/>
          <p:cNvSpPr>
            <a:spLocks noGrp="1" noRot="1" noChangeAspect="1"/>
          </p:cNvSpPr>
          <p:nvPr>
            <p:ph type="sldImg"/>
          </p:nvPr>
        </p:nvSpPr>
        <p:spPr/>
      </p:sp>
      <p:sp>
        <p:nvSpPr>
          <p:cNvPr id="2" name="Date Placeholder 1"/>
          <p:cNvSpPr>
            <a:spLocks noGrp="1"/>
          </p:cNvSpPr>
          <p:nvPr>
            <p:ph type="dt" idx="13"/>
          </p:nvPr>
        </p:nvSpPr>
        <p:spPr/>
        <p:txBody>
          <a:bodyPr/>
          <a:lstStyle/>
          <a:p>
            <a:endParaRPr lang="en-US" sz="1200"/>
          </a:p>
          <a:p>
            <a:fld id="{2923B5A7-51CD-4DD0-ADE0-B266D47E00C0}" type="datetime1">
              <a:rPr lang="en-US" smtClean="0"/>
              <a:t>10/15/26</a:t>
            </a:fld>
            <a:endParaRPr lang="en-US" sz="1200"/>
          </a:p>
        </p:txBody>
      </p:sp>
    </p:spTree>
    <p:extLst>
      <p:ext uri="{BB962C8B-B14F-4D97-AF65-F5344CB8AC3E}">
        <p14:creationId xmlns:p14="http://schemas.microsoft.com/office/powerpoint/2010/main" val="32334917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6803" name="Rectangle 3"/>
          <p:cNvSpPr>
            <a:spLocks noGrp="1" noChangeArrowheads="1"/>
          </p:cNvSpPr>
          <p:nvPr>
            <p:ph type="body" idx="1"/>
          </p:nvPr>
        </p:nvSpPr>
        <p:spPr/>
        <p:txBody>
          <a:bodyPr>
            <a:normAutofit/>
          </a:bodyPr>
          <a:lstStyle/>
          <a:p>
            <a:pPr>
              <a:lnSpc>
                <a:spcPct val="105000"/>
              </a:lnSpc>
            </a:pPr>
            <a:endParaRPr lang="en-US"/>
          </a:p>
        </p:txBody>
      </p:sp>
      <p:sp>
        <p:nvSpPr>
          <p:cNvPr id="8" name="Slide Number Placeholder 7"/>
          <p:cNvSpPr>
            <a:spLocks noGrp="1"/>
          </p:cNvSpPr>
          <p:nvPr>
            <p:ph type="sldNum" sz="quarter" idx="11"/>
          </p:nvPr>
        </p:nvSpPr>
        <p:spPr/>
        <p:txBody>
          <a:bodyPr/>
          <a:lstStyle/>
          <a:p>
            <a:endParaRPr lang="en-US"/>
          </a:p>
        </p:txBody>
      </p:sp>
      <p:sp>
        <p:nvSpPr>
          <p:cNvPr id="9" name="Header Placeholder 8"/>
          <p:cNvSpPr>
            <a:spLocks noGrp="1"/>
          </p:cNvSpPr>
          <p:nvPr>
            <p:ph type="hdr" sz="quarter" idx="12"/>
          </p:nvPr>
        </p:nvSpPr>
        <p:spPr/>
        <p:txBody>
          <a:bodyPr/>
          <a:lstStyle/>
          <a:p>
            <a:r>
              <a:rPr lang="en-US"/>
              <a:t>Introduction to Telecommunications and Networking</a:t>
            </a:r>
          </a:p>
        </p:txBody>
      </p:sp>
      <p:sp>
        <p:nvSpPr>
          <p:cNvPr id="6" name="Slide Image Placeholder 5"/>
          <p:cNvSpPr>
            <a:spLocks noGrp="1" noRot="1" noChangeAspect="1"/>
          </p:cNvSpPr>
          <p:nvPr>
            <p:ph type="sldImg"/>
          </p:nvPr>
        </p:nvSpPr>
        <p:spPr/>
      </p:sp>
      <p:sp>
        <p:nvSpPr>
          <p:cNvPr id="2" name="Date Placeholder 1"/>
          <p:cNvSpPr>
            <a:spLocks noGrp="1"/>
          </p:cNvSpPr>
          <p:nvPr>
            <p:ph type="dt" idx="13"/>
          </p:nvPr>
        </p:nvSpPr>
        <p:spPr/>
        <p:txBody>
          <a:bodyPr/>
          <a:lstStyle/>
          <a:p>
            <a:endParaRPr lang="en-US" sz="1200"/>
          </a:p>
          <a:p>
            <a:fld id="{00D8C6CD-85C7-48C4-AB8E-2E6719568096}" type="datetime1">
              <a:rPr lang="en-US" smtClean="0"/>
              <a:t>10/15/26</a:t>
            </a:fld>
            <a:endParaRPr lang="en-US" sz="1200"/>
          </a:p>
        </p:txBody>
      </p:sp>
    </p:spTree>
    <p:extLst>
      <p:ext uri="{BB962C8B-B14F-4D97-AF65-F5344CB8AC3E}">
        <p14:creationId xmlns:p14="http://schemas.microsoft.com/office/powerpoint/2010/main" val="36433133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0899" name="Rectangle 3"/>
          <p:cNvSpPr>
            <a:spLocks noGrp="1" noChangeArrowheads="1"/>
          </p:cNvSpPr>
          <p:nvPr>
            <p:ph type="body" idx="1"/>
          </p:nvPr>
        </p:nvSpPr>
        <p:spPr/>
        <p:txBody>
          <a:bodyPr>
            <a:normAutofit/>
          </a:bodyPr>
          <a:lstStyle/>
          <a:p>
            <a:endParaRPr lang="en-US"/>
          </a:p>
        </p:txBody>
      </p:sp>
      <p:sp>
        <p:nvSpPr>
          <p:cNvPr id="8" name="Slide Number Placeholder 7"/>
          <p:cNvSpPr>
            <a:spLocks noGrp="1"/>
          </p:cNvSpPr>
          <p:nvPr>
            <p:ph type="sldNum" sz="quarter" idx="11"/>
          </p:nvPr>
        </p:nvSpPr>
        <p:spPr/>
        <p:txBody>
          <a:bodyPr/>
          <a:lstStyle/>
          <a:p>
            <a:endParaRPr lang="en-US"/>
          </a:p>
        </p:txBody>
      </p:sp>
      <p:sp>
        <p:nvSpPr>
          <p:cNvPr id="9" name="Header Placeholder 8"/>
          <p:cNvSpPr>
            <a:spLocks noGrp="1"/>
          </p:cNvSpPr>
          <p:nvPr>
            <p:ph type="hdr" sz="quarter" idx="12"/>
          </p:nvPr>
        </p:nvSpPr>
        <p:spPr/>
        <p:txBody>
          <a:bodyPr/>
          <a:lstStyle/>
          <a:p>
            <a:r>
              <a:rPr lang="en-US"/>
              <a:t>Introduction to Telecommunications and Networking</a:t>
            </a:r>
          </a:p>
        </p:txBody>
      </p:sp>
      <p:sp>
        <p:nvSpPr>
          <p:cNvPr id="6" name="Slide Image Placeholder 5"/>
          <p:cNvSpPr>
            <a:spLocks noGrp="1" noRot="1" noChangeAspect="1"/>
          </p:cNvSpPr>
          <p:nvPr>
            <p:ph type="sldImg"/>
          </p:nvPr>
        </p:nvSpPr>
        <p:spPr/>
      </p:sp>
      <p:sp>
        <p:nvSpPr>
          <p:cNvPr id="2" name="Date Placeholder 1"/>
          <p:cNvSpPr>
            <a:spLocks noGrp="1"/>
          </p:cNvSpPr>
          <p:nvPr>
            <p:ph type="dt" idx="13"/>
          </p:nvPr>
        </p:nvSpPr>
        <p:spPr/>
        <p:txBody>
          <a:bodyPr/>
          <a:lstStyle/>
          <a:p>
            <a:endParaRPr lang="en-US" sz="1200"/>
          </a:p>
          <a:p>
            <a:fld id="{469FD7EC-F47F-44A8-B38E-250E0F550DBD}" type="datetime1">
              <a:rPr lang="en-US" smtClean="0"/>
              <a:t>10/15/26</a:t>
            </a:fld>
            <a:endParaRPr lang="en-US" sz="1200"/>
          </a:p>
        </p:txBody>
      </p:sp>
    </p:spTree>
    <p:extLst>
      <p:ext uri="{BB962C8B-B14F-4D97-AF65-F5344CB8AC3E}">
        <p14:creationId xmlns:p14="http://schemas.microsoft.com/office/powerpoint/2010/main" val="23622968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4995" name="Rectangle 3"/>
          <p:cNvSpPr>
            <a:spLocks noGrp="1" noChangeArrowheads="1"/>
          </p:cNvSpPr>
          <p:nvPr>
            <p:ph type="body" idx="1"/>
          </p:nvPr>
        </p:nvSpPr>
        <p:spPr/>
        <p:txBody>
          <a:bodyPr>
            <a:normAutofit/>
          </a:bodyPr>
          <a:lstStyle/>
          <a:p>
            <a:endParaRPr lang="en-US"/>
          </a:p>
        </p:txBody>
      </p:sp>
      <p:sp>
        <p:nvSpPr>
          <p:cNvPr id="8" name="Slide Number Placeholder 7"/>
          <p:cNvSpPr>
            <a:spLocks noGrp="1"/>
          </p:cNvSpPr>
          <p:nvPr>
            <p:ph type="sldNum" sz="quarter" idx="11"/>
          </p:nvPr>
        </p:nvSpPr>
        <p:spPr/>
        <p:txBody>
          <a:bodyPr/>
          <a:lstStyle/>
          <a:p>
            <a:endParaRPr lang="en-US"/>
          </a:p>
        </p:txBody>
      </p:sp>
      <p:sp>
        <p:nvSpPr>
          <p:cNvPr id="9" name="Header Placeholder 8"/>
          <p:cNvSpPr>
            <a:spLocks noGrp="1"/>
          </p:cNvSpPr>
          <p:nvPr>
            <p:ph type="hdr" sz="quarter" idx="12"/>
          </p:nvPr>
        </p:nvSpPr>
        <p:spPr/>
        <p:txBody>
          <a:bodyPr/>
          <a:lstStyle/>
          <a:p>
            <a:r>
              <a:rPr lang="en-US"/>
              <a:t>Introduction to Telecommunications and Networking</a:t>
            </a:r>
          </a:p>
        </p:txBody>
      </p:sp>
      <p:sp>
        <p:nvSpPr>
          <p:cNvPr id="14" name="Slide Image Placeholder 13"/>
          <p:cNvSpPr>
            <a:spLocks noGrp="1" noRot="1" noChangeAspect="1"/>
          </p:cNvSpPr>
          <p:nvPr>
            <p:ph type="sldImg"/>
          </p:nvPr>
        </p:nvSpPr>
        <p:spPr/>
      </p:sp>
      <p:sp>
        <p:nvSpPr>
          <p:cNvPr id="2" name="Date Placeholder 1"/>
          <p:cNvSpPr>
            <a:spLocks noGrp="1"/>
          </p:cNvSpPr>
          <p:nvPr>
            <p:ph type="dt" idx="13"/>
          </p:nvPr>
        </p:nvSpPr>
        <p:spPr/>
        <p:txBody>
          <a:bodyPr/>
          <a:lstStyle/>
          <a:p>
            <a:endParaRPr lang="en-US" sz="1200"/>
          </a:p>
          <a:p>
            <a:fld id="{D0818554-71B0-49BC-8F23-4220421F7852}" type="datetime1">
              <a:rPr lang="en-US" smtClean="0"/>
              <a:t>10/15/26</a:t>
            </a:fld>
            <a:endParaRPr lang="en-US" sz="1200"/>
          </a:p>
        </p:txBody>
      </p:sp>
    </p:spTree>
    <p:extLst>
      <p:ext uri="{BB962C8B-B14F-4D97-AF65-F5344CB8AC3E}">
        <p14:creationId xmlns:p14="http://schemas.microsoft.com/office/powerpoint/2010/main" val="20421594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947" name="Rectangle 3"/>
          <p:cNvSpPr>
            <a:spLocks noGrp="1" noChangeArrowheads="1"/>
          </p:cNvSpPr>
          <p:nvPr>
            <p:ph type="body" idx="1"/>
          </p:nvPr>
        </p:nvSpPr>
        <p:spPr/>
        <p:txBody>
          <a:bodyPr/>
          <a:lstStyle/>
          <a:p>
            <a:endParaRPr lang="en-US"/>
          </a:p>
        </p:txBody>
      </p:sp>
      <p:sp>
        <p:nvSpPr>
          <p:cNvPr id="8" name="Slide Number Placeholder 7"/>
          <p:cNvSpPr>
            <a:spLocks noGrp="1"/>
          </p:cNvSpPr>
          <p:nvPr>
            <p:ph type="sldNum" sz="quarter" idx="11"/>
          </p:nvPr>
        </p:nvSpPr>
        <p:spPr/>
        <p:txBody>
          <a:bodyPr/>
          <a:lstStyle/>
          <a:p>
            <a:endParaRPr lang="en-US"/>
          </a:p>
        </p:txBody>
      </p:sp>
      <p:sp>
        <p:nvSpPr>
          <p:cNvPr id="9" name="Header Placeholder 8"/>
          <p:cNvSpPr>
            <a:spLocks noGrp="1"/>
          </p:cNvSpPr>
          <p:nvPr>
            <p:ph type="hdr" sz="quarter" idx="12"/>
          </p:nvPr>
        </p:nvSpPr>
        <p:spPr/>
        <p:txBody>
          <a:bodyPr/>
          <a:lstStyle/>
          <a:p>
            <a:r>
              <a:rPr lang="en-US"/>
              <a:t>Introduction to Telecommunications and Networking</a:t>
            </a:r>
          </a:p>
        </p:txBody>
      </p:sp>
      <p:sp>
        <p:nvSpPr>
          <p:cNvPr id="6" name="Slide Image Placeholder 5"/>
          <p:cNvSpPr>
            <a:spLocks noGrp="1" noRot="1" noChangeAspect="1"/>
          </p:cNvSpPr>
          <p:nvPr>
            <p:ph type="sldImg"/>
          </p:nvPr>
        </p:nvSpPr>
        <p:spPr/>
      </p:sp>
      <p:sp>
        <p:nvSpPr>
          <p:cNvPr id="2" name="Date Placeholder 1"/>
          <p:cNvSpPr>
            <a:spLocks noGrp="1"/>
          </p:cNvSpPr>
          <p:nvPr>
            <p:ph type="dt" idx="13"/>
          </p:nvPr>
        </p:nvSpPr>
        <p:spPr/>
        <p:txBody>
          <a:bodyPr/>
          <a:lstStyle/>
          <a:p>
            <a:endParaRPr lang="en-US" sz="1200"/>
          </a:p>
          <a:p>
            <a:fld id="{CA10C4CB-5BCA-41EA-99F0-234C4E051D9D}" type="datetime1">
              <a:rPr lang="en-US" smtClean="0"/>
              <a:t>10/15/26</a:t>
            </a:fld>
            <a:endParaRPr lang="en-US" sz="1200"/>
          </a:p>
        </p:txBody>
      </p:sp>
    </p:spTree>
    <p:extLst>
      <p:ext uri="{BB962C8B-B14F-4D97-AF65-F5344CB8AC3E}">
        <p14:creationId xmlns:p14="http://schemas.microsoft.com/office/powerpoint/2010/main" val="15033050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1701" name="Rectangle 5"/>
          <p:cNvSpPr>
            <a:spLocks noGrp="1" noChangeArrowheads="1"/>
          </p:cNvSpPr>
          <p:nvPr>
            <p:ph type="body" idx="1"/>
          </p:nvPr>
        </p:nvSpPr>
        <p:spPr/>
        <p:txBody>
          <a:bodyPr>
            <a:normAutofit/>
          </a:bodyPr>
          <a:lstStyle/>
          <a:p>
            <a:endParaRPr lang="en-US"/>
          </a:p>
        </p:txBody>
      </p:sp>
      <p:sp>
        <p:nvSpPr>
          <p:cNvPr id="8" name="Slide Number Placeholder 7"/>
          <p:cNvSpPr>
            <a:spLocks noGrp="1"/>
          </p:cNvSpPr>
          <p:nvPr>
            <p:ph type="sldNum" sz="quarter" idx="11"/>
          </p:nvPr>
        </p:nvSpPr>
        <p:spPr/>
        <p:txBody>
          <a:bodyPr/>
          <a:lstStyle/>
          <a:p>
            <a:endParaRPr lang="en-US"/>
          </a:p>
        </p:txBody>
      </p:sp>
      <p:sp>
        <p:nvSpPr>
          <p:cNvPr id="9" name="Header Placeholder 8"/>
          <p:cNvSpPr>
            <a:spLocks noGrp="1"/>
          </p:cNvSpPr>
          <p:nvPr>
            <p:ph type="hdr" sz="quarter" idx="12"/>
          </p:nvPr>
        </p:nvSpPr>
        <p:spPr/>
        <p:txBody>
          <a:bodyPr/>
          <a:lstStyle/>
          <a:p>
            <a:r>
              <a:rPr lang="en-US"/>
              <a:t>Introduction to Telecommunications and Networking</a:t>
            </a:r>
          </a:p>
        </p:txBody>
      </p:sp>
      <p:sp>
        <p:nvSpPr>
          <p:cNvPr id="6" name="Slide Image Placeholder 5"/>
          <p:cNvSpPr>
            <a:spLocks noGrp="1" noRot="1" noChangeAspect="1"/>
          </p:cNvSpPr>
          <p:nvPr>
            <p:ph type="sldImg"/>
          </p:nvPr>
        </p:nvSpPr>
        <p:spPr/>
      </p:sp>
      <p:sp>
        <p:nvSpPr>
          <p:cNvPr id="2" name="Date Placeholder 1"/>
          <p:cNvSpPr>
            <a:spLocks noGrp="1"/>
          </p:cNvSpPr>
          <p:nvPr>
            <p:ph type="dt" idx="13"/>
          </p:nvPr>
        </p:nvSpPr>
        <p:spPr/>
        <p:txBody>
          <a:bodyPr/>
          <a:lstStyle/>
          <a:p>
            <a:endParaRPr lang="en-US" sz="1200"/>
          </a:p>
          <a:p>
            <a:fld id="{6E03EAFB-D975-4451-8BAF-63E902FFBCCA}" type="datetime1">
              <a:rPr lang="en-US" smtClean="0"/>
              <a:t>10/15/26</a:t>
            </a:fld>
            <a:endParaRPr lang="en-US" sz="1200"/>
          </a:p>
        </p:txBody>
      </p:sp>
    </p:spTree>
    <p:extLst>
      <p:ext uri="{BB962C8B-B14F-4D97-AF65-F5344CB8AC3E}">
        <p14:creationId xmlns:p14="http://schemas.microsoft.com/office/powerpoint/2010/main" val="274485078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98</a:t>
            </a:fld>
            <a:endParaRPr lang="en-US"/>
          </a:p>
        </p:txBody>
      </p:sp>
    </p:spTree>
    <p:extLst>
      <p:ext uri="{BB962C8B-B14F-4D97-AF65-F5344CB8AC3E}">
        <p14:creationId xmlns:p14="http://schemas.microsoft.com/office/powerpoint/2010/main" val="39803452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177155" name="Rectangle 3"/>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99</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A4BAFE3D-8A1D-4D59-A114-4A872E6B7C13}" type="datetime1">
              <a:rPr lang="en-US" smtClean="0"/>
              <a:t>10/15/26</a:t>
            </a:fld>
            <a:endParaRPr lang="en-US" sz="1200"/>
          </a:p>
        </p:txBody>
      </p:sp>
    </p:spTree>
    <p:extLst>
      <p:ext uri="{BB962C8B-B14F-4D97-AF65-F5344CB8AC3E}">
        <p14:creationId xmlns:p14="http://schemas.microsoft.com/office/powerpoint/2010/main" val="29265433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891205" name="Rectangle 5"/>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101</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1AC8F5A8-D468-41A9-9882-5CC156DF4584}" type="datetime1">
              <a:rPr lang="en-US" smtClean="0"/>
              <a:t>10/15/26</a:t>
            </a:fld>
            <a:endParaRPr lang="en-US" sz="1200"/>
          </a:p>
        </p:txBody>
      </p:sp>
    </p:spTree>
    <p:extLst>
      <p:ext uri="{BB962C8B-B14F-4D97-AF65-F5344CB8AC3E}">
        <p14:creationId xmlns:p14="http://schemas.microsoft.com/office/powerpoint/2010/main" val="105602158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946501" name="Rectangle 5"/>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102</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78C41700-A605-4ED7-90C4-12B0E2CF942D}" type="datetime1">
              <a:rPr lang="en-US" smtClean="0"/>
              <a:t>10/15/26</a:t>
            </a:fld>
            <a:endParaRPr lang="en-US" sz="1200"/>
          </a:p>
        </p:txBody>
      </p:sp>
    </p:spTree>
    <p:extLst>
      <p:ext uri="{BB962C8B-B14F-4D97-AF65-F5344CB8AC3E}">
        <p14:creationId xmlns:p14="http://schemas.microsoft.com/office/powerpoint/2010/main" val="2891860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Image Placeholder 14"/>
          <p:cNvSpPr>
            <a:spLocks noGrp="1" noRot="1" noChangeAspect="1"/>
          </p:cNvSpPr>
          <p:nvPr>
            <p:ph type="sldImg"/>
          </p:nvPr>
        </p:nvSpPr>
        <p:spPr/>
      </p:sp>
      <p:sp>
        <p:nvSpPr>
          <p:cNvPr id="1510403" name="Rectangle 3"/>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103</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A6E1452D-7A9B-4D40-A426-51BEF6459F05}" type="datetime1">
              <a:rPr lang="en-US" smtClean="0"/>
              <a:t>10/15/26</a:t>
            </a:fld>
            <a:endParaRPr lang="en-US" sz="1200"/>
          </a:p>
        </p:txBody>
      </p:sp>
    </p:spTree>
    <p:extLst>
      <p:ext uri="{BB962C8B-B14F-4D97-AF65-F5344CB8AC3E}">
        <p14:creationId xmlns:p14="http://schemas.microsoft.com/office/powerpoint/2010/main" val="378027810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Image Placeholder 14"/>
          <p:cNvSpPr>
            <a:spLocks noGrp="1" noRot="1" noChangeAspect="1"/>
          </p:cNvSpPr>
          <p:nvPr>
            <p:ph type="sldImg"/>
          </p:nvPr>
        </p:nvSpPr>
        <p:spPr/>
      </p:sp>
      <p:sp>
        <p:nvSpPr>
          <p:cNvPr id="1512451" name="Rectangle 3"/>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104</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A6E8159A-3813-478D-899F-5465F545741B}" type="datetime1">
              <a:rPr lang="en-US" smtClean="0"/>
              <a:t>10/15/26</a:t>
            </a:fld>
            <a:endParaRPr lang="en-US" sz="1200"/>
          </a:p>
        </p:txBody>
      </p:sp>
    </p:spTree>
    <p:extLst>
      <p:ext uri="{BB962C8B-B14F-4D97-AF65-F5344CB8AC3E}">
        <p14:creationId xmlns:p14="http://schemas.microsoft.com/office/powerpoint/2010/main" val="37038028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Image Placeholder 14"/>
          <p:cNvSpPr>
            <a:spLocks noGrp="1" noRot="1" noChangeAspect="1"/>
          </p:cNvSpPr>
          <p:nvPr>
            <p:ph type="sldImg"/>
          </p:nvPr>
        </p:nvSpPr>
        <p:spPr/>
      </p:sp>
      <p:sp>
        <p:nvSpPr>
          <p:cNvPr id="1514499" name="Rectangle 3"/>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105</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A2EEBAA2-B8D7-4CB1-B5B8-671AA8FF0F24}" type="datetime1">
              <a:rPr lang="en-US" smtClean="0"/>
              <a:t>10/15/26</a:t>
            </a:fld>
            <a:endParaRPr lang="en-US" sz="1200"/>
          </a:p>
        </p:txBody>
      </p:sp>
    </p:spTree>
    <p:extLst>
      <p:ext uri="{BB962C8B-B14F-4D97-AF65-F5344CB8AC3E}">
        <p14:creationId xmlns:p14="http://schemas.microsoft.com/office/powerpoint/2010/main" val="35218046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107</a:t>
            </a:fld>
            <a:endParaRPr lang="en-US"/>
          </a:p>
        </p:txBody>
      </p:sp>
    </p:spTree>
    <p:extLst>
      <p:ext uri="{BB962C8B-B14F-4D97-AF65-F5344CB8AC3E}">
        <p14:creationId xmlns:p14="http://schemas.microsoft.com/office/powerpoint/2010/main" val="20110322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966981" name="Rectangle 5"/>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108</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1B247C3B-249E-4ACB-A85B-9071B2BC9E51}" type="datetime1">
              <a:rPr lang="en-US" smtClean="0"/>
              <a:t>10/15/26</a:t>
            </a:fld>
            <a:endParaRPr lang="en-US" sz="1200"/>
          </a:p>
        </p:txBody>
      </p:sp>
    </p:spTree>
    <p:extLst>
      <p:ext uri="{BB962C8B-B14F-4D97-AF65-F5344CB8AC3E}">
        <p14:creationId xmlns:p14="http://schemas.microsoft.com/office/powerpoint/2010/main" val="214212778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966981" name="Rectangle 5"/>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110</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B9BAFF65-284C-4E79-8268-654603B4B0DD}" type="datetime1">
              <a:rPr lang="en-US" smtClean="0"/>
              <a:t>10/15/26</a:t>
            </a:fld>
            <a:endParaRPr lang="en-US" sz="1200"/>
          </a:p>
        </p:txBody>
      </p:sp>
    </p:spTree>
    <p:extLst>
      <p:ext uri="{BB962C8B-B14F-4D97-AF65-F5344CB8AC3E}">
        <p14:creationId xmlns:p14="http://schemas.microsoft.com/office/powerpoint/2010/main" val="84662150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893253" name="Rectangle 5"/>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111</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6ACBB9AC-BFF6-4AD4-AD2B-1848F179B5B7}" type="datetime1">
              <a:rPr lang="en-US" smtClean="0"/>
              <a:t>10/15/26</a:t>
            </a:fld>
            <a:endParaRPr lang="en-US" sz="1200"/>
          </a:p>
        </p:txBody>
      </p:sp>
    </p:spTree>
    <p:extLst>
      <p:ext uri="{BB962C8B-B14F-4D97-AF65-F5344CB8AC3E}">
        <p14:creationId xmlns:p14="http://schemas.microsoft.com/office/powerpoint/2010/main" val="115310548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901445" name="Rectangle 5"/>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112</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2C85E06C-0BDA-4A15-948B-DC437F4554C4}" type="datetime1">
              <a:rPr lang="en-US" smtClean="0"/>
              <a:t>10/15/26</a:t>
            </a:fld>
            <a:endParaRPr lang="en-US" sz="1200"/>
          </a:p>
        </p:txBody>
      </p:sp>
    </p:spTree>
    <p:extLst>
      <p:ext uri="{BB962C8B-B14F-4D97-AF65-F5344CB8AC3E}">
        <p14:creationId xmlns:p14="http://schemas.microsoft.com/office/powerpoint/2010/main" val="404269290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115</a:t>
            </a:fld>
            <a:endParaRPr lang="en-US"/>
          </a:p>
        </p:txBody>
      </p:sp>
    </p:spTree>
    <p:extLst>
      <p:ext uri="{BB962C8B-B14F-4D97-AF65-F5344CB8AC3E}">
        <p14:creationId xmlns:p14="http://schemas.microsoft.com/office/powerpoint/2010/main" val="35985855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899397" name="Rectangle 5"/>
          <p:cNvSpPr>
            <a:spLocks noGrp="1" noChangeArrowheads="1"/>
          </p:cNvSpPr>
          <p:nvPr>
            <p:ph type="body" idx="1"/>
          </p:nvPr>
        </p:nvSpPr>
        <p:spPr/>
        <p:txBody>
          <a:bodyPr>
            <a:normAutofit/>
          </a:bodyPr>
          <a:lstStyle/>
          <a:p>
            <a:endParaRPr lang="en-GB"/>
          </a:p>
        </p:txBody>
      </p:sp>
      <p:sp>
        <p:nvSpPr>
          <p:cNvPr id="5" name="Slide Number Placeholder 4"/>
          <p:cNvSpPr>
            <a:spLocks noGrp="1"/>
          </p:cNvSpPr>
          <p:nvPr>
            <p:ph type="sldNum" sz="quarter" idx="11"/>
          </p:nvPr>
        </p:nvSpPr>
        <p:spPr/>
        <p:txBody>
          <a:bodyPr/>
          <a:lstStyle/>
          <a:p>
            <a:fld id="{A2D9B7C9-1F58-4F07-8711-AA0F3022BC7D}" type="slidenum">
              <a:rPr lang="en-US" smtClean="0"/>
              <a:pPr/>
              <a:t>116</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B6BB5C74-EDBC-4299-A3A7-F50B2A406E1E}" type="datetime1">
              <a:rPr lang="en-US" smtClean="0"/>
              <a:t>10/15/26</a:t>
            </a:fld>
            <a:endParaRPr lang="en-US" sz="1200"/>
          </a:p>
        </p:txBody>
      </p:sp>
    </p:spTree>
    <p:extLst>
      <p:ext uri="{BB962C8B-B14F-4D97-AF65-F5344CB8AC3E}">
        <p14:creationId xmlns:p14="http://schemas.microsoft.com/office/powerpoint/2010/main" val="27960442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901445" name="Rectangle 5"/>
          <p:cNvSpPr>
            <a:spLocks noGrp="1" noChangeArrowheads="1"/>
          </p:cNvSpPr>
          <p:nvPr>
            <p:ph type="body" idx="1"/>
          </p:nvPr>
        </p:nvSpPr>
        <p:spPr/>
        <p:txBody>
          <a:bodyPr>
            <a:normAutofit/>
          </a:bodyPr>
          <a:lstStyle/>
          <a:p>
            <a:endParaRPr lang="en-GB"/>
          </a:p>
        </p:txBody>
      </p:sp>
      <p:sp>
        <p:nvSpPr>
          <p:cNvPr id="5" name="Slide Number Placeholder 4"/>
          <p:cNvSpPr>
            <a:spLocks noGrp="1"/>
          </p:cNvSpPr>
          <p:nvPr>
            <p:ph type="sldNum" sz="quarter" idx="11"/>
          </p:nvPr>
        </p:nvSpPr>
        <p:spPr/>
        <p:txBody>
          <a:bodyPr/>
          <a:lstStyle/>
          <a:p>
            <a:fld id="{A2D9B7C9-1F58-4F07-8711-AA0F3022BC7D}" type="slidenum">
              <a:rPr lang="en-US" smtClean="0"/>
              <a:pPr/>
              <a:t>117</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D17AE9EC-C407-4A87-8E3C-2333C660593E}" type="datetime1">
              <a:rPr lang="en-US" smtClean="0"/>
              <a:t>10/15/26</a:t>
            </a:fld>
            <a:endParaRPr lang="en-US" sz="1200"/>
          </a:p>
        </p:txBody>
      </p:sp>
    </p:spTree>
    <p:extLst>
      <p:ext uri="{BB962C8B-B14F-4D97-AF65-F5344CB8AC3E}">
        <p14:creationId xmlns:p14="http://schemas.microsoft.com/office/powerpoint/2010/main" val="215755739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897349" name="Rectangle 5"/>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118</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3D690599-493A-445E-AF95-246CD280464C}" type="datetime1">
              <a:rPr lang="en-US" smtClean="0"/>
              <a:t>10/15/26</a:t>
            </a:fld>
            <a:endParaRPr lang="en-US" sz="1200"/>
          </a:p>
        </p:txBody>
      </p:sp>
    </p:spTree>
    <p:extLst>
      <p:ext uri="{BB962C8B-B14F-4D97-AF65-F5344CB8AC3E}">
        <p14:creationId xmlns:p14="http://schemas.microsoft.com/office/powerpoint/2010/main" val="54299693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certificate is how a server proves it is who it says it is. The bank's certificate names its website and is signed by a certificate authority; that authority is vouched for by a root authority whose certificate is built into every browser, phone and operating system. That is the chain of trust.</a:t>
            </a:r>
          </a:p>
          <a:p>
            <a:endParaRPr/>
          </a:p>
          <a:p>
            <a:r>
              <a:t>Before showing the padlock, the browser checks that the chain leads to a root it trusts, that the name on the certificate matches the site, and that the certificate has not expired or been revoked. Only then does TLS (next slide) set up the encrypted session.</a:t>
            </a:r>
          </a:p>
          <a:p>
            <a:endParaRPr/>
          </a:p>
          <a:p>
            <a:r>
              <a:t>Examiner angle: who at the bank (or which vendor) tracks certificates and their expiry dates? Expired certificates cause real outages. Under the CA/Browser Forum's schedule, maximum public TLS certificate lifetimes dropped to 200 days on March 15, 2026, go to 100 days in 2027 and 47 days in 2029, so manual renewal will not keep up. Also: users trained to click through certificate warnings undo all of this.</a:t>
            </a:r>
          </a:p>
          <a:p>
            <a:endParaRPr/>
          </a:p>
          <a:p>
            <a:r>
              <a:t>Wednesday's cryptography chapter goes deeper on PKI, how certificates are signed, and key management.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6640593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120</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6288650B-CFFE-4560-B1EE-6A46104B6D6D}" type="datetime1">
              <a:rPr lang="en-US" smtClean="0"/>
              <a:t>10/15/26</a:t>
            </a:fld>
            <a:endParaRPr lang="en-US" sz="1200"/>
          </a:p>
        </p:txBody>
      </p:sp>
    </p:spTree>
    <p:extLst>
      <p:ext uri="{BB962C8B-B14F-4D97-AF65-F5344CB8AC3E}">
        <p14:creationId xmlns:p14="http://schemas.microsoft.com/office/powerpoint/2010/main" val="64606853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 is a newer transport protocol, standardized by the IETF in 2021 (RFC 9000), that combines what TCP and TLS do. Instead of setting up a TCP connection and then a TLS session on top of it, QUIC does both in one exchange, using TLS 1.3 inside. It runs over UDP. HTTP/3 is HTTP running over QUIC, and much of the traffic to the largest websites and apps (search, video, social media, cloud services) now uses it.</a:t>
            </a:r>
          </a:p>
          <a:p>
            <a:endParaRPr/>
          </a:p>
          <a:p>
            <a:r>
              <a:t>Benefits: one round trip to start instead of two, and zero when reconnecting to a server it has used recently; connections survive a change of network (Wi-Fi to cellular).</a:t>
            </a:r>
          </a:p>
          <a:p>
            <a:endParaRPr/>
          </a:p>
          <a:p>
            <a:r>
              <a:t>Risk angle for examiners: QUIC encrypts almost all of its own control information, so firewalls and web filters that decrypt and inspect TLS often cannot inspect QUIC the same way. Many organizations block outbound UDP port 443 so browsers fall back to TCP + TLS, which their tools can inspect. Question for the bank: does its firewall or web filter handle QUIC, block it, or let it through uninspected?</a:t>
            </a:r>
          </a:p>
          <a:p>
            <a:endParaRPr/>
          </a:p>
          <a:p>
            <a:r>
              <a:t>Simplified diagram: TCP + TLS 1.3 shown with the TCP handshake and one TLS round trip; older TLS versions took longer.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7858186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Real-time payments move money between banks in seconds, any hour of any day, and the payment is final once it settles. Two U.S. networks: </a:t>
            </a:r>
            <a:r>
              <a:rPr dirty="0" err="1"/>
              <a:t>FedNow</a:t>
            </a:r>
            <a:r>
              <a:rPr dirty="0"/>
              <a:t>, run by the Federal Reserve (launched July 2023, more than 1,800 participating banks and credit unions by mid-2026), and RTP, run by The Clearing House, owned by large banks (launched 2017, more than 1,200 institutions). Both have a $10 million network cap; banks can set lower limits.</a:t>
            </a:r>
          </a:p>
          <a:p>
            <a:endParaRPr dirty="0"/>
          </a:p>
          <a:p>
            <a:r>
              <a:rPr dirty="0"/>
              <a:t>Most community banks reach these networks through their core processor or another service provider rather than connecting directly, so the payment path runs through vendors.</a:t>
            </a:r>
          </a:p>
          <a:p>
            <a:endParaRPr dirty="0"/>
          </a:p>
          <a:p>
            <a:r>
              <a:rPr dirty="0"/>
              <a:t>Network implications: there is no overnight batch window to absorb an outage or a maintenance change; every link in the path (branch or app, core processor, connection to the network) needs redundancy and tested failover; someone has to be monitoring around the clock; and because payments are final, fraud controls and authentication have to work in real time.</a:t>
            </a:r>
          </a:p>
          <a:p>
            <a:endParaRPr dirty="0"/>
          </a:p>
          <a:p>
            <a:r>
              <a:rPr dirty="0"/>
              <a:t>Examiner questions: Does the bank (or its processor) send real-time payments, receive them, or both? Who monitors overnight and on weekends? When did the bank last change its maintenance windows? What happens to payments if the processor link fails?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6316539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Customer data (GLBA's nonpublic personal information) doesn't live in one place. Walk the anchor scenario left to right: it starts with the customer, sits on teller PCs, scanned check and ID images and paper in the branch, on file shares, backups and laptops at HQ, in email and SaaS applications in the cloud, in the core processor's system of record, and with other vendors such as the card processor, fintech partners and the statement printer.</a:t>
            </a:r>
          </a:p>
          <a:p>
            <a:endParaRPr/>
          </a:p>
          <a:p>
            <a:r>
              <a:t>Every box is data at rest; every arrow is data in transit across a network link. Both need protection, which the next slide covers.</a:t>
            </a:r>
          </a:p>
          <a:p>
            <a:endParaRPr/>
          </a:p>
          <a:p>
            <a:r>
              <a:t>Examiner angle: can the bank produce a data map like this, including its vendors? InTREx's Management module expects the IT risk assessment to identify all information assets and systems, including cloud-based, virtualized and paper-based systems (September 2023 version).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9859713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states for the same data. At rest: stored on a disk, in a database, on a backup or a phone. In transit: moving across a network, whether between the bank's own sites or out to vendors, the cloud and customers. (A third state, data in use, is beyond this course.)</a:t>
            </a:r>
          </a:p>
          <a:p>
            <a:endParaRPr/>
          </a:p>
          <a:p>
            <a:r>
              <a:t>Protection at rest: full-disk and database encryption, encrypted backups, plus access controls. Typical failure: a lost laptop or backup drive that wasn't encrypted.</a:t>
            </a:r>
          </a:p>
          <a:p>
            <a:r>
              <a:t>Protection in transit: TLS for web and app traffic, VPN or SD-WAN tunnels between sites, encrypted email. Typical failure: older unencrypted protocols (plain FTP, unencrypted email relays), or the assumption that traffic inside the bank's own network doesn't need protection.</a:t>
            </a:r>
          </a:p>
          <a:p>
            <a:endParaRPr/>
          </a:p>
          <a:p>
            <a:r>
              <a:t>InTREx (Support &amp; Delivery, Encryption procedure, September 2023 version) asks examiners to consider encryption of databases, mobile devices, email, backup media, transmissions with third parties and password databases, and its baseline statements include encrypting confidential data sent across public or untrusted networks and encrypting mobile devices that store it.</a:t>
            </a:r>
          </a:p>
          <a:p>
            <a:endParaRPr/>
          </a:p>
          <a:p>
            <a:r>
              <a:t>Both depend on cryptography, which is the next chapter.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9452754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4227" name="Rectangle 3"/>
          <p:cNvSpPr>
            <a:spLocks noGrp="1" noChangeArrowheads="1"/>
          </p:cNvSpPr>
          <p:nvPr>
            <p:ph type="body" idx="1"/>
          </p:nvPr>
        </p:nvSpPr>
        <p:spPr/>
        <p:txBody>
          <a:bodyPr/>
          <a:lstStyle/>
          <a:p>
            <a:endParaRPr lang="en-US" altLang="en-US"/>
          </a:p>
        </p:txBody>
      </p:sp>
      <p:sp>
        <p:nvSpPr>
          <p:cNvPr id="2" name="Slide Number Placeholder 1"/>
          <p:cNvSpPr>
            <a:spLocks noGrp="1"/>
          </p:cNvSpPr>
          <p:nvPr>
            <p:ph type="sldNum" sz="quarter" idx="10"/>
          </p:nvPr>
        </p:nvSpPr>
        <p:spPr/>
        <p:txBody>
          <a:bodyPr/>
          <a:lstStyle/>
          <a:p>
            <a:endParaRPr lang="en-US"/>
          </a:p>
        </p:txBody>
      </p:sp>
      <p:sp>
        <p:nvSpPr>
          <p:cNvPr id="3" name="Header Placeholder 2"/>
          <p:cNvSpPr>
            <a:spLocks noGrp="1"/>
          </p:cNvSpPr>
          <p:nvPr>
            <p:ph type="hdr" sz="quarter" idx="11"/>
          </p:nvPr>
        </p:nvSpPr>
        <p:spPr/>
        <p:txBody>
          <a:bodyPr/>
          <a:lstStyle/>
          <a:p>
            <a:r>
              <a:rPr lang="en-US"/>
              <a:t>Introduction to Telecommunications and Networking</a:t>
            </a:r>
          </a:p>
        </p:txBody>
      </p:sp>
      <p:sp>
        <p:nvSpPr>
          <p:cNvPr id="9" name="Slide Image Placeholder 8"/>
          <p:cNvSpPr>
            <a:spLocks noGrp="1" noRot="1" noChangeAspect="1"/>
          </p:cNvSpPr>
          <p:nvPr>
            <p:ph type="sldImg"/>
          </p:nvPr>
        </p:nvSpPr>
        <p:spPr/>
      </p:sp>
      <p:sp>
        <p:nvSpPr>
          <p:cNvPr id="4" name="Date Placeholder 3"/>
          <p:cNvSpPr>
            <a:spLocks noGrp="1"/>
          </p:cNvSpPr>
          <p:nvPr>
            <p:ph type="dt" idx="12"/>
          </p:nvPr>
        </p:nvSpPr>
        <p:spPr/>
        <p:txBody>
          <a:bodyPr/>
          <a:lstStyle/>
          <a:p>
            <a:endParaRPr lang="en-US" sz="1200"/>
          </a:p>
          <a:p>
            <a:fld id="{83CFC98E-4963-49FD-89F8-B185A5883DE7}" type="datetime1">
              <a:rPr lang="en-US" smtClean="0"/>
              <a:t>10/15/26</a:t>
            </a:fld>
            <a:endParaRPr lang="en-US" sz="1200"/>
          </a:p>
        </p:txBody>
      </p:sp>
    </p:spTree>
    <p:extLst>
      <p:ext uri="{BB962C8B-B14F-4D97-AF65-F5344CB8AC3E}">
        <p14:creationId xmlns:p14="http://schemas.microsoft.com/office/powerpoint/2010/main" val="100254109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6275" name="Rectangle 3"/>
          <p:cNvSpPr>
            <a:spLocks noGrp="1" noChangeArrowheads="1"/>
          </p:cNvSpPr>
          <p:nvPr>
            <p:ph type="body" idx="1"/>
          </p:nvPr>
        </p:nvSpPr>
        <p:spPr/>
        <p:txBody>
          <a:bodyPr/>
          <a:lstStyle/>
          <a:p>
            <a:endParaRPr lang="en-US" altLang="en-US"/>
          </a:p>
        </p:txBody>
      </p:sp>
      <p:sp>
        <p:nvSpPr>
          <p:cNvPr id="2" name="Slide Number Placeholder 1"/>
          <p:cNvSpPr>
            <a:spLocks noGrp="1"/>
          </p:cNvSpPr>
          <p:nvPr>
            <p:ph type="sldNum" sz="quarter" idx="10"/>
          </p:nvPr>
        </p:nvSpPr>
        <p:spPr/>
        <p:txBody>
          <a:bodyPr/>
          <a:lstStyle/>
          <a:p>
            <a:endParaRPr lang="en-US"/>
          </a:p>
        </p:txBody>
      </p:sp>
      <p:sp>
        <p:nvSpPr>
          <p:cNvPr id="3" name="Header Placeholder 2"/>
          <p:cNvSpPr>
            <a:spLocks noGrp="1"/>
          </p:cNvSpPr>
          <p:nvPr>
            <p:ph type="hdr" sz="quarter" idx="11"/>
          </p:nvPr>
        </p:nvSpPr>
        <p:spPr/>
        <p:txBody>
          <a:bodyPr/>
          <a:lstStyle/>
          <a:p>
            <a:r>
              <a:rPr lang="en-US"/>
              <a:t>Introduction to Telecommunications and Networking</a:t>
            </a:r>
          </a:p>
        </p:txBody>
      </p:sp>
      <p:sp>
        <p:nvSpPr>
          <p:cNvPr id="9" name="Slide Image Placeholder 8"/>
          <p:cNvSpPr>
            <a:spLocks noGrp="1" noRot="1" noChangeAspect="1"/>
          </p:cNvSpPr>
          <p:nvPr>
            <p:ph type="sldImg"/>
          </p:nvPr>
        </p:nvSpPr>
        <p:spPr/>
      </p:sp>
      <p:sp>
        <p:nvSpPr>
          <p:cNvPr id="4" name="Date Placeholder 3"/>
          <p:cNvSpPr>
            <a:spLocks noGrp="1"/>
          </p:cNvSpPr>
          <p:nvPr>
            <p:ph type="dt" idx="12"/>
          </p:nvPr>
        </p:nvSpPr>
        <p:spPr/>
        <p:txBody>
          <a:bodyPr/>
          <a:lstStyle/>
          <a:p>
            <a:endParaRPr lang="en-US" sz="1200"/>
          </a:p>
          <a:p>
            <a:fld id="{B51411CE-9C6D-4040-9094-46934A92BEEB}" type="datetime1">
              <a:rPr lang="en-US" smtClean="0"/>
              <a:t>10/15/26</a:t>
            </a:fld>
            <a:endParaRPr lang="en-US" sz="1200"/>
          </a:p>
        </p:txBody>
      </p:sp>
    </p:spTree>
    <p:extLst>
      <p:ext uri="{BB962C8B-B14F-4D97-AF65-F5344CB8AC3E}">
        <p14:creationId xmlns:p14="http://schemas.microsoft.com/office/powerpoint/2010/main" val="183741881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8323" name="Rectangle 3"/>
          <p:cNvSpPr>
            <a:spLocks noGrp="1" noChangeArrowheads="1"/>
          </p:cNvSpPr>
          <p:nvPr>
            <p:ph type="body" idx="1"/>
          </p:nvPr>
        </p:nvSpPr>
        <p:spPr/>
        <p:txBody>
          <a:bodyPr/>
          <a:lstStyle/>
          <a:p>
            <a:endParaRPr lang="en-US" altLang="en-US"/>
          </a:p>
        </p:txBody>
      </p:sp>
      <p:sp>
        <p:nvSpPr>
          <p:cNvPr id="2" name="Slide Number Placeholder 1"/>
          <p:cNvSpPr>
            <a:spLocks noGrp="1"/>
          </p:cNvSpPr>
          <p:nvPr>
            <p:ph type="sldNum" sz="quarter" idx="10"/>
          </p:nvPr>
        </p:nvSpPr>
        <p:spPr/>
        <p:txBody>
          <a:bodyPr/>
          <a:lstStyle/>
          <a:p>
            <a:endParaRPr lang="en-US"/>
          </a:p>
        </p:txBody>
      </p:sp>
      <p:sp>
        <p:nvSpPr>
          <p:cNvPr id="3" name="Header Placeholder 2"/>
          <p:cNvSpPr>
            <a:spLocks noGrp="1"/>
          </p:cNvSpPr>
          <p:nvPr>
            <p:ph type="hdr" sz="quarter" idx="11"/>
          </p:nvPr>
        </p:nvSpPr>
        <p:spPr/>
        <p:txBody>
          <a:bodyPr/>
          <a:lstStyle/>
          <a:p>
            <a:r>
              <a:rPr lang="en-US"/>
              <a:t>Introduction to Telecommunications and Networking</a:t>
            </a:r>
          </a:p>
        </p:txBody>
      </p:sp>
      <p:sp>
        <p:nvSpPr>
          <p:cNvPr id="9" name="Slide Image Placeholder 8"/>
          <p:cNvSpPr>
            <a:spLocks noGrp="1" noRot="1" noChangeAspect="1"/>
          </p:cNvSpPr>
          <p:nvPr>
            <p:ph type="sldImg"/>
          </p:nvPr>
        </p:nvSpPr>
        <p:spPr/>
      </p:sp>
      <p:sp>
        <p:nvSpPr>
          <p:cNvPr id="4" name="Date Placeholder 3"/>
          <p:cNvSpPr>
            <a:spLocks noGrp="1"/>
          </p:cNvSpPr>
          <p:nvPr>
            <p:ph type="dt" idx="12"/>
          </p:nvPr>
        </p:nvSpPr>
        <p:spPr/>
        <p:txBody>
          <a:bodyPr/>
          <a:lstStyle/>
          <a:p>
            <a:endParaRPr lang="en-US" sz="1200"/>
          </a:p>
          <a:p>
            <a:fld id="{CEB8B8C7-4739-40B4-980B-4872CFA31259}" type="datetime1">
              <a:rPr lang="en-US" smtClean="0"/>
              <a:t>10/15/26</a:t>
            </a:fld>
            <a:endParaRPr lang="en-US" sz="1200"/>
          </a:p>
        </p:txBody>
      </p:sp>
    </p:spTree>
    <p:extLst>
      <p:ext uri="{BB962C8B-B14F-4D97-AF65-F5344CB8AC3E}">
        <p14:creationId xmlns:p14="http://schemas.microsoft.com/office/powerpoint/2010/main" val="95900385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Introduction to Telecommunications and Networking</a:t>
            </a:r>
          </a:p>
        </p:txBody>
      </p:sp>
      <p:sp>
        <p:nvSpPr>
          <p:cNvPr id="6" name="Slide Number Placeholder 5"/>
          <p:cNvSpPr>
            <a:spLocks noGrp="1"/>
          </p:cNvSpPr>
          <p:nvPr>
            <p:ph type="sldNum" sz="quarter" idx="12"/>
          </p:nvPr>
        </p:nvSpPr>
        <p:spPr/>
        <p:txBody>
          <a:bodyPr/>
          <a:lstStyle/>
          <a:p>
            <a:fld id="{A2D9B7C9-1F58-4F07-8711-AA0F3022BC7D}" type="slidenum">
              <a:rPr lang="en-US" smtClean="0"/>
              <a:pPr/>
              <a:t>129</a:t>
            </a:fld>
            <a:endParaRPr lang="en-US" sz="1200"/>
          </a:p>
        </p:txBody>
      </p:sp>
      <p:sp>
        <p:nvSpPr>
          <p:cNvPr id="5" name="Date Placeholder 4"/>
          <p:cNvSpPr>
            <a:spLocks noGrp="1"/>
          </p:cNvSpPr>
          <p:nvPr>
            <p:ph type="dt" idx="13"/>
          </p:nvPr>
        </p:nvSpPr>
        <p:spPr/>
        <p:txBody>
          <a:bodyPr/>
          <a:lstStyle/>
          <a:p>
            <a:endParaRPr lang="en-US" sz="1200"/>
          </a:p>
          <a:p>
            <a:fld id="{50C7DCBE-9992-428F-B547-A8F520081C1E}" type="datetime1">
              <a:rPr lang="en-US" smtClean="0"/>
              <a:t>10/15/26</a:t>
            </a:fld>
            <a:endParaRPr lang="en-US" sz="1200"/>
          </a:p>
        </p:txBody>
      </p:sp>
    </p:spTree>
    <p:extLst>
      <p:ext uri="{BB962C8B-B14F-4D97-AF65-F5344CB8AC3E}">
        <p14:creationId xmlns:p14="http://schemas.microsoft.com/office/powerpoint/2010/main" val="241667715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0371" name="Rectangle 3"/>
          <p:cNvSpPr>
            <a:spLocks noGrp="1" noChangeArrowheads="1"/>
          </p:cNvSpPr>
          <p:nvPr>
            <p:ph type="body" idx="1"/>
          </p:nvPr>
        </p:nvSpPr>
        <p:spPr/>
        <p:txBody>
          <a:bodyPr/>
          <a:lstStyle/>
          <a:p>
            <a:endParaRPr lang="en-US" altLang="en-US"/>
          </a:p>
        </p:txBody>
      </p:sp>
      <p:sp>
        <p:nvSpPr>
          <p:cNvPr id="2" name="Slide Number Placeholder 1"/>
          <p:cNvSpPr>
            <a:spLocks noGrp="1"/>
          </p:cNvSpPr>
          <p:nvPr>
            <p:ph type="sldNum" sz="quarter" idx="10"/>
          </p:nvPr>
        </p:nvSpPr>
        <p:spPr/>
        <p:txBody>
          <a:bodyPr/>
          <a:lstStyle/>
          <a:p>
            <a:endParaRPr lang="en-US"/>
          </a:p>
        </p:txBody>
      </p:sp>
      <p:sp>
        <p:nvSpPr>
          <p:cNvPr id="3" name="Header Placeholder 2"/>
          <p:cNvSpPr>
            <a:spLocks noGrp="1"/>
          </p:cNvSpPr>
          <p:nvPr>
            <p:ph type="hdr" sz="quarter" idx="11"/>
          </p:nvPr>
        </p:nvSpPr>
        <p:spPr/>
        <p:txBody>
          <a:bodyPr/>
          <a:lstStyle/>
          <a:p>
            <a:r>
              <a:rPr lang="en-US"/>
              <a:t>Introduction to Telecommunications and Networking</a:t>
            </a:r>
          </a:p>
        </p:txBody>
      </p:sp>
      <p:sp>
        <p:nvSpPr>
          <p:cNvPr id="9" name="Slide Image Placeholder 8"/>
          <p:cNvSpPr>
            <a:spLocks noGrp="1" noRot="1" noChangeAspect="1"/>
          </p:cNvSpPr>
          <p:nvPr>
            <p:ph type="sldImg"/>
          </p:nvPr>
        </p:nvSpPr>
        <p:spPr/>
      </p:sp>
      <p:sp>
        <p:nvSpPr>
          <p:cNvPr id="4" name="Date Placeholder 3"/>
          <p:cNvSpPr>
            <a:spLocks noGrp="1"/>
          </p:cNvSpPr>
          <p:nvPr>
            <p:ph type="dt" idx="12"/>
          </p:nvPr>
        </p:nvSpPr>
        <p:spPr/>
        <p:txBody>
          <a:bodyPr/>
          <a:lstStyle/>
          <a:p>
            <a:endParaRPr lang="en-US" sz="1200"/>
          </a:p>
          <a:p>
            <a:fld id="{0F576203-A7F5-4087-8CC0-C0777CD6540B}" type="datetime1">
              <a:rPr lang="en-US" smtClean="0"/>
              <a:t>10/15/26</a:t>
            </a:fld>
            <a:endParaRPr lang="en-US" sz="1200"/>
          </a:p>
        </p:txBody>
      </p:sp>
    </p:spTree>
    <p:extLst>
      <p:ext uri="{BB962C8B-B14F-4D97-AF65-F5344CB8AC3E}">
        <p14:creationId xmlns:p14="http://schemas.microsoft.com/office/powerpoint/2010/main" val="37975071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Introduction to Telecommunications and Networking</a:t>
            </a:r>
          </a:p>
        </p:txBody>
      </p:sp>
      <p:sp>
        <p:nvSpPr>
          <p:cNvPr id="6" name="Slide Number Placeholder 5"/>
          <p:cNvSpPr>
            <a:spLocks noGrp="1"/>
          </p:cNvSpPr>
          <p:nvPr>
            <p:ph type="sldNum" sz="quarter" idx="12"/>
          </p:nvPr>
        </p:nvSpPr>
        <p:spPr/>
        <p:txBody>
          <a:bodyPr/>
          <a:lstStyle/>
          <a:p>
            <a:fld id="{A2D9B7C9-1F58-4F07-8711-AA0F3022BC7D}" type="slidenum">
              <a:rPr lang="en-US" smtClean="0"/>
              <a:pPr/>
              <a:t>131</a:t>
            </a:fld>
            <a:endParaRPr lang="en-US" sz="1200"/>
          </a:p>
        </p:txBody>
      </p:sp>
      <p:sp>
        <p:nvSpPr>
          <p:cNvPr id="5" name="Date Placeholder 4"/>
          <p:cNvSpPr>
            <a:spLocks noGrp="1"/>
          </p:cNvSpPr>
          <p:nvPr>
            <p:ph type="dt" idx="13"/>
          </p:nvPr>
        </p:nvSpPr>
        <p:spPr/>
        <p:txBody>
          <a:bodyPr/>
          <a:lstStyle/>
          <a:p>
            <a:endParaRPr lang="en-US" sz="1200"/>
          </a:p>
          <a:p>
            <a:fld id="{7BCFCE50-EB45-4066-BE66-A248F33B334C}" type="datetime1">
              <a:rPr lang="en-US" smtClean="0"/>
              <a:t>10/15/26</a:t>
            </a:fld>
            <a:endParaRPr lang="en-US" sz="1200"/>
          </a:p>
        </p:txBody>
      </p:sp>
    </p:spTree>
    <p:extLst>
      <p:ext uri="{BB962C8B-B14F-4D97-AF65-F5344CB8AC3E}">
        <p14:creationId xmlns:p14="http://schemas.microsoft.com/office/powerpoint/2010/main" val="313444894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Callback to Tuesday's TLS and certificate slides, now that the class has seen the three kinds of cryptography.</a:t>
            </a:r>
          </a:p>
          <a:p>
            <a:endParaRPr/>
          </a:p>
          <a:p>
            <a:r>
              <a:t>Public key cryptography does the introductions: the server proves who it is with its certificate, and the two sides agree on a shared session key without ever sending it across the network (in TLS 1.3 this is an elliptic-curve Diffie-Hellman exchange, with the server signing it). It's slow, so it's used only for a moment at the start.</a:t>
            </a:r>
          </a:p>
          <a:p>
            <a:r>
              <a:t>Secret key cryptography (AES) then encrypts everything that follows, because it's fast.</a:t>
            </a:r>
          </a:p>
          <a:p>
            <a:r>
              <a:t>Hash functions run throughout: they are part of every signature, they help derive the session keys, and the ciphers TLS uses include an integrity check so any tampering is detected.</a:t>
            </a:r>
          </a:p>
          <a:p>
            <a:endParaRPr/>
          </a:p>
          <a:p>
            <a:r>
              <a:t>Takeaway: the slow, clever math is used briefly to set up a fast, simple key. The same pattern appears in VPNs, SD-WAN tunnels and encrypted email.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5315417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Public key infrastructure (PKI) is the system of authorities, certificates and rules that makes the chain of trust from Tuesday work.</a:t>
            </a:r>
          </a:p>
          <a:p>
            <a:endParaRPr/>
          </a:p>
          <a:p>
            <a:r>
              <a:t>Anatomy of a certificate: who it belongs to, the public key, who issued it, the dates it is valid, and the issuer's signature over all of it.</a:t>
            </a:r>
          </a:p>
          <a:p>
            <a:endParaRPr/>
          </a:p>
          <a:p>
            <a:r>
              <a:t>Who's who: certificate authorities issue certificates after checking the requester controls the domain (and, at higher levels, that the organization is real). Browser and operating-system makers (Apple, Google, Microsoft, Mozilla) decide which root authorities are trusted on billions of devices. Certificate Transparency logs publicly record certificates as they are issued, so a bank can watch for certificates issued for its own names that it didn't request.</a:t>
            </a:r>
          </a:p>
          <a:p>
            <a:endParaRPr/>
          </a:p>
          <a:p>
            <a:r>
              <a:t>Banks also run private PKI: an internal certificate authority for VPN, Wi-Fi logins (802.1X) and devices. Someone has to run and protect it.</a:t>
            </a:r>
          </a:p>
          <a:p>
            <a:endParaRPr/>
          </a:p>
          <a:p>
            <a:r>
              <a:t>Examiner questions: Who runs the bank's internal certificate authority, and how is it protected? Does the bank (or a vendor) monitor Certificate Transparency for its domains?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6940641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certificate goes through the same cycle: request, validate, issue, install, monitor, then renew before it expires, or revoke it early if its key is compromised. Most certificate outages come from the renew step being missed: nobody owned the certificate, the reminder went to someone who left, or one system was forgotten.</a:t>
            </a:r>
          </a:p>
          <a:p>
            <a:endParaRPr/>
          </a:p>
          <a:p>
            <a:r>
              <a:t>Lifetimes are shrinking. Under the CA/Browser Forum schedule, the maximum lifetime of a public TLS certificate fell from 398 days to 200 days on March 15, 2026, drops to 100 days in March 2027 and to 47 days in March 2029. That means renewing many times a year, which only works if renewal is automated (for example with the ACME protocol).</a:t>
            </a:r>
          </a:p>
          <a:p>
            <a:endParaRPr/>
          </a:p>
          <a:p>
            <a:r>
              <a:t>Real examples: in 2017 an expired certificate on Equifax's traffic-inspection equipment meant the breach went unseen for months; in 2020 an expired certificate briefly took down Microsoft Teams.</a:t>
            </a:r>
          </a:p>
          <a:p>
            <a:endParaRPr/>
          </a:p>
          <a:p>
            <a:r>
              <a:t>Examiner questions: Does the bank have an inventory of its certificates, with owners and expiry dates? Is renewal automated? Who gets the alert, and what happens on a weekend? How are certificates revoked if a key is lost?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7436751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Encryption moves the problem from protecting the data to protecting the keys. Whoever has the key has the data.</a:t>
            </a:r>
          </a:p>
          <a:p>
            <a:endParaRPr/>
          </a:p>
          <a:p>
            <a:r>
              <a:t>Key lifecycle: keys are generated, stored, used, rotated on a schedule, and destroyed when retired. Weak points are keys left in files or code, keys shared by email, keys nobody rotates, and keys that only one person can reach.</a:t>
            </a:r>
          </a:p>
          <a:p>
            <a:endParaRPr/>
          </a:p>
          <a:p>
            <a:r>
              <a:t>Where keys live, from weakest to strongest: a file on a server; a cloud key management service (AWS KMS, Azure Key Vault, Google Cloud KMS); a hardware security module (HSM), a tamper-resistant device that uses keys without ever revealing them. Payment networks and core processors rely heavily on HSMs.</a:t>
            </a:r>
          </a:p>
          <a:p>
            <a:endParaRPr/>
          </a:p>
          <a:p>
            <a:r>
              <a:t>Cloud choice: the provider can manage the keys (simplest), the bank can manage keys inside the provider's key service (customer-managed keys), or the bank can bring or hold its own keys outside the provider (more control, more work). This sets up the shared-responsibility discussion in the cloud chapter.</a:t>
            </a:r>
          </a:p>
          <a:p>
            <a:endParaRPr/>
          </a:p>
          <a:p>
            <a:r>
              <a:t>Examiner questions: Where are the bank's encryption keys stored, and who can use them? Is there dual control for the most sensitive keys? How often are they rotated? For cloud and vendor systems, does the bank or the provider hold the keys, and what happens to them when the contract ends?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2715444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7475" name="Rectangle 3"/>
          <p:cNvSpPr>
            <a:spLocks noGrp="1" noChangeArrowheads="1"/>
          </p:cNvSpPr>
          <p:nvPr>
            <p:ph type="body" idx="1"/>
          </p:nvPr>
        </p:nvSpPr>
        <p:spPr/>
        <p:txBody>
          <a:bodyPr/>
          <a:lstStyle/>
          <a:p>
            <a:endParaRPr lang="en-US" altLang="en-US"/>
          </a:p>
        </p:txBody>
      </p:sp>
      <p:sp>
        <p:nvSpPr>
          <p:cNvPr id="5" name="Slide Image Placeholder 4"/>
          <p:cNvSpPr>
            <a:spLocks noGrp="1" noRot="1" noChangeAspect="1"/>
          </p:cNvSpPr>
          <p:nvPr>
            <p:ph type="sldImg"/>
          </p:nvPr>
        </p:nvSpPr>
        <p:spPr/>
      </p:sp>
      <p:sp>
        <p:nvSpPr>
          <p:cNvPr id="6" name="Slide Number Placeholder 5"/>
          <p:cNvSpPr>
            <a:spLocks noGrp="1"/>
          </p:cNvSpPr>
          <p:nvPr>
            <p:ph type="sldNum" sz="quarter" idx="10"/>
          </p:nvPr>
        </p:nvSpPr>
        <p:spPr/>
        <p:txBody>
          <a:bodyPr/>
          <a:lstStyle/>
          <a:p>
            <a:fld id="{A2D9B7C9-1F58-4F07-8711-AA0F3022BC7D}" type="slidenum">
              <a:rPr lang="en-US" smtClean="0"/>
              <a:pPr/>
              <a:t>136</a:t>
            </a:fld>
            <a:endParaRPr lang="en-US" sz="1200"/>
          </a:p>
        </p:txBody>
      </p:sp>
      <p:sp>
        <p:nvSpPr>
          <p:cNvPr id="7" name="Header Placeholder 6"/>
          <p:cNvSpPr>
            <a:spLocks noGrp="1"/>
          </p:cNvSpPr>
          <p:nvPr>
            <p:ph type="hdr" sz="quarter" idx="11"/>
          </p:nvPr>
        </p:nvSpPr>
        <p:spPr/>
        <p:txBody>
          <a:bodyPr/>
          <a:lstStyle/>
          <a:p>
            <a:r>
              <a:rPr lang="en-US"/>
              <a:t>Introduction to Telecommunications and Networking</a:t>
            </a:r>
          </a:p>
        </p:txBody>
      </p:sp>
      <p:sp>
        <p:nvSpPr>
          <p:cNvPr id="2" name="Date Placeholder 1"/>
          <p:cNvSpPr>
            <a:spLocks noGrp="1"/>
          </p:cNvSpPr>
          <p:nvPr>
            <p:ph type="dt" idx="12"/>
          </p:nvPr>
        </p:nvSpPr>
        <p:spPr/>
        <p:txBody>
          <a:bodyPr/>
          <a:lstStyle/>
          <a:p>
            <a:endParaRPr lang="en-US" sz="1200"/>
          </a:p>
          <a:p>
            <a:fld id="{FAB598C3-B51E-4F22-8313-E8FE5FE62795}" type="datetime1">
              <a:rPr lang="en-US" smtClean="0"/>
              <a:t>10/15/26</a:t>
            </a:fld>
            <a:endParaRPr lang="en-US" sz="1200"/>
          </a:p>
        </p:txBody>
      </p:sp>
    </p:spTree>
    <p:extLst>
      <p:ext uri="{BB962C8B-B14F-4D97-AF65-F5344CB8AC3E}">
        <p14:creationId xmlns:p14="http://schemas.microsoft.com/office/powerpoint/2010/main" val="354423540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Unlike wireless and remote access, encryption has no IT Profile question; it shows up as its own procedure in the Support &amp; Delivery module. Examiners evaluate encryption of sensitive institution and customer data at rest and in transit, considering databases, mobile devices, email, backup media and storage devices, transmissions with third parties, and password databases.</a:t>
            </a:r>
          </a:p>
          <a:p>
            <a:endParaRPr/>
          </a:p>
          <a:p>
            <a:r>
              <a:t>Baseline cybersecurity statements under that procedure: all passwords are encrypted in storage and in transit; confidential data are encrypted when sent across public or untrusted networks; mobile devices are encrypted if they store confidential data; wireless uses strong encryption for authentication and transmission.</a:t>
            </a:r>
          </a:p>
          <a:p>
            <a:endParaRPr/>
          </a:p>
          <a:p>
            <a:r>
              <a:t>Debrief: which of the six boxes would a typical community bank struggle with? (Often email, backups held by a vendor, or old file transfers with third parties.)</a:t>
            </a:r>
          </a:p>
          <a:p>
            <a:endParaRPr/>
          </a:p>
          <a:p>
            <a:r>
              <a:t>Encryption also appears in the Management module's information security program elements (encryption of electronic customer information in transit and in storage, from the GLBA standards), in the remote access and wireless baseline statements, and in the expanded analysis that asks banks to assess critical vendors' information security programs, including encryption. September 2023 version; verify against the current version.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7937503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139</a:t>
            </a:fld>
            <a:endParaRPr lang="en-US"/>
          </a:p>
        </p:txBody>
      </p:sp>
    </p:spTree>
    <p:extLst>
      <p:ext uri="{BB962C8B-B14F-4D97-AF65-F5344CB8AC3E}">
        <p14:creationId xmlns:p14="http://schemas.microsoft.com/office/powerpoint/2010/main" val="416791666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Introduction to Telecommunications and Networking</a:t>
            </a:r>
          </a:p>
        </p:txBody>
      </p:sp>
      <p:sp>
        <p:nvSpPr>
          <p:cNvPr id="6" name="Slide Number Placeholder 5"/>
          <p:cNvSpPr>
            <a:spLocks noGrp="1"/>
          </p:cNvSpPr>
          <p:nvPr>
            <p:ph type="sldNum" sz="quarter" idx="12"/>
          </p:nvPr>
        </p:nvSpPr>
        <p:spPr/>
        <p:txBody>
          <a:bodyPr/>
          <a:lstStyle/>
          <a:p>
            <a:fld id="{A2D9B7C9-1F58-4F07-8711-AA0F3022BC7D}" type="slidenum">
              <a:rPr lang="en-US" smtClean="0"/>
              <a:pPr/>
              <a:t>140</a:t>
            </a:fld>
            <a:endParaRPr lang="en-US" sz="1200"/>
          </a:p>
        </p:txBody>
      </p:sp>
      <p:sp>
        <p:nvSpPr>
          <p:cNvPr id="5" name="Date Placeholder 4"/>
          <p:cNvSpPr>
            <a:spLocks noGrp="1"/>
          </p:cNvSpPr>
          <p:nvPr>
            <p:ph type="dt" idx="13"/>
          </p:nvPr>
        </p:nvSpPr>
        <p:spPr/>
        <p:txBody>
          <a:bodyPr/>
          <a:lstStyle/>
          <a:p>
            <a:endParaRPr lang="en-US" sz="1200"/>
          </a:p>
          <a:p>
            <a:fld id="{D7254844-AA6D-4035-BFCD-865CD32E1D38}" type="datetime1">
              <a:rPr lang="en-US" smtClean="0"/>
              <a:t>10/15/26</a:t>
            </a:fld>
            <a:endParaRPr lang="en-US" sz="1200"/>
          </a:p>
        </p:txBody>
      </p:sp>
    </p:spTree>
    <p:extLst>
      <p:ext uri="{BB962C8B-B14F-4D97-AF65-F5344CB8AC3E}">
        <p14:creationId xmlns:p14="http://schemas.microsoft.com/office/powerpoint/2010/main" val="163409696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p:spPr>
      </p:sp>
      <p:sp>
        <p:nvSpPr>
          <p:cNvPr id="32771" name="Notes Placeholder 2"/>
          <p:cNvSpPr>
            <a:spLocks noGrp="1"/>
          </p:cNvSpPr>
          <p:nvPr>
            <p:ph type="body" idx="1"/>
            <p:custDataLst>
              <p:tags r:id="rId1"/>
            </p:custDataLst>
          </p:nvPr>
        </p:nvSpPr>
        <p:spPr bwMode="auto">
          <a:noFill/>
        </p:spPr>
        <p:txBody>
          <a:bodyPr wrap="square" numCol="1" anchor="t" anchorCtr="0" compatLnSpc="1">
            <a:prstTxWarp prst="textNoShape">
              <a:avLst/>
            </a:prstTxWarp>
          </a:bodyPr>
          <a:lstStyle/>
          <a:p>
            <a:endParaRPr lang="en-US"/>
          </a:p>
        </p:txBody>
      </p:sp>
      <p:sp>
        <p:nvSpPr>
          <p:cNvPr id="327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6DDE1F6-ECDD-4DB1-BF6F-11390D0C7FEE}" type="slidenum">
              <a:rPr lang="en-US" smtClean="0">
                <a:latin typeface="Arial" charset="0"/>
              </a:rPr>
              <a:pPr/>
              <a:t>141</a:t>
            </a:fld>
            <a:endParaRPr lang="en-US">
              <a:latin typeface="Arial" charset="0"/>
            </a:endParaRPr>
          </a:p>
        </p:txBody>
      </p:sp>
      <p:sp>
        <p:nvSpPr>
          <p:cNvPr id="2" name="Header Placeholder 1"/>
          <p:cNvSpPr>
            <a:spLocks noGrp="1"/>
          </p:cNvSpPr>
          <p:nvPr>
            <p:ph type="hdr" sz="quarter" idx="10"/>
          </p:nvPr>
        </p:nvSpPr>
        <p:spPr/>
        <p:txBody>
          <a:bodyPr/>
          <a:lstStyle/>
          <a:p>
            <a:r>
              <a:rPr lang="en-US"/>
              <a:t>Introduction to Telecommunications and Networking</a:t>
            </a:r>
          </a:p>
        </p:txBody>
      </p:sp>
      <p:sp>
        <p:nvSpPr>
          <p:cNvPr id="3" name="Date Placeholder 2"/>
          <p:cNvSpPr>
            <a:spLocks noGrp="1"/>
          </p:cNvSpPr>
          <p:nvPr>
            <p:ph type="dt" idx="11"/>
          </p:nvPr>
        </p:nvSpPr>
        <p:spPr/>
        <p:txBody>
          <a:bodyPr/>
          <a:lstStyle/>
          <a:p>
            <a:endParaRPr lang="en-US" sz="1200"/>
          </a:p>
          <a:p>
            <a:fld id="{AA63B73A-4FCF-4A72-9829-5BCDE5F660BA}" type="datetime1">
              <a:rPr lang="en-US" smtClean="0"/>
              <a:t>10/15/26</a:t>
            </a:fld>
            <a:endParaRPr lang="en-US" sz="1200"/>
          </a:p>
        </p:txBody>
      </p:sp>
    </p:spTree>
    <p:extLst>
      <p:ext uri="{BB962C8B-B14F-4D97-AF65-F5344CB8AC3E}">
        <p14:creationId xmlns:p14="http://schemas.microsoft.com/office/powerpoint/2010/main" val="417028199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Callback to Monday's VLANs and Tuesday's VPNs and SD-WAN: it's the same idea each time. A logical network is defined by configuration and carried over shared physical equipment.</a:t>
            </a:r>
          </a:p>
          <a:p>
            <a:endParaRPr/>
          </a:p>
          <a:p>
            <a:r>
              <a:t>1. VLANs: one physical switch carries several separate LANs, such as teller traffic and guest Wi-Fi.</a:t>
            </a:r>
          </a:p>
          <a:p>
            <a:r>
              <a:t>2. Tunnels: VPN and SD-WAN tunnels carry a private network across the public internet.</a:t>
            </a:r>
          </a:p>
          <a:p>
            <a:r>
              <a:t>3. Overlays: in datacenters and the cloud, virtual networks connect virtual machines across many physical servers. The physical network underneath is called the underlay; the virtual networks on top are overlays (VXLAN is a common technology). A cloud virtual private network (AWS VPC, Azure VNet) is an overlay the bank configures with a few clicks.</a:t>
            </a:r>
          </a:p>
          <a:p>
            <a:endParaRPr/>
          </a:p>
          <a:p>
            <a:r>
              <a:t>Risks: virtual networks don't appear on a cable diagram; two virtual machines on the same server can talk without crossing a physical firewall (so security has to move into the software); and one configuration mistake can merge networks meant to be separate.</a:t>
            </a:r>
          </a:p>
          <a:p>
            <a:endParaRPr/>
          </a:p>
          <a:p>
            <a:r>
              <a:t>InTREx tie: the Support &amp; Delivery expanded analysis for virtualization asks about the accuracy of network topology in depicting the virtualized environment (September 2023 version).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6228289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Introduction to Telecommunications and Networking</a:t>
            </a:r>
          </a:p>
        </p:txBody>
      </p:sp>
      <p:sp>
        <p:nvSpPr>
          <p:cNvPr id="5" name="Date Placeholder 4"/>
          <p:cNvSpPr>
            <a:spLocks noGrp="1"/>
          </p:cNvSpPr>
          <p:nvPr>
            <p:ph type="dt" idx="1"/>
          </p:nvPr>
        </p:nvSpPr>
        <p:spPr/>
        <p:txBody>
          <a:bodyPr/>
          <a:lstStyle/>
          <a:p>
            <a:endParaRPr lang="en-US" sz="1200"/>
          </a:p>
          <a:p>
            <a:fld id="{D20C73A0-78FB-4CFE-8EEB-D59CA2A7A8B5}" type="datetime1">
              <a:rPr lang="en-US" smtClean="0"/>
              <a:t>10/15/26</a:t>
            </a:fld>
            <a:endParaRPr lang="en-US" sz="1200"/>
          </a:p>
        </p:txBody>
      </p:sp>
      <p:sp>
        <p:nvSpPr>
          <p:cNvPr id="6" name="Slide Number Placeholder 5"/>
          <p:cNvSpPr>
            <a:spLocks noGrp="1"/>
          </p:cNvSpPr>
          <p:nvPr>
            <p:ph type="sldNum" sz="quarter" idx="5"/>
          </p:nvPr>
        </p:nvSpPr>
        <p:spPr/>
        <p:txBody>
          <a:bodyPr/>
          <a:lstStyle/>
          <a:p>
            <a:fld id="{A2D9B7C9-1F58-4F07-8711-AA0F3022BC7D}" type="slidenum">
              <a:rPr lang="en-US" smtClean="0"/>
              <a:pPr/>
              <a:t>143</a:t>
            </a:fld>
            <a:endParaRPr lang="en-US" sz="1200"/>
          </a:p>
        </p:txBody>
      </p:sp>
    </p:spTree>
    <p:extLst>
      <p:ext uri="{BB962C8B-B14F-4D97-AF65-F5344CB8AC3E}">
        <p14:creationId xmlns:p14="http://schemas.microsoft.com/office/powerpoint/2010/main" val="66749275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Introduction to Telecommunications and Networking</a:t>
            </a:r>
          </a:p>
        </p:txBody>
      </p:sp>
      <p:sp>
        <p:nvSpPr>
          <p:cNvPr id="6" name="Slide Number Placeholder 5"/>
          <p:cNvSpPr>
            <a:spLocks noGrp="1"/>
          </p:cNvSpPr>
          <p:nvPr>
            <p:ph type="sldNum" sz="quarter" idx="12"/>
          </p:nvPr>
        </p:nvSpPr>
        <p:spPr/>
        <p:txBody>
          <a:bodyPr/>
          <a:lstStyle/>
          <a:p>
            <a:fld id="{A2D9B7C9-1F58-4F07-8711-AA0F3022BC7D}" type="slidenum">
              <a:rPr lang="en-US" smtClean="0"/>
              <a:pPr/>
              <a:t>148</a:t>
            </a:fld>
            <a:endParaRPr lang="en-US" sz="1200"/>
          </a:p>
        </p:txBody>
      </p:sp>
      <p:sp>
        <p:nvSpPr>
          <p:cNvPr id="5" name="Date Placeholder 4"/>
          <p:cNvSpPr>
            <a:spLocks noGrp="1"/>
          </p:cNvSpPr>
          <p:nvPr>
            <p:ph type="dt" idx="13"/>
          </p:nvPr>
        </p:nvSpPr>
        <p:spPr/>
        <p:txBody>
          <a:bodyPr/>
          <a:lstStyle/>
          <a:p>
            <a:endParaRPr lang="en-US" sz="1200"/>
          </a:p>
          <a:p>
            <a:fld id="{8E1B4BC1-5A24-4CC0-B2DC-1B848AA0E7F4}" type="datetime1">
              <a:rPr lang="en-US" smtClean="0"/>
              <a:t>10/15/26</a:t>
            </a:fld>
            <a:endParaRPr lang="en-US" sz="1200"/>
          </a:p>
        </p:txBody>
      </p:sp>
    </p:spTree>
    <p:extLst>
      <p:ext uri="{BB962C8B-B14F-4D97-AF65-F5344CB8AC3E}">
        <p14:creationId xmlns:p14="http://schemas.microsoft.com/office/powerpoint/2010/main" val="320720761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Introduction to Security</a:t>
            </a:r>
          </a:p>
        </p:txBody>
      </p:sp>
      <p:sp>
        <p:nvSpPr>
          <p:cNvPr id="5" name="Date Placeholder 4"/>
          <p:cNvSpPr>
            <a:spLocks noGrp="1"/>
          </p:cNvSpPr>
          <p:nvPr>
            <p:ph type="dt" idx="1"/>
          </p:nvPr>
        </p:nvSpPr>
        <p:spPr/>
        <p:txBody>
          <a:bodyPr/>
          <a:lstStyle/>
          <a:p>
            <a:endParaRPr lang="en-US" sz="1300"/>
          </a:p>
          <a:p>
            <a:fld id="{C564C4D0-D5D0-448C-8034-21C1ECF56A5D}" type="datetime1">
              <a:rPr lang="en-US" smtClean="0"/>
              <a:t>10/15/26</a:t>
            </a:fld>
            <a:endParaRPr lang="en-US" sz="1300"/>
          </a:p>
        </p:txBody>
      </p:sp>
      <p:sp>
        <p:nvSpPr>
          <p:cNvPr id="6" name="Slide Number Placeholder 5"/>
          <p:cNvSpPr>
            <a:spLocks noGrp="1"/>
          </p:cNvSpPr>
          <p:nvPr>
            <p:ph type="sldNum" sz="quarter" idx="5"/>
          </p:nvPr>
        </p:nvSpPr>
        <p:spPr/>
        <p:txBody>
          <a:bodyPr/>
          <a:lstStyle/>
          <a:p>
            <a:fld id="{A2D9B7C9-1F58-4F07-8711-AA0F3022BC7D}" type="slidenum">
              <a:rPr lang="en-US" smtClean="0"/>
              <a:pPr/>
              <a:t>149</a:t>
            </a:fld>
            <a:endParaRPr lang="en-US" sz="1300"/>
          </a:p>
        </p:txBody>
      </p:sp>
    </p:spTree>
    <p:extLst>
      <p:ext uri="{BB962C8B-B14F-4D97-AF65-F5344CB8AC3E}">
        <p14:creationId xmlns:p14="http://schemas.microsoft.com/office/powerpoint/2010/main" val="272900945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provider secures the cloud itself: buildings, hardware, the network backbone, the virtualization layer. The bank secures what it puts in the cloud. Providers call this security OF the cloud versus security IN the cloud.</a:t>
            </a:r>
          </a:p>
          <a:p>
            <a:endParaRPr/>
          </a:p>
          <a:p>
            <a:r>
              <a:t>Walk the grid left to right. With IaaS the bank rents bare servers and manages almost everything above the hardware. With SaaS (Microsoft 365, a digital banking platform) the provider runs the application too. But the top three rows never move: the bank's data, who can log in, and how the service is configured.</a:t>
            </a:r>
          </a:p>
          <a:p>
            <a:endParaRPr/>
          </a:p>
          <a:p>
            <a:r>
              <a:t>The famous cloud breaches are almost never the provider being hacked. They are customers leaving a storage bucket public, admin accounts without MFA, or logging switched off so nobody can reconstruct what happened.</a:t>
            </a:r>
          </a:p>
          <a:p>
            <a:endParaRPr/>
          </a:p>
          <a:p>
            <a:r>
              <a:t>Networking angle: in the cloud, 'the network' is a set of settings (security groups, routes, public or private endpoints). Those settings are the bank's job, or its vendor's, and they're on the bank's side of the line.</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companies hold roughly two-thirds of the worldwide cloud infrastructure market. Figures are Synergy Research estimates for Q2 2025 as reported by CRN; they move a point or two each quarter, so treat them as rough shares, not precise numbers.</a:t>
            </a:r>
          </a:p>
          <a:p>
            <a:endParaRPr/>
          </a:p>
          <a:p>
            <a:r>
              <a:t>AWS is the oldest and largest; many fintechs, SaaS products and digital banking platforms run on it. Azure is the one most banks already use without thinking of it as 'cloud': Microsoft 365, Teams and Entra ID (formerly Azure AD) sit on Microsoft's cloud. Google Cloud is third, strongest in data analytics and AI.</a:t>
            </a:r>
          </a:p>
          <a:p>
            <a:endParaRPr/>
          </a:p>
          <a:p>
            <a:r>
              <a:t>Key point for examiners: a community bank that says 'we don't use the cloud' almost certainly does, through its vendors. The core processor, the digital banking provider, the email system and the backup service are often hosted on one of these three. That's where concentration risk (later in this chapter) comes from.</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region is a geographic area (Northern Virginia, Oregon). Inside each region are availability zones: separate data centers, or clusters of them, with their own power, cooling and network, a few miles apart and linked by fast fiber.</a:t>
            </a:r>
          </a:p>
          <a:p>
            <a:endParaRPr/>
          </a:p>
          <a:p>
            <a:r>
              <a:t>Multi-AZ design survives the loss of one data center, and it's cheap and common. Multi-region design survives the loss of a whole region, but it costs more and has to be built and tested on purpose; many vendors don't do it.</a:t>
            </a:r>
          </a:p>
          <a:p>
            <a:endParaRPr/>
          </a:p>
          <a:p>
            <a:r>
              <a:t>October 20, 2025: a DNS problem tied to DynamoDB, an internal AWS database service in US-EAST-1 (Northern Virginia), cascaded through other AWS services for most of the day. Customer-facing outages included Venmo, Coinbase, Square, and the UK's Lloyds and Halifax. Banks that never signed an AWS contract were affected through their vendors.</a:t>
            </a:r>
          </a:p>
          <a:p>
            <a:endParaRPr/>
          </a:p>
          <a:p>
            <a:r>
              <a:t>US-EAST-1 is AWS's oldest and busiest region, and many global services depend on it, which is why trouble there spreads.</a:t>
            </a:r>
          </a:p>
          <a:p>
            <a:endParaRPr/>
          </a:p>
          <a:p>
            <a:r>
              <a:t>Examiner questions are on the bottom row: where does the vendor run, has failover been tested, and what does the branch do meanwhile?</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ways traffic gets from the bank to a cloud service.</a:t>
            </a:r>
          </a:p>
          <a:p>
            <a:endParaRPr/>
          </a:p>
          <a:p>
            <a:r>
              <a:t>1. Over the internet, protected by TLS. This is how nearly all SaaS works: Microsoft 365, a vendor's web portal. Nothing to set up, but performance is best effort and depends on the bank's internet circuits.</a:t>
            </a:r>
          </a:p>
          <a:p>
            <a:endParaRPr/>
          </a:p>
          <a:p>
            <a:r>
              <a:t>2. An IPsec VPN tunnel from the bank's firewall to the bank's private cloud network. Everything in the tunnel is encrypted, but it still rides the internet, so latency and outages follow the internet path.</a:t>
            </a:r>
          </a:p>
          <a:p>
            <a:endParaRPr/>
          </a:p>
          <a:p>
            <a:r>
              <a:t>3. A private interconnect: AWS Direct Connect, Azure ExpressRoute, Google Cloud Interconnect. A carrier circuit or a cross-connect in a colocation facility goes straight into the provider's network, with no public internet. Predictable and fast, but it costs more, takes weeks to order, and, the surprise for many, it is NOT encrypted by default. Private isn't the same as encrypted; MACsec or an IPsec tunnel on top fixes that.</a:t>
            </a:r>
          </a:p>
          <a:p>
            <a:endParaRPr/>
          </a:p>
          <a:p>
            <a:r>
              <a:t>Most community banks use paths 1 and 2. Path 3 shows up at larger banks and at the core and digital-banking providers themselves. Tie back to Tuesday: the private interconnect is just a leased line or Ethernet circuit with a cloud provider at the far end.</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p:txBody>
      </p:sp>
      <p:sp>
        <p:nvSpPr>
          <p:cNvPr id="4" name="Header Placeholder 3"/>
          <p:cNvSpPr>
            <a:spLocks noGrp="1"/>
          </p:cNvSpPr>
          <p:nvPr>
            <p:ph type="hdr" sz="quarter"/>
          </p:nvPr>
        </p:nvSpPr>
        <p:spPr/>
        <p:txBody>
          <a:bodyPr/>
          <a:lstStyle/>
          <a:p>
            <a:r>
              <a:rPr lang="en-US"/>
              <a:t>Introduction to Telecommunications and Networking</a:t>
            </a:r>
          </a:p>
        </p:txBody>
      </p:sp>
      <p:sp>
        <p:nvSpPr>
          <p:cNvPr id="5" name="Date Placeholder 4"/>
          <p:cNvSpPr>
            <a:spLocks noGrp="1"/>
          </p:cNvSpPr>
          <p:nvPr>
            <p:ph type="dt" idx="1"/>
          </p:nvPr>
        </p:nvSpPr>
        <p:spPr/>
        <p:txBody>
          <a:bodyPr/>
          <a:lstStyle/>
          <a:p>
            <a:endParaRPr lang="en-US" sz="1200"/>
          </a:p>
          <a:p>
            <a:fld id="{D20C73A0-78FB-4CFE-8EEB-D59CA2A7A8B5}" type="datetime1">
              <a:rPr lang="en-US" smtClean="0"/>
              <a:t>10/15/26</a:t>
            </a:fld>
            <a:endParaRPr lang="en-US" sz="1200"/>
          </a:p>
        </p:txBody>
      </p:sp>
      <p:sp>
        <p:nvSpPr>
          <p:cNvPr id="6" name="Slide Number Placeholder 5"/>
          <p:cNvSpPr>
            <a:spLocks noGrp="1"/>
          </p:cNvSpPr>
          <p:nvPr>
            <p:ph type="sldNum" sz="quarter" idx="5"/>
          </p:nvPr>
        </p:nvSpPr>
        <p:spPr/>
        <p:txBody>
          <a:bodyPr/>
          <a:lstStyle/>
          <a:p>
            <a:fld id="{A2D9B7C9-1F58-4F07-8711-AA0F3022BC7D}" type="slidenum">
              <a:rPr lang="en-US" smtClean="0"/>
              <a:pPr/>
              <a:t>154</a:t>
            </a:fld>
            <a:endParaRPr lang="en-US" sz="1200"/>
          </a:p>
        </p:txBody>
      </p:sp>
    </p:spTree>
    <p:extLst>
      <p:ext uri="{BB962C8B-B14F-4D97-AF65-F5344CB8AC3E}">
        <p14:creationId xmlns:p14="http://schemas.microsoft.com/office/powerpoint/2010/main" val="254911367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Introduction to Telecommunications and Networking</a:t>
            </a:r>
          </a:p>
        </p:txBody>
      </p:sp>
      <p:sp>
        <p:nvSpPr>
          <p:cNvPr id="5" name="Date Placeholder 4"/>
          <p:cNvSpPr>
            <a:spLocks noGrp="1"/>
          </p:cNvSpPr>
          <p:nvPr>
            <p:ph type="dt" idx="11"/>
          </p:nvPr>
        </p:nvSpPr>
        <p:spPr/>
        <p:txBody>
          <a:bodyPr/>
          <a:lstStyle/>
          <a:p>
            <a:endParaRPr lang="en-US" sz="1200"/>
          </a:p>
          <a:p>
            <a:fld id="{D20C73A0-78FB-4CFE-8EEB-D59CA2A7A8B5}" type="datetime1">
              <a:rPr lang="en-US" smtClean="0"/>
              <a:t>10/15/26</a:t>
            </a:fld>
            <a:endParaRPr lang="en-US" sz="1200"/>
          </a:p>
        </p:txBody>
      </p:sp>
      <p:sp>
        <p:nvSpPr>
          <p:cNvPr id="6" name="Slide Number Placeholder 5"/>
          <p:cNvSpPr>
            <a:spLocks noGrp="1"/>
          </p:cNvSpPr>
          <p:nvPr>
            <p:ph type="sldNum" sz="quarter" idx="12"/>
          </p:nvPr>
        </p:nvSpPr>
        <p:spPr/>
        <p:txBody>
          <a:bodyPr/>
          <a:lstStyle/>
          <a:p>
            <a:fld id="{A2D9B7C9-1F58-4F07-8711-AA0F3022BC7D}" type="slidenum">
              <a:rPr lang="en-US" smtClean="0"/>
              <a:pPr/>
              <a:t>155</a:t>
            </a:fld>
            <a:endParaRPr lang="en-US" sz="1200"/>
          </a:p>
        </p:txBody>
      </p:sp>
    </p:spTree>
    <p:extLst>
      <p:ext uri="{BB962C8B-B14F-4D97-AF65-F5344CB8AC3E}">
        <p14:creationId xmlns:p14="http://schemas.microsoft.com/office/powerpoint/2010/main" val="361017116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IT Profile question 2 asks which cloud services the bank uses: SaaS, IaaS, PaaS, or none. Like the other profile questions, the bank answers it before the exam.</a:t>
            </a:r>
          </a:p>
          <a:p>
            <a:endParaRPr/>
          </a:p>
          <a:p>
            <a:r>
              <a:t>Point out that 'N/A' is rarely the honest answer for a modern community bank: Microsoft 365 alone is SaaS. Ask the room which box their own institution checked.</a:t>
            </a:r>
          </a:p>
          <a:p>
            <a:endParaRPr/>
          </a:p>
          <a:p>
            <a:r>
              <a:t>The quote is from the cloud computing expanded analysis in the Management module. The exit strategy is the item banks most often lack: if the provider fails, raises prices, or the relationship sours, how does the bank get its data out and move it somewhere else, and how long would that take?</a:t>
            </a:r>
          </a:p>
          <a:p>
            <a:endParaRPr/>
          </a:p>
          <a:p>
            <a:r>
              <a:t>The bottom row is a map of where a 'yes' leads: cloud policies, data classification, testing of controls, and the vendor's security program, including encryption. Wording and procedure locations are from the September 2023 version; verify against the current version.</a:t>
            </a:r>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$500 million bank might have three or four IT staff. It cannot build and run a core system, a 24x7 security operations center, and a mobile app on its own, and it shouldn't try.</a:t>
            </a:r>
          </a:p>
          <a:p>
            <a:endParaRPr/>
          </a:p>
          <a:p>
            <a:r>
              <a:t>Four reasons, left to right: scale (a processor spreads its costs across hundreds of banks), expertise (specialists the bank couldn't hire or keep), round-the-clock operations, and technology the bank couldn't build itself.</a:t>
            </a:r>
          </a:p>
          <a:p>
            <a:endParaRPr/>
          </a:p>
          <a:p>
            <a:r>
              <a:t>The middle row is what typically goes out the door at a community bank. Ask the room which of these their own institution outsources; usually it's most of them.</a:t>
            </a:r>
          </a:p>
          <a:p>
            <a:endParaRPr/>
          </a:p>
          <a:p>
            <a:r>
              <a:t>The banner paraphrases the core idea of the 2023 interagency guidance on third-party relationships: using a third party does not diminish the bank's responsibility to operate safely and soundly and in compliance with law. That's why the rest of this chapter is about oversight.</a:t>
            </a:r>
          </a:p>
        </p:txBody>
      </p:sp>
      <p:sp>
        <p:nvSpPr>
          <p:cNvPr id="4" name="Slide Number Placeholder 3"/>
          <p:cNvSpPr>
            <a:spLocks noGrp="1"/>
          </p:cNvSpPr>
          <p:nvPr>
            <p:ph type="sldNum" sz="quarter" idx="5"/>
          </p:nvPr>
        </p:nvSpPr>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Redraw the vendor list as a network diagram. Every vendor that does work for the bank connects to it somehow: a VPN tunnel, a private circuit, a remote-support session, an API over the internet, or a file transfer.</a:t>
            </a:r>
          </a:p>
          <a:p>
            <a:endParaRPr/>
          </a:p>
          <a:p>
            <a:r>
              <a:t>Each line on this slide is a door into the bank. Some are always open (the core processor's circuit), some open on demand (the MSP's remote session), and some the bank doesn't control at all (a SaaS app reached over the internet).</a:t>
            </a:r>
          </a:p>
          <a:p>
            <a:endParaRPr/>
          </a:p>
          <a:p>
            <a:r>
              <a:t>Questions for each line: who can use it, what can it reach once it's in, is it encrypted, is it logged, and who would notice if it were misused?</a:t>
            </a:r>
          </a:p>
          <a:p>
            <a:endParaRPr/>
          </a:p>
          <a:p>
            <a:r>
              <a:t>This is the setup for Exercise 3, where each table marks these doors on its own diagram. The carrier is on here on purpose: carriers are vendors too (next slides).</a:t>
            </a:r>
          </a:p>
        </p:txBody>
      </p:sp>
      <p:sp>
        <p:nvSpPr>
          <p:cNvPr id="4" name="Slide Number Placeholder 3"/>
          <p:cNvSpPr>
            <a:spLocks noGrp="1"/>
          </p:cNvSpPr>
          <p:nvPr>
            <p:ph type="sldNum" sz="quarter" idx="5"/>
          </p:nvPr>
        </p:nvSpPr>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160</a:t>
            </a:fld>
            <a:endParaRPr lang="en-US"/>
          </a:p>
        </p:txBody>
      </p:sp>
    </p:spTree>
    <p:extLst>
      <p:ext uri="{BB962C8B-B14F-4D97-AF65-F5344CB8AC3E}">
        <p14:creationId xmlns:p14="http://schemas.microsoft.com/office/powerpoint/2010/main" val="236430138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a bank-fintech partnership, the customer uses the fintech's app, but the deposits or loans sit at the bank. Often there is a middleware or 'banking-as-a-service' platform in between that keeps the ledger of which customer owns which dollars.</a:t>
            </a:r>
          </a:p>
          <a:p>
            <a:endParaRPr/>
          </a:p>
          <a:p>
            <a:r>
              <a:t>Network view: the connection into the bank is an API over the internet, authenticated with keys or tokens rather than a VPN. Transaction volume is driven by someone else's marketing, and the customer relationship and support desk belong to someone else.</a:t>
            </a:r>
          </a:p>
          <a:p>
            <a:endParaRPr/>
          </a:p>
          <a:p>
            <a:r>
              <a:t>Synapse, 2024 (from memory; verify details before class): the middleware company went bankrupt, and its records of who owned what didn't match the partner banks' records. Over 100,000 fintech customers lost access to their money for months while the shortfall was sorted out. The lesson for the network: if the bank can't see the ledger, it can't know whose money it holds.</a:t>
            </a:r>
          </a:p>
          <a:p>
            <a:endParaRPr/>
          </a:p>
          <a:p>
            <a:r>
              <a:t>Regulators have been focused on these arrangements since; several partner banks have been under enforcement actions.</a:t>
            </a:r>
          </a:p>
        </p:txBody>
      </p:sp>
      <p:sp>
        <p:nvSpPr>
          <p:cNvPr id="4" name="Slide Number Placeholder 3"/>
          <p:cNvSpPr>
            <a:spLocks noGrp="1"/>
          </p:cNvSpPr>
          <p:nvPr>
            <p:ph type="sldNum" sz="quarter" idx="5"/>
          </p:nvPr>
        </p:nvSpPr>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Banks put their core processor through due diligence, but the carrier that delivers every byte to that processor often isn't on the vendor list at all.</a:t>
            </a:r>
          </a:p>
          <a:p>
            <a:endParaRPr/>
          </a:p>
          <a:p>
            <a:r>
              <a:t>The nines: 99.9% availability sounds great, but it allows about 8.8 hours of downtime a year, or about 44 minutes a month. 99.99% allows about 53 minutes a year; 99.999% about 5 minutes. Ask how the carrier measures it: per month or per year, and whether planned maintenance counts.</a:t>
            </a:r>
          </a:p>
          <a:p>
            <a:endParaRPr/>
          </a:p>
          <a:p>
            <a:r>
              <a:t>Read the SLA for time to repair, latency and packet loss, and how outages are reported. Credits are usually a small slice of the monthly bill; they don't compensate the bank for a branch that can't open.</a:t>
            </a:r>
          </a:p>
          <a:p>
            <a:endParaRPr/>
          </a:p>
          <a:p>
            <a:r>
              <a:t>Route diversity: two circuits from two carriers can still share a conduit, a pole line or a building entrance. If diversity matters, get it in writing, with a map.</a:t>
            </a:r>
          </a:p>
          <a:p>
            <a:endParaRPr/>
          </a:p>
          <a:p>
            <a:r>
              <a:t>Examiner question: is the carrier in the bank's vendor inventory and risk assessment?</a:t>
            </a:r>
          </a:p>
        </p:txBody>
      </p:sp>
      <p:sp>
        <p:nvSpPr>
          <p:cNvPr id="4" name="Slide Number Placeholder 3"/>
          <p:cNvSpPr>
            <a:spLocks noGrp="1"/>
          </p:cNvSpPr>
          <p:nvPr>
            <p:ph type="sldNum" sz="quarter" idx="5"/>
          </p:nvPr>
        </p:nvSpPr>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bank can do excellent vendor management and still share the same weak point as thousands of others: the same cloud, the same security tool, the same core processor.</a:t>
            </a:r>
          </a:p>
          <a:p>
            <a:endParaRPr/>
          </a:p>
          <a:p>
            <a:r>
              <a:t>CrowdStrike, July 19, 2024: a faulty update to a widely used endpoint security product crashed about 8.5 million Windows computers in a few hours. Airlines, hospitals, broadcasters and banks went down at once, and recovery often meant hands-on fixes, one machine at a time.</a:t>
            </a:r>
          </a:p>
          <a:p>
            <a:endParaRPr/>
          </a:p>
          <a:p>
            <a:r>
              <a:t>AWS, October 2025: covered earlier in this chapter. Companies with no AWS contract went down through their vendors.</a:t>
            </a:r>
          </a:p>
          <a:p>
            <a:endParaRPr/>
          </a:p>
          <a:p>
            <a:r>
              <a:t>Core processing: a handful of providers serve most U.S. community banks, so an outage at one affects hundreds of banks the same morning.</a:t>
            </a:r>
          </a:p>
          <a:p>
            <a:endParaRPr/>
          </a:p>
          <a:p>
            <a:r>
              <a:t>A single bank can't diversify this away. What it can do: know which providers it depends on, ask how they would recover, and plan how its own branches and customers would cope.</a:t>
            </a:r>
          </a:p>
          <a:p>
            <a:endParaRPr/>
          </a:p>
          <a:p>
            <a:r>
              <a:t>Figures here are from memory and widely reported; verify before class if you'll quote them.</a:t>
            </a:r>
          </a:p>
        </p:txBody>
      </p:sp>
      <p:sp>
        <p:nvSpPr>
          <p:cNvPr id="4" name="Slide Number Placeholder 3"/>
          <p:cNvSpPr>
            <a:spLocks noGrp="1"/>
          </p:cNvSpPr>
          <p:nvPr>
            <p:ph type="sldNum" sz="quarter" idx="5"/>
          </p:nvPr>
        </p:nvSpPr>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fourth party is a vendor's vendor: the cloud the core processor runs on, the data center that hosts the MSP, the software the MSP uses to manage the bank's machines, the offshore help desk the digital banking provider subcontracts to.</a:t>
            </a:r>
          </a:p>
          <a:p>
            <a:endParaRPr/>
          </a:p>
          <a:p>
            <a:r>
              <a:t>The bank has no contract with these companies, but they can reach its data or its network.</a:t>
            </a:r>
          </a:p>
          <a:p>
            <a:endParaRPr/>
          </a:p>
          <a:p>
            <a:r>
              <a:t>Kaseya, July 2021 (from memory; verify): ransomware attackers exploited Kaseya's VSA remote-management software, which MSPs use to manage their clients' computers. Through about 60 MSPs, the ransomware reached up to about 1,500 businesses downstream. The victims' 'vendor' was their MSP; the MSP's vendor was Kaseya.</a:t>
            </a:r>
          </a:p>
          <a:p>
            <a:endParaRPr/>
          </a:p>
          <a:p>
            <a:r>
              <a:t>Where to look: the SOC report's carve-outs (subservice organizations excluded from the audit), the contract's subcontracting clause, and a request for the vendor's list of critical subcontractors.</a:t>
            </a:r>
          </a:p>
        </p:txBody>
      </p:sp>
      <p:sp>
        <p:nvSpPr>
          <p:cNvPr id="4" name="Slide Number Placeholder 3"/>
          <p:cNvSpPr>
            <a:spLocks noGrp="1"/>
          </p:cNvSpPr>
          <p:nvPr>
            <p:ph type="sldNum" sz="quarter" idx="5"/>
          </p:nvPr>
        </p:nvSpPr>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column: the core of what InTREx Development and Acquisition procedure 2 lists for key vendors (September 2023 version). The full list is longer; these are the items students will recognize. The control test asks whether the depth of due diligence matched how critical the service is.</a:t>
            </a:r>
          </a:p>
          <a:p>
            <a:endParaRPr/>
          </a:p>
          <a:p>
            <a:r>
              <a:t>Right column: the network questions that standard due-diligence checklists often skip. These are the questions this class has prepared students to ask:</a:t>
            </a:r>
          </a:p>
          <a:p>
            <a:r>
              <a:t>- How will you connect to us: VPN, private circuit, API over the internet?</a:t>
            </a:r>
          </a:p>
          <a:p>
            <a:r>
              <a:t>- Who on your side gets remote access, how is it authenticated, and is it logged?</a:t>
            </a:r>
          </a:p>
          <a:p>
            <a:r>
              <a:t>- Where will our data live: which provider, which region, which country?</a:t>
            </a:r>
          </a:p>
          <a:p>
            <a:r>
              <a:t>- Is it encrypted in transit and at rest, and who holds the keys?</a:t>
            </a:r>
          </a:p>
          <a:p>
            <a:r>
              <a:t>- What happens when your primary site or region fails, and how long until we're back?</a:t>
            </a:r>
          </a:p>
          <a:p>
            <a:endParaRPr/>
          </a:p>
          <a:p>
            <a:r>
              <a:t>Due diligence happens before signing because that's when the bank has leverage.</a:t>
            </a:r>
          </a:p>
        </p:txBody>
      </p:sp>
      <p:sp>
        <p:nvSpPr>
          <p:cNvPr id="4" name="Slide Number Placeholder 3"/>
          <p:cNvSpPr>
            <a:spLocks noGrp="1"/>
          </p:cNvSpPr>
          <p:nvPr>
            <p:ph type="sldNum" sz="quarter" idx="5"/>
          </p:nvPr>
        </p:nvSpPr>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Eight clauses worth checking in any contract for a critical service, with the network angle on each.</a:t>
            </a:r>
          </a:p>
          <a:p>
            <a:endParaRPr/>
          </a:p>
          <a:p>
            <a:r>
              <a:t>Incident notice: under the 2021 interagency computer-security incident notification rule, a bank service provider must notify its bank customers as soon as possible when an incident has disrupted or degraded, or is likely to disrupt or degrade, covered services for four or more hours. The bank in turn must notify its primary regulator within 36 hours of determining it has a notification incident. The contract should make the vendor's obligation concrete: who gets called, how fast, with what information.</a:t>
            </a:r>
          </a:p>
          <a:p>
            <a:endParaRPr/>
          </a:p>
          <a:p>
            <a:r>
              <a:t>Audit rights: the bank's right to audit, and acknowledgement that services are subject to regulatory examination under the Bank Service Company Act.</a:t>
            </a:r>
          </a:p>
          <a:p>
            <a:endParaRPr/>
          </a:p>
          <a:p>
            <a:r>
              <a:t>Exit: how data comes back, in what format, how fast, and proof the vendor destroyed its copies. This links back to the InTREx cloud exit-strategy item.</a:t>
            </a:r>
          </a:p>
          <a:p>
            <a:endParaRPr/>
          </a:p>
          <a:p>
            <a:r>
              <a:t>These track the contract topics in InTREx Development and Acquisition procedure 3. The rule details are from memory; verify before class.</a:t>
            </a:r>
          </a:p>
        </p:txBody>
      </p:sp>
      <p:sp>
        <p:nvSpPr>
          <p:cNvPr id="4" name="Slide Number Placeholder 3"/>
          <p:cNvSpPr>
            <a:spLocks noGrp="1"/>
          </p:cNvSpPr>
          <p:nvPr>
            <p:ph type="sldNum" sz="quarter" idx="5"/>
          </p:nvPr>
        </p:nvSpPr>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SOC reports are audits of a service provider, done by an independent CPA firm, that the provider shares with its customers.</a:t>
            </a:r>
          </a:p>
          <a:p>
            <a:endParaRPr/>
          </a:p>
          <a:p>
            <a:r>
              <a:t>SOC 1: controls that affect the customer's financial reporting (a core processor posting transactions). SOC 2: controls for security, and optionally availability, processing integrity, confidentiality and privacy. Most relevant to IT and the network. SOC 3: a short public summary of a SOC 2, with no detail; nice for marketing, not much use for oversight.</a:t>
            </a:r>
          </a:p>
          <a:p>
            <a:endParaRPr/>
          </a:p>
          <a:p>
            <a:r>
              <a:t>Type I describes the controls at a point in time. Type II tests whether they actually worked over a period, usually 6 to 12 months. Ask for Type II.</a:t>
            </a:r>
          </a:p>
          <a:p>
            <a:endParaRPr/>
          </a:p>
          <a:p>
            <a:r>
              <a:t>What to check:</a:t>
            </a:r>
          </a:p>
          <a:p>
            <a:r>
              <a:t>- Scope: does it cover the service and the data center the bank uses?</a:t>
            </a:r>
          </a:p>
          <a:p>
            <a:r>
              <a:t>- Carve-outs: subservice organizations (fourth parties) excluded from the audit.</a:t>
            </a:r>
          </a:p>
          <a:p>
            <a:r>
              <a:t>- Period: if it ended months ago, ask for a bridge letter covering the gap.</a:t>
            </a:r>
          </a:p>
          <a:p>
            <a:r>
              <a:t>- Exceptions: controls that failed testing, and management's response.</a:t>
            </a:r>
          </a:p>
          <a:p>
            <a:r>
              <a:t>- CUECs, complementary user entity controls: the controls the vendor assumes the BANK has in place. That section is the bank's homework.</a:t>
            </a:r>
          </a:p>
        </p:txBody>
      </p:sp>
      <p:sp>
        <p:nvSpPr>
          <p:cNvPr id="4" name="Slide Number Placeholder 3"/>
          <p:cNvSpPr>
            <a:spLocks noGrp="1"/>
          </p:cNvSpPr>
          <p:nvPr>
            <p:ph type="sldNum" sz="quarter" idx="5"/>
          </p:nvPr>
        </p:nvSpPr>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FedRAMP is the U.S. government's program for authorizing cloud services for federal agency use. Vendors increasingly put 'FedRAMP authorized' in front of banks as a selling point.</a:t>
            </a:r>
          </a:p>
          <a:p>
            <a:endParaRPr/>
          </a:p>
          <a:p>
            <a:r>
              <a:t>What it tells a bank: the service was assessed by an accredited third-party assessor against a large, NIST-based set of security controls, and it is under continuous monitoring. That's meaningful evidence about the provider's security program.</a:t>
            </a:r>
          </a:p>
          <a:p>
            <a:endParaRPr/>
          </a:p>
          <a:p>
            <a:r>
              <a:t>What it doesn't: it doesn't cover the bank's configuration (shared responsibility), it isn't a financial-condition review, it doesn't address the bank's specific contract, resilience needs or data location, and it may cover a government version of the service that the bank isn't buying. It's an input to due diligence, not a substitute for it.</a:t>
            </a:r>
          </a:p>
          <a:p>
            <a:endParaRPr/>
          </a:p>
          <a:p>
            <a:r>
              <a:t>2026: FedRAMP is mid-overhaul under the 'FedRAMP 20x' initiative, moving toward more automated, faster authorizations with new certification classes (A through D). The legacy Rev5-based process is slated to be phased out by the end of 2028. Expect vendors' FedRAMP claims to come in new labels for a while; ask exactly which authorization they hold, for which service.</a:t>
            </a:r>
          </a:p>
        </p:txBody>
      </p:sp>
      <p:sp>
        <p:nvSpPr>
          <p:cNvPr id="4" name="Slide Number Placeholder 3"/>
          <p:cNvSpPr>
            <a:spLocks noGrp="1"/>
          </p:cNvSpPr>
          <p:nvPr>
            <p:ph type="sldNum" sz="quarter" idx="5"/>
          </p:nvPr>
        </p:nvSpPr>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Due diligence is a snapshot; monitoring is the movie. The bank's leverage drops after signing, so monitoring has to be built into the routine.</a:t>
            </a:r>
          </a:p>
          <a:p>
            <a:endParaRPr/>
          </a:p>
          <a:p>
            <a:r>
              <a:t>Risk-based tiering: not every vendor needs the same attention. A critical vendor (core processor, MSP with remote access, the carrier for the main circuits) gets annual or more frequent review of its SOC report, financials, BCP testing and SLA performance. A low-risk vendor may need little more than a contract on file.</a:t>
            </a:r>
          </a:p>
          <a:p>
            <a:endParaRPr/>
          </a:p>
          <a:p>
            <a:r>
              <a:t>The middle column paraphrases items from InTREx Management procedure 13 (September 2023 version), which lists what ongoing monitoring may include.</a:t>
            </a:r>
          </a:p>
          <a:p>
            <a:endParaRPr/>
          </a:p>
          <a:p>
            <a:r>
              <a:t>Network-specific monitoring, right column: the bank's own data about the vendor. SLA and outage reports from carriers, logs of vendor remote sessions (who connected, when, what they touched), changes in how the vendor connects, and new subcontractors. Results should go to the board.</a:t>
            </a:r>
          </a:p>
        </p:txBody>
      </p:sp>
      <p:sp>
        <p:nvSpPr>
          <p:cNvPr id="4" name="Slide Number Placeholder 3"/>
          <p:cNvSpPr>
            <a:spLocks noGrp="1"/>
          </p:cNvSpPr>
          <p:nvPr>
            <p:ph type="sldNum" sz="quarter" idx="5"/>
          </p:nvPr>
        </p:nvSpPr>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170</a:t>
            </a:fld>
            <a:endParaRPr lang="en-US"/>
          </a:p>
        </p:txBody>
      </p:sp>
    </p:spTree>
    <p:extLst>
      <p:ext uri="{BB962C8B-B14F-4D97-AF65-F5344CB8AC3E}">
        <p14:creationId xmlns:p14="http://schemas.microsoft.com/office/powerpoint/2010/main" val="2672255254"/>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Vendor management in InTREx is split across two modules: due diligence and contracts at acquisition in Development and Acquisition (procedures 2 to 4), and ongoing monitoring in Management (procedure 13). The form excerpt on the left is from procedure 2.</a:t>
            </a:r>
          </a:p>
          <a:p>
            <a:endParaRPr/>
          </a:p>
          <a:p>
            <a:r>
              <a:t>The quote pairs two baseline statements from the Management module: the bank keeps a list of its third-party service providers, and it assesses how critical each one is. Everything else depends on the list being complete.</a:t>
            </a:r>
          </a:p>
          <a:p>
            <a:endParaRPr/>
          </a:p>
          <a:p>
            <a:r>
              <a:t>Ask the room: is the telecom carrier on the list? The MSP's remote-management tool? The SaaS app the marketing team signed up for? This sets up Exercise 3, where each table finds the vendors on its own diagram.</a:t>
            </a:r>
          </a:p>
          <a:p>
            <a:endParaRPr/>
          </a:p>
          <a:p>
            <a:r>
              <a:t>Procedure numbers are from the September 2023 version; verify against the current version.</a:t>
            </a:r>
          </a:p>
        </p:txBody>
      </p:sp>
      <p:sp>
        <p:nvSpPr>
          <p:cNvPr id="4" name="Slide Number Placeholder 3"/>
          <p:cNvSpPr>
            <a:spLocks noGrp="1"/>
          </p:cNvSpPr>
          <p:nvPr>
            <p:ph type="sldNum" sz="quarter" idx="5"/>
          </p:nvPr>
        </p:nvSpPr>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tables, same diagrams as Exercises 1 and 2. This time the question is: where do outsiders touch this bank's network?</a:t>
            </a:r>
          </a:p>
          <a:p>
            <a:endParaRPr/>
          </a:p>
          <a:p>
            <a:r>
              <a:t>Hand out a different colored marker. Steps:</a:t>
            </a:r>
          </a:p>
          <a:p>
            <a:r>
              <a:t>1. Circle every third party on the diagram: core processor, carrier, MSP, card processor, cloud and SaaS services, ATM network. If a vendor obviously exists but isn't drawn, add it.</a:t>
            </a:r>
          </a:p>
          <a:p>
            <a:r>
              <a:t>2. Next to each, label how it connects (VPN, private circuit, remote access, internet) and what it can reach.</a:t>
            </a:r>
          </a:p>
          <a:p>
            <a:r>
              <a:t>3. Star the one the table would worry about most, and be ready to say why.</a:t>
            </a:r>
          </a:p>
          <a:p>
            <a:r>
              <a:t>4. Pick one vendor and write the five questions you would ask before signing, or renewing, with them.</a:t>
            </a:r>
          </a:p>
          <a:p>
            <a:r>
              <a:t>5. Report out: two minutes per table.</a:t>
            </a:r>
          </a:p>
          <a:p>
            <a:endParaRPr/>
          </a:p>
          <a:p>
            <a:r>
              <a:t>Timing: about 25 minutes at tables, 10 to 15 for report-out.</a:t>
            </a:r>
          </a:p>
          <a:p>
            <a:endParaRPr/>
          </a:p>
          <a:p>
            <a:r>
              <a:t>Debrief points: Did anyone circle the carrier? The MSP's remote-management tool? Were there vendors you suspected but couldn't see on the diagram? That gap is exactly what an examiner would ask about. Compare tables' 'most worried' choices; there's rarely one right answer.</a:t>
            </a:r>
          </a:p>
        </p:txBody>
      </p:sp>
      <p:sp>
        <p:nvSpPr>
          <p:cNvPr id="4" name="Slide Number Placeholder 3"/>
          <p:cNvSpPr>
            <a:spLocks noGrp="1"/>
          </p:cNvSpPr>
          <p:nvPr>
            <p:ph type="sldNum" sz="quarter" idx="5"/>
          </p:nvPr>
        </p:nvSpPr>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Introduction to Telecommunications and Networking</a:t>
            </a:r>
          </a:p>
        </p:txBody>
      </p:sp>
      <p:sp>
        <p:nvSpPr>
          <p:cNvPr id="6" name="Slide Number Placeholder 5"/>
          <p:cNvSpPr>
            <a:spLocks noGrp="1"/>
          </p:cNvSpPr>
          <p:nvPr>
            <p:ph type="sldNum" sz="quarter" idx="12"/>
          </p:nvPr>
        </p:nvSpPr>
        <p:spPr/>
        <p:txBody>
          <a:bodyPr/>
          <a:lstStyle/>
          <a:p>
            <a:fld id="{A2D9B7C9-1F58-4F07-8711-AA0F3022BC7D}" type="slidenum">
              <a:rPr lang="en-US" smtClean="0"/>
              <a:pPr/>
              <a:t>174</a:t>
            </a:fld>
            <a:endParaRPr lang="en-US" sz="1200"/>
          </a:p>
        </p:txBody>
      </p:sp>
      <p:sp>
        <p:nvSpPr>
          <p:cNvPr id="5" name="Date Placeholder 4"/>
          <p:cNvSpPr>
            <a:spLocks noGrp="1"/>
          </p:cNvSpPr>
          <p:nvPr>
            <p:ph type="dt" idx="13"/>
          </p:nvPr>
        </p:nvSpPr>
        <p:spPr/>
        <p:txBody>
          <a:bodyPr/>
          <a:lstStyle/>
          <a:p>
            <a:endParaRPr lang="en-US" sz="1200"/>
          </a:p>
          <a:p>
            <a:fld id="{1AA53055-590B-428F-96B8-77B0259DF273}" type="datetime1">
              <a:rPr lang="en-US" smtClean="0"/>
              <a:t>10/15/26</a:t>
            </a:fld>
            <a:endParaRPr lang="en-US" sz="1200"/>
          </a:p>
        </p:txBody>
      </p:sp>
    </p:spTree>
    <p:extLst>
      <p:ext uri="{BB962C8B-B14F-4D97-AF65-F5344CB8AC3E}">
        <p14:creationId xmlns:p14="http://schemas.microsoft.com/office/powerpoint/2010/main" val="254940642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Introduction to Telecommunications and Networking</a:t>
            </a:r>
          </a:p>
        </p:txBody>
      </p:sp>
      <p:sp>
        <p:nvSpPr>
          <p:cNvPr id="6" name="Slide Number Placeholder 5"/>
          <p:cNvSpPr>
            <a:spLocks noGrp="1"/>
          </p:cNvSpPr>
          <p:nvPr>
            <p:ph type="sldNum" sz="quarter" idx="12"/>
          </p:nvPr>
        </p:nvSpPr>
        <p:spPr/>
        <p:txBody>
          <a:bodyPr/>
          <a:lstStyle/>
          <a:p>
            <a:fld id="{A2D9B7C9-1F58-4F07-8711-AA0F3022BC7D}" type="slidenum">
              <a:rPr lang="en-US" smtClean="0"/>
              <a:pPr/>
              <a:t>175</a:t>
            </a:fld>
            <a:endParaRPr lang="en-US" sz="1200"/>
          </a:p>
        </p:txBody>
      </p:sp>
      <p:sp>
        <p:nvSpPr>
          <p:cNvPr id="5" name="Date Placeholder 4"/>
          <p:cNvSpPr>
            <a:spLocks noGrp="1"/>
          </p:cNvSpPr>
          <p:nvPr>
            <p:ph type="dt" idx="13"/>
          </p:nvPr>
        </p:nvSpPr>
        <p:spPr/>
        <p:txBody>
          <a:bodyPr/>
          <a:lstStyle/>
          <a:p>
            <a:endParaRPr lang="en-US" sz="1200"/>
          </a:p>
          <a:p>
            <a:fld id="{F4758967-70D1-4828-B3DD-528FB1A7D22E}" type="datetime1">
              <a:rPr lang="en-US" smtClean="0"/>
              <a:t>10/15/26</a:t>
            </a:fld>
            <a:endParaRPr lang="en-US" sz="1200"/>
          </a:p>
        </p:txBody>
      </p:sp>
    </p:spTree>
    <p:extLst>
      <p:ext uri="{BB962C8B-B14F-4D97-AF65-F5344CB8AC3E}">
        <p14:creationId xmlns:p14="http://schemas.microsoft.com/office/powerpoint/2010/main" val="3851419285"/>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Introduction to Telecommunications and Networking</a:t>
            </a:r>
          </a:p>
        </p:txBody>
      </p:sp>
      <p:sp>
        <p:nvSpPr>
          <p:cNvPr id="6" name="Slide Number Placeholder 5"/>
          <p:cNvSpPr>
            <a:spLocks noGrp="1"/>
          </p:cNvSpPr>
          <p:nvPr>
            <p:ph type="sldNum" sz="quarter" idx="12"/>
          </p:nvPr>
        </p:nvSpPr>
        <p:spPr/>
        <p:txBody>
          <a:bodyPr/>
          <a:lstStyle/>
          <a:p>
            <a:fld id="{A2D9B7C9-1F58-4F07-8711-AA0F3022BC7D}" type="slidenum">
              <a:rPr lang="en-US" smtClean="0"/>
              <a:pPr/>
              <a:t>176</a:t>
            </a:fld>
            <a:endParaRPr lang="en-US" sz="1200"/>
          </a:p>
        </p:txBody>
      </p:sp>
      <p:sp>
        <p:nvSpPr>
          <p:cNvPr id="5" name="Date Placeholder 4"/>
          <p:cNvSpPr>
            <a:spLocks noGrp="1"/>
          </p:cNvSpPr>
          <p:nvPr>
            <p:ph type="dt" idx="13"/>
          </p:nvPr>
        </p:nvSpPr>
        <p:spPr/>
        <p:txBody>
          <a:bodyPr/>
          <a:lstStyle/>
          <a:p>
            <a:endParaRPr lang="en-US" sz="1200"/>
          </a:p>
          <a:p>
            <a:fld id="{F4758967-70D1-4828-B3DD-528FB1A7D22E}" type="datetime1">
              <a:rPr lang="en-US" smtClean="0"/>
              <a:t>10/15/26</a:t>
            </a:fld>
            <a:endParaRPr lang="en-US" sz="1200"/>
          </a:p>
        </p:txBody>
      </p:sp>
    </p:spTree>
    <p:extLst>
      <p:ext uri="{BB962C8B-B14F-4D97-AF65-F5344CB8AC3E}">
        <p14:creationId xmlns:p14="http://schemas.microsoft.com/office/powerpoint/2010/main" val="385390379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IT Profile question 5 asks whether network monitoring (performance, intrusion detection, web filtering) and network operations are handled in-house or outsourced. Both boxes can be checked: many banks run day-to-day operations themselves and outsource 24x7 monitoring to an MSSP.</a:t>
            </a:r>
          </a:p>
          <a:p>
            <a:endParaRPr/>
          </a:p>
          <a:p>
            <a:r>
              <a:t>The quote is a Support and Delivery baseline statement. Ask the room: who's watching at 3 a.m.? At most community banks the honest answer is the MSSP, which makes the bank's oversight of the MSSP the real control.</a:t>
            </a:r>
          </a:p>
          <a:p>
            <a:endParaRPr/>
          </a:p>
          <a:p>
            <a:r>
              <a:t>The bottom row is where a 'yes, outsourced' leads: how monitoring works, how the bank oversees the provider, whether third-party access to critical systems is itself monitored, and how an alert at the MSSP becomes an incident response at the bank.</a:t>
            </a:r>
          </a:p>
          <a:p>
            <a:endParaRPr/>
          </a:p>
          <a:p>
            <a:r>
              <a:t>Wording and locations are from the September 2023 version; verify against the current version.</a:t>
            </a:r>
          </a:p>
        </p:txBody>
      </p:sp>
      <p:sp>
        <p:nvSpPr>
          <p:cNvPr id="4" name="Slide Number Placeholder 3"/>
          <p:cNvSpPr>
            <a:spLocks noGrp="1"/>
          </p:cNvSpPr>
          <p:nvPr>
            <p:ph type="sldNum" sz="quarter" idx="5"/>
          </p:nvPr>
        </p:nvSpPr>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Shadow IT is technology staff use without IT's knowledge or approval. With SaaS it takes a credit card and an email address: a file-sharing account, an e-signature service, a note-taking app, a browser extension, and now AI chatbots that staff paste customer information into.</a:t>
            </a:r>
          </a:p>
          <a:p>
            <a:endParaRPr dirty="0"/>
          </a:p>
          <a:p>
            <a:r>
              <a:rPr dirty="0"/>
              <a:t>Each of these is a vendor holding bank data with no due diligence, no contract review and no monitoring. And the network can't easily see it: it's all HTTPS to the same big cloud providers as everything else.</a:t>
            </a:r>
          </a:p>
          <a:p>
            <a:endParaRPr dirty="0"/>
          </a:p>
          <a:p>
            <a:r>
              <a:rPr dirty="0"/>
              <a:t>How banks find it: DNS and web proxy logs (which SaaS domains are staff reaching?), a CASB (cloud access security broker) that inventories cloud app use, single sign-on (apps outside SSO stand out), and expense reports (who's paying for subscriptions).</a:t>
            </a:r>
          </a:p>
          <a:p>
            <a:endParaRPr dirty="0"/>
          </a:p>
          <a:p>
            <a:r>
              <a:rPr dirty="0"/>
              <a:t>What works better than blocking alone: a catalog of approved apps, a fast way to request a new one, and a clear AI-use policy.</a:t>
            </a:r>
          </a:p>
          <a:p>
            <a:endParaRPr dirty="0"/>
          </a:p>
          <a:p>
            <a:r>
              <a:rPr dirty="0"/>
              <a:t>Examiner questions: does the vendor inventory include SaaS? How does the bank know what staff actually use?</a:t>
            </a:r>
          </a:p>
        </p:txBody>
      </p:sp>
      <p:sp>
        <p:nvSpPr>
          <p:cNvPr id="4" name="Slide Number Placeholder 3"/>
          <p:cNvSpPr>
            <a:spLocks noGrp="1"/>
          </p:cNvSpPr>
          <p:nvPr>
            <p:ph type="sldNum" sz="quarter" idx="5"/>
          </p:nvPr>
        </p:nvSpPr>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Thursday opens with the reason the network exists: the applications. Everything we built Monday through Wednesday carries application traffic. This chapter reviews how applications talk (clients, servers, ports) and then maps where a community bank's applications actually live today.</a:t>
            </a:r>
          </a:p>
        </p:txBody>
      </p:sp>
      <p:sp>
        <p:nvSpPr>
          <p:cNvPr id="4" name="Slide Number Placeholder 3"/>
          <p:cNvSpPr>
            <a:spLocks noGrp="1"/>
          </p:cNvSpPr>
          <p:nvPr>
            <p:ph type="sldNum" sz="quarter" idx="5"/>
          </p:nvPr>
        </p:nvSpPr>
        <p:spPr/>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182</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E5C3BDE0-144A-47FA-9775-8FB26000403D}" type="datetime1">
              <a:rPr lang="en-US" smtClean="0"/>
              <a:t>10/15/26</a:t>
            </a:fld>
            <a:endParaRPr lang="en-US" sz="1200"/>
          </a:p>
        </p:txBody>
      </p:sp>
    </p:spTree>
    <p:extLst>
      <p:ext uri="{BB962C8B-B14F-4D97-AF65-F5344CB8AC3E}">
        <p14:creationId xmlns:p14="http://schemas.microsoft.com/office/powerpoint/2010/main" val="1738684350"/>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942405" name="Rectangle 5"/>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183</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02C09805-7986-4C2A-8273-15FF635E4FE0}" type="datetime1">
              <a:rPr lang="en-US" smtClean="0"/>
              <a:t>10/15/26</a:t>
            </a:fld>
            <a:endParaRPr lang="en-US" sz="1200"/>
          </a:p>
        </p:txBody>
      </p:sp>
    </p:spTree>
    <p:extLst>
      <p:ext uri="{BB962C8B-B14F-4D97-AF65-F5344CB8AC3E}">
        <p14:creationId xmlns:p14="http://schemas.microsoft.com/office/powerpoint/2010/main" val="1087867998"/>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944453" name="Rectangle 5"/>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184</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5D358B43-8647-4238-9F4E-AB1862FAB3C4}" type="datetime1">
              <a:rPr lang="en-US" smtClean="0"/>
              <a:t>10/15/26</a:t>
            </a:fld>
            <a:endParaRPr lang="en-US" sz="1200"/>
          </a:p>
        </p:txBody>
      </p:sp>
    </p:spTree>
    <p:extLst>
      <p:ext uri="{BB962C8B-B14F-4D97-AF65-F5344CB8AC3E}">
        <p14:creationId xmlns:p14="http://schemas.microsoft.com/office/powerpoint/2010/main" val="125207829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948549" name="Rectangle 5"/>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185</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C03ED4F5-443A-4D0C-9A62-6359C71A416D}" type="datetime1">
              <a:rPr lang="en-US" smtClean="0"/>
              <a:t>10/15/26</a:t>
            </a:fld>
            <a:endParaRPr lang="en-US" sz="1200"/>
          </a:p>
        </p:txBody>
      </p:sp>
    </p:spTree>
    <p:extLst>
      <p:ext uri="{BB962C8B-B14F-4D97-AF65-F5344CB8AC3E}">
        <p14:creationId xmlns:p14="http://schemas.microsoft.com/office/powerpoint/2010/main" val="1564958169"/>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186</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530789C6-A9DB-41B8-9997-9525918005AE}" type="datetime1">
              <a:rPr lang="en-US" smtClean="0"/>
              <a:t>10/15/26</a:t>
            </a:fld>
            <a:endParaRPr lang="en-US" sz="1200"/>
          </a:p>
        </p:txBody>
      </p:sp>
    </p:spTree>
    <p:extLst>
      <p:ext uri="{BB962C8B-B14F-4D97-AF65-F5344CB8AC3E}">
        <p14:creationId xmlns:p14="http://schemas.microsoft.com/office/powerpoint/2010/main" val="347688645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anchor scenario one more time, now through the lens of applications: branch, headquarters, the bank's own data center (or a colocation cage), the cloud, and vendors.</a:t>
            </a:r>
          </a:p>
          <a:p>
            <a:endParaRPr/>
          </a:p>
          <a:p>
            <a:r>
              <a:t>Walk left to right. Very little runs in the branch any more: the teller PC is mostly a window onto applications that live elsewhere. Headquarters may still hold file and print servers and the phone system. A few community banks still run their core in-house; most don't. Microsoft 365, CRM and HR systems are SaaS. The core, card processing and digital banking usually live at vendors.</a:t>
            </a:r>
          </a:p>
          <a:p>
            <a:endParaRPr/>
          </a:p>
          <a:p>
            <a:r>
              <a:t>Three delivery models on the bottom row. On-premises: the bank owns and runs it. Hosted: the vendor runs a copy dedicated to the bank in the vendor's data center. SaaS: one shared application for many customers, reached over the internet.</a:t>
            </a:r>
          </a:p>
          <a:p>
            <a:endParaRPr/>
          </a:p>
          <a:p>
            <a:r>
              <a:t>The point for examiners: every arrow between these columns is a network path, and the further right an application lives, the more the bank depends on circuits and vendors it doesn't control.</a:t>
            </a:r>
          </a:p>
        </p:txBody>
      </p:sp>
      <p:sp>
        <p:nvSpPr>
          <p:cNvPr id="4" name="Slide Number Placeholder 3"/>
          <p:cNvSpPr>
            <a:spLocks noGrp="1"/>
          </p:cNvSpPr>
          <p:nvPr>
            <p:ph type="sldNum" sz="quarter" idx="5"/>
          </p:nvPr>
        </p:nvSpPr>
        <p:spPr/>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is the bank's most important application and, for most community banks, the most important vendor connection. This chapter covers what a core does, who provides it, the network path from the branch to the core, and where core technology is heading.</a:t>
            </a:r>
          </a:p>
        </p:txBody>
      </p:sp>
      <p:sp>
        <p:nvSpPr>
          <p:cNvPr id="4" name="Slide Number Placeholder 3"/>
          <p:cNvSpPr>
            <a:spLocks noGrp="1"/>
          </p:cNvSpPr>
          <p:nvPr>
            <p:ph type="sldNum" sz="quarter" idx="5"/>
          </p:nvPr>
        </p:nvSpPr>
        <p:spPr/>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is the bank's system of record: the official books. If it isn't in the core, it didn't happen.</a:t>
            </a:r>
          </a:p>
          <a:p>
            <a:endParaRPr/>
          </a:p>
          <a:p>
            <a:r>
              <a:t>Left side: the channels that feed it. Tellers, ATMs and debit cards, online and mobile banking, ACH and wires, and card networks all end up posting to the core.</a:t>
            </a:r>
          </a:p>
          <a:p>
            <a:endParaRPr/>
          </a:p>
          <a:p>
            <a:r>
              <a:t>Right side: what the core keeps. Deposit and loan accounts, the customer information file (CIF, one record per customer across all accounts), interest and fee calculations, the general ledger, and the statements and notices that go out.</a:t>
            </a:r>
          </a:p>
          <a:p>
            <a:endParaRPr/>
          </a:p>
          <a:p>
            <a:r>
              <a:t>Many cores still run a nightly batch: during the day, transactions are 'memo posted' so balances look current, and the official posting happens overnight. Real-time payments (Tuesday) are pushing cores toward posting in real time.</a:t>
            </a:r>
          </a:p>
          <a:p>
            <a:endParaRPr/>
          </a:p>
          <a:p>
            <a:r>
              <a:t>Network point: every channel on the left is a connection into the core. If the core or the path to it is down, the bank can't post a transaction, and the branches feel it first.</a:t>
            </a:r>
          </a:p>
        </p:txBody>
      </p:sp>
      <p:sp>
        <p:nvSpPr>
          <p:cNvPr id="4" name="Slide Number Placeholder 3"/>
          <p:cNvSpPr>
            <a:spLocks noGrp="1"/>
          </p:cNvSpPr>
          <p:nvPr>
            <p:ph type="sldNum" sz="quarter" idx="5"/>
          </p:nvPr>
        </p:nvSpPr>
        <p:spPr/>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companies provide the core for most U.S. banks. In a Kansas City Fed study of 2022 data, Fiserv served about 42% of banks, Jack Henry about 21%, and FIS about 9%: together more than 70%.</a:t>
            </a:r>
          </a:p>
          <a:p>
            <a:endParaRPr/>
          </a:p>
          <a:p>
            <a:r>
              <a:t>Each sells several core platforms, often from acquisitions, and each delivers them in different ways: in-house licenses, service bureau, and hosted or cloud. Fiserv is the largest by bank count. Jack Henry is heavily focused on community banks and credit unions. FIS skews toward larger institutions.</a:t>
            </a:r>
          </a:p>
          <a:p>
            <a:endParaRPr/>
          </a:p>
          <a:p>
            <a:r>
              <a:t>Why examiners care: concentration risk from Wednesday. When one of these providers has an outage or a security incident, hundreds of banks are affected the same morning. And because a core conversion is expensive and slow, banks rarely switch, which limits their leverage in contract negotiations.</a:t>
            </a:r>
          </a:p>
          <a:p>
            <a:endParaRPr/>
          </a:p>
          <a:p>
            <a:r>
              <a:t>The 2022 figures are the most recent published study I found; treat them as approximate.</a:t>
            </a:r>
          </a:p>
        </p:txBody>
      </p:sp>
      <p:sp>
        <p:nvSpPr>
          <p:cNvPr id="4" name="Slide Number Placeholder 3"/>
          <p:cNvSpPr>
            <a:spLocks noGrp="1"/>
          </p:cNvSpPr>
          <p:nvPr>
            <p:ph type="sldNum" sz="quarter" idx="5"/>
          </p:nvPr>
        </p:nvSpPr>
        <p:spPr/>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Trace one deposit, the way we traced traffic on Tuesday.</a:t>
            </a:r>
          </a:p>
          <a:p>
            <a:endParaRPr/>
          </a:p>
          <a:p>
            <a:r>
              <a:t>1. The teller enters the deposit in the teller application on the branch PC.</a:t>
            </a:r>
          </a:p>
          <a:p>
            <a:r>
              <a:t>2. The request crosses the branch LAN to the branch router or firewall.</a:t>
            </a:r>
          </a:p>
          <a:p>
            <a:r>
              <a:t>3. It leaves the branch over the WAN: an MPLS circuit, an SD-WAN tunnel, or an IPsec VPN over the internet, sometimes through headquarters first.</a:t>
            </a:r>
          </a:p>
          <a:p>
            <a:r>
              <a:t>4. It arrives at the core processor's data center (or the bank's own, for an in-house core), over a VPN or private circuit to the processor.</a:t>
            </a:r>
          </a:p>
          <a:p>
            <a:r>
              <a:t>5. The core posts the transaction and sends back an approval and a new balance. The teller prints the receipt.</a:t>
            </a:r>
          </a:p>
          <a:p>
            <a:endParaRPr/>
          </a:p>
          <a:p>
            <a:r>
              <a:t>All of that happens in well under a second, hundreds of times a day per branch.</a:t>
            </a:r>
          </a:p>
          <a:p>
            <a:endParaRPr/>
          </a:p>
          <a:p>
            <a:r>
              <a:t>What breaks it: the branch circuit, the tunnel, the processor, or something quieter like an expired certificate or a DNS problem. Many teller systems have an offline or store-and-forward mode for exactly this reason. Ask whether the branch has used it and how the backlog was posted afterward.</a:t>
            </a:r>
          </a:p>
        </p:txBody>
      </p:sp>
      <p:sp>
        <p:nvSpPr>
          <p:cNvPr id="4" name="Slide Number Placeholder 3"/>
          <p:cNvSpPr>
            <a:spLocks noGrp="1"/>
          </p:cNvSpPr>
          <p:nvPr>
            <p:ph type="sldNum" sz="quarter" idx="5"/>
          </p:nvPr>
        </p:nvSpPr>
        <p:spPr/>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ways a bank has gotten its core, roughly in historical order. All four still exist today.</a:t>
            </a:r>
          </a:p>
          <a:p>
            <a:endParaRPr/>
          </a:p>
          <a:p>
            <a:r>
              <a:t>In-house: the bank buys or licenses the core and runs it on its own hardware with its own staff. Now rare at community banks.</a:t>
            </a:r>
          </a:p>
          <a:p>
            <a:endParaRPr/>
          </a:p>
          <a:p>
            <a:r>
              <a:t>Service bureau: the processor runs the core in its data center for many banks; the bank connects with a leased line and, historically, sent work in batches. This is the oldest form of outsourcing in banking.</a:t>
            </a:r>
          </a:p>
          <a:p>
            <a:endParaRPr/>
          </a:p>
          <a:p>
            <a:r>
              <a:t>Hosted (sometimes called 'remote' or 'outsourced in-house'): the bank has its own instance and often its own staff using it, but it runs in the vendor's data center. Connection: private circuit or VPN.</a:t>
            </a:r>
          </a:p>
          <a:p>
            <a:endParaRPr/>
          </a:p>
          <a:p>
            <a:r>
              <a:t>Cloud-delivered: the vendor runs the core in its own cloud or on a public cloud provider. The bank connects over the internet or a VPN, often through APIs.</a:t>
            </a:r>
          </a:p>
          <a:p>
            <a:endParaRPr/>
          </a:p>
          <a:p>
            <a:r>
              <a:t>What changed for the network: the connection to the processor became the most important circuit the bank has, and its backup became just as important.</a:t>
            </a:r>
          </a:p>
        </p:txBody>
      </p:sp>
      <p:sp>
        <p:nvSpPr>
          <p:cNvPr id="4" name="Slide Number Placeholder 3"/>
          <p:cNvSpPr>
            <a:spLocks noGrp="1"/>
          </p:cNvSpPr>
          <p:nvPr>
            <p:ph type="sldNum" sz="quarter" idx="5"/>
          </p:nvPr>
        </p:nvSpPr>
        <p:spPr/>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Traditional cores are monolithic: deposits, loans, customer records and the ledger are one big system, often decades old, and integrations happen through the vendor.</a:t>
            </a:r>
          </a:p>
          <a:p>
            <a:endParaRPr/>
          </a:p>
          <a:p>
            <a:r>
              <a:t>The newer approach breaks the core into components (deposits, lending, payments, ledger) that talk to each other and to everything else through APIs. Banks can add a new product, or a new fintech partner, without waiting for the core vendor. This is the same microservices idea from Wednesday's virtualization chapter.</a:t>
            </a:r>
          </a:p>
          <a:p>
            <a:endParaRPr/>
          </a:p>
          <a:p>
            <a:r>
              <a:t>Both the big three and newer cloud-native firms are building these. Few community banks have fully converted; more are running a modern component alongside the old core, for example a new digital deposit product on a separate ledger.</a:t>
            </a:r>
          </a:p>
          <a:p>
            <a:endParaRPr/>
          </a:p>
          <a:p>
            <a:r>
              <a:t>Network view, bottom row: more API traffic, more vendors in the path, keys and tokens to protect, and the question of which system holds the official record. That last one is Synapse from Wednesday.</a:t>
            </a:r>
          </a:p>
        </p:txBody>
      </p:sp>
      <p:sp>
        <p:nvSpPr>
          <p:cNvPr id="4" name="Slide Number Placeholder 3"/>
          <p:cNvSpPr>
            <a:spLocks noGrp="1"/>
          </p:cNvSpPr>
          <p:nvPr>
            <p:ph type="sldNum" sz="quarter" idx="5"/>
          </p:nvPr>
        </p:nvSpPr>
        <p:spPr/>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Customers want to connect their bank accounts to other apps: budgeting tools, payment apps, lenders checking income. For years that worked through screen scraping: the customer gave the app their online banking username and password, and the app logged in as them. The bank couldn't tell the app from the customer, and the app held the customer's password.</a:t>
            </a:r>
          </a:p>
          <a:p>
            <a:endParaRPr/>
          </a:p>
          <a:p>
            <a:r>
              <a:t>The better way is an API: the customer approves access at the bank, the app gets a limited token rather than the password, and the bank can see and revoke it. Industry groups such as FDX have built standard APIs for this.</a:t>
            </a:r>
          </a:p>
          <a:p>
            <a:endParaRPr/>
          </a:p>
          <a:p>
            <a:r>
              <a:t>Regulation (as of mid-2026): the CFPB finalized its Section 1033 'personal financial data rights' rule in October 2024, which would require banks to provide this data through APIs. In 2025 the CFPB said it would rewrite the rule, and in October 2025 a federal court blocked enforcement while it does. The original 2026 to 2030 deadlines are effectively suspended. Check for news before class; this is moving.</a:t>
            </a:r>
          </a:p>
          <a:p>
            <a:endParaRPr/>
          </a:p>
          <a:p>
            <a:r>
              <a:t>Network view: whichever way the rule lands, banks (or their digital banking vendors) are exposing APIs to the internet. Those need an API gateway, rate limits, monitoring, and a clear answer to who is calling.</a:t>
            </a:r>
          </a:p>
        </p:txBody>
      </p:sp>
      <p:sp>
        <p:nvSpPr>
          <p:cNvPr id="4" name="Slide Number Placeholder 3"/>
          <p:cNvSpPr>
            <a:spLocks noGrp="1"/>
          </p:cNvSpPr>
          <p:nvPr>
            <p:ph type="sldNum" sz="quarter" idx="5"/>
          </p:nvPr>
        </p:nvSpPr>
        <p:spPr/>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1 on the IT Profile, the very first thing the bank tells examiners about its technology: is each core application outsourced or hosted in-house? General ledger, loans, deposits, investments, trust. Most community banks check 'outsourced' for nearly everything.</a:t>
            </a:r>
          </a:p>
          <a:p>
            <a:endParaRPr/>
          </a:p>
          <a:p>
            <a:r>
              <a:t>The quote is a Management module baseline statement, and it's the network question hiding behind question 1: has the bank identified which critical business processes depend on external connectivity? If the core is outsourced, the answer is 'almost all of them'.</a:t>
            </a:r>
          </a:p>
          <a:p>
            <a:endParaRPr/>
          </a:p>
          <a:p>
            <a:r>
              <a:t>Ask the room: if the circuit to the core processor went down at 10 a.m., which processes stop, and does the bank's business continuity plan say what happens next?</a:t>
            </a:r>
          </a:p>
          <a:p>
            <a:endParaRPr/>
          </a:p>
          <a:p>
            <a:r>
              <a:t>The bottom row is where an 'outsourced' answer leads: vendor management (Wednesday), the network path and its backup (Tuesday), business continuity, and the data flow diagrams the next baseline statement asks for.</a:t>
            </a:r>
          </a:p>
        </p:txBody>
      </p:sp>
      <p:sp>
        <p:nvSpPr>
          <p:cNvPr id="4" name="Slide Number Placeholder 3"/>
          <p:cNvSpPr>
            <a:spLocks noGrp="1"/>
          </p:cNvSpPr>
          <p:nvPr>
            <p:ph type="sldNum" sz="quarter" idx="5"/>
          </p:nvPr>
        </p:nvSpPr>
        <p:spPr/>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Beyond the core, a bank runs on SaaS: Microsoft 365, digital banking, CRM, HR. Each is a vendor reached over the internet, and each holds bank data.</a:t>
            </a:r>
          </a:p>
        </p:txBody>
      </p:sp>
      <p:sp>
        <p:nvSpPr>
          <p:cNvPr id="4" name="Slide Number Placeholder 3"/>
          <p:cNvSpPr>
            <a:spLocks noGrp="1"/>
          </p:cNvSpPr>
          <p:nvPr>
            <p:ph type="sldNum" sz="quarter" idx="5"/>
          </p:nvPr>
        </p:nvSpPr>
        <p:spPr/>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Microsoft 365 is the SaaS almost every community bank runs. It replaced the email server, the file server and often the phone system, and it's where staff log in to everything else.</a:t>
            </a:r>
          </a:p>
          <a:p>
            <a:endParaRPr/>
          </a:p>
          <a:p>
            <a:r>
              <a:t>Four pieces: Exchange Online for email, SharePoint and OneDrive for files, Teams for chat, meetings and often calling, and Entra ID (formerly Azure AD) for identity. Entra ID is the important one: the same login opens email, files, Teams, and frequently other SaaS apps through single sign-on.</a:t>
            </a:r>
          </a:p>
          <a:p>
            <a:endParaRPr/>
          </a:p>
          <a:p>
            <a:r>
              <a:t>That makes identity the new perimeter. A stolen password plus a missing MFA prompt opens everything, from anywhere, without touching the bank's firewall.</a:t>
            </a:r>
          </a:p>
          <a:p>
            <a:endParaRPr/>
          </a:p>
          <a:p>
            <a:r>
              <a:t>Bottom row, what examiners should ask about: MFA and conditional access (rules like 'only from bank devices' or 'not from overseas'); tenant configuration, which is the bank's side of shared responsibility; what happens during a Microsoft outage; and backup. Microsoft keeps the service running, but recovering deleted or encrypted data beyond retention settings is the bank's job, which is why many banks add a third-party backup.</a:t>
            </a:r>
          </a:p>
        </p:txBody>
      </p:sp>
      <p:sp>
        <p:nvSpPr>
          <p:cNvPr id="4" name="Slide Number Placeholder 3"/>
          <p:cNvSpPr>
            <a:spLocks noGrp="1"/>
          </p:cNvSpPr>
          <p:nvPr>
            <p:ph type="sldNum" sz="quarter" idx="5"/>
          </p:nvPr>
        </p:nvSpPr>
        <p:spPr/>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Image Placeholder 14"/>
          <p:cNvSpPr>
            <a:spLocks noGrp="1" noRot="1" noChangeAspect="1"/>
          </p:cNvSpPr>
          <p:nvPr>
            <p:ph type="sldImg"/>
          </p:nvPr>
        </p:nvSpPr>
        <p:spPr/>
      </p:sp>
      <p:sp>
        <p:nvSpPr>
          <p:cNvPr id="1680387" name="Rectangle 3"/>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198</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7CAB1FC9-520E-4A05-817B-5A6C06A641FB}" type="datetime1">
              <a:rPr lang="en-US" smtClean="0"/>
              <a:t>10/15/26</a:t>
            </a:fld>
            <a:endParaRPr lang="en-US" sz="1200"/>
          </a:p>
        </p:txBody>
      </p:sp>
    </p:spTree>
    <p:extLst>
      <p:ext uri="{BB962C8B-B14F-4D97-AF65-F5344CB8AC3E}">
        <p14:creationId xmlns:p14="http://schemas.microsoft.com/office/powerpoint/2010/main" val="4051460860"/>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199</a:t>
            </a:fld>
            <a:endParaRPr lang="en-US"/>
          </a:p>
        </p:txBody>
      </p:sp>
    </p:spTree>
    <p:extLst>
      <p:ext uri="{BB962C8B-B14F-4D97-AF65-F5344CB8AC3E}">
        <p14:creationId xmlns:p14="http://schemas.microsoft.com/office/powerpoint/2010/main" val="694449452"/>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Image Placeholder 14"/>
          <p:cNvSpPr>
            <a:spLocks noGrp="1" noRot="1" noChangeAspect="1"/>
          </p:cNvSpPr>
          <p:nvPr>
            <p:ph type="sldImg"/>
          </p:nvPr>
        </p:nvSpPr>
        <p:spPr/>
      </p:sp>
      <p:sp>
        <p:nvSpPr>
          <p:cNvPr id="1682435" name="Rectangle 3"/>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200</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192B240B-425F-4EDF-A624-D14782349AE9}" type="datetime1">
              <a:rPr lang="en-US" smtClean="0"/>
              <a:t>10/15/26</a:t>
            </a:fld>
            <a:endParaRPr lang="en-US" sz="1200"/>
          </a:p>
        </p:txBody>
      </p:sp>
    </p:spTree>
    <p:extLst>
      <p:ext uri="{BB962C8B-B14F-4D97-AF65-F5344CB8AC3E}">
        <p14:creationId xmlns:p14="http://schemas.microsoft.com/office/powerpoint/2010/main" val="1773828507"/>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a customer logs in to their bank's website or app, they almost never reach a server the bank owns. Online and mobile banking at community banks is usually provided by a digital banking vendor, sometimes the core provider and sometimes a separate company, running in the vendor's data center or in a public cloud. The vendor connects back to the core over a VPN, private circuit, or API.</a:t>
            </a:r>
          </a:p>
          <a:p>
            <a:endParaRPr/>
          </a:p>
          <a:p>
            <a:r>
              <a:t>The bank's own network is often not in the path at all. The bank's brand is on the front door; the vendor runs the house.</a:t>
            </a:r>
          </a:p>
          <a:p>
            <a:endParaRPr/>
          </a:p>
          <a:p>
            <a:r>
              <a:t>IT Profile question 6 asks exactly this: consumer and commercial internet banking, mobile banking, mobile deposit and remote deposit capture, each outsourced or in-house. Expect 'outsourced' for nearly everything.</a:t>
            </a:r>
          </a:p>
          <a:p>
            <a:endParaRPr/>
          </a:p>
          <a:p>
            <a:r>
              <a:t>Questions: who runs DDoS protection for the front door? What authentication does the vendor provide (MFA, device recognition)? What's the uptime commitment, since customers expect 24x7? And how would a customer tell the real site from a lookalike? The FDIC's official digital sign, required on the login page by April 1, 2027 under the amended Part 328 rule, is one small piece of that answer.</a:t>
            </a:r>
          </a:p>
        </p:txBody>
      </p:sp>
      <p:sp>
        <p:nvSpPr>
          <p:cNvPr id="4" name="Slide Number Placeholder 3"/>
          <p:cNvSpPr>
            <a:spLocks noGrp="1"/>
          </p:cNvSpPr>
          <p:nvPr>
            <p:ph type="sldNum" sz="quarter" idx="5"/>
          </p:nvPr>
        </p:nvSpPr>
        <p:spPr/>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Beyond the core and Microsoft 365, a typical community bank subscribes to a long list of SaaS applications. Each holds bank data, each is a vendor, and each is reached over HTTPS from wherever staff happen to be.</a:t>
            </a:r>
          </a:p>
          <a:p>
            <a:endParaRPr/>
          </a:p>
          <a:p>
            <a:r>
              <a:t>Walk the grid and ask what data each one holds. HR and payroll systems hold employees' Social Security numbers and bank accounts. Loan origination holds full credit files. The board portal holds board minutes and exam findings. These are sensitive, and they're all outside the bank's network.</a:t>
            </a:r>
          </a:p>
          <a:p>
            <a:endParaRPr/>
          </a:p>
          <a:p>
            <a:r>
              <a:t>This is the approved list. Wednesday's shadow IT slide was about the apps nobody approved.</a:t>
            </a:r>
          </a:p>
          <a:p>
            <a:endParaRPr/>
          </a:p>
          <a:p>
            <a:r>
              <a:t>Network-side controls that help: single sign-on through Entra ID (one place to turn off a departing employee's access), MFA everywhere, and the vendor inventory. Examiner question: does the vendor inventory include all of these, and is each one tiered by the data it holds?</a:t>
            </a:r>
          </a:p>
        </p:txBody>
      </p:sp>
      <p:sp>
        <p:nvSpPr>
          <p:cNvPr id="4" name="Slide Number Placeholder 3"/>
          <p:cNvSpPr>
            <a:spLocks noGrp="1"/>
          </p:cNvSpPr>
          <p:nvPr>
            <p:ph type="sldNum" sz="quarter" idx="5"/>
          </p:nvPr>
        </p:nvSpPr>
        <p:spPr/>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DNS is the phone book every application depends on. This chapter goes deeper than Tuesday: how resolution works, who controls the bank's domain, the records that matter, email authentication, how DNS fails, and protective DNS. Ends with Exercise 4.</a:t>
            </a:r>
          </a:p>
        </p:txBody>
      </p:sp>
      <p:sp>
        <p:nvSpPr>
          <p:cNvPr id="4" name="Slide Number Placeholder 3"/>
          <p:cNvSpPr>
            <a:spLocks noGrp="1"/>
          </p:cNvSpPr>
          <p:nvPr>
            <p:ph type="sldNum" sz="quarter" idx="5"/>
          </p:nvPr>
        </p:nvSpPr>
        <p:spPr/>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happens when a teller's browser goes to online.examplebank.com.</a:t>
            </a:r>
          </a:p>
          <a:p>
            <a:endParaRPr/>
          </a:p>
          <a:p>
            <a:r>
              <a:t>1. The laptop asks its resolver. At a bank, that's usually the bank's own DNS server, the firewall, the ISP's resolver, or a protective DNS service.</a:t>
            </a:r>
          </a:p>
          <a:p>
            <a:r>
              <a:t>2. If the resolver doesn't have the answer cached, it asks a root server: who handles .com?</a:t>
            </a:r>
          </a:p>
          <a:p>
            <a:r>
              <a:t>3. The root points to the .com servers (run by Verisign).</a:t>
            </a:r>
          </a:p>
          <a:p>
            <a:r>
              <a:t>4. The resolver asks .com: who handles examplebank.com?</a:t>
            </a:r>
          </a:p>
          <a:p>
            <a:r>
              <a:t>5. The .com servers point to examplebank.com's authoritative name servers, wherever the bank (or its DNS host) put them.</a:t>
            </a:r>
          </a:p>
          <a:p>
            <a:r>
              <a:t>6. The resolver asks the authoritative server for online.examplebank.com.</a:t>
            </a:r>
          </a:p>
          <a:p>
            <a:r>
              <a:t>7. The answer comes back: an IP address, often the digital banking vendor's.</a:t>
            </a:r>
          </a:p>
          <a:p>
            <a:r>
              <a:t>8. The resolver caches it for the record's time-to-live (TTL) and hands it to the laptop.</a:t>
            </a:r>
          </a:p>
          <a:p>
            <a:endParaRPr/>
          </a:p>
          <a:p>
            <a:r>
              <a:t>Takeaways: the resolver sees every name everyone looks up (that's why protective DNS works), caching is why DNS changes take time to spread, and an attacker who controls any step can send the bank's staff or customers somewhere else.</a:t>
            </a:r>
          </a:p>
        </p:txBody>
      </p:sp>
      <p:sp>
        <p:nvSpPr>
          <p:cNvPr id="4" name="Slide Number Placeholder 3"/>
          <p:cNvSpPr>
            <a:spLocks noGrp="1"/>
          </p:cNvSpPr>
          <p:nvPr>
            <p:ph type="sldNum" sz="quarter" idx="5"/>
          </p:nvPr>
        </p:nvSpPr>
        <p:spPr/>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roles. The registry runs a top-level domain: Verisign runs .com; fTLD Registry Services runs .bank. The registrar is the company the bank pays to register its name (GoDaddy, Network Solutions, and many others, often through the bank's web or IT vendor). The registrant is the bank, the legal owner. A fourth, DNS hosting, is whoever runs the authoritative servers, and it may be a different company again.</a:t>
            </a:r>
          </a:p>
          <a:p>
            <a:endParaRPr/>
          </a:p>
          <a:p>
            <a:r>
              <a:t>Whoever controls the registrar account controls the domain: they can point the website and email anywhere. So the questions are about that account. Who has the login, is it in the bank's name, is MFA on, is auto-renew on, and is 'registry lock' enabled so changes need extra verification?</a:t>
            </a:r>
          </a:p>
          <a:p>
            <a:endParaRPr/>
          </a:p>
          <a:p>
            <a:r>
              <a:t>Real failure modes: a domain registered years ago by a former employee or a long-gone web designer on a personal email address; a domain that expires because the renewal card expired; a registrar account phished without MFA.</a:t>
            </a:r>
          </a:p>
          <a:p>
            <a:endParaRPr/>
          </a:p>
          <a:p>
            <a:r>
              <a:t>.bank is a restricted top-level domain only verified banks can register, with required security such as DNSSEC and email authentication. It makes lookalikes harder, but adoption among community banks is limited.</a:t>
            </a:r>
          </a:p>
        </p:txBody>
      </p:sp>
      <p:sp>
        <p:nvSpPr>
          <p:cNvPr id="4" name="Slide Number Placeholder 3"/>
          <p:cNvSpPr>
            <a:spLocks noGrp="1"/>
          </p:cNvSpPr>
          <p:nvPr>
            <p:ph type="sldNum" sz="quarter" idx="5"/>
          </p:nvPr>
        </p:nvSpPr>
        <p:spPr/>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record types cover almost everything an examiner will hear about.</a:t>
            </a:r>
          </a:p>
          <a:p>
            <a:endParaRPr/>
          </a:p>
          <a:p>
            <a:r>
              <a:t>A and AAAA: a name to an IPv4 or IPv6 address. www.examplebank.com points to the web server.</a:t>
            </a:r>
          </a:p>
          <a:p>
            <a:r>
              <a:t>MX: where the domain's email is delivered. For most banks that's Microsoft 365 or an email security gateway in front of it.</a:t>
            </a:r>
          </a:p>
          <a:p>
            <a:r>
              <a:t>CNAME: an alias. online.examplebank.com is often a CNAME pointing to the digital banking vendor's platform. If the bank later leaves that vendor and forgets the CNAME, an attacker who claims the old vendor address can take over the bank's subdomain. That's called a dangling record or subdomain takeover.</a:t>
            </a:r>
          </a:p>
          <a:p>
            <a:r>
              <a:t>TXT: free-form text, used for SPF, DKIM and DMARC (next slide) and for proving domain ownership to services like Microsoft.</a:t>
            </a:r>
          </a:p>
          <a:p>
            <a:r>
              <a:t>NS: which servers are authoritative for the domain, which is to say who's in charge.</a:t>
            </a:r>
          </a:p>
          <a:p>
            <a:endParaRPr/>
          </a:p>
          <a:p>
            <a:r>
              <a:t>Examiner angle: someone at the bank (or its vendor) should know what records exist and why, and should clean them up when vendors change.</a:t>
            </a:r>
          </a:p>
        </p:txBody>
      </p:sp>
      <p:sp>
        <p:nvSpPr>
          <p:cNvPr id="4" name="Slide Number Placeholder 3"/>
          <p:cNvSpPr>
            <a:spLocks noGrp="1"/>
          </p:cNvSpPr>
          <p:nvPr>
            <p:ph type="sldNum" sz="quarter" idx="5"/>
          </p:nvPr>
        </p:nvSpPr>
        <p:spPr/>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Email was built with no way to prove who sent a message. These three DNS-based standards add that proof for a domain.</a:t>
            </a:r>
          </a:p>
          <a:p>
            <a:endParaRPr dirty="0"/>
          </a:p>
          <a:p>
            <a:r>
              <a:rPr dirty="0"/>
              <a:t>SPF: a TXT record listing the servers allowed to send mail for the domain. The receiving server checks the sender's IP address against the list.</a:t>
            </a:r>
          </a:p>
          <a:p>
            <a:r>
              <a:rPr dirty="0"/>
              <a:t>DKIM: the sending server signs each message; the public key is published in DNS so receivers can verify the signature and know the message wasn't altered.</a:t>
            </a:r>
          </a:p>
          <a:p>
            <a:r>
              <a:rPr dirty="0"/>
              <a:t>DMARC: ties the two to the visible From address and tells receivers what to do when checks fail: nothing (p=none), send to spam (p=quarantine), or block (p=reject). It also sends the domain owner reports on who is sending mail as them.</a:t>
            </a:r>
          </a:p>
          <a:p>
            <a:endParaRPr dirty="0"/>
          </a:p>
          <a:p>
            <a:r>
              <a:rPr dirty="0"/>
              <a:t>The trap: p=none is monitoring, not protection. Plenty of banks have published DMARC at p=none and stopped there.</a:t>
            </a:r>
          </a:p>
          <a:p>
            <a:endParaRPr dirty="0"/>
          </a:p>
          <a:p>
            <a:r>
              <a:rPr dirty="0"/>
              <a:t>Large mailbox providers (Google, Yahoo, and Microsoft for </a:t>
            </a:r>
            <a:r>
              <a:rPr dirty="0" err="1"/>
              <a:t>Outlook.com</a:t>
            </a:r>
            <a:r>
              <a:rPr dirty="0"/>
              <a:t>) now require SPF, DKIM and DMARC from bulk senders, which pushed many organizations to finally set them up.</a:t>
            </a:r>
          </a:p>
          <a:p>
            <a:endParaRPr dirty="0"/>
          </a:p>
          <a:p>
            <a:r>
              <a:rPr dirty="0"/>
              <a:t>Tie to business email compromise: these protect the bank's own domain from being spoofed exactly. They do nothing against a lookalike domain, which is Exercise 4.</a:t>
            </a:r>
          </a:p>
        </p:txBody>
      </p:sp>
      <p:sp>
        <p:nvSpPr>
          <p:cNvPr id="4" name="Slide Number Placeholder 3"/>
          <p:cNvSpPr>
            <a:spLocks noGrp="1"/>
          </p:cNvSpPr>
          <p:nvPr>
            <p:ph type="sldNum" sz="quarter" idx="5"/>
          </p:nvPr>
        </p:nvSpPr>
        <p:spPr/>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ways DNS hurts a bank.</a:t>
            </a:r>
          </a:p>
          <a:p>
            <a:endParaRPr/>
          </a:p>
          <a:p>
            <a:r>
              <a:t>Outages: if the bank's DNS host or a major provider fails, names stop resolving and everything that depends on them stops, even though the servers are fine. The 2016 attack on DNS provider Dyn took down major websites across the U.S. east coast, and the October 2025 AWS outage (Wednesday) started with a DNS problem. Ask whether the bank's DNS hosting has redundancy.</a:t>
            </a:r>
          </a:p>
          <a:p>
            <a:endParaRPr/>
          </a:p>
          <a:p>
            <a:r>
              <a:t>Hijacking: an attacker changes where the bank's name points, by taking over the registrar account or the DNS host, and sends customers to a fake site or reads incoming email. State-backed campaigns have done this to government and company domains. Registry lock, MFA, DNSSEC and change alerts are the defenses.</a:t>
            </a:r>
          </a:p>
          <a:p>
            <a:endParaRPr/>
          </a:p>
          <a:p>
            <a:r>
              <a:t>Lookalike domains: the attacker doesn't touch the bank's DNS at all. They register examp1ebank.com or examplebank-secure.com and use it for phishing and business email compromise. Defenses: monitoring for newly registered lookalikes, external-sender warnings in email, protective DNS that blocks newly registered domains, and verification by phone for payment changes.</a:t>
            </a:r>
          </a:p>
          <a:p>
            <a:endParaRPr/>
          </a:p>
          <a:p>
            <a:r>
              <a:t>Facts here are from memory and widely reported; verify before quoting dates.</a:t>
            </a:r>
          </a:p>
        </p:txBody>
      </p:sp>
      <p:sp>
        <p:nvSpPr>
          <p:cNvPr id="4" name="Slide Number Placeholder 3"/>
          <p:cNvSpPr>
            <a:spLocks noGrp="1"/>
          </p:cNvSpPr>
          <p:nvPr>
            <p:ph type="sldNum" sz="quarter" idx="5"/>
          </p:nvPr>
        </p:nvSpPr>
        <p:spPr/>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Protective DNS is a resolver that checks each lookup against threat intelligence before answering. If the name is a known phishing site, malware command server, or a domain registered yesterday, it refuses to answer or sends the user to a block page, and it logs the attempt.</a:t>
            </a:r>
          </a:p>
          <a:p>
            <a:endParaRPr/>
          </a:p>
          <a:p>
            <a:r>
              <a:t>Why it's popular: cheap, simple, and it works for every device that uses it, including IoT devices that can't run security software. Malware that has to 'phone home' usually starts with a DNS lookup, so blocking that lookup can stop it. CISA runs a protective DNS service for federal agencies; for banks it typically comes from the firewall vendor, the MSSP (Wednesday), or services such as Cisco Umbrella, Cloudflare or Quad9.</a:t>
            </a:r>
          </a:p>
          <a:p>
            <a:endParaRPr/>
          </a:p>
          <a:p>
            <a:r>
              <a:t>The logs are as valuable as the blocking: they show which sites and SaaS services staff actually reach (shadow IT again) and help reconstruct an incident.</a:t>
            </a:r>
          </a:p>
          <a:p>
            <a:endParaRPr/>
          </a:p>
          <a:p>
            <a:r>
              <a:t>Limits: it only works if devices actually use it. Laptops at home, phones on cellular, and browsers using encrypted DNS (DNS over HTTPS) can bypass it unless the bank configures them not to. And it's one layer, not a firewall.</a:t>
            </a:r>
          </a:p>
        </p:txBody>
      </p:sp>
      <p:sp>
        <p:nvSpPr>
          <p:cNvPr id="4" name="Slide Number Placeholder 3"/>
          <p:cNvSpPr>
            <a:spLocks noGrp="1"/>
          </p:cNvSpPr>
          <p:nvPr>
            <p:ph type="sldNum" sz="quarter" idx="5"/>
          </p:nvPr>
        </p:nvSpPr>
        <p:spPr/>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Scenario, read it aloud: Monday, 9:12 a.m. The bank's CFO gets an email from the CEO asking her to wire $48,000 to a new title company today; the CEO is traveling and can't talk. The From line shows the CEO's name. The address is ceo@examp1ebank.com, with the digit 1 in place of the letter l. The real domain is examplebank.com.</a:t>
            </a:r>
          </a:p>
          <a:p>
            <a:endParaRPr/>
          </a:p>
          <a:p>
            <a:r>
              <a:t>Tables work through four questions:</a:t>
            </a:r>
          </a:p>
          <a:p>
            <a:r>
              <a:t>1. Would SPF, DKIM or DMARC on examplebank.com have stopped this message? (No. The attacker owns examp1ebank.com and can set up perfectly valid SPF, DKIM and DMARC for it. Email authentication protects the bank's real domain from exact spoofing, not lookalikes.)</a:t>
            </a:r>
          </a:p>
          <a:p>
            <a:r>
              <a:t>2. What could have flagged it? External-sender banner on email from outside the bank; protective DNS or the email gateway flagging a newly registered domain; lookalike-domain monitoring; display-name warnings.</a:t>
            </a:r>
          </a:p>
          <a:p>
            <a:r>
              <a:t>3. What process control would stop the wire even if the email got through? Call-back verification to a known number, dual control on wires, a rule against changing payment instructions by email.</a:t>
            </a:r>
          </a:p>
          <a:p>
            <a:r>
              <a:t>4. If the wire already went out, who does the bank call first, and in what order? Its own bank's wire room and the receiving bank (recall), law enforcement (FBI IC3), and the incident response plan, including whether this is a notification incident.</a:t>
            </a:r>
          </a:p>
          <a:p>
            <a:endParaRPr/>
          </a:p>
          <a:p>
            <a:r>
              <a:t>Timing: about 20 minutes at tables, 10 minutes report-out. Debrief point: the network controls narrow the odds; the process control is what actually saves the money.</a:t>
            </a:r>
          </a:p>
        </p:txBody>
      </p:sp>
      <p:sp>
        <p:nvSpPr>
          <p:cNvPr id="4" name="Slide Number Placeholder 3"/>
          <p:cNvSpPr>
            <a:spLocks noGrp="1"/>
          </p:cNvSpPr>
          <p:nvPr>
            <p:ph type="sldNum" sz="quarter" idx="5"/>
          </p:nvPr>
        </p:nvSpPr>
        <p:spPr/>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Voice is an application too. A short arc from PBX and key systems to VoIP, SIP, hosted voice and cloud contact centers, with the network and security considerations for each.</a:t>
            </a:r>
          </a:p>
        </p:txBody>
      </p:sp>
      <p:sp>
        <p:nvSpPr>
          <p:cNvPr id="4" name="Slide Number Placeholder 3"/>
          <p:cNvSpPr>
            <a:spLocks noGrp="1"/>
          </p:cNvSpPr>
          <p:nvPr>
            <p:ph type="sldNum" sz="quarter" idx="5"/>
          </p:nvPr>
        </p:nvSpPr>
        <p:spPr/>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1154051" name="Rectangle 9"/>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213</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38C6210C-0F8C-423B-83EA-91C05A5B13E8}" type="datetime1">
              <a:rPr lang="en-US" smtClean="0"/>
              <a:t>10/15/26</a:t>
            </a:fld>
            <a:endParaRPr lang="en-US" sz="1200"/>
          </a:p>
        </p:txBody>
      </p:sp>
    </p:spTree>
    <p:extLst>
      <p:ext uri="{BB962C8B-B14F-4D97-AF65-F5344CB8AC3E}">
        <p14:creationId xmlns:p14="http://schemas.microsoft.com/office/powerpoint/2010/main" val="2872659609"/>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377F13-34CC-6843-96E7-4A03CB8BBE85}" type="slidenum">
              <a:rPr lang="en-US" smtClean="0"/>
              <a:pPr/>
              <a:t>214</a:t>
            </a:fld>
            <a:endParaRPr lang="en-US"/>
          </a:p>
        </p:txBody>
      </p:sp>
    </p:spTree>
    <p:extLst>
      <p:ext uri="{BB962C8B-B14F-4D97-AF65-F5344CB8AC3E}">
        <p14:creationId xmlns:p14="http://schemas.microsoft.com/office/powerpoint/2010/main" val="1157756543"/>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151558" name="Rectangle 5"/>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215</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3EC985DE-DFE3-4D08-817B-6A53C485A6D1}" type="datetime1">
              <a:rPr lang="en-US" smtClean="0"/>
              <a:t>10/15/26</a:t>
            </a:fld>
            <a:endParaRPr lang="en-US" sz="1200"/>
          </a:p>
        </p:txBody>
      </p:sp>
    </p:spTree>
    <p:extLst>
      <p:ext uri="{BB962C8B-B14F-4D97-AF65-F5344CB8AC3E}">
        <p14:creationId xmlns:p14="http://schemas.microsoft.com/office/powerpoint/2010/main" val="3573286612"/>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Between a single phone line and a full PBX sits the key system, the classic small-office phone system and for decades the standard in bank branches.</a:t>
            </a:r>
          </a:p>
          <a:p>
            <a:endParaRPr/>
          </a:p>
          <a:p>
            <a:r>
              <a:t>A small cabinet (the key service unit) in the closet connects a handful of carrier lines to every desk phone. Each phone has a button for each line: anyone can pick up line 2, put it on hold, and someone else can take it from another desk. There's no switching intelligence to speak of, which is the difference from a PBX.</a:t>
            </a:r>
          </a:p>
          <a:p>
            <a:endParaRPr/>
          </a:p>
          <a:p>
            <a:r>
              <a:t>Where you'll still find them: older branches that never moved to VoIP. More important for examiners are the other copper lines in the same closet: alarm panels, fire panels, elevator phones, fax machines, and sometimes ATMs or point-of-sale backup dial lines.</a:t>
            </a:r>
          </a:p>
          <a:p>
            <a:endParaRPr/>
          </a:p>
          <a:p>
            <a:r>
              <a:t>Carriers are retiring copper phone lines (POTS) across the country, with regulators allowing it. When a branch's copper goes away, every one of those devices needs a new path, usually cellular or VoIP. Ask whether the bank has an inventory of its copper lines and what each one is for.</a:t>
            </a:r>
          </a:p>
        </p:txBody>
      </p:sp>
      <p:sp>
        <p:nvSpPr>
          <p:cNvPr id="4" name="Slide Number Placeholder 3"/>
          <p:cNvSpPr>
            <a:spLocks noGrp="1"/>
          </p:cNvSpPr>
          <p:nvPr>
            <p:ph type="sldNum" sz="quarter" idx="5"/>
          </p:nvPr>
        </p:nvSpPr>
        <p:spPr/>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Image Placeholder 16"/>
          <p:cNvSpPr>
            <a:spLocks noGrp="1" noRot="1" noChangeAspect="1"/>
          </p:cNvSpPr>
          <p:nvPr>
            <p:ph type="sldImg"/>
          </p:nvPr>
        </p:nvSpPr>
        <p:spPr/>
      </p:sp>
      <p:sp>
        <p:nvSpPr>
          <p:cNvPr id="1198085" name="Rectangle 5"/>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217</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0C598F6F-BD35-44E7-B3BD-0FE67BC828F8}" type="datetime1">
              <a:rPr lang="en-US" smtClean="0"/>
              <a:t>10/15/26</a:t>
            </a:fld>
            <a:endParaRPr lang="en-US" sz="1200"/>
          </a:p>
        </p:txBody>
      </p:sp>
    </p:spTree>
    <p:extLst>
      <p:ext uri="{BB962C8B-B14F-4D97-AF65-F5344CB8AC3E}">
        <p14:creationId xmlns:p14="http://schemas.microsoft.com/office/powerpoint/2010/main" val="3502148480"/>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1199107" name="Rectangle 3"/>
          <p:cNvSpPr>
            <a:spLocks noGrp="1" noChangeArrowheads="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219</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1FAB1FF5-248C-4368-9E6D-028A49ED2C67}" type="datetime1">
              <a:rPr lang="en-US" smtClean="0"/>
              <a:t>10/15/26</a:t>
            </a:fld>
            <a:endParaRPr lang="en-US" sz="1200"/>
          </a:p>
        </p:txBody>
      </p:sp>
    </p:spTree>
    <p:extLst>
      <p:ext uri="{BB962C8B-B14F-4D97-AF65-F5344CB8AC3E}">
        <p14:creationId xmlns:p14="http://schemas.microsoft.com/office/powerpoint/2010/main" val="1070446708"/>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220</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59219522-2723-45AA-8616-BF607520E56A}" type="datetime1">
              <a:rPr lang="en-US" smtClean="0"/>
              <a:t>10/15/26</a:t>
            </a:fld>
            <a:endParaRPr lang="en-US" sz="1200"/>
          </a:p>
        </p:txBody>
      </p:sp>
    </p:spTree>
    <p:extLst>
      <p:ext uri="{BB962C8B-B14F-4D97-AF65-F5344CB8AC3E}">
        <p14:creationId xmlns:p14="http://schemas.microsoft.com/office/powerpoint/2010/main" val="1946703490"/>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3"/>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221</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59219522-2723-45AA-8616-BF607520E56A}" type="datetime1">
              <a:rPr lang="en-US" smtClean="0"/>
              <a:t>10/15/26</a:t>
            </a:fld>
            <a:endParaRPr lang="en-US" sz="1200"/>
          </a:p>
        </p:txBody>
      </p:sp>
    </p:spTree>
    <p:extLst>
      <p:ext uri="{BB962C8B-B14F-4D97-AF65-F5344CB8AC3E}">
        <p14:creationId xmlns:p14="http://schemas.microsoft.com/office/powerpoint/2010/main" val="3132457553"/>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Bank call centers, even small ones, have moved to cloud contact center platforms (often called CCaaS): Five9, NICE CXone, Genesys Cloud, Amazon Connect and others, or contact-center features built into the bank's hosted phone system.</a:t>
            </a:r>
          </a:p>
          <a:p>
            <a:endParaRPr/>
          </a:p>
          <a:p>
            <a:r>
              <a:t>How it works: the customer's call reaches the platform in the cloud, which handles the phone menu (IVR), queues, and recording, and routes the call to an agent anywhere with an internet connection: a branch, the operations center, or home. The platform connects to the CRM and core so the agent sees the customer's record when the call arrives.</a:t>
            </a:r>
          </a:p>
          <a:p>
            <a:endParaRPr/>
          </a:p>
          <a:p>
            <a:r>
              <a:t>Network considerations: voice quality now depends on the internet path to every agent (latency and jitter from Tuesday). Call recordings contain customer information and live in the vendor's cloud. The IVR often authenticates callers and can move money, so it's a fraud target. And AI is arriving fast here: AI agents answering calls, and on the other side, cloned voices impersonating customers.</a:t>
            </a:r>
          </a:p>
          <a:p>
            <a:endParaRPr/>
          </a:p>
          <a:p>
            <a:r>
              <a:t>Questions: where do recordings live and who can reach them? How are callers authenticated? What happens if the platform is down?</a:t>
            </a:r>
          </a:p>
        </p:txBody>
      </p:sp>
      <p:sp>
        <p:nvSpPr>
          <p:cNvPr id="4" name="Slide Number Placeholder 3"/>
          <p:cNvSpPr>
            <a:spLocks noGrp="1"/>
          </p:cNvSpPr>
          <p:nvPr>
            <p:ph type="sldNum" sz="quarter" idx="5"/>
          </p:nvPr>
        </p:nvSpPr>
        <p:spPr/>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Cameras, door controls, HVAC, ATMs: devices on the bank network that IT often doesn't manage. Short chapter; the key point is inventory and segmentation.</a:t>
            </a:r>
          </a:p>
        </p:txBody>
      </p:sp>
      <p:sp>
        <p:nvSpPr>
          <p:cNvPr id="4" name="Slide Number Placeholder 3"/>
          <p:cNvSpPr>
            <a:spLocks noGrp="1"/>
          </p:cNvSpPr>
          <p:nvPr>
            <p:ph type="sldNum" sz="quarter" idx="5"/>
          </p:nvPr>
        </p:nvSpPr>
        <p:spPr/>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Introduction to Telecommunications and Networking</a:t>
            </a:r>
          </a:p>
        </p:txBody>
      </p:sp>
      <p:sp>
        <p:nvSpPr>
          <p:cNvPr id="6" name="Slide Number Placeholder 5"/>
          <p:cNvSpPr>
            <a:spLocks noGrp="1"/>
          </p:cNvSpPr>
          <p:nvPr>
            <p:ph type="sldNum" sz="quarter" idx="12"/>
          </p:nvPr>
        </p:nvSpPr>
        <p:spPr/>
        <p:txBody>
          <a:bodyPr/>
          <a:lstStyle/>
          <a:p>
            <a:fld id="{A2D9B7C9-1F58-4F07-8711-AA0F3022BC7D}" type="slidenum">
              <a:rPr lang="en-US" smtClean="0"/>
              <a:pPr/>
              <a:t>226</a:t>
            </a:fld>
            <a:endParaRPr lang="en-US" sz="1200"/>
          </a:p>
        </p:txBody>
      </p:sp>
      <p:sp>
        <p:nvSpPr>
          <p:cNvPr id="5" name="Date Placeholder 4"/>
          <p:cNvSpPr>
            <a:spLocks noGrp="1"/>
          </p:cNvSpPr>
          <p:nvPr>
            <p:ph type="dt" idx="13"/>
          </p:nvPr>
        </p:nvSpPr>
        <p:spPr/>
        <p:txBody>
          <a:bodyPr/>
          <a:lstStyle/>
          <a:p>
            <a:endParaRPr lang="en-US" sz="1200"/>
          </a:p>
          <a:p>
            <a:fld id="{F3614C1C-5388-4F9B-B120-FCF27F721D92}" type="datetime1">
              <a:rPr lang="en-US" smtClean="0"/>
              <a:t>10/15/26</a:t>
            </a:fld>
            <a:endParaRPr lang="en-US" sz="1200"/>
          </a:p>
        </p:txBody>
      </p:sp>
    </p:spTree>
    <p:extLst>
      <p:ext uri="{BB962C8B-B14F-4D97-AF65-F5344CB8AC3E}">
        <p14:creationId xmlns:p14="http://schemas.microsoft.com/office/powerpoint/2010/main" val="22448563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branch is full of network-connected devices that aren't computers: cameras and the video recorder, the alarm panel, door and vault access controls, the HVAC and building controls, the ATM and video teller machines, digital signage, and printers.</a:t>
            </a:r>
          </a:p>
          <a:p>
            <a:endParaRPr/>
          </a:p>
          <a:p>
            <a:r>
              <a:t>The pattern that matters: many of these are installed and managed by someone other than IT. The alarm company, the HVAC contractor, the ATM vendor and the security integrator each may have remote access to their device, and some of those devices sit on the bank's network.</a:t>
            </a:r>
          </a:p>
          <a:p>
            <a:endParaRPr/>
          </a:p>
          <a:p>
            <a:r>
              <a:t>The classic case: in 2013 attackers got into Target's network using credentials stolen from its HVAC contractor, then moved to the payment systems. The lesson isn't HVAC; it's that a vendor-managed device on a flat network is a path to everything else.</a:t>
            </a:r>
          </a:p>
          <a:p>
            <a:endParaRPr/>
          </a:p>
          <a:p>
            <a:r>
              <a:t>Four controls on the bottom row. Cards from the reused slides that follow go deeper.</a:t>
            </a:r>
          </a:p>
        </p:txBody>
      </p:sp>
      <p:sp>
        <p:nvSpPr>
          <p:cNvPr id="4" name="Slide Number Placeholder 3"/>
          <p:cNvSpPr>
            <a:spLocks noGrp="1"/>
          </p:cNvSpPr>
          <p:nvPr>
            <p:ph type="sldNum" sz="quarter" idx="5"/>
          </p:nvPr>
        </p:nvSpPr>
        <p:spPr/>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Introduction to Telecommunications and Networking</a:t>
            </a:r>
          </a:p>
        </p:txBody>
      </p:sp>
      <p:sp>
        <p:nvSpPr>
          <p:cNvPr id="6" name="Slide Number Placeholder 5"/>
          <p:cNvSpPr>
            <a:spLocks noGrp="1"/>
          </p:cNvSpPr>
          <p:nvPr>
            <p:ph type="sldNum" sz="quarter" idx="12"/>
          </p:nvPr>
        </p:nvSpPr>
        <p:spPr/>
        <p:txBody>
          <a:bodyPr/>
          <a:lstStyle/>
          <a:p>
            <a:fld id="{A2D9B7C9-1F58-4F07-8711-AA0F3022BC7D}" type="slidenum">
              <a:rPr lang="en-US" smtClean="0"/>
              <a:pPr/>
              <a:t>228</a:t>
            </a:fld>
            <a:endParaRPr lang="en-US" sz="1200"/>
          </a:p>
        </p:txBody>
      </p:sp>
      <p:sp>
        <p:nvSpPr>
          <p:cNvPr id="5" name="Date Placeholder 4"/>
          <p:cNvSpPr>
            <a:spLocks noGrp="1"/>
          </p:cNvSpPr>
          <p:nvPr>
            <p:ph type="dt" idx="13"/>
          </p:nvPr>
        </p:nvSpPr>
        <p:spPr/>
        <p:txBody>
          <a:bodyPr/>
          <a:lstStyle/>
          <a:p>
            <a:endParaRPr lang="en-US" sz="1200"/>
          </a:p>
          <a:p>
            <a:fld id="{06B2613A-B020-4642-93D8-E3EC487F6985}" type="datetime1">
              <a:rPr lang="en-US" smtClean="0"/>
              <a:t>10/15/26</a:t>
            </a:fld>
            <a:endParaRPr lang="en-US" sz="1200"/>
          </a:p>
        </p:txBody>
      </p:sp>
    </p:spTree>
    <p:extLst>
      <p:ext uri="{BB962C8B-B14F-4D97-AF65-F5344CB8AC3E}">
        <p14:creationId xmlns:p14="http://schemas.microsoft.com/office/powerpoint/2010/main" val="2869772119"/>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229</a:t>
            </a:fld>
            <a:endParaRPr lang="en-US"/>
          </a:p>
        </p:txBody>
      </p:sp>
    </p:spTree>
    <p:extLst>
      <p:ext uri="{BB962C8B-B14F-4D97-AF65-F5344CB8AC3E}">
        <p14:creationId xmlns:p14="http://schemas.microsoft.com/office/powerpoint/2010/main" val="936724452"/>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Pulls the week together from the risk side: recap the network considerations from Monday and Tuesday, then ransomware, supply chain attacks, zero trust, baseline frameworks, and incident response, each framed around how it moves across or depends on the network.</a:t>
            </a:r>
          </a:p>
        </p:txBody>
      </p:sp>
      <p:sp>
        <p:nvSpPr>
          <p:cNvPr id="4" name="Slide Number Placeholder 3"/>
          <p:cNvSpPr>
            <a:spLocks noGrp="1"/>
          </p:cNvSpPr>
          <p:nvPr>
            <p:ph type="sldNum" sz="quarter" idx="5"/>
          </p:nvPr>
        </p:nvSpPr>
        <p:spPr/>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231</a:t>
            </a:fld>
            <a:endParaRPr lang="en-US"/>
          </a:p>
        </p:txBody>
      </p:sp>
    </p:spTree>
    <p:extLst>
      <p:ext uri="{BB962C8B-B14F-4D97-AF65-F5344CB8AC3E}">
        <p14:creationId xmlns:p14="http://schemas.microsoft.com/office/powerpoint/2010/main" val="1602560384"/>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en-US"/>
              <a:t>Introduction to Telecommunications and Networking</a:t>
            </a:r>
          </a:p>
        </p:txBody>
      </p:sp>
      <p:sp>
        <p:nvSpPr>
          <p:cNvPr id="6" name="Slide Number Placeholder 5"/>
          <p:cNvSpPr>
            <a:spLocks noGrp="1"/>
          </p:cNvSpPr>
          <p:nvPr>
            <p:ph type="sldNum" sz="quarter" idx="12"/>
          </p:nvPr>
        </p:nvSpPr>
        <p:spPr/>
        <p:txBody>
          <a:bodyPr/>
          <a:lstStyle/>
          <a:p>
            <a:fld id="{A2D9B7C9-1F58-4F07-8711-AA0F3022BC7D}" type="slidenum">
              <a:rPr lang="en-US" smtClean="0"/>
              <a:pPr/>
              <a:t>232</a:t>
            </a:fld>
            <a:endParaRPr lang="en-US" sz="1200"/>
          </a:p>
        </p:txBody>
      </p:sp>
      <p:sp>
        <p:nvSpPr>
          <p:cNvPr id="5" name="Date Placeholder 4"/>
          <p:cNvSpPr>
            <a:spLocks noGrp="1"/>
          </p:cNvSpPr>
          <p:nvPr>
            <p:ph type="dt" idx="13"/>
          </p:nvPr>
        </p:nvSpPr>
        <p:spPr/>
        <p:txBody>
          <a:bodyPr/>
          <a:lstStyle/>
          <a:p>
            <a:endParaRPr lang="en-US" sz="1200"/>
          </a:p>
          <a:p>
            <a:fld id="{EC2998E1-FF9A-4F16-9CB2-D7421B9953F2}" type="datetime1">
              <a:rPr lang="en-US" smtClean="0"/>
              <a:t>10/15/26</a:t>
            </a:fld>
            <a:endParaRPr lang="en-US" sz="1200"/>
          </a:p>
        </p:txBody>
      </p:sp>
    </p:spTree>
    <p:extLst>
      <p:ext uri="{BB962C8B-B14F-4D97-AF65-F5344CB8AC3E}">
        <p14:creationId xmlns:p14="http://schemas.microsoft.com/office/powerpoint/2010/main" val="2339900485"/>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Ransomware is rarely one click and done. It's a sequence, and nearly every step depends on the network.</a:t>
            </a:r>
          </a:p>
          <a:p>
            <a:endParaRPr/>
          </a:p>
          <a:p>
            <a:r>
              <a:t>1. Way in: a phishing email, stolen VPN or remote-access credentials without MFA, an unpatched firewall or VPN appliance, or a vendor's remote access.</a:t>
            </a:r>
          </a:p>
          <a:p>
            <a:r>
              <a:t>2. Foothold: one compromised PC or account.</a:t>
            </a:r>
          </a:p>
          <a:p>
            <a:r>
              <a:t>3. Spread: the attacker moves laterally, often over days or weeks, collecting administrator credentials and mapping the network. A flat network makes this easy.</a:t>
            </a:r>
          </a:p>
          <a:p>
            <a:r>
              <a:t>4. Steal: data is copied out over the internet before anything is encrypted, so the attacker can threaten to publish it (double extortion).</a:t>
            </a:r>
          </a:p>
          <a:p>
            <a:r>
              <a:t>5. Encrypt: servers, file shares and, if they can reach them, backups.</a:t>
            </a:r>
          </a:p>
          <a:p>
            <a:r>
              <a:t>6. Extort: pay to decrypt, pay to not publish.</a:t>
            </a:r>
          </a:p>
          <a:p>
            <a:endParaRPr/>
          </a:p>
          <a:p>
            <a:r>
              <a:t>Under each step is the control that breaks the chain. Point out that most of them are network controls we've covered this week: MFA on remote access (Tuesday), segmentation (Monday), egress monitoring and protective DNS (today), offline or immutable backups (Tuesday's backup discussion). Defenders get six chances; the attacker has to succeed at all six.</a:t>
            </a:r>
          </a:p>
        </p:txBody>
      </p:sp>
      <p:sp>
        <p:nvSpPr>
          <p:cNvPr id="4" name="Slide Number Placeholder 3"/>
          <p:cNvSpPr>
            <a:spLocks noGrp="1"/>
          </p:cNvSpPr>
          <p:nvPr>
            <p:ph type="sldNum" sz="quarter" idx="5"/>
          </p:nvPr>
        </p:nvSpPr>
        <p:spPr/>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supply chain attack compromises something the bank trusts, a vendor's software or service, and rides that trust into many customers at once.</a:t>
            </a:r>
          </a:p>
          <a:p>
            <a:endParaRPr/>
          </a:p>
          <a:p>
            <a:r>
              <a:t>SolarWinds, 2020: attackers inserted a backdoor into updates for Orion, network monitoring software. About 18,000 customers installed the tainted update, and the attackers then chose a smaller set of high-value targets, including U.S. government agencies. Monitoring tools are a prize because they have broad network access by design.</a:t>
            </a:r>
          </a:p>
          <a:p>
            <a:endParaRPr/>
          </a:p>
          <a:p>
            <a:r>
              <a:t>Kaseya, 2021: covered Wednesday. Ransomware pushed through MSPs' remote-management software.</a:t>
            </a:r>
          </a:p>
          <a:p>
            <a:endParaRPr/>
          </a:p>
          <a:p>
            <a:r>
              <a:t>MOVEit, 2023: a flaw in a widely used file-transfer product let the Cl0p group steal data from thousands of organizations, many of them banks' vendors rather than banks. Customers learned they were affected through their vendors' breach notices.</a:t>
            </a:r>
          </a:p>
          <a:p>
            <a:endParaRPr/>
          </a:p>
          <a:p>
            <a:r>
              <a:t>What helps, right column: know which vendor software has broad network access, give it only the access it needs, watch its outbound traffic, and make sure vendor contracts require prompt incident notice (Wednesday). These figures are from memory; verify before quoting.</a:t>
            </a:r>
          </a:p>
        </p:txBody>
      </p:sp>
      <p:sp>
        <p:nvSpPr>
          <p:cNvPr id="4" name="Slide Number Placeholder 3"/>
          <p:cNvSpPr>
            <a:spLocks noGrp="1"/>
          </p:cNvSpPr>
          <p:nvPr>
            <p:ph type="sldNum" sz="quarter" idx="5"/>
          </p:nvPr>
        </p:nvSpPr>
        <p:spPr/>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traditional model is a castle and moat: a strong firewall at the edge, and anything inside the network is trusted. This week has shown why that breaks down: staff work from home, applications live in the cloud and at vendors, vendors have remote access, and ransomware spreads freely once it's inside.</a:t>
            </a:r>
          </a:p>
          <a:p>
            <a:endParaRPr/>
          </a:p>
          <a:p>
            <a:r>
              <a:t>Zero trust flips it: being on the network earns nothing. Every request is checked every time: who is the user (strong authentication), is the device healthy and managed, is this access allowed by policy, with the least privilege needed, and keep checking during the session.</a:t>
            </a:r>
          </a:p>
          <a:p>
            <a:endParaRPr/>
          </a:p>
          <a:p>
            <a:r>
              <a:t>It's a direction, not a product, whatever vendors say. NIST SP 800-207 (2020) is the standard reference, and CISA publishes a Zero Trust Maturity Model.</a:t>
            </a:r>
          </a:p>
          <a:p>
            <a:endParaRPr/>
          </a:p>
          <a:p>
            <a:r>
              <a:t>For a community bank, practical zero-trust steps look familiar: MFA everywhere, conditional access in Microsoft 365, segmentation, replacing the always-on VPN with access to specific applications (ZTNA), and tight control of vendor access. Examiners shouldn't expect a bank to 'have zero trust'; they can ask which of these steps it has taken.</a:t>
            </a:r>
          </a:p>
        </p:txBody>
      </p:sp>
      <p:sp>
        <p:nvSpPr>
          <p:cNvPr id="4" name="Slide Number Placeholder 3"/>
          <p:cNvSpPr>
            <a:spLocks noGrp="1"/>
          </p:cNvSpPr>
          <p:nvPr>
            <p:ph type="sldNum" sz="quarter" idx="5"/>
          </p:nvPr>
        </p:nvSpPr>
        <p:spPr/>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Reused slide, with one addition: the NIST CSF is doing heavy lifting these days.</a:t>
            </a:r>
          </a:p>
          <a:p>
            <a:endParaRPr/>
          </a:p>
          <a:p>
            <a:r>
              <a:t>The FFIEC retired its Cybersecurity Assessment Tool (CAT) at the end of August 2025 and pointed institutions to other frameworks. Many banks moved to the NIST Cybersecurity Framework, now version 2.0 (February 2024), which added a sixth function, Govern, to Identify, Protect, Detect, Respond and Recover. Others use the CRI Profile, which is built on the CSF and tailored to financial services. Examiners are asking what each bank replaced the CAT with.</a:t>
            </a:r>
          </a:p>
        </p:txBody>
      </p:sp>
      <p:sp>
        <p:nvSpPr>
          <p:cNvPr id="4" name="Header Placeholder 3"/>
          <p:cNvSpPr>
            <a:spLocks noGrp="1"/>
          </p:cNvSpPr>
          <p:nvPr>
            <p:ph type="hdr" sz="quarter" idx="10"/>
          </p:nvPr>
        </p:nvSpPr>
        <p:spPr/>
        <p:txBody>
          <a:bodyPr/>
          <a:lstStyle/>
          <a:p>
            <a:r>
              <a:rPr lang="en-US"/>
              <a:t>Introduction to Telecommunications and Networking</a:t>
            </a:r>
          </a:p>
        </p:txBody>
      </p:sp>
      <p:sp>
        <p:nvSpPr>
          <p:cNvPr id="6" name="Slide Number Placeholder 5"/>
          <p:cNvSpPr>
            <a:spLocks noGrp="1"/>
          </p:cNvSpPr>
          <p:nvPr>
            <p:ph type="sldNum" sz="quarter" idx="12"/>
          </p:nvPr>
        </p:nvSpPr>
        <p:spPr/>
        <p:txBody>
          <a:bodyPr/>
          <a:lstStyle/>
          <a:p>
            <a:fld id="{A2D9B7C9-1F58-4F07-8711-AA0F3022BC7D}" type="slidenum">
              <a:rPr lang="en-US" smtClean="0"/>
              <a:pPr/>
              <a:t>240</a:t>
            </a:fld>
            <a:endParaRPr lang="en-US" sz="1200"/>
          </a:p>
        </p:txBody>
      </p:sp>
      <p:sp>
        <p:nvSpPr>
          <p:cNvPr id="5" name="Date Placeholder 4"/>
          <p:cNvSpPr>
            <a:spLocks noGrp="1"/>
          </p:cNvSpPr>
          <p:nvPr>
            <p:ph type="dt" idx="13"/>
          </p:nvPr>
        </p:nvSpPr>
        <p:spPr/>
        <p:txBody>
          <a:bodyPr/>
          <a:lstStyle/>
          <a:p>
            <a:endParaRPr lang="en-US" sz="1200"/>
          </a:p>
          <a:p>
            <a:fld id="{240C8D3F-11A1-4813-9110-ABDE8A0DC208}" type="datetime1">
              <a:rPr lang="en-US" smtClean="0"/>
              <a:t>10/15/26</a:t>
            </a:fld>
            <a:endParaRPr lang="en-US" sz="1200"/>
          </a:p>
        </p:txBody>
      </p:sp>
    </p:spTree>
    <p:extLst>
      <p:ext uri="{BB962C8B-B14F-4D97-AF65-F5344CB8AC3E}">
        <p14:creationId xmlns:p14="http://schemas.microsoft.com/office/powerpoint/2010/main" val="143482724"/>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standard lifecycle, from NIST SP 800-61: prepare; detect and analyze; contain, eradicate and recover; and learn from it. Revision 3 (April 2024) reorganized it around the CSF 2.0 functions, but the phases are still the right way to talk it through.</a:t>
            </a:r>
          </a:p>
          <a:p>
            <a:endParaRPr/>
          </a:p>
          <a:p>
            <a:r>
              <a:t>Under each phase is what the network contributes. Prepare: logging turned on and kept (firewall, VPN, DNS, Microsoft 365). Detect: alerts from the MSSP, EDR and protective DNS. Contain: isolate a segment, disable an account, block at the firewall, cut a vendor's access. Recover: rebuild and restore from backups that weren't reachable from the infected network. Learn: what would have caught it sooner.</a:t>
            </a:r>
          </a:p>
          <a:p>
            <a:endParaRPr/>
          </a:p>
          <a:p>
            <a:r>
              <a:t>Notification clocks, right panel: under the 2021 computer-security incident notification rule, a bank notifies its primary regulator within 36 hours of determining a notification incident occurred, and a bank service provider must notify its bank customers as soon as possible when an incident disrupts covered services for four or more hours. Separately: SARs, customer notice under the GLBA response-program guidance, law enforcement, and the cyber insurer, who often must be called before outside responders are hired.</a:t>
            </a:r>
          </a:p>
          <a:p>
            <a:endParaRPr/>
          </a:p>
          <a:p>
            <a:r>
              <a:t>Practical point for examiners: if the logs weren't kept, nobody can say what the attacker touched, and that drives how many customers must be notified.</a:t>
            </a:r>
          </a:p>
        </p:txBody>
      </p:sp>
      <p:sp>
        <p:nvSpPr>
          <p:cNvPr id="4" name="Slide Number Placeholder 3"/>
          <p:cNvSpPr>
            <a:spLocks noGrp="1"/>
          </p:cNvSpPr>
          <p:nvPr>
            <p:ph type="sldNum" sz="quarter" idx="5"/>
          </p:nvPr>
        </p:nvSpPr>
        <p:spPr/>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Incident response is Support and Delivery procedure 13 in the September 2023 InTREx. The left side lists some of what examiners evaluate in the plan: defined responsibilities, escalation including to senior management and the Board, when to notify law enforcement, regulators and customers (with an explicit reference to the incident notification rule), incidents at third-party service providers, recovery of critical systems, and periodic testing.</a:t>
            </a:r>
          </a:p>
          <a:p>
            <a:endParaRPr/>
          </a:p>
          <a:p>
            <a:r>
              <a:t>The quote is a baseline statement from the same procedure, and it's the network piece: tools and processes to detect, alert and trigger the plan. For most community banks those tools are the MSSP's monitoring, endpoint detection and log alerts, which loops back to Wednesday's network monitoring tie-in.</a:t>
            </a:r>
          </a:p>
          <a:p>
            <a:endParaRPr/>
          </a:p>
          <a:p>
            <a:r>
              <a:t>Ask the room: when the MSSP calls at 2 a.m., who at the bank answers, and does the plan say what they do next? And has the plan been tested with the MSSP and the core processor on the call, not just internally?</a:t>
            </a:r>
          </a:p>
        </p:txBody>
      </p:sp>
      <p:sp>
        <p:nvSpPr>
          <p:cNvPr id="4" name="Slide Number Placeholder 3"/>
          <p:cNvSpPr>
            <a:spLocks noGrp="1"/>
          </p:cNvSpPr>
          <p:nvPr>
            <p:ph type="sldNum" sz="quarter" idx="5"/>
          </p:nvPr>
        </p:nvSpPr>
        <p:spPr/>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Thursday: recap the day, take questions, preview Friday.</a:t>
            </a:r>
          </a:p>
        </p:txBody>
      </p:sp>
      <p:sp>
        <p:nvSpPr>
          <p:cNvPr id="4" name="Slide Number Placeholder 3"/>
          <p:cNvSpPr>
            <a:spLocks noGrp="1"/>
          </p:cNvSpPr>
          <p:nvPr>
            <p:ph type="sldNum" sz="quarter" idx="5"/>
          </p:nvPr>
        </p:nvSpPr>
        <p:spPr/>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recap of the day, one line per chapter, then questions.</a:t>
            </a:r>
          </a:p>
          <a:p>
            <a:endParaRPr/>
          </a:p>
          <a:p>
            <a:r>
              <a:t>Applications: everything on the network exists to carry them, and most of a community bank's applications now live somewhere other than the bank.</a:t>
            </a:r>
          </a:p>
          <a:p>
            <a:r>
              <a:t>Core banking: the system of record, usually outsourced, and the circuit to it is the bank's most important connection.</a:t>
            </a:r>
          </a:p>
          <a:p>
            <a:r>
              <a:t>SaaS: Microsoft 365, digital banking and a long tail of apps, each a vendor holding bank data.</a:t>
            </a:r>
          </a:p>
          <a:p>
            <a:r>
              <a:t>DNS: the phone book every application depends on, and a target in its own right.</a:t>
            </a:r>
          </a:p>
          <a:p>
            <a:r>
              <a:t>Voice: from copper to cloud; watch the copper lines that alarms and other devices still use.</a:t>
            </a:r>
          </a:p>
          <a:p>
            <a:r>
              <a:t>IoT: devices other people manage, on the bank's network.</a:t>
            </a:r>
          </a:p>
          <a:p>
            <a:r>
              <a:t>Risk landscape: ransomware, supply chain and zero trust all come back to segmentation, MFA, vendor access and logging.</a:t>
            </a:r>
          </a:p>
          <a:p>
            <a:endParaRPr/>
          </a:p>
          <a:p>
            <a:r>
              <a:t>Friday preview: where networking is headed, quantum and what it means for encryption, fintech and M&amp;A, then the capstone on the diagrams.</a:t>
            </a:r>
          </a:p>
        </p:txBody>
      </p:sp>
      <p:sp>
        <p:nvSpPr>
          <p:cNvPr id="4" name="Slide Number Placeholder 3"/>
          <p:cNvSpPr>
            <a:spLocks noGrp="1"/>
          </p:cNvSpPr>
          <p:nvPr>
            <p:ph type="sldNum" sz="quarter" idx="5"/>
          </p:nvPr>
        </p:nvSpPr>
        <p:spPr/>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Friday morning: where networking is going, one natural AI touchpoint, and the quantum story, which ties back to Wednesday's cryptography.</a:t>
            </a:r>
          </a:p>
        </p:txBody>
      </p:sp>
      <p:sp>
        <p:nvSpPr>
          <p:cNvPr id="4" name="Slide Number Placeholder 3"/>
          <p:cNvSpPr>
            <a:spLocks noGrp="1"/>
          </p:cNvSpPr>
          <p:nvPr>
            <p:ph type="sldNum" sz="quarter" idx="5"/>
          </p:nvPr>
        </p:nvSpPr>
        <p:spPr/>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trends worth knowing, each with what it means for a community bank.</a:t>
            </a:r>
          </a:p>
          <a:p>
            <a:endParaRPr/>
          </a:p>
          <a:p>
            <a:r>
              <a:t>SASE and SSE: security (firewall, web filtering, ZTNA) delivered from the cloud instead of a box in each branch. Branches and home workers connect to the nearest point of the service. For examiners: the firewall may now be a vendor's service, so it's vendor management too.</a:t>
            </a:r>
          </a:p>
          <a:p>
            <a:endParaRPr/>
          </a:p>
          <a:p>
            <a:r>
              <a:t>Wi-Fi 7 and 6 GHz: much faster wireless; the 6 GHz band requires WPA3, which quietly retires older, weaker security.</a:t>
            </a:r>
          </a:p>
          <a:p>
            <a:endParaRPr/>
          </a:p>
          <a:p>
            <a:r>
              <a:t>Cellular and 5G as a primary connection: cellular has gone from backup to primary for some small branches and ATMs (fixed wireless, Tuesday).</a:t>
            </a:r>
          </a:p>
          <a:p>
            <a:endParaRPr/>
          </a:p>
          <a:p>
            <a:r>
              <a:t>Satellite: low-orbit service like Starlink (Tuesday) as a real backup path, and a primary one in rural areas.</a:t>
            </a:r>
          </a:p>
          <a:p>
            <a:endParaRPr/>
          </a:p>
          <a:p>
            <a:r>
              <a:t>IPv6: slowly becoming unavoidable; mobile networks and the big clouds already run on it, and a bank's security tools need to see it.</a:t>
            </a:r>
          </a:p>
          <a:p>
            <a:endParaRPr/>
          </a:p>
          <a:p>
            <a:r>
              <a:t>Automation: networks configured by software and templates rather than by hand, which is faster and more consistent but means a bad change spreads everywhere at once.</a:t>
            </a:r>
          </a:p>
        </p:txBody>
      </p:sp>
      <p:sp>
        <p:nvSpPr>
          <p:cNvPr id="4" name="Slide Number Placeholder 3"/>
          <p:cNvSpPr>
            <a:spLocks noGrp="1"/>
          </p:cNvSpPr>
          <p:nvPr>
            <p:ph type="sldNum" sz="quarter" idx="5"/>
          </p:nvPr>
        </p:nvSpPr>
        <p:spPr/>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touches the network in three ways, and this is the one place this week we stop to look at it directly.</a:t>
            </a:r>
          </a:p>
          <a:p>
            <a:endParaRPr/>
          </a:p>
          <a:p>
            <a:r>
              <a:t>Running the network: network and security vendors are building AI into their products (often called AIOps): spotting anomalies, finding the cause of an outage, suggesting or making configuration changes, and answering plain-language questions about the network. Useful, and it raises the question of who approved a change the AI made.</a:t>
            </a:r>
          </a:p>
          <a:p>
            <a:endParaRPr/>
          </a:p>
          <a:p>
            <a:r>
              <a:t>Traffic on the network: staff use AI chatbots and AI features inside SaaS tools (Microsoft 365 Copilot and similar). All of it is HTTPS to cloud providers. The risk is customer information pasted into tools the bank hasn't approved: shadow AI, the newest form of Wednesday's shadow IT.</a:t>
            </a:r>
          </a:p>
          <a:p>
            <a:endParaRPr/>
          </a:p>
          <a:p>
            <a:r>
              <a:t>Risk: attackers use AI to write convincing phishing in any language and to clone voices and video for wire-fraud calls (Exercise 4 with a phone call). Defenders use it too: most EDR and MSSP services now rely on machine learning to spot attacks.</a:t>
            </a:r>
          </a:p>
          <a:p>
            <a:endParaRPr/>
          </a:p>
          <a:p>
            <a:r>
              <a:t>Examiner questions, bottom: does the bank have an AI use policy, does it know which AI tools staff use, and do its vendors use AI on the bank's data?</a:t>
            </a:r>
          </a:p>
        </p:txBody>
      </p:sp>
      <p:sp>
        <p:nvSpPr>
          <p:cNvPr id="4" name="Slide Number Placeholder 3"/>
          <p:cNvSpPr>
            <a:spLocks noGrp="1"/>
          </p:cNvSpPr>
          <p:nvPr>
            <p:ph type="sldNum" sz="quarter" idx="5"/>
          </p:nvPr>
        </p:nvSpPr>
        <p:spPr/>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Callback to Wednesday's cryptography: public-key algorithms like RSA and elliptic-curve cryptography protect key exchange, digital signatures and certificates in TLS, VPNs, and code signing. Their security rests on math problems (factoring, discrete logarithms) that ordinary computers can't solve in any useful time.</a:t>
            </a:r>
          </a:p>
          <a:p>
            <a:endParaRPr/>
          </a:p>
          <a:p>
            <a:r>
              <a:t>A large enough quantum computer running Shor's algorithm could solve them. That would break RSA and ECC outright. Symmetric encryption like AES and hashes like SHA-256 are only weakened (Grover's algorithm roughly halves their effective strength), so AES-256 stays safe.</a:t>
            </a:r>
          </a:p>
          <a:p>
            <a:endParaRPr/>
          </a:p>
          <a:p>
            <a:r>
              <a:t>When? Nobody knows. Today's quantum computers are far too small and error-prone. Estimates for a cryptographically relevant machine range from about a decade to never; U.S. government planning uses 2030 to 2035 as the window to finish moving off RSA and ECC.</a:t>
            </a:r>
          </a:p>
          <a:p>
            <a:endParaRPr/>
          </a:p>
          <a:p>
            <a:r>
              <a:t>The table is the slide's takeaway: the problem is public-key crypto, which is everywhere on the network.</a:t>
            </a:r>
          </a:p>
        </p:txBody>
      </p:sp>
      <p:sp>
        <p:nvSpPr>
          <p:cNvPr id="4" name="Slide Number Placeholder 3"/>
          <p:cNvSpPr>
            <a:spLocks noGrp="1"/>
          </p:cNvSpPr>
          <p:nvPr>
            <p:ph type="sldNum" sz="quarter" idx="5"/>
          </p:nvPr>
        </p:nvSpPr>
        <p:spPr/>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the quantum problem matters today, even if the computer is a decade or more away.</a:t>
            </a:r>
          </a:p>
          <a:p>
            <a:endParaRPr/>
          </a:p>
          <a:p>
            <a:r>
              <a:t>An attacker who can record encrypted traffic today, crossing the internet, a VPN, or a vendor link, can store it and decrypt it once a quantum computer exists. Intelligence services are widely assumed to be doing exactly this.</a:t>
            </a:r>
          </a:p>
          <a:p>
            <a:endParaRPr/>
          </a:p>
          <a:p>
            <a:r>
              <a:t>So the question isn't 'when will quantum computers arrive?' but 'how long must this data stay secret?' A card number that expires in three years doesn't matter much. A Social Security number, a mortgage file, or a customer's financial history stays sensitive for decades.</a:t>
            </a:r>
          </a:p>
          <a:p>
            <a:endParaRPr/>
          </a:p>
          <a:p>
            <a:r>
              <a:t>Bottom: Mosca's rule of thumb, from researcher Michele Mosca. If how long the data must stay secret plus how long it takes to migrate is longer than the time until a quantum computer arrives, you're already late. Migration across a bank and all its vendors takes years.</a:t>
            </a:r>
          </a:p>
          <a:p>
            <a:endParaRPr/>
          </a:p>
          <a:p>
            <a:r>
              <a:t>Network point: traffic leaving the bank over the internet is the traffic that can be harvested, which is why VPNs and TLS to vendors are first in line for post-quantum protection.</a:t>
            </a:r>
          </a:p>
        </p:txBody>
      </p:sp>
      <p:sp>
        <p:nvSpPr>
          <p:cNvPr id="4" name="Slide Number Placeholder 3"/>
          <p:cNvSpPr>
            <a:spLocks noGrp="1"/>
          </p:cNvSpPr>
          <p:nvPr>
            <p:ph type="sldNum" sz="quarter" idx="5"/>
          </p:nvPr>
        </p:nvSpPr>
        <p:spPr/>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replacements exist. In August 2024 NIST published the first three post-quantum standards: FIPS 203 (ML-KEM, for key exchange), FIPS 204 (ML-DSA, signatures) and FIPS 205 (SLH-DSA, a backup signature scheme). More are coming.</a:t>
            </a:r>
          </a:p>
          <a:p>
            <a:endParaRPr/>
          </a:p>
          <a:p>
            <a:r>
              <a:t>The timeline: NIST's draft transition guidance, IR 8547 (November 2024, still a draft as of mid-2026), would deprecate RSA and elliptic-curve algorithms after 2030 and disallow them after 2035. Federal agencies already plan to that 2035 date.</a:t>
            </a:r>
          </a:p>
          <a:p>
            <a:endParaRPr/>
          </a:p>
          <a:p>
            <a:r>
              <a:t>It's already happening quietly: major browsers and cloud providers use hybrid post-quantum key exchange by default, so a lot of a bank's web traffic to big providers is already protected without anyone doing anything.</a:t>
            </a:r>
          </a:p>
          <a:p>
            <a:endParaRPr/>
          </a:p>
          <a:p>
            <a:r>
              <a:t>What banks will need to do, bottom row: build a cryptographic inventory (where is RSA and ECC used: VPNs, TLS, certificates, HSMs, payment systems, vendor links), ask vendors for their post-quantum roadmaps, favor crypto agility (systems that can swap algorithms without being replaced), and start with the long-lived data and the links that cross the internet.</a:t>
            </a:r>
          </a:p>
          <a:p>
            <a:endParaRPr/>
          </a:p>
          <a:p>
            <a:r>
              <a:t>Examiner question: does the bank, or its core provider, have a cryptographic inventory?</a:t>
            </a:r>
          </a:p>
        </p:txBody>
      </p:sp>
      <p:sp>
        <p:nvSpPr>
          <p:cNvPr id="4" name="Slide Number Placeholder 3"/>
          <p:cNvSpPr>
            <a:spLocks noGrp="1"/>
          </p:cNvSpPr>
          <p:nvPr>
            <p:ph type="sldNum" sz="quarter" idx="5"/>
          </p:nvPr>
        </p:nvSpPr>
        <p:spPr/>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short reused slides: fintech, and mergers and acquisitions. When companies come together, their networks come together too.</a:t>
            </a:r>
          </a:p>
        </p:txBody>
      </p:sp>
      <p:sp>
        <p:nvSpPr>
          <p:cNvPr id="4" name="Slide Number Placeholder 3"/>
          <p:cNvSpPr>
            <a:spLocks noGrp="1"/>
          </p:cNvSpPr>
          <p:nvPr>
            <p:ph type="sldNum" sz="quarter" idx="5"/>
          </p:nvPr>
        </p:nvSpPr>
        <p:spPr/>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252</a:t>
            </a:fld>
            <a:endParaRPr lang="en-US"/>
          </a:p>
        </p:txBody>
      </p:sp>
    </p:spTree>
    <p:extLst>
      <p:ext uri="{BB962C8B-B14F-4D97-AF65-F5344CB8AC3E}">
        <p14:creationId xmlns:p14="http://schemas.microsoft.com/office/powerpoint/2010/main" val="1113423000"/>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22E1E8-19DD-9846-964E-7494B0E7F513}" type="slidenum">
              <a:rPr lang="en-US" smtClean="0"/>
              <a:t>253</a:t>
            </a:fld>
            <a:endParaRPr lang="en-US"/>
          </a:p>
        </p:txBody>
      </p:sp>
    </p:spTree>
    <p:extLst>
      <p:ext uri="{BB962C8B-B14F-4D97-AF65-F5344CB8AC3E}">
        <p14:creationId xmlns:p14="http://schemas.microsoft.com/office/powerpoint/2010/main" val="1369521126"/>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Exercise 5, the capstone on the diagram each table has annotated all week, then the course review and close.</a:t>
            </a:r>
          </a:p>
        </p:txBody>
      </p:sp>
      <p:sp>
        <p:nvSpPr>
          <p:cNvPr id="4" name="Slide Number Placeholder 3"/>
          <p:cNvSpPr>
            <a:spLocks noGrp="1"/>
          </p:cNvSpPr>
          <p:nvPr>
            <p:ph type="sldNum" sz="quarter" idx="5"/>
          </p:nvPr>
        </p:nvSpPr>
        <p:spPr/>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capstone. Each table gets back the diagram it has annotated all week: LAN segments from Monday, WAN from Tuesday, vendors and third-party connections from Wednesday.</a:t>
            </a:r>
          </a:p>
          <a:p>
            <a:endParaRPr/>
          </a:p>
          <a:p>
            <a:r>
              <a:t>1. Walk the diagram layer by layer: LAN and Wi-Fi, WAN and internet, cloud, vendors, and the applications and DNS from Thursday. Add anything new you'd mark now.</a:t>
            </a:r>
          </a:p>
          <a:p>
            <a:r>
              <a:t>2. As a table, agree on the three biggest risks across the whole bank. Not three per layer: three total.</a:t>
            </a:r>
          </a:p>
          <a:p>
            <a:r>
              <a:t>3. For each risk, write the question you'd ask management, and where InTREx would take you.</a:t>
            </a:r>
          </a:p>
          <a:p>
            <a:r>
              <a:t>4. Report out: three minutes per table.</a:t>
            </a:r>
          </a:p>
          <a:p>
            <a:endParaRPr/>
          </a:p>
          <a:p>
            <a:r>
              <a:t>Timing: about 35 minutes (20 at tables, 15 report-out), which fits Friday's tight schedule.</a:t>
            </a:r>
          </a:p>
          <a:p>
            <a:endParaRPr/>
          </a:p>
          <a:p>
            <a:r>
              <a:t>Debrief: compare the tables' risks. Common answers will be flat networks, vendor remote access, a single circuit to the core, and unknown SaaS. Point out that none of those required knowing how a router works. They required knowing where the connections are and asking who controls them, which is the course in one sentence.</a:t>
            </a:r>
          </a:p>
        </p:txBody>
      </p:sp>
      <p:sp>
        <p:nvSpPr>
          <p:cNvPr id="4" name="Slide Number Placeholder 3"/>
          <p:cNvSpPr>
            <a:spLocks noGrp="1"/>
          </p:cNvSpPr>
          <p:nvPr>
            <p:ph type="sldNum" sz="quarter" idx="5"/>
          </p:nvPr>
        </p:nvSpPr>
        <p:spPr/>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Placeholder for the report-out: drop in a photo of one table's annotated diagram (or each table's in turn) and walk the room through it.</a:t>
            </a:r>
          </a:p>
          <a:p>
            <a:endParaRPr/>
          </a:p>
          <a:p>
            <a:r>
              <a:t>The legend on the right is the layers the tables annotated through the week, so the room can follow whose marks are whose.</a:t>
            </a:r>
          </a:p>
          <a:p>
            <a:endParaRPr/>
          </a:p>
          <a:p>
            <a:r>
              <a:t>Good closing question while it's up: what would you ask first if this were the bank you're examining on Monday?</a:t>
            </a:r>
          </a:p>
        </p:txBody>
      </p:sp>
      <p:sp>
        <p:nvSpPr>
          <p:cNvPr id="4" name="Slide Number Placeholder 3"/>
          <p:cNvSpPr>
            <a:spLocks noGrp="1"/>
          </p:cNvSpPr>
          <p:nvPr>
            <p:ph type="sldNum" sz="quarter" idx="5"/>
          </p:nvPr>
        </p:nvSpPr>
        <p:spPr/>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last walk along the anchor scenario we've used all week.</a:t>
            </a:r>
          </a:p>
          <a:p>
            <a:endParaRPr/>
          </a:p>
          <a:p>
            <a:r>
              <a:t>Monday, the branch: LANs, Ethernet and Wi-Fi, how a small branch network fits together, and segmentation.</a:t>
            </a:r>
          </a:p>
          <a:p>
            <a:r>
              <a:t>Tuesday, out of the building: WANs, the internet, SD-WAN, backup paths, remote access, and real-time payments.</a:t>
            </a:r>
          </a:p>
          <a:p>
            <a:r>
              <a:t>Wednesday, the data center, the cloud and vendors: cryptography, virtualization, the big three clouds, outsourcing and vendor risk.</a:t>
            </a:r>
          </a:p>
          <a:p>
            <a:r>
              <a:t>Thursday, the applications: core, SaaS, DNS, voice, IoT, and the risk landscape.</a:t>
            </a:r>
          </a:p>
          <a:p>
            <a:r>
              <a:t>Friday, what's next.</a:t>
            </a:r>
          </a:p>
          <a:p>
            <a:endParaRPr/>
          </a:p>
          <a:p>
            <a:r>
              <a:t>The five questions at the bottom are the course in portable form: they work on any network diagram at any bank. Encourage students to write them on the inside cover of their exam binder.</a:t>
            </a:r>
          </a:p>
          <a:p>
            <a:endParaRPr/>
          </a:p>
          <a:p>
            <a:r>
              <a:t>Close with the line from Monday's themes slide: the network used to support the bank. Now it is the bank.</a:t>
            </a:r>
          </a:p>
        </p:txBody>
      </p:sp>
      <p:sp>
        <p:nvSpPr>
          <p:cNvPr id="4" name="Slide Number Placeholder 3"/>
          <p:cNvSpPr>
            <a:spLocks noGrp="1"/>
          </p:cNvSpPr>
          <p:nvPr>
            <p:ph type="sldNum" sz="quarter" idx="5"/>
          </p:nvPr>
        </p:nvSpPr>
        <p:spPr/>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Image Placeholder 12"/>
          <p:cNvSpPr>
            <a:spLocks noGrp="1" noRot="1" noChangeAspect="1"/>
          </p:cNvSpPr>
          <p:nvPr>
            <p:ph type="sldImg"/>
          </p:nvPr>
        </p:nvSpPr>
        <p:spPr/>
      </p:sp>
      <p:sp>
        <p:nvSpPr>
          <p:cNvPr id="14" name="Notes Placeholder 13"/>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A2D9B7C9-1F58-4F07-8711-AA0F3022BC7D}" type="slidenum">
              <a:rPr lang="en-US" smtClean="0"/>
              <a:pPr/>
              <a:t>258</a:t>
            </a:fld>
            <a:endParaRPr lang="en-US" sz="1200"/>
          </a:p>
        </p:txBody>
      </p:sp>
      <p:sp>
        <p:nvSpPr>
          <p:cNvPr id="6" name="Header Placeholder 5"/>
          <p:cNvSpPr>
            <a:spLocks noGrp="1"/>
          </p:cNvSpPr>
          <p:nvPr>
            <p:ph type="hdr" sz="quarter" idx="12"/>
          </p:nvPr>
        </p:nvSpPr>
        <p:spPr/>
        <p:txBody>
          <a:bodyPr/>
          <a:lstStyle/>
          <a:p>
            <a:r>
              <a:rPr lang="en-US"/>
              <a:t>Introduction to Telecommunications and Networking</a:t>
            </a:r>
          </a:p>
        </p:txBody>
      </p:sp>
      <p:sp>
        <p:nvSpPr>
          <p:cNvPr id="2" name="Date Placeholder 1"/>
          <p:cNvSpPr>
            <a:spLocks noGrp="1"/>
          </p:cNvSpPr>
          <p:nvPr>
            <p:ph type="dt" idx="13"/>
          </p:nvPr>
        </p:nvSpPr>
        <p:spPr/>
        <p:txBody>
          <a:bodyPr/>
          <a:lstStyle/>
          <a:p>
            <a:endParaRPr lang="en-US" sz="1200"/>
          </a:p>
          <a:p>
            <a:fld id="{A9668420-1D61-48E2-908A-5C9858245B54}" type="datetime1">
              <a:rPr lang="en-US" smtClean="0"/>
              <a:t>10/15/26</a:t>
            </a:fld>
            <a:endParaRPr lang="en-US" sz="1200"/>
          </a:p>
        </p:txBody>
      </p:sp>
    </p:spTree>
    <p:extLst>
      <p:ext uri="{BB962C8B-B14F-4D97-AF65-F5344CB8AC3E}">
        <p14:creationId xmlns:p14="http://schemas.microsoft.com/office/powerpoint/2010/main" val="2138677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r>
              <a:rPr lang="en-US"/>
              <a:t>© Hill Associates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459444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4439" y="204786"/>
            <a:ext cx="15773400" cy="1988345"/>
          </a:xfrm>
        </p:spPr>
        <p:txBody>
          <a:bodyPr/>
          <a:lstStyle>
            <a:lvl1pPr>
              <a:defRPr b="1" i="0">
                <a:latin typeface="Helvetica Neue Condensed" panose="02000503000000020004" pitchFamily="2" charset="0"/>
                <a:ea typeface="Helvetica Neue Condensed" panose="02000503000000020004" pitchFamily="2" charset="0"/>
                <a:cs typeface="Helvetica Neue Condensed" panose="02000503000000020004" pitchFamily="2" charset="0"/>
              </a:defRPr>
            </a:lvl1pPr>
          </a:lstStyle>
          <a:p>
            <a:r>
              <a:rPr lang="en-US"/>
              <a:t>Click to edit Master title style</a:t>
            </a:r>
          </a:p>
        </p:txBody>
      </p:sp>
      <p:sp>
        <p:nvSpPr>
          <p:cNvPr id="3" name="Content Placeholder 2"/>
          <p:cNvSpPr>
            <a:spLocks noGrp="1"/>
          </p:cNvSpPr>
          <p:nvPr>
            <p:ph idx="1"/>
          </p:nvPr>
        </p:nvSpPr>
        <p:spPr>
          <a:xfrm>
            <a:off x="1257300" y="2193131"/>
            <a:ext cx="15773400" cy="6967198"/>
          </a:xfrm>
        </p:spPr>
        <p:txBody>
          <a:bodyPr/>
          <a:lstStyle>
            <a:lvl1pPr>
              <a:defRPr b="0" i="0">
                <a:latin typeface="Helvetica Neue Medium" panose="02000503000000020004" pitchFamily="2" charset="0"/>
                <a:ea typeface="Helvetica Neue Medium" panose="02000503000000020004" pitchFamily="2" charset="0"/>
                <a:cs typeface="Helvetica Neue Medium" panose="02000503000000020004" pitchFamily="2" charset="0"/>
              </a:defRPr>
            </a:lvl1pPr>
            <a:lvl2pPr>
              <a:defRPr b="0" i="0">
                <a:latin typeface="Helvetica Neue Medium" panose="02000503000000020004" pitchFamily="2" charset="0"/>
                <a:ea typeface="Helvetica Neue Medium" panose="02000503000000020004" pitchFamily="2" charset="0"/>
                <a:cs typeface="Helvetica Neue Medium" panose="02000503000000020004" pitchFamily="2" charset="0"/>
              </a:defRPr>
            </a:lvl2pPr>
            <a:lvl3pPr>
              <a:defRPr b="0" i="0">
                <a:latin typeface="Helvetica Neue Medium" panose="02000503000000020004" pitchFamily="2" charset="0"/>
                <a:ea typeface="Helvetica Neue Medium" panose="02000503000000020004" pitchFamily="2" charset="0"/>
                <a:cs typeface="Helvetica Neue Medium" panose="02000503000000020004" pitchFamily="2" charset="0"/>
              </a:defRPr>
            </a:lvl3pPr>
            <a:lvl4pPr>
              <a:defRPr b="0" i="0">
                <a:latin typeface="Helvetica Neue Medium" panose="02000503000000020004" pitchFamily="2" charset="0"/>
                <a:ea typeface="Helvetica Neue Medium" panose="02000503000000020004" pitchFamily="2" charset="0"/>
                <a:cs typeface="Helvetica Neue Medium" panose="02000503000000020004" pitchFamily="2" charset="0"/>
              </a:defRPr>
            </a:lvl4pPr>
            <a:lvl5pPr>
              <a:defRPr b="0" i="0">
                <a:latin typeface="Helvetica Neue Medium" panose="02000503000000020004" pitchFamily="2" charset="0"/>
                <a:ea typeface="Helvetica Neue Medium" panose="02000503000000020004" pitchFamily="2" charset="0"/>
                <a:cs typeface="Helvetica Neue Medium" panose="02000503000000020004"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rgbClr val="FF0000"/>
                </a:solidFill>
              </a:defRPr>
            </a:lvl1pPr>
          </a:lstStyle>
          <a:p>
            <a:r>
              <a:rPr lang="en-US"/>
              <a:t>© Hill Associates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03887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 Hill Associates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38776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 Hill Associates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44536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 Hill Associates</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80810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 Hill Associates</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39130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 Hill Associates</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23378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 Hill Associates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5929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 Hill Associates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46562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 Hill Associates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828828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 Hill Associates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05518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4_Full Blank">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37D48983-1E68-4266-AEF9-EDACD0A43757}"/>
              </a:ext>
            </a:extLst>
          </p:cNvPr>
          <p:cNvSpPr>
            <a:spLocks noGrp="1"/>
          </p:cNvSpPr>
          <p:nvPr>
            <p:ph type="pic" sz="quarter" idx="10"/>
          </p:nvPr>
        </p:nvSpPr>
        <p:spPr>
          <a:xfrm>
            <a:off x="0" y="0"/>
            <a:ext cx="18288000" cy="10287000"/>
          </a:xfrm>
          <a:custGeom>
            <a:avLst/>
            <a:gdLst>
              <a:gd name="connsiteX0" fmla="*/ 0 w 4409114"/>
              <a:gd name="connsiteY0" fmla="*/ 0 h 2126547"/>
              <a:gd name="connsiteX1" fmla="*/ 4409114 w 4409114"/>
              <a:gd name="connsiteY1" fmla="*/ 0 h 2126547"/>
              <a:gd name="connsiteX2" fmla="*/ 4409114 w 4409114"/>
              <a:gd name="connsiteY2" fmla="*/ 2126547 h 2126547"/>
              <a:gd name="connsiteX3" fmla="*/ 0 w 4409114"/>
              <a:gd name="connsiteY3" fmla="*/ 2126547 h 2126547"/>
            </a:gdLst>
            <a:ahLst/>
            <a:cxnLst>
              <a:cxn ang="0">
                <a:pos x="connsiteX0" y="connsiteY0"/>
              </a:cxn>
              <a:cxn ang="0">
                <a:pos x="connsiteX1" y="connsiteY1"/>
              </a:cxn>
              <a:cxn ang="0">
                <a:pos x="connsiteX2" y="connsiteY2"/>
              </a:cxn>
              <a:cxn ang="0">
                <a:pos x="connsiteX3" y="connsiteY3"/>
              </a:cxn>
            </a:cxnLst>
            <a:rect l="l" t="t" r="r" b="b"/>
            <a:pathLst>
              <a:path w="4409114" h="2126547">
                <a:moveTo>
                  <a:pt x="0" y="0"/>
                </a:moveTo>
                <a:lnTo>
                  <a:pt x="4409114" y="0"/>
                </a:lnTo>
                <a:lnTo>
                  <a:pt x="4409114" y="2126547"/>
                </a:lnTo>
                <a:lnTo>
                  <a:pt x="0" y="2126547"/>
                </a:lnTo>
                <a:close/>
              </a:path>
            </a:pathLst>
          </a:custGeom>
        </p:spPr>
        <p:txBody>
          <a:bodyPr wrap="square">
            <a:noAutofit/>
          </a:bodyPr>
          <a:lstStyle/>
          <a:p>
            <a:endParaRPr lang="en-US"/>
          </a:p>
        </p:txBody>
      </p:sp>
    </p:spTree>
    <p:extLst>
      <p:ext uri="{BB962C8B-B14F-4D97-AF65-F5344CB8AC3E}">
        <p14:creationId xmlns:p14="http://schemas.microsoft.com/office/powerpoint/2010/main" val="25616266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2_Full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5863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452628"/>
            <a:ext cx="14484096" cy="1028700"/>
          </a:xfrm>
        </p:spPr>
        <p:txBody>
          <a:bodyPr/>
          <a:lstStyle/>
          <a:p>
            <a:r>
              <a:rPr lang="en-US"/>
              <a:t>Click to edit Master title style</a:t>
            </a:r>
          </a:p>
        </p:txBody>
      </p:sp>
      <p:sp>
        <p:nvSpPr>
          <p:cNvPr id="3" name="Content Placeholder 2"/>
          <p:cNvSpPr>
            <a:spLocks noGrp="1"/>
          </p:cNvSpPr>
          <p:nvPr>
            <p:ph sz="half" idx="1"/>
          </p:nvPr>
        </p:nvSpPr>
        <p:spPr>
          <a:xfrm>
            <a:off x="958851" y="1857375"/>
            <a:ext cx="16719550" cy="37076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58851" y="5793583"/>
            <a:ext cx="16719550" cy="3709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4"/>
          <p:cNvSpPr txBox="1">
            <a:spLocks/>
          </p:cNvSpPr>
          <p:nvPr userDrawn="1"/>
        </p:nvSpPr>
        <p:spPr bwMode="auto">
          <a:xfrm>
            <a:off x="25400" y="9829800"/>
            <a:ext cx="1498600" cy="600075"/>
          </a:xfrm>
          <a:prstGeom prst="rect">
            <a:avLst/>
          </a:prstGeom>
          <a:noFill/>
          <a:ln w="9525">
            <a:noFill/>
            <a:miter lim="800000"/>
            <a:headEnd/>
            <a:tailEnd/>
          </a:ln>
          <a:effectLst/>
        </p:spPr>
        <p:txBody>
          <a:bodyPr vert="horz" wrap="square" lIns="137160" tIns="68580" rIns="137160" bIns="68580" numCol="1" anchor="t" anchorCtr="0" compatLnSpc="1">
            <a:prstTxWarp prst="textNoShape">
              <a:avLst/>
            </a:prstTxWarp>
          </a:bodyPr>
          <a:lstStyle>
            <a:lvl1pPr>
              <a:defRPr/>
            </a:lvl1pPr>
          </a:lstStyle>
          <a:p>
            <a:pPr marL="0" marR="0" lvl="0" indent="0" algn="l" defTabSz="1371600" rtl="0" eaLnBrk="1" fontAlgn="base" latinLnBrk="0" hangingPunct="1">
              <a:lnSpc>
                <a:spcPct val="80000"/>
              </a:lnSpc>
              <a:spcBef>
                <a:spcPct val="0"/>
              </a:spcBef>
              <a:spcAft>
                <a:spcPct val="0"/>
              </a:spcAft>
              <a:buClrTx/>
              <a:buSzTx/>
              <a:buFontTx/>
              <a:buNone/>
              <a:tabLst/>
              <a:defRPr/>
            </a:pPr>
            <a:fld id="{3D7CFD21-2187-4AB0-AF81-314BDAA17E41}" type="slidenum">
              <a:rPr kumimoji="0" lang="en-US" sz="1350" b="0" i="0" u="none" strike="noStrike" kern="1200" cap="none" spc="0" normalizeH="0" baseline="0" noProof="0" smtClean="0">
                <a:ln>
                  <a:noFill/>
                </a:ln>
                <a:solidFill>
                  <a:schemeClr val="tx1"/>
                </a:solidFill>
                <a:effectLst/>
                <a:uLnTx/>
                <a:uFillTx/>
                <a:latin typeface="+mj-lt"/>
                <a:ea typeface="+mn-ea"/>
                <a:cs typeface="+mn-cs"/>
              </a:rPr>
              <a:pPr marL="0" marR="0" lvl="0" indent="0" algn="l" defTabSz="1371600" rtl="0" eaLnBrk="1" fontAlgn="base" latinLnBrk="0" hangingPunct="1">
                <a:lnSpc>
                  <a:spcPct val="80000"/>
                </a:lnSpc>
                <a:spcBef>
                  <a:spcPct val="0"/>
                </a:spcBef>
                <a:spcAft>
                  <a:spcPct val="0"/>
                </a:spcAft>
                <a:buClrTx/>
                <a:buSzTx/>
                <a:buFontTx/>
                <a:buNone/>
                <a:tabLst/>
                <a:defRPr/>
              </a:pPr>
              <a:t>‹#›</a:t>
            </a:fld>
            <a:endParaRPr kumimoji="0" lang="en-US" sz="1350" b="0" i="0" u="none" strike="noStrike" kern="1200" cap="none" spc="0" normalizeH="0" baseline="0" noProof="0">
              <a:ln>
                <a:noFill/>
              </a:ln>
              <a:solidFill>
                <a:schemeClr val="tx1"/>
              </a:solidFill>
              <a:effectLst/>
              <a:uLnTx/>
              <a:uFillTx/>
              <a:latin typeface="+mj-lt"/>
              <a:ea typeface="+mn-ea"/>
              <a:cs typeface="+mn-cs"/>
            </a:endParaRPr>
          </a:p>
        </p:txBody>
      </p:sp>
    </p:spTree>
    <p:custDataLst>
      <p:tags r:id="rId1"/>
    </p:custDataLst>
    <p:extLst>
      <p:ext uri="{BB962C8B-B14F-4D97-AF65-F5344CB8AC3E}">
        <p14:creationId xmlns:p14="http://schemas.microsoft.com/office/powerpoint/2010/main" val="2759704715"/>
      </p:ext>
    </p:extLst>
  </p:cSld>
  <p:clrMapOvr>
    <a:masterClrMapping/>
  </p:clrMapOvr>
  <p:transition>
    <p:pull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p:cNvSpPr>
            <a:spLocks noGrp="1"/>
          </p:cNvSpPr>
          <p:nvPr>
            <p:ph type="title"/>
          </p:nvPr>
        </p:nvSpPr>
        <p:spPr bwMode="auto">
          <a:xfrm>
            <a:off x="914400" y="1188718"/>
            <a:ext cx="11887200" cy="4114800"/>
          </a:xfrm>
        </p:spPr>
        <p:txBody>
          <a:bodyPr>
            <a:noAutofit/>
          </a:bodyPr>
          <a:lstStyle>
            <a:lvl1pPr>
              <a:lnSpc>
                <a:spcPct val="80000"/>
              </a:lnSpc>
              <a:defRPr sz="8000" baseline="0">
                <a:solidFill>
                  <a:schemeClr val="tx1"/>
                </a:solidFill>
                <a:latin typeface="+mn-lt"/>
              </a:defRPr>
            </a:lvl1pPr>
          </a:lstStyle>
          <a:p>
            <a:r>
              <a:rPr lang="en-US"/>
              <a:t>Click to edit Master title style</a:t>
            </a:r>
          </a:p>
        </p:txBody>
      </p:sp>
      <p:sp>
        <p:nvSpPr>
          <p:cNvPr id="3" name="Date Placeholder 2"/>
          <p:cNvSpPr>
            <a:spLocks noGrp="1"/>
          </p:cNvSpPr>
          <p:nvPr>
            <p:ph type="dt" sz="half" idx="10"/>
          </p:nvPr>
        </p:nvSpPr>
        <p:spPr bwMode="auto">
          <a:xfrm>
            <a:off x="15087600" y="9400032"/>
            <a:ext cx="1828800" cy="457200"/>
          </a:xfrm>
          <a:prstGeom prst="rect">
            <a:avLst/>
          </a:prstGeom>
        </p:spPr>
        <p:txBody>
          <a:bodyPr/>
          <a:lstStyle>
            <a:lvl1pPr>
              <a:defRPr>
                <a:latin typeface="+mn-lt"/>
              </a:defRPr>
            </a:lvl1pPr>
          </a:lstStyle>
          <a:p>
            <a:r>
              <a:rPr lang="en-US"/>
              <a:t>Month 00, 0000</a:t>
            </a:r>
          </a:p>
        </p:txBody>
      </p:sp>
      <p:sp>
        <p:nvSpPr>
          <p:cNvPr id="5" name="Slide Number Placeholder 4"/>
          <p:cNvSpPr>
            <a:spLocks noGrp="1"/>
          </p:cNvSpPr>
          <p:nvPr>
            <p:ph type="sldNum" sz="quarter" idx="12"/>
          </p:nvPr>
        </p:nvSpPr>
        <p:spPr bwMode="auto"/>
        <p:txBody>
          <a:bodyPr/>
          <a:lstStyle>
            <a:lvl1pPr>
              <a:defRPr>
                <a:latin typeface="+mn-lt"/>
              </a:defRPr>
            </a:lvl1pPr>
          </a:lstStyle>
          <a:p>
            <a:fld id="{E12D0507-9F86-7A45-BE8E-43760B9F92AA}" type="slidenum">
              <a:rPr lang="en-US" smtClean="0"/>
              <a:pPr/>
              <a:t>‹#›</a:t>
            </a:fld>
            <a:endParaRPr lang="en-US"/>
          </a:p>
        </p:txBody>
      </p:sp>
    </p:spTree>
    <p:extLst>
      <p:ext uri="{BB962C8B-B14F-4D97-AF65-F5344CB8AC3E}">
        <p14:creationId xmlns:p14="http://schemas.microsoft.com/office/powerpoint/2010/main" val="3307782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73D457C-25ED-9A44-A323-71B6ADD9446C}"/>
              </a:ext>
            </a:extLst>
          </p:cNvPr>
          <p:cNvSpPr/>
          <p:nvPr userDrawn="1"/>
        </p:nvSpPr>
        <p:spPr>
          <a:xfrm>
            <a:off x="0" y="0"/>
            <a:ext cx="18288000" cy="547688"/>
          </a:xfrm>
          <a:prstGeom prst="rect">
            <a:avLst/>
          </a:prstGeom>
          <a:solidFill>
            <a:schemeClr val="accent2">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r>
              <a:rPr lang="en-US"/>
              <a:t>© Hill Associates</a:t>
            </a: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48F63A3B-78C7-47BE-AE5E-E10140E04643}" type="slidenum">
              <a:rPr lang="en-US" dirty="0"/>
              <a:t>‹#›</a:t>
            </a:fld>
            <a:endParaRPr lang="en-US"/>
          </a:p>
        </p:txBody>
      </p:sp>
      <p:pic>
        <p:nvPicPr>
          <p:cNvPr id="10" name="Picture 9">
            <a:extLst>
              <a:ext uri="{FF2B5EF4-FFF2-40B4-BE49-F238E27FC236}">
                <a16:creationId xmlns:a16="http://schemas.microsoft.com/office/drawing/2014/main" id="{0EEFABEC-E756-8E44-841A-502FD0AAB099}"/>
              </a:ext>
            </a:extLst>
          </p:cNvPr>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17266634" y="0"/>
            <a:ext cx="1021366" cy="565100"/>
          </a:xfrm>
          <a:prstGeom prst="rect">
            <a:avLst/>
          </a:prstGeom>
        </p:spPr>
      </p:pic>
    </p:spTree>
    <p:extLst>
      <p:ext uri="{BB962C8B-B14F-4D97-AF65-F5344CB8AC3E}">
        <p14:creationId xmlns:p14="http://schemas.microsoft.com/office/powerpoint/2010/main" val="2847721795"/>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61" r:id="rId13"/>
    <p:sldLayoutId id="2147483800" r:id="rId14"/>
    <p:sldLayoutId id="2147483801" r:id="rId15"/>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hyperlink" Target="https://class.hillvt.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6.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1.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33.png"/><Relationship Id="rId7"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36.svg"/><Relationship Id="rId4" Type="http://schemas.openxmlformats.org/officeDocument/2006/relationships/image" Target="../media/image34.svg"/><Relationship Id="rId9"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48.png"/><Relationship Id="rId18" Type="http://schemas.openxmlformats.org/officeDocument/2006/relationships/image" Target="../media/image51.svg"/><Relationship Id="rId26" Type="http://schemas.openxmlformats.org/officeDocument/2006/relationships/image" Target="../media/image59.svg"/><Relationship Id="rId3" Type="http://schemas.openxmlformats.org/officeDocument/2006/relationships/image" Target="../media/image11.png"/><Relationship Id="rId21" Type="http://schemas.openxmlformats.org/officeDocument/2006/relationships/image" Target="../media/image54.png"/><Relationship Id="rId7" Type="http://schemas.openxmlformats.org/officeDocument/2006/relationships/image" Target="../media/image42.png"/><Relationship Id="rId12" Type="http://schemas.openxmlformats.org/officeDocument/2006/relationships/image" Target="../media/image47.svg"/><Relationship Id="rId17" Type="http://schemas.openxmlformats.org/officeDocument/2006/relationships/image" Target="../media/image50.png"/><Relationship Id="rId25" Type="http://schemas.openxmlformats.org/officeDocument/2006/relationships/image" Target="../media/image58.png"/><Relationship Id="rId2" Type="http://schemas.openxmlformats.org/officeDocument/2006/relationships/notesSlide" Target="../notesSlides/notesSlide15.xml"/><Relationship Id="rId16" Type="http://schemas.openxmlformats.org/officeDocument/2006/relationships/image" Target="../media/image14.svg"/><Relationship Id="rId20" Type="http://schemas.openxmlformats.org/officeDocument/2006/relationships/image" Target="../media/image53.svg"/><Relationship Id="rId1" Type="http://schemas.openxmlformats.org/officeDocument/2006/relationships/slideLayout" Target="../slideLayouts/slideLayout6.xml"/><Relationship Id="rId6" Type="http://schemas.openxmlformats.org/officeDocument/2006/relationships/image" Target="../media/image41.svg"/><Relationship Id="rId11" Type="http://schemas.openxmlformats.org/officeDocument/2006/relationships/image" Target="../media/image46.png"/><Relationship Id="rId24" Type="http://schemas.openxmlformats.org/officeDocument/2006/relationships/image" Target="../media/image57.svg"/><Relationship Id="rId5" Type="http://schemas.openxmlformats.org/officeDocument/2006/relationships/image" Target="../media/image40.png"/><Relationship Id="rId15" Type="http://schemas.openxmlformats.org/officeDocument/2006/relationships/image" Target="../media/image13.png"/><Relationship Id="rId23" Type="http://schemas.openxmlformats.org/officeDocument/2006/relationships/image" Target="../media/image56.png"/><Relationship Id="rId28" Type="http://schemas.openxmlformats.org/officeDocument/2006/relationships/image" Target="../media/image61.svg"/><Relationship Id="rId10" Type="http://schemas.openxmlformats.org/officeDocument/2006/relationships/image" Target="../media/image45.svg"/><Relationship Id="rId19" Type="http://schemas.openxmlformats.org/officeDocument/2006/relationships/image" Target="../media/image52.png"/><Relationship Id="rId4" Type="http://schemas.openxmlformats.org/officeDocument/2006/relationships/image" Target="../media/image12.svg"/><Relationship Id="rId9" Type="http://schemas.openxmlformats.org/officeDocument/2006/relationships/image" Target="../media/image44.png"/><Relationship Id="rId14" Type="http://schemas.openxmlformats.org/officeDocument/2006/relationships/image" Target="../media/image49.svg"/><Relationship Id="rId22" Type="http://schemas.openxmlformats.org/officeDocument/2006/relationships/image" Target="../media/image55.svg"/><Relationship Id="rId27" Type="http://schemas.openxmlformats.org/officeDocument/2006/relationships/image" Target="../media/image60.png"/></Relationships>
</file>

<file path=ppt/slides/_rels/slide2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63.png"/><Relationship Id="rId7" Type="http://schemas.openxmlformats.org/officeDocument/2006/relationships/image" Target="../media/image7.png"/><Relationship Id="rId12" Type="http://schemas.openxmlformats.org/officeDocument/2006/relationships/image" Target="../media/image43.sv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66.svg"/><Relationship Id="rId11" Type="http://schemas.openxmlformats.org/officeDocument/2006/relationships/image" Target="../media/image42.png"/><Relationship Id="rId5" Type="http://schemas.openxmlformats.org/officeDocument/2006/relationships/image" Target="../media/image65.png"/><Relationship Id="rId10" Type="http://schemas.openxmlformats.org/officeDocument/2006/relationships/image" Target="../media/image68.svg"/><Relationship Id="rId4" Type="http://schemas.openxmlformats.org/officeDocument/2006/relationships/image" Target="../media/image64.svg"/><Relationship Id="rId9" Type="http://schemas.openxmlformats.org/officeDocument/2006/relationships/image" Target="../media/image67.png"/></Relationships>
</file>

<file path=ppt/slides/_rels/slide28.xml.rels><?xml version="1.0" encoding="UTF-8" standalone="yes"?>
<Relationships xmlns="http://schemas.openxmlformats.org/package/2006/relationships"><Relationship Id="rId8" Type="http://schemas.openxmlformats.org/officeDocument/2006/relationships/image" Target="../media/image66.svg"/><Relationship Id="rId13" Type="http://schemas.openxmlformats.org/officeDocument/2006/relationships/image" Target="../media/image42.png"/><Relationship Id="rId3" Type="http://schemas.openxmlformats.org/officeDocument/2006/relationships/image" Target="../media/image63.png"/><Relationship Id="rId7" Type="http://schemas.openxmlformats.org/officeDocument/2006/relationships/image" Target="../media/image65.png"/><Relationship Id="rId12" Type="http://schemas.openxmlformats.org/officeDocument/2006/relationships/image" Target="../media/image68.sv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12.svg"/><Relationship Id="rId11" Type="http://schemas.openxmlformats.org/officeDocument/2006/relationships/image" Target="../media/image67.png"/><Relationship Id="rId5" Type="http://schemas.openxmlformats.org/officeDocument/2006/relationships/image" Target="../media/image11.png"/><Relationship Id="rId10" Type="http://schemas.openxmlformats.org/officeDocument/2006/relationships/image" Target="../media/image8.svg"/><Relationship Id="rId4" Type="http://schemas.openxmlformats.org/officeDocument/2006/relationships/image" Target="../media/image64.svg"/><Relationship Id="rId9" Type="http://schemas.openxmlformats.org/officeDocument/2006/relationships/image" Target="../media/image7.png"/><Relationship Id="rId14" Type="http://schemas.openxmlformats.org/officeDocument/2006/relationships/image" Target="../media/image43.svg"/></Relationships>
</file>

<file path=ppt/slides/_rels/slide29.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71.png"/><Relationship Id="rId18" Type="http://schemas.openxmlformats.org/officeDocument/2006/relationships/image" Target="../media/image8.svg"/><Relationship Id="rId3" Type="http://schemas.openxmlformats.org/officeDocument/2006/relationships/image" Target="../media/image63.png"/><Relationship Id="rId7" Type="http://schemas.openxmlformats.org/officeDocument/2006/relationships/image" Target="../media/image13.png"/><Relationship Id="rId12" Type="http://schemas.openxmlformats.org/officeDocument/2006/relationships/image" Target="../media/image70.svg"/><Relationship Id="rId17" Type="http://schemas.openxmlformats.org/officeDocument/2006/relationships/image" Target="../media/image7.png"/><Relationship Id="rId2" Type="http://schemas.openxmlformats.org/officeDocument/2006/relationships/notesSlide" Target="../notesSlides/notesSlide19.xml"/><Relationship Id="rId16" Type="http://schemas.openxmlformats.org/officeDocument/2006/relationships/image" Target="../media/image66.svg"/><Relationship Id="rId20" Type="http://schemas.openxmlformats.org/officeDocument/2006/relationships/image" Target="../media/image68.svg"/><Relationship Id="rId1" Type="http://schemas.openxmlformats.org/officeDocument/2006/relationships/slideLayout" Target="../slideLayouts/slideLayout6.xml"/><Relationship Id="rId6" Type="http://schemas.openxmlformats.org/officeDocument/2006/relationships/image" Target="../media/image12.svg"/><Relationship Id="rId11" Type="http://schemas.openxmlformats.org/officeDocument/2006/relationships/image" Target="../media/image69.png"/><Relationship Id="rId5" Type="http://schemas.openxmlformats.org/officeDocument/2006/relationships/image" Target="../media/image11.png"/><Relationship Id="rId15" Type="http://schemas.openxmlformats.org/officeDocument/2006/relationships/image" Target="../media/image65.png"/><Relationship Id="rId10" Type="http://schemas.openxmlformats.org/officeDocument/2006/relationships/image" Target="../media/image43.svg"/><Relationship Id="rId19" Type="http://schemas.openxmlformats.org/officeDocument/2006/relationships/image" Target="../media/image67.png"/><Relationship Id="rId4" Type="http://schemas.openxmlformats.org/officeDocument/2006/relationships/image" Target="../media/image64.svg"/><Relationship Id="rId9" Type="http://schemas.openxmlformats.org/officeDocument/2006/relationships/image" Target="../media/image42.png"/><Relationship Id="rId14" Type="http://schemas.openxmlformats.org/officeDocument/2006/relationships/image" Target="../media/image72.svg"/></Relationships>
</file>

<file path=ppt/slides/_rels/slide30.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71.png"/><Relationship Id="rId18" Type="http://schemas.openxmlformats.org/officeDocument/2006/relationships/image" Target="../media/image8.svg"/><Relationship Id="rId3" Type="http://schemas.openxmlformats.org/officeDocument/2006/relationships/image" Target="../media/image63.png"/><Relationship Id="rId7" Type="http://schemas.openxmlformats.org/officeDocument/2006/relationships/image" Target="../media/image13.png"/><Relationship Id="rId12" Type="http://schemas.openxmlformats.org/officeDocument/2006/relationships/image" Target="../media/image70.svg"/><Relationship Id="rId17" Type="http://schemas.openxmlformats.org/officeDocument/2006/relationships/image" Target="../media/image7.png"/><Relationship Id="rId2" Type="http://schemas.openxmlformats.org/officeDocument/2006/relationships/notesSlide" Target="../notesSlides/notesSlide20.xml"/><Relationship Id="rId16" Type="http://schemas.openxmlformats.org/officeDocument/2006/relationships/image" Target="../media/image66.svg"/><Relationship Id="rId20" Type="http://schemas.openxmlformats.org/officeDocument/2006/relationships/image" Target="../media/image68.svg"/><Relationship Id="rId1" Type="http://schemas.openxmlformats.org/officeDocument/2006/relationships/slideLayout" Target="../slideLayouts/slideLayout6.xml"/><Relationship Id="rId6" Type="http://schemas.openxmlformats.org/officeDocument/2006/relationships/image" Target="../media/image12.svg"/><Relationship Id="rId11" Type="http://schemas.openxmlformats.org/officeDocument/2006/relationships/image" Target="../media/image69.png"/><Relationship Id="rId5" Type="http://schemas.openxmlformats.org/officeDocument/2006/relationships/image" Target="../media/image11.png"/><Relationship Id="rId15" Type="http://schemas.openxmlformats.org/officeDocument/2006/relationships/image" Target="../media/image65.png"/><Relationship Id="rId10" Type="http://schemas.openxmlformats.org/officeDocument/2006/relationships/image" Target="../media/image43.svg"/><Relationship Id="rId19" Type="http://schemas.openxmlformats.org/officeDocument/2006/relationships/image" Target="../media/image67.png"/><Relationship Id="rId4" Type="http://schemas.openxmlformats.org/officeDocument/2006/relationships/image" Target="../media/image64.svg"/><Relationship Id="rId9" Type="http://schemas.openxmlformats.org/officeDocument/2006/relationships/image" Target="../media/image42.png"/><Relationship Id="rId14" Type="http://schemas.openxmlformats.org/officeDocument/2006/relationships/image" Target="../media/image72.svg"/></Relationships>
</file>

<file path=ppt/slides/_rels/slide31.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71.png"/><Relationship Id="rId18" Type="http://schemas.openxmlformats.org/officeDocument/2006/relationships/image" Target="../media/image8.svg"/><Relationship Id="rId26" Type="http://schemas.openxmlformats.org/officeDocument/2006/relationships/image" Target="../media/image78.svg"/><Relationship Id="rId3" Type="http://schemas.openxmlformats.org/officeDocument/2006/relationships/image" Target="../media/image63.png"/><Relationship Id="rId21" Type="http://schemas.openxmlformats.org/officeDocument/2006/relationships/image" Target="../media/image73.png"/><Relationship Id="rId7" Type="http://schemas.openxmlformats.org/officeDocument/2006/relationships/image" Target="../media/image13.png"/><Relationship Id="rId12" Type="http://schemas.openxmlformats.org/officeDocument/2006/relationships/image" Target="../media/image70.svg"/><Relationship Id="rId17" Type="http://schemas.openxmlformats.org/officeDocument/2006/relationships/image" Target="../media/image7.png"/><Relationship Id="rId25" Type="http://schemas.openxmlformats.org/officeDocument/2006/relationships/image" Target="../media/image77.png"/><Relationship Id="rId2" Type="http://schemas.openxmlformats.org/officeDocument/2006/relationships/notesSlide" Target="../notesSlides/notesSlide21.xml"/><Relationship Id="rId16" Type="http://schemas.openxmlformats.org/officeDocument/2006/relationships/image" Target="../media/image66.svg"/><Relationship Id="rId20" Type="http://schemas.openxmlformats.org/officeDocument/2006/relationships/image" Target="../media/image68.svg"/><Relationship Id="rId1" Type="http://schemas.openxmlformats.org/officeDocument/2006/relationships/slideLayout" Target="../slideLayouts/slideLayout6.xml"/><Relationship Id="rId6" Type="http://schemas.openxmlformats.org/officeDocument/2006/relationships/image" Target="../media/image12.svg"/><Relationship Id="rId11" Type="http://schemas.openxmlformats.org/officeDocument/2006/relationships/image" Target="../media/image69.png"/><Relationship Id="rId24" Type="http://schemas.openxmlformats.org/officeDocument/2006/relationships/image" Target="../media/image76.svg"/><Relationship Id="rId5" Type="http://schemas.openxmlformats.org/officeDocument/2006/relationships/image" Target="../media/image11.png"/><Relationship Id="rId15" Type="http://schemas.openxmlformats.org/officeDocument/2006/relationships/image" Target="../media/image65.png"/><Relationship Id="rId23" Type="http://schemas.openxmlformats.org/officeDocument/2006/relationships/image" Target="../media/image75.png"/><Relationship Id="rId28" Type="http://schemas.openxmlformats.org/officeDocument/2006/relationships/image" Target="../media/image80.svg"/><Relationship Id="rId10" Type="http://schemas.openxmlformats.org/officeDocument/2006/relationships/image" Target="../media/image43.svg"/><Relationship Id="rId19" Type="http://schemas.openxmlformats.org/officeDocument/2006/relationships/image" Target="../media/image67.png"/><Relationship Id="rId4" Type="http://schemas.openxmlformats.org/officeDocument/2006/relationships/image" Target="../media/image64.svg"/><Relationship Id="rId9" Type="http://schemas.openxmlformats.org/officeDocument/2006/relationships/image" Target="../media/image42.png"/><Relationship Id="rId14" Type="http://schemas.openxmlformats.org/officeDocument/2006/relationships/image" Target="../media/image72.svg"/><Relationship Id="rId22" Type="http://schemas.openxmlformats.org/officeDocument/2006/relationships/image" Target="../media/image74.svg"/><Relationship Id="rId27" Type="http://schemas.openxmlformats.org/officeDocument/2006/relationships/image" Target="../media/image79.png"/></Relationships>
</file>

<file path=ppt/slides/_rels/slide32.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71.png"/><Relationship Id="rId18" Type="http://schemas.openxmlformats.org/officeDocument/2006/relationships/image" Target="../media/image8.svg"/><Relationship Id="rId26" Type="http://schemas.openxmlformats.org/officeDocument/2006/relationships/image" Target="../media/image78.svg"/><Relationship Id="rId3" Type="http://schemas.openxmlformats.org/officeDocument/2006/relationships/image" Target="../media/image63.png"/><Relationship Id="rId21" Type="http://schemas.openxmlformats.org/officeDocument/2006/relationships/image" Target="../media/image73.png"/><Relationship Id="rId7" Type="http://schemas.openxmlformats.org/officeDocument/2006/relationships/image" Target="../media/image13.png"/><Relationship Id="rId12" Type="http://schemas.openxmlformats.org/officeDocument/2006/relationships/image" Target="../media/image43.svg"/><Relationship Id="rId17" Type="http://schemas.openxmlformats.org/officeDocument/2006/relationships/image" Target="../media/image7.png"/><Relationship Id="rId25" Type="http://schemas.openxmlformats.org/officeDocument/2006/relationships/image" Target="../media/image77.png"/><Relationship Id="rId2" Type="http://schemas.openxmlformats.org/officeDocument/2006/relationships/notesSlide" Target="../notesSlides/notesSlide22.xml"/><Relationship Id="rId16" Type="http://schemas.openxmlformats.org/officeDocument/2006/relationships/image" Target="../media/image66.svg"/><Relationship Id="rId20" Type="http://schemas.openxmlformats.org/officeDocument/2006/relationships/image" Target="../media/image68.svg"/><Relationship Id="rId29" Type="http://schemas.openxmlformats.org/officeDocument/2006/relationships/image" Target="../media/image33.png"/><Relationship Id="rId1" Type="http://schemas.openxmlformats.org/officeDocument/2006/relationships/slideLayout" Target="../slideLayouts/slideLayout6.xml"/><Relationship Id="rId6" Type="http://schemas.openxmlformats.org/officeDocument/2006/relationships/image" Target="../media/image12.svg"/><Relationship Id="rId11" Type="http://schemas.openxmlformats.org/officeDocument/2006/relationships/image" Target="../media/image42.png"/><Relationship Id="rId24" Type="http://schemas.openxmlformats.org/officeDocument/2006/relationships/image" Target="../media/image76.svg"/><Relationship Id="rId32" Type="http://schemas.openxmlformats.org/officeDocument/2006/relationships/image" Target="../media/image10.svg"/><Relationship Id="rId5" Type="http://schemas.openxmlformats.org/officeDocument/2006/relationships/image" Target="../media/image11.png"/><Relationship Id="rId15" Type="http://schemas.openxmlformats.org/officeDocument/2006/relationships/image" Target="../media/image65.png"/><Relationship Id="rId23" Type="http://schemas.openxmlformats.org/officeDocument/2006/relationships/image" Target="../media/image75.png"/><Relationship Id="rId28" Type="http://schemas.openxmlformats.org/officeDocument/2006/relationships/image" Target="../media/image80.svg"/><Relationship Id="rId10" Type="http://schemas.openxmlformats.org/officeDocument/2006/relationships/image" Target="../media/image70.svg"/><Relationship Id="rId19" Type="http://schemas.openxmlformats.org/officeDocument/2006/relationships/image" Target="../media/image67.png"/><Relationship Id="rId31" Type="http://schemas.openxmlformats.org/officeDocument/2006/relationships/image" Target="../media/image9.png"/><Relationship Id="rId4" Type="http://schemas.openxmlformats.org/officeDocument/2006/relationships/image" Target="../media/image64.svg"/><Relationship Id="rId9" Type="http://schemas.openxmlformats.org/officeDocument/2006/relationships/image" Target="../media/image69.png"/><Relationship Id="rId14" Type="http://schemas.openxmlformats.org/officeDocument/2006/relationships/image" Target="../media/image72.svg"/><Relationship Id="rId22" Type="http://schemas.openxmlformats.org/officeDocument/2006/relationships/image" Target="../media/image74.svg"/><Relationship Id="rId27" Type="http://schemas.openxmlformats.org/officeDocument/2006/relationships/image" Target="../media/image79.png"/><Relationship Id="rId30" Type="http://schemas.openxmlformats.org/officeDocument/2006/relationships/image" Target="../media/image34.sv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48.png"/><Relationship Id="rId18" Type="http://schemas.openxmlformats.org/officeDocument/2006/relationships/image" Target="../media/image51.svg"/><Relationship Id="rId26" Type="http://schemas.openxmlformats.org/officeDocument/2006/relationships/image" Target="../media/image59.svg"/><Relationship Id="rId3" Type="http://schemas.openxmlformats.org/officeDocument/2006/relationships/image" Target="../media/image11.png"/><Relationship Id="rId21" Type="http://schemas.openxmlformats.org/officeDocument/2006/relationships/image" Target="../media/image54.png"/><Relationship Id="rId7" Type="http://schemas.openxmlformats.org/officeDocument/2006/relationships/image" Target="../media/image42.png"/><Relationship Id="rId12" Type="http://schemas.openxmlformats.org/officeDocument/2006/relationships/image" Target="../media/image47.svg"/><Relationship Id="rId17" Type="http://schemas.openxmlformats.org/officeDocument/2006/relationships/image" Target="../media/image50.png"/><Relationship Id="rId25" Type="http://schemas.openxmlformats.org/officeDocument/2006/relationships/image" Target="../media/image58.png"/><Relationship Id="rId2" Type="http://schemas.openxmlformats.org/officeDocument/2006/relationships/notesSlide" Target="../notesSlides/notesSlide24.xml"/><Relationship Id="rId16" Type="http://schemas.openxmlformats.org/officeDocument/2006/relationships/image" Target="../media/image14.svg"/><Relationship Id="rId20" Type="http://schemas.openxmlformats.org/officeDocument/2006/relationships/image" Target="../media/image53.svg"/><Relationship Id="rId1" Type="http://schemas.openxmlformats.org/officeDocument/2006/relationships/slideLayout" Target="../slideLayouts/slideLayout6.xml"/><Relationship Id="rId6" Type="http://schemas.openxmlformats.org/officeDocument/2006/relationships/image" Target="../media/image41.svg"/><Relationship Id="rId11" Type="http://schemas.openxmlformats.org/officeDocument/2006/relationships/image" Target="../media/image46.png"/><Relationship Id="rId24" Type="http://schemas.openxmlformats.org/officeDocument/2006/relationships/image" Target="../media/image57.svg"/><Relationship Id="rId5" Type="http://schemas.openxmlformats.org/officeDocument/2006/relationships/image" Target="../media/image40.png"/><Relationship Id="rId15" Type="http://schemas.openxmlformats.org/officeDocument/2006/relationships/image" Target="../media/image13.png"/><Relationship Id="rId23" Type="http://schemas.openxmlformats.org/officeDocument/2006/relationships/image" Target="../media/image56.png"/><Relationship Id="rId28" Type="http://schemas.openxmlformats.org/officeDocument/2006/relationships/image" Target="../media/image61.svg"/><Relationship Id="rId10" Type="http://schemas.openxmlformats.org/officeDocument/2006/relationships/image" Target="../media/image45.svg"/><Relationship Id="rId19" Type="http://schemas.openxmlformats.org/officeDocument/2006/relationships/image" Target="../media/image52.png"/><Relationship Id="rId4" Type="http://schemas.openxmlformats.org/officeDocument/2006/relationships/image" Target="../media/image12.svg"/><Relationship Id="rId9" Type="http://schemas.openxmlformats.org/officeDocument/2006/relationships/image" Target="../media/image44.png"/><Relationship Id="rId14" Type="http://schemas.openxmlformats.org/officeDocument/2006/relationships/image" Target="../media/image49.svg"/><Relationship Id="rId22" Type="http://schemas.openxmlformats.org/officeDocument/2006/relationships/image" Target="../media/image55.svg"/><Relationship Id="rId27" Type="http://schemas.openxmlformats.org/officeDocument/2006/relationships/image" Target="../media/image60.png"/></Relationships>
</file>

<file path=ppt/slides/_rels/slide35.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83.png"/><Relationship Id="rId18" Type="http://schemas.openxmlformats.org/officeDocument/2006/relationships/image" Target="../media/image53.svg"/><Relationship Id="rId26" Type="http://schemas.openxmlformats.org/officeDocument/2006/relationships/image" Target="../media/image61.svg"/><Relationship Id="rId3" Type="http://schemas.openxmlformats.org/officeDocument/2006/relationships/image" Target="../media/image11.png"/><Relationship Id="rId21" Type="http://schemas.openxmlformats.org/officeDocument/2006/relationships/image" Target="../media/image56.png"/><Relationship Id="rId7" Type="http://schemas.openxmlformats.org/officeDocument/2006/relationships/image" Target="../media/image42.png"/><Relationship Id="rId12" Type="http://schemas.openxmlformats.org/officeDocument/2006/relationships/image" Target="../media/image47.svg"/><Relationship Id="rId17" Type="http://schemas.openxmlformats.org/officeDocument/2006/relationships/image" Target="../media/image52.png"/><Relationship Id="rId25" Type="http://schemas.openxmlformats.org/officeDocument/2006/relationships/image" Target="../media/image60.png"/><Relationship Id="rId2" Type="http://schemas.openxmlformats.org/officeDocument/2006/relationships/notesSlide" Target="../notesSlides/notesSlide25.xml"/><Relationship Id="rId16" Type="http://schemas.openxmlformats.org/officeDocument/2006/relationships/image" Target="../media/image76.svg"/><Relationship Id="rId20" Type="http://schemas.openxmlformats.org/officeDocument/2006/relationships/image" Target="../media/image55.svg"/><Relationship Id="rId1" Type="http://schemas.openxmlformats.org/officeDocument/2006/relationships/slideLayout" Target="../slideLayouts/slideLayout6.xml"/><Relationship Id="rId6" Type="http://schemas.openxmlformats.org/officeDocument/2006/relationships/image" Target="../media/image41.svg"/><Relationship Id="rId11" Type="http://schemas.openxmlformats.org/officeDocument/2006/relationships/image" Target="../media/image46.png"/><Relationship Id="rId24" Type="http://schemas.openxmlformats.org/officeDocument/2006/relationships/image" Target="../media/image36.svg"/><Relationship Id="rId5" Type="http://schemas.openxmlformats.org/officeDocument/2006/relationships/image" Target="../media/image40.png"/><Relationship Id="rId15" Type="http://schemas.openxmlformats.org/officeDocument/2006/relationships/image" Target="../media/image75.png"/><Relationship Id="rId23" Type="http://schemas.openxmlformats.org/officeDocument/2006/relationships/image" Target="../media/image35.png"/><Relationship Id="rId10" Type="http://schemas.openxmlformats.org/officeDocument/2006/relationships/image" Target="../media/image82.svg"/><Relationship Id="rId19" Type="http://schemas.openxmlformats.org/officeDocument/2006/relationships/image" Target="../media/image54.png"/><Relationship Id="rId4" Type="http://schemas.openxmlformats.org/officeDocument/2006/relationships/image" Target="../media/image12.svg"/><Relationship Id="rId9" Type="http://schemas.openxmlformats.org/officeDocument/2006/relationships/image" Target="../media/image81.png"/><Relationship Id="rId14" Type="http://schemas.openxmlformats.org/officeDocument/2006/relationships/image" Target="../media/image84.svg"/><Relationship Id="rId22" Type="http://schemas.openxmlformats.org/officeDocument/2006/relationships/image" Target="../media/image57.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Layout" Target="../slideLayouts/slideLayout2.xml"/><Relationship Id="rId4" Type="http://schemas.openxmlformats.org/officeDocument/2006/relationships/image" Target="../media/image89.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2.sv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tags" Target="../tags/tag10.xml"/><Relationship Id="rId5" Type="http://schemas.openxmlformats.org/officeDocument/2006/relationships/image" Target="../media/image94.png"/><Relationship Id="rId4" Type="http://schemas.openxmlformats.org/officeDocument/2006/relationships/image" Target="../media/image93.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96.png"/><Relationship Id="rId5" Type="http://schemas.openxmlformats.org/officeDocument/2006/relationships/hyperlink" Target="https://www.wi-fi.org/" TargetMode="External"/><Relationship Id="rId4" Type="http://schemas.openxmlformats.org/officeDocument/2006/relationships/image" Target="../media/image95.png"/></Relationships>
</file>

<file path=ppt/slides/_rels/slide47.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98.emf"/></Relationships>
</file>

<file path=ppt/slides/_rels/slide49.xml.rels><?xml version="1.0" encoding="UTF-8" standalone="yes"?>
<Relationships xmlns="http://schemas.openxmlformats.org/package/2006/relationships"><Relationship Id="rId3" Type="http://schemas.openxmlformats.org/officeDocument/2006/relationships/image" Target="../media/image99.emf"/><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100.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01.tif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57.svg"/></Relationships>
</file>

<file path=ppt/slides/_rels/slide5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42.png"/><Relationship Id="rId7" Type="http://schemas.openxmlformats.org/officeDocument/2006/relationships/image" Target="../media/image65.png"/><Relationship Id="rId12" Type="http://schemas.openxmlformats.org/officeDocument/2006/relationships/image" Target="../media/image68.svg"/><Relationship Id="rId2" Type="http://schemas.openxmlformats.org/officeDocument/2006/relationships/notesSlide" Target="../notesSlides/notesSlide32.xml"/><Relationship Id="rId1" Type="http://schemas.openxmlformats.org/officeDocument/2006/relationships/slideLayout" Target="../slideLayouts/slideLayout6.xml"/><Relationship Id="rId6" Type="http://schemas.openxmlformats.org/officeDocument/2006/relationships/image" Target="../media/image64.svg"/><Relationship Id="rId11" Type="http://schemas.openxmlformats.org/officeDocument/2006/relationships/image" Target="../media/image67.png"/><Relationship Id="rId5" Type="http://schemas.openxmlformats.org/officeDocument/2006/relationships/image" Target="../media/image63.png"/><Relationship Id="rId10" Type="http://schemas.openxmlformats.org/officeDocument/2006/relationships/image" Target="../media/image8.svg"/><Relationship Id="rId4" Type="http://schemas.openxmlformats.org/officeDocument/2006/relationships/image" Target="../media/image43.svg"/><Relationship Id="rId9" Type="http://schemas.openxmlformats.org/officeDocument/2006/relationships/image" Target="../media/image7.png"/></Relationships>
</file>

<file path=ppt/slides/_rels/slide6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43.sv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64.svg"/><Relationship Id="rId4" Type="http://schemas.openxmlformats.org/officeDocument/2006/relationships/image" Target="../media/image6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73.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image" Target="../media/image59.sv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hyperlink" Target="http://en.wikipedia.org/wiki/File:DynaTAC8000X.jpg"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07.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8" Type="http://schemas.openxmlformats.org/officeDocument/2006/relationships/image" Target="../media/image114.svg"/><Relationship Id="rId3" Type="http://schemas.openxmlformats.org/officeDocument/2006/relationships/image" Target="../media/image63.png"/><Relationship Id="rId7" Type="http://schemas.openxmlformats.org/officeDocument/2006/relationships/image" Target="../media/image113.png"/><Relationship Id="rId12" Type="http://schemas.openxmlformats.org/officeDocument/2006/relationships/image" Target="../media/image16.svg"/><Relationship Id="rId2" Type="http://schemas.openxmlformats.org/officeDocument/2006/relationships/notesSlide" Target="../notesSlides/notesSlide41.xml"/><Relationship Id="rId1" Type="http://schemas.openxmlformats.org/officeDocument/2006/relationships/slideLayout" Target="../slideLayouts/slideLayout6.xml"/><Relationship Id="rId6" Type="http://schemas.openxmlformats.org/officeDocument/2006/relationships/image" Target="../media/image112.svg"/><Relationship Id="rId11" Type="http://schemas.openxmlformats.org/officeDocument/2006/relationships/image" Target="../media/image15.png"/><Relationship Id="rId5" Type="http://schemas.openxmlformats.org/officeDocument/2006/relationships/image" Target="../media/image111.png"/><Relationship Id="rId10" Type="http://schemas.openxmlformats.org/officeDocument/2006/relationships/image" Target="../media/image12.svg"/><Relationship Id="rId4" Type="http://schemas.openxmlformats.org/officeDocument/2006/relationships/image" Target="../media/image64.svg"/><Relationship Id="rId9" Type="http://schemas.openxmlformats.org/officeDocument/2006/relationships/image" Target="../media/image11.png"/></Relationships>
</file>

<file path=ppt/slides/_rels/slide8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2.xml"/><Relationship Id="rId1" Type="http://schemas.openxmlformats.org/officeDocument/2006/relationships/slideLayout" Target="../slideLayouts/slideLayout6.xml"/><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64.sv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notesSlide" Target="../notesSlides/notesSlide43.xml"/><Relationship Id="rId7" Type="http://schemas.openxmlformats.org/officeDocument/2006/relationships/image" Target="../media/image118.wmf"/><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117.wmf"/><Relationship Id="rId5" Type="http://schemas.openxmlformats.org/officeDocument/2006/relationships/image" Target="../media/image116.wmf"/><Relationship Id="rId4" Type="http://schemas.openxmlformats.org/officeDocument/2006/relationships/image" Target="../media/image115.wmf"/></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tags" Target="../tags/tag1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19.xml"/><Relationship Id="rId5" Type="http://schemas.openxmlformats.org/officeDocument/2006/relationships/image" Target="../media/image121.svg"/><Relationship Id="rId4" Type="http://schemas.openxmlformats.org/officeDocument/2006/relationships/image" Target="../media/image120.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6.xml"/><Relationship Id="rId1" Type="http://schemas.openxmlformats.org/officeDocument/2006/relationships/tags" Target="../tags/tag21.xml"/><Relationship Id="rId4" Type="http://schemas.openxmlformats.org/officeDocument/2006/relationships/image" Target="../media/image122.jpe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6.xml"/><Relationship Id="rId1" Type="http://schemas.openxmlformats.org/officeDocument/2006/relationships/tags" Target="../tags/tag22.xml"/></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125.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124.png"/><Relationship Id="rId5" Type="http://schemas.openxmlformats.org/officeDocument/2006/relationships/image" Target="../media/image123.wmf"/><Relationship Id="rId4" Type="http://schemas.openxmlformats.org/officeDocument/2006/relationships/notesSlide" Target="../notesSlides/notesSlide50.xml"/></Relationships>
</file>

<file path=ppt/slides/_rels/slide96.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slideLayout" Target="../slideLayouts/slideLayout6.xml"/><Relationship Id="rId7" Type="http://schemas.openxmlformats.org/officeDocument/2006/relationships/image" Target="../media/image124.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23.wmf"/><Relationship Id="rId5" Type="http://schemas.openxmlformats.org/officeDocument/2006/relationships/image" Target="../media/image126.wmf"/><Relationship Id="rId4" Type="http://schemas.openxmlformats.org/officeDocument/2006/relationships/notesSlide" Target="../notesSlides/notesSlide5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image" Target="../media/image44.png"/><Relationship Id="rId7" Type="http://schemas.microsoft.com/office/2007/relationships/hdphoto" Target="../media/hdphoto1.wdp"/><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127.png"/><Relationship Id="rId11" Type="http://schemas.openxmlformats.org/officeDocument/2006/relationships/image" Target="../media/image131.png"/><Relationship Id="rId5" Type="http://schemas.openxmlformats.org/officeDocument/2006/relationships/image" Target="../media/image89.jpeg"/><Relationship Id="rId10" Type="http://schemas.openxmlformats.org/officeDocument/2006/relationships/image" Target="../media/image130.png"/><Relationship Id="rId4" Type="http://schemas.openxmlformats.org/officeDocument/2006/relationships/image" Target="../media/image45.svg"/><Relationship Id="rId9" Type="http://schemas.openxmlformats.org/officeDocument/2006/relationships/image" Target="../media/image129.svg"/></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53.xml"/><Relationship Id="rId7" Type="http://schemas.openxmlformats.org/officeDocument/2006/relationships/image" Target="../media/image131.png"/><Relationship Id="rId2" Type="http://schemas.openxmlformats.org/officeDocument/2006/relationships/slideLayout" Target="../slideLayouts/slideLayout2.xml"/><Relationship Id="rId1" Type="http://schemas.openxmlformats.org/officeDocument/2006/relationships/tags" Target="../tags/tag27.xml"/><Relationship Id="rId6" Type="http://schemas.openxmlformats.org/officeDocument/2006/relationships/image" Target="../media/image130.png"/><Relationship Id="rId5" Type="http://schemas.openxmlformats.org/officeDocument/2006/relationships/image" Target="../media/image129.svg"/><Relationship Id="rId4" Type="http://schemas.openxmlformats.org/officeDocument/2006/relationships/image" Target="../media/image128.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28.xml"/><Relationship Id="rId4" Type="http://schemas.openxmlformats.org/officeDocument/2006/relationships/image" Target="../media/image132.tiff"/></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133.jpeg"/></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57.xml"/><Relationship Id="rId7" Type="http://schemas.openxmlformats.org/officeDocument/2006/relationships/image" Target="../media/image136.tiff"/><Relationship Id="rId2" Type="http://schemas.openxmlformats.org/officeDocument/2006/relationships/slideLayout" Target="../slideLayouts/slideLayout2.xml"/><Relationship Id="rId1" Type="http://schemas.openxmlformats.org/officeDocument/2006/relationships/tags" Target="../tags/tag31.xml"/><Relationship Id="rId6" Type="http://schemas.openxmlformats.org/officeDocument/2006/relationships/image" Target="../media/image135.tiff"/><Relationship Id="rId5" Type="http://schemas.openxmlformats.org/officeDocument/2006/relationships/image" Target="../media/image123.wmf"/><Relationship Id="rId4" Type="http://schemas.openxmlformats.org/officeDocument/2006/relationships/image" Target="../media/image134.wmf"/></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106.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94.png"/><Relationship Id="rId1" Type="http://schemas.openxmlformats.org/officeDocument/2006/relationships/slideLayout" Target="../slideLayouts/slideLayout2.xml"/><Relationship Id="rId4" Type="http://schemas.openxmlformats.org/officeDocument/2006/relationships/image" Target="../media/image89.jpeg"/></Relationships>
</file>

<file path=ppt/slides/_rels/slide107.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tags" Target="../tags/tag33.xml"/><Relationship Id="rId4" Type="http://schemas.openxmlformats.org/officeDocument/2006/relationships/image" Target="../media/image138.jpe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139.tiff"/></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tags" Target="../tags/tag35.xml"/><Relationship Id="rId4" Type="http://schemas.openxmlformats.org/officeDocument/2006/relationships/image" Target="../media/image123.wmf"/></Relationships>
</file>

<file path=ppt/slides/_rels/slide112.xml.rels><?xml version="1.0" encoding="UTF-8" standalone="yes"?>
<Relationships xmlns="http://schemas.openxmlformats.org/package/2006/relationships"><Relationship Id="rId8" Type="http://schemas.openxmlformats.org/officeDocument/2006/relationships/image" Target="../media/image123.wmf"/><Relationship Id="rId3" Type="http://schemas.openxmlformats.org/officeDocument/2006/relationships/tags" Target="../tags/tag38.xml"/><Relationship Id="rId7" Type="http://schemas.openxmlformats.org/officeDocument/2006/relationships/image" Target="../media/image140.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notesSlide" Target="../notesSlides/notesSlide63.xml"/><Relationship Id="rId5" Type="http://schemas.openxmlformats.org/officeDocument/2006/relationships/slideLayout" Target="../slideLayouts/slideLayout6.xml"/><Relationship Id="rId10" Type="http://schemas.openxmlformats.org/officeDocument/2006/relationships/image" Target="../media/image142.wmf"/><Relationship Id="rId4" Type="http://schemas.openxmlformats.org/officeDocument/2006/relationships/tags" Target="../tags/tag39.xml"/><Relationship Id="rId9" Type="http://schemas.openxmlformats.org/officeDocument/2006/relationships/image" Target="../media/image14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6.xml"/><Relationship Id="rId1" Type="http://schemas.openxmlformats.org/officeDocument/2006/relationships/tags" Target="../tags/tag40.xml"/><Relationship Id="rId4" Type="http://schemas.openxmlformats.org/officeDocument/2006/relationships/image" Target="../media/image135.tiff"/></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6.xml"/><Relationship Id="rId1" Type="http://schemas.openxmlformats.org/officeDocument/2006/relationships/tags" Target="../tags/tag41.xml"/><Relationship Id="rId4" Type="http://schemas.openxmlformats.org/officeDocument/2006/relationships/image" Target="../media/image135.tiff"/></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11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8.xml"/><Relationship Id="rId1" Type="http://schemas.openxmlformats.org/officeDocument/2006/relationships/slideLayout" Target="../slideLayouts/slideLayout6.xml"/><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70.svg"/></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tags" Target="../tags/tag43.xml"/><Relationship Id="rId5" Type="http://schemas.openxmlformats.org/officeDocument/2006/relationships/image" Target="../media/image70.svg"/><Relationship Id="rId4" Type="http://schemas.openxmlformats.org/officeDocument/2006/relationships/image" Target="../media/image69.png"/></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60.png"/><Relationship Id="rId7" Type="http://schemas.openxmlformats.org/officeDocument/2006/relationships/image" Target="../media/image42.png"/><Relationship Id="rId2" Type="http://schemas.openxmlformats.org/officeDocument/2006/relationships/notesSlide" Target="../notesSlides/notesSlide71.xml"/><Relationship Id="rId1" Type="http://schemas.openxmlformats.org/officeDocument/2006/relationships/slideLayout" Target="../slideLayouts/slideLayout6.xml"/><Relationship Id="rId6" Type="http://schemas.openxmlformats.org/officeDocument/2006/relationships/image" Target="../media/image64.svg"/><Relationship Id="rId5" Type="http://schemas.openxmlformats.org/officeDocument/2006/relationships/image" Target="../media/image63.png"/><Relationship Id="rId10" Type="http://schemas.openxmlformats.org/officeDocument/2006/relationships/image" Target="../media/image76.svg"/><Relationship Id="rId4" Type="http://schemas.openxmlformats.org/officeDocument/2006/relationships/image" Target="../media/image61.svg"/><Relationship Id="rId9" Type="http://schemas.openxmlformats.org/officeDocument/2006/relationships/image" Target="../media/image75.png"/></Relationships>
</file>

<file path=ppt/slides/_rels/slide123.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77.png"/><Relationship Id="rId3" Type="http://schemas.openxmlformats.org/officeDocument/2006/relationships/image" Target="../media/image60.png"/><Relationship Id="rId7" Type="http://schemas.openxmlformats.org/officeDocument/2006/relationships/image" Target="../media/image13.png"/><Relationship Id="rId12" Type="http://schemas.openxmlformats.org/officeDocument/2006/relationships/image" Target="../media/image43.svg"/><Relationship Id="rId2" Type="http://schemas.openxmlformats.org/officeDocument/2006/relationships/notesSlide" Target="../notesSlides/notesSlide72.xml"/><Relationship Id="rId1" Type="http://schemas.openxmlformats.org/officeDocument/2006/relationships/slideLayout" Target="../slideLayouts/slideLayout6.xml"/><Relationship Id="rId6" Type="http://schemas.openxmlformats.org/officeDocument/2006/relationships/image" Target="../media/image64.svg"/><Relationship Id="rId11" Type="http://schemas.openxmlformats.org/officeDocument/2006/relationships/image" Target="../media/image42.png"/><Relationship Id="rId5" Type="http://schemas.openxmlformats.org/officeDocument/2006/relationships/image" Target="../media/image63.png"/><Relationship Id="rId10" Type="http://schemas.openxmlformats.org/officeDocument/2006/relationships/image" Target="../media/image12.svg"/><Relationship Id="rId4" Type="http://schemas.openxmlformats.org/officeDocument/2006/relationships/image" Target="../media/image61.svg"/><Relationship Id="rId9" Type="http://schemas.openxmlformats.org/officeDocument/2006/relationships/image" Target="../media/image11.png"/><Relationship Id="rId14" Type="http://schemas.openxmlformats.org/officeDocument/2006/relationships/image" Target="../media/image78.svg"/></Relationships>
</file>

<file path=ppt/slides/_rels/slide124.xml.rels><?xml version="1.0" encoding="UTF-8" standalone="yes"?>
<Relationships xmlns="http://schemas.openxmlformats.org/package/2006/relationships"><Relationship Id="rId8" Type="http://schemas.openxmlformats.org/officeDocument/2006/relationships/image" Target="../media/image70.svg"/><Relationship Id="rId3" Type="http://schemas.openxmlformats.org/officeDocument/2006/relationships/image" Target="../media/image13.png"/><Relationship Id="rId7" Type="http://schemas.openxmlformats.org/officeDocument/2006/relationships/image" Target="../media/image69.png"/><Relationship Id="rId12" Type="http://schemas.openxmlformats.org/officeDocument/2006/relationships/image" Target="../media/image12.svg"/><Relationship Id="rId2" Type="http://schemas.openxmlformats.org/officeDocument/2006/relationships/notesSlide" Target="../notesSlides/notesSlide73.xml"/><Relationship Id="rId1" Type="http://schemas.openxmlformats.org/officeDocument/2006/relationships/slideLayout" Target="../slideLayouts/slideLayout6.xml"/><Relationship Id="rId6" Type="http://schemas.openxmlformats.org/officeDocument/2006/relationships/image" Target="../media/image59.svg"/><Relationship Id="rId11" Type="http://schemas.openxmlformats.org/officeDocument/2006/relationships/image" Target="../media/image11.png"/><Relationship Id="rId5" Type="http://schemas.openxmlformats.org/officeDocument/2006/relationships/image" Target="../media/image58.png"/><Relationship Id="rId10" Type="http://schemas.openxmlformats.org/officeDocument/2006/relationships/image" Target="../media/image64.svg"/><Relationship Id="rId4" Type="http://schemas.openxmlformats.org/officeDocument/2006/relationships/image" Target="../media/image14.svg"/><Relationship Id="rId9" Type="http://schemas.openxmlformats.org/officeDocument/2006/relationships/image" Target="../media/image6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tags" Target="../tags/tag45.xml"/><Relationship Id="rId4" Type="http://schemas.openxmlformats.org/officeDocument/2006/relationships/image" Target="../media/image143.jpeg"/></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tags" Target="../tags/tag46.xml"/><Relationship Id="rId4" Type="http://schemas.openxmlformats.org/officeDocument/2006/relationships/image" Target="../media/image144.jpeg"/></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tags" Target="../tags/tag47.xml"/><Relationship Id="rId4" Type="http://schemas.openxmlformats.org/officeDocument/2006/relationships/hyperlink" Target="http://www.formaestudio.com/rijndaelinspector/archivos/Rijndael_Animation_v4_eng.swf" TargetMode="Externa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tags" Target="../tags/tag48.xml"/><Relationship Id="rId4" Type="http://schemas.openxmlformats.org/officeDocument/2006/relationships/image" Target="../media/image145.jpeg"/></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1.xml"/><Relationship Id="rId1" Type="http://schemas.openxmlformats.org/officeDocument/2006/relationships/slideLayout" Target="../slideLayouts/slideLayout6.xml"/><Relationship Id="rId4" Type="http://schemas.openxmlformats.org/officeDocument/2006/relationships/image" Target="../media/image70.svg"/></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13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5.xml"/><Relationship Id="rId1" Type="http://schemas.openxmlformats.org/officeDocument/2006/relationships/slideLayout" Target="../slideLayouts/slideLayout6.xml"/><Relationship Id="rId4" Type="http://schemas.openxmlformats.org/officeDocument/2006/relationships/image" Target="../media/image70.sv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3" Type="http://schemas.openxmlformats.org/officeDocument/2006/relationships/hyperlink" Target="https://www.varchev.com/wp-content/uploads/2015/12/150518_r26512-1200-630-06150519.jpg" TargetMode="External"/><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146.jpeg"/></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141.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image" Target="../media/image148.png"/><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image" Target="../media/image147.png"/><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notesSlide" Target="../notesSlides/notesSlide88.xml"/><Relationship Id="rId5" Type="http://schemas.openxmlformats.org/officeDocument/2006/relationships/tags" Target="../tags/tag56.xml"/><Relationship Id="rId15" Type="http://schemas.openxmlformats.org/officeDocument/2006/relationships/image" Target="../media/image150.png"/><Relationship Id="rId10" Type="http://schemas.openxmlformats.org/officeDocument/2006/relationships/slideLayout" Target="../slideLayouts/slideLayout6.xml"/><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image" Target="../media/image149.png"/></Relationships>
</file>

<file path=ppt/slides/_rels/slide142.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44.png"/><Relationship Id="rId7" Type="http://schemas.openxmlformats.org/officeDocument/2006/relationships/image" Target="../media/image63.png"/><Relationship Id="rId2" Type="http://schemas.openxmlformats.org/officeDocument/2006/relationships/notesSlide" Target="../notesSlides/notesSlide89.xml"/><Relationship Id="rId1" Type="http://schemas.openxmlformats.org/officeDocument/2006/relationships/slideLayout" Target="../slideLayouts/slideLayout6.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43.svg"/><Relationship Id="rId4" Type="http://schemas.openxmlformats.org/officeDocument/2006/relationships/image" Target="../media/image45.svg"/><Relationship Id="rId9" Type="http://schemas.openxmlformats.org/officeDocument/2006/relationships/image" Target="../media/image42.png"/></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4.xml"/><Relationship Id="rId1" Type="http://schemas.openxmlformats.org/officeDocument/2006/relationships/slideLayout" Target="../slideLayouts/slideLayout6.xml"/><Relationship Id="rId4" Type="http://schemas.openxmlformats.org/officeDocument/2006/relationships/image" Target="../media/image12.svg"/></Relationships>
</file>

<file path=ppt/slides/_rels/slide1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5.xml"/><Relationship Id="rId1" Type="http://schemas.openxmlformats.org/officeDocument/2006/relationships/slideLayout" Target="../slideLayouts/slideLayout6.xml"/><Relationship Id="rId4" Type="http://schemas.openxmlformats.org/officeDocument/2006/relationships/image" Target="../media/image43.svg"/></Relationships>
</file>

<file path=ppt/slides/_rels/slide15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63.png"/><Relationship Id="rId7" Type="http://schemas.openxmlformats.org/officeDocument/2006/relationships/image" Target="../media/image9.png"/><Relationship Id="rId12" Type="http://schemas.openxmlformats.org/officeDocument/2006/relationships/image" Target="../media/image43.svg"/><Relationship Id="rId2" Type="http://schemas.openxmlformats.org/officeDocument/2006/relationships/notesSlide" Target="../notesSlides/notesSlide96.xml"/><Relationship Id="rId1" Type="http://schemas.openxmlformats.org/officeDocument/2006/relationships/slideLayout" Target="../slideLayouts/slideLayout6.xml"/><Relationship Id="rId6" Type="http://schemas.openxmlformats.org/officeDocument/2006/relationships/image" Target="../media/image12.svg"/><Relationship Id="rId11" Type="http://schemas.openxmlformats.org/officeDocument/2006/relationships/image" Target="../media/image42.png"/><Relationship Id="rId5" Type="http://schemas.openxmlformats.org/officeDocument/2006/relationships/image" Target="../media/image11.png"/><Relationship Id="rId10" Type="http://schemas.openxmlformats.org/officeDocument/2006/relationships/image" Target="../media/image70.svg"/><Relationship Id="rId4" Type="http://schemas.openxmlformats.org/officeDocument/2006/relationships/image" Target="../media/image64.svg"/><Relationship Id="rId9" Type="http://schemas.openxmlformats.org/officeDocument/2006/relationships/image" Target="../media/image69.png"/></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2.xml"/><Relationship Id="rId1" Type="http://schemas.openxmlformats.org/officeDocument/2006/relationships/tags" Target="../tags/tag63.xml"/><Relationship Id="rId4" Type="http://schemas.openxmlformats.org/officeDocument/2006/relationships/image" Target="../media/image151.png"/></Relationships>
</file>

<file path=ppt/slides/_rels/slide1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9.xml"/><Relationship Id="rId1" Type="http://schemas.openxmlformats.org/officeDocument/2006/relationships/slideLayout" Target="../slideLayouts/slideLayout6.xml"/><Relationship Id="rId4" Type="http://schemas.openxmlformats.org/officeDocument/2006/relationships/image" Target="../media/image12.sv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01.xml"/><Relationship Id="rId1" Type="http://schemas.openxmlformats.org/officeDocument/2006/relationships/slideLayout" Target="../slideLayouts/slideLayout6.xml"/><Relationship Id="rId4" Type="http://schemas.openxmlformats.org/officeDocument/2006/relationships/image" Target="../media/image64.svg"/></Relationships>
</file>

<file path=ppt/slides/_rels/slide160.xml.rels><?xml version="1.0" encoding="UTF-8" standalone="yes"?>
<Relationships xmlns="http://schemas.openxmlformats.org/package/2006/relationships"><Relationship Id="rId8" Type="http://schemas.openxmlformats.org/officeDocument/2006/relationships/image" Target="../media/image155.png"/><Relationship Id="rId3" Type="http://schemas.openxmlformats.org/officeDocument/2006/relationships/hyperlink" Target="https://www.jackhenrybanking.com/" TargetMode="External"/><Relationship Id="rId7" Type="http://schemas.openxmlformats.org/officeDocument/2006/relationships/hyperlink" Target="https://www.finastra.com/" TargetMode="External"/><Relationship Id="rId2" Type="http://schemas.openxmlformats.org/officeDocument/2006/relationships/notesSlide" Target="../notesSlides/notesSlide102.xml"/><Relationship Id="rId1" Type="http://schemas.openxmlformats.org/officeDocument/2006/relationships/slideLayout" Target="../slideLayouts/slideLayout2.xml"/><Relationship Id="rId6" Type="http://schemas.openxmlformats.org/officeDocument/2006/relationships/image" Target="../media/image154.svg"/><Relationship Id="rId5" Type="http://schemas.openxmlformats.org/officeDocument/2006/relationships/image" Target="../media/image153.png"/><Relationship Id="rId10" Type="http://schemas.openxmlformats.org/officeDocument/2006/relationships/image" Target="../media/image156.png"/><Relationship Id="rId4" Type="http://schemas.openxmlformats.org/officeDocument/2006/relationships/image" Target="../media/image152.png"/><Relationship Id="rId9" Type="http://schemas.openxmlformats.org/officeDocument/2006/relationships/hyperlink" Target="https://www.nymbus.com/" TargetMode="External"/></Relationships>
</file>

<file path=ppt/slides/_rels/slide16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60.png"/><Relationship Id="rId7" Type="http://schemas.openxmlformats.org/officeDocument/2006/relationships/image" Target="../media/image13.png"/><Relationship Id="rId2" Type="http://schemas.openxmlformats.org/officeDocument/2006/relationships/notesSlide" Target="../notesSlides/notesSlide103.xml"/><Relationship Id="rId1" Type="http://schemas.openxmlformats.org/officeDocument/2006/relationships/slideLayout" Target="../slideLayouts/slideLayout6.xml"/><Relationship Id="rId6" Type="http://schemas.openxmlformats.org/officeDocument/2006/relationships/image" Target="../media/image59.svg"/><Relationship Id="rId5" Type="http://schemas.openxmlformats.org/officeDocument/2006/relationships/image" Target="../media/image58.png"/><Relationship Id="rId10" Type="http://schemas.openxmlformats.org/officeDocument/2006/relationships/image" Target="../media/image64.svg"/><Relationship Id="rId4" Type="http://schemas.openxmlformats.org/officeDocument/2006/relationships/image" Target="../media/image61.svg"/><Relationship Id="rId9" Type="http://schemas.openxmlformats.org/officeDocument/2006/relationships/image" Target="../media/image63.png"/></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05.xml"/><Relationship Id="rId1" Type="http://schemas.openxmlformats.org/officeDocument/2006/relationships/slideLayout" Target="../slideLayouts/slideLayout6.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64.svg"/></Relationships>
</file>

<file path=ppt/slides/_rels/slide16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06.xml"/><Relationship Id="rId1" Type="http://schemas.openxmlformats.org/officeDocument/2006/relationships/slideLayout" Target="../slideLayouts/slideLayout6.xml"/><Relationship Id="rId4" Type="http://schemas.openxmlformats.org/officeDocument/2006/relationships/image" Target="../media/image64.svg"/></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6.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13.xml"/><Relationship Id="rId1" Type="http://schemas.openxmlformats.org/officeDocument/2006/relationships/slideLayout" Target="../slideLayouts/slideLayout6.xml"/><Relationship Id="rId4" Type="http://schemas.openxmlformats.org/officeDocument/2006/relationships/image" Target="../media/image78.svg"/></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4.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2.xml"/><Relationship Id="rId1" Type="http://schemas.openxmlformats.org/officeDocument/2006/relationships/tags" Target="../tags/tag64.xml"/><Relationship Id="rId5" Type="http://schemas.openxmlformats.org/officeDocument/2006/relationships/image" Target="../media/image158.svg"/><Relationship Id="rId4" Type="http://schemas.openxmlformats.org/officeDocument/2006/relationships/image" Target="../media/image157.png"/></Relationships>
</file>

<file path=ppt/slides/_rels/slide175.xml.rels><?xml version="1.0" encoding="UTF-8" standalone="yes"?>
<Relationships xmlns="http://schemas.openxmlformats.org/package/2006/relationships"><Relationship Id="rId3" Type="http://schemas.openxmlformats.org/officeDocument/2006/relationships/notesSlide" Target="../notesSlides/notesSlide116.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76.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18.xml"/><Relationship Id="rId1" Type="http://schemas.openxmlformats.org/officeDocument/2006/relationships/slideLayout" Target="../slideLayouts/slideLayout6.xml"/><Relationship Id="rId4" Type="http://schemas.openxmlformats.org/officeDocument/2006/relationships/image" Target="../media/image80.svg"/></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3.xml"/></Relationships>
</file>

<file path=ppt/slides/_rels/slide181.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image" Target="../media/image159.png"/><Relationship Id="rId1" Type="http://schemas.openxmlformats.org/officeDocument/2006/relationships/slideLayout" Target="../slideLayouts/slideLayout2.xml"/><Relationship Id="rId6" Type="http://schemas.openxmlformats.org/officeDocument/2006/relationships/image" Target="../media/image135.tiff"/><Relationship Id="rId5" Type="http://schemas.openxmlformats.org/officeDocument/2006/relationships/image" Target="../media/image162.jpeg"/><Relationship Id="rId4" Type="http://schemas.openxmlformats.org/officeDocument/2006/relationships/image" Target="../media/image161.png"/></Relationships>
</file>

<file path=ppt/slides/_rels/slide182.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2.xml"/><Relationship Id="rId1" Type="http://schemas.openxmlformats.org/officeDocument/2006/relationships/tags" Target="../tags/tag67.xml"/><Relationship Id="rId4" Type="http://schemas.openxmlformats.org/officeDocument/2006/relationships/image" Target="../media/image163.jpeg"/></Relationships>
</file>

<file path=ppt/slides/_rels/slide183.xml.rels><?xml version="1.0" encoding="UTF-8" standalone="yes"?>
<Relationships xmlns="http://schemas.openxmlformats.org/package/2006/relationships"><Relationship Id="rId8" Type="http://schemas.openxmlformats.org/officeDocument/2006/relationships/image" Target="../media/image166.png"/><Relationship Id="rId3" Type="http://schemas.openxmlformats.org/officeDocument/2006/relationships/tags" Target="../tags/tag70.xml"/><Relationship Id="rId7" Type="http://schemas.openxmlformats.org/officeDocument/2006/relationships/image" Target="../media/image165.png"/><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image" Target="../media/image164.png"/><Relationship Id="rId5" Type="http://schemas.openxmlformats.org/officeDocument/2006/relationships/notesSlide" Target="../notesSlides/notesSlide122.xml"/><Relationship Id="rId4" Type="http://schemas.openxmlformats.org/officeDocument/2006/relationships/slideLayout" Target="../slideLayouts/slideLayout6.xml"/></Relationships>
</file>

<file path=ppt/slides/_rels/slide184.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2.xml"/><Relationship Id="rId1" Type="http://schemas.openxmlformats.org/officeDocument/2006/relationships/tags" Target="../tags/tag71.xml"/><Relationship Id="rId5" Type="http://schemas.openxmlformats.org/officeDocument/2006/relationships/image" Target="../media/image12.svg"/><Relationship Id="rId4" Type="http://schemas.openxmlformats.org/officeDocument/2006/relationships/image" Target="../media/image11.png"/></Relationships>
</file>

<file path=ppt/slides/_rels/slide185.xml.rels><?xml version="1.0" encoding="UTF-8" standalone="yes"?>
<Relationships xmlns="http://schemas.openxmlformats.org/package/2006/relationships"><Relationship Id="rId3" Type="http://schemas.openxmlformats.org/officeDocument/2006/relationships/notesSlide" Target="../notesSlides/notesSlide124.xml"/><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86.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2.xml"/><Relationship Id="rId1" Type="http://schemas.openxmlformats.org/officeDocument/2006/relationships/tags" Target="../tags/tag73.xml"/><Relationship Id="rId4" Type="http://schemas.openxmlformats.org/officeDocument/2006/relationships/image" Target="../media/image167.jpeg"/></Relationships>
</file>

<file path=ppt/slides/_rels/slide18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7.png"/><Relationship Id="rId7" Type="http://schemas.openxmlformats.org/officeDocument/2006/relationships/image" Target="../media/image13.png"/><Relationship Id="rId12" Type="http://schemas.openxmlformats.org/officeDocument/2006/relationships/image" Target="../media/image78.svg"/><Relationship Id="rId2" Type="http://schemas.openxmlformats.org/officeDocument/2006/relationships/notesSlide" Target="../notesSlides/notesSlide126.xml"/><Relationship Id="rId1" Type="http://schemas.openxmlformats.org/officeDocument/2006/relationships/slideLayout" Target="../slideLayouts/slideLayout6.xml"/><Relationship Id="rId6" Type="http://schemas.openxmlformats.org/officeDocument/2006/relationships/image" Target="../media/image43.svg"/><Relationship Id="rId11" Type="http://schemas.openxmlformats.org/officeDocument/2006/relationships/image" Target="../media/image77.png"/><Relationship Id="rId5" Type="http://schemas.openxmlformats.org/officeDocument/2006/relationships/image" Target="../media/image42.png"/><Relationship Id="rId10" Type="http://schemas.openxmlformats.org/officeDocument/2006/relationships/image" Target="../media/image12.svg"/><Relationship Id="rId4" Type="http://schemas.openxmlformats.org/officeDocument/2006/relationships/image" Target="../media/image8.svg"/><Relationship Id="rId9" Type="http://schemas.openxmlformats.org/officeDocument/2006/relationships/image" Target="../media/image11.png"/></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3.xml"/></Relationships>
</file>

<file path=ppt/slides/_rels/slide189.xml.rels><?xml version="1.0" encoding="UTF-8" standalone="yes"?>
<Relationships xmlns="http://schemas.openxmlformats.org/package/2006/relationships"><Relationship Id="rId8" Type="http://schemas.openxmlformats.org/officeDocument/2006/relationships/image" Target="../media/image61.svg"/><Relationship Id="rId13"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60.png"/><Relationship Id="rId12" Type="http://schemas.openxmlformats.org/officeDocument/2006/relationships/image" Target="../media/image74.svg"/><Relationship Id="rId2" Type="http://schemas.openxmlformats.org/officeDocument/2006/relationships/notesSlide" Target="../notesSlides/notesSlide128.xml"/><Relationship Id="rId1" Type="http://schemas.openxmlformats.org/officeDocument/2006/relationships/slideLayout" Target="../slideLayouts/slideLayout6.xml"/><Relationship Id="rId6" Type="http://schemas.openxmlformats.org/officeDocument/2006/relationships/image" Target="../media/image51.svg"/><Relationship Id="rId11" Type="http://schemas.openxmlformats.org/officeDocument/2006/relationships/image" Target="../media/image73.png"/><Relationship Id="rId5" Type="http://schemas.openxmlformats.org/officeDocument/2006/relationships/image" Target="../media/image50.png"/><Relationship Id="rId10" Type="http://schemas.openxmlformats.org/officeDocument/2006/relationships/image" Target="../media/image76.svg"/><Relationship Id="rId4" Type="http://schemas.openxmlformats.org/officeDocument/2006/relationships/image" Target="../media/image8.svg"/><Relationship Id="rId9" Type="http://schemas.openxmlformats.org/officeDocument/2006/relationships/image" Target="../media/image75.png"/><Relationship Id="rId14" Type="http://schemas.openxmlformats.org/officeDocument/2006/relationships/image" Target="../media/image14.svg"/></Relationships>
</file>

<file path=ppt/slides/_rels/slide19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9.xml"/><Relationship Id="rId1" Type="http://schemas.openxmlformats.org/officeDocument/2006/relationships/slideLayout" Target="../slideLayouts/slideLayout6.xml"/><Relationship Id="rId4" Type="http://schemas.openxmlformats.org/officeDocument/2006/relationships/image" Target="../media/image14.svg"/></Relationships>
</file>

<file path=ppt/slides/_rels/slide19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44.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130.xml"/><Relationship Id="rId1" Type="http://schemas.openxmlformats.org/officeDocument/2006/relationships/slideLayout" Target="../slideLayouts/slideLayout6.xml"/><Relationship Id="rId6" Type="http://schemas.openxmlformats.org/officeDocument/2006/relationships/image" Target="../media/image80.svg"/><Relationship Id="rId11" Type="http://schemas.openxmlformats.org/officeDocument/2006/relationships/image" Target="../media/image13.png"/><Relationship Id="rId5" Type="http://schemas.openxmlformats.org/officeDocument/2006/relationships/image" Target="../media/image79.png"/><Relationship Id="rId10" Type="http://schemas.openxmlformats.org/officeDocument/2006/relationships/image" Target="../media/image43.svg"/><Relationship Id="rId4" Type="http://schemas.openxmlformats.org/officeDocument/2006/relationships/image" Target="../media/image45.svg"/><Relationship Id="rId9" Type="http://schemas.openxmlformats.org/officeDocument/2006/relationships/image" Target="../media/image42.png"/></Relationships>
</file>

<file path=ppt/slides/_rels/slide19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63.png"/><Relationship Id="rId7" Type="http://schemas.openxmlformats.org/officeDocument/2006/relationships/image" Target="../media/image13.png"/><Relationship Id="rId2" Type="http://schemas.openxmlformats.org/officeDocument/2006/relationships/notesSlide" Target="../notesSlides/notesSlide131.xml"/><Relationship Id="rId1" Type="http://schemas.openxmlformats.org/officeDocument/2006/relationships/slideLayout" Target="../slideLayouts/slideLayout6.xml"/><Relationship Id="rId6" Type="http://schemas.openxmlformats.org/officeDocument/2006/relationships/image" Target="../media/image43.svg"/><Relationship Id="rId5" Type="http://schemas.openxmlformats.org/officeDocument/2006/relationships/image" Target="../media/image42.png"/><Relationship Id="rId10" Type="http://schemas.openxmlformats.org/officeDocument/2006/relationships/image" Target="../media/image12.svg"/><Relationship Id="rId4" Type="http://schemas.openxmlformats.org/officeDocument/2006/relationships/image" Target="../media/image64.svg"/><Relationship Id="rId9" Type="http://schemas.openxmlformats.org/officeDocument/2006/relationships/image" Target="../media/image11.png"/></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60.png"/><Relationship Id="rId7" Type="http://schemas.openxmlformats.org/officeDocument/2006/relationships/image" Target="../media/image63.png"/><Relationship Id="rId2" Type="http://schemas.openxmlformats.org/officeDocument/2006/relationships/notesSlide" Target="../notesSlides/notesSlide133.xml"/><Relationship Id="rId1" Type="http://schemas.openxmlformats.org/officeDocument/2006/relationships/slideLayout" Target="../slideLayouts/slideLayout6.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61.svg"/></Relationships>
</file>

<file path=ppt/slides/_rels/slide19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4.xml"/><Relationship Id="rId1" Type="http://schemas.openxmlformats.org/officeDocument/2006/relationships/slideLayout" Target="../slideLayouts/slideLayout6.xml"/><Relationship Id="rId4" Type="http://schemas.openxmlformats.org/officeDocument/2006/relationships/image" Target="../media/image14.svg"/></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3.xml"/></Relationships>
</file>

<file path=ppt/slides/_rels/slide197.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1.png"/><Relationship Id="rId7" Type="http://schemas.openxmlformats.org/officeDocument/2006/relationships/image" Target="../media/image7.png"/><Relationship Id="rId12" Type="http://schemas.openxmlformats.org/officeDocument/2006/relationships/image" Target="../media/image61.svg"/><Relationship Id="rId2" Type="http://schemas.openxmlformats.org/officeDocument/2006/relationships/notesSlide" Target="../notesSlides/notesSlide136.xml"/><Relationship Id="rId1" Type="http://schemas.openxmlformats.org/officeDocument/2006/relationships/slideLayout" Target="../slideLayouts/slideLayout6.xml"/><Relationship Id="rId6" Type="http://schemas.openxmlformats.org/officeDocument/2006/relationships/image" Target="../media/image70.svg"/><Relationship Id="rId11" Type="http://schemas.openxmlformats.org/officeDocument/2006/relationships/image" Target="../media/image60.png"/><Relationship Id="rId5" Type="http://schemas.openxmlformats.org/officeDocument/2006/relationships/image" Target="../media/image69.png"/><Relationship Id="rId10" Type="http://schemas.openxmlformats.org/officeDocument/2006/relationships/image" Target="../media/image66.svg"/><Relationship Id="rId4" Type="http://schemas.openxmlformats.org/officeDocument/2006/relationships/image" Target="../media/image12.svg"/><Relationship Id="rId9" Type="http://schemas.openxmlformats.org/officeDocument/2006/relationships/image" Target="../media/image65.png"/></Relationships>
</file>

<file path=ppt/slides/_rels/slide198.xml.rels><?xml version="1.0" encoding="UTF-8" standalone="yes"?>
<Relationships xmlns="http://schemas.openxmlformats.org/package/2006/relationships"><Relationship Id="rId3" Type="http://schemas.openxmlformats.org/officeDocument/2006/relationships/notesSlide" Target="../notesSlides/notesSlide137.xml"/><Relationship Id="rId2" Type="http://schemas.openxmlformats.org/officeDocument/2006/relationships/slideLayout" Target="../slideLayouts/slideLayout6.xml"/><Relationship Id="rId1" Type="http://schemas.openxmlformats.org/officeDocument/2006/relationships/tags" Target="../tags/tag74.xml"/><Relationship Id="rId4" Type="http://schemas.openxmlformats.org/officeDocument/2006/relationships/image" Target="../media/image168.wmf"/></Relationships>
</file>

<file path=ppt/slides/_rels/slide199.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3" Type="http://schemas.openxmlformats.org/officeDocument/2006/relationships/notesSlide" Target="../notesSlides/notesSlide139.xml"/><Relationship Id="rId2" Type="http://schemas.openxmlformats.org/officeDocument/2006/relationships/slideLayout" Target="../slideLayouts/slideLayout2.xml"/><Relationship Id="rId1" Type="http://schemas.openxmlformats.org/officeDocument/2006/relationships/tags" Target="../tags/tag75.xml"/><Relationship Id="rId5" Type="http://schemas.openxmlformats.org/officeDocument/2006/relationships/image" Target="../media/image171.png"/><Relationship Id="rId4" Type="http://schemas.openxmlformats.org/officeDocument/2006/relationships/image" Target="../media/image170.png"/></Relationships>
</file>

<file path=ppt/slides/_rels/slide20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60.png"/><Relationship Id="rId7" Type="http://schemas.openxmlformats.org/officeDocument/2006/relationships/image" Target="../media/image11.png"/><Relationship Id="rId12" Type="http://schemas.openxmlformats.org/officeDocument/2006/relationships/image" Target="../media/image64.svg"/><Relationship Id="rId2" Type="http://schemas.openxmlformats.org/officeDocument/2006/relationships/notesSlide" Target="../notesSlides/notesSlide140.xml"/><Relationship Id="rId1" Type="http://schemas.openxmlformats.org/officeDocument/2006/relationships/slideLayout" Target="../slideLayouts/slideLayout6.xml"/><Relationship Id="rId6" Type="http://schemas.openxmlformats.org/officeDocument/2006/relationships/image" Target="../media/image10.svg"/><Relationship Id="rId11" Type="http://schemas.openxmlformats.org/officeDocument/2006/relationships/image" Target="../media/image63.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61.svg"/><Relationship Id="rId9" Type="http://schemas.openxmlformats.org/officeDocument/2006/relationships/image" Target="../media/image13.png"/></Relationships>
</file>

<file path=ppt/slides/_rels/slide202.xml.rels><?xml version="1.0" encoding="UTF-8" standalone="yes"?>
<Relationships xmlns="http://schemas.openxmlformats.org/package/2006/relationships"><Relationship Id="rId8" Type="http://schemas.openxmlformats.org/officeDocument/2006/relationships/image" Target="../media/image66.svg"/><Relationship Id="rId13" Type="http://schemas.openxmlformats.org/officeDocument/2006/relationships/image" Target="../media/image13.png"/><Relationship Id="rId18" Type="http://schemas.openxmlformats.org/officeDocument/2006/relationships/image" Target="../media/image10.svg"/><Relationship Id="rId3" Type="http://schemas.openxmlformats.org/officeDocument/2006/relationships/image" Target="../media/image77.png"/><Relationship Id="rId7" Type="http://schemas.openxmlformats.org/officeDocument/2006/relationships/image" Target="../media/image65.png"/><Relationship Id="rId12" Type="http://schemas.openxmlformats.org/officeDocument/2006/relationships/image" Target="../media/image36.svg"/><Relationship Id="rId17" Type="http://schemas.openxmlformats.org/officeDocument/2006/relationships/image" Target="../media/image9.png"/><Relationship Id="rId2" Type="http://schemas.openxmlformats.org/officeDocument/2006/relationships/notesSlide" Target="../notesSlides/notesSlide141.xml"/><Relationship Id="rId16" Type="http://schemas.openxmlformats.org/officeDocument/2006/relationships/image" Target="../media/image59.svg"/><Relationship Id="rId1" Type="http://schemas.openxmlformats.org/officeDocument/2006/relationships/slideLayout" Target="../slideLayouts/slideLayout6.xml"/><Relationship Id="rId6" Type="http://schemas.openxmlformats.org/officeDocument/2006/relationships/image" Target="../media/image76.svg"/><Relationship Id="rId11" Type="http://schemas.openxmlformats.org/officeDocument/2006/relationships/image" Target="../media/image35.png"/><Relationship Id="rId5" Type="http://schemas.openxmlformats.org/officeDocument/2006/relationships/image" Target="../media/image75.png"/><Relationship Id="rId15" Type="http://schemas.openxmlformats.org/officeDocument/2006/relationships/image" Target="../media/image58.png"/><Relationship Id="rId10" Type="http://schemas.openxmlformats.org/officeDocument/2006/relationships/image" Target="../media/image70.svg"/><Relationship Id="rId4" Type="http://schemas.openxmlformats.org/officeDocument/2006/relationships/image" Target="../media/image78.svg"/><Relationship Id="rId9" Type="http://schemas.openxmlformats.org/officeDocument/2006/relationships/image" Target="../media/image69.png"/><Relationship Id="rId14" Type="http://schemas.openxmlformats.org/officeDocument/2006/relationships/image" Target="../media/image14.svg"/></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43.xml"/><Relationship Id="rId1" Type="http://schemas.openxmlformats.org/officeDocument/2006/relationships/slideLayout" Target="../slideLayouts/slideLayout6.xml"/><Relationship Id="rId4" Type="http://schemas.openxmlformats.org/officeDocument/2006/relationships/image" Target="../media/image59.svg"/></Relationships>
</file>

<file path=ppt/slides/_rels/slide206.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9.png"/><Relationship Id="rId7" Type="http://schemas.openxmlformats.org/officeDocument/2006/relationships/image" Target="../media/image63.png"/><Relationship Id="rId2" Type="http://schemas.openxmlformats.org/officeDocument/2006/relationships/notesSlide" Target="../notesSlides/notesSlide144.xml"/><Relationship Id="rId1" Type="http://schemas.openxmlformats.org/officeDocument/2006/relationships/slideLayout" Target="../slideLayouts/slideLayout6.xml"/><Relationship Id="rId6" Type="http://schemas.openxmlformats.org/officeDocument/2006/relationships/image" Target="../media/image74.svg"/><Relationship Id="rId5" Type="http://schemas.openxmlformats.org/officeDocument/2006/relationships/image" Target="../media/image73.png"/><Relationship Id="rId10" Type="http://schemas.openxmlformats.org/officeDocument/2006/relationships/image" Target="../media/image14.svg"/><Relationship Id="rId4" Type="http://schemas.openxmlformats.org/officeDocument/2006/relationships/image" Target="../media/image10.svg"/><Relationship Id="rId9" Type="http://schemas.openxmlformats.org/officeDocument/2006/relationships/image" Target="../media/image13.png"/></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6.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6.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6.xml"/></Relationships>
</file>

<file path=ppt/slides/_rels/slide21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48.xml"/><Relationship Id="rId1" Type="http://schemas.openxmlformats.org/officeDocument/2006/relationships/slideLayout" Target="../slideLayouts/slideLayout6.xml"/><Relationship Id="rId6" Type="http://schemas.openxmlformats.org/officeDocument/2006/relationships/image" Target="../media/image80.svg"/><Relationship Id="rId5" Type="http://schemas.openxmlformats.org/officeDocument/2006/relationships/image" Target="../media/image79.png"/><Relationship Id="rId4" Type="http://schemas.openxmlformats.org/officeDocument/2006/relationships/image" Target="../media/image59.svg"/></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6.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3.xml"/></Relationships>
</file>

<file path=ppt/slides/_rels/slide213.xml.rels><?xml version="1.0" encoding="UTF-8" standalone="yes"?>
<Relationships xmlns="http://schemas.openxmlformats.org/package/2006/relationships"><Relationship Id="rId3" Type="http://schemas.openxmlformats.org/officeDocument/2006/relationships/notesSlide" Target="../notesSlides/notesSlide151.xml"/><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214.xml.rels><?xml version="1.0" encoding="UTF-8" standalone="yes"?>
<Relationships xmlns="http://schemas.openxmlformats.org/package/2006/relationships"><Relationship Id="rId3" Type="http://schemas.openxmlformats.org/officeDocument/2006/relationships/image" Target="../media/image172.emf"/><Relationship Id="rId2" Type="http://schemas.openxmlformats.org/officeDocument/2006/relationships/notesSlide" Target="../notesSlides/notesSlide152.xml"/><Relationship Id="rId1" Type="http://schemas.openxmlformats.org/officeDocument/2006/relationships/slideLayout" Target="../slideLayouts/slideLayout6.xml"/></Relationships>
</file>

<file path=ppt/slides/_rels/slide215.xml.rels><?xml version="1.0" encoding="UTF-8" standalone="yes"?>
<Relationships xmlns="http://schemas.openxmlformats.org/package/2006/relationships"><Relationship Id="rId3" Type="http://schemas.openxmlformats.org/officeDocument/2006/relationships/notesSlide" Target="../notesSlides/notesSlide153.xml"/><Relationship Id="rId2" Type="http://schemas.openxmlformats.org/officeDocument/2006/relationships/slideLayout" Target="../slideLayouts/slideLayout2.xml"/><Relationship Id="rId1" Type="http://schemas.openxmlformats.org/officeDocument/2006/relationships/tags" Target="../tags/tag77.xml"/><Relationship Id="rId5" Type="http://schemas.openxmlformats.org/officeDocument/2006/relationships/image" Target="../media/image43.svg"/><Relationship Id="rId4" Type="http://schemas.openxmlformats.org/officeDocument/2006/relationships/image" Target="../media/image42.png"/></Relationships>
</file>

<file path=ppt/slides/_rels/slide2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4.xml"/><Relationship Id="rId1" Type="http://schemas.openxmlformats.org/officeDocument/2006/relationships/slideLayout" Target="../slideLayouts/slideLayout6.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3.svg"/></Relationships>
</file>

<file path=ppt/slides/_rels/slide217.xml.rels><?xml version="1.0" encoding="UTF-8" standalone="yes"?>
<Relationships xmlns="http://schemas.openxmlformats.org/package/2006/relationships"><Relationship Id="rId3" Type="http://schemas.openxmlformats.org/officeDocument/2006/relationships/notesSlide" Target="../notesSlides/notesSlide155.xml"/><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3" Type="http://schemas.openxmlformats.org/officeDocument/2006/relationships/notesSlide" Target="../notesSlides/notesSlide156.xml"/><Relationship Id="rId2" Type="http://schemas.openxmlformats.org/officeDocument/2006/relationships/slideLayout" Target="../slideLayouts/slideLayout2.xml"/><Relationship Id="rId1" Type="http://schemas.openxmlformats.org/officeDocument/2006/relationships/tags" Target="../tags/tag79.xml"/><Relationship Id="rId5" Type="http://schemas.openxmlformats.org/officeDocument/2006/relationships/image" Target="../media/image174.jpeg"/><Relationship Id="rId4" Type="http://schemas.openxmlformats.org/officeDocument/2006/relationships/image" Target="../media/image173.wmf"/></Relationships>
</file>

<file path=ppt/slides/_rels/slide220.xml.rels><?xml version="1.0" encoding="UTF-8" standalone="yes"?>
<Relationships xmlns="http://schemas.openxmlformats.org/package/2006/relationships"><Relationship Id="rId3" Type="http://schemas.openxmlformats.org/officeDocument/2006/relationships/notesSlide" Target="../notesSlides/notesSlide157.xml"/><Relationship Id="rId2" Type="http://schemas.openxmlformats.org/officeDocument/2006/relationships/slideLayout" Target="../slideLayouts/slideLayout2.xml"/><Relationship Id="rId1" Type="http://schemas.openxmlformats.org/officeDocument/2006/relationships/tags" Target="../tags/tag80.xml"/><Relationship Id="rId5" Type="http://schemas.openxmlformats.org/officeDocument/2006/relationships/image" Target="../media/image174.jpeg"/><Relationship Id="rId4" Type="http://schemas.openxmlformats.org/officeDocument/2006/relationships/image" Target="../media/image173.wmf"/></Relationships>
</file>

<file path=ppt/slides/_rels/slide221.xml.rels><?xml version="1.0" encoding="UTF-8" standalone="yes"?>
<Relationships xmlns="http://schemas.openxmlformats.org/package/2006/relationships"><Relationship Id="rId3" Type="http://schemas.openxmlformats.org/officeDocument/2006/relationships/notesSlide" Target="../notesSlides/notesSlide158.xml"/><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22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8.png"/><Relationship Id="rId7" Type="http://schemas.openxmlformats.org/officeDocument/2006/relationships/image" Target="../media/image7.png"/><Relationship Id="rId12" Type="http://schemas.openxmlformats.org/officeDocument/2006/relationships/image" Target="../media/image66.svg"/><Relationship Id="rId2" Type="http://schemas.openxmlformats.org/officeDocument/2006/relationships/notesSlide" Target="../notesSlides/notesSlide159.xml"/><Relationship Id="rId1" Type="http://schemas.openxmlformats.org/officeDocument/2006/relationships/slideLayout" Target="../slideLayouts/slideLayout6.xml"/><Relationship Id="rId6" Type="http://schemas.openxmlformats.org/officeDocument/2006/relationships/image" Target="../media/image12.svg"/><Relationship Id="rId11" Type="http://schemas.openxmlformats.org/officeDocument/2006/relationships/image" Target="../media/image65.png"/><Relationship Id="rId5" Type="http://schemas.openxmlformats.org/officeDocument/2006/relationships/image" Target="../media/image11.png"/><Relationship Id="rId10" Type="http://schemas.openxmlformats.org/officeDocument/2006/relationships/image" Target="../media/image43.svg"/><Relationship Id="rId4" Type="http://schemas.openxmlformats.org/officeDocument/2006/relationships/image" Target="../media/image49.svg"/><Relationship Id="rId9" Type="http://schemas.openxmlformats.org/officeDocument/2006/relationships/image" Target="../media/image42.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3.xml"/></Relationships>
</file>

<file path=ppt/slides/_rels/slide226.xml.rels><?xml version="1.0" encoding="UTF-8" standalone="yes"?>
<Relationships xmlns="http://schemas.openxmlformats.org/package/2006/relationships"><Relationship Id="rId3" Type="http://schemas.openxmlformats.org/officeDocument/2006/relationships/notesSlide" Target="../notesSlides/notesSlide161.xml"/><Relationship Id="rId7" Type="http://schemas.openxmlformats.org/officeDocument/2006/relationships/image" Target="../media/image178.tiff"/><Relationship Id="rId2" Type="http://schemas.openxmlformats.org/officeDocument/2006/relationships/slideLayout" Target="../slideLayouts/slideLayout2.xml"/><Relationship Id="rId1" Type="http://schemas.openxmlformats.org/officeDocument/2006/relationships/tags" Target="../tags/tag82.xml"/><Relationship Id="rId6" Type="http://schemas.openxmlformats.org/officeDocument/2006/relationships/image" Target="../media/image177.tiff"/><Relationship Id="rId5" Type="http://schemas.openxmlformats.org/officeDocument/2006/relationships/image" Target="../media/image176.tiff"/><Relationship Id="rId4" Type="http://schemas.openxmlformats.org/officeDocument/2006/relationships/image" Target="../media/image175.tiff"/></Relationships>
</file>

<file path=ppt/slides/_rels/slide227.xml.rels><?xml version="1.0" encoding="UTF-8" standalone="yes"?>
<Relationships xmlns="http://schemas.openxmlformats.org/package/2006/relationships"><Relationship Id="rId8" Type="http://schemas.openxmlformats.org/officeDocument/2006/relationships/image" Target="../media/image70.svg"/><Relationship Id="rId13" Type="http://schemas.openxmlformats.org/officeDocument/2006/relationships/image" Target="../media/image83.png"/><Relationship Id="rId18" Type="http://schemas.openxmlformats.org/officeDocument/2006/relationships/image" Target="../media/image47.svg"/><Relationship Id="rId3" Type="http://schemas.openxmlformats.org/officeDocument/2006/relationships/image" Target="../media/image52.png"/><Relationship Id="rId7" Type="http://schemas.openxmlformats.org/officeDocument/2006/relationships/image" Target="../media/image69.png"/><Relationship Id="rId12" Type="http://schemas.openxmlformats.org/officeDocument/2006/relationships/image" Target="../media/image51.svg"/><Relationship Id="rId17" Type="http://schemas.openxmlformats.org/officeDocument/2006/relationships/image" Target="../media/image46.png"/><Relationship Id="rId2" Type="http://schemas.openxmlformats.org/officeDocument/2006/relationships/notesSlide" Target="../notesSlides/notesSlide162.xml"/><Relationship Id="rId16" Type="http://schemas.openxmlformats.org/officeDocument/2006/relationships/image" Target="../media/image36.svg"/><Relationship Id="rId1" Type="http://schemas.openxmlformats.org/officeDocument/2006/relationships/slideLayout" Target="../slideLayouts/slideLayout6.xml"/><Relationship Id="rId6" Type="http://schemas.openxmlformats.org/officeDocument/2006/relationships/image" Target="../media/image55.svg"/><Relationship Id="rId11" Type="http://schemas.openxmlformats.org/officeDocument/2006/relationships/image" Target="../media/image50.png"/><Relationship Id="rId5" Type="http://schemas.openxmlformats.org/officeDocument/2006/relationships/image" Target="../media/image54.png"/><Relationship Id="rId15" Type="http://schemas.openxmlformats.org/officeDocument/2006/relationships/image" Target="../media/image35.png"/><Relationship Id="rId10" Type="http://schemas.openxmlformats.org/officeDocument/2006/relationships/image" Target="../media/image43.svg"/><Relationship Id="rId4" Type="http://schemas.openxmlformats.org/officeDocument/2006/relationships/image" Target="../media/image53.svg"/><Relationship Id="rId9" Type="http://schemas.openxmlformats.org/officeDocument/2006/relationships/image" Target="../media/image42.png"/><Relationship Id="rId14" Type="http://schemas.openxmlformats.org/officeDocument/2006/relationships/image" Target="../media/image84.svg"/></Relationships>
</file>

<file path=ppt/slides/_rels/slide228.xml.rels><?xml version="1.0" encoding="UTF-8" standalone="yes"?>
<Relationships xmlns="http://schemas.openxmlformats.org/package/2006/relationships"><Relationship Id="rId3" Type="http://schemas.openxmlformats.org/officeDocument/2006/relationships/notesSlide" Target="../notesSlides/notesSlide163.xml"/><Relationship Id="rId2" Type="http://schemas.openxmlformats.org/officeDocument/2006/relationships/slideLayout" Target="../slideLayouts/slideLayout2.xml"/><Relationship Id="rId1" Type="http://schemas.openxmlformats.org/officeDocument/2006/relationships/tags" Target="../tags/tag83.xml"/><Relationship Id="rId4" Type="http://schemas.openxmlformats.org/officeDocument/2006/relationships/image" Target="../media/image179.tiff"/></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3.xml"/></Relationships>
</file>

<file path=ppt/slides/_rels/slide231.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11.png"/><Relationship Id="rId7" Type="http://schemas.openxmlformats.org/officeDocument/2006/relationships/image" Target="../media/image63.png"/><Relationship Id="rId12" Type="http://schemas.openxmlformats.org/officeDocument/2006/relationships/image" Target="../media/image72.svg"/><Relationship Id="rId2" Type="http://schemas.openxmlformats.org/officeDocument/2006/relationships/notesSlide" Target="../notesSlides/notesSlide166.xml"/><Relationship Id="rId1" Type="http://schemas.openxmlformats.org/officeDocument/2006/relationships/slideLayout" Target="../slideLayouts/slideLayout2.xml"/><Relationship Id="rId6" Type="http://schemas.openxmlformats.org/officeDocument/2006/relationships/image" Target="../media/image66.sv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43.svg"/><Relationship Id="rId4" Type="http://schemas.openxmlformats.org/officeDocument/2006/relationships/image" Target="../media/image12.svg"/><Relationship Id="rId9" Type="http://schemas.openxmlformats.org/officeDocument/2006/relationships/image" Target="../media/image42.png"/></Relationships>
</file>

<file path=ppt/slides/_rels/slide232.xml.rels><?xml version="1.0" encoding="UTF-8" standalone="yes"?>
<Relationships xmlns="http://schemas.openxmlformats.org/package/2006/relationships"><Relationship Id="rId3" Type="http://schemas.openxmlformats.org/officeDocument/2006/relationships/notesSlide" Target="../notesSlides/notesSlide167.xml"/><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89.jpeg"/><Relationship Id="rId5" Type="http://schemas.openxmlformats.org/officeDocument/2006/relationships/image" Target="../media/image59.svg"/><Relationship Id="rId4" Type="http://schemas.openxmlformats.org/officeDocument/2006/relationships/image" Target="../media/image58.png"/></Relationships>
</file>

<file path=ppt/slides/_rels/slide235.xml.rels><?xml version="1.0" encoding="UTF-8" standalone="yes"?>
<Relationships xmlns="http://schemas.openxmlformats.org/package/2006/relationships"><Relationship Id="rId3" Type="http://schemas.openxmlformats.org/officeDocument/2006/relationships/image" Target="../media/image181.svg"/><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6.xml"/></Relationships>
</file>

<file path=ppt/slides/_rels/slide23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69.xml"/><Relationship Id="rId1" Type="http://schemas.openxmlformats.org/officeDocument/2006/relationships/slideLayout" Target="../slideLayouts/slideLayout6.xml"/><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8.svg"/></Relationships>
</file>

<file path=ppt/slides/_rels/slide23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70.xml"/><Relationship Id="rId1" Type="http://schemas.openxmlformats.org/officeDocument/2006/relationships/slideLayout" Target="../slideLayouts/slideLayout6.xml"/><Relationship Id="rId4" Type="http://schemas.openxmlformats.org/officeDocument/2006/relationships/image" Target="../media/image64.svg"/></Relationships>
</file>

<file path=ppt/slides/_rels/slide240.xml.rels><?xml version="1.0" encoding="UTF-8" standalone="yes"?>
<Relationships xmlns="http://schemas.openxmlformats.org/package/2006/relationships"><Relationship Id="rId3" Type="http://schemas.openxmlformats.org/officeDocument/2006/relationships/notesSlide" Target="../notesSlides/notesSlide171.xml"/><Relationship Id="rId2" Type="http://schemas.openxmlformats.org/officeDocument/2006/relationships/slideLayout" Target="../slideLayouts/slideLayout2.xml"/><Relationship Id="rId1" Type="http://schemas.openxmlformats.org/officeDocument/2006/relationships/tags" Target="../tags/tag85.xml"/><Relationship Id="rId4" Type="http://schemas.openxmlformats.org/officeDocument/2006/relationships/image" Target="../media/image182.tiff"/></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6.xml"/></Relationships>
</file>

<file path=ppt/slides/_rels/slide24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73.xml"/><Relationship Id="rId1" Type="http://schemas.openxmlformats.org/officeDocument/2006/relationships/slideLayout" Target="../slideLayouts/slideLayout6.xml"/><Relationship Id="rId4" Type="http://schemas.openxmlformats.org/officeDocument/2006/relationships/image" Target="../media/image80.svg"/></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3.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6.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3.xml"/></Relationships>
</file>

<file path=ppt/slides/_rels/slide246.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44.png"/><Relationship Id="rId3" Type="http://schemas.openxmlformats.org/officeDocument/2006/relationships/image" Target="../media/image11.png"/><Relationship Id="rId7" Type="http://schemas.openxmlformats.org/officeDocument/2006/relationships/image" Target="../media/image40.png"/><Relationship Id="rId12" Type="http://schemas.openxmlformats.org/officeDocument/2006/relationships/image" Target="../media/image10.svg"/><Relationship Id="rId2" Type="http://schemas.openxmlformats.org/officeDocument/2006/relationships/notesSlide" Target="../notesSlides/notesSlide177.xml"/><Relationship Id="rId1" Type="http://schemas.openxmlformats.org/officeDocument/2006/relationships/slideLayout" Target="../slideLayouts/slideLayout6.xml"/><Relationship Id="rId6" Type="http://schemas.openxmlformats.org/officeDocument/2006/relationships/image" Target="../media/image57.svg"/><Relationship Id="rId11" Type="http://schemas.openxmlformats.org/officeDocument/2006/relationships/image" Target="../media/image9.png"/><Relationship Id="rId5" Type="http://schemas.openxmlformats.org/officeDocument/2006/relationships/image" Target="../media/image56.png"/><Relationship Id="rId10" Type="http://schemas.openxmlformats.org/officeDocument/2006/relationships/image" Target="../media/image16.svg"/><Relationship Id="rId4" Type="http://schemas.openxmlformats.org/officeDocument/2006/relationships/image" Target="../media/image12.svg"/><Relationship Id="rId9" Type="http://schemas.openxmlformats.org/officeDocument/2006/relationships/image" Target="../media/image15.png"/><Relationship Id="rId14" Type="http://schemas.openxmlformats.org/officeDocument/2006/relationships/image" Target="../media/image45.svg"/></Relationships>
</file>

<file path=ppt/slides/_rels/slide247.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44.png"/><Relationship Id="rId7" Type="http://schemas.openxmlformats.org/officeDocument/2006/relationships/image" Target="../media/image79.png"/><Relationship Id="rId2" Type="http://schemas.openxmlformats.org/officeDocument/2006/relationships/notesSlide" Target="../notesSlides/notesSlide178.xml"/><Relationship Id="rId1" Type="http://schemas.openxmlformats.org/officeDocument/2006/relationships/slideLayout" Target="../slideLayouts/slideLayout6.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45.svg"/></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6.xml"/></Relationships>
</file>

<file path=ppt/slides/_rels/slide249.xml.rels><?xml version="1.0" encoding="UTF-8" standalone="yes"?>
<Relationships xmlns="http://schemas.openxmlformats.org/package/2006/relationships"><Relationship Id="rId8" Type="http://schemas.openxmlformats.org/officeDocument/2006/relationships/image" Target="../media/image70.svg"/><Relationship Id="rId3" Type="http://schemas.openxmlformats.org/officeDocument/2006/relationships/image" Target="../media/image9.png"/><Relationship Id="rId7" Type="http://schemas.openxmlformats.org/officeDocument/2006/relationships/image" Target="../media/image69.png"/><Relationship Id="rId2" Type="http://schemas.openxmlformats.org/officeDocument/2006/relationships/notesSlide" Target="../notesSlides/notesSlide180.xml"/><Relationship Id="rId1" Type="http://schemas.openxmlformats.org/officeDocument/2006/relationships/slideLayout" Target="../slideLayouts/slideLayout6.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0.svg"/></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6.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3.xml"/></Relationships>
</file>

<file path=ppt/slides/_rels/slide252.xml.rels><?xml version="1.0" encoding="UTF-8" standalone="yes"?>
<Relationships xmlns="http://schemas.openxmlformats.org/package/2006/relationships"><Relationship Id="rId8" Type="http://schemas.openxmlformats.org/officeDocument/2006/relationships/image" Target="../media/image187.png"/><Relationship Id="rId3" Type="http://schemas.openxmlformats.org/officeDocument/2006/relationships/image" Target="../media/image183.png"/><Relationship Id="rId7" Type="http://schemas.openxmlformats.org/officeDocument/2006/relationships/image" Target="../media/image186.png"/><Relationship Id="rId2" Type="http://schemas.openxmlformats.org/officeDocument/2006/relationships/notesSlide" Target="../notesSlides/notesSlide183.xml"/><Relationship Id="rId1" Type="http://schemas.openxmlformats.org/officeDocument/2006/relationships/slideLayout" Target="../slideLayouts/slideLayout2.xml"/><Relationship Id="rId6" Type="http://schemas.openxmlformats.org/officeDocument/2006/relationships/image" Target="../media/image185.png"/><Relationship Id="rId11" Type="http://schemas.openxmlformats.org/officeDocument/2006/relationships/image" Target="../media/image189.jpeg"/><Relationship Id="rId5" Type="http://schemas.openxmlformats.org/officeDocument/2006/relationships/image" Target="../media/image184.jpeg"/><Relationship Id="rId10" Type="http://schemas.openxmlformats.org/officeDocument/2006/relationships/hyperlink" Target="http://quantum.esu.edu/saa/wp-content/uploads/2020/08/69ce54e37dfa7ef14266d25403ce6a07_orig.jpg" TargetMode="External"/><Relationship Id="rId4" Type="http://schemas.openxmlformats.org/officeDocument/2006/relationships/hyperlink" Target="https://www.xsimulator.net/wp-content/uploads/2013/12/bitcoin-logo-1000_0.jpg" TargetMode="External"/><Relationship Id="rId9" Type="http://schemas.openxmlformats.org/officeDocument/2006/relationships/image" Target="../media/image188.jpeg"/></Relationships>
</file>

<file path=ppt/slides/_rels/slide253.xml.rels><?xml version="1.0" encoding="UTF-8" standalone="yes"?>
<Relationships xmlns="http://schemas.openxmlformats.org/package/2006/relationships"><Relationship Id="rId3" Type="http://schemas.openxmlformats.org/officeDocument/2006/relationships/hyperlink" Target="https://security-img.scdn6.secure.raxcdn.com/news/920/mergers-acquisitions-top-10-920_1513940788.jpg" TargetMode="External"/><Relationship Id="rId2" Type="http://schemas.openxmlformats.org/officeDocument/2006/relationships/notesSlide" Target="../notesSlides/notesSlide184.xml"/><Relationship Id="rId1" Type="http://schemas.openxmlformats.org/officeDocument/2006/relationships/slideLayout" Target="../slideLayouts/slideLayout2.xml"/><Relationship Id="rId4" Type="http://schemas.openxmlformats.org/officeDocument/2006/relationships/image" Target="../media/image190.jpeg"/></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3.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6.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6.xml"/></Relationships>
</file>

<file path=ppt/slides/_rels/slide25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188.xml"/><Relationship Id="rId1" Type="http://schemas.openxmlformats.org/officeDocument/2006/relationships/slideLayout" Target="../slideLayouts/slideLayout6.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258.xml.rels><?xml version="1.0" encoding="UTF-8" standalone="yes"?>
<Relationships xmlns="http://schemas.openxmlformats.org/package/2006/relationships"><Relationship Id="rId3" Type="http://schemas.openxmlformats.org/officeDocument/2006/relationships/notesSlide" Target="../notesSlides/notesSlide189.xml"/><Relationship Id="rId2" Type="http://schemas.openxmlformats.org/officeDocument/2006/relationships/slideLayout" Target="../slideLayouts/slideLayout1.xml"/><Relationship Id="rId1" Type="http://schemas.openxmlformats.org/officeDocument/2006/relationships/tags" Target="../tags/tag86.xml"/><Relationship Id="rId4" Type="http://schemas.openxmlformats.org/officeDocument/2006/relationships/image" Target="../media/image19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Placeholder 23">
            <a:extLst>
              <a:ext uri="{FF2B5EF4-FFF2-40B4-BE49-F238E27FC236}">
                <a16:creationId xmlns:a16="http://schemas.microsoft.com/office/drawing/2014/main" id="{64CB1EFC-E3A4-474D-8DB7-49F104781E24}"/>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p:pic>
      <p:sp>
        <p:nvSpPr>
          <p:cNvPr id="10" name="Rectangle 9">
            <a:extLst>
              <a:ext uri="{FF2B5EF4-FFF2-40B4-BE49-F238E27FC236}">
                <a16:creationId xmlns:a16="http://schemas.microsoft.com/office/drawing/2014/main" id="{9727C84C-D9BF-47A0-B840-3E88032B0279}"/>
              </a:ext>
            </a:extLst>
          </p:cNvPr>
          <p:cNvSpPr/>
          <p:nvPr/>
        </p:nvSpPr>
        <p:spPr>
          <a:xfrm>
            <a:off x="0" y="1"/>
            <a:ext cx="3665496" cy="10287002"/>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50"/>
          </a:p>
        </p:txBody>
      </p:sp>
      <p:sp>
        <p:nvSpPr>
          <p:cNvPr id="34" name="Rectangle 33">
            <a:extLst>
              <a:ext uri="{FF2B5EF4-FFF2-40B4-BE49-F238E27FC236}">
                <a16:creationId xmlns:a16="http://schemas.microsoft.com/office/drawing/2014/main" id="{3291BCC6-7DAA-440E-BEAC-6130A4C08093}"/>
              </a:ext>
            </a:extLst>
          </p:cNvPr>
          <p:cNvSpPr/>
          <p:nvPr/>
        </p:nvSpPr>
        <p:spPr>
          <a:xfrm>
            <a:off x="3665496" y="1"/>
            <a:ext cx="3659409" cy="10287002"/>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50"/>
          </a:p>
        </p:txBody>
      </p:sp>
      <p:sp>
        <p:nvSpPr>
          <p:cNvPr id="36" name="Rectangle 35">
            <a:extLst>
              <a:ext uri="{FF2B5EF4-FFF2-40B4-BE49-F238E27FC236}">
                <a16:creationId xmlns:a16="http://schemas.microsoft.com/office/drawing/2014/main" id="{22D593C3-3BF2-4F73-BF37-D38FBCDF0A33}"/>
              </a:ext>
            </a:extLst>
          </p:cNvPr>
          <p:cNvSpPr/>
          <p:nvPr/>
        </p:nvSpPr>
        <p:spPr>
          <a:xfrm>
            <a:off x="7324907" y="1"/>
            <a:ext cx="3659409" cy="10287002"/>
          </a:xfrm>
          <a:prstGeom prst="rect">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50"/>
          </a:p>
        </p:txBody>
      </p:sp>
      <p:sp>
        <p:nvSpPr>
          <p:cNvPr id="38" name="Rectangle 37">
            <a:extLst>
              <a:ext uri="{FF2B5EF4-FFF2-40B4-BE49-F238E27FC236}">
                <a16:creationId xmlns:a16="http://schemas.microsoft.com/office/drawing/2014/main" id="{07202170-1242-41D1-9D32-16B2939CE504}"/>
              </a:ext>
            </a:extLst>
          </p:cNvPr>
          <p:cNvSpPr/>
          <p:nvPr/>
        </p:nvSpPr>
        <p:spPr>
          <a:xfrm>
            <a:off x="10976748" y="0"/>
            <a:ext cx="3659409" cy="10287002"/>
          </a:xfrm>
          <a:prstGeom prst="rect">
            <a:avLst/>
          </a:prstGeom>
          <a:solidFill>
            <a:schemeClr val="accent4">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50"/>
          </a:p>
        </p:txBody>
      </p:sp>
      <p:sp>
        <p:nvSpPr>
          <p:cNvPr id="40" name="Rectangle 39">
            <a:extLst>
              <a:ext uri="{FF2B5EF4-FFF2-40B4-BE49-F238E27FC236}">
                <a16:creationId xmlns:a16="http://schemas.microsoft.com/office/drawing/2014/main" id="{34A84246-08D2-4D1F-AAE2-CAEE1F6220E7}"/>
              </a:ext>
            </a:extLst>
          </p:cNvPr>
          <p:cNvSpPr/>
          <p:nvPr/>
        </p:nvSpPr>
        <p:spPr>
          <a:xfrm>
            <a:off x="14628588" y="1"/>
            <a:ext cx="3659409" cy="10287002"/>
          </a:xfrm>
          <a:prstGeom prst="rect">
            <a:avLst/>
          </a:prstGeom>
          <a:solidFill>
            <a:schemeClr val="accent5">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50"/>
          </a:p>
        </p:txBody>
      </p:sp>
      <p:sp>
        <p:nvSpPr>
          <p:cNvPr id="6" name="TextBox 5">
            <a:extLst>
              <a:ext uri="{FF2B5EF4-FFF2-40B4-BE49-F238E27FC236}">
                <a16:creationId xmlns:a16="http://schemas.microsoft.com/office/drawing/2014/main" id="{EC8BDAD2-3899-4ADE-8705-1FE5ACC6A9C0}"/>
              </a:ext>
            </a:extLst>
          </p:cNvPr>
          <p:cNvSpPr txBox="1"/>
          <p:nvPr/>
        </p:nvSpPr>
        <p:spPr>
          <a:xfrm>
            <a:off x="1522872" y="5529182"/>
            <a:ext cx="13744338" cy="2100575"/>
          </a:xfrm>
          <a:prstGeom prst="rect">
            <a:avLst/>
          </a:prstGeom>
          <a:noFill/>
        </p:spPr>
        <p:txBody>
          <a:bodyPr wrap="square" rtlCol="0">
            <a:spAutoFit/>
          </a:bodyPr>
          <a:lstStyle/>
          <a:p>
            <a:r>
              <a:rPr lang="en-US" sz="13050" b="1" i="1" spc="45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INTRODUCTION</a:t>
            </a:r>
            <a:endParaRPr lang="en-US" sz="13050" b="1" i="1" spc="450">
              <a:solidFill>
                <a:schemeClr val="accent2"/>
              </a:solidFill>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119" name="TextBox 118">
            <a:extLst>
              <a:ext uri="{FF2B5EF4-FFF2-40B4-BE49-F238E27FC236}">
                <a16:creationId xmlns:a16="http://schemas.microsoft.com/office/drawing/2014/main" id="{5D7657F2-4E68-4FF7-96AA-5DE6BBC64767}"/>
              </a:ext>
            </a:extLst>
          </p:cNvPr>
          <p:cNvSpPr txBox="1"/>
          <p:nvPr/>
        </p:nvSpPr>
        <p:spPr>
          <a:xfrm>
            <a:off x="1528266" y="7471658"/>
            <a:ext cx="9631224" cy="692497"/>
          </a:xfrm>
          <a:prstGeom prst="rect">
            <a:avLst/>
          </a:prstGeom>
          <a:noFill/>
        </p:spPr>
        <p:txBody>
          <a:bodyPr wrap="square" rtlCol="0">
            <a:spAutoFit/>
          </a:bodyPr>
          <a:lstStyle/>
          <a:p>
            <a:r>
              <a:rPr lang="en-US" sz="390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To Telecommunications and Networking </a:t>
            </a:r>
          </a:p>
        </p:txBody>
      </p:sp>
      <p:sp>
        <p:nvSpPr>
          <p:cNvPr id="5" name="Rectangle 4">
            <a:extLst>
              <a:ext uri="{FF2B5EF4-FFF2-40B4-BE49-F238E27FC236}">
                <a16:creationId xmlns:a16="http://schemas.microsoft.com/office/drawing/2014/main" id="{BEC38C05-7779-114F-B7AC-56481098E0FD}"/>
              </a:ext>
            </a:extLst>
          </p:cNvPr>
          <p:cNvSpPr/>
          <p:nvPr/>
        </p:nvSpPr>
        <p:spPr>
          <a:xfrm>
            <a:off x="6955971" y="9040911"/>
            <a:ext cx="10287000" cy="369332"/>
          </a:xfrm>
          <a:prstGeom prst="rect">
            <a:avLst/>
          </a:prstGeom>
        </p:spPr>
        <p:txBody>
          <a:bodyPr wrap="square">
            <a:spAutoFit/>
          </a:bodyPr>
          <a:lstStyle/>
          <a:p>
            <a:r>
              <a:rPr lang="en-US">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An Instructor-led Course Designed Specifically for FDIC Risk Management Examiners</a:t>
            </a:r>
          </a:p>
        </p:txBody>
      </p:sp>
      <p:pic>
        <p:nvPicPr>
          <p:cNvPr id="4" name="Picture 3">
            <a:extLst>
              <a:ext uri="{FF2B5EF4-FFF2-40B4-BE49-F238E27FC236}">
                <a16:creationId xmlns:a16="http://schemas.microsoft.com/office/drawing/2014/main" id="{2EAEA6E3-C518-CA4D-9C89-5DCF82AD530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5067910" y="450375"/>
            <a:ext cx="3037345" cy="1680498"/>
          </a:xfrm>
          <a:prstGeom prst="rect">
            <a:avLst/>
          </a:prstGeom>
        </p:spPr>
      </p:pic>
    </p:spTree>
    <p:extLst>
      <p:ext uri="{BB962C8B-B14F-4D97-AF65-F5344CB8AC3E}">
        <p14:creationId xmlns:p14="http://schemas.microsoft.com/office/powerpoint/2010/main" val="2269623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200"/>
                                  </p:stCondLst>
                                  <p:childTnLst>
                                    <p:set>
                                      <p:cBhvr>
                                        <p:cTn id="6" dur="1" fill="hold">
                                          <p:stCondLst>
                                            <p:cond delay="0"/>
                                          </p:stCondLst>
                                        </p:cTn>
                                        <p:tgtEl>
                                          <p:spTgt spid="34"/>
                                        </p:tgtEl>
                                        <p:attrNameLst>
                                          <p:attrName>style.visibility</p:attrName>
                                        </p:attrNameLst>
                                      </p:cBhvr>
                                      <p:to>
                                        <p:strVal val="visible"/>
                                      </p:to>
                                    </p:set>
                                    <p:anim calcmode="lin" valueType="num">
                                      <p:cBhvr>
                                        <p:cTn id="7" dur="1000" fill="hold"/>
                                        <p:tgtEl>
                                          <p:spTgt spid="34"/>
                                        </p:tgtEl>
                                        <p:attrNameLst>
                                          <p:attrName>ppt_w</p:attrName>
                                        </p:attrNameLst>
                                      </p:cBhvr>
                                      <p:tavLst>
                                        <p:tav tm="0">
                                          <p:val>
                                            <p:strVal val="#ppt_w+.3"/>
                                          </p:val>
                                        </p:tav>
                                        <p:tav tm="100000">
                                          <p:val>
                                            <p:strVal val="#ppt_w"/>
                                          </p:val>
                                        </p:tav>
                                      </p:tavLst>
                                    </p:anim>
                                    <p:anim calcmode="lin" valueType="num">
                                      <p:cBhvr>
                                        <p:cTn id="8" dur="1000" fill="hold"/>
                                        <p:tgtEl>
                                          <p:spTgt spid="34"/>
                                        </p:tgtEl>
                                        <p:attrNameLst>
                                          <p:attrName>ppt_h</p:attrName>
                                        </p:attrNameLst>
                                      </p:cBhvr>
                                      <p:tavLst>
                                        <p:tav tm="0">
                                          <p:val>
                                            <p:strVal val="#ppt_h"/>
                                          </p:val>
                                        </p:tav>
                                        <p:tav tm="100000">
                                          <p:val>
                                            <p:strVal val="#ppt_h"/>
                                          </p:val>
                                        </p:tav>
                                      </p:tavLst>
                                    </p:anim>
                                    <p:animEffect transition="in" filter="fade">
                                      <p:cBhvr>
                                        <p:cTn id="9" dur="1000"/>
                                        <p:tgtEl>
                                          <p:spTgt spid="34"/>
                                        </p:tgtEl>
                                      </p:cBhvr>
                                    </p:animEffect>
                                  </p:childTnLst>
                                </p:cTn>
                              </p:par>
                              <p:par>
                                <p:cTn id="10" presetID="55" presetClass="entr" presetSubtype="0" fill="hold" grpId="0" nodeType="withEffect">
                                  <p:stCondLst>
                                    <p:cond delay="100"/>
                                  </p:stCondLst>
                                  <p:childTnLst>
                                    <p:set>
                                      <p:cBhvr>
                                        <p:cTn id="11" dur="1" fill="hold">
                                          <p:stCondLst>
                                            <p:cond delay="0"/>
                                          </p:stCondLst>
                                        </p:cTn>
                                        <p:tgtEl>
                                          <p:spTgt spid="10"/>
                                        </p:tgtEl>
                                        <p:attrNameLst>
                                          <p:attrName>style.visibility</p:attrName>
                                        </p:attrNameLst>
                                      </p:cBhvr>
                                      <p:to>
                                        <p:strVal val="visible"/>
                                      </p:to>
                                    </p:set>
                                    <p:anim calcmode="lin" valueType="num">
                                      <p:cBhvr>
                                        <p:cTn id="12" dur="800" fill="hold"/>
                                        <p:tgtEl>
                                          <p:spTgt spid="10"/>
                                        </p:tgtEl>
                                        <p:attrNameLst>
                                          <p:attrName>ppt_w</p:attrName>
                                        </p:attrNameLst>
                                      </p:cBhvr>
                                      <p:tavLst>
                                        <p:tav tm="0">
                                          <p:val>
                                            <p:strVal val="#ppt_w*0.70"/>
                                          </p:val>
                                        </p:tav>
                                        <p:tav tm="100000">
                                          <p:val>
                                            <p:strVal val="#ppt_w"/>
                                          </p:val>
                                        </p:tav>
                                      </p:tavLst>
                                    </p:anim>
                                    <p:anim calcmode="lin" valueType="num">
                                      <p:cBhvr>
                                        <p:cTn id="13" dur="800" fill="hold"/>
                                        <p:tgtEl>
                                          <p:spTgt spid="10"/>
                                        </p:tgtEl>
                                        <p:attrNameLst>
                                          <p:attrName>ppt_h</p:attrName>
                                        </p:attrNameLst>
                                      </p:cBhvr>
                                      <p:tavLst>
                                        <p:tav tm="0">
                                          <p:val>
                                            <p:strVal val="#ppt_h"/>
                                          </p:val>
                                        </p:tav>
                                        <p:tav tm="100000">
                                          <p:val>
                                            <p:strVal val="#ppt_h"/>
                                          </p:val>
                                        </p:tav>
                                      </p:tavLst>
                                    </p:anim>
                                    <p:animEffect transition="in" filter="fade">
                                      <p:cBhvr>
                                        <p:cTn id="14" dur="800"/>
                                        <p:tgtEl>
                                          <p:spTgt spid="10"/>
                                        </p:tgtEl>
                                      </p:cBhvr>
                                    </p:animEffect>
                                  </p:childTnLst>
                                </p:cTn>
                              </p:par>
                              <p:par>
                                <p:cTn id="15" presetID="55" presetClass="entr" presetSubtype="0" fill="hold" grpId="0" nodeType="withEffect">
                                  <p:stCondLst>
                                    <p:cond delay="500"/>
                                  </p:stCondLst>
                                  <p:childTnLst>
                                    <p:set>
                                      <p:cBhvr>
                                        <p:cTn id="16" dur="1" fill="hold">
                                          <p:stCondLst>
                                            <p:cond delay="0"/>
                                          </p:stCondLst>
                                        </p:cTn>
                                        <p:tgtEl>
                                          <p:spTgt spid="40"/>
                                        </p:tgtEl>
                                        <p:attrNameLst>
                                          <p:attrName>style.visibility</p:attrName>
                                        </p:attrNameLst>
                                      </p:cBhvr>
                                      <p:to>
                                        <p:strVal val="visible"/>
                                      </p:to>
                                    </p:set>
                                    <p:anim calcmode="lin" valueType="num">
                                      <p:cBhvr>
                                        <p:cTn id="17" dur="1000" fill="hold"/>
                                        <p:tgtEl>
                                          <p:spTgt spid="40"/>
                                        </p:tgtEl>
                                        <p:attrNameLst>
                                          <p:attrName>ppt_w</p:attrName>
                                        </p:attrNameLst>
                                      </p:cBhvr>
                                      <p:tavLst>
                                        <p:tav tm="0">
                                          <p:val>
                                            <p:strVal val="#ppt_w*0.70"/>
                                          </p:val>
                                        </p:tav>
                                        <p:tav tm="100000">
                                          <p:val>
                                            <p:strVal val="#ppt_w"/>
                                          </p:val>
                                        </p:tav>
                                      </p:tavLst>
                                    </p:anim>
                                    <p:anim calcmode="lin" valueType="num">
                                      <p:cBhvr>
                                        <p:cTn id="18" dur="1000" fill="hold"/>
                                        <p:tgtEl>
                                          <p:spTgt spid="40"/>
                                        </p:tgtEl>
                                        <p:attrNameLst>
                                          <p:attrName>ppt_h</p:attrName>
                                        </p:attrNameLst>
                                      </p:cBhvr>
                                      <p:tavLst>
                                        <p:tav tm="0">
                                          <p:val>
                                            <p:strVal val="#ppt_h"/>
                                          </p:val>
                                        </p:tav>
                                        <p:tav tm="100000">
                                          <p:val>
                                            <p:strVal val="#ppt_h"/>
                                          </p:val>
                                        </p:tav>
                                      </p:tavLst>
                                    </p:anim>
                                    <p:animEffect transition="in" filter="fade">
                                      <p:cBhvr>
                                        <p:cTn id="19" dur="1000"/>
                                        <p:tgtEl>
                                          <p:spTgt spid="40"/>
                                        </p:tgtEl>
                                      </p:cBhvr>
                                    </p:animEffect>
                                  </p:childTnLst>
                                </p:cTn>
                              </p:par>
                              <p:par>
                                <p:cTn id="20" presetID="50" presetClass="entr" presetSubtype="0" decel="100000" fill="hold" grpId="0" nodeType="withEffect">
                                  <p:stCondLst>
                                    <p:cond delay="400"/>
                                  </p:stCondLst>
                                  <p:childTnLst>
                                    <p:set>
                                      <p:cBhvr>
                                        <p:cTn id="21" dur="1" fill="hold">
                                          <p:stCondLst>
                                            <p:cond delay="0"/>
                                          </p:stCondLst>
                                        </p:cTn>
                                        <p:tgtEl>
                                          <p:spTgt spid="36"/>
                                        </p:tgtEl>
                                        <p:attrNameLst>
                                          <p:attrName>style.visibility</p:attrName>
                                        </p:attrNameLst>
                                      </p:cBhvr>
                                      <p:to>
                                        <p:strVal val="visible"/>
                                      </p:to>
                                    </p:set>
                                    <p:anim calcmode="lin" valueType="num">
                                      <p:cBhvr>
                                        <p:cTn id="22" dur="1000" fill="hold"/>
                                        <p:tgtEl>
                                          <p:spTgt spid="36"/>
                                        </p:tgtEl>
                                        <p:attrNameLst>
                                          <p:attrName>ppt_w</p:attrName>
                                        </p:attrNameLst>
                                      </p:cBhvr>
                                      <p:tavLst>
                                        <p:tav tm="0">
                                          <p:val>
                                            <p:strVal val="#ppt_w+.3"/>
                                          </p:val>
                                        </p:tav>
                                        <p:tav tm="100000">
                                          <p:val>
                                            <p:strVal val="#ppt_w"/>
                                          </p:val>
                                        </p:tav>
                                      </p:tavLst>
                                    </p:anim>
                                    <p:anim calcmode="lin" valueType="num">
                                      <p:cBhvr>
                                        <p:cTn id="23" dur="1000" fill="hold"/>
                                        <p:tgtEl>
                                          <p:spTgt spid="36"/>
                                        </p:tgtEl>
                                        <p:attrNameLst>
                                          <p:attrName>ppt_h</p:attrName>
                                        </p:attrNameLst>
                                      </p:cBhvr>
                                      <p:tavLst>
                                        <p:tav tm="0">
                                          <p:val>
                                            <p:strVal val="#ppt_h"/>
                                          </p:val>
                                        </p:tav>
                                        <p:tav tm="100000">
                                          <p:val>
                                            <p:strVal val="#ppt_h"/>
                                          </p:val>
                                        </p:tav>
                                      </p:tavLst>
                                    </p:anim>
                                    <p:animEffect transition="in" filter="fade">
                                      <p:cBhvr>
                                        <p:cTn id="24" dur="1000"/>
                                        <p:tgtEl>
                                          <p:spTgt spid="36"/>
                                        </p:tgtEl>
                                      </p:cBhvr>
                                    </p:animEffect>
                                  </p:childTnLst>
                                </p:cTn>
                              </p:par>
                              <p:par>
                                <p:cTn id="25" presetID="50" presetClass="entr" presetSubtype="0" decel="100000" fill="hold" grpId="0" nodeType="withEffect">
                                  <p:stCondLst>
                                    <p:cond delay="600"/>
                                  </p:stCondLst>
                                  <p:childTnLst>
                                    <p:set>
                                      <p:cBhvr>
                                        <p:cTn id="26" dur="1" fill="hold">
                                          <p:stCondLst>
                                            <p:cond delay="0"/>
                                          </p:stCondLst>
                                        </p:cTn>
                                        <p:tgtEl>
                                          <p:spTgt spid="38"/>
                                        </p:tgtEl>
                                        <p:attrNameLst>
                                          <p:attrName>style.visibility</p:attrName>
                                        </p:attrNameLst>
                                      </p:cBhvr>
                                      <p:to>
                                        <p:strVal val="visible"/>
                                      </p:to>
                                    </p:set>
                                    <p:anim calcmode="lin" valueType="num">
                                      <p:cBhvr>
                                        <p:cTn id="27" dur="1000" fill="hold"/>
                                        <p:tgtEl>
                                          <p:spTgt spid="38"/>
                                        </p:tgtEl>
                                        <p:attrNameLst>
                                          <p:attrName>ppt_w</p:attrName>
                                        </p:attrNameLst>
                                      </p:cBhvr>
                                      <p:tavLst>
                                        <p:tav tm="0">
                                          <p:val>
                                            <p:strVal val="#ppt_w+.3"/>
                                          </p:val>
                                        </p:tav>
                                        <p:tav tm="100000">
                                          <p:val>
                                            <p:strVal val="#ppt_w"/>
                                          </p:val>
                                        </p:tav>
                                      </p:tavLst>
                                    </p:anim>
                                    <p:anim calcmode="lin" valueType="num">
                                      <p:cBhvr>
                                        <p:cTn id="28" dur="1000" fill="hold"/>
                                        <p:tgtEl>
                                          <p:spTgt spid="38"/>
                                        </p:tgtEl>
                                        <p:attrNameLst>
                                          <p:attrName>ppt_h</p:attrName>
                                        </p:attrNameLst>
                                      </p:cBhvr>
                                      <p:tavLst>
                                        <p:tav tm="0">
                                          <p:val>
                                            <p:strVal val="#ppt_h"/>
                                          </p:val>
                                        </p:tav>
                                        <p:tav tm="100000">
                                          <p:val>
                                            <p:strVal val="#ppt_h"/>
                                          </p:val>
                                        </p:tav>
                                      </p:tavLst>
                                    </p:anim>
                                    <p:animEffect transition="in" filter="fade">
                                      <p:cBhvr>
                                        <p:cTn id="29" dur="1000"/>
                                        <p:tgtEl>
                                          <p:spTgt spid="38"/>
                                        </p:tgtEl>
                                      </p:cBhvr>
                                    </p:animEffect>
                                  </p:childTnLst>
                                </p:cTn>
                              </p:par>
                              <p:par>
                                <p:cTn id="30" presetID="5" presetClass="entr" presetSubtype="10" fill="hold" grpId="0" nodeType="withEffect">
                                  <p:stCondLst>
                                    <p:cond delay="1400"/>
                                  </p:stCondLst>
                                  <p:childTnLst>
                                    <p:set>
                                      <p:cBhvr>
                                        <p:cTn id="31" dur="1" fill="hold">
                                          <p:stCondLst>
                                            <p:cond delay="0"/>
                                          </p:stCondLst>
                                        </p:cTn>
                                        <p:tgtEl>
                                          <p:spTgt spid="6"/>
                                        </p:tgtEl>
                                        <p:attrNameLst>
                                          <p:attrName>style.visibility</p:attrName>
                                        </p:attrNameLst>
                                      </p:cBhvr>
                                      <p:to>
                                        <p:strVal val="visible"/>
                                      </p:to>
                                    </p:set>
                                    <p:animEffect transition="in" filter="checkerboard(across)">
                                      <p:cBhvr>
                                        <p:cTn id="32" dur="700"/>
                                        <p:tgtEl>
                                          <p:spTgt spid="6"/>
                                        </p:tgtEl>
                                      </p:cBhvr>
                                    </p:animEffect>
                                  </p:childTnLst>
                                </p:cTn>
                              </p:par>
                              <p:par>
                                <p:cTn id="33" presetID="47" presetClass="entr" presetSubtype="0" fill="hold" grpId="0" nodeType="withEffect">
                                  <p:stCondLst>
                                    <p:cond delay="1900"/>
                                  </p:stCondLst>
                                  <p:childTnLst>
                                    <p:set>
                                      <p:cBhvr>
                                        <p:cTn id="34" dur="1" fill="hold">
                                          <p:stCondLst>
                                            <p:cond delay="0"/>
                                          </p:stCondLst>
                                        </p:cTn>
                                        <p:tgtEl>
                                          <p:spTgt spid="119"/>
                                        </p:tgtEl>
                                        <p:attrNameLst>
                                          <p:attrName>style.visibility</p:attrName>
                                        </p:attrNameLst>
                                      </p:cBhvr>
                                      <p:to>
                                        <p:strVal val="visible"/>
                                      </p:to>
                                    </p:set>
                                    <p:animEffect transition="in" filter="fade">
                                      <p:cBhvr>
                                        <p:cTn id="35" dur="1000"/>
                                        <p:tgtEl>
                                          <p:spTgt spid="119"/>
                                        </p:tgtEl>
                                      </p:cBhvr>
                                    </p:animEffect>
                                    <p:anim calcmode="lin" valueType="num">
                                      <p:cBhvr>
                                        <p:cTn id="36" dur="1000" fill="hold"/>
                                        <p:tgtEl>
                                          <p:spTgt spid="119"/>
                                        </p:tgtEl>
                                        <p:attrNameLst>
                                          <p:attrName>ppt_x</p:attrName>
                                        </p:attrNameLst>
                                      </p:cBhvr>
                                      <p:tavLst>
                                        <p:tav tm="0">
                                          <p:val>
                                            <p:strVal val="#ppt_x"/>
                                          </p:val>
                                        </p:tav>
                                        <p:tav tm="100000">
                                          <p:val>
                                            <p:strVal val="#ppt_x"/>
                                          </p:val>
                                        </p:tav>
                                      </p:tavLst>
                                    </p:anim>
                                    <p:anim calcmode="lin" valueType="num">
                                      <p:cBhvr>
                                        <p:cTn id="37" dur="1000" fill="hold"/>
                                        <p:tgtEl>
                                          <p:spTgt spid="1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4" grpId="0" animBg="1"/>
      <p:bldP spid="36" grpId="0" animBg="1"/>
      <p:bldP spid="38" grpId="0" animBg="1"/>
      <p:bldP spid="40" grpId="0" animBg="1"/>
      <p:bldP spid="6" grpId="0"/>
      <p:bldP spid="1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Chapter 1: Orientation</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215F651C-B6DB-A749-8DA3-780AE957EB37}"/>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t="3676" b="3676"/>
          <a:stretch>
            <a:fillRect/>
          </a:stretch>
        </p:blipFill>
        <p:spPr>
          <a:xfrm>
            <a:off x="1052422" y="2063868"/>
            <a:ext cx="16183155" cy="9103025"/>
          </a:xfrm>
        </p:spPr>
      </p:pic>
      <p:sp>
        <p:nvSpPr>
          <p:cNvPr id="5" name="Title 1">
            <a:extLst>
              <a:ext uri="{FF2B5EF4-FFF2-40B4-BE49-F238E27FC236}">
                <a16:creationId xmlns:a16="http://schemas.microsoft.com/office/drawing/2014/main" id="{E5095302-1C6C-704B-9196-AD835FFE3E5B}"/>
              </a:ext>
            </a:extLst>
          </p:cNvPr>
          <p:cNvSpPr txBox="1">
            <a:spLocks/>
          </p:cNvSpPr>
          <p:nvPr/>
        </p:nvSpPr>
        <p:spPr>
          <a:xfrm>
            <a:off x="549933" y="733152"/>
            <a:ext cx="15773400" cy="1330716"/>
          </a:xfrm>
          <a:prstGeom prst="rect">
            <a:avLst/>
          </a:prstGeom>
        </p:spPr>
        <p:txBody>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en-US" b="1" dirty="0">
                <a:latin typeface="Helvetica Neue Condensed" panose="02000503000000020004" pitchFamily="2" charset="0"/>
                <a:ea typeface="Helvetica Neue Condensed" panose="02000503000000020004" pitchFamily="2" charset="0"/>
                <a:cs typeface="Helvetica Neue Condensed" panose="02000503000000020004" pitchFamily="2" charset="0"/>
              </a:rPr>
              <a:t>Our Goal for this Week</a:t>
            </a:r>
          </a:p>
        </p:txBody>
      </p:sp>
      <p:sp>
        <p:nvSpPr>
          <p:cNvPr id="2" name="Rounded Rectangle 1">
            <a:extLst>
              <a:ext uri="{FF2B5EF4-FFF2-40B4-BE49-F238E27FC236}">
                <a16:creationId xmlns:a16="http://schemas.microsoft.com/office/drawing/2014/main" id="{613A6C90-0698-A041-B71E-0DD3ED7FD733}"/>
              </a:ext>
            </a:extLst>
          </p:cNvPr>
          <p:cNvSpPr/>
          <p:nvPr/>
        </p:nvSpPr>
        <p:spPr>
          <a:xfrm>
            <a:off x="2422374" y="1727042"/>
            <a:ext cx="12028517" cy="7274096"/>
          </a:xfrm>
          <a:prstGeom prst="roundRect">
            <a:avLst/>
          </a:prstGeom>
          <a:solidFill>
            <a:schemeClr val="accent1">
              <a:lumMod val="20000"/>
              <a:lumOff val="80000"/>
              <a:alpha val="86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i="1" dirty="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rPr>
              <a:t>Is to begin cracking this code</a:t>
            </a:r>
          </a:p>
          <a:p>
            <a:endParaRPr lang="en-US" sz="2800" dirty="0">
              <a:solidFill>
                <a:schemeClr val="tx1">
                  <a:lumMod val="50000"/>
                  <a:lumOff val="50000"/>
                </a:schemeClr>
              </a:solidFill>
              <a:latin typeface="Helvetica Neue Medium" panose="02000503000000020004" pitchFamily="2" charset="0"/>
              <a:ea typeface="Helvetica Neue Medium" panose="02000503000000020004" pitchFamily="2" charset="0"/>
              <a:cs typeface="Helvetica Neue Medium" panose="02000503000000020004" pitchFamily="2" charset="0"/>
            </a:endParaRPr>
          </a:p>
          <a:p>
            <a:pPr marL="285750" indent="-285750">
              <a:buFont typeface="Arial" panose="020B0604020202020204" pitchFamily="34" charset="0"/>
              <a:buChar char="•"/>
            </a:pPr>
            <a:r>
              <a:rPr lang="en-US" sz="2800" dirty="0">
                <a:solidFill>
                  <a:schemeClr val="tx1">
                    <a:lumMod val="50000"/>
                    <a:lumOff val="50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What are all these things? Which of them have I seen before?</a:t>
            </a:r>
          </a:p>
          <a:p>
            <a:pPr marL="742950" lvl="1" indent="-285750">
              <a:buFont typeface="Arial" panose="020B0604020202020204" pitchFamily="34" charset="0"/>
              <a:buChar char="•"/>
            </a:pPr>
            <a:r>
              <a:rPr lang="en-US" sz="2800" dirty="0">
                <a:solidFill>
                  <a:schemeClr val="tx1">
                    <a:lumMod val="50000"/>
                    <a:lumOff val="50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Which do I use myself, and how, and for what?</a:t>
            </a:r>
          </a:p>
          <a:p>
            <a:pPr marL="285750" indent="-285750">
              <a:buFont typeface="Arial" panose="020B0604020202020204" pitchFamily="34" charset="0"/>
              <a:buChar char="•"/>
            </a:pPr>
            <a:r>
              <a:rPr lang="en-US" sz="2800" dirty="0">
                <a:solidFill>
                  <a:schemeClr val="tx1">
                    <a:lumMod val="50000"/>
                    <a:lumOff val="50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Why switches, routers, firewalls, modems, and other boxes?</a:t>
            </a:r>
          </a:p>
          <a:p>
            <a:pPr marL="742950" lvl="1" indent="-285750">
              <a:buFont typeface="Arial" panose="020B0604020202020204" pitchFamily="34" charset="0"/>
              <a:buChar char="•"/>
            </a:pPr>
            <a:r>
              <a:rPr lang="en-US" sz="2800" dirty="0">
                <a:solidFill>
                  <a:schemeClr val="tx1">
                    <a:lumMod val="50000"/>
                    <a:lumOff val="50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What do they do, and how do they work?</a:t>
            </a:r>
          </a:p>
          <a:p>
            <a:pPr marL="742950" lvl="1" indent="-285750">
              <a:buFont typeface="Arial" panose="020B0604020202020204" pitchFamily="34" charset="0"/>
              <a:buChar char="•"/>
            </a:pPr>
            <a:r>
              <a:rPr lang="en-US" sz="2800" dirty="0">
                <a:solidFill>
                  <a:schemeClr val="tx1">
                    <a:lumMod val="50000"/>
                    <a:lumOff val="50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What standards govern their behavior and operation?</a:t>
            </a:r>
          </a:p>
          <a:p>
            <a:pPr marL="285750" indent="-285750">
              <a:buFont typeface="Arial" panose="020B0604020202020204" pitchFamily="34" charset="0"/>
              <a:buChar char="•"/>
            </a:pPr>
            <a:r>
              <a:rPr lang="en-US" sz="2800" dirty="0">
                <a:solidFill>
                  <a:schemeClr val="tx1">
                    <a:lumMod val="50000"/>
                    <a:lumOff val="50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What’s in the cloud-things, and lines that show connections?</a:t>
            </a:r>
          </a:p>
          <a:p>
            <a:pPr marL="742950" lvl="1" indent="-285750">
              <a:buFont typeface="Arial" panose="020B0604020202020204" pitchFamily="34" charset="0"/>
              <a:buChar char="•"/>
            </a:pPr>
            <a:r>
              <a:rPr lang="en-US" sz="2800" dirty="0">
                <a:solidFill>
                  <a:schemeClr val="tx1">
                    <a:lumMod val="50000"/>
                    <a:lumOff val="50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Are all the connections alike or equivalent?</a:t>
            </a:r>
          </a:p>
          <a:p>
            <a:pPr marL="285750" indent="-285750">
              <a:buFont typeface="Arial" panose="020B0604020202020204" pitchFamily="34" charset="0"/>
              <a:buChar char="•"/>
            </a:pPr>
            <a:r>
              <a:rPr lang="en-US" sz="2800" dirty="0">
                <a:solidFill>
                  <a:schemeClr val="tx1">
                    <a:lumMod val="50000"/>
                    <a:lumOff val="50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What is safe and what is not?</a:t>
            </a:r>
          </a:p>
          <a:p>
            <a:pPr marL="285750" indent="-285750">
              <a:buFont typeface="Arial" panose="020B0604020202020204" pitchFamily="34" charset="0"/>
              <a:buChar char="•"/>
            </a:pPr>
            <a:r>
              <a:rPr lang="en-US" sz="2800" dirty="0">
                <a:solidFill>
                  <a:schemeClr val="tx1">
                    <a:lumMod val="50000"/>
                    <a:lumOff val="50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Where are the risks? </a:t>
            </a:r>
            <a:r>
              <a:rPr lang="en-US" sz="2800" dirty="0">
                <a:solidFill>
                  <a:srgbClr val="FF0000"/>
                </a:solidFill>
                <a:latin typeface="Helvetica Neue Medium" panose="02000503000000020004" pitchFamily="2" charset="0"/>
                <a:ea typeface="Helvetica Neue Medium" panose="02000503000000020004" pitchFamily="2" charset="0"/>
                <a:cs typeface="Helvetica Neue Medium" panose="02000503000000020004" pitchFamily="2" charset="0"/>
              </a:rPr>
              <a:t>There is always risk!</a:t>
            </a:r>
          </a:p>
          <a:p>
            <a:pPr marL="285750" indent="-285750">
              <a:buFont typeface="Arial" panose="020B0604020202020204" pitchFamily="34" charset="0"/>
              <a:buChar char="•"/>
            </a:pPr>
            <a:r>
              <a:rPr lang="en-US" sz="2800" dirty="0">
                <a:solidFill>
                  <a:schemeClr val="tx1">
                    <a:lumMod val="50000"/>
                    <a:lumOff val="50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What questions can I ask to learn about a bank’s network?</a:t>
            </a:r>
          </a:p>
          <a:p>
            <a:pPr marL="742950" lvl="1" indent="-285750">
              <a:buFont typeface="Arial" panose="020B0604020202020204" pitchFamily="34" charset="0"/>
              <a:buChar char="•"/>
            </a:pPr>
            <a:r>
              <a:rPr lang="en-US" sz="2800" dirty="0">
                <a:solidFill>
                  <a:schemeClr val="tx1">
                    <a:lumMod val="50000"/>
                    <a:lumOff val="50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How can I know if my banks are using best practices?</a:t>
            </a:r>
          </a:p>
          <a:p>
            <a:pPr marL="285750" indent="-285750">
              <a:buFont typeface="Arial" panose="020B0604020202020204" pitchFamily="34" charset="0"/>
              <a:buChar char="•"/>
            </a:pPr>
            <a:r>
              <a:rPr lang="en-US" sz="2800" dirty="0">
                <a:solidFill>
                  <a:schemeClr val="tx1">
                    <a:lumMod val="50000"/>
                    <a:lumOff val="50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Is the banking industry taking advantage of available value?</a:t>
            </a:r>
          </a:p>
        </p:txBody>
      </p:sp>
    </p:spTree>
    <p:extLst>
      <p:ext uri="{BB962C8B-B14F-4D97-AF65-F5344CB8AC3E}">
        <p14:creationId xmlns:p14="http://schemas.microsoft.com/office/powerpoint/2010/main" val="1405233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B30F-02AC-6340-9EA2-EFDE676F6BF0}"/>
              </a:ext>
            </a:extLst>
          </p:cNvPr>
          <p:cNvSpPr>
            <a:spLocks noGrp="1"/>
          </p:cNvSpPr>
          <p:nvPr>
            <p:ph type="title"/>
          </p:nvPr>
        </p:nvSpPr>
        <p:spPr/>
        <p:txBody>
          <a:bodyPr/>
          <a:lstStyle/>
          <a:p>
            <a:r>
              <a:rPr lang="en-US" dirty="0"/>
              <a:t>An Important Resource</a:t>
            </a:r>
          </a:p>
        </p:txBody>
      </p:sp>
      <p:sp>
        <p:nvSpPr>
          <p:cNvPr id="3" name="Content Placeholder 2">
            <a:extLst>
              <a:ext uri="{FF2B5EF4-FFF2-40B4-BE49-F238E27FC236}">
                <a16:creationId xmlns:a16="http://schemas.microsoft.com/office/drawing/2014/main" id="{C8013C06-8593-8E41-BBC8-47496F6DE4CB}"/>
              </a:ext>
            </a:extLst>
          </p:cNvPr>
          <p:cNvSpPr>
            <a:spLocks noGrp="1"/>
          </p:cNvSpPr>
          <p:nvPr>
            <p:ph idx="1"/>
          </p:nvPr>
        </p:nvSpPr>
        <p:spPr/>
        <p:txBody>
          <a:bodyPr>
            <a:normAutofit lnSpcReduction="10000"/>
          </a:bodyPr>
          <a:lstStyle/>
          <a:p>
            <a:r>
              <a:rPr lang="en-US" dirty="0"/>
              <a:t>Ideally you have already visited: </a:t>
            </a:r>
            <a:r>
              <a:rPr lang="en-US" dirty="0">
                <a:hlinkClick r:id="rId2">
                  <a:extLst>
                    <a:ext uri="{A12FA001-AC4F-418D-AE19-62706E023703}">
                      <ahyp:hlinkClr xmlns:ahyp="http://schemas.microsoft.com/office/drawing/2018/hyperlinkcolor" val="tx"/>
                    </a:ext>
                  </a:extLst>
                </a:hlinkClick>
              </a:rPr>
              <a:t>https://class.hillvt.com/</a:t>
            </a:r>
            <a:endParaRPr lang="en-US" dirty="0"/>
          </a:p>
          <a:p>
            <a:pPr lvl="1"/>
            <a:r>
              <a:rPr lang="en-US" dirty="0"/>
              <a:t>and found the page corresponding to our class</a:t>
            </a:r>
          </a:p>
          <a:p>
            <a:pPr lvl="1"/>
            <a:r>
              <a:rPr lang="en-US" dirty="0"/>
              <a:t>If you have not, please do it now, and bookmark that page</a:t>
            </a:r>
          </a:p>
          <a:p>
            <a:r>
              <a:rPr lang="en-US" dirty="0"/>
              <a:t>We use this site for file and knowledge sharing</a:t>
            </a:r>
          </a:p>
          <a:p>
            <a:r>
              <a:rPr lang="en-US" dirty="0"/>
              <a:t>We’ll put various things there for use during class</a:t>
            </a:r>
          </a:p>
          <a:p>
            <a:r>
              <a:rPr lang="en-US" dirty="0"/>
              <a:t>Nothing there is:</a:t>
            </a:r>
          </a:p>
          <a:p>
            <a:pPr lvl="1"/>
            <a:r>
              <a:rPr lang="en-US" dirty="0"/>
              <a:t>Required or mandatory, just maybe useful</a:t>
            </a:r>
          </a:p>
          <a:p>
            <a:pPr lvl="1"/>
            <a:r>
              <a:rPr lang="en-US" dirty="0"/>
              <a:t>Secret or confidential to the FDIC or anyone else</a:t>
            </a:r>
          </a:p>
          <a:p>
            <a:r>
              <a:rPr lang="en-US" dirty="0"/>
              <a:t>The class page will disappear soon</a:t>
            </a:r>
          </a:p>
          <a:p>
            <a:pPr lvl="1"/>
            <a:r>
              <a:rPr lang="en-US" dirty="0"/>
              <a:t>We’ll leave it up for a week or so after class, so no real rush, but save what you want to keep.</a:t>
            </a:r>
          </a:p>
        </p:txBody>
      </p:sp>
    </p:spTree>
    <p:extLst>
      <p:ext uri="{BB962C8B-B14F-4D97-AF65-F5344CB8AC3E}">
        <p14:creationId xmlns:p14="http://schemas.microsoft.com/office/powerpoint/2010/main" val="1926978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9698" name="Rectangle 2"/>
          <p:cNvSpPr>
            <a:spLocks noGrp="1" noChangeArrowheads="1"/>
          </p:cNvSpPr>
          <p:nvPr>
            <p:ph type="title"/>
          </p:nvPr>
        </p:nvSpPr>
        <p:spPr/>
        <p:txBody>
          <a:bodyPr/>
          <a:lstStyle/>
          <a:p>
            <a:r>
              <a:rPr lang="en-US" dirty="0"/>
              <a:t>Classroom Ops</a:t>
            </a:r>
          </a:p>
        </p:txBody>
      </p:sp>
      <p:sp>
        <p:nvSpPr>
          <p:cNvPr id="3869699" name="Rectangle 3"/>
          <p:cNvSpPr>
            <a:spLocks noGrp="1" noChangeArrowheads="1"/>
          </p:cNvSpPr>
          <p:nvPr>
            <p:ph idx="1"/>
          </p:nvPr>
        </p:nvSpPr>
        <p:spPr>
          <a:xfrm>
            <a:off x="1257299" y="2193130"/>
            <a:ext cx="14301789" cy="7703345"/>
          </a:xfrm>
        </p:spPr>
        <p:txBody>
          <a:bodyPr>
            <a:normAutofit/>
          </a:bodyPr>
          <a:lstStyle/>
          <a:p>
            <a:r>
              <a:rPr lang="en-US" dirty="0"/>
              <a:t>Class runs 8:30-4:30 each day</a:t>
            </a:r>
          </a:p>
          <a:p>
            <a:r>
              <a:rPr lang="en-US" dirty="0"/>
              <a:t>First ~10 min break around 10, hourly thereafter</a:t>
            </a:r>
          </a:p>
          <a:p>
            <a:r>
              <a:rPr lang="en-US" dirty="0"/>
              <a:t>Lunch around noon unless we decide otherwise</a:t>
            </a:r>
          </a:p>
          <a:p>
            <a:r>
              <a:rPr lang="en-US" dirty="0"/>
              <a:t>Please limit distractions and stay tuned in</a:t>
            </a:r>
          </a:p>
          <a:p>
            <a:r>
              <a:rPr lang="en-US" dirty="0"/>
              <a:t>If you must step away for a bit that’s fine with me</a:t>
            </a:r>
          </a:p>
          <a:p>
            <a:pPr lvl="1"/>
            <a:r>
              <a:rPr lang="en-US" dirty="0"/>
              <a:t>Check with FDIC class admin regarding significant absences, they determine class credit</a:t>
            </a:r>
          </a:p>
          <a:p>
            <a:r>
              <a:rPr lang="en-US" i="1" dirty="0">
                <a:solidFill>
                  <a:srgbClr val="E23A30"/>
                </a:solidFill>
              </a:rPr>
              <a:t>Any specific products/services mentioned are meant </a:t>
            </a:r>
            <a:br>
              <a:rPr lang="en-US" i="1" dirty="0">
                <a:solidFill>
                  <a:srgbClr val="E23A30"/>
                </a:solidFill>
              </a:rPr>
            </a:br>
            <a:r>
              <a:rPr lang="en-US" i="1" dirty="0">
                <a:solidFill>
                  <a:srgbClr val="E23A30"/>
                </a:solidFill>
              </a:rPr>
              <a:t>as examples, not endorsements</a:t>
            </a:r>
          </a:p>
          <a:p>
            <a:r>
              <a:rPr lang="en-US" i="1" dirty="0">
                <a:solidFill>
                  <a:srgbClr val="E23A30"/>
                </a:solidFill>
              </a:rPr>
              <a:t>I’ve worked for Juniper, Cisco, and Broadcom in the past, but have no ties to or investments in them now </a:t>
            </a:r>
          </a:p>
          <a:p>
            <a:pPr marL="0" indent="0">
              <a:buNone/>
            </a:pPr>
            <a:endParaRPr lang="en-US" dirty="0"/>
          </a:p>
        </p:txBody>
      </p:sp>
      <p:pic>
        <p:nvPicPr>
          <p:cNvPr id="6" name="Picture 1" descr="C:\Users\AWalkden.HILL\AppData\Local\Temp\boss_holding_watch_clip_400_clr.png"/>
          <p:cNvPicPr>
            <a:picLocks noChangeAspect="1" noChangeArrowheads="1"/>
          </p:cNvPicPr>
          <p:nvPr/>
        </p:nvPicPr>
        <p:blipFill>
          <a:blip r:embed="rId4" cstate="print"/>
          <a:srcRect/>
          <a:stretch>
            <a:fillRect/>
          </a:stretch>
        </p:blipFill>
        <p:spPr bwMode="auto">
          <a:xfrm>
            <a:off x="15780544" y="2779569"/>
            <a:ext cx="2500313" cy="5715000"/>
          </a:xfrm>
          <a:prstGeom prst="rect">
            <a:avLst/>
          </a:prstGeom>
          <a:noFill/>
        </p:spPr>
      </p:pic>
    </p:spTree>
    <p:custDataLst>
      <p:tags r:id="rId1"/>
    </p:custDataLst>
    <p:extLst>
      <p:ext uri="{BB962C8B-B14F-4D97-AF65-F5344CB8AC3E}">
        <p14:creationId xmlns:p14="http://schemas.microsoft.com/office/powerpoint/2010/main" val="3592050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FEC74-64F7-6243-AE87-0F87E06D3322}"/>
              </a:ext>
            </a:extLst>
          </p:cNvPr>
          <p:cNvSpPr>
            <a:spLocks noGrp="1"/>
          </p:cNvSpPr>
          <p:nvPr>
            <p:ph type="title"/>
          </p:nvPr>
        </p:nvSpPr>
        <p:spPr/>
        <p:txBody>
          <a:bodyPr/>
          <a:lstStyle/>
          <a:p>
            <a:r>
              <a:rPr lang="en-US"/>
              <a:t>Introductions</a:t>
            </a:r>
          </a:p>
        </p:txBody>
      </p:sp>
      <p:sp>
        <p:nvSpPr>
          <p:cNvPr id="3" name="Content Placeholder 2">
            <a:extLst>
              <a:ext uri="{FF2B5EF4-FFF2-40B4-BE49-F238E27FC236}">
                <a16:creationId xmlns:a16="http://schemas.microsoft.com/office/drawing/2014/main" id="{E655A964-69B0-CF45-9266-E88C84348EA0}"/>
              </a:ext>
            </a:extLst>
          </p:cNvPr>
          <p:cNvSpPr>
            <a:spLocks noGrp="1"/>
          </p:cNvSpPr>
          <p:nvPr>
            <p:ph idx="1"/>
          </p:nvPr>
        </p:nvSpPr>
        <p:spPr>
          <a:xfrm>
            <a:off x="1257299" y="2193130"/>
            <a:ext cx="16195813" cy="7889084"/>
          </a:xfrm>
        </p:spPr>
        <p:txBody>
          <a:bodyPr>
            <a:normAutofit/>
          </a:bodyPr>
          <a:lstStyle/>
          <a:p>
            <a:r>
              <a:rPr lang="en-US" dirty="0"/>
              <a:t>We have 4.5 days together this week, so I’ll go first:</a:t>
            </a:r>
          </a:p>
          <a:p>
            <a:r>
              <a:rPr lang="en-US" dirty="0"/>
              <a:t>My name is </a:t>
            </a:r>
            <a:r>
              <a:rPr lang="en-US" b="1" dirty="0"/>
              <a:t>Matt Kolon</a:t>
            </a:r>
            <a:r>
              <a:rPr lang="en-US" dirty="0"/>
              <a:t>, I’m a Senior MTS at Hill Associates</a:t>
            </a:r>
          </a:p>
          <a:p>
            <a:pPr lvl="1"/>
            <a:r>
              <a:rPr lang="en-US" dirty="0"/>
              <a:t>I’m a long-time networking and telecom geek</a:t>
            </a:r>
          </a:p>
          <a:p>
            <a:pPr lvl="1"/>
            <a:r>
              <a:rPr lang="en-US" dirty="0"/>
              <a:t>I’ve worked for Cisco, Juniper, and Brocade as well as Hill Associates</a:t>
            </a:r>
          </a:p>
          <a:p>
            <a:pPr lvl="1"/>
            <a:r>
              <a:rPr lang="en-US" dirty="0"/>
              <a:t>From 2005 to 2017 I lived in </a:t>
            </a:r>
            <a:r>
              <a:rPr lang="en-US" dirty="0" err="1"/>
              <a:t>香港</a:t>
            </a:r>
            <a:r>
              <a:rPr lang="en-US" dirty="0"/>
              <a:t>, </a:t>
            </a:r>
            <a:r>
              <a:rPr lang="en-US" dirty="0" err="1"/>
              <a:t>北京</a:t>
            </a:r>
            <a:r>
              <a:rPr lang="en-US" dirty="0"/>
              <a:t>, and</a:t>
            </a:r>
            <a:r>
              <a:rPr lang="zh-CN" altLang="en-US" dirty="0"/>
              <a:t> </a:t>
            </a:r>
            <a:r>
              <a:rPr lang="ja-JP" altLang="en-US"/>
              <a:t>東京</a:t>
            </a:r>
            <a:endParaRPr lang="en-US" dirty="0"/>
          </a:p>
          <a:p>
            <a:pPr lvl="1"/>
            <a:r>
              <a:rPr lang="en-US" dirty="0"/>
              <a:t>Now I live in Underhill, Vermont where I ski and ride my bikes a lot.</a:t>
            </a:r>
          </a:p>
          <a:p>
            <a:pPr lvl="1"/>
            <a:r>
              <a:rPr lang="en-US" dirty="0">
                <a:solidFill>
                  <a:srgbClr val="FF0000"/>
                </a:solidFill>
              </a:rPr>
              <a:t>This week I’d like us to find places where risk is hiding in bank networks!</a:t>
            </a:r>
          </a:p>
          <a:p>
            <a:r>
              <a:rPr lang="en-US" dirty="0"/>
              <a:t>Telecom and IT are very interesting worlds right now</a:t>
            </a:r>
          </a:p>
          <a:p>
            <a:pPr lvl="1"/>
            <a:r>
              <a:rPr lang="en-US" dirty="0"/>
              <a:t>2026 is turning into a pretty crazy year!</a:t>
            </a:r>
          </a:p>
          <a:p>
            <a:pPr lvl="1"/>
            <a:r>
              <a:rPr lang="en-US" dirty="0"/>
              <a:t>Even if you’re not looking at bank topologies as much as in the past </a:t>
            </a:r>
          </a:p>
          <a:p>
            <a:pPr lvl="1"/>
            <a:r>
              <a:rPr lang="en-US" dirty="0"/>
              <a:t>We will also share some more general networking knowledge</a:t>
            </a:r>
          </a:p>
          <a:p>
            <a:pPr lvl="1"/>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369272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Introductions  </a:t>
            </a:r>
          </a:p>
        </p:txBody>
      </p:sp>
      <p:sp>
        <p:nvSpPr>
          <p:cNvPr id="3" name="Content Placeholder 2"/>
          <p:cNvSpPr>
            <a:spLocks noGrp="1"/>
          </p:cNvSpPr>
          <p:nvPr>
            <p:ph idx="1"/>
          </p:nvPr>
        </p:nvSpPr>
        <p:spPr/>
        <p:txBody>
          <a:bodyPr/>
          <a:lstStyle/>
          <a:p>
            <a:pPr marL="0" indent="0">
              <a:buNone/>
            </a:pPr>
            <a:r>
              <a:rPr lang="en-US" dirty="0"/>
              <a:t>Now it’s your turn:</a:t>
            </a:r>
            <a:endParaRPr lang="en-US" i="1" dirty="0">
              <a:solidFill>
                <a:schemeClr val="accent6"/>
              </a:solidFill>
            </a:endParaRPr>
          </a:p>
          <a:p>
            <a:pPr marL="0" indent="0">
              <a:buNone/>
            </a:pPr>
            <a:endParaRPr lang="en-US" dirty="0"/>
          </a:p>
          <a:p>
            <a:r>
              <a:rPr lang="en-US" dirty="0"/>
              <a:t>Name and location</a:t>
            </a:r>
          </a:p>
          <a:p>
            <a:r>
              <a:rPr lang="en-US" dirty="0"/>
              <a:t>Function or position: Risk Management Examiner? </a:t>
            </a:r>
            <a:br>
              <a:rPr lang="en-US" dirty="0"/>
            </a:br>
            <a:r>
              <a:rPr lang="en-US" dirty="0"/>
              <a:t>IT Examiner? S&amp;S? ITEA? Something else?</a:t>
            </a:r>
          </a:p>
          <a:p>
            <a:r>
              <a:rPr lang="en-US" dirty="0"/>
              <a:t>Any experience in cybersecurity topics?</a:t>
            </a:r>
          </a:p>
          <a:p>
            <a:r>
              <a:rPr lang="en-US" dirty="0"/>
              <a:t>What would you like to learn this week?</a:t>
            </a:r>
          </a:p>
        </p:txBody>
      </p:sp>
      <p:pic>
        <p:nvPicPr>
          <p:cNvPr id="7" name="Picture 2" descr="C:\Users\MSteinberg\AppData\Local\Microsoft\Windows\Temporary Internet Files\Content.IE5\Z276SUW9\MP900442479[1].jp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4102206" y="4969002"/>
            <a:ext cx="3156759" cy="4735139"/>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698778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Agenda</a:t>
            </a:r>
          </a:p>
        </p:txBody>
      </p:sp>
      <p:cxnSp>
        <p:nvCxnSpPr>
          <p:cNvPr id="3" name="Agenda line"/>
          <p:cNvCxnSpPr/>
          <p:nvPr/>
        </p:nvCxnSpPr>
        <p:spPr>
          <a:xfrm>
            <a:off x="2706624" y="3200400"/>
            <a:ext cx="12874752" cy="0"/>
          </a:xfrm>
          <a:prstGeom prst="line">
            <a:avLst/>
          </a:prstGeom>
          <a:ln w="50800">
            <a:solidFill>
              <a:srgbClr val="ED7D31"/>
            </a:solidFill>
          </a:ln>
        </p:spPr>
        <p:style>
          <a:lnRef idx="2">
            <a:schemeClr val="accent1"/>
          </a:lnRef>
          <a:fillRef idx="0">
            <a:schemeClr val="accent1"/>
          </a:fillRef>
          <a:effectRef idx="1">
            <a:schemeClr val="accent1"/>
          </a:effectRef>
          <a:fontRef idx="minor">
            <a:schemeClr val="tx1"/>
          </a:fontRef>
        </p:style>
      </p:cxnSp>
      <p:sp>
        <p:nvSpPr>
          <p:cNvPr id="4" name="Day 1 disc"/>
          <p:cNvSpPr/>
          <p:nvPr/>
        </p:nvSpPr>
        <p:spPr>
          <a:xfrm>
            <a:off x="2203704" y="2697480"/>
            <a:ext cx="1005840" cy="1005840"/>
          </a:xfrm>
          <a:prstGeom prst="ellipse">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5" name="Day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86584" y="2880360"/>
            <a:ext cx="640080" cy="640080"/>
          </a:xfrm>
          <a:prstGeom prst="rect">
            <a:avLst/>
          </a:prstGeom>
        </p:spPr>
      </p:pic>
      <p:sp>
        <p:nvSpPr>
          <p:cNvPr id="6" name="Day 1 head"/>
          <p:cNvSpPr txBox="1"/>
          <p:nvPr/>
        </p:nvSpPr>
        <p:spPr>
          <a:xfrm>
            <a:off x="1257300" y="3794760"/>
            <a:ext cx="2898648" cy="868680"/>
          </a:xfrm>
          <a:prstGeom prst="rect">
            <a:avLst/>
          </a:prstGeom>
          <a:noFill/>
        </p:spPr>
        <p:txBody>
          <a:bodyPr wrap="square" lIns="0" tIns="0" rIns="0" bIns="0" anchor="t">
            <a:spAutoFit/>
          </a:bodyPr>
          <a:lstStyle/>
          <a:p>
            <a:pPr algn="ctr">
              <a:spcAft>
                <a:spcPts val="100"/>
              </a:spcAft>
            </a:pPr>
            <a:r>
              <a:rPr sz="2200" b="1" i="0">
                <a:solidFill>
                  <a:srgbClr val="ED7D31"/>
                </a:solidFill>
                <a:latin typeface="Helvetica Neue"/>
                <a:ea typeface="Helvetica Neue"/>
                <a:cs typeface="Helvetica Neue"/>
              </a:rPr>
              <a:t>Monday</a:t>
            </a:r>
          </a:p>
          <a:p>
            <a:pPr algn="ctr">
              <a:spcAft>
                <a:spcPts val="100"/>
              </a:spcAft>
            </a:pPr>
            <a:r>
              <a:rPr sz="1600" b="1" i="0">
                <a:solidFill>
                  <a:srgbClr val="000000"/>
                </a:solidFill>
                <a:latin typeface="Helvetica Neue"/>
                <a:ea typeface="Helvetica Neue"/>
                <a:cs typeface="Helvetica Neue"/>
              </a:rPr>
              <a:t>The branch</a:t>
            </a:r>
          </a:p>
        </p:txBody>
      </p:sp>
      <p:sp>
        <p:nvSpPr>
          <p:cNvPr id="7" name="Day 1 box"/>
          <p:cNvSpPr/>
          <p:nvPr/>
        </p:nvSpPr>
        <p:spPr>
          <a:xfrm>
            <a:off x="1257300" y="4754880"/>
            <a:ext cx="2898648" cy="3794760"/>
          </a:xfrm>
          <a:prstGeom prst="round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8" name="Day 1 list"/>
          <p:cNvSpPr txBox="1"/>
          <p:nvPr/>
        </p:nvSpPr>
        <p:spPr>
          <a:xfrm>
            <a:off x="1440180" y="4919472"/>
            <a:ext cx="2578608" cy="3566160"/>
          </a:xfrm>
          <a:prstGeom prst="rect">
            <a:avLst/>
          </a:prstGeom>
          <a:noFill/>
        </p:spPr>
        <p:txBody>
          <a:bodyPr wrap="square" lIns="0" tIns="0" rIns="0" bIns="0">
            <a:spAutoFit/>
          </a:bodyPr>
          <a:lstStyle/>
          <a:p>
            <a:pPr marL="274320" indent="-274320">
              <a:spcAft>
                <a:spcPts val="600"/>
              </a:spcAft>
              <a:buFont typeface="Arial"/>
              <a:buChar char="•"/>
            </a:pPr>
            <a:r>
              <a:rPr sz="1700" b="0" i="0">
                <a:solidFill>
                  <a:srgbClr val="000000"/>
                </a:solidFill>
                <a:latin typeface="Helvetica Neue"/>
                <a:ea typeface="Helvetica Neue"/>
                <a:cs typeface="Helvetica Neue"/>
              </a:rPr>
              <a:t>Orientation</a:t>
            </a:r>
          </a:p>
          <a:p>
            <a:pPr marL="274320" indent="-274320">
              <a:spcAft>
                <a:spcPts val="600"/>
              </a:spcAft>
              <a:buFont typeface="Arial"/>
              <a:buChar char="•"/>
            </a:pPr>
            <a:r>
              <a:rPr sz="1700" b="0" i="0">
                <a:solidFill>
                  <a:srgbClr val="000000"/>
                </a:solidFill>
                <a:latin typeface="Helvetica Neue"/>
                <a:ea typeface="Helvetica Neue"/>
                <a:cs typeface="Helvetica Neue"/>
              </a:rPr>
              <a:t>The communications landscape</a:t>
            </a:r>
          </a:p>
          <a:p>
            <a:pPr marL="274320" indent="-274320">
              <a:spcAft>
                <a:spcPts val="600"/>
              </a:spcAft>
              <a:buFont typeface="Arial"/>
              <a:buChar char="•"/>
            </a:pPr>
            <a:r>
              <a:rPr sz="1700" b="0" i="0">
                <a:solidFill>
                  <a:srgbClr val="000000"/>
                </a:solidFill>
                <a:latin typeface="Helvetica Neue"/>
                <a:ea typeface="Helvetica Neue"/>
                <a:cs typeface="Helvetica Neue"/>
              </a:rPr>
              <a:t>A short history of financial networking</a:t>
            </a:r>
          </a:p>
          <a:p>
            <a:pPr marL="274320" indent="-274320">
              <a:spcAft>
                <a:spcPts val="600"/>
              </a:spcAft>
              <a:buFont typeface="Arial"/>
              <a:buChar char="•"/>
            </a:pPr>
            <a:r>
              <a:rPr sz="1700" b="0" i="0">
                <a:solidFill>
                  <a:srgbClr val="000000"/>
                </a:solidFill>
                <a:latin typeface="Helvetica Neue"/>
                <a:ea typeface="Helvetica Neue"/>
                <a:cs typeface="Helvetica Neue"/>
              </a:rPr>
              <a:t>Designing bank networks</a:t>
            </a:r>
          </a:p>
          <a:p>
            <a:pPr marL="274320" indent="-274320">
              <a:spcAft>
                <a:spcPts val="600"/>
              </a:spcAft>
              <a:buFont typeface="Arial"/>
              <a:buChar char="•"/>
            </a:pPr>
            <a:r>
              <a:rPr sz="1700" b="0" i="0">
                <a:solidFill>
                  <a:srgbClr val="000000"/>
                </a:solidFill>
                <a:latin typeface="Helvetica Neue"/>
                <a:ea typeface="Helvetica Neue"/>
                <a:cs typeface="Helvetica Neue"/>
              </a:rPr>
              <a:t>LANs in depth</a:t>
            </a:r>
          </a:p>
        </p:txBody>
      </p:sp>
      <p:sp>
        <p:nvSpPr>
          <p:cNvPr id="9" name="Day 1 ex"/>
          <p:cNvSpPr/>
          <p:nvPr/>
        </p:nvSpPr>
        <p:spPr>
          <a:xfrm>
            <a:off x="1257300" y="8686800"/>
            <a:ext cx="2898648" cy="6858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1" i="0">
                <a:solidFill>
                  <a:srgbClr val="FFFFFF"/>
                </a:solidFill>
                <a:latin typeface="Helvetica Neue"/>
                <a:ea typeface="Helvetica Neue"/>
                <a:cs typeface="Helvetica Neue"/>
              </a:rPr>
              <a:t>Ex 1: Annotate the LAN</a:t>
            </a:r>
          </a:p>
        </p:txBody>
      </p:sp>
      <p:sp>
        <p:nvSpPr>
          <p:cNvPr id="10" name="Day 2 disc"/>
          <p:cNvSpPr/>
          <p:nvPr/>
        </p:nvSpPr>
        <p:spPr>
          <a:xfrm>
            <a:off x="5422392" y="2697480"/>
            <a:ext cx="1005840" cy="1005840"/>
          </a:xfrm>
          <a:prstGeom prst="ellipse">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1" name="Day 2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05272" y="2880360"/>
            <a:ext cx="640080" cy="640080"/>
          </a:xfrm>
          <a:prstGeom prst="rect">
            <a:avLst/>
          </a:prstGeom>
        </p:spPr>
      </p:pic>
      <p:sp>
        <p:nvSpPr>
          <p:cNvPr id="12" name="Day 2 head"/>
          <p:cNvSpPr txBox="1"/>
          <p:nvPr/>
        </p:nvSpPr>
        <p:spPr>
          <a:xfrm>
            <a:off x="4475988" y="3794760"/>
            <a:ext cx="2898648" cy="868680"/>
          </a:xfrm>
          <a:prstGeom prst="rect">
            <a:avLst/>
          </a:prstGeom>
          <a:noFill/>
        </p:spPr>
        <p:txBody>
          <a:bodyPr wrap="square" lIns="0" tIns="0" rIns="0" bIns="0" anchor="t">
            <a:spAutoFit/>
          </a:bodyPr>
          <a:lstStyle/>
          <a:p>
            <a:pPr algn="ctr">
              <a:spcAft>
                <a:spcPts val="100"/>
              </a:spcAft>
            </a:pPr>
            <a:r>
              <a:rPr sz="2200" b="1" i="0">
                <a:solidFill>
                  <a:srgbClr val="ED7D31"/>
                </a:solidFill>
                <a:latin typeface="Helvetica Neue"/>
                <a:ea typeface="Helvetica Neue"/>
                <a:cs typeface="Helvetica Neue"/>
              </a:rPr>
              <a:t>Tuesday</a:t>
            </a:r>
          </a:p>
          <a:p>
            <a:pPr algn="ctr">
              <a:spcAft>
                <a:spcPts val="100"/>
              </a:spcAft>
            </a:pPr>
            <a:r>
              <a:rPr sz="1600" b="1" i="0">
                <a:solidFill>
                  <a:srgbClr val="000000"/>
                </a:solidFill>
                <a:latin typeface="Helvetica Neue"/>
                <a:ea typeface="Helvetica Neue"/>
                <a:cs typeface="Helvetica Neue"/>
              </a:rPr>
              <a:t>Out of the building</a:t>
            </a:r>
          </a:p>
        </p:txBody>
      </p:sp>
      <p:sp>
        <p:nvSpPr>
          <p:cNvPr id="13" name="Day 2 box"/>
          <p:cNvSpPr/>
          <p:nvPr/>
        </p:nvSpPr>
        <p:spPr>
          <a:xfrm>
            <a:off x="4475988" y="4754880"/>
            <a:ext cx="2898648" cy="3794760"/>
          </a:xfrm>
          <a:prstGeom prst="round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4" name="Day 2 list"/>
          <p:cNvSpPr txBox="1"/>
          <p:nvPr/>
        </p:nvSpPr>
        <p:spPr>
          <a:xfrm>
            <a:off x="4658868" y="4919472"/>
            <a:ext cx="2578608" cy="3566160"/>
          </a:xfrm>
          <a:prstGeom prst="rect">
            <a:avLst/>
          </a:prstGeom>
          <a:noFill/>
        </p:spPr>
        <p:txBody>
          <a:bodyPr wrap="square" lIns="0" tIns="0" rIns="0" bIns="0">
            <a:spAutoFit/>
          </a:bodyPr>
          <a:lstStyle/>
          <a:p>
            <a:pPr marL="274320" indent="-274320">
              <a:spcAft>
                <a:spcPts val="600"/>
              </a:spcAft>
              <a:buFont typeface="Arial"/>
              <a:buChar char="•"/>
            </a:pPr>
            <a:r>
              <a:rPr sz="1700" b="0" i="0">
                <a:solidFill>
                  <a:srgbClr val="000000"/>
                </a:solidFill>
                <a:latin typeface="Helvetica Neue"/>
                <a:ea typeface="Helvetica Neue"/>
                <a:cs typeface="Helvetica Neue"/>
              </a:rPr>
              <a:t>WANs in depth</a:t>
            </a:r>
          </a:p>
          <a:p>
            <a:pPr marL="274320" indent="-274320">
              <a:spcAft>
                <a:spcPts val="600"/>
              </a:spcAft>
              <a:buFont typeface="Arial"/>
              <a:buChar char="•"/>
            </a:pPr>
            <a:r>
              <a:rPr sz="1700" b="0" i="0">
                <a:solidFill>
                  <a:srgbClr val="000000"/>
                </a:solidFill>
                <a:latin typeface="Helvetica Neue"/>
                <a:ea typeface="Helvetica Neue"/>
                <a:cs typeface="Helvetica Neue"/>
              </a:rPr>
              <a:t>Wireless WANs</a:t>
            </a:r>
          </a:p>
          <a:p>
            <a:pPr marL="274320" indent="-274320">
              <a:spcAft>
                <a:spcPts val="600"/>
              </a:spcAft>
              <a:buFont typeface="Arial"/>
              <a:buChar char="•"/>
            </a:pPr>
            <a:r>
              <a:rPr sz="1700" b="0" i="0">
                <a:solidFill>
                  <a:srgbClr val="000000"/>
                </a:solidFill>
                <a:latin typeface="Helvetica Neue"/>
                <a:ea typeface="Helvetica Neue"/>
                <a:cs typeface="Helvetica Neue"/>
              </a:rPr>
              <a:t>The internet and applications</a:t>
            </a:r>
          </a:p>
          <a:p>
            <a:pPr marL="274320" indent="-274320">
              <a:spcAft>
                <a:spcPts val="600"/>
              </a:spcAft>
              <a:buFont typeface="Arial"/>
              <a:buChar char="•"/>
            </a:pPr>
            <a:r>
              <a:rPr sz="1700" b="0" i="0">
                <a:solidFill>
                  <a:srgbClr val="000000"/>
                </a:solidFill>
                <a:latin typeface="Helvetica Neue"/>
                <a:ea typeface="Helvetica Neue"/>
                <a:cs typeface="Helvetica Neue"/>
              </a:rPr>
              <a:t>IP addresses</a:t>
            </a:r>
          </a:p>
          <a:p>
            <a:pPr marL="274320" indent="-274320">
              <a:spcAft>
                <a:spcPts val="600"/>
              </a:spcAft>
              <a:buFont typeface="Arial"/>
              <a:buChar char="•"/>
            </a:pPr>
            <a:r>
              <a:rPr sz="1700" b="0" i="0">
                <a:solidFill>
                  <a:srgbClr val="000000"/>
                </a:solidFill>
                <a:latin typeface="Helvetica Neue"/>
                <a:ea typeface="Helvetica Neue"/>
                <a:cs typeface="Helvetica Neue"/>
              </a:rPr>
              <a:t>IP routing</a:t>
            </a:r>
          </a:p>
          <a:p>
            <a:pPr marL="274320" indent="-274320">
              <a:spcAft>
                <a:spcPts val="600"/>
              </a:spcAft>
              <a:buFont typeface="Arial"/>
              <a:buChar char="•"/>
            </a:pPr>
            <a:r>
              <a:rPr sz="1700" b="0" i="0">
                <a:solidFill>
                  <a:srgbClr val="000000"/>
                </a:solidFill>
                <a:latin typeface="Helvetica Neue"/>
                <a:ea typeface="Helvetica Neue"/>
                <a:cs typeface="Helvetica Neue"/>
              </a:rPr>
              <a:t>Transport layer: confidentiality and integrity</a:t>
            </a:r>
          </a:p>
        </p:txBody>
      </p:sp>
      <p:sp>
        <p:nvSpPr>
          <p:cNvPr id="15" name="Day 2 ex"/>
          <p:cNvSpPr/>
          <p:nvPr/>
        </p:nvSpPr>
        <p:spPr>
          <a:xfrm>
            <a:off x="4475988" y="8686800"/>
            <a:ext cx="2898648" cy="6858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1" i="0">
                <a:solidFill>
                  <a:srgbClr val="FFFFFF"/>
                </a:solidFill>
                <a:latin typeface="Helvetica Neue"/>
                <a:ea typeface="Helvetica Neue"/>
                <a:cs typeface="Helvetica Neue"/>
              </a:rPr>
              <a:t>Ex 2: Annotate the WAN</a:t>
            </a:r>
          </a:p>
        </p:txBody>
      </p:sp>
      <p:sp>
        <p:nvSpPr>
          <p:cNvPr id="16" name="Day 3 disc"/>
          <p:cNvSpPr/>
          <p:nvPr/>
        </p:nvSpPr>
        <p:spPr>
          <a:xfrm>
            <a:off x="8641080" y="2697480"/>
            <a:ext cx="1005840" cy="1005840"/>
          </a:xfrm>
          <a:prstGeom prst="ellipse">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7" name="Day 3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23960" y="2880360"/>
            <a:ext cx="640080" cy="640080"/>
          </a:xfrm>
          <a:prstGeom prst="rect">
            <a:avLst/>
          </a:prstGeom>
        </p:spPr>
      </p:pic>
      <p:sp>
        <p:nvSpPr>
          <p:cNvPr id="18" name="Day 3 head"/>
          <p:cNvSpPr txBox="1"/>
          <p:nvPr/>
        </p:nvSpPr>
        <p:spPr>
          <a:xfrm>
            <a:off x="7694675" y="3794760"/>
            <a:ext cx="2898648" cy="868680"/>
          </a:xfrm>
          <a:prstGeom prst="rect">
            <a:avLst/>
          </a:prstGeom>
          <a:noFill/>
        </p:spPr>
        <p:txBody>
          <a:bodyPr wrap="square" lIns="0" tIns="0" rIns="0" bIns="0" anchor="t">
            <a:spAutoFit/>
          </a:bodyPr>
          <a:lstStyle/>
          <a:p>
            <a:pPr algn="ctr">
              <a:spcAft>
                <a:spcPts val="100"/>
              </a:spcAft>
            </a:pPr>
            <a:r>
              <a:rPr sz="2200" b="1" i="0">
                <a:solidFill>
                  <a:srgbClr val="ED7D31"/>
                </a:solidFill>
                <a:latin typeface="Helvetica Neue"/>
                <a:ea typeface="Helvetica Neue"/>
                <a:cs typeface="Helvetica Neue"/>
              </a:rPr>
              <a:t>Wednesday</a:t>
            </a:r>
          </a:p>
          <a:p>
            <a:pPr algn="ctr">
              <a:spcAft>
                <a:spcPts val="100"/>
              </a:spcAft>
            </a:pPr>
            <a:r>
              <a:rPr sz="1600" b="1" i="0">
                <a:solidFill>
                  <a:srgbClr val="000000"/>
                </a:solidFill>
                <a:latin typeface="Helvetica Neue"/>
                <a:ea typeface="Helvetica Neue"/>
                <a:cs typeface="Helvetica Neue"/>
              </a:rPr>
              <a:t>Data center, cloud, vendors</a:t>
            </a:r>
          </a:p>
        </p:txBody>
      </p:sp>
      <p:sp>
        <p:nvSpPr>
          <p:cNvPr id="19" name="Day 3 box"/>
          <p:cNvSpPr/>
          <p:nvPr/>
        </p:nvSpPr>
        <p:spPr>
          <a:xfrm>
            <a:off x="7694675" y="4754880"/>
            <a:ext cx="2898648" cy="3794760"/>
          </a:xfrm>
          <a:prstGeom prst="round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0" name="Day 3 list"/>
          <p:cNvSpPr txBox="1"/>
          <p:nvPr/>
        </p:nvSpPr>
        <p:spPr>
          <a:xfrm>
            <a:off x="7877555" y="4919472"/>
            <a:ext cx="2578608" cy="3566160"/>
          </a:xfrm>
          <a:prstGeom prst="rect">
            <a:avLst/>
          </a:prstGeom>
          <a:noFill/>
        </p:spPr>
        <p:txBody>
          <a:bodyPr wrap="square" lIns="0" tIns="0" rIns="0" bIns="0">
            <a:spAutoFit/>
          </a:bodyPr>
          <a:lstStyle/>
          <a:p>
            <a:pPr marL="274320" indent="-274320">
              <a:spcAft>
                <a:spcPts val="600"/>
              </a:spcAft>
              <a:buFont typeface="Arial"/>
              <a:buChar char="•"/>
            </a:pPr>
            <a:r>
              <a:rPr sz="1700" b="0" i="0">
                <a:solidFill>
                  <a:srgbClr val="000000"/>
                </a:solidFill>
                <a:latin typeface="Helvetica Neue"/>
                <a:ea typeface="Helvetica Neue"/>
                <a:cs typeface="Helvetica Neue"/>
              </a:rPr>
              <a:t>Cryptography</a:t>
            </a:r>
          </a:p>
          <a:p>
            <a:pPr marL="274320" indent="-274320">
              <a:spcAft>
                <a:spcPts val="600"/>
              </a:spcAft>
              <a:buFont typeface="Arial"/>
              <a:buChar char="•"/>
            </a:pPr>
            <a:r>
              <a:rPr sz="1700" b="0" i="0">
                <a:solidFill>
                  <a:srgbClr val="000000"/>
                </a:solidFill>
                <a:latin typeface="Helvetica Neue"/>
                <a:ea typeface="Helvetica Neue"/>
                <a:cs typeface="Helvetica Neue"/>
              </a:rPr>
              <a:t>Virtualization</a:t>
            </a:r>
          </a:p>
          <a:p>
            <a:pPr marL="274320" indent="-274320">
              <a:spcAft>
                <a:spcPts val="600"/>
              </a:spcAft>
              <a:buFont typeface="Arial"/>
              <a:buChar char="•"/>
            </a:pPr>
            <a:r>
              <a:rPr sz="1700" b="0" i="0">
                <a:solidFill>
                  <a:srgbClr val="000000"/>
                </a:solidFill>
                <a:latin typeface="Helvetica Neue"/>
                <a:ea typeface="Helvetica Neue"/>
                <a:cs typeface="Helvetica Neue"/>
              </a:rPr>
              <a:t>Cloud basics and the Big Three</a:t>
            </a:r>
          </a:p>
          <a:p>
            <a:pPr marL="274320" indent="-274320">
              <a:spcAft>
                <a:spcPts val="600"/>
              </a:spcAft>
              <a:buFont typeface="Arial"/>
              <a:buChar char="•"/>
            </a:pPr>
            <a:r>
              <a:rPr sz="1700" b="0" i="0">
                <a:solidFill>
                  <a:srgbClr val="000000"/>
                </a:solidFill>
                <a:latin typeface="Helvetica Neue"/>
                <a:ea typeface="Helvetica Neue"/>
                <a:cs typeface="Helvetica Neue"/>
              </a:rPr>
              <a:t>Outsourcing and vendor risk</a:t>
            </a:r>
          </a:p>
          <a:p>
            <a:pPr marL="274320" indent="-274320">
              <a:spcAft>
                <a:spcPts val="600"/>
              </a:spcAft>
              <a:buFont typeface="Arial"/>
              <a:buChar char="•"/>
            </a:pPr>
            <a:r>
              <a:rPr sz="1700" b="0" i="0">
                <a:solidFill>
                  <a:srgbClr val="000000"/>
                </a:solidFill>
                <a:latin typeface="Helvetica Neue"/>
                <a:ea typeface="Helvetica Neue"/>
                <a:cs typeface="Helvetica Neue"/>
              </a:rPr>
              <a:t>Managed services and shadow IT</a:t>
            </a:r>
          </a:p>
        </p:txBody>
      </p:sp>
      <p:sp>
        <p:nvSpPr>
          <p:cNvPr id="21" name="Day 3 ex"/>
          <p:cNvSpPr/>
          <p:nvPr/>
        </p:nvSpPr>
        <p:spPr>
          <a:xfrm>
            <a:off x="7694675" y="8686800"/>
            <a:ext cx="2898648" cy="6858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1" i="0">
                <a:solidFill>
                  <a:srgbClr val="FFFFFF"/>
                </a:solidFill>
                <a:latin typeface="Helvetica Neue"/>
                <a:ea typeface="Helvetica Neue"/>
                <a:cs typeface="Helvetica Neue"/>
              </a:rPr>
              <a:t>Ex 3: Vendor risk tabletop</a:t>
            </a:r>
          </a:p>
        </p:txBody>
      </p:sp>
      <p:sp>
        <p:nvSpPr>
          <p:cNvPr id="22" name="Day 4 disc"/>
          <p:cNvSpPr/>
          <p:nvPr/>
        </p:nvSpPr>
        <p:spPr>
          <a:xfrm>
            <a:off x="11859767" y="2697480"/>
            <a:ext cx="1005840" cy="1005840"/>
          </a:xfrm>
          <a:prstGeom prst="ellipse">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3" name="Day 4 icon"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042648" y="2880360"/>
            <a:ext cx="640080" cy="640080"/>
          </a:xfrm>
          <a:prstGeom prst="rect">
            <a:avLst/>
          </a:prstGeom>
        </p:spPr>
      </p:pic>
      <p:sp>
        <p:nvSpPr>
          <p:cNvPr id="24" name="Day 4 head"/>
          <p:cNvSpPr txBox="1"/>
          <p:nvPr/>
        </p:nvSpPr>
        <p:spPr>
          <a:xfrm>
            <a:off x="10913364" y="3794760"/>
            <a:ext cx="2898648" cy="868680"/>
          </a:xfrm>
          <a:prstGeom prst="rect">
            <a:avLst/>
          </a:prstGeom>
          <a:noFill/>
        </p:spPr>
        <p:txBody>
          <a:bodyPr wrap="square" lIns="0" tIns="0" rIns="0" bIns="0" anchor="t">
            <a:spAutoFit/>
          </a:bodyPr>
          <a:lstStyle/>
          <a:p>
            <a:pPr algn="ctr">
              <a:spcAft>
                <a:spcPts val="100"/>
              </a:spcAft>
            </a:pPr>
            <a:r>
              <a:rPr sz="2200" b="1" i="0">
                <a:solidFill>
                  <a:srgbClr val="ED7D31"/>
                </a:solidFill>
                <a:latin typeface="Helvetica Neue"/>
                <a:ea typeface="Helvetica Neue"/>
                <a:cs typeface="Helvetica Neue"/>
              </a:rPr>
              <a:t>Thursday</a:t>
            </a:r>
          </a:p>
          <a:p>
            <a:pPr algn="ctr">
              <a:spcAft>
                <a:spcPts val="100"/>
              </a:spcAft>
            </a:pPr>
            <a:r>
              <a:rPr sz="1600" b="1" i="0">
                <a:solidFill>
                  <a:srgbClr val="000000"/>
                </a:solidFill>
                <a:latin typeface="Helvetica Neue"/>
                <a:ea typeface="Helvetica Neue"/>
                <a:cs typeface="Helvetica Neue"/>
              </a:rPr>
              <a:t>Applications and risk</a:t>
            </a:r>
          </a:p>
        </p:txBody>
      </p:sp>
      <p:sp>
        <p:nvSpPr>
          <p:cNvPr id="25" name="Day 4 box"/>
          <p:cNvSpPr/>
          <p:nvPr/>
        </p:nvSpPr>
        <p:spPr>
          <a:xfrm>
            <a:off x="10913364" y="4754880"/>
            <a:ext cx="2898648" cy="3794760"/>
          </a:xfrm>
          <a:prstGeom prst="round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6" name="Day 4 list"/>
          <p:cNvSpPr txBox="1"/>
          <p:nvPr/>
        </p:nvSpPr>
        <p:spPr>
          <a:xfrm>
            <a:off x="11096244" y="4919472"/>
            <a:ext cx="2578608" cy="3566160"/>
          </a:xfrm>
          <a:prstGeom prst="rect">
            <a:avLst/>
          </a:prstGeom>
          <a:noFill/>
        </p:spPr>
        <p:txBody>
          <a:bodyPr wrap="square" lIns="0" tIns="0" rIns="0" bIns="0">
            <a:spAutoFit/>
          </a:bodyPr>
          <a:lstStyle/>
          <a:p>
            <a:pPr marL="274320" indent="-274320">
              <a:spcAft>
                <a:spcPts val="600"/>
              </a:spcAft>
              <a:buFont typeface="Arial"/>
              <a:buChar char="•"/>
            </a:pPr>
            <a:r>
              <a:rPr sz="1700" b="0" i="0">
                <a:solidFill>
                  <a:srgbClr val="000000"/>
                </a:solidFill>
                <a:latin typeface="Helvetica Neue"/>
                <a:ea typeface="Helvetica Neue"/>
                <a:cs typeface="Helvetica Neue"/>
              </a:rPr>
              <a:t>Applications on the network</a:t>
            </a:r>
          </a:p>
          <a:p>
            <a:pPr marL="274320" indent="-274320">
              <a:spcAft>
                <a:spcPts val="600"/>
              </a:spcAft>
              <a:buFont typeface="Arial"/>
              <a:buChar char="•"/>
            </a:pPr>
            <a:r>
              <a:rPr sz="1700" b="0" i="0">
                <a:solidFill>
                  <a:srgbClr val="000000"/>
                </a:solidFill>
                <a:latin typeface="Helvetica Neue"/>
                <a:ea typeface="Helvetica Neue"/>
                <a:cs typeface="Helvetica Neue"/>
              </a:rPr>
              <a:t>Core banking</a:t>
            </a:r>
          </a:p>
          <a:p>
            <a:pPr marL="274320" indent="-274320">
              <a:spcAft>
                <a:spcPts val="600"/>
              </a:spcAft>
              <a:buFont typeface="Arial"/>
              <a:buChar char="•"/>
            </a:pPr>
            <a:r>
              <a:rPr sz="1700" b="0" i="0">
                <a:solidFill>
                  <a:srgbClr val="000000"/>
                </a:solidFill>
                <a:latin typeface="Helvetica Neue"/>
                <a:ea typeface="Helvetica Neue"/>
                <a:cs typeface="Helvetica Neue"/>
              </a:rPr>
              <a:t>SaaS and business applications</a:t>
            </a:r>
          </a:p>
          <a:p>
            <a:pPr marL="274320" indent="-274320">
              <a:spcAft>
                <a:spcPts val="600"/>
              </a:spcAft>
              <a:buFont typeface="Arial"/>
              <a:buChar char="•"/>
            </a:pPr>
            <a:r>
              <a:rPr sz="1700" b="0" i="0">
                <a:solidFill>
                  <a:srgbClr val="000000"/>
                </a:solidFill>
                <a:latin typeface="Helvetica Neue"/>
                <a:ea typeface="Helvetica Neue"/>
                <a:cs typeface="Helvetica Neue"/>
              </a:rPr>
              <a:t>DNS in depth</a:t>
            </a:r>
          </a:p>
          <a:p>
            <a:pPr marL="274320" indent="-274320">
              <a:spcAft>
                <a:spcPts val="600"/>
              </a:spcAft>
              <a:buFont typeface="Arial"/>
              <a:buChar char="•"/>
            </a:pPr>
            <a:r>
              <a:rPr sz="1700" b="0" i="0">
                <a:solidFill>
                  <a:srgbClr val="000000"/>
                </a:solidFill>
                <a:latin typeface="Helvetica Neue"/>
                <a:ea typeface="Helvetica Neue"/>
                <a:cs typeface="Helvetica Neue"/>
              </a:rPr>
              <a:t>Voice</a:t>
            </a:r>
          </a:p>
          <a:p>
            <a:pPr marL="274320" indent="-274320">
              <a:spcAft>
                <a:spcPts val="600"/>
              </a:spcAft>
              <a:buFont typeface="Arial"/>
              <a:buChar char="•"/>
            </a:pPr>
            <a:r>
              <a:rPr sz="1700" b="0" i="0">
                <a:solidFill>
                  <a:srgbClr val="000000"/>
                </a:solidFill>
                <a:latin typeface="Helvetica Neue"/>
                <a:ea typeface="Helvetica Neue"/>
                <a:cs typeface="Helvetica Neue"/>
              </a:rPr>
              <a:t>Internet of Things</a:t>
            </a:r>
          </a:p>
          <a:p>
            <a:pPr marL="274320" indent="-274320">
              <a:spcAft>
                <a:spcPts val="600"/>
              </a:spcAft>
              <a:buFont typeface="Arial"/>
              <a:buChar char="•"/>
            </a:pPr>
            <a:r>
              <a:rPr sz="1700" b="0" i="0">
                <a:solidFill>
                  <a:srgbClr val="000000"/>
                </a:solidFill>
                <a:latin typeface="Helvetica Neue"/>
                <a:ea typeface="Helvetica Neue"/>
                <a:cs typeface="Helvetica Neue"/>
              </a:rPr>
              <a:t>The risk landscape</a:t>
            </a:r>
          </a:p>
        </p:txBody>
      </p:sp>
      <p:sp>
        <p:nvSpPr>
          <p:cNvPr id="27" name="Day 4 ex"/>
          <p:cNvSpPr/>
          <p:nvPr/>
        </p:nvSpPr>
        <p:spPr>
          <a:xfrm>
            <a:off x="10913364" y="8686800"/>
            <a:ext cx="2898648" cy="6858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1" i="0">
                <a:solidFill>
                  <a:srgbClr val="FFFFFF"/>
                </a:solidFill>
                <a:latin typeface="Helvetica Neue"/>
                <a:ea typeface="Helvetica Neue"/>
                <a:cs typeface="Helvetica Neue"/>
              </a:rPr>
              <a:t>Ex 4: The lookalike domain</a:t>
            </a:r>
          </a:p>
        </p:txBody>
      </p:sp>
      <p:sp>
        <p:nvSpPr>
          <p:cNvPr id="28" name="Day 5 disc"/>
          <p:cNvSpPr/>
          <p:nvPr/>
        </p:nvSpPr>
        <p:spPr>
          <a:xfrm>
            <a:off x="15078455" y="2697480"/>
            <a:ext cx="1005840" cy="1005840"/>
          </a:xfrm>
          <a:prstGeom prst="ellipse">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9" name="Day 5 icon"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261335" y="2880360"/>
            <a:ext cx="640080" cy="640080"/>
          </a:xfrm>
          <a:prstGeom prst="rect">
            <a:avLst/>
          </a:prstGeom>
        </p:spPr>
      </p:pic>
      <p:sp>
        <p:nvSpPr>
          <p:cNvPr id="30" name="Day 5 head"/>
          <p:cNvSpPr txBox="1"/>
          <p:nvPr/>
        </p:nvSpPr>
        <p:spPr>
          <a:xfrm>
            <a:off x="14132052" y="3794760"/>
            <a:ext cx="2898648" cy="868680"/>
          </a:xfrm>
          <a:prstGeom prst="rect">
            <a:avLst/>
          </a:prstGeom>
          <a:noFill/>
        </p:spPr>
        <p:txBody>
          <a:bodyPr wrap="square" lIns="0" tIns="0" rIns="0" bIns="0" anchor="t">
            <a:spAutoFit/>
          </a:bodyPr>
          <a:lstStyle/>
          <a:p>
            <a:pPr algn="ctr">
              <a:spcAft>
                <a:spcPts val="100"/>
              </a:spcAft>
            </a:pPr>
            <a:r>
              <a:rPr sz="2200" b="1" i="0">
                <a:solidFill>
                  <a:srgbClr val="ED7D31"/>
                </a:solidFill>
                <a:latin typeface="Helvetica Neue"/>
                <a:ea typeface="Helvetica Neue"/>
                <a:cs typeface="Helvetica Neue"/>
              </a:rPr>
              <a:t>Friday</a:t>
            </a:r>
          </a:p>
          <a:p>
            <a:pPr algn="ctr">
              <a:spcAft>
                <a:spcPts val="100"/>
              </a:spcAft>
            </a:pPr>
            <a:r>
              <a:rPr sz="1600" b="1" i="0">
                <a:solidFill>
                  <a:srgbClr val="000000"/>
                </a:solidFill>
                <a:latin typeface="Helvetica Neue"/>
                <a:ea typeface="Helvetica Neue"/>
                <a:cs typeface="Helvetica Neue"/>
              </a:rPr>
              <a:t>Putting it together</a:t>
            </a:r>
          </a:p>
        </p:txBody>
      </p:sp>
      <p:sp>
        <p:nvSpPr>
          <p:cNvPr id="31" name="Day 5 box"/>
          <p:cNvSpPr/>
          <p:nvPr/>
        </p:nvSpPr>
        <p:spPr>
          <a:xfrm>
            <a:off x="14132052" y="4754880"/>
            <a:ext cx="2898648" cy="3794760"/>
          </a:xfrm>
          <a:prstGeom prst="round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2" name="Day 5 list"/>
          <p:cNvSpPr txBox="1"/>
          <p:nvPr/>
        </p:nvSpPr>
        <p:spPr>
          <a:xfrm>
            <a:off x="14314932" y="4919472"/>
            <a:ext cx="2578608" cy="3566160"/>
          </a:xfrm>
          <a:prstGeom prst="rect">
            <a:avLst/>
          </a:prstGeom>
          <a:noFill/>
        </p:spPr>
        <p:txBody>
          <a:bodyPr wrap="square" lIns="0" tIns="0" rIns="0" bIns="0">
            <a:spAutoFit/>
          </a:bodyPr>
          <a:lstStyle/>
          <a:p>
            <a:pPr marL="274320" indent="-274320">
              <a:spcAft>
                <a:spcPts val="600"/>
              </a:spcAft>
              <a:buFont typeface="Arial"/>
              <a:buChar char="•"/>
            </a:pPr>
            <a:r>
              <a:rPr sz="1700" b="0" i="0">
                <a:solidFill>
                  <a:srgbClr val="000000"/>
                </a:solidFill>
                <a:latin typeface="Helvetica Neue"/>
                <a:ea typeface="Helvetica Neue"/>
                <a:cs typeface="Helvetica Neue"/>
              </a:rPr>
              <a:t>Looking ahead</a:t>
            </a:r>
          </a:p>
          <a:p>
            <a:pPr marL="274320" indent="-274320">
              <a:spcAft>
                <a:spcPts val="600"/>
              </a:spcAft>
              <a:buFont typeface="Arial"/>
              <a:buChar char="•"/>
            </a:pPr>
            <a:r>
              <a:rPr sz="1700" b="0" i="0">
                <a:solidFill>
                  <a:srgbClr val="000000"/>
                </a:solidFill>
                <a:latin typeface="Helvetica Neue"/>
                <a:ea typeface="Helvetica Neue"/>
                <a:cs typeface="Helvetica Neue"/>
              </a:rPr>
              <a:t>Fintech and the changing bank</a:t>
            </a:r>
          </a:p>
          <a:p>
            <a:pPr marL="274320" indent="-274320">
              <a:spcAft>
                <a:spcPts val="600"/>
              </a:spcAft>
              <a:buFont typeface="Arial"/>
              <a:buChar char="•"/>
            </a:pPr>
            <a:r>
              <a:rPr sz="1700" b="0" i="0">
                <a:solidFill>
                  <a:srgbClr val="000000"/>
                </a:solidFill>
                <a:latin typeface="Helvetica Neue"/>
                <a:ea typeface="Helvetica Neue"/>
                <a:cs typeface="Helvetica Neue"/>
              </a:rPr>
              <a:t>Course wrap-up</a:t>
            </a:r>
          </a:p>
        </p:txBody>
      </p:sp>
      <p:sp>
        <p:nvSpPr>
          <p:cNvPr id="33" name="Day 5 ex"/>
          <p:cNvSpPr/>
          <p:nvPr/>
        </p:nvSpPr>
        <p:spPr>
          <a:xfrm>
            <a:off x="14132052" y="8686800"/>
            <a:ext cx="2898648" cy="6858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1" i="0">
                <a:solidFill>
                  <a:srgbClr val="FFFFFF"/>
                </a:solidFill>
                <a:latin typeface="Helvetica Neue"/>
                <a:ea typeface="Helvetica Neue"/>
                <a:cs typeface="Helvetica Neue"/>
              </a:rPr>
              <a:t>Ex 5: Capstone</a:t>
            </a:r>
          </a:p>
        </p:txBody>
      </p:sp>
      <p:sp>
        <p:nvSpPr>
          <p:cNvPr id="34" name="Friday note"/>
          <p:cNvSpPr txBox="1"/>
          <p:nvPr/>
        </p:nvSpPr>
        <p:spPr>
          <a:xfrm>
            <a:off x="14132052" y="7863840"/>
            <a:ext cx="2898648" cy="457200"/>
          </a:xfrm>
          <a:prstGeom prst="rect">
            <a:avLst/>
          </a:prstGeom>
          <a:noFill/>
        </p:spPr>
        <p:txBody>
          <a:bodyPr wrap="square" lIns="0" tIns="0" rIns="0" bIns="0" anchor="t">
            <a:spAutoFit/>
          </a:bodyPr>
          <a:lstStyle/>
          <a:p>
            <a:pPr algn="ctr">
              <a:spcAft>
                <a:spcPts val="600"/>
              </a:spcAft>
            </a:pPr>
            <a:r>
              <a:rPr sz="1500" b="1" i="1">
                <a:solidFill>
                  <a:srgbClr val="595959"/>
                </a:solidFill>
                <a:latin typeface="Helvetica Neue"/>
                <a:ea typeface="Helvetica Neue"/>
                <a:cs typeface="Helvetica Neue"/>
              </a:rPr>
              <a:t>Ends 11:00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1FE11-25D4-A175-10E2-3F67F718DF0E}"/>
              </a:ext>
            </a:extLst>
          </p:cNvPr>
          <p:cNvSpPr>
            <a:spLocks noGrp="1"/>
          </p:cNvSpPr>
          <p:nvPr>
            <p:ph type="title"/>
          </p:nvPr>
        </p:nvSpPr>
        <p:spPr/>
        <p:txBody>
          <a:bodyPr/>
          <a:lstStyle/>
          <a:p>
            <a:r>
              <a:rPr lang="en-US" dirty="0"/>
              <a:t>Things you might sometimes wonder about</a:t>
            </a:r>
          </a:p>
        </p:txBody>
      </p:sp>
      <p:sp>
        <p:nvSpPr>
          <p:cNvPr id="3" name="Content Placeholder 2">
            <a:extLst>
              <a:ext uri="{FF2B5EF4-FFF2-40B4-BE49-F238E27FC236}">
                <a16:creationId xmlns:a16="http://schemas.microsoft.com/office/drawing/2014/main" id="{E1EA2CE1-70D8-48E6-E4ED-46C894A38856}"/>
              </a:ext>
            </a:extLst>
          </p:cNvPr>
          <p:cNvSpPr>
            <a:spLocks noGrp="1"/>
          </p:cNvSpPr>
          <p:nvPr>
            <p:ph idx="1"/>
          </p:nvPr>
        </p:nvSpPr>
        <p:spPr>
          <a:xfrm>
            <a:off x="1257300" y="2193131"/>
            <a:ext cx="13001141" cy="6967198"/>
          </a:xfrm>
          <a:noFill/>
        </p:spPr>
        <p:txBody>
          <a:bodyPr>
            <a:normAutofit/>
          </a:bodyPr>
          <a:lstStyle/>
          <a:p>
            <a:r>
              <a:rPr lang="en-US" sz="3200" dirty="0"/>
              <a:t>Is my phone listening to me?</a:t>
            </a:r>
          </a:p>
          <a:p>
            <a:r>
              <a:rPr lang="en-US" sz="3200" dirty="0"/>
              <a:t>Why are landline telephones disappearing?</a:t>
            </a:r>
          </a:p>
          <a:p>
            <a:r>
              <a:rPr lang="en-US" sz="3200" dirty="0"/>
              <a:t>Can crooks steal info from a bank’s Wi-Fi?</a:t>
            </a:r>
          </a:p>
          <a:p>
            <a:r>
              <a:rPr lang="en-US" sz="3200" dirty="0"/>
              <a:t>What’s the difference between </a:t>
            </a:r>
            <a:r>
              <a:rPr lang="en-US" sz="3200" dirty="0">
                <a:solidFill>
                  <a:srgbClr val="0070C0"/>
                </a:solidFill>
              </a:rPr>
              <a:t>iMessage</a:t>
            </a:r>
            <a:r>
              <a:rPr lang="en-US" sz="3200" dirty="0"/>
              <a:t> and </a:t>
            </a:r>
            <a:r>
              <a:rPr lang="en-US" sz="3200" dirty="0">
                <a:solidFill>
                  <a:srgbClr val="00B050"/>
                </a:solidFill>
              </a:rPr>
              <a:t>This Green Stuff</a:t>
            </a:r>
            <a:r>
              <a:rPr lang="en-US" sz="3200" dirty="0"/>
              <a:t>?</a:t>
            </a:r>
          </a:p>
          <a:p>
            <a:r>
              <a:rPr lang="en-US" sz="3200" dirty="0"/>
              <a:t>Why are core provider connections no longer private lines?</a:t>
            </a:r>
          </a:p>
          <a:p>
            <a:r>
              <a:rPr lang="en-US" sz="3200" dirty="0"/>
              <a:t>Can wireless internet backup reduce risk for a small bank?</a:t>
            </a:r>
          </a:p>
          <a:p>
            <a:r>
              <a:rPr lang="en-US" sz="3200" dirty="0"/>
              <a:t>Should banks use VPNs for some things?</a:t>
            </a:r>
          </a:p>
          <a:p>
            <a:r>
              <a:rPr lang="en-US" sz="3200" dirty="0"/>
              <a:t>When will the cloud replace bank mainframes?</a:t>
            </a:r>
          </a:p>
          <a:p>
            <a:r>
              <a:rPr lang="en-US" sz="3200" dirty="0"/>
              <a:t>Does a bank need gigabit internet service? Do I?</a:t>
            </a:r>
          </a:p>
          <a:p>
            <a:r>
              <a:rPr lang="en-US" sz="3200" dirty="0"/>
              <a:t>Everything depends on AWS so it must be solid, right?</a:t>
            </a:r>
          </a:p>
          <a:p>
            <a:r>
              <a:rPr lang="en-US" sz="3200" dirty="0"/>
              <a:t>Isn’t the internet going to just melt down some day?</a:t>
            </a:r>
          </a:p>
        </p:txBody>
      </p:sp>
      <p:sp>
        <p:nvSpPr>
          <p:cNvPr id="4" name="Content Placeholder 2">
            <a:extLst>
              <a:ext uri="{FF2B5EF4-FFF2-40B4-BE49-F238E27FC236}">
                <a16:creationId xmlns:a16="http://schemas.microsoft.com/office/drawing/2014/main" id="{603E7C1B-59D8-7571-5A9B-016B36DEC649}"/>
              </a:ext>
            </a:extLst>
          </p:cNvPr>
          <p:cNvSpPr txBox="1">
            <a:spLocks/>
          </p:cNvSpPr>
          <p:nvPr/>
        </p:nvSpPr>
        <p:spPr>
          <a:xfrm>
            <a:off x="13841748" y="2194302"/>
            <a:ext cx="3301139" cy="6966027"/>
          </a:xfrm>
          <a:prstGeom prst="rect">
            <a:avLst/>
          </a:prstGeom>
          <a:noFill/>
        </p:spPr>
        <p:txBody>
          <a:bodyPr vert="horz" lIns="91440" tIns="45720" rIns="91440" bIns="45720" rtlCol="0">
            <a:norm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1pPr>
            <a:lvl2pPr marL="1028700" indent="-342900" algn="l" defTabSz="1371600" rtl="0" eaLnBrk="1" latinLnBrk="0" hangingPunct="1">
              <a:lnSpc>
                <a:spcPct val="90000"/>
              </a:lnSpc>
              <a:spcBef>
                <a:spcPts val="750"/>
              </a:spcBef>
              <a:buFont typeface="Arial" panose="020B0604020202020204" pitchFamily="34" charset="0"/>
              <a:buChar char="•"/>
              <a:defRPr sz="36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2pPr>
            <a:lvl3pPr marL="1714500" indent="-342900" algn="l" defTabSz="1371600" rtl="0" eaLnBrk="1" latinLnBrk="0" hangingPunct="1">
              <a:lnSpc>
                <a:spcPct val="90000"/>
              </a:lnSpc>
              <a:spcBef>
                <a:spcPts val="750"/>
              </a:spcBef>
              <a:buFont typeface="Arial" panose="020B0604020202020204" pitchFamily="34" charset="0"/>
              <a:buChar char="•"/>
              <a:defRPr sz="30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3pPr>
            <a:lvl4pPr marL="24003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4pPr>
            <a:lvl5pPr marL="30861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0" indent="0" algn="r">
              <a:buNone/>
            </a:pPr>
            <a:r>
              <a:rPr lang="en-US" sz="3200" dirty="0"/>
              <a:t>No</a:t>
            </a:r>
          </a:p>
          <a:p>
            <a:pPr marL="0" indent="0" algn="r">
              <a:buNone/>
            </a:pPr>
            <a:r>
              <a:rPr lang="en-US" sz="3200" dirty="0"/>
              <a:t>$</a:t>
            </a:r>
          </a:p>
          <a:p>
            <a:pPr marL="0" indent="0" algn="r">
              <a:buNone/>
            </a:pPr>
            <a:r>
              <a:rPr lang="en-US" sz="3200" dirty="0"/>
              <a:t>No*</a:t>
            </a:r>
          </a:p>
          <a:p>
            <a:pPr marL="0" indent="0" algn="r">
              <a:buNone/>
            </a:pPr>
            <a:r>
              <a:rPr lang="en-US" sz="3200" dirty="0">
                <a:solidFill>
                  <a:schemeClr val="accent1">
                    <a:lumMod val="60000"/>
                    <a:lumOff val="40000"/>
                  </a:schemeClr>
                </a:solidFill>
              </a:rPr>
              <a:t>Apple</a:t>
            </a:r>
            <a:r>
              <a:rPr lang="en-US" sz="3200" dirty="0"/>
              <a:t> vs </a:t>
            </a:r>
            <a:r>
              <a:rPr lang="en-US" sz="3200" dirty="0">
                <a:solidFill>
                  <a:srgbClr val="00B050"/>
                </a:solidFill>
              </a:rPr>
              <a:t>Carrier</a:t>
            </a:r>
          </a:p>
          <a:p>
            <a:pPr marL="0" indent="0" algn="r">
              <a:buNone/>
            </a:pPr>
            <a:r>
              <a:rPr lang="en-US" sz="3200" dirty="0"/>
              <a:t>$</a:t>
            </a:r>
          </a:p>
          <a:p>
            <a:pPr marL="0" indent="0" algn="r">
              <a:buNone/>
            </a:pPr>
            <a:r>
              <a:rPr lang="en-US" sz="3200" dirty="0"/>
              <a:t>Yes*</a:t>
            </a:r>
          </a:p>
          <a:p>
            <a:pPr marL="0" indent="0" algn="r">
              <a:buNone/>
            </a:pPr>
            <a:r>
              <a:rPr lang="en-US" sz="3200" dirty="0"/>
              <a:t>Yes*</a:t>
            </a:r>
          </a:p>
          <a:p>
            <a:pPr marL="0" indent="0" algn="r">
              <a:buNone/>
            </a:pPr>
            <a:r>
              <a:rPr lang="en-US" sz="3200" dirty="0"/>
              <a:t>Probably never</a:t>
            </a:r>
          </a:p>
          <a:p>
            <a:pPr marL="0" indent="0" algn="r">
              <a:buNone/>
            </a:pPr>
            <a:r>
              <a:rPr lang="en-US" sz="3200" dirty="0"/>
              <a:t>Maybe and No</a:t>
            </a:r>
          </a:p>
          <a:p>
            <a:pPr marL="0" indent="0" algn="r">
              <a:buNone/>
            </a:pPr>
            <a:r>
              <a:rPr lang="en-US" sz="3200" dirty="0"/>
              <a:t>Uh...</a:t>
            </a:r>
          </a:p>
          <a:p>
            <a:pPr marL="0" indent="0" algn="r">
              <a:buNone/>
            </a:pPr>
            <a:r>
              <a:rPr lang="en-US" sz="3200" dirty="0"/>
              <a:t>Probably not*</a:t>
            </a:r>
          </a:p>
          <a:p>
            <a:pPr marL="0" indent="0" algn="r">
              <a:buNone/>
            </a:pPr>
            <a:endParaRPr lang="en-US" sz="3200" dirty="0"/>
          </a:p>
        </p:txBody>
      </p:sp>
      <p:sp>
        <p:nvSpPr>
          <p:cNvPr id="5" name="TextBox 4">
            <a:extLst>
              <a:ext uri="{FF2B5EF4-FFF2-40B4-BE49-F238E27FC236}">
                <a16:creationId xmlns:a16="http://schemas.microsoft.com/office/drawing/2014/main" id="{D255D8F4-1E12-C9D4-278A-3D1AC2D4667B}"/>
              </a:ext>
            </a:extLst>
          </p:cNvPr>
          <p:cNvSpPr txBox="1"/>
          <p:nvPr/>
        </p:nvSpPr>
        <p:spPr>
          <a:xfrm>
            <a:off x="12323618" y="9414164"/>
            <a:ext cx="6337400" cy="523220"/>
          </a:xfrm>
          <a:prstGeom prst="rect">
            <a:avLst/>
          </a:prstGeom>
          <a:noFill/>
        </p:spPr>
        <p:txBody>
          <a:bodyPr wrap="square" rtlCol="0">
            <a:spAutoFit/>
          </a:bodyPr>
          <a:lstStyle/>
          <a:p>
            <a:r>
              <a:rPr lang="en-US" sz="2800" dirty="0"/>
              <a:t>* as long as it’s configured correctly!</a:t>
            </a:r>
          </a:p>
        </p:txBody>
      </p:sp>
    </p:spTree>
    <p:extLst>
      <p:ext uri="{BB962C8B-B14F-4D97-AF65-F5344CB8AC3E}">
        <p14:creationId xmlns:p14="http://schemas.microsoft.com/office/powerpoint/2010/main" val="1587401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50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Chapter 2: </a:t>
            </a:r>
            <a:br>
              <a:rPr lang="en-US" dirty="0"/>
            </a:br>
            <a:r>
              <a:rPr dirty="0"/>
              <a:t>The Communications Landscape</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22" name="Rectangle 2"/>
          <p:cNvSpPr>
            <a:spLocks noGrp="1" noChangeArrowheads="1"/>
          </p:cNvSpPr>
          <p:nvPr>
            <p:ph type="title"/>
          </p:nvPr>
        </p:nvSpPr>
        <p:spPr/>
        <p:txBody>
          <a:bodyPr/>
          <a:lstStyle/>
          <a:p>
            <a:r>
              <a:rPr lang="en-US"/>
              <a:t>The Communications Challenge Today</a:t>
            </a:r>
          </a:p>
        </p:txBody>
      </p:sp>
      <p:sp>
        <p:nvSpPr>
          <p:cNvPr id="3870723" name="Rectangle 3"/>
          <p:cNvSpPr>
            <a:spLocks noGrp="1" noChangeArrowheads="1"/>
          </p:cNvSpPr>
          <p:nvPr>
            <p:ph idx="1"/>
          </p:nvPr>
        </p:nvSpPr>
        <p:spPr>
          <a:xfrm>
            <a:off x="1257300" y="2193131"/>
            <a:ext cx="13473461" cy="6967198"/>
          </a:xfrm>
        </p:spPr>
        <p:txBody>
          <a:bodyPr/>
          <a:lstStyle/>
          <a:p>
            <a:r>
              <a:rPr lang="en-US"/>
              <a:t>Today’s communications challenge is to create an infrastructure that will deliver information any time, to any place, via any device</a:t>
            </a:r>
          </a:p>
          <a:p>
            <a:r>
              <a:rPr lang="en-US"/>
              <a:t>Meeting this challenge involves many moving parts and players, and many networks</a:t>
            </a:r>
          </a:p>
          <a:p>
            <a:r>
              <a:rPr lang="en-US"/>
              <a:t>Constant change is the name of the game</a:t>
            </a:r>
          </a:p>
          <a:p>
            <a:r>
              <a:rPr lang="en-US"/>
              <a:t>This change occurs in many domains</a:t>
            </a:r>
          </a:p>
        </p:txBody>
      </p:sp>
      <p:sp>
        <p:nvSpPr>
          <p:cNvPr id="5" name="Slide Number Placeholder 4"/>
          <p:cNvSpPr>
            <a:spLocks noGrp="1"/>
          </p:cNvSpPr>
          <p:nvPr>
            <p:ph type="sldNum" sz="quarter" idx="10"/>
          </p:nvPr>
        </p:nvSpPr>
        <p:spPr>
          <a:prstGeom prst="rect">
            <a:avLst/>
          </a:prstGeom>
        </p:spPr>
        <p:txBody>
          <a:bodyPr/>
          <a:lstStyle/>
          <a:p>
            <a:fld id="{76E8DCF4-EBDD-4FE1-8465-FD383573D554}" type="slidenum">
              <a:rPr lang="en-US" smtClean="0">
                <a:solidFill>
                  <a:schemeClr val="tx1"/>
                </a:solidFill>
              </a:rPr>
              <a:pPr/>
              <a:t>11</a:t>
            </a:fld>
            <a:endParaRPr lang="en-US">
              <a:solidFill>
                <a:schemeClr val="tx1"/>
              </a:solidFill>
            </a:endParaRP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978376" y="6462132"/>
            <a:ext cx="6858000" cy="3429000"/>
          </a:xfrm>
          <a:prstGeom prst="rect">
            <a:avLst/>
          </a:prstGeom>
        </p:spPr>
      </p:pic>
    </p:spTree>
    <p:custDataLst>
      <p:tags r:id="rId1"/>
    </p:custDataLst>
    <p:extLst>
      <p:ext uri="{BB962C8B-B14F-4D97-AF65-F5344CB8AC3E}">
        <p14:creationId xmlns:p14="http://schemas.microsoft.com/office/powerpoint/2010/main" val="3537445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198" y="204786"/>
            <a:ext cx="15773400" cy="1988345"/>
          </a:xfrm>
        </p:spPr>
        <p:txBody>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Telecommunications Domains</a:t>
            </a:r>
          </a:p>
        </p:txBody>
      </p:sp>
      <p:sp>
        <p:nvSpPr>
          <p:cNvPr id="4" name="Slide Number Placeholder 3"/>
          <p:cNvSpPr>
            <a:spLocks noGrp="1"/>
          </p:cNvSpPr>
          <p:nvPr>
            <p:ph type="sldNum" sz="quarter" idx="10"/>
          </p:nvPr>
        </p:nvSpPr>
        <p:spPr>
          <a:prstGeom prst="rect">
            <a:avLst/>
          </a:prstGeom>
        </p:spPr>
        <p:txBody>
          <a:bodyPr/>
          <a:lstStyle/>
          <a:p>
            <a:fld id="{76E8DCF4-EBDD-4FE1-8465-FD383573D554}" type="slidenum">
              <a:rPr lang="en-US" smtClean="0"/>
              <a:pPr/>
              <a:t>12</a:t>
            </a:fld>
            <a:endParaRPr lang="en-US"/>
          </a:p>
        </p:txBody>
      </p:sp>
      <p:pic>
        <p:nvPicPr>
          <p:cNvPr id="6" name="Picture 5"/>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250181" y="2500278"/>
            <a:ext cx="11787638" cy="6986622"/>
          </a:xfrm>
          <a:prstGeom prst="rect">
            <a:avLst/>
          </a:prstGeom>
        </p:spPr>
      </p:pic>
    </p:spTree>
    <p:custDataLst>
      <p:tags r:id="rId1"/>
    </p:custDataLst>
    <p:extLst>
      <p:ext uri="{BB962C8B-B14F-4D97-AF65-F5344CB8AC3E}">
        <p14:creationId xmlns:p14="http://schemas.microsoft.com/office/powerpoint/2010/main" val="3962423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F8BEF-3060-CFCD-794A-05B5A4916EF3}"/>
              </a:ext>
            </a:extLst>
          </p:cNvPr>
          <p:cNvSpPr>
            <a:spLocks noGrp="1"/>
          </p:cNvSpPr>
          <p:nvPr>
            <p:ph type="title"/>
          </p:nvPr>
        </p:nvSpPr>
        <p:spPr/>
        <p:txBody>
          <a:bodyPr/>
          <a:lstStyle/>
          <a:p>
            <a:r>
              <a:rPr lang="en-US"/>
              <a:t>Technology</a:t>
            </a:r>
          </a:p>
        </p:txBody>
      </p:sp>
      <p:sp>
        <p:nvSpPr>
          <p:cNvPr id="3" name="Content Placeholder 2">
            <a:extLst>
              <a:ext uri="{FF2B5EF4-FFF2-40B4-BE49-F238E27FC236}">
                <a16:creationId xmlns:a16="http://schemas.microsoft.com/office/drawing/2014/main" id="{7FF6946C-5365-B7D1-91D3-1671D7CBCF15}"/>
              </a:ext>
            </a:extLst>
          </p:cNvPr>
          <p:cNvSpPr>
            <a:spLocks noGrp="1"/>
          </p:cNvSpPr>
          <p:nvPr>
            <p:ph idx="1"/>
          </p:nvPr>
        </p:nvSpPr>
        <p:spPr>
          <a:xfrm>
            <a:off x="1257300" y="2193131"/>
            <a:ext cx="8224630" cy="6967198"/>
          </a:xfrm>
        </p:spPr>
        <p:txBody>
          <a:bodyPr>
            <a:normAutofit lnSpcReduction="10000"/>
          </a:bodyPr>
          <a:lstStyle/>
          <a:p>
            <a:r>
              <a:rPr lang="en-US" dirty="0"/>
              <a:t>Innovation has played a critical role in telecommunications and networking</a:t>
            </a:r>
          </a:p>
          <a:p>
            <a:r>
              <a:rPr lang="en-US" dirty="0"/>
              <a:t>Standards also play a significant role</a:t>
            </a:r>
          </a:p>
          <a:p>
            <a:r>
              <a:rPr lang="en-US" dirty="0"/>
              <a:t>Together they drive new capabilities and interoperability</a:t>
            </a:r>
          </a:p>
          <a:p>
            <a:r>
              <a:rPr lang="en-US" dirty="0"/>
              <a:t>Increasingly security is becoming an integral part of new products and services</a:t>
            </a:r>
          </a:p>
        </p:txBody>
      </p:sp>
      <p:pic>
        <p:nvPicPr>
          <p:cNvPr id="1026" name="Picture 2" descr="Download the Cisco logo in PNG y SVG | LogosDown">
            <a:extLst>
              <a:ext uri="{FF2B5EF4-FFF2-40B4-BE49-F238E27FC236}">
                <a16:creationId xmlns:a16="http://schemas.microsoft.com/office/drawing/2014/main" id="{F575F08B-2984-BB99-5225-82D445A721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41811" y="554558"/>
            <a:ext cx="3718206" cy="371820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black text on a white background&#10;&#10;AI-generated content may be incorrect.">
            <a:extLst>
              <a:ext uri="{FF2B5EF4-FFF2-40B4-BE49-F238E27FC236}">
                <a16:creationId xmlns:a16="http://schemas.microsoft.com/office/drawing/2014/main" id="{F2434238-4D51-DFAE-F3AE-5D60735F2388}"/>
              </a:ext>
            </a:extLst>
          </p:cNvPr>
          <p:cNvPicPr>
            <a:picLocks noChangeAspect="1"/>
          </p:cNvPicPr>
          <p:nvPr/>
        </p:nvPicPr>
        <p:blipFill>
          <a:blip r:embed="rId3"/>
          <a:stretch>
            <a:fillRect/>
          </a:stretch>
        </p:blipFill>
        <p:spPr>
          <a:xfrm>
            <a:off x="10031679" y="3978671"/>
            <a:ext cx="5789446" cy="1273416"/>
          </a:xfrm>
          <a:prstGeom prst="rect">
            <a:avLst/>
          </a:prstGeom>
        </p:spPr>
      </p:pic>
      <p:pic>
        <p:nvPicPr>
          <p:cNvPr id="7" name="Picture 6" descr="A close-up of a logo&#10;&#10;AI-generated content may be incorrect.">
            <a:extLst>
              <a:ext uri="{FF2B5EF4-FFF2-40B4-BE49-F238E27FC236}">
                <a16:creationId xmlns:a16="http://schemas.microsoft.com/office/drawing/2014/main" id="{FD8414F7-43E1-D636-4A3B-99517C3034DA}"/>
              </a:ext>
            </a:extLst>
          </p:cNvPr>
          <p:cNvPicPr>
            <a:picLocks noChangeAspect="1"/>
          </p:cNvPicPr>
          <p:nvPr/>
        </p:nvPicPr>
        <p:blipFill>
          <a:blip r:embed="rId4"/>
          <a:stretch>
            <a:fillRect/>
          </a:stretch>
        </p:blipFill>
        <p:spPr>
          <a:xfrm>
            <a:off x="10992008" y="6505419"/>
            <a:ext cx="5789446" cy="1479172"/>
          </a:xfrm>
          <a:prstGeom prst="rect">
            <a:avLst/>
          </a:prstGeom>
        </p:spPr>
      </p:pic>
      <p:pic>
        <p:nvPicPr>
          <p:cNvPr id="9" name="Picture 8" descr="A close-up of a logo&#10;&#10;AI-generated content may be incorrect.">
            <a:extLst>
              <a:ext uri="{FF2B5EF4-FFF2-40B4-BE49-F238E27FC236}">
                <a16:creationId xmlns:a16="http://schemas.microsoft.com/office/drawing/2014/main" id="{3D659B42-BA86-AB6F-6F73-BFC7262A09B1}"/>
              </a:ext>
            </a:extLst>
          </p:cNvPr>
          <p:cNvPicPr>
            <a:picLocks noChangeAspect="1"/>
          </p:cNvPicPr>
          <p:nvPr/>
        </p:nvPicPr>
        <p:blipFill>
          <a:blip r:embed="rId5"/>
          <a:stretch>
            <a:fillRect/>
          </a:stretch>
        </p:blipFill>
        <p:spPr>
          <a:xfrm>
            <a:off x="13674924" y="8156137"/>
            <a:ext cx="3817946" cy="1705679"/>
          </a:xfrm>
          <a:prstGeom prst="rect">
            <a:avLst/>
          </a:prstGeom>
        </p:spPr>
      </p:pic>
      <p:pic>
        <p:nvPicPr>
          <p:cNvPr id="11" name="Picture 10" descr="A close-up of a logo&#10;&#10;AI-generated content may be incorrect.">
            <a:extLst>
              <a:ext uri="{FF2B5EF4-FFF2-40B4-BE49-F238E27FC236}">
                <a16:creationId xmlns:a16="http://schemas.microsoft.com/office/drawing/2014/main" id="{1EE6F34B-D7AE-369C-3935-982D5C4179A9}"/>
              </a:ext>
            </a:extLst>
          </p:cNvPr>
          <p:cNvPicPr>
            <a:picLocks noChangeAspect="1"/>
          </p:cNvPicPr>
          <p:nvPr/>
        </p:nvPicPr>
        <p:blipFill>
          <a:blip r:embed="rId6"/>
          <a:stretch>
            <a:fillRect/>
          </a:stretch>
        </p:blipFill>
        <p:spPr>
          <a:xfrm>
            <a:off x="8647043" y="5465562"/>
            <a:ext cx="3995135" cy="1000079"/>
          </a:xfrm>
          <a:prstGeom prst="rect">
            <a:avLst/>
          </a:prstGeom>
        </p:spPr>
      </p:pic>
      <p:pic>
        <p:nvPicPr>
          <p:cNvPr id="15" name="Picture 14" descr="A blue and black logo&#10;&#10;AI-generated content may be incorrect.">
            <a:extLst>
              <a:ext uri="{FF2B5EF4-FFF2-40B4-BE49-F238E27FC236}">
                <a16:creationId xmlns:a16="http://schemas.microsoft.com/office/drawing/2014/main" id="{85C4967A-1024-2B60-3E1D-18E1443E4C3D}"/>
              </a:ext>
            </a:extLst>
          </p:cNvPr>
          <p:cNvPicPr>
            <a:picLocks noChangeAspect="1"/>
          </p:cNvPicPr>
          <p:nvPr/>
        </p:nvPicPr>
        <p:blipFill>
          <a:blip r:embed="rId7"/>
          <a:stretch>
            <a:fillRect/>
          </a:stretch>
        </p:blipFill>
        <p:spPr>
          <a:xfrm>
            <a:off x="9869067" y="7792278"/>
            <a:ext cx="2124172" cy="2058476"/>
          </a:xfrm>
          <a:prstGeom prst="rect">
            <a:avLst/>
          </a:prstGeom>
        </p:spPr>
      </p:pic>
      <p:pic>
        <p:nvPicPr>
          <p:cNvPr id="17" name="Picture 16" descr="A blue and white logo&#10;&#10;AI-generated content may be incorrect.">
            <a:extLst>
              <a:ext uri="{FF2B5EF4-FFF2-40B4-BE49-F238E27FC236}">
                <a16:creationId xmlns:a16="http://schemas.microsoft.com/office/drawing/2014/main" id="{E034AC8E-75C1-6923-F723-BF8DDF37684E}"/>
              </a:ext>
            </a:extLst>
          </p:cNvPr>
          <p:cNvPicPr>
            <a:picLocks noChangeAspect="1"/>
          </p:cNvPicPr>
          <p:nvPr/>
        </p:nvPicPr>
        <p:blipFill>
          <a:blip r:embed="rId8"/>
          <a:stretch>
            <a:fillRect/>
          </a:stretch>
        </p:blipFill>
        <p:spPr>
          <a:xfrm>
            <a:off x="13331712" y="1282056"/>
            <a:ext cx="4624180" cy="698765"/>
          </a:xfrm>
          <a:prstGeom prst="rect">
            <a:avLst/>
          </a:prstGeom>
        </p:spPr>
      </p:pic>
      <p:pic>
        <p:nvPicPr>
          <p:cNvPr id="19" name="Picture 18" descr="A black text on a white background&#10;&#10;AI-generated content may be incorrect.">
            <a:extLst>
              <a:ext uri="{FF2B5EF4-FFF2-40B4-BE49-F238E27FC236}">
                <a16:creationId xmlns:a16="http://schemas.microsoft.com/office/drawing/2014/main" id="{38DCD07F-A42B-D21F-BDF1-40C439F828B3}"/>
              </a:ext>
            </a:extLst>
          </p:cNvPr>
          <p:cNvPicPr>
            <a:picLocks noChangeAspect="1"/>
          </p:cNvPicPr>
          <p:nvPr/>
        </p:nvPicPr>
        <p:blipFill>
          <a:blip r:embed="rId9"/>
          <a:stretch>
            <a:fillRect/>
          </a:stretch>
        </p:blipFill>
        <p:spPr>
          <a:xfrm>
            <a:off x="12642178" y="2695602"/>
            <a:ext cx="5195680" cy="1236096"/>
          </a:xfrm>
          <a:prstGeom prst="rect">
            <a:avLst/>
          </a:prstGeom>
        </p:spPr>
      </p:pic>
    </p:spTree>
    <p:extLst>
      <p:ext uri="{BB962C8B-B14F-4D97-AF65-F5344CB8AC3E}">
        <p14:creationId xmlns:p14="http://schemas.microsoft.com/office/powerpoint/2010/main" val="3823901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92B14-6AF0-80D3-1FC2-41A18BCEDCFE}"/>
              </a:ext>
            </a:extLst>
          </p:cNvPr>
          <p:cNvSpPr>
            <a:spLocks noGrp="1"/>
          </p:cNvSpPr>
          <p:nvPr>
            <p:ph type="title"/>
          </p:nvPr>
        </p:nvSpPr>
        <p:spPr/>
        <p:txBody>
          <a:bodyPr/>
          <a:lstStyle/>
          <a:p>
            <a:r>
              <a:rPr lang="en-US"/>
              <a:t>Regulation</a:t>
            </a:r>
          </a:p>
        </p:txBody>
      </p:sp>
      <p:sp>
        <p:nvSpPr>
          <p:cNvPr id="3" name="Content Placeholder 2">
            <a:extLst>
              <a:ext uri="{FF2B5EF4-FFF2-40B4-BE49-F238E27FC236}">
                <a16:creationId xmlns:a16="http://schemas.microsoft.com/office/drawing/2014/main" id="{CA137D6E-CA69-7DAF-509B-BE5946DB2659}"/>
              </a:ext>
            </a:extLst>
          </p:cNvPr>
          <p:cNvSpPr>
            <a:spLocks noGrp="1"/>
          </p:cNvSpPr>
          <p:nvPr>
            <p:ph idx="1"/>
          </p:nvPr>
        </p:nvSpPr>
        <p:spPr/>
        <p:txBody>
          <a:bodyPr>
            <a:normAutofit lnSpcReduction="10000"/>
          </a:bodyPr>
          <a:lstStyle/>
          <a:p>
            <a:r>
              <a:rPr lang="en-US" dirty="0"/>
              <a:t>Various forms of regulation exist in telecommunications and networking</a:t>
            </a:r>
          </a:p>
          <a:p>
            <a:r>
              <a:rPr lang="en-US" dirty="0"/>
              <a:t>Wired and wireless networks in the US fall under federal, state and international jurisdictions, areas covered may include</a:t>
            </a:r>
          </a:p>
          <a:p>
            <a:pPr lvl="1"/>
            <a:r>
              <a:rPr lang="en-US" dirty="0"/>
              <a:t>Licensing</a:t>
            </a:r>
          </a:p>
          <a:p>
            <a:pPr lvl="1"/>
            <a:r>
              <a:rPr lang="en-US" dirty="0"/>
              <a:t>Provider interconnection</a:t>
            </a:r>
          </a:p>
          <a:p>
            <a:pPr lvl="1"/>
            <a:r>
              <a:rPr lang="en-US" dirty="0"/>
              <a:t>Customer support</a:t>
            </a:r>
          </a:p>
          <a:p>
            <a:pPr lvl="1"/>
            <a:r>
              <a:rPr lang="en-US" dirty="0"/>
              <a:t>Availability</a:t>
            </a:r>
          </a:p>
          <a:p>
            <a:pPr lvl="1"/>
            <a:r>
              <a:rPr lang="en-US" dirty="0"/>
              <a:t>Reliability</a:t>
            </a:r>
          </a:p>
          <a:p>
            <a:pPr lvl="1"/>
            <a:r>
              <a:rPr lang="en-US" dirty="0"/>
              <a:t>Technology </a:t>
            </a:r>
          </a:p>
          <a:p>
            <a:pPr lvl="1"/>
            <a:r>
              <a:rPr lang="en-US" dirty="0"/>
              <a:t>Security</a:t>
            </a:r>
          </a:p>
        </p:txBody>
      </p:sp>
      <p:pic>
        <p:nvPicPr>
          <p:cNvPr id="6" name="Picture 5" descr="A logo of the federal communications commission&#10;&#10;AI-generated content may be incorrect.">
            <a:extLst>
              <a:ext uri="{FF2B5EF4-FFF2-40B4-BE49-F238E27FC236}">
                <a16:creationId xmlns:a16="http://schemas.microsoft.com/office/drawing/2014/main" id="{62826D17-1C5B-1FF2-3275-04301179221E}"/>
              </a:ext>
            </a:extLst>
          </p:cNvPr>
          <p:cNvPicPr>
            <a:picLocks noChangeAspect="1"/>
          </p:cNvPicPr>
          <p:nvPr/>
        </p:nvPicPr>
        <p:blipFill>
          <a:blip r:embed="rId3"/>
          <a:stretch>
            <a:fillRect/>
          </a:stretch>
        </p:blipFill>
        <p:spPr>
          <a:xfrm>
            <a:off x="10057054" y="6245413"/>
            <a:ext cx="3696912" cy="3696912"/>
          </a:xfrm>
          <a:prstGeom prst="rect">
            <a:avLst/>
          </a:prstGeom>
        </p:spPr>
      </p:pic>
      <p:pic>
        <p:nvPicPr>
          <p:cNvPr id="8" name="Picture 7" descr="A logo with yellow and purple circles&#10;&#10;AI-generated content may be incorrect.">
            <a:extLst>
              <a:ext uri="{FF2B5EF4-FFF2-40B4-BE49-F238E27FC236}">
                <a16:creationId xmlns:a16="http://schemas.microsoft.com/office/drawing/2014/main" id="{8C3C2E0D-4EA8-042D-5E18-EEEAE2D76D02}"/>
              </a:ext>
            </a:extLst>
          </p:cNvPr>
          <p:cNvPicPr>
            <a:picLocks noChangeAspect="1"/>
          </p:cNvPicPr>
          <p:nvPr/>
        </p:nvPicPr>
        <p:blipFill>
          <a:blip r:embed="rId4"/>
          <a:stretch>
            <a:fillRect/>
          </a:stretch>
        </p:blipFill>
        <p:spPr>
          <a:xfrm>
            <a:off x="14049142" y="6245413"/>
            <a:ext cx="3654419" cy="3696912"/>
          </a:xfrm>
          <a:prstGeom prst="rect">
            <a:avLst/>
          </a:prstGeom>
        </p:spPr>
      </p:pic>
      <p:pic>
        <p:nvPicPr>
          <p:cNvPr id="2050" name="Picture 2">
            <a:extLst>
              <a:ext uri="{FF2B5EF4-FFF2-40B4-BE49-F238E27FC236}">
                <a16:creationId xmlns:a16="http://schemas.microsoft.com/office/drawing/2014/main" id="{F68516F6-4AB2-68A6-5E92-EB3196C1B7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2250" y="6364682"/>
            <a:ext cx="3577643" cy="3577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517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4274" name="Rectangle 2"/>
          <p:cNvSpPr>
            <a:spLocks noGrp="1" noChangeArrowheads="1"/>
          </p:cNvSpPr>
          <p:nvPr>
            <p:ph type="title"/>
          </p:nvPr>
        </p:nvSpPr>
        <p:spPr/>
        <p:txBody>
          <a:bodyPr/>
          <a:lstStyle/>
          <a:p>
            <a:r>
              <a:rPr lang="en-US" dirty="0"/>
              <a:t>Voice Network Providers</a:t>
            </a:r>
          </a:p>
        </p:txBody>
      </p:sp>
      <p:sp>
        <p:nvSpPr>
          <p:cNvPr id="3894275" name="Rectangle 3"/>
          <p:cNvSpPr>
            <a:spLocks noGrp="1" noChangeArrowheads="1"/>
          </p:cNvSpPr>
          <p:nvPr>
            <p:ph idx="1"/>
          </p:nvPr>
        </p:nvSpPr>
        <p:spPr>
          <a:xfrm>
            <a:off x="1257300" y="2193130"/>
            <a:ext cx="15100539" cy="7579519"/>
          </a:xfrm>
        </p:spPr>
        <p:txBody>
          <a:bodyPr>
            <a:normAutofit fontScale="92500" lnSpcReduction="10000"/>
          </a:bodyPr>
          <a:lstStyle/>
          <a:p>
            <a:r>
              <a:rPr lang="en-US" dirty="0"/>
              <a:t>Not too long ago, there was only one: AT&amp;T</a:t>
            </a:r>
          </a:p>
          <a:p>
            <a:r>
              <a:rPr lang="en-US" dirty="0"/>
              <a:t>Telephone network technology and structure has undergone major shifts every 20–30 years</a:t>
            </a:r>
          </a:p>
          <a:p>
            <a:r>
              <a:rPr lang="en-US" dirty="0"/>
              <a:t>In the past, technology replacement was based on </a:t>
            </a:r>
            <a:br>
              <a:rPr lang="en-US" dirty="0"/>
            </a:br>
            <a:r>
              <a:rPr lang="en-US" dirty="0"/>
              <a:t>economics driving when replacement took place</a:t>
            </a:r>
          </a:p>
          <a:p>
            <a:r>
              <a:rPr lang="en-US" dirty="0"/>
              <a:t>Last move was to VoIP, drivers included</a:t>
            </a:r>
          </a:p>
          <a:p>
            <a:pPr lvl="1"/>
            <a:r>
              <a:rPr lang="en-US" dirty="0"/>
              <a:t>Economics</a:t>
            </a:r>
          </a:p>
          <a:p>
            <a:pPr lvl="2"/>
            <a:r>
              <a:rPr lang="en-US" dirty="0"/>
              <a:t>Data now more important than voice</a:t>
            </a:r>
          </a:p>
          <a:p>
            <a:pPr lvl="2"/>
            <a:r>
              <a:rPr lang="en-US" dirty="0"/>
              <a:t>Mobility adds convenience</a:t>
            </a:r>
          </a:p>
          <a:p>
            <a:pPr lvl="2"/>
            <a:r>
              <a:rPr lang="en-US" dirty="0"/>
              <a:t>Demise of the wireline phone</a:t>
            </a:r>
          </a:p>
          <a:p>
            <a:pPr lvl="1"/>
            <a:r>
              <a:rPr lang="en-US" dirty="0"/>
              <a:t>Regulation</a:t>
            </a:r>
          </a:p>
          <a:p>
            <a:pPr lvl="2"/>
            <a:r>
              <a:rPr lang="en-US" dirty="0"/>
              <a:t>Reduced need</a:t>
            </a:r>
          </a:p>
          <a:p>
            <a:pPr lvl="1"/>
            <a:r>
              <a:rPr lang="en-US" dirty="0"/>
              <a:t>Applications</a:t>
            </a:r>
          </a:p>
          <a:p>
            <a:pPr lvl="2"/>
            <a:r>
              <a:rPr lang="en-US" dirty="0"/>
              <a:t>Integration with conferencing and IM</a:t>
            </a:r>
          </a:p>
          <a:p>
            <a:pPr lvl="2"/>
            <a:endParaRPr lang="en-US" dirty="0"/>
          </a:p>
          <a:p>
            <a:endParaRPr lang="en-US" dirty="0"/>
          </a:p>
        </p:txBody>
      </p:sp>
      <p:sp>
        <p:nvSpPr>
          <p:cNvPr id="5" name="Slide Number Placeholder 4"/>
          <p:cNvSpPr>
            <a:spLocks noGrp="1"/>
          </p:cNvSpPr>
          <p:nvPr>
            <p:ph type="sldNum" sz="quarter" idx="10"/>
          </p:nvPr>
        </p:nvSpPr>
        <p:spPr>
          <a:prstGeom prst="rect">
            <a:avLst/>
          </a:prstGeom>
        </p:spPr>
        <p:txBody>
          <a:bodyPr/>
          <a:lstStyle/>
          <a:p>
            <a:fld id="{76E8DCF4-EBDD-4FE1-8465-FD383573D554}" type="slidenum">
              <a:rPr lang="en-US" smtClean="0">
                <a:solidFill>
                  <a:schemeClr val="tx1"/>
                </a:solidFill>
              </a:rPr>
              <a:pPr/>
              <a:t>15</a:t>
            </a:fld>
            <a:endParaRPr lang="en-US">
              <a:solidFill>
                <a:schemeClr val="tx1"/>
              </a:solidFill>
            </a:endParaRPr>
          </a:p>
        </p:txBody>
      </p:sp>
      <p:pic>
        <p:nvPicPr>
          <p:cNvPr id="4" name="Picture 3" descr="A black and white logo&#10;&#10;AI-generated content may be incorrect.">
            <a:extLst>
              <a:ext uri="{FF2B5EF4-FFF2-40B4-BE49-F238E27FC236}">
                <a16:creationId xmlns:a16="http://schemas.microsoft.com/office/drawing/2014/main" id="{B6072158-B6A9-B921-526E-D8505CC04D17}"/>
              </a:ext>
            </a:extLst>
          </p:cNvPr>
          <p:cNvPicPr>
            <a:picLocks noChangeAspect="1"/>
          </p:cNvPicPr>
          <p:nvPr/>
        </p:nvPicPr>
        <p:blipFill>
          <a:blip r:embed="rId4"/>
          <a:stretch>
            <a:fillRect/>
          </a:stretch>
        </p:blipFill>
        <p:spPr>
          <a:xfrm>
            <a:off x="12568269" y="5788026"/>
            <a:ext cx="3670300" cy="3746500"/>
          </a:xfrm>
          <a:prstGeom prst="rect">
            <a:avLst/>
          </a:prstGeom>
        </p:spPr>
      </p:pic>
    </p:spTree>
    <p:custDataLst>
      <p:tags r:id="rId1"/>
    </p:custDataLst>
    <p:extLst>
      <p:ext uri="{BB962C8B-B14F-4D97-AF65-F5344CB8AC3E}">
        <p14:creationId xmlns:p14="http://schemas.microsoft.com/office/powerpoint/2010/main" val="3750590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9394" name="Rectangle 2"/>
          <p:cNvSpPr>
            <a:spLocks noGrp="1" noChangeArrowheads="1"/>
          </p:cNvSpPr>
          <p:nvPr>
            <p:ph type="title"/>
          </p:nvPr>
        </p:nvSpPr>
        <p:spPr/>
        <p:txBody>
          <a:bodyPr/>
          <a:lstStyle/>
          <a:p>
            <a:r>
              <a:rPr lang="en-US" dirty="0"/>
              <a:t>Data Network Providers</a:t>
            </a:r>
          </a:p>
        </p:txBody>
      </p:sp>
      <p:sp>
        <p:nvSpPr>
          <p:cNvPr id="4" name="Content Placeholder 3"/>
          <p:cNvSpPr>
            <a:spLocks noGrp="1"/>
          </p:cNvSpPr>
          <p:nvPr>
            <p:ph idx="1"/>
          </p:nvPr>
        </p:nvSpPr>
        <p:spPr>
          <a:xfrm>
            <a:off x="1257300" y="2193131"/>
            <a:ext cx="15491832" cy="6967198"/>
          </a:xfrm>
        </p:spPr>
        <p:txBody>
          <a:bodyPr>
            <a:normAutofit lnSpcReduction="10000"/>
          </a:bodyPr>
          <a:lstStyle/>
          <a:p>
            <a:r>
              <a:rPr lang="en-US"/>
              <a:t>Computer technology has evolved at an unprecedented rate</a:t>
            </a:r>
          </a:p>
          <a:p>
            <a:r>
              <a:rPr lang="en-US"/>
              <a:t>Businesses first used computers in the 1960s and all communication used private connections of modified voice circuits</a:t>
            </a:r>
          </a:p>
          <a:p>
            <a:r>
              <a:rPr lang="en-US"/>
              <a:t>Public data networking appeared in the 1970s, but the real change occurred with the commercialization of the internet in the 1990s</a:t>
            </a:r>
          </a:p>
          <a:p>
            <a:r>
              <a:rPr lang="en-US"/>
              <a:t>Network technology has moved from proprietary</a:t>
            </a:r>
            <a:br>
              <a:rPr lang="en-US"/>
            </a:br>
            <a:r>
              <a:rPr lang="en-US"/>
              <a:t>to internet-based, even for private networks</a:t>
            </a:r>
          </a:p>
          <a:p>
            <a:r>
              <a:rPr lang="en-US"/>
              <a:t>The internet continues to change everything </a:t>
            </a:r>
          </a:p>
          <a:p>
            <a:r>
              <a:rPr lang="en-US"/>
              <a:t>Wireless access has grown in importance</a:t>
            </a:r>
          </a:p>
        </p:txBody>
      </p:sp>
      <p:sp>
        <p:nvSpPr>
          <p:cNvPr id="6" name="Slide Number Placeholder 5"/>
          <p:cNvSpPr>
            <a:spLocks noGrp="1"/>
          </p:cNvSpPr>
          <p:nvPr>
            <p:ph type="sldNum" sz="quarter" idx="10"/>
          </p:nvPr>
        </p:nvSpPr>
        <p:spPr>
          <a:prstGeom prst="rect">
            <a:avLst/>
          </a:prstGeom>
        </p:spPr>
        <p:txBody>
          <a:bodyPr/>
          <a:lstStyle/>
          <a:p>
            <a:fld id="{26728E46-6CCC-4700-BAC6-A5BE0E758C8F}" type="slidenum">
              <a:rPr lang="en-US" smtClean="0">
                <a:solidFill>
                  <a:schemeClr val="tx1"/>
                </a:solidFill>
              </a:rPr>
              <a:pPr/>
              <a:t>16</a:t>
            </a:fld>
            <a:endParaRPr lang="en-US">
              <a:solidFill>
                <a:schemeClr val="tx1"/>
              </a:solidFill>
            </a:endParaRPr>
          </a:p>
        </p:txBody>
      </p:sp>
      <p:pic>
        <p:nvPicPr>
          <p:cNvPr id="3899397" name="Picture 5" descr="iStock_000007645167XSmall"/>
          <p:cNvPicPr>
            <a:picLocks noChangeAspect="1" noChangeArrowheads="1"/>
          </p:cNvPicPr>
          <p:nvPr/>
        </p:nvPicPr>
        <p:blipFill>
          <a:blip r:embed="rId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4173200" y="6807806"/>
            <a:ext cx="4638924" cy="3479194"/>
          </a:xfrm>
          <a:prstGeom prst="rect">
            <a:avLst/>
          </a:prstGeom>
          <a:noFill/>
        </p:spPr>
      </p:pic>
    </p:spTree>
    <p:custDataLst>
      <p:tags r:id="rId1"/>
    </p:custDataLst>
    <p:extLst>
      <p:ext uri="{BB962C8B-B14F-4D97-AF65-F5344CB8AC3E}">
        <p14:creationId xmlns:p14="http://schemas.microsoft.com/office/powerpoint/2010/main" val="4070973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3494" name="Rectangle 6"/>
          <p:cNvSpPr>
            <a:spLocks noGrp="1" noChangeArrowheads="1"/>
          </p:cNvSpPr>
          <p:nvPr>
            <p:ph type="title"/>
          </p:nvPr>
        </p:nvSpPr>
        <p:spPr/>
        <p:txBody>
          <a:bodyPr/>
          <a:lstStyle/>
          <a:p>
            <a:r>
              <a:rPr lang="en-US" dirty="0"/>
              <a:t>Video Network Providers</a:t>
            </a:r>
          </a:p>
        </p:txBody>
      </p:sp>
      <p:sp>
        <p:nvSpPr>
          <p:cNvPr id="4" name="Content Placeholder 3"/>
          <p:cNvSpPr>
            <a:spLocks noGrp="1"/>
          </p:cNvSpPr>
          <p:nvPr>
            <p:ph idx="1"/>
          </p:nvPr>
        </p:nvSpPr>
        <p:spPr>
          <a:xfrm>
            <a:off x="1257300" y="2193130"/>
            <a:ext cx="15773400" cy="7341395"/>
          </a:xfrm>
        </p:spPr>
        <p:txBody>
          <a:bodyPr>
            <a:normAutofit fontScale="92500" lnSpcReduction="10000"/>
          </a:bodyPr>
          <a:lstStyle/>
          <a:p>
            <a:r>
              <a:rPr lang="en-US" dirty="0"/>
              <a:t>Video networks started with over the air broadcast of television</a:t>
            </a:r>
          </a:p>
          <a:p>
            <a:r>
              <a:rPr lang="en-US" dirty="0"/>
              <a:t>Over time many households moved to cable pay-tv to get access to more and more diverse content</a:t>
            </a:r>
          </a:p>
          <a:p>
            <a:r>
              <a:rPr lang="en-US" dirty="0"/>
              <a:t>Technology has moved viewing from live to “when convenient” and from the TV to a wide variety of devices</a:t>
            </a:r>
          </a:p>
          <a:p>
            <a:r>
              <a:rPr lang="en-US" dirty="0"/>
              <a:t>Increasing drive to internet distribution</a:t>
            </a:r>
          </a:p>
          <a:p>
            <a:pPr lvl="1"/>
            <a:r>
              <a:rPr lang="en-US" dirty="0"/>
              <a:t>Traditional players trying to figure out their roles</a:t>
            </a:r>
          </a:p>
          <a:p>
            <a:pPr lvl="1"/>
            <a:r>
              <a:rPr lang="en-US" dirty="0"/>
              <a:t>Content owners exploring new distribution models</a:t>
            </a:r>
          </a:p>
          <a:p>
            <a:pPr lvl="1"/>
            <a:r>
              <a:rPr lang="en-US" dirty="0"/>
              <a:t>Streaming services fighting for eyeballs</a:t>
            </a:r>
          </a:p>
          <a:p>
            <a:pPr lvl="1"/>
            <a:r>
              <a:rPr lang="en-US" dirty="0"/>
              <a:t>TVs have had to become smarter</a:t>
            </a:r>
          </a:p>
          <a:p>
            <a:r>
              <a:rPr lang="en-US" dirty="0"/>
              <a:t>Business video</a:t>
            </a:r>
          </a:p>
          <a:p>
            <a:pPr lvl="1"/>
            <a:r>
              <a:rPr lang="en-US" dirty="0"/>
              <a:t>Was expensive and required specialized equipment</a:t>
            </a:r>
          </a:p>
          <a:p>
            <a:pPr lvl="1"/>
            <a:r>
              <a:rPr lang="en-US" dirty="0"/>
              <a:t>Now we have many affordable options on the desktop</a:t>
            </a:r>
          </a:p>
        </p:txBody>
      </p:sp>
      <p:sp>
        <p:nvSpPr>
          <p:cNvPr id="6" name="Slide Number Placeholder 5"/>
          <p:cNvSpPr>
            <a:spLocks noGrp="1"/>
          </p:cNvSpPr>
          <p:nvPr>
            <p:ph type="sldNum" sz="quarter" idx="10"/>
          </p:nvPr>
        </p:nvSpPr>
        <p:spPr>
          <a:prstGeom prst="rect">
            <a:avLst/>
          </a:prstGeom>
        </p:spPr>
        <p:txBody>
          <a:bodyPr/>
          <a:lstStyle/>
          <a:p>
            <a:fld id="{26728E46-6CCC-4700-BAC6-A5BE0E758C8F}" type="slidenum">
              <a:rPr lang="en-US" smtClean="0">
                <a:solidFill>
                  <a:schemeClr val="tx1"/>
                </a:solidFill>
              </a:rPr>
              <a:pPr/>
              <a:t>17</a:t>
            </a:fld>
            <a:endParaRPr lang="en-US">
              <a:solidFill>
                <a:schemeClr val="tx1"/>
              </a:solidFill>
            </a:endParaRPr>
          </a:p>
        </p:txBody>
      </p:sp>
      <p:pic>
        <p:nvPicPr>
          <p:cNvPr id="3" name="Picture 2" descr="A black and white logo&#10;&#10;AI-generated content may be incorrect.">
            <a:extLst>
              <a:ext uri="{FF2B5EF4-FFF2-40B4-BE49-F238E27FC236}">
                <a16:creationId xmlns:a16="http://schemas.microsoft.com/office/drawing/2014/main" id="{DC0C21E2-D5D0-F66E-7465-76C6005BBCC5}"/>
              </a:ext>
            </a:extLst>
          </p:cNvPr>
          <p:cNvPicPr>
            <a:picLocks noChangeAspect="1"/>
          </p:cNvPicPr>
          <p:nvPr/>
        </p:nvPicPr>
        <p:blipFill>
          <a:blip r:embed="rId4"/>
          <a:stretch>
            <a:fillRect/>
          </a:stretch>
        </p:blipFill>
        <p:spPr>
          <a:xfrm>
            <a:off x="14045961" y="6424614"/>
            <a:ext cx="3657600" cy="3657600"/>
          </a:xfrm>
          <a:prstGeom prst="rect">
            <a:avLst/>
          </a:prstGeom>
        </p:spPr>
      </p:pic>
    </p:spTree>
    <p:custDataLst>
      <p:tags r:id="rId1"/>
    </p:custDataLst>
    <p:extLst>
      <p:ext uri="{BB962C8B-B14F-4D97-AF65-F5344CB8AC3E}">
        <p14:creationId xmlns:p14="http://schemas.microsoft.com/office/powerpoint/2010/main" val="2831366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Content</a:t>
            </a:r>
          </a:p>
        </p:txBody>
      </p:sp>
      <p:sp>
        <p:nvSpPr>
          <p:cNvPr id="3" name="Then head"/>
          <p:cNvSpPr txBox="1"/>
          <p:nvPr/>
        </p:nvSpPr>
        <p:spPr>
          <a:xfrm>
            <a:off x="1257300" y="2697480"/>
            <a:ext cx="5212080" cy="548640"/>
          </a:xfrm>
          <a:prstGeom prst="rect">
            <a:avLst/>
          </a:prstGeom>
          <a:noFill/>
        </p:spPr>
        <p:txBody>
          <a:bodyPr wrap="square" lIns="0" tIns="0" rIns="0" bIns="0" anchor="t">
            <a:spAutoFit/>
          </a:bodyPr>
          <a:lstStyle/>
          <a:p>
            <a:pPr algn="l">
              <a:spcAft>
                <a:spcPts val="600"/>
              </a:spcAft>
            </a:pPr>
            <a:r>
              <a:rPr sz="2600" b="1" i="0">
                <a:solidFill>
                  <a:srgbClr val="595959"/>
                </a:solidFill>
                <a:latin typeface="Helvetica Neue"/>
                <a:ea typeface="Helvetica Neue"/>
                <a:cs typeface="Helvetica Neue"/>
              </a:rPr>
              <a:t>Then</a:t>
            </a:r>
          </a:p>
        </p:txBody>
      </p:sp>
      <p:sp>
        <p:nvSpPr>
          <p:cNvPr id="4" name="Then panel"/>
          <p:cNvSpPr/>
          <p:nvPr/>
        </p:nvSpPr>
        <p:spPr>
          <a:xfrm>
            <a:off x="1257300" y="3291840"/>
            <a:ext cx="5212080" cy="3657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5" name="Then content"/>
          <p:cNvSpPr/>
          <p:nvPr/>
        </p:nvSpPr>
        <p:spPr>
          <a:xfrm>
            <a:off x="1577340" y="3520440"/>
            <a:ext cx="4572000" cy="1188720"/>
          </a:xfrm>
          <a:prstGeom prst="round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6" name="Then content text"/>
          <p:cNvSpPr txBox="1"/>
          <p:nvPr/>
        </p:nvSpPr>
        <p:spPr>
          <a:xfrm>
            <a:off x="1714500" y="3566160"/>
            <a:ext cx="4297680" cy="1097280"/>
          </a:xfrm>
          <a:prstGeom prst="rect">
            <a:avLst/>
          </a:prstGeom>
          <a:noFill/>
        </p:spPr>
        <p:txBody>
          <a:bodyPr wrap="square" lIns="0" tIns="0" rIns="0" bIns="0" anchor="ctr">
            <a:spAutoFit/>
          </a:bodyPr>
          <a:lstStyle/>
          <a:p>
            <a:pPr algn="ctr">
              <a:spcAft>
                <a:spcPts val="200"/>
              </a:spcAft>
            </a:pPr>
            <a:r>
              <a:rPr sz="2200" b="1" i="0">
                <a:solidFill>
                  <a:srgbClr val="FFFFFF"/>
                </a:solidFill>
                <a:latin typeface="Helvetica Neue"/>
                <a:ea typeface="Helvetica Neue"/>
                <a:cs typeface="Helvetica Neue"/>
              </a:rPr>
              <a:t>Content</a:t>
            </a:r>
          </a:p>
          <a:p>
            <a:pPr algn="ctr">
              <a:spcAft>
                <a:spcPts val="200"/>
              </a:spcAft>
            </a:pPr>
            <a:r>
              <a:rPr sz="1600" b="0" i="0">
                <a:solidFill>
                  <a:srgbClr val="FFFFFF"/>
                </a:solidFill>
                <a:latin typeface="Helvetica Neue"/>
                <a:ea typeface="Helvetica Neue"/>
                <a:cs typeface="Helvetica Neue"/>
              </a:rPr>
              <a:t>Studios, broadcasters, publishers</a:t>
            </a:r>
          </a:p>
        </p:txBody>
      </p:sp>
      <p:cxnSp>
        <p:nvCxnSpPr>
          <p:cNvPr id="7" name="Then divide"/>
          <p:cNvCxnSpPr/>
          <p:nvPr/>
        </p:nvCxnSpPr>
        <p:spPr>
          <a:xfrm>
            <a:off x="1577340" y="5120640"/>
            <a:ext cx="4572000" cy="0"/>
          </a:xfrm>
          <a:prstGeom prst="line">
            <a:avLst/>
          </a:prstGeom>
          <a:ln w="38100">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8" name="Then divide label"/>
          <p:cNvSpPr txBox="1"/>
          <p:nvPr/>
        </p:nvSpPr>
        <p:spPr>
          <a:xfrm>
            <a:off x="1577340" y="4736592"/>
            <a:ext cx="4572000" cy="365760"/>
          </a:xfrm>
          <a:prstGeom prst="rect">
            <a:avLst/>
          </a:prstGeom>
          <a:noFill/>
        </p:spPr>
        <p:txBody>
          <a:bodyPr wrap="square" lIns="0" tIns="0" rIns="0" bIns="0" anchor="t">
            <a:spAutoFit/>
          </a:bodyPr>
          <a:lstStyle/>
          <a:p>
            <a:pPr algn="ctr">
              <a:spcAft>
                <a:spcPts val="600"/>
              </a:spcAft>
            </a:pPr>
            <a:r>
              <a:rPr sz="1500" b="1" i="1">
                <a:solidFill>
                  <a:srgbClr val="C00000"/>
                </a:solidFill>
                <a:latin typeface="Helvetica Neue"/>
                <a:ea typeface="Helvetica Neue"/>
                <a:cs typeface="Helvetica Neue"/>
              </a:rPr>
              <a:t>kept apart, partly by regulation</a:t>
            </a:r>
          </a:p>
        </p:txBody>
      </p:sp>
      <p:sp>
        <p:nvSpPr>
          <p:cNvPr id="9" name="Then carriers"/>
          <p:cNvSpPr/>
          <p:nvPr/>
        </p:nvSpPr>
        <p:spPr>
          <a:xfrm>
            <a:off x="1577340" y="5532120"/>
            <a:ext cx="4572000" cy="1188720"/>
          </a:xfrm>
          <a:prstGeom prst="round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0" name="Then carriers text"/>
          <p:cNvSpPr txBox="1"/>
          <p:nvPr/>
        </p:nvSpPr>
        <p:spPr>
          <a:xfrm>
            <a:off x="1714500" y="5577840"/>
            <a:ext cx="4297680" cy="1097280"/>
          </a:xfrm>
          <a:prstGeom prst="rect">
            <a:avLst/>
          </a:prstGeom>
          <a:noFill/>
        </p:spPr>
        <p:txBody>
          <a:bodyPr wrap="square" lIns="0" tIns="0" rIns="0" bIns="0" anchor="ctr">
            <a:spAutoFit/>
          </a:bodyPr>
          <a:lstStyle/>
          <a:p>
            <a:pPr algn="ctr">
              <a:spcAft>
                <a:spcPts val="200"/>
              </a:spcAft>
            </a:pPr>
            <a:r>
              <a:rPr sz="2200" b="1" i="0">
                <a:solidFill>
                  <a:srgbClr val="FFFFFF"/>
                </a:solidFill>
                <a:latin typeface="Helvetica Neue"/>
                <a:ea typeface="Helvetica Neue"/>
                <a:cs typeface="Helvetica Neue"/>
              </a:rPr>
              <a:t>Carriers</a:t>
            </a:r>
          </a:p>
          <a:p>
            <a:pPr algn="ctr">
              <a:spcAft>
                <a:spcPts val="200"/>
              </a:spcAft>
            </a:pPr>
            <a:r>
              <a:rPr sz="1600" b="0" i="0">
                <a:solidFill>
                  <a:srgbClr val="FFFFFF"/>
                </a:solidFill>
                <a:latin typeface="Helvetica Neue"/>
                <a:ea typeface="Helvetica Neue"/>
                <a:cs typeface="Helvetica Neue"/>
              </a:rPr>
              <a:t>Phone, cable and broadcast networks</a:t>
            </a:r>
          </a:p>
        </p:txBody>
      </p:sp>
      <p:cxnSp>
        <p:nvCxnSpPr>
          <p:cNvPr id="11" name="Then to now"/>
          <p:cNvCxnSpPr/>
          <p:nvPr/>
        </p:nvCxnSpPr>
        <p:spPr>
          <a:xfrm>
            <a:off x="6560820" y="5120640"/>
            <a:ext cx="594360" cy="0"/>
          </a:xfrm>
          <a:prstGeom prst="line">
            <a:avLst/>
          </a:prstGeom>
          <a:ln w="5080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Now head"/>
          <p:cNvSpPr txBox="1"/>
          <p:nvPr/>
        </p:nvSpPr>
        <p:spPr>
          <a:xfrm>
            <a:off x="7269480" y="2697480"/>
            <a:ext cx="9761220" cy="548640"/>
          </a:xfrm>
          <a:prstGeom prst="rect">
            <a:avLst/>
          </a:prstGeom>
          <a:noFill/>
        </p:spPr>
        <p:txBody>
          <a:bodyPr wrap="square" lIns="0" tIns="0" rIns="0" bIns="0" anchor="t">
            <a:spAutoFit/>
          </a:bodyPr>
          <a:lstStyle/>
          <a:p>
            <a:pPr algn="l">
              <a:spcAft>
                <a:spcPts val="600"/>
              </a:spcAft>
            </a:pPr>
            <a:r>
              <a:rPr sz="2600" b="1" i="0">
                <a:solidFill>
                  <a:srgbClr val="ED7D31"/>
                </a:solidFill>
                <a:latin typeface="Helvetica Neue"/>
                <a:ea typeface="Helvetica Neue"/>
                <a:cs typeface="Helvetica Neue"/>
              </a:rPr>
              <a:t>Now: the line runs through companies, not between them</a:t>
            </a:r>
          </a:p>
        </p:txBody>
      </p:sp>
      <p:sp>
        <p:nvSpPr>
          <p:cNvPr id="13" name="Now 1"/>
          <p:cNvSpPr/>
          <p:nvPr/>
        </p:nvSpPr>
        <p:spPr>
          <a:xfrm>
            <a:off x="7269480" y="3291840"/>
            <a:ext cx="3070860" cy="3657600"/>
          </a:xfrm>
          <a:prstGeom prst="roundRect">
            <a:avLst/>
          </a:prstGeom>
          <a:solidFill>
            <a:srgbClr val="FFFFFF"/>
          </a:solidFill>
          <a:ln w="2857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4" name="Now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16290" y="3543300"/>
            <a:ext cx="777240" cy="777240"/>
          </a:xfrm>
          <a:prstGeom prst="rect">
            <a:avLst/>
          </a:prstGeom>
        </p:spPr>
      </p:pic>
      <p:sp>
        <p:nvSpPr>
          <p:cNvPr id="15" name="Now 1 text"/>
          <p:cNvSpPr txBox="1"/>
          <p:nvPr/>
        </p:nvSpPr>
        <p:spPr>
          <a:xfrm>
            <a:off x="7498079" y="4480560"/>
            <a:ext cx="2613660" cy="2377440"/>
          </a:xfrm>
          <a:prstGeom prst="rect">
            <a:avLst/>
          </a:prstGeom>
          <a:noFill/>
        </p:spPr>
        <p:txBody>
          <a:bodyPr wrap="square" lIns="0" tIns="0" rIns="0" bIns="0" anchor="t">
            <a:spAutoFit/>
          </a:bodyPr>
          <a:lstStyle/>
          <a:p>
            <a:pPr algn="ctr">
              <a:spcAft>
                <a:spcPts val="600"/>
              </a:spcAft>
            </a:pPr>
            <a:r>
              <a:rPr sz="2000" b="1" i="0">
                <a:solidFill>
                  <a:srgbClr val="000000"/>
                </a:solidFill>
                <a:latin typeface="Helvetica Neue"/>
                <a:ea typeface="Helvetica Neue"/>
                <a:cs typeface="Helvetica Neue"/>
              </a:rPr>
              <a:t>Carriers bought content</a:t>
            </a:r>
          </a:p>
          <a:p>
            <a:pPr algn="ctr">
              <a:spcAft>
                <a:spcPts val="600"/>
              </a:spcAft>
            </a:pPr>
            <a:r>
              <a:rPr sz="1800" b="0" i="0">
                <a:solidFill>
                  <a:srgbClr val="404040"/>
                </a:solidFill>
                <a:latin typeface="Helvetica Neue"/>
                <a:ea typeface="Helvetica Neue"/>
                <a:cs typeface="Helvetica Neue"/>
              </a:rPr>
              <a:t>Comcast owns NBCUniversal. AT&amp;T bought Time Warner in 2018, then spun it off in 2022.</a:t>
            </a:r>
          </a:p>
        </p:txBody>
      </p:sp>
      <p:sp>
        <p:nvSpPr>
          <p:cNvPr id="16" name="Now 2"/>
          <p:cNvSpPr/>
          <p:nvPr/>
        </p:nvSpPr>
        <p:spPr>
          <a:xfrm>
            <a:off x="10614660" y="3291840"/>
            <a:ext cx="3070860" cy="3657600"/>
          </a:xfrm>
          <a:prstGeom prst="roundRect">
            <a:avLst/>
          </a:prstGeom>
          <a:solidFill>
            <a:srgbClr val="FFFFFF"/>
          </a:solidFill>
          <a:ln w="2857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7" name="Now 2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761470" y="3543300"/>
            <a:ext cx="777240" cy="777240"/>
          </a:xfrm>
          <a:prstGeom prst="rect">
            <a:avLst/>
          </a:prstGeom>
        </p:spPr>
      </p:pic>
      <p:sp>
        <p:nvSpPr>
          <p:cNvPr id="18" name="Now 2 text"/>
          <p:cNvSpPr txBox="1"/>
          <p:nvPr/>
        </p:nvSpPr>
        <p:spPr>
          <a:xfrm>
            <a:off x="10843260" y="4480560"/>
            <a:ext cx="2613660" cy="2377440"/>
          </a:xfrm>
          <a:prstGeom prst="rect">
            <a:avLst/>
          </a:prstGeom>
          <a:noFill/>
        </p:spPr>
        <p:txBody>
          <a:bodyPr wrap="square" lIns="0" tIns="0" rIns="0" bIns="0" anchor="t">
            <a:spAutoFit/>
          </a:bodyPr>
          <a:lstStyle/>
          <a:p>
            <a:pPr algn="ctr">
              <a:spcAft>
                <a:spcPts val="600"/>
              </a:spcAft>
            </a:pPr>
            <a:r>
              <a:rPr sz="2000" b="1" i="0">
                <a:solidFill>
                  <a:srgbClr val="000000"/>
                </a:solidFill>
                <a:latin typeface="Helvetica Neue"/>
                <a:ea typeface="Helvetica Neue"/>
                <a:cs typeface="Helvetica Neue"/>
              </a:rPr>
              <a:t>Content companies built networks</a:t>
            </a:r>
          </a:p>
          <a:p>
            <a:pPr algn="ctr">
              <a:spcAft>
                <a:spcPts val="600"/>
              </a:spcAft>
            </a:pPr>
            <a:r>
              <a:rPr sz="1800" b="0" i="0">
                <a:solidFill>
                  <a:srgbClr val="404040"/>
                </a:solidFill>
                <a:latin typeface="Helvetica Neue"/>
                <a:ea typeface="Helvetica Neue"/>
                <a:cs typeface="Helvetica Neue"/>
              </a:rPr>
              <a:t>Netflix puts servers inside ISPs. Google, Meta, Amazon and Microsoft own or co-own many undersea cables.</a:t>
            </a:r>
          </a:p>
        </p:txBody>
      </p:sp>
      <p:sp>
        <p:nvSpPr>
          <p:cNvPr id="19" name="Now 3"/>
          <p:cNvSpPr/>
          <p:nvPr/>
        </p:nvSpPr>
        <p:spPr>
          <a:xfrm>
            <a:off x="13959840" y="3291840"/>
            <a:ext cx="3070860" cy="3657600"/>
          </a:xfrm>
          <a:prstGeom prst="roundRect">
            <a:avLst/>
          </a:prstGeom>
          <a:solidFill>
            <a:srgbClr val="FFFFFF"/>
          </a:solidFill>
          <a:ln w="2857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0" name="Now 3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106649" y="3543300"/>
            <a:ext cx="777240" cy="777240"/>
          </a:xfrm>
          <a:prstGeom prst="rect">
            <a:avLst/>
          </a:prstGeom>
        </p:spPr>
      </p:pic>
      <p:sp>
        <p:nvSpPr>
          <p:cNvPr id="21" name="Now 3 text"/>
          <p:cNvSpPr txBox="1"/>
          <p:nvPr/>
        </p:nvSpPr>
        <p:spPr>
          <a:xfrm>
            <a:off x="14188440" y="4480560"/>
            <a:ext cx="2613660" cy="2377440"/>
          </a:xfrm>
          <a:prstGeom prst="rect">
            <a:avLst/>
          </a:prstGeom>
          <a:noFill/>
        </p:spPr>
        <p:txBody>
          <a:bodyPr wrap="square" lIns="0" tIns="0" rIns="0" bIns="0" anchor="t">
            <a:spAutoFit/>
          </a:bodyPr>
          <a:lstStyle/>
          <a:p>
            <a:pPr algn="ctr">
              <a:spcAft>
                <a:spcPts val="600"/>
              </a:spcAft>
            </a:pPr>
            <a:r>
              <a:rPr sz="2000" b="1" i="0">
                <a:solidFill>
                  <a:srgbClr val="000000"/>
                </a:solidFill>
                <a:latin typeface="Helvetica Neue"/>
                <a:ea typeface="Helvetica Neue"/>
                <a:cs typeface="Helvetica Neue"/>
              </a:rPr>
              <a:t>The cloud sits in the middle</a:t>
            </a:r>
          </a:p>
          <a:p>
            <a:pPr algn="ctr">
              <a:spcAft>
                <a:spcPts val="600"/>
              </a:spcAft>
            </a:pPr>
            <a:r>
              <a:rPr sz="1800" b="0" i="0">
                <a:solidFill>
                  <a:srgbClr val="404040"/>
                </a:solidFill>
                <a:latin typeface="Helvetica Neue"/>
                <a:ea typeface="Helvetica Neue"/>
                <a:cs typeface="Helvetica Neue"/>
              </a:rPr>
              <a:t>The same few companies host the content, deliver it, and sell the cloud banks run on.</a:t>
            </a:r>
          </a:p>
        </p:txBody>
      </p:sp>
      <p:sp>
        <p:nvSpPr>
          <p:cNvPr id="22" name="Video strip"/>
          <p:cNvSpPr/>
          <p:nvPr/>
        </p:nvSpPr>
        <p:spPr>
          <a:xfrm>
            <a:off x="1257300" y="7223760"/>
            <a:ext cx="15773400" cy="7772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3" name="Video icon"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31619" y="7360919"/>
            <a:ext cx="502920" cy="502920"/>
          </a:xfrm>
          <a:prstGeom prst="rect">
            <a:avLst/>
          </a:prstGeom>
        </p:spPr>
      </p:pic>
      <p:sp>
        <p:nvSpPr>
          <p:cNvPr id="24" name="Video text"/>
          <p:cNvSpPr txBox="1"/>
          <p:nvPr/>
        </p:nvSpPr>
        <p:spPr>
          <a:xfrm>
            <a:off x="2286000" y="7223760"/>
            <a:ext cx="14538960" cy="777240"/>
          </a:xfrm>
          <a:prstGeom prst="rect">
            <a:avLst/>
          </a:prstGeom>
          <a:noFill/>
        </p:spPr>
        <p:txBody>
          <a:bodyPr wrap="square" lIns="0" tIns="0" rIns="0" bIns="0" anchor="ctr">
            <a:spAutoFit/>
          </a:bodyPr>
          <a:lstStyle/>
          <a:p>
            <a:pPr algn="l">
              <a:spcAft>
                <a:spcPts val="600"/>
              </a:spcAft>
            </a:pPr>
            <a:r>
              <a:rPr sz="2100" b="1" i="0">
                <a:solidFill>
                  <a:srgbClr val="000000"/>
                </a:solidFill>
                <a:latin typeface="Helvetica Neue"/>
                <a:ea typeface="Helvetica Neue"/>
                <a:cs typeface="Helvetica Neue"/>
              </a:rPr>
              <a:t>Most internet traffic is now video, so content lives as close to the user as possible.</a:t>
            </a:r>
          </a:p>
        </p:txBody>
      </p:sp>
      <p:sp>
        <p:nvSpPr>
          <p:cNvPr id="25" name="Bank banner"/>
          <p:cNvSpPr/>
          <p:nvPr/>
        </p:nvSpPr>
        <p:spPr>
          <a:xfrm>
            <a:off x="1257300" y="8183879"/>
            <a:ext cx="15773400" cy="12344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6" name="Bank banner text"/>
          <p:cNvSpPr txBox="1"/>
          <p:nvPr/>
        </p:nvSpPr>
        <p:spPr>
          <a:xfrm>
            <a:off x="1554480" y="8211312"/>
            <a:ext cx="15179040" cy="1188720"/>
          </a:xfrm>
          <a:prstGeom prst="rect">
            <a:avLst/>
          </a:prstGeom>
          <a:noFill/>
        </p:spPr>
        <p:txBody>
          <a:bodyPr wrap="square" lIns="0" tIns="0" rIns="0" bIns="0" anchor="ctr">
            <a:spAutoFit/>
          </a:bodyPr>
          <a:lstStyle/>
          <a:p>
            <a:pPr algn="ctr">
              <a:spcAft>
                <a:spcPts val="200"/>
              </a:spcAft>
            </a:pPr>
            <a:r>
              <a:rPr sz="2600" b="1" i="0">
                <a:solidFill>
                  <a:srgbClr val="FFFFFF"/>
                </a:solidFill>
                <a:latin typeface="Helvetica Neue"/>
                <a:ea typeface="Helvetica Neue"/>
                <a:cs typeface="Helvetica Neue"/>
              </a:rPr>
              <a:t>The bank is a content provider too.</a:t>
            </a:r>
          </a:p>
          <a:p>
            <a:pPr algn="ctr">
              <a:spcAft>
                <a:spcPts val="200"/>
              </a:spcAft>
            </a:pPr>
            <a:r>
              <a:rPr sz="1700" b="0" i="0">
                <a:solidFill>
                  <a:srgbClr val="FFFFFF"/>
                </a:solidFill>
                <a:latin typeface="Helvetica Neue"/>
                <a:ea typeface="Helvetica Neue"/>
                <a:cs typeface="Helvetica Neue"/>
              </a:rPr>
              <a:t>Its website and app are usually delivered through a CDN such as Akamai or Cloudflare, often its DDoS protection as well.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Chapter 3: A Short History of Financial Networking</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From Ticker Tape to Terabits</a:t>
            </a:r>
          </a:p>
        </p:txBody>
      </p:sp>
      <p:sp>
        <p:nvSpPr>
          <p:cNvPr id="3" name="Content Placeholder 2">
            <a:extLst>
              <a:ext uri="{FF2B5EF4-FFF2-40B4-BE49-F238E27FC236}">
                <a16:creationId xmlns:a16="http://schemas.microsoft.com/office/drawing/2014/main" id="{E64D2572-AB09-DB01-FC8E-152F8FEC8ABA}"/>
              </a:ext>
            </a:extLst>
          </p:cNvPr>
          <p:cNvSpPr>
            <a:spLocks noGrp="1"/>
          </p:cNvSpPr>
          <p:nvPr>
            <p:ph idx="1"/>
          </p:nvPr>
        </p:nvSpPr>
        <p:spPr>
          <a:xfrm>
            <a:off x="1257300" y="2193131"/>
            <a:ext cx="13895614" cy="6640626"/>
          </a:xfrm>
        </p:spPr>
        <p:txBody>
          <a:bodyPr>
            <a:normAutofit fontScale="92500" lnSpcReduction="10000"/>
          </a:bodyPr>
          <a:lstStyle/>
          <a:p>
            <a:r>
              <a:rPr lang="en-US" dirty="0"/>
              <a:t>The stock ticker (Calahan in 1867, then </a:t>
            </a:r>
            <a:br>
              <a:rPr lang="en-US" dirty="0"/>
            </a:br>
            <a:r>
              <a:rPr lang="en-US" dirty="0"/>
              <a:t>Edison’s improvements) sent prices over </a:t>
            </a:r>
            <a:br>
              <a:rPr lang="en-US" dirty="0"/>
            </a:br>
            <a:r>
              <a:rPr lang="en-US" dirty="0"/>
              <a:t>telegraph wires.</a:t>
            </a:r>
          </a:p>
          <a:p>
            <a:pPr lvl="1"/>
            <a:r>
              <a:rPr lang="en-US" dirty="0"/>
              <a:t>Market data was networked a century </a:t>
            </a:r>
            <a:br>
              <a:rPr lang="en-US" dirty="0"/>
            </a:br>
            <a:r>
              <a:rPr lang="en-US" dirty="0"/>
              <a:t>before computers.</a:t>
            </a:r>
          </a:p>
          <a:p>
            <a:r>
              <a:rPr lang="en-US" dirty="0"/>
              <a:t>Fedwire started in 1918 as a telegraph </a:t>
            </a:r>
            <a:br>
              <a:rPr lang="en-US" dirty="0"/>
            </a:br>
            <a:r>
              <a:rPr lang="en-US" dirty="0"/>
              <a:t>network linking the twelve Reserve Banks. </a:t>
            </a:r>
          </a:p>
          <a:p>
            <a:pPr lvl="1"/>
            <a:r>
              <a:rPr lang="en-US" dirty="0"/>
              <a:t>The Fed’s payment network is older than most </a:t>
            </a:r>
            <a:br>
              <a:rPr lang="en-US" dirty="0"/>
            </a:br>
            <a:r>
              <a:rPr lang="en-US" dirty="0"/>
              <a:t>banks we examine.</a:t>
            </a:r>
          </a:p>
          <a:p>
            <a:r>
              <a:rPr lang="en-US" dirty="0"/>
              <a:t>Banks sent money by telex authenticated </a:t>
            </a:r>
            <a:br>
              <a:rPr lang="en-US" dirty="0"/>
            </a:br>
            <a:r>
              <a:rPr lang="en-US" dirty="0"/>
              <a:t>messages with “test keys” (codes agreed </a:t>
            </a:r>
            <a:br>
              <a:rPr lang="en-US" dirty="0"/>
            </a:br>
            <a:r>
              <a:rPr lang="en-US" dirty="0"/>
              <a:t>in advance.) </a:t>
            </a:r>
          </a:p>
          <a:p>
            <a:pPr lvl="1"/>
            <a:r>
              <a:rPr lang="en-US" dirty="0"/>
              <a:t>Message authentication was a banking problem long before TLS.</a:t>
            </a:r>
          </a:p>
          <a:p>
            <a:endParaRPr lang="en-US" dirty="0"/>
          </a:p>
        </p:txBody>
      </p:sp>
      <p:pic>
        <p:nvPicPr>
          <p:cNvPr id="5" name="Picture 4" descr="A glass dome with a piece of metal and gold&#10;&#10;AI-generated content may be incorrect.">
            <a:extLst>
              <a:ext uri="{FF2B5EF4-FFF2-40B4-BE49-F238E27FC236}">
                <a16:creationId xmlns:a16="http://schemas.microsoft.com/office/drawing/2014/main" id="{8A946DE2-EBFB-2C43-64B2-9EEEB6716A8F}"/>
              </a:ext>
            </a:extLst>
          </p:cNvPr>
          <p:cNvPicPr>
            <a:picLocks noChangeAspect="1"/>
          </p:cNvPicPr>
          <p:nvPr/>
        </p:nvPicPr>
        <p:blipFill>
          <a:blip r:embed="rId2"/>
          <a:stretch>
            <a:fillRect/>
          </a:stretch>
        </p:blipFill>
        <p:spPr>
          <a:xfrm>
            <a:off x="12553123" y="1453243"/>
            <a:ext cx="4742381" cy="597625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Early </a:t>
            </a:r>
            <a:r>
              <a:rPr dirty="0"/>
              <a:t>Banking</a:t>
            </a:r>
            <a:r>
              <a:rPr lang="en-US" dirty="0"/>
              <a:t> Telecom</a:t>
            </a:r>
            <a:endParaRPr dirty="0"/>
          </a:p>
        </p:txBody>
      </p:sp>
      <p:sp>
        <p:nvSpPr>
          <p:cNvPr id="3" name="Content Placeholder 2">
            <a:extLst>
              <a:ext uri="{FF2B5EF4-FFF2-40B4-BE49-F238E27FC236}">
                <a16:creationId xmlns:a16="http://schemas.microsoft.com/office/drawing/2014/main" id="{CE680DCF-0C77-A6DE-BF70-2FC6B082690B}"/>
              </a:ext>
            </a:extLst>
          </p:cNvPr>
          <p:cNvSpPr>
            <a:spLocks noGrp="1"/>
          </p:cNvSpPr>
          <p:nvPr>
            <p:ph idx="1"/>
          </p:nvPr>
        </p:nvSpPr>
        <p:spPr>
          <a:xfrm>
            <a:off x="1257301" y="2193131"/>
            <a:ext cx="9564340" cy="6967198"/>
          </a:xfrm>
        </p:spPr>
        <p:txBody>
          <a:bodyPr>
            <a:normAutofit lnSpcReduction="10000"/>
          </a:bodyPr>
          <a:lstStyle/>
          <a:p>
            <a:r>
              <a:rPr lang="en-US" dirty="0"/>
              <a:t>Bank of America’s ERMA system (Electronic Recording Machine, Accounting) automated check processing. It gave us MICR, the magnetic-ink numbers still printed along the bottom of every check. </a:t>
            </a:r>
          </a:p>
          <a:p>
            <a:r>
              <a:rPr lang="en-US" dirty="0"/>
              <a:t>Acoustic couplers were 300bps (!) modems to press a telephone handset into, They existed because you couldn’t connect your own equipment to the phone network until the </a:t>
            </a:r>
            <a:r>
              <a:rPr lang="en-US" dirty="0" err="1"/>
              <a:t>Carterfone</a:t>
            </a:r>
            <a:r>
              <a:rPr lang="en-US" dirty="0"/>
              <a:t> decision in 1968.</a:t>
            </a:r>
          </a:p>
          <a:p>
            <a:endParaRPr lang="en-US" dirty="0"/>
          </a:p>
        </p:txBody>
      </p:sp>
      <p:pic>
        <p:nvPicPr>
          <p:cNvPr id="5" name="Picture 4" descr="A telephone and a corded telephone&#10;&#10;AI-generated content may be incorrect.">
            <a:extLst>
              <a:ext uri="{FF2B5EF4-FFF2-40B4-BE49-F238E27FC236}">
                <a16:creationId xmlns:a16="http://schemas.microsoft.com/office/drawing/2014/main" id="{D0DE9E54-23D6-1733-D952-0A7F08A26E22}"/>
              </a:ext>
            </a:extLst>
          </p:cNvPr>
          <p:cNvPicPr>
            <a:picLocks noChangeAspect="1"/>
          </p:cNvPicPr>
          <p:nvPr/>
        </p:nvPicPr>
        <p:blipFill>
          <a:blip r:embed="rId2"/>
          <a:stretch>
            <a:fillRect/>
          </a:stretch>
        </p:blipFill>
        <p:spPr>
          <a:xfrm>
            <a:off x="11564925" y="5026971"/>
            <a:ext cx="5598886" cy="4418030"/>
          </a:xfrm>
          <a:prstGeom prst="rect">
            <a:avLst/>
          </a:prstGeom>
        </p:spPr>
      </p:pic>
      <p:pic>
        <p:nvPicPr>
          <p:cNvPr id="7" name="Picture 6" descr="A piece of paper with numbers and dots&#10;&#10;AI-generated content may be incorrect.">
            <a:extLst>
              <a:ext uri="{FF2B5EF4-FFF2-40B4-BE49-F238E27FC236}">
                <a16:creationId xmlns:a16="http://schemas.microsoft.com/office/drawing/2014/main" id="{262F3457-3473-C5DA-F38D-D822950CA471}"/>
              </a:ext>
            </a:extLst>
          </p:cNvPr>
          <p:cNvPicPr>
            <a:picLocks noChangeAspect="1"/>
          </p:cNvPicPr>
          <p:nvPr/>
        </p:nvPicPr>
        <p:blipFill>
          <a:blip r:embed="rId3"/>
          <a:stretch>
            <a:fillRect/>
          </a:stretch>
        </p:blipFill>
        <p:spPr>
          <a:xfrm>
            <a:off x="11081991" y="1198958"/>
            <a:ext cx="6019132" cy="268874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439" y="204786"/>
            <a:ext cx="16691190" cy="1988345"/>
          </a:xfrm>
        </p:spPr>
        <p:txBody>
          <a:bodyPr/>
          <a:lstStyle/>
          <a:p>
            <a:r>
              <a:rPr dirty="0"/>
              <a:t>People Give Way to</a:t>
            </a:r>
            <a:r>
              <a:rPr lang="en-US" dirty="0"/>
              <a:t> Machines in Both Industries</a:t>
            </a:r>
            <a:endParaRPr dirty="0"/>
          </a:p>
        </p:txBody>
      </p:sp>
      <p:sp>
        <p:nvSpPr>
          <p:cNvPr id="3" name="Content Placeholder 2">
            <a:extLst>
              <a:ext uri="{FF2B5EF4-FFF2-40B4-BE49-F238E27FC236}">
                <a16:creationId xmlns:a16="http://schemas.microsoft.com/office/drawing/2014/main" id="{EE9D6A88-85A2-F0DA-F466-989DD44E3966}"/>
              </a:ext>
            </a:extLst>
          </p:cNvPr>
          <p:cNvSpPr>
            <a:spLocks noGrp="1"/>
          </p:cNvSpPr>
          <p:nvPr>
            <p:ph idx="1"/>
          </p:nvPr>
        </p:nvSpPr>
        <p:spPr>
          <a:xfrm>
            <a:off x="1257299" y="2193131"/>
            <a:ext cx="16328571" cy="6967198"/>
          </a:xfrm>
        </p:spPr>
        <p:txBody>
          <a:bodyPr>
            <a:normAutofit lnSpcReduction="10000"/>
          </a:bodyPr>
          <a:lstStyle/>
          <a:p>
            <a:r>
              <a:rPr lang="en-US" b="1" dirty="0"/>
              <a:t>Banking:</a:t>
            </a:r>
            <a:r>
              <a:rPr lang="en-US" dirty="0"/>
              <a:t> Tellers gave way to ATMs, first at Barclays in 1967 and in the US in 1969, then to mobile deposit.</a:t>
            </a:r>
          </a:p>
          <a:p>
            <a:r>
              <a:rPr lang="en-US" b="1" dirty="0"/>
              <a:t>Networking:</a:t>
            </a:r>
            <a:r>
              <a:rPr lang="en-US" dirty="0"/>
              <a:t> Human operators gave way to automatic switches.</a:t>
            </a:r>
          </a:p>
          <a:p>
            <a:r>
              <a:rPr lang="en-US" b="1" dirty="0"/>
              <a:t>Checks: </a:t>
            </a:r>
            <a:r>
              <a:rPr lang="en-US" dirty="0"/>
              <a:t>When 9/11 grounded flights, planes carrying checks between clearing centers stopped. That pushed Congress to pass Check 21 in 2003, letting banks clear check images over the network. </a:t>
            </a:r>
          </a:p>
          <a:p>
            <a:r>
              <a:rPr lang="en-US" b="1" dirty="0"/>
              <a:t>Risk changed:</a:t>
            </a:r>
            <a:r>
              <a:rPr lang="en-US" dirty="0"/>
              <a:t> When people did the job, the controls were human controls (e.g. dual signatures and a teller who knew the customer.) When a machine or network does it, the controls must be technical. </a:t>
            </a:r>
          </a:p>
          <a:p>
            <a:pPr lvl="1"/>
            <a:r>
              <a:rPr lang="en-US" dirty="0"/>
              <a:t>This is why we’re here this week!</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Chapter 4: </a:t>
            </a:r>
            <a:br>
              <a:rPr lang="en-US" dirty="0"/>
            </a:br>
            <a:r>
              <a:rPr dirty="0"/>
              <a:t>Designing</a:t>
            </a:r>
            <a:r>
              <a:rPr lang="en-US" dirty="0"/>
              <a:t> </a:t>
            </a:r>
            <a:r>
              <a:rPr dirty="0"/>
              <a:t>Bank Network</a:t>
            </a:r>
            <a:r>
              <a:rPr lang="en-US" dirty="0"/>
              <a:t>s</a:t>
            </a:r>
            <a:endParaRPr dirty="0"/>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EBBDF-C63A-14F8-CEDB-275A625C3342}"/>
              </a:ext>
            </a:extLst>
          </p:cNvPr>
          <p:cNvSpPr>
            <a:spLocks noGrp="1"/>
          </p:cNvSpPr>
          <p:nvPr>
            <p:ph type="title"/>
          </p:nvPr>
        </p:nvSpPr>
        <p:spPr/>
        <p:txBody>
          <a:bodyPr/>
          <a:lstStyle/>
          <a:p>
            <a:r>
              <a:rPr lang="en-US" dirty="0"/>
              <a:t>Branch Office Network</a:t>
            </a:r>
          </a:p>
        </p:txBody>
      </p:sp>
      <p:sp>
        <p:nvSpPr>
          <p:cNvPr id="3" name="Content Placeholder 2">
            <a:extLst>
              <a:ext uri="{FF2B5EF4-FFF2-40B4-BE49-F238E27FC236}">
                <a16:creationId xmlns:a16="http://schemas.microsoft.com/office/drawing/2014/main" id="{5B8D0342-29AE-C70D-8924-ED463FDF9CF2}"/>
              </a:ext>
            </a:extLst>
          </p:cNvPr>
          <p:cNvSpPr>
            <a:spLocks noGrp="1"/>
          </p:cNvSpPr>
          <p:nvPr>
            <p:ph idx="1"/>
          </p:nvPr>
        </p:nvSpPr>
        <p:spPr/>
        <p:txBody>
          <a:bodyPr/>
          <a:lstStyle/>
          <a:p>
            <a:r>
              <a:rPr lang="en-US" dirty="0"/>
              <a:t>What devices are in the branch, and what does each do?</a:t>
            </a:r>
          </a:p>
          <a:p>
            <a:r>
              <a:rPr lang="en-US" dirty="0"/>
              <a:t>Do we need LANs, WANs, or what?</a:t>
            </a:r>
          </a:p>
          <a:p>
            <a:r>
              <a:rPr lang="en-US" dirty="0"/>
              <a:t>How does this differ for different bank offices?</a:t>
            </a:r>
          </a:p>
          <a:p>
            <a:r>
              <a:rPr lang="en-US" dirty="0"/>
              <a:t>How are they connected to each other and the outside?</a:t>
            </a:r>
          </a:p>
          <a:p>
            <a:r>
              <a:rPr lang="en-US" dirty="0"/>
              <a:t>How does this differ from another SMB or other business?</a:t>
            </a:r>
          </a:p>
          <a:p>
            <a:r>
              <a:rPr lang="en-US" dirty="0"/>
              <a:t>Who builds, run, maintains, and secures all this?</a:t>
            </a:r>
          </a:p>
          <a:p>
            <a:endParaRPr lang="en-US" dirty="0"/>
          </a:p>
        </p:txBody>
      </p:sp>
    </p:spTree>
    <p:extLst>
      <p:ext uri="{BB962C8B-B14F-4D97-AF65-F5344CB8AC3E}">
        <p14:creationId xmlns:p14="http://schemas.microsoft.com/office/powerpoint/2010/main" val="15473755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dirty="0">
                <a:latin typeface="Helvetica Neue Condensed" panose="02000503000000020004" pitchFamily="2" charset="0"/>
                <a:ea typeface="Helvetica Neue Condensed" panose="02000503000000020004" pitchFamily="2" charset="0"/>
                <a:cs typeface="Helvetica Neue Condensed" panose="02000503000000020004" pitchFamily="2" charset="0"/>
              </a:rPr>
              <a:t>A Simple Branch LAN</a:t>
            </a:r>
          </a:p>
        </p:txBody>
      </p:sp>
      <p:pic>
        <p:nvPicPr>
          <p:cNvPr id="101" name="Internet" descr="Internet cloud"/>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60320" y="1528830"/>
            <a:ext cx="2194560" cy="2194560"/>
          </a:xfrm>
          <a:prstGeom prst="rect">
            <a:avLst/>
          </a:prstGeom>
        </p:spPr>
      </p:pic>
      <p:sp>
        <p:nvSpPr>
          <p:cNvPr id="102" name="Internet label"/>
          <p:cNvSpPr txBox="1"/>
          <p:nvPr/>
        </p:nvSpPr>
        <p:spPr>
          <a:xfrm>
            <a:off x="2743200" y="2626110"/>
            <a:ext cx="1828800" cy="457200"/>
          </a:xfrm>
          <a:prstGeom prst="rect">
            <a:avLst/>
          </a:prstGeom>
          <a:noFill/>
        </p:spPr>
        <p:txBody>
          <a:bodyPr wrap="square" lIns="0" tIns="0" rIns="0" bIns="0" anchor="ctr">
            <a:noAutofit/>
          </a:bodyPr>
          <a:lstStyle/>
          <a:p>
            <a:pPr algn="ctr"/>
            <a:r>
              <a:rPr lang="en-US" sz="2200" b="1" dirty="0">
                <a:latin typeface="Helvetica Neue"/>
                <a:ea typeface="Helvetica Neue"/>
                <a:cs typeface="Helvetica Neue"/>
              </a:rPr>
              <a:t>Internet</a:t>
            </a:r>
          </a:p>
        </p:txBody>
      </p:sp>
      <p:pic>
        <p:nvPicPr>
          <p:cNvPr id="103" name="LTE backup" descr="Cell towe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1520" y="3429000"/>
            <a:ext cx="914400" cy="914400"/>
          </a:xfrm>
          <a:prstGeom prst="rect">
            <a:avLst/>
          </a:prstGeom>
        </p:spPr>
      </p:pic>
      <p:sp>
        <p:nvSpPr>
          <p:cNvPr id="104" name="LTE label"/>
          <p:cNvSpPr txBox="1"/>
          <p:nvPr/>
        </p:nvSpPr>
        <p:spPr>
          <a:xfrm>
            <a:off x="182880" y="4434840"/>
            <a:ext cx="2011680" cy="36576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LTE backup</a:t>
            </a:r>
          </a:p>
        </p:txBody>
      </p:sp>
      <p:pic>
        <p:nvPicPr>
          <p:cNvPr id="105" name="Core processor" descr="Core processor data cente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499080" y="1600200"/>
            <a:ext cx="1188720" cy="1188720"/>
          </a:xfrm>
          <a:prstGeom prst="rect">
            <a:avLst/>
          </a:prstGeom>
        </p:spPr>
      </p:pic>
      <p:sp>
        <p:nvSpPr>
          <p:cNvPr id="106" name="Core label"/>
          <p:cNvSpPr txBox="1"/>
          <p:nvPr/>
        </p:nvSpPr>
        <p:spPr>
          <a:xfrm>
            <a:off x="14904720" y="2834640"/>
            <a:ext cx="2377440" cy="36576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Core processor</a:t>
            </a:r>
          </a:p>
        </p:txBody>
      </p:sp>
      <p:sp>
        <p:nvSpPr>
          <p:cNvPr id="107" name="Router-firewall"/>
          <p:cNvSpPr/>
          <p:nvPr/>
        </p:nvSpPr>
        <p:spPr>
          <a:xfrm>
            <a:off x="4846320" y="3429000"/>
            <a:ext cx="3840480" cy="914400"/>
          </a:xfrm>
          <a:prstGeom prst="roundRect">
            <a:avLst>
              <a:gd name="adj" fmla="val 18000"/>
            </a:avLst>
          </a:prstGeom>
          <a:solidFill>
            <a:schemeClr val="bg1"/>
          </a:solidFill>
          <a:ln w="44450">
            <a:solidFill>
              <a:schemeClr val="tx1"/>
            </a:solidFill>
          </a:ln>
        </p:spPr>
        <p:txBody>
          <a:bodyPr wrap="square" lIns="45720" tIns="0" rIns="45720" bIns="0" anchor="ctr">
            <a:noAutofit/>
          </a:bodyPr>
          <a:lstStyle/>
          <a:p>
            <a:pPr algn="ctr"/>
            <a:r>
              <a:rPr lang="en-US" sz="1800" b="1" dirty="0">
                <a:solidFill>
                  <a:srgbClr val="000000"/>
                </a:solidFill>
                <a:latin typeface="Helvetica Neue"/>
                <a:ea typeface="Helvetica Neue"/>
                <a:cs typeface="Helvetica Neue"/>
              </a:rPr>
              <a:t>Router / firewall</a:t>
            </a:r>
          </a:p>
          <a:p>
            <a:pPr algn="ctr"/>
            <a:r>
              <a:rPr lang="en-US" sz="1400" b="0" dirty="0">
                <a:solidFill>
                  <a:srgbClr val="000000"/>
                </a:solidFill>
                <a:latin typeface="Helvetica Neue"/>
                <a:ea typeface="Helvetica Neue"/>
                <a:cs typeface="Helvetica Neue"/>
              </a:rPr>
              <a:t>or SD-WAN appliance</a:t>
            </a:r>
          </a:p>
        </p:txBody>
      </p:sp>
      <p:sp>
        <p:nvSpPr>
          <p:cNvPr id="108" name="Core VPN device"/>
          <p:cNvSpPr/>
          <p:nvPr/>
        </p:nvSpPr>
        <p:spPr>
          <a:xfrm>
            <a:off x="10881360" y="3429000"/>
            <a:ext cx="3108960" cy="914400"/>
          </a:xfrm>
          <a:prstGeom prst="roundRect">
            <a:avLst>
              <a:gd name="adj" fmla="val 18000"/>
            </a:avLst>
          </a:prstGeom>
          <a:solidFill>
            <a:schemeClr val="bg1"/>
          </a:solidFill>
          <a:ln w="44450">
            <a:solidFill>
              <a:schemeClr val="tx1"/>
            </a:solidFill>
          </a:ln>
        </p:spPr>
        <p:txBody>
          <a:bodyPr wrap="square" lIns="45720" tIns="0" rIns="45720" bIns="0" anchor="ctr">
            <a:noAutofit/>
          </a:bodyPr>
          <a:lstStyle/>
          <a:p>
            <a:pPr algn="ctr"/>
            <a:r>
              <a:rPr lang="en-US" sz="1800" b="1" dirty="0">
                <a:solidFill>
                  <a:srgbClr val="000000"/>
                </a:solidFill>
                <a:latin typeface="Helvetica Neue"/>
                <a:ea typeface="Helvetica Neue"/>
                <a:cs typeface="Helvetica Neue"/>
              </a:rPr>
              <a:t>Core VPN device</a:t>
            </a:r>
          </a:p>
          <a:p>
            <a:pPr algn="ctr"/>
            <a:r>
              <a:rPr lang="en-US" sz="1400" b="0" dirty="0">
                <a:solidFill>
                  <a:srgbClr val="000000"/>
                </a:solidFill>
                <a:latin typeface="Helvetica Neue"/>
                <a:ea typeface="Helvetica Neue"/>
                <a:cs typeface="Helvetica Neue"/>
              </a:rPr>
              <a:t>from the core processor</a:t>
            </a:r>
          </a:p>
        </p:txBody>
      </p:sp>
      <p:sp>
        <p:nvSpPr>
          <p:cNvPr id="109" name="Ethernet switch"/>
          <p:cNvSpPr/>
          <p:nvPr/>
        </p:nvSpPr>
        <p:spPr>
          <a:xfrm>
            <a:off x="1097280" y="5372100"/>
            <a:ext cx="16093440" cy="685800"/>
          </a:xfrm>
          <a:prstGeom prst="roundRect">
            <a:avLst>
              <a:gd name="adj" fmla="val 18000"/>
            </a:avLst>
          </a:prstGeom>
          <a:solidFill>
            <a:schemeClr val="bg1"/>
          </a:solidFill>
          <a:ln w="44450">
            <a:solidFill>
              <a:schemeClr val="tx1"/>
            </a:solidFill>
          </a:ln>
        </p:spPr>
        <p:txBody>
          <a:bodyPr wrap="square" lIns="45720" tIns="0" rIns="45720" bIns="0" anchor="ctr">
            <a:noAutofit/>
          </a:bodyPr>
          <a:lstStyle/>
          <a:p>
            <a:pPr algn="ctr"/>
            <a:r>
              <a:rPr lang="en-US" sz="1800" b="1" dirty="0">
                <a:solidFill>
                  <a:srgbClr val="000000"/>
                </a:solidFill>
                <a:latin typeface="Helvetica Neue"/>
                <a:ea typeface="Helvetica Neue"/>
                <a:cs typeface="Helvetica Neue"/>
              </a:rPr>
              <a:t>Ethernet switch</a:t>
            </a:r>
          </a:p>
          <a:p>
            <a:pPr algn="ctr"/>
            <a:r>
              <a:rPr lang="en-US" sz="1400" b="0" dirty="0">
                <a:solidFill>
                  <a:srgbClr val="000000"/>
                </a:solidFill>
                <a:latin typeface="Helvetica Neue"/>
                <a:ea typeface="Helvetica Neue"/>
                <a:cs typeface="Helvetica Neue"/>
              </a:rPr>
              <a:t>VLANs keep teller, ATM, voice, camera and guest traffic apart</a:t>
            </a:r>
          </a:p>
        </p:txBody>
      </p:sp>
      <p:cxnSp>
        <p:nvCxnSpPr>
          <p:cNvPr id="110" name="Internet to firewall"/>
          <p:cNvCxnSpPr/>
          <p:nvPr/>
        </p:nvCxnSpPr>
        <p:spPr>
          <a:xfrm>
            <a:off x="4389120" y="3108960"/>
            <a:ext cx="1645920" cy="320040"/>
          </a:xfrm>
          <a:prstGeom prst="line">
            <a:avLst/>
          </a:prstGeom>
          <a:ln w="44450" cap="rnd">
            <a:solidFill>
              <a:schemeClr val="tx1"/>
            </a:solidFill>
          </a:ln>
        </p:spPr>
      </p:cxnSp>
      <p:cxnSp>
        <p:nvCxnSpPr>
          <p:cNvPr id="111" name="LTE to firewall"/>
          <p:cNvCxnSpPr/>
          <p:nvPr/>
        </p:nvCxnSpPr>
        <p:spPr>
          <a:xfrm>
            <a:off x="1691640" y="3886200"/>
            <a:ext cx="3154680" cy="0"/>
          </a:xfrm>
          <a:prstGeom prst="line">
            <a:avLst/>
          </a:prstGeom>
          <a:ln w="44450" cap="rnd">
            <a:solidFill>
              <a:schemeClr val="tx1"/>
            </a:solidFill>
            <a:prstDash val="dash"/>
          </a:ln>
        </p:spPr>
      </p:cxnSp>
      <p:cxnSp>
        <p:nvCxnSpPr>
          <p:cNvPr id="112" name="Firewall to VPN"/>
          <p:cNvCxnSpPr/>
          <p:nvPr/>
        </p:nvCxnSpPr>
        <p:spPr>
          <a:xfrm>
            <a:off x="8686800" y="3886200"/>
            <a:ext cx="2194560" cy="0"/>
          </a:xfrm>
          <a:prstGeom prst="line">
            <a:avLst/>
          </a:prstGeom>
          <a:ln w="44450" cap="rnd">
            <a:solidFill>
              <a:schemeClr val="tx1"/>
            </a:solidFill>
          </a:ln>
        </p:spPr>
      </p:cxnSp>
      <p:cxnSp>
        <p:nvCxnSpPr>
          <p:cNvPr id="113" name="Firewall to switch"/>
          <p:cNvCxnSpPr/>
          <p:nvPr/>
        </p:nvCxnSpPr>
        <p:spPr>
          <a:xfrm>
            <a:off x="6766560" y="4343400"/>
            <a:ext cx="0" cy="1028700"/>
          </a:xfrm>
          <a:prstGeom prst="line">
            <a:avLst/>
          </a:prstGeom>
          <a:ln w="44450" cap="rnd">
            <a:solidFill>
              <a:schemeClr val="tx1"/>
            </a:solidFill>
          </a:ln>
        </p:spPr>
      </p:cxnSp>
      <p:cxnSp>
        <p:nvCxnSpPr>
          <p:cNvPr id="114" name="Tunnel to core"/>
          <p:cNvCxnSpPr/>
          <p:nvPr/>
        </p:nvCxnSpPr>
        <p:spPr>
          <a:xfrm flipV="1">
            <a:off x="12984480" y="2697480"/>
            <a:ext cx="2560320" cy="731520"/>
          </a:xfrm>
          <a:prstGeom prst="line">
            <a:avLst/>
          </a:prstGeom>
          <a:ln w="38100" cap="rnd">
            <a:solidFill>
              <a:schemeClr val="tx1"/>
            </a:solidFill>
            <a:prstDash val="lgDash"/>
          </a:ln>
        </p:spPr>
      </p:cxnSp>
      <p:sp>
        <p:nvSpPr>
          <p:cNvPr id="115" name="Tunnel label"/>
          <p:cNvSpPr txBox="1"/>
          <p:nvPr/>
        </p:nvSpPr>
        <p:spPr>
          <a:xfrm>
            <a:off x="12984480" y="2423160"/>
            <a:ext cx="2651760" cy="457200"/>
          </a:xfrm>
          <a:prstGeom prst="rect">
            <a:avLst/>
          </a:prstGeom>
          <a:noFill/>
        </p:spPr>
        <p:txBody>
          <a:bodyPr wrap="square" lIns="0" tIns="0" rIns="0" bIns="0" anchor="t">
            <a:noAutofit/>
          </a:bodyPr>
          <a:lstStyle/>
          <a:p>
            <a:pPr algn="r"/>
            <a:r>
              <a:rPr lang="en-US" sz="1400" b="0" dirty="0">
                <a:latin typeface="Helvetica Neue"/>
                <a:ea typeface="Helvetica Neue"/>
                <a:cs typeface="Helvetica Neue"/>
              </a:rPr>
              <a:t>Encrypted tunnel to the core</a:t>
            </a:r>
          </a:p>
        </p:txBody>
      </p:sp>
      <p:cxnSp>
        <p:nvCxnSpPr>
          <p:cNvPr id="116" name="Ethernet to Teller 1"/>
          <p:cNvCxnSpPr/>
          <p:nvPr/>
        </p:nvCxnSpPr>
        <p:spPr>
          <a:xfrm>
            <a:off x="1097280" y="6057900"/>
            <a:ext cx="0" cy="731520"/>
          </a:xfrm>
          <a:prstGeom prst="line">
            <a:avLst/>
          </a:prstGeom>
          <a:ln w="44450" cap="rnd">
            <a:solidFill>
              <a:schemeClr val="tx1"/>
            </a:solidFill>
          </a:ln>
        </p:spPr>
      </p:cxnSp>
      <p:pic>
        <p:nvPicPr>
          <p:cNvPr id="117" name="Teller 1" descr="Teller 1"/>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7220" y="6835140"/>
            <a:ext cx="960120" cy="960120"/>
          </a:xfrm>
          <a:prstGeom prst="rect">
            <a:avLst/>
          </a:prstGeom>
        </p:spPr>
      </p:pic>
      <p:cxnSp>
        <p:nvCxnSpPr>
          <p:cNvPr id="118" name="Ethernet to Teller 2"/>
          <p:cNvCxnSpPr/>
          <p:nvPr/>
        </p:nvCxnSpPr>
        <p:spPr>
          <a:xfrm>
            <a:off x="2286000" y="6057900"/>
            <a:ext cx="0" cy="731520"/>
          </a:xfrm>
          <a:prstGeom prst="line">
            <a:avLst/>
          </a:prstGeom>
          <a:ln w="44450" cap="rnd">
            <a:solidFill>
              <a:schemeClr val="tx1"/>
            </a:solidFill>
          </a:ln>
        </p:spPr>
      </p:cxnSp>
      <p:pic>
        <p:nvPicPr>
          <p:cNvPr id="119" name="Teller 2" descr="Teller 2"/>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05940" y="6835140"/>
            <a:ext cx="960120" cy="960120"/>
          </a:xfrm>
          <a:prstGeom prst="rect">
            <a:avLst/>
          </a:prstGeom>
        </p:spPr>
      </p:pic>
      <p:cxnSp>
        <p:nvCxnSpPr>
          <p:cNvPr id="120" name="Ethernet to Printers"/>
          <p:cNvCxnSpPr/>
          <p:nvPr/>
        </p:nvCxnSpPr>
        <p:spPr>
          <a:xfrm>
            <a:off x="3840480" y="6057900"/>
            <a:ext cx="0" cy="731520"/>
          </a:xfrm>
          <a:prstGeom prst="line">
            <a:avLst/>
          </a:prstGeom>
          <a:ln w="44450" cap="rnd">
            <a:solidFill>
              <a:schemeClr val="tx1"/>
            </a:solidFill>
          </a:ln>
        </p:spPr>
      </p:cxnSp>
      <p:pic>
        <p:nvPicPr>
          <p:cNvPr id="121" name="Printers" descr="Printers"/>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360420" y="6835140"/>
            <a:ext cx="960120" cy="960120"/>
          </a:xfrm>
          <a:prstGeom prst="rect">
            <a:avLst/>
          </a:prstGeom>
        </p:spPr>
      </p:pic>
      <p:sp>
        <p:nvSpPr>
          <p:cNvPr id="122" name="Printers label"/>
          <p:cNvSpPr txBox="1"/>
          <p:nvPr/>
        </p:nvSpPr>
        <p:spPr>
          <a:xfrm>
            <a:off x="2926080" y="7868412"/>
            <a:ext cx="182880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Printers</a:t>
            </a:r>
          </a:p>
        </p:txBody>
      </p:sp>
      <p:cxnSp>
        <p:nvCxnSpPr>
          <p:cNvPr id="123" name="Ethernet to IP phones"/>
          <p:cNvCxnSpPr/>
          <p:nvPr/>
        </p:nvCxnSpPr>
        <p:spPr>
          <a:xfrm>
            <a:off x="5303520" y="6057900"/>
            <a:ext cx="0" cy="731520"/>
          </a:xfrm>
          <a:prstGeom prst="line">
            <a:avLst/>
          </a:prstGeom>
          <a:ln w="44450" cap="rnd">
            <a:solidFill>
              <a:schemeClr val="tx1"/>
            </a:solidFill>
          </a:ln>
        </p:spPr>
      </p:cxnSp>
      <p:pic>
        <p:nvPicPr>
          <p:cNvPr id="124" name="IP phones" descr="IP phones"/>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823460" y="6835140"/>
            <a:ext cx="960120" cy="960120"/>
          </a:xfrm>
          <a:prstGeom prst="rect">
            <a:avLst/>
          </a:prstGeom>
        </p:spPr>
      </p:pic>
      <p:sp>
        <p:nvSpPr>
          <p:cNvPr id="125" name="IP phones label"/>
          <p:cNvSpPr txBox="1"/>
          <p:nvPr/>
        </p:nvSpPr>
        <p:spPr>
          <a:xfrm>
            <a:off x="4389120" y="7868412"/>
            <a:ext cx="182880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IP phones</a:t>
            </a:r>
          </a:p>
        </p:txBody>
      </p:sp>
      <p:cxnSp>
        <p:nvCxnSpPr>
          <p:cNvPr id="126" name="Ethernet to Branch server"/>
          <p:cNvCxnSpPr/>
          <p:nvPr/>
        </p:nvCxnSpPr>
        <p:spPr>
          <a:xfrm>
            <a:off x="6766560" y="6057900"/>
            <a:ext cx="0" cy="731520"/>
          </a:xfrm>
          <a:prstGeom prst="line">
            <a:avLst/>
          </a:prstGeom>
          <a:ln w="44450" cap="rnd">
            <a:solidFill>
              <a:schemeClr val="tx1"/>
            </a:solidFill>
          </a:ln>
        </p:spPr>
      </p:cxnSp>
      <p:pic>
        <p:nvPicPr>
          <p:cNvPr id="127" name="Branch server" descr="Branch serve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286500" y="6835140"/>
            <a:ext cx="960120" cy="960120"/>
          </a:xfrm>
          <a:prstGeom prst="rect">
            <a:avLst/>
          </a:prstGeom>
        </p:spPr>
      </p:pic>
      <p:sp>
        <p:nvSpPr>
          <p:cNvPr id="128" name="Branch server label"/>
          <p:cNvSpPr txBox="1"/>
          <p:nvPr/>
        </p:nvSpPr>
        <p:spPr>
          <a:xfrm>
            <a:off x="5852160" y="7868412"/>
            <a:ext cx="182880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Branch server</a:t>
            </a:r>
          </a:p>
        </p:txBody>
      </p:sp>
      <p:cxnSp>
        <p:nvCxnSpPr>
          <p:cNvPr id="129" name="Ethernet to ATM"/>
          <p:cNvCxnSpPr/>
          <p:nvPr/>
        </p:nvCxnSpPr>
        <p:spPr>
          <a:xfrm>
            <a:off x="8229600" y="6057900"/>
            <a:ext cx="0" cy="731520"/>
          </a:xfrm>
          <a:prstGeom prst="line">
            <a:avLst/>
          </a:prstGeom>
          <a:ln w="44450" cap="rnd">
            <a:solidFill>
              <a:schemeClr val="tx1"/>
            </a:solidFill>
          </a:ln>
        </p:spPr>
      </p:cxnSp>
      <p:pic>
        <p:nvPicPr>
          <p:cNvPr id="130" name="ATM" descr="ATM"/>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749540" y="6835140"/>
            <a:ext cx="960120" cy="960120"/>
          </a:xfrm>
          <a:prstGeom prst="rect">
            <a:avLst/>
          </a:prstGeom>
        </p:spPr>
      </p:pic>
      <p:sp>
        <p:nvSpPr>
          <p:cNvPr id="131" name="ATM label"/>
          <p:cNvSpPr txBox="1"/>
          <p:nvPr/>
        </p:nvSpPr>
        <p:spPr>
          <a:xfrm>
            <a:off x="7315200" y="7868412"/>
            <a:ext cx="182880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ATM</a:t>
            </a:r>
          </a:p>
        </p:txBody>
      </p:sp>
      <p:cxnSp>
        <p:nvCxnSpPr>
          <p:cNvPr id="132" name="Ethernet to Cameras"/>
          <p:cNvCxnSpPr/>
          <p:nvPr/>
        </p:nvCxnSpPr>
        <p:spPr>
          <a:xfrm>
            <a:off x="9692640" y="6057900"/>
            <a:ext cx="0" cy="731520"/>
          </a:xfrm>
          <a:prstGeom prst="line">
            <a:avLst/>
          </a:prstGeom>
          <a:ln w="44450" cap="rnd">
            <a:solidFill>
              <a:schemeClr val="tx1"/>
            </a:solidFill>
          </a:ln>
        </p:spPr>
      </p:cxnSp>
      <p:pic>
        <p:nvPicPr>
          <p:cNvPr id="133" name="Cameras" descr="Cameras"/>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212580" y="6835140"/>
            <a:ext cx="960120" cy="960120"/>
          </a:xfrm>
          <a:prstGeom prst="rect">
            <a:avLst/>
          </a:prstGeom>
        </p:spPr>
      </p:pic>
      <p:sp>
        <p:nvSpPr>
          <p:cNvPr id="134" name="Cameras label"/>
          <p:cNvSpPr txBox="1"/>
          <p:nvPr/>
        </p:nvSpPr>
        <p:spPr>
          <a:xfrm>
            <a:off x="8778240" y="7868412"/>
            <a:ext cx="182880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Cameras</a:t>
            </a:r>
          </a:p>
          <a:p>
            <a:pPr algn="ctr"/>
            <a:r>
              <a:rPr lang="en-US" sz="1200" b="0" dirty="0">
                <a:latin typeface="Helvetica Neue"/>
                <a:ea typeface="Helvetica Neue"/>
                <a:cs typeface="Helvetica Neue"/>
              </a:rPr>
              <a:t>and DVR</a:t>
            </a:r>
          </a:p>
        </p:txBody>
      </p:sp>
      <p:cxnSp>
        <p:nvCxnSpPr>
          <p:cNvPr id="135" name="Ethernet to Alarm panel"/>
          <p:cNvCxnSpPr/>
          <p:nvPr/>
        </p:nvCxnSpPr>
        <p:spPr>
          <a:xfrm>
            <a:off x="11155680" y="6057900"/>
            <a:ext cx="0" cy="731520"/>
          </a:xfrm>
          <a:prstGeom prst="line">
            <a:avLst/>
          </a:prstGeom>
          <a:ln w="44450" cap="rnd">
            <a:solidFill>
              <a:schemeClr val="tx1"/>
            </a:solidFill>
          </a:ln>
        </p:spPr>
      </p:cxnSp>
      <p:pic>
        <p:nvPicPr>
          <p:cNvPr id="136" name="Alarm panel" descr="Alarm panel"/>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675620" y="6835140"/>
            <a:ext cx="960120" cy="960120"/>
          </a:xfrm>
          <a:prstGeom prst="rect">
            <a:avLst/>
          </a:prstGeom>
        </p:spPr>
      </p:pic>
      <p:sp>
        <p:nvSpPr>
          <p:cNvPr id="137" name="Alarm panel label"/>
          <p:cNvSpPr txBox="1"/>
          <p:nvPr/>
        </p:nvSpPr>
        <p:spPr>
          <a:xfrm>
            <a:off x="10241280" y="7868412"/>
            <a:ext cx="182880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Alarm panel</a:t>
            </a:r>
          </a:p>
        </p:txBody>
      </p:sp>
      <p:cxnSp>
        <p:nvCxnSpPr>
          <p:cNvPr id="138" name="Ethernet to Staff AP"/>
          <p:cNvCxnSpPr/>
          <p:nvPr/>
        </p:nvCxnSpPr>
        <p:spPr>
          <a:xfrm>
            <a:off x="13533120" y="6057900"/>
            <a:ext cx="0" cy="594360"/>
          </a:xfrm>
          <a:prstGeom prst="line">
            <a:avLst/>
          </a:prstGeom>
          <a:ln w="44450" cap="rnd">
            <a:solidFill>
              <a:schemeClr val="tx1"/>
            </a:solidFill>
          </a:ln>
        </p:spPr>
      </p:cxnSp>
      <p:pic>
        <p:nvPicPr>
          <p:cNvPr id="139" name="Staff AP" descr="Staff AP"/>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3144500" y="6697980"/>
            <a:ext cx="777240" cy="777240"/>
          </a:xfrm>
          <a:prstGeom prst="rect">
            <a:avLst/>
          </a:prstGeom>
        </p:spPr>
      </p:pic>
      <p:sp>
        <p:nvSpPr>
          <p:cNvPr id="140" name="Staff AP label"/>
          <p:cNvSpPr txBox="1"/>
          <p:nvPr/>
        </p:nvSpPr>
        <p:spPr>
          <a:xfrm>
            <a:off x="12618720" y="7548372"/>
            <a:ext cx="182880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Staff Wi-Fi</a:t>
            </a:r>
          </a:p>
        </p:txBody>
      </p:sp>
      <p:cxnSp>
        <p:nvCxnSpPr>
          <p:cNvPr id="141" name="Ethernet to Guest AP"/>
          <p:cNvCxnSpPr/>
          <p:nvPr/>
        </p:nvCxnSpPr>
        <p:spPr>
          <a:xfrm>
            <a:off x="16276320" y="6057900"/>
            <a:ext cx="0" cy="594360"/>
          </a:xfrm>
          <a:prstGeom prst="line">
            <a:avLst/>
          </a:prstGeom>
          <a:ln w="44450" cap="rnd">
            <a:solidFill>
              <a:schemeClr val="tx1"/>
            </a:solidFill>
          </a:ln>
        </p:spPr>
      </p:cxnSp>
      <p:pic>
        <p:nvPicPr>
          <p:cNvPr id="142" name="Guest AP" descr="Guest AP"/>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5887700" y="6697980"/>
            <a:ext cx="777240" cy="777240"/>
          </a:xfrm>
          <a:prstGeom prst="rect">
            <a:avLst/>
          </a:prstGeom>
        </p:spPr>
      </p:pic>
      <p:sp>
        <p:nvSpPr>
          <p:cNvPr id="143" name="Guest AP label"/>
          <p:cNvSpPr txBox="1"/>
          <p:nvPr/>
        </p:nvSpPr>
        <p:spPr>
          <a:xfrm>
            <a:off x="15361920" y="7548372"/>
            <a:ext cx="182880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Guest Wi-Fi</a:t>
            </a:r>
          </a:p>
        </p:txBody>
      </p:sp>
      <p:sp>
        <p:nvSpPr>
          <p:cNvPr id="144" name="Teller label"/>
          <p:cNvSpPr txBox="1"/>
          <p:nvPr/>
        </p:nvSpPr>
        <p:spPr>
          <a:xfrm>
            <a:off x="320040" y="7868412"/>
            <a:ext cx="2743200" cy="36576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Teller workstations</a:t>
            </a:r>
          </a:p>
        </p:txBody>
      </p:sp>
      <p:cxnSp>
        <p:nvCxnSpPr>
          <p:cNvPr id="145" name="Wi-Fi to Staff laptop"/>
          <p:cNvCxnSpPr/>
          <p:nvPr/>
        </p:nvCxnSpPr>
        <p:spPr>
          <a:xfrm>
            <a:off x="13533120" y="8001000"/>
            <a:ext cx="0" cy="320040"/>
          </a:xfrm>
          <a:prstGeom prst="line">
            <a:avLst/>
          </a:prstGeom>
          <a:ln w="38100" cap="rnd">
            <a:solidFill>
              <a:schemeClr val="tx1"/>
            </a:solidFill>
            <a:prstDash val="sysDash"/>
          </a:ln>
        </p:spPr>
      </p:cxnSp>
      <p:pic>
        <p:nvPicPr>
          <p:cNvPr id="146" name="Staff laptop" descr="Staff laptop"/>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3167360" y="8366760"/>
            <a:ext cx="731520" cy="731520"/>
          </a:xfrm>
          <a:prstGeom prst="rect">
            <a:avLst/>
          </a:prstGeom>
        </p:spPr>
      </p:pic>
      <p:sp>
        <p:nvSpPr>
          <p:cNvPr id="147" name="Staff laptop label"/>
          <p:cNvSpPr txBox="1"/>
          <p:nvPr/>
        </p:nvSpPr>
        <p:spPr>
          <a:xfrm>
            <a:off x="12527280" y="9144000"/>
            <a:ext cx="2011680" cy="365760"/>
          </a:xfrm>
          <a:prstGeom prst="rect">
            <a:avLst/>
          </a:prstGeom>
          <a:noFill/>
        </p:spPr>
        <p:txBody>
          <a:bodyPr wrap="square" lIns="0" tIns="0" rIns="0" bIns="0" anchor="t">
            <a:noAutofit/>
          </a:bodyPr>
          <a:lstStyle/>
          <a:p>
            <a:pPr algn="ctr"/>
            <a:r>
              <a:rPr lang="en-US" sz="1400" b="0" dirty="0">
                <a:latin typeface="Helvetica Neue"/>
                <a:ea typeface="Helvetica Neue"/>
                <a:cs typeface="Helvetica Neue"/>
              </a:rPr>
              <a:t>Staff laptops</a:t>
            </a:r>
          </a:p>
        </p:txBody>
      </p:sp>
      <p:cxnSp>
        <p:nvCxnSpPr>
          <p:cNvPr id="148" name="Wi-Fi to Guest phone"/>
          <p:cNvCxnSpPr/>
          <p:nvPr/>
        </p:nvCxnSpPr>
        <p:spPr>
          <a:xfrm>
            <a:off x="16276320" y="8001000"/>
            <a:ext cx="0" cy="320040"/>
          </a:xfrm>
          <a:prstGeom prst="line">
            <a:avLst/>
          </a:prstGeom>
          <a:ln w="38100" cap="rnd">
            <a:solidFill>
              <a:schemeClr val="tx1"/>
            </a:solidFill>
            <a:prstDash val="sysDash"/>
          </a:ln>
        </p:spPr>
      </p:cxnSp>
      <p:pic>
        <p:nvPicPr>
          <p:cNvPr id="149" name="Guest phone" descr="Guest phone"/>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5910560" y="8366760"/>
            <a:ext cx="731520" cy="731520"/>
          </a:xfrm>
          <a:prstGeom prst="rect">
            <a:avLst/>
          </a:prstGeom>
        </p:spPr>
      </p:pic>
      <p:sp>
        <p:nvSpPr>
          <p:cNvPr id="150" name="Guest phone label"/>
          <p:cNvSpPr txBox="1"/>
          <p:nvPr/>
        </p:nvSpPr>
        <p:spPr>
          <a:xfrm>
            <a:off x="15270480" y="9144000"/>
            <a:ext cx="2011680" cy="365760"/>
          </a:xfrm>
          <a:prstGeom prst="rect">
            <a:avLst/>
          </a:prstGeom>
          <a:noFill/>
        </p:spPr>
        <p:txBody>
          <a:bodyPr wrap="square" lIns="0" tIns="0" rIns="0" bIns="0" anchor="t">
            <a:noAutofit/>
          </a:bodyPr>
          <a:lstStyle/>
          <a:p>
            <a:pPr algn="ctr"/>
            <a:r>
              <a:rPr lang="en-US" sz="1400" b="0" dirty="0">
                <a:latin typeface="Helvetica Neue"/>
                <a:ea typeface="Helvetica Neue"/>
                <a:cs typeface="Helvetica Neue"/>
              </a:rPr>
              <a:t>Customer phones</a:t>
            </a:r>
          </a:p>
        </p:txBody>
      </p:sp>
      <p:cxnSp>
        <p:nvCxnSpPr>
          <p:cNvPr id="151" name="Legend Ethernet"/>
          <p:cNvCxnSpPr/>
          <p:nvPr/>
        </p:nvCxnSpPr>
        <p:spPr>
          <a:xfrm>
            <a:off x="548640" y="9829800"/>
            <a:ext cx="731520" cy="0"/>
          </a:xfrm>
          <a:prstGeom prst="line">
            <a:avLst/>
          </a:prstGeom>
          <a:ln w="44450" cap="rnd">
            <a:solidFill>
              <a:schemeClr val="tx1"/>
            </a:solidFill>
          </a:ln>
        </p:spPr>
      </p:cxnSp>
      <p:sp>
        <p:nvSpPr>
          <p:cNvPr id="152" name="Legend Ethernet text"/>
          <p:cNvSpPr txBox="1"/>
          <p:nvPr/>
        </p:nvSpPr>
        <p:spPr>
          <a:xfrm>
            <a:off x="1417320" y="9674352"/>
            <a:ext cx="1463040" cy="320040"/>
          </a:xfrm>
          <a:prstGeom prst="rect">
            <a:avLst/>
          </a:prstGeom>
          <a:noFill/>
        </p:spPr>
        <p:txBody>
          <a:bodyPr wrap="square" lIns="0" tIns="0" rIns="0" bIns="0" anchor="t">
            <a:noAutofit/>
          </a:bodyPr>
          <a:lstStyle/>
          <a:p>
            <a:pPr algn="l"/>
            <a:r>
              <a:rPr lang="en-US" sz="1400" b="0" dirty="0">
                <a:latin typeface="Helvetica Neue"/>
                <a:ea typeface="Helvetica Neue"/>
                <a:cs typeface="Helvetica Neue"/>
              </a:rPr>
              <a:t>Ethernet</a:t>
            </a:r>
          </a:p>
        </p:txBody>
      </p:sp>
      <p:cxnSp>
        <p:nvCxnSpPr>
          <p:cNvPr id="153" name="Legend WiFi"/>
          <p:cNvCxnSpPr/>
          <p:nvPr/>
        </p:nvCxnSpPr>
        <p:spPr>
          <a:xfrm>
            <a:off x="2834640" y="9829800"/>
            <a:ext cx="731520" cy="0"/>
          </a:xfrm>
          <a:prstGeom prst="line">
            <a:avLst/>
          </a:prstGeom>
          <a:ln w="38100" cap="rnd">
            <a:solidFill>
              <a:schemeClr val="tx1"/>
            </a:solidFill>
            <a:prstDash val="sysDash"/>
          </a:ln>
        </p:spPr>
      </p:cxnSp>
      <p:sp>
        <p:nvSpPr>
          <p:cNvPr id="154" name="Legend WiFi text"/>
          <p:cNvSpPr txBox="1"/>
          <p:nvPr/>
        </p:nvSpPr>
        <p:spPr>
          <a:xfrm>
            <a:off x="3703320" y="9674352"/>
            <a:ext cx="1280160" cy="320040"/>
          </a:xfrm>
          <a:prstGeom prst="rect">
            <a:avLst/>
          </a:prstGeom>
          <a:noFill/>
        </p:spPr>
        <p:txBody>
          <a:bodyPr wrap="square" lIns="0" tIns="0" rIns="0" bIns="0" anchor="t">
            <a:noAutofit/>
          </a:bodyPr>
          <a:lstStyle/>
          <a:p>
            <a:pPr algn="l"/>
            <a:r>
              <a:rPr lang="en-US" sz="1400" b="0" dirty="0">
                <a:latin typeface="Helvetica Neue"/>
                <a:ea typeface="Helvetica Neue"/>
                <a:cs typeface="Helvetica Neue"/>
              </a:rPr>
              <a:t>Wi-Fi</a:t>
            </a:r>
          </a:p>
        </p:txBody>
      </p:sp>
      <p:cxnSp>
        <p:nvCxnSpPr>
          <p:cNvPr id="155" name="Legend backup"/>
          <p:cNvCxnSpPr/>
          <p:nvPr/>
        </p:nvCxnSpPr>
        <p:spPr>
          <a:xfrm>
            <a:off x="4846320" y="9829800"/>
            <a:ext cx="731520" cy="0"/>
          </a:xfrm>
          <a:prstGeom prst="line">
            <a:avLst/>
          </a:prstGeom>
          <a:ln w="44450" cap="rnd">
            <a:solidFill>
              <a:schemeClr val="tx1"/>
            </a:solidFill>
            <a:prstDash val="dash"/>
          </a:ln>
        </p:spPr>
      </p:cxnSp>
      <p:sp>
        <p:nvSpPr>
          <p:cNvPr id="156" name="Legend backup text"/>
          <p:cNvSpPr txBox="1"/>
          <p:nvPr/>
        </p:nvSpPr>
        <p:spPr>
          <a:xfrm>
            <a:off x="5715000" y="9674352"/>
            <a:ext cx="1645920" cy="320040"/>
          </a:xfrm>
          <a:prstGeom prst="rect">
            <a:avLst/>
          </a:prstGeom>
          <a:noFill/>
        </p:spPr>
        <p:txBody>
          <a:bodyPr wrap="square" lIns="0" tIns="0" rIns="0" bIns="0" anchor="t">
            <a:noAutofit/>
          </a:bodyPr>
          <a:lstStyle/>
          <a:p>
            <a:pPr algn="l"/>
            <a:r>
              <a:rPr lang="en-US" sz="1400" b="0" dirty="0">
                <a:latin typeface="Helvetica Neue"/>
                <a:ea typeface="Helvetica Neue"/>
                <a:cs typeface="Helvetica Neue"/>
              </a:rPr>
              <a:t>Backup link</a:t>
            </a:r>
          </a:p>
        </p:txBody>
      </p:sp>
      <p:cxnSp>
        <p:nvCxnSpPr>
          <p:cNvPr id="157" name="Legend tunnel"/>
          <p:cNvCxnSpPr/>
          <p:nvPr/>
        </p:nvCxnSpPr>
        <p:spPr>
          <a:xfrm>
            <a:off x="7406640" y="9829800"/>
            <a:ext cx="731520" cy="0"/>
          </a:xfrm>
          <a:prstGeom prst="line">
            <a:avLst/>
          </a:prstGeom>
          <a:ln w="38100" cap="rnd">
            <a:solidFill>
              <a:schemeClr val="tx1"/>
            </a:solidFill>
            <a:prstDash val="lgDash"/>
          </a:ln>
        </p:spPr>
      </p:cxnSp>
      <p:sp>
        <p:nvSpPr>
          <p:cNvPr id="158" name="Legend tunnel text"/>
          <p:cNvSpPr txBox="1"/>
          <p:nvPr/>
        </p:nvSpPr>
        <p:spPr>
          <a:xfrm>
            <a:off x="8275320" y="9674352"/>
            <a:ext cx="1645920" cy="320040"/>
          </a:xfrm>
          <a:prstGeom prst="rect">
            <a:avLst/>
          </a:prstGeom>
          <a:noFill/>
        </p:spPr>
        <p:txBody>
          <a:bodyPr wrap="square" lIns="0" tIns="0" rIns="0" bIns="0" anchor="t">
            <a:noAutofit/>
          </a:bodyPr>
          <a:lstStyle/>
          <a:p>
            <a:pPr algn="l"/>
            <a:r>
              <a:rPr lang="en-US" sz="1400" b="0" dirty="0">
                <a:latin typeface="Helvetica Neue"/>
                <a:ea typeface="Helvetica Neue"/>
                <a:cs typeface="Helvetica Neue"/>
              </a:rPr>
              <a:t>VPN tunnel</a:t>
            </a:r>
          </a:p>
        </p:txBody>
      </p:sp>
    </p:spTree>
    <p:extLst>
      <p:ext uri="{BB962C8B-B14F-4D97-AF65-F5344CB8AC3E}">
        <p14:creationId xmlns:p14="http://schemas.microsoft.com/office/powerpoint/2010/main" val="18109303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FEF11-69C7-5843-BA39-6F4484BEF4AB}"/>
              </a:ext>
            </a:extLst>
          </p:cNvPr>
          <p:cNvSpPr>
            <a:spLocks noGrp="1"/>
          </p:cNvSpPr>
          <p:nvPr>
            <p:ph type="title"/>
          </p:nvPr>
        </p:nvSpPr>
        <p:spPr/>
        <p:txBody>
          <a:bodyPr/>
          <a:lstStyle/>
          <a:p>
            <a:r>
              <a:rPr lang="en-US" dirty="0"/>
              <a:t>Community Bank Innovation</a:t>
            </a:r>
          </a:p>
        </p:txBody>
      </p:sp>
      <p:sp>
        <p:nvSpPr>
          <p:cNvPr id="3" name="Content Placeholder 2">
            <a:extLst>
              <a:ext uri="{FF2B5EF4-FFF2-40B4-BE49-F238E27FC236}">
                <a16:creationId xmlns:a16="http://schemas.microsoft.com/office/drawing/2014/main" id="{0304FB42-B99C-2B44-90F3-209D1225D2C5}"/>
              </a:ext>
            </a:extLst>
          </p:cNvPr>
          <p:cNvSpPr>
            <a:spLocks noGrp="1"/>
          </p:cNvSpPr>
          <p:nvPr>
            <p:ph idx="1"/>
          </p:nvPr>
        </p:nvSpPr>
        <p:spPr>
          <a:xfrm>
            <a:off x="1257300" y="2193131"/>
            <a:ext cx="11976100" cy="6967198"/>
          </a:xfrm>
        </p:spPr>
        <p:txBody>
          <a:bodyPr/>
          <a:lstStyle/>
          <a:p>
            <a:r>
              <a:rPr lang="en-US" dirty="0"/>
              <a:t>Small banks are conservative followers, right?</a:t>
            </a:r>
          </a:p>
          <a:p>
            <a:pPr lvl="1"/>
            <a:r>
              <a:rPr lang="en-US" dirty="0"/>
              <a:t>They better not be, or they will lose!</a:t>
            </a:r>
          </a:p>
          <a:p>
            <a:r>
              <a:rPr lang="en-US" dirty="0"/>
              <a:t>Many big bank tools are available to all banks</a:t>
            </a:r>
          </a:p>
          <a:p>
            <a:pPr lvl="1"/>
            <a:r>
              <a:rPr lang="en-US" dirty="0"/>
              <a:t>Big Data</a:t>
            </a:r>
          </a:p>
          <a:p>
            <a:pPr lvl="1"/>
            <a:r>
              <a:rPr lang="en-US" dirty="0"/>
              <a:t>Hosted core</a:t>
            </a:r>
          </a:p>
          <a:p>
            <a:pPr lvl="1"/>
            <a:r>
              <a:rPr lang="en-US" dirty="0"/>
              <a:t>Cloud-hosted applications</a:t>
            </a:r>
          </a:p>
          <a:p>
            <a:pPr lvl="1"/>
            <a:r>
              <a:rPr lang="en-US" dirty="0"/>
              <a:t>Artificial Intelligence / Machine Learning</a:t>
            </a:r>
          </a:p>
          <a:p>
            <a:pPr lvl="1"/>
            <a:r>
              <a:rPr lang="en-US" dirty="0"/>
              <a:t>Modern tools + personal service</a:t>
            </a:r>
          </a:p>
          <a:p>
            <a:r>
              <a:rPr lang="en-US" dirty="0"/>
              <a:t>The speed, capacity, security, and capability of all these depend on the network</a:t>
            </a:r>
          </a:p>
        </p:txBody>
      </p:sp>
      <p:pic>
        <p:nvPicPr>
          <p:cNvPr id="4" name="Picture 3" descr="A sign in front of a bank&#10;&#10;AI-generated content may be incorrect.">
            <a:extLst>
              <a:ext uri="{FF2B5EF4-FFF2-40B4-BE49-F238E27FC236}">
                <a16:creationId xmlns:a16="http://schemas.microsoft.com/office/drawing/2014/main" id="{8713C46C-FC51-E57A-B360-3A383B8C54A2}"/>
              </a:ext>
            </a:extLst>
          </p:cNvPr>
          <p:cNvPicPr>
            <a:picLocks noChangeAspect="1"/>
          </p:cNvPicPr>
          <p:nvPr/>
        </p:nvPicPr>
        <p:blipFill>
          <a:blip r:embed="rId3"/>
          <a:stretch>
            <a:fillRect/>
          </a:stretch>
        </p:blipFill>
        <p:spPr>
          <a:xfrm>
            <a:off x="13343214" y="2193131"/>
            <a:ext cx="4189412" cy="6302905"/>
          </a:xfrm>
          <a:prstGeom prst="rect">
            <a:avLst/>
          </a:prstGeom>
        </p:spPr>
      </p:pic>
    </p:spTree>
    <p:extLst>
      <p:ext uri="{BB962C8B-B14F-4D97-AF65-F5344CB8AC3E}">
        <p14:creationId xmlns:p14="http://schemas.microsoft.com/office/powerpoint/2010/main" val="41490625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400" b="1"/>
              <a:t>From Corner Bank to Global Conglomerate</a:t>
            </a:r>
          </a:p>
        </p:txBody>
      </p:sp>
      <p:cxnSp>
        <p:nvCxnSpPr>
          <p:cNvPr id="101" name="!!line-core-main"/>
          <p:cNvCxnSpPr/>
          <p:nvPr/>
        </p:nvCxnSpPr>
        <p:spPr>
          <a:xfrm>
            <a:off x="9208008" y="5394960"/>
            <a:ext cx="6056986" cy="0"/>
          </a:xfrm>
          <a:prstGeom prst="line">
            <a:avLst/>
          </a:prstGeom>
          <a:ln w="57150" cap="rnd">
            <a:solidFill>
              <a:schemeClr val="tx1"/>
            </a:solidFill>
          </a:ln>
        </p:spPr>
      </p:cxnSp>
      <p:pic>
        <p:nvPicPr>
          <p:cNvPr id="102" name="!!icon-main" descr="Corner bank"/>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92240" y="4023360"/>
            <a:ext cx="2743200" cy="2743200"/>
          </a:xfrm>
          <a:prstGeom prst="rect">
            <a:avLst/>
          </a:prstGeom>
        </p:spPr>
      </p:pic>
      <p:sp>
        <p:nvSpPr>
          <p:cNvPr id="103" name="!!label-main"/>
          <p:cNvSpPr txBox="1"/>
          <p:nvPr/>
        </p:nvSpPr>
        <p:spPr>
          <a:xfrm>
            <a:off x="6583680" y="6812280"/>
            <a:ext cx="2560320" cy="384048"/>
          </a:xfrm>
          <a:prstGeom prst="rect">
            <a:avLst/>
          </a:prstGeom>
          <a:noFill/>
        </p:spPr>
        <p:txBody>
          <a:bodyPr wrap="square" lIns="0" tIns="0" rIns="0" bIns="0" rtlCol="0" anchor="ctr">
            <a:noAutofit/>
          </a:bodyPr>
          <a:lstStyle/>
          <a:p>
            <a:pPr algn="ctr"/>
            <a:r>
              <a:rPr lang="en-US" sz="2400" b="1" dirty="0">
                <a:latin typeface="Helvetica Neue"/>
                <a:ea typeface="Helvetica Neue"/>
                <a:cs typeface="Helvetica Neue"/>
              </a:rPr>
              <a:t>Corner bank</a:t>
            </a:r>
          </a:p>
        </p:txBody>
      </p:sp>
      <p:pic>
        <p:nvPicPr>
          <p:cNvPr id="104" name="!!icon-hhA" descr="Household"/>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23160" y="2697480"/>
            <a:ext cx="1371600" cy="1371600"/>
          </a:xfrm>
          <a:prstGeom prst="rect">
            <a:avLst/>
          </a:prstGeom>
        </p:spPr>
      </p:pic>
      <p:sp>
        <p:nvSpPr>
          <p:cNvPr id="105" name="!!label-hhA"/>
          <p:cNvSpPr txBox="1"/>
          <p:nvPr/>
        </p:nvSpPr>
        <p:spPr>
          <a:xfrm>
            <a:off x="1828800" y="4114800"/>
            <a:ext cx="2560320" cy="384048"/>
          </a:xfrm>
          <a:prstGeom prst="rect">
            <a:avLst/>
          </a:prstGeom>
          <a:noFill/>
        </p:spPr>
        <p:txBody>
          <a:bodyPr wrap="square" lIns="0" tIns="0" rIns="0" bIns="0" rtlCol="0" anchor="ctr">
            <a:noAutofit/>
          </a:bodyPr>
          <a:lstStyle/>
          <a:p>
            <a:pPr algn="ctr"/>
            <a:r>
              <a:rPr lang="en-US" sz="1800" b="1" dirty="0">
                <a:latin typeface="Helvetica Neue"/>
                <a:ea typeface="Helvetica Neue"/>
                <a:cs typeface="Helvetica Neue"/>
              </a:rPr>
              <a:t>Household</a:t>
            </a:r>
          </a:p>
        </p:txBody>
      </p:sp>
      <p:pic>
        <p:nvPicPr>
          <p:cNvPr id="106" name="!!icon-hhB" descr="Household"/>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23160" y="6903720"/>
            <a:ext cx="1371600" cy="1371600"/>
          </a:xfrm>
          <a:prstGeom prst="rect">
            <a:avLst/>
          </a:prstGeom>
        </p:spPr>
      </p:pic>
      <p:sp>
        <p:nvSpPr>
          <p:cNvPr id="107" name="!!label-hhB"/>
          <p:cNvSpPr txBox="1"/>
          <p:nvPr/>
        </p:nvSpPr>
        <p:spPr>
          <a:xfrm>
            <a:off x="1828800" y="8321040"/>
            <a:ext cx="2560320" cy="384048"/>
          </a:xfrm>
          <a:prstGeom prst="rect">
            <a:avLst/>
          </a:prstGeom>
          <a:noFill/>
        </p:spPr>
        <p:txBody>
          <a:bodyPr wrap="square" lIns="0" tIns="0" rIns="0" bIns="0" rtlCol="0" anchor="ctr">
            <a:noAutofit/>
          </a:bodyPr>
          <a:lstStyle/>
          <a:p>
            <a:pPr algn="ctr"/>
            <a:r>
              <a:rPr lang="en-US" sz="1800" b="1" dirty="0">
                <a:latin typeface="Helvetica Neue"/>
                <a:ea typeface="Helvetica Neue"/>
                <a:cs typeface="Helvetica Neue"/>
              </a:rPr>
              <a:t>Household</a:t>
            </a:r>
          </a:p>
        </p:txBody>
      </p:sp>
      <p:pic>
        <p:nvPicPr>
          <p:cNvPr id="108" name="!!icon-shop" descr="Shop"/>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567160" y="2697480"/>
            <a:ext cx="1371600" cy="1371600"/>
          </a:xfrm>
          <a:prstGeom prst="rect">
            <a:avLst/>
          </a:prstGeom>
        </p:spPr>
      </p:pic>
      <p:sp>
        <p:nvSpPr>
          <p:cNvPr id="109" name="!!label-shop"/>
          <p:cNvSpPr txBox="1"/>
          <p:nvPr/>
        </p:nvSpPr>
        <p:spPr>
          <a:xfrm>
            <a:off x="10972800" y="4114800"/>
            <a:ext cx="2560320" cy="384048"/>
          </a:xfrm>
          <a:prstGeom prst="rect">
            <a:avLst/>
          </a:prstGeom>
          <a:noFill/>
        </p:spPr>
        <p:txBody>
          <a:bodyPr wrap="square" lIns="0" tIns="0" rIns="0" bIns="0" rtlCol="0" anchor="ctr">
            <a:noAutofit/>
          </a:bodyPr>
          <a:lstStyle/>
          <a:p>
            <a:pPr algn="ctr"/>
            <a:r>
              <a:rPr lang="en-US" sz="1800" b="1" dirty="0">
                <a:latin typeface="Helvetica Neue"/>
                <a:ea typeface="Helvetica Neue"/>
                <a:cs typeface="Helvetica Neue"/>
              </a:rPr>
              <a:t>Shop</a:t>
            </a:r>
          </a:p>
        </p:txBody>
      </p:sp>
      <p:pic>
        <p:nvPicPr>
          <p:cNvPr id="110" name="!!icon-factory" descr="Factory"/>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567160" y="6903720"/>
            <a:ext cx="1371600" cy="1371600"/>
          </a:xfrm>
          <a:prstGeom prst="rect">
            <a:avLst/>
          </a:prstGeom>
        </p:spPr>
      </p:pic>
      <p:sp>
        <p:nvSpPr>
          <p:cNvPr id="111" name="!!label-factory"/>
          <p:cNvSpPr txBox="1"/>
          <p:nvPr/>
        </p:nvSpPr>
        <p:spPr>
          <a:xfrm>
            <a:off x="10972800" y="8321040"/>
            <a:ext cx="2560320" cy="384048"/>
          </a:xfrm>
          <a:prstGeom prst="rect">
            <a:avLst/>
          </a:prstGeom>
          <a:noFill/>
        </p:spPr>
        <p:txBody>
          <a:bodyPr wrap="square" lIns="0" tIns="0" rIns="0" bIns="0" rtlCol="0" anchor="ctr">
            <a:noAutofit/>
          </a:bodyPr>
          <a:lstStyle/>
          <a:p>
            <a:pPr algn="ctr"/>
            <a:r>
              <a:rPr lang="en-US" sz="1800" b="1" dirty="0">
                <a:latin typeface="Helvetica Neue"/>
                <a:ea typeface="Helvetica Neue"/>
                <a:cs typeface="Helvetica Neue"/>
              </a:rPr>
              <a:t>Factory</a:t>
            </a:r>
          </a:p>
        </p:txBody>
      </p:sp>
      <p:pic>
        <p:nvPicPr>
          <p:cNvPr id="112" name="!!icon-core" descr="Core processo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270480" y="4572000"/>
            <a:ext cx="1645920" cy="1645920"/>
          </a:xfrm>
          <a:prstGeom prst="rect">
            <a:avLst/>
          </a:prstGeom>
        </p:spPr>
      </p:pic>
      <p:sp>
        <p:nvSpPr>
          <p:cNvPr id="113" name="!!label-core"/>
          <p:cNvSpPr txBox="1"/>
          <p:nvPr/>
        </p:nvSpPr>
        <p:spPr>
          <a:xfrm>
            <a:off x="14813280" y="6263640"/>
            <a:ext cx="2560320" cy="384048"/>
          </a:xfrm>
          <a:prstGeom prst="rect">
            <a:avLst/>
          </a:prstGeom>
          <a:noFill/>
        </p:spPr>
        <p:txBody>
          <a:bodyPr wrap="square" lIns="0" tIns="0" rIns="0" bIns="0" rtlCol="0" anchor="ctr">
            <a:noAutofit/>
          </a:bodyPr>
          <a:lstStyle/>
          <a:p>
            <a:pPr algn="ctr"/>
            <a:r>
              <a:rPr lang="en-US" sz="1800" b="1" dirty="0">
                <a:latin typeface="Helvetica Neue"/>
                <a:ea typeface="Helvetica Neue"/>
                <a:cs typeface="Helvetica Neue"/>
              </a:rPr>
              <a:t>Core processor</a:t>
            </a:r>
          </a:p>
        </p:txBody>
      </p:sp>
      <p:sp>
        <p:nvSpPr>
          <p:cNvPr id="114" name="!!caption"/>
          <p:cNvSpPr txBox="1"/>
          <p:nvPr/>
        </p:nvSpPr>
        <p:spPr>
          <a:xfrm>
            <a:off x="548640" y="9738360"/>
            <a:ext cx="17190720" cy="411480"/>
          </a:xfrm>
          <a:prstGeom prst="rect">
            <a:avLst/>
          </a:prstGeom>
          <a:noFill/>
        </p:spPr>
        <p:txBody>
          <a:bodyPr wrap="square" lIns="0" tIns="0" rIns="0" bIns="0" rtlCol="0" anchor="ctr">
            <a:noAutofit/>
          </a:bodyPr>
          <a:lstStyle/>
          <a:p>
            <a:pPr algn="l"/>
            <a:r>
              <a:rPr lang="en-US" sz="1800" b="0" dirty="0">
                <a:solidFill>
                  <a:srgbClr val="595959"/>
                </a:solidFill>
                <a:latin typeface="Helvetica Neue"/>
                <a:ea typeface="Helvetica Neue"/>
                <a:cs typeface="Helvetica Neue"/>
              </a:rPr>
              <a:t>1  One building: a teller line, a few PCs, and one line out to the core processor</a:t>
            </a:r>
          </a:p>
        </p:txBody>
      </p:sp>
    </p:spTree>
    <p:extLst>
      <p:ext uri="{BB962C8B-B14F-4D97-AF65-F5344CB8AC3E}">
        <p14:creationId xmlns:p14="http://schemas.microsoft.com/office/powerpoint/2010/main" val="14026513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400" b="1"/>
              <a:t>From Corner Bank to Global Conglomerate</a:t>
            </a:r>
          </a:p>
        </p:txBody>
      </p:sp>
      <p:cxnSp>
        <p:nvCxnSpPr>
          <p:cNvPr id="101" name="!!line-b1-wan"/>
          <p:cNvCxnSpPr/>
          <p:nvPr/>
        </p:nvCxnSpPr>
        <p:spPr>
          <a:xfrm>
            <a:off x="2243738" y="3363989"/>
            <a:ext cx="2151953" cy="1472389"/>
          </a:xfrm>
          <a:prstGeom prst="line">
            <a:avLst/>
          </a:prstGeom>
          <a:ln w="57150" cap="rnd">
            <a:solidFill>
              <a:schemeClr val="tx1"/>
            </a:solidFill>
          </a:ln>
        </p:spPr>
      </p:cxnSp>
      <p:cxnSp>
        <p:nvCxnSpPr>
          <p:cNvPr id="102" name="!!line-b2-wan"/>
          <p:cNvCxnSpPr/>
          <p:nvPr/>
        </p:nvCxnSpPr>
        <p:spPr>
          <a:xfrm>
            <a:off x="2350922" y="5394960"/>
            <a:ext cx="1599286" cy="0"/>
          </a:xfrm>
          <a:prstGeom prst="line">
            <a:avLst/>
          </a:prstGeom>
          <a:ln w="57150" cap="rnd">
            <a:solidFill>
              <a:schemeClr val="tx1"/>
            </a:solidFill>
          </a:ln>
        </p:spPr>
      </p:cxnSp>
      <p:cxnSp>
        <p:nvCxnSpPr>
          <p:cNvPr id="103" name="!!line-b3-wan"/>
          <p:cNvCxnSpPr/>
          <p:nvPr/>
        </p:nvCxnSpPr>
        <p:spPr>
          <a:xfrm flipV="1">
            <a:off x="2243738" y="5953542"/>
            <a:ext cx="2151953" cy="1472389"/>
          </a:xfrm>
          <a:prstGeom prst="line">
            <a:avLst/>
          </a:prstGeom>
          <a:ln w="57150" cap="rnd">
            <a:solidFill>
              <a:schemeClr val="tx1"/>
            </a:solidFill>
          </a:ln>
        </p:spPr>
      </p:cxnSp>
      <p:cxnSp>
        <p:nvCxnSpPr>
          <p:cNvPr id="104" name="!!line-main-wan"/>
          <p:cNvCxnSpPr/>
          <p:nvPr/>
        </p:nvCxnSpPr>
        <p:spPr>
          <a:xfrm>
            <a:off x="6473952" y="5394960"/>
            <a:ext cx="1572768" cy="0"/>
          </a:xfrm>
          <a:prstGeom prst="line">
            <a:avLst/>
          </a:prstGeom>
          <a:ln w="57150" cap="rnd">
            <a:solidFill>
              <a:schemeClr val="tx1"/>
            </a:solidFill>
          </a:ln>
        </p:spPr>
      </p:cxnSp>
      <p:cxnSp>
        <p:nvCxnSpPr>
          <p:cNvPr id="105" name="!!line-core-main"/>
          <p:cNvCxnSpPr/>
          <p:nvPr/>
        </p:nvCxnSpPr>
        <p:spPr>
          <a:xfrm>
            <a:off x="9852781" y="5597610"/>
            <a:ext cx="4419349" cy="1004398"/>
          </a:xfrm>
          <a:prstGeom prst="line">
            <a:avLst/>
          </a:prstGeom>
          <a:ln w="57150" cap="rnd">
            <a:solidFill>
              <a:schemeClr val="tx1"/>
            </a:solidFill>
          </a:ln>
        </p:spPr>
      </p:cxnSp>
      <p:pic>
        <p:nvPicPr>
          <p:cNvPr id="106" name="!!icon-b1" descr="b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3000" y="2423160"/>
            <a:ext cx="1188720" cy="1188720"/>
          </a:xfrm>
          <a:prstGeom prst="rect">
            <a:avLst/>
          </a:prstGeom>
        </p:spPr>
      </p:pic>
      <p:pic>
        <p:nvPicPr>
          <p:cNvPr id="107" name="!!icon-b2" descr="b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3000" y="4800600"/>
            <a:ext cx="1188720" cy="1188720"/>
          </a:xfrm>
          <a:prstGeom prst="rect">
            <a:avLst/>
          </a:prstGeom>
        </p:spPr>
      </p:pic>
      <p:pic>
        <p:nvPicPr>
          <p:cNvPr id="108" name="!!icon-b3" descr="Branches"/>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3000" y="7178040"/>
            <a:ext cx="1188720" cy="1188720"/>
          </a:xfrm>
          <a:prstGeom prst="rect">
            <a:avLst/>
          </a:prstGeom>
        </p:spPr>
      </p:pic>
      <p:sp>
        <p:nvSpPr>
          <p:cNvPr id="109" name="!!label-b3"/>
          <p:cNvSpPr txBox="1"/>
          <p:nvPr/>
        </p:nvSpPr>
        <p:spPr>
          <a:xfrm>
            <a:off x="457200" y="8412480"/>
            <a:ext cx="2560320" cy="384048"/>
          </a:xfrm>
          <a:prstGeom prst="rect">
            <a:avLst/>
          </a:prstGeom>
          <a:noFill/>
        </p:spPr>
        <p:txBody>
          <a:bodyPr wrap="square" lIns="0" tIns="0" rIns="0" bIns="0" rtlCol="0" anchor="ctr">
            <a:noAutofit/>
          </a:bodyPr>
          <a:lstStyle/>
          <a:p>
            <a:pPr algn="ctr"/>
            <a:r>
              <a:rPr lang="en-US" sz="1800" b="1" dirty="0">
                <a:latin typeface="Helvetica Neue"/>
                <a:ea typeface="Helvetica Neue"/>
                <a:cs typeface="Helvetica Neue"/>
              </a:rPr>
              <a:t>Branches</a:t>
            </a:r>
          </a:p>
        </p:txBody>
      </p:sp>
      <p:pic>
        <p:nvPicPr>
          <p:cNvPr id="110" name="!!icon-wan" descr="Private WA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40480" y="4023360"/>
            <a:ext cx="2743200" cy="2743200"/>
          </a:xfrm>
          <a:prstGeom prst="rect">
            <a:avLst/>
          </a:prstGeom>
        </p:spPr>
      </p:pic>
      <p:sp>
        <p:nvSpPr>
          <p:cNvPr id="111" name="!!label-wan"/>
          <p:cNvSpPr txBox="1"/>
          <p:nvPr/>
        </p:nvSpPr>
        <p:spPr>
          <a:xfrm>
            <a:off x="4224528" y="5257800"/>
            <a:ext cx="1975104" cy="685800"/>
          </a:xfrm>
          <a:prstGeom prst="rect">
            <a:avLst/>
          </a:prstGeom>
          <a:noFill/>
        </p:spPr>
        <p:txBody>
          <a:bodyPr wrap="square" lIns="0" tIns="0" rIns="0" bIns="0" rtlCol="0" anchor="ctr">
            <a:noAutofit/>
          </a:bodyPr>
          <a:lstStyle/>
          <a:p>
            <a:pPr algn="ctr"/>
            <a:r>
              <a:rPr lang="en-US" sz="2400" b="1" dirty="0">
                <a:latin typeface="Helvetica Neue"/>
                <a:ea typeface="Helvetica Neue"/>
                <a:cs typeface="Helvetica Neue"/>
              </a:rPr>
              <a:t>Private WAN</a:t>
            </a:r>
          </a:p>
        </p:txBody>
      </p:sp>
      <p:pic>
        <p:nvPicPr>
          <p:cNvPr id="112" name="!!icon-main" descr="Main office"/>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46720" y="4480560"/>
            <a:ext cx="1828800" cy="1828800"/>
          </a:xfrm>
          <a:prstGeom prst="rect">
            <a:avLst/>
          </a:prstGeom>
        </p:spPr>
      </p:pic>
      <p:sp>
        <p:nvSpPr>
          <p:cNvPr id="113" name="!!label-main"/>
          <p:cNvSpPr txBox="1"/>
          <p:nvPr/>
        </p:nvSpPr>
        <p:spPr>
          <a:xfrm>
            <a:off x="7680960" y="6355080"/>
            <a:ext cx="2560320" cy="384048"/>
          </a:xfrm>
          <a:prstGeom prst="rect">
            <a:avLst/>
          </a:prstGeom>
          <a:noFill/>
        </p:spPr>
        <p:txBody>
          <a:bodyPr wrap="square" lIns="0" tIns="0" rIns="0" bIns="0" rtlCol="0" anchor="ctr">
            <a:noAutofit/>
          </a:bodyPr>
          <a:lstStyle/>
          <a:p>
            <a:pPr algn="ctr"/>
            <a:r>
              <a:rPr lang="en-US" sz="1800" b="1" dirty="0">
                <a:latin typeface="Helvetica Neue"/>
                <a:ea typeface="Helvetica Neue"/>
                <a:cs typeface="Helvetica Neue"/>
              </a:rPr>
              <a:t>Main office</a:t>
            </a:r>
          </a:p>
        </p:txBody>
      </p:sp>
      <p:pic>
        <p:nvPicPr>
          <p:cNvPr id="114" name="!!icon-hhA" descr="hhA"/>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55680" y="1828800"/>
            <a:ext cx="914400" cy="914400"/>
          </a:xfrm>
          <a:prstGeom prst="rect">
            <a:avLst/>
          </a:prstGeom>
        </p:spPr>
      </p:pic>
      <p:pic>
        <p:nvPicPr>
          <p:cNvPr id="115" name="!!icon-hhB" descr="hhB"/>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801600" y="1828800"/>
            <a:ext cx="914400" cy="914400"/>
          </a:xfrm>
          <a:prstGeom prst="rect">
            <a:avLst/>
          </a:prstGeom>
        </p:spPr>
      </p:pic>
      <p:pic>
        <p:nvPicPr>
          <p:cNvPr id="116" name="!!icon-shop" descr="shop"/>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447520" y="1828800"/>
            <a:ext cx="914400" cy="914400"/>
          </a:xfrm>
          <a:prstGeom prst="rect">
            <a:avLst/>
          </a:prstGeom>
        </p:spPr>
      </p:pic>
      <p:pic>
        <p:nvPicPr>
          <p:cNvPr id="117" name="!!icon-factory" descr="factory"/>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093440" y="1828800"/>
            <a:ext cx="914400" cy="914400"/>
          </a:xfrm>
          <a:prstGeom prst="rect">
            <a:avLst/>
          </a:prstGeom>
        </p:spPr>
      </p:pic>
      <p:pic>
        <p:nvPicPr>
          <p:cNvPr id="118" name="!!icon-core" descr="Core processo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264640" y="6035040"/>
            <a:ext cx="1463040" cy="1463040"/>
          </a:xfrm>
          <a:prstGeom prst="rect">
            <a:avLst/>
          </a:prstGeom>
        </p:spPr>
      </p:pic>
      <p:sp>
        <p:nvSpPr>
          <p:cNvPr id="119" name="!!label-core"/>
          <p:cNvSpPr txBox="1"/>
          <p:nvPr/>
        </p:nvSpPr>
        <p:spPr>
          <a:xfrm>
            <a:off x="13716000" y="7543800"/>
            <a:ext cx="2560320" cy="384048"/>
          </a:xfrm>
          <a:prstGeom prst="rect">
            <a:avLst/>
          </a:prstGeom>
          <a:noFill/>
        </p:spPr>
        <p:txBody>
          <a:bodyPr wrap="square" lIns="0" tIns="0" rIns="0" bIns="0" rtlCol="0" anchor="ctr">
            <a:noAutofit/>
          </a:bodyPr>
          <a:lstStyle/>
          <a:p>
            <a:pPr algn="ctr"/>
            <a:r>
              <a:rPr lang="en-US" sz="1800" b="1" dirty="0">
                <a:latin typeface="Helvetica Neue"/>
                <a:ea typeface="Helvetica Neue"/>
                <a:cs typeface="Helvetica Neue"/>
              </a:rPr>
              <a:t>Core processor</a:t>
            </a:r>
          </a:p>
        </p:txBody>
      </p:sp>
      <p:sp>
        <p:nvSpPr>
          <p:cNvPr id="120" name="!!glabel-cust"/>
          <p:cNvSpPr txBox="1"/>
          <p:nvPr/>
        </p:nvSpPr>
        <p:spPr>
          <a:xfrm>
            <a:off x="12252960" y="2871216"/>
            <a:ext cx="365760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Customers still walk in</a:t>
            </a:r>
          </a:p>
        </p:txBody>
      </p:sp>
      <p:sp>
        <p:nvSpPr>
          <p:cNvPr id="121" name="!!caption"/>
          <p:cNvSpPr txBox="1"/>
          <p:nvPr/>
        </p:nvSpPr>
        <p:spPr>
          <a:xfrm>
            <a:off x="548640" y="9738360"/>
            <a:ext cx="17190720" cy="411480"/>
          </a:xfrm>
          <a:prstGeom prst="rect">
            <a:avLst/>
          </a:prstGeom>
          <a:noFill/>
        </p:spPr>
        <p:txBody>
          <a:bodyPr wrap="square" lIns="0" tIns="0" rIns="0" bIns="0" rtlCol="0" anchor="ctr">
            <a:noAutofit/>
          </a:bodyPr>
          <a:lstStyle/>
          <a:p>
            <a:pPr algn="l"/>
            <a:r>
              <a:rPr lang="en-US" sz="1800" b="0" dirty="0">
                <a:solidFill>
                  <a:srgbClr val="595959"/>
                </a:solidFill>
                <a:latin typeface="Helvetica Neue"/>
                <a:ea typeface="Helvetica Neue"/>
                <a:cs typeface="Helvetica Neue"/>
              </a:rPr>
              <a:t>2  A few branches: the WAN appears to tie branches to the main office and the core</a:t>
            </a:r>
          </a:p>
        </p:txBody>
      </p:sp>
    </p:spTree>
    <p:extLst>
      <p:ext uri="{BB962C8B-B14F-4D97-AF65-F5344CB8AC3E}">
        <p14:creationId xmlns:p14="http://schemas.microsoft.com/office/powerpoint/2010/main" val="1736348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400" b="1"/>
              <a:t>From Corner Bank to Global Conglomerate</a:t>
            </a:r>
          </a:p>
        </p:txBody>
      </p:sp>
      <p:cxnSp>
        <p:nvCxnSpPr>
          <p:cNvPr id="101" name="!!line-b1-wan"/>
          <p:cNvCxnSpPr/>
          <p:nvPr/>
        </p:nvCxnSpPr>
        <p:spPr>
          <a:xfrm>
            <a:off x="1821639" y="2703439"/>
            <a:ext cx="2042584" cy="1856894"/>
          </a:xfrm>
          <a:prstGeom prst="line">
            <a:avLst/>
          </a:prstGeom>
          <a:ln w="57150" cap="rnd">
            <a:solidFill>
              <a:schemeClr val="tx1"/>
            </a:solidFill>
          </a:ln>
        </p:spPr>
      </p:cxnSp>
      <p:cxnSp>
        <p:nvCxnSpPr>
          <p:cNvPr id="102" name="!!line-b2-wan"/>
          <p:cNvCxnSpPr/>
          <p:nvPr/>
        </p:nvCxnSpPr>
        <p:spPr>
          <a:xfrm>
            <a:off x="1926845" y="4346787"/>
            <a:ext cx="1542703" cy="467486"/>
          </a:xfrm>
          <a:prstGeom prst="line">
            <a:avLst/>
          </a:prstGeom>
          <a:ln w="57150" cap="rnd">
            <a:solidFill>
              <a:schemeClr val="tx1"/>
            </a:solidFill>
          </a:ln>
        </p:spPr>
      </p:cxnSp>
      <p:cxnSp>
        <p:nvCxnSpPr>
          <p:cNvPr id="103" name="!!line-b3-wan"/>
          <p:cNvCxnSpPr/>
          <p:nvPr/>
        </p:nvCxnSpPr>
        <p:spPr>
          <a:xfrm flipV="1">
            <a:off x="1926845" y="5427007"/>
            <a:ext cx="1542703" cy="467486"/>
          </a:xfrm>
          <a:prstGeom prst="line">
            <a:avLst/>
          </a:prstGeom>
          <a:ln w="57150" cap="rnd">
            <a:solidFill>
              <a:schemeClr val="tx1"/>
            </a:solidFill>
          </a:ln>
        </p:spPr>
      </p:cxnSp>
      <p:cxnSp>
        <p:nvCxnSpPr>
          <p:cNvPr id="104" name="!!line-b4-wan"/>
          <p:cNvCxnSpPr/>
          <p:nvPr/>
        </p:nvCxnSpPr>
        <p:spPr>
          <a:xfrm flipV="1">
            <a:off x="1821639" y="5680947"/>
            <a:ext cx="2042584" cy="1856894"/>
          </a:xfrm>
          <a:prstGeom prst="line">
            <a:avLst/>
          </a:prstGeom>
          <a:ln w="57150" cap="rnd">
            <a:solidFill>
              <a:schemeClr val="tx1"/>
            </a:solidFill>
          </a:ln>
        </p:spPr>
      </p:cxnSp>
      <p:cxnSp>
        <p:nvCxnSpPr>
          <p:cNvPr id="105" name="!!line-dc-wan"/>
          <p:cNvCxnSpPr/>
          <p:nvPr/>
        </p:nvCxnSpPr>
        <p:spPr>
          <a:xfrm>
            <a:off x="5621731" y="5120640"/>
            <a:ext cx="1677010" cy="0"/>
          </a:xfrm>
          <a:prstGeom prst="line">
            <a:avLst/>
          </a:prstGeom>
          <a:ln w="57150" cap="rnd">
            <a:solidFill>
              <a:schemeClr val="tx1"/>
            </a:solidFill>
          </a:ln>
        </p:spPr>
      </p:cxnSp>
      <p:cxnSp>
        <p:nvCxnSpPr>
          <p:cNvPr id="106" name="!!line-dc-hq"/>
          <p:cNvCxnSpPr/>
          <p:nvPr/>
        </p:nvCxnSpPr>
        <p:spPr>
          <a:xfrm flipH="1">
            <a:off x="6892370" y="6108214"/>
            <a:ext cx="656262" cy="1593778"/>
          </a:xfrm>
          <a:prstGeom prst="line">
            <a:avLst/>
          </a:prstGeom>
          <a:ln w="57150" cap="rnd">
            <a:solidFill>
              <a:schemeClr val="tx1"/>
            </a:solidFill>
          </a:ln>
        </p:spPr>
      </p:cxnSp>
      <p:cxnSp>
        <p:nvCxnSpPr>
          <p:cNvPr id="107" name="!!line-dc-main"/>
          <p:cNvCxnSpPr/>
          <p:nvPr/>
        </p:nvCxnSpPr>
        <p:spPr>
          <a:xfrm>
            <a:off x="8361928" y="6108214"/>
            <a:ext cx="656262" cy="1593778"/>
          </a:xfrm>
          <a:prstGeom prst="line">
            <a:avLst/>
          </a:prstGeom>
          <a:ln w="57150" cap="rnd">
            <a:solidFill>
              <a:schemeClr val="tx1"/>
            </a:solidFill>
          </a:ln>
        </p:spPr>
      </p:cxnSp>
      <p:cxnSp>
        <p:nvCxnSpPr>
          <p:cNvPr id="108" name="!!line-dc-fw"/>
          <p:cNvCxnSpPr/>
          <p:nvPr/>
        </p:nvCxnSpPr>
        <p:spPr>
          <a:xfrm flipV="1">
            <a:off x="7955280" y="3459175"/>
            <a:ext cx="0" cy="1004926"/>
          </a:xfrm>
          <a:prstGeom prst="line">
            <a:avLst/>
          </a:prstGeom>
          <a:ln w="57150" cap="rnd">
            <a:solidFill>
              <a:schemeClr val="tx1"/>
            </a:solidFill>
          </a:ln>
        </p:spPr>
      </p:cxnSp>
      <p:cxnSp>
        <p:nvCxnSpPr>
          <p:cNvPr id="109" name="!!line-fw-inet"/>
          <p:cNvCxnSpPr/>
          <p:nvPr/>
        </p:nvCxnSpPr>
        <p:spPr>
          <a:xfrm flipV="1">
            <a:off x="8395344" y="2751230"/>
            <a:ext cx="2688837" cy="228837"/>
          </a:xfrm>
          <a:prstGeom prst="line">
            <a:avLst/>
          </a:prstGeom>
          <a:ln w="57150" cap="rnd">
            <a:solidFill>
              <a:schemeClr val="tx1"/>
            </a:solidFill>
          </a:ln>
        </p:spPr>
      </p:cxnSp>
      <p:cxnSp>
        <p:nvCxnSpPr>
          <p:cNvPr id="110" name="!!line-inet-phone"/>
          <p:cNvCxnSpPr/>
          <p:nvPr/>
        </p:nvCxnSpPr>
        <p:spPr>
          <a:xfrm flipV="1">
            <a:off x="13292420" y="1869095"/>
            <a:ext cx="1465069" cy="457834"/>
          </a:xfrm>
          <a:prstGeom prst="line">
            <a:avLst/>
          </a:prstGeom>
          <a:ln w="57150" cap="rnd">
            <a:solidFill>
              <a:schemeClr val="tx1"/>
            </a:solidFill>
          </a:ln>
        </p:spPr>
      </p:cxnSp>
      <p:cxnSp>
        <p:nvCxnSpPr>
          <p:cNvPr id="111" name="!!line-hhA-inet"/>
          <p:cNvCxnSpPr/>
          <p:nvPr/>
        </p:nvCxnSpPr>
        <p:spPr>
          <a:xfrm>
            <a:off x="13434365" y="2651760"/>
            <a:ext cx="3088843" cy="0"/>
          </a:xfrm>
          <a:prstGeom prst="line">
            <a:avLst/>
          </a:prstGeom>
          <a:ln w="57150" cap="rnd">
            <a:solidFill>
              <a:schemeClr val="tx1"/>
            </a:solidFill>
          </a:ln>
        </p:spPr>
      </p:cxnSp>
      <p:cxnSp>
        <p:nvCxnSpPr>
          <p:cNvPr id="112" name="!!line-inet-shop"/>
          <p:cNvCxnSpPr/>
          <p:nvPr/>
        </p:nvCxnSpPr>
        <p:spPr>
          <a:xfrm>
            <a:off x="12992805" y="3187510"/>
            <a:ext cx="1519391" cy="1100249"/>
          </a:xfrm>
          <a:prstGeom prst="line">
            <a:avLst/>
          </a:prstGeom>
          <a:ln w="57150" cap="rnd">
            <a:solidFill>
              <a:schemeClr val="tx1"/>
            </a:solidFill>
          </a:ln>
        </p:spPr>
      </p:cxnSp>
      <p:cxnSp>
        <p:nvCxnSpPr>
          <p:cNvPr id="113" name="!!line-factory-inet"/>
          <p:cNvCxnSpPr/>
          <p:nvPr/>
        </p:nvCxnSpPr>
        <p:spPr>
          <a:xfrm>
            <a:off x="13188583" y="3069804"/>
            <a:ext cx="2919584" cy="1304495"/>
          </a:xfrm>
          <a:prstGeom prst="line">
            <a:avLst/>
          </a:prstGeom>
          <a:ln w="57150" cap="rnd">
            <a:solidFill>
              <a:schemeClr val="tx1"/>
            </a:solidFill>
          </a:ln>
        </p:spPr>
      </p:cxnSp>
      <p:cxnSp>
        <p:nvCxnSpPr>
          <p:cNvPr id="114" name="!!line-core-dc"/>
          <p:cNvCxnSpPr/>
          <p:nvPr/>
        </p:nvCxnSpPr>
        <p:spPr>
          <a:xfrm>
            <a:off x="8934162" y="5547788"/>
            <a:ext cx="3448574" cy="1504832"/>
          </a:xfrm>
          <a:prstGeom prst="line">
            <a:avLst/>
          </a:prstGeom>
          <a:ln w="57150" cap="rnd">
            <a:solidFill>
              <a:schemeClr val="tx1"/>
            </a:solidFill>
          </a:ln>
        </p:spPr>
      </p:cxnSp>
      <p:pic>
        <p:nvPicPr>
          <p:cNvPr id="115" name="!!icon-b1" descr="b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840" y="1920240"/>
            <a:ext cx="914400" cy="914400"/>
          </a:xfrm>
          <a:prstGeom prst="rect">
            <a:avLst/>
          </a:prstGeom>
        </p:spPr>
      </p:pic>
      <p:pic>
        <p:nvPicPr>
          <p:cNvPr id="116" name="!!icon-b2" descr="b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840" y="3749040"/>
            <a:ext cx="914400" cy="914400"/>
          </a:xfrm>
          <a:prstGeom prst="rect">
            <a:avLst/>
          </a:prstGeom>
        </p:spPr>
      </p:pic>
      <p:pic>
        <p:nvPicPr>
          <p:cNvPr id="117" name="!!icon-b3" descr="b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840" y="5577840"/>
            <a:ext cx="914400" cy="914400"/>
          </a:xfrm>
          <a:prstGeom prst="rect">
            <a:avLst/>
          </a:prstGeom>
        </p:spPr>
      </p:pic>
      <p:pic>
        <p:nvPicPr>
          <p:cNvPr id="118" name="!!icon-b4" descr="Branches"/>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840" y="7406640"/>
            <a:ext cx="914400" cy="914400"/>
          </a:xfrm>
          <a:prstGeom prst="rect">
            <a:avLst/>
          </a:prstGeom>
        </p:spPr>
      </p:pic>
      <p:sp>
        <p:nvSpPr>
          <p:cNvPr id="119" name="!!label-b4"/>
          <p:cNvSpPr txBox="1"/>
          <p:nvPr/>
        </p:nvSpPr>
        <p:spPr>
          <a:xfrm>
            <a:off x="182880" y="836676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Branches</a:t>
            </a:r>
          </a:p>
        </p:txBody>
      </p:sp>
      <p:pic>
        <p:nvPicPr>
          <p:cNvPr id="120" name="!!icon-wan" descr="Private WA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46120" y="3886200"/>
            <a:ext cx="2468880" cy="2468880"/>
          </a:xfrm>
          <a:prstGeom prst="rect">
            <a:avLst/>
          </a:prstGeom>
        </p:spPr>
      </p:pic>
      <p:sp>
        <p:nvSpPr>
          <p:cNvPr id="121" name="!!label-wan"/>
          <p:cNvSpPr txBox="1"/>
          <p:nvPr/>
        </p:nvSpPr>
        <p:spPr>
          <a:xfrm>
            <a:off x="3591763" y="4997196"/>
            <a:ext cx="1777594" cy="617220"/>
          </a:xfrm>
          <a:prstGeom prst="rect">
            <a:avLst/>
          </a:prstGeom>
          <a:noFill/>
        </p:spPr>
        <p:txBody>
          <a:bodyPr wrap="square" lIns="0" tIns="0" rIns="0" bIns="0" rtlCol="0" anchor="ctr">
            <a:noAutofit/>
          </a:bodyPr>
          <a:lstStyle/>
          <a:p>
            <a:pPr algn="ctr"/>
            <a:r>
              <a:rPr lang="en-US" sz="2400" b="1" dirty="0">
                <a:latin typeface="Helvetica Neue"/>
                <a:ea typeface="Helvetica Neue"/>
                <a:cs typeface="Helvetica Neue"/>
              </a:rPr>
              <a:t>Private WAN</a:t>
            </a:r>
          </a:p>
        </p:txBody>
      </p:sp>
      <p:pic>
        <p:nvPicPr>
          <p:cNvPr id="122" name="!!icon-dc" descr="Datacente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15200" y="4480560"/>
            <a:ext cx="1280160" cy="1280160"/>
          </a:xfrm>
          <a:prstGeom prst="rect">
            <a:avLst/>
          </a:prstGeom>
        </p:spPr>
      </p:pic>
      <p:sp>
        <p:nvSpPr>
          <p:cNvPr id="123" name="!!label-dc"/>
          <p:cNvSpPr txBox="1"/>
          <p:nvPr/>
        </p:nvSpPr>
        <p:spPr>
          <a:xfrm>
            <a:off x="6675120" y="5806440"/>
            <a:ext cx="2560320" cy="384048"/>
          </a:xfrm>
          <a:prstGeom prst="rect">
            <a:avLst/>
          </a:prstGeom>
          <a:noFill/>
        </p:spPr>
        <p:txBody>
          <a:bodyPr wrap="square" lIns="0" tIns="0" rIns="0" bIns="0" rtlCol="0" anchor="ctr">
            <a:noAutofit/>
          </a:bodyPr>
          <a:lstStyle/>
          <a:p>
            <a:pPr algn="ctr"/>
            <a:r>
              <a:rPr lang="en-US" sz="1800" b="1" dirty="0">
                <a:latin typeface="Helvetica Neue"/>
                <a:ea typeface="Helvetica Neue"/>
                <a:cs typeface="Helvetica Neue"/>
              </a:rPr>
              <a:t>Datacenter</a:t>
            </a:r>
          </a:p>
        </p:txBody>
      </p:sp>
      <p:pic>
        <p:nvPicPr>
          <p:cNvPr id="124" name="!!icon-hq" descr="HQ"/>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26480" y="7680960"/>
            <a:ext cx="1097280" cy="1097280"/>
          </a:xfrm>
          <a:prstGeom prst="rect">
            <a:avLst/>
          </a:prstGeom>
        </p:spPr>
      </p:pic>
      <p:sp>
        <p:nvSpPr>
          <p:cNvPr id="125" name="!!label-hq"/>
          <p:cNvSpPr txBox="1"/>
          <p:nvPr/>
        </p:nvSpPr>
        <p:spPr>
          <a:xfrm>
            <a:off x="5394960" y="8823960"/>
            <a:ext cx="2560320" cy="384048"/>
          </a:xfrm>
          <a:prstGeom prst="rect">
            <a:avLst/>
          </a:prstGeom>
          <a:noFill/>
        </p:spPr>
        <p:txBody>
          <a:bodyPr wrap="square" lIns="0" tIns="0" rIns="0" bIns="0" rtlCol="0" anchor="ctr">
            <a:noAutofit/>
          </a:bodyPr>
          <a:lstStyle/>
          <a:p>
            <a:pPr algn="ctr"/>
            <a:r>
              <a:rPr lang="en-US" sz="1800" b="1" dirty="0">
                <a:latin typeface="Helvetica Neue"/>
                <a:ea typeface="Helvetica Neue"/>
                <a:cs typeface="Helvetica Neue"/>
              </a:rPr>
              <a:t>HQ</a:t>
            </a:r>
          </a:p>
        </p:txBody>
      </p:sp>
      <p:pic>
        <p:nvPicPr>
          <p:cNvPr id="126" name="!!icon-main" descr="Main office"/>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86800" y="7680960"/>
            <a:ext cx="1097280" cy="1097280"/>
          </a:xfrm>
          <a:prstGeom prst="rect">
            <a:avLst/>
          </a:prstGeom>
        </p:spPr>
      </p:pic>
      <p:sp>
        <p:nvSpPr>
          <p:cNvPr id="127" name="!!label-main"/>
          <p:cNvSpPr txBox="1"/>
          <p:nvPr/>
        </p:nvSpPr>
        <p:spPr>
          <a:xfrm>
            <a:off x="7955280" y="8823960"/>
            <a:ext cx="2560320" cy="384048"/>
          </a:xfrm>
          <a:prstGeom prst="rect">
            <a:avLst/>
          </a:prstGeom>
          <a:noFill/>
        </p:spPr>
        <p:txBody>
          <a:bodyPr wrap="square" lIns="0" tIns="0" rIns="0" bIns="0" rtlCol="0" anchor="ctr">
            <a:noAutofit/>
          </a:bodyPr>
          <a:lstStyle/>
          <a:p>
            <a:pPr algn="ctr"/>
            <a:r>
              <a:rPr lang="en-US" sz="1800" b="1" dirty="0">
                <a:latin typeface="Helvetica Neue"/>
                <a:ea typeface="Helvetica Neue"/>
                <a:cs typeface="Helvetica Neue"/>
              </a:rPr>
              <a:t>Main office</a:t>
            </a:r>
          </a:p>
        </p:txBody>
      </p:sp>
      <p:pic>
        <p:nvPicPr>
          <p:cNvPr id="128" name="!!icon-fw" descr="Firewall"/>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43800" y="2606040"/>
            <a:ext cx="822960" cy="822960"/>
          </a:xfrm>
          <a:prstGeom prst="rect">
            <a:avLst/>
          </a:prstGeom>
        </p:spPr>
      </p:pic>
      <p:sp>
        <p:nvSpPr>
          <p:cNvPr id="129" name="!!label-fw"/>
          <p:cNvSpPr txBox="1"/>
          <p:nvPr/>
        </p:nvSpPr>
        <p:spPr>
          <a:xfrm>
            <a:off x="5074920" y="2825496"/>
            <a:ext cx="2377440" cy="384048"/>
          </a:xfrm>
          <a:prstGeom prst="rect">
            <a:avLst/>
          </a:prstGeom>
          <a:noFill/>
        </p:spPr>
        <p:txBody>
          <a:bodyPr wrap="square" lIns="0" tIns="0" rIns="0" bIns="0" rtlCol="0" anchor="ctr">
            <a:noAutofit/>
          </a:bodyPr>
          <a:lstStyle/>
          <a:p>
            <a:pPr algn="r"/>
            <a:r>
              <a:rPr lang="en-US" sz="1600" b="1" dirty="0">
                <a:latin typeface="Helvetica Neue"/>
                <a:ea typeface="Helvetica Neue"/>
                <a:cs typeface="Helvetica Neue"/>
              </a:rPr>
              <a:t>Firewall</a:t>
            </a:r>
          </a:p>
        </p:txBody>
      </p:sp>
      <p:pic>
        <p:nvPicPr>
          <p:cNvPr id="130" name="!!icon-inet" descr="Internet"/>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72800" y="1371600"/>
            <a:ext cx="2560320" cy="2560320"/>
          </a:xfrm>
          <a:prstGeom prst="rect">
            <a:avLst/>
          </a:prstGeom>
        </p:spPr>
      </p:pic>
      <p:sp>
        <p:nvSpPr>
          <p:cNvPr id="131" name="!!label-inet"/>
          <p:cNvSpPr txBox="1"/>
          <p:nvPr/>
        </p:nvSpPr>
        <p:spPr>
          <a:xfrm>
            <a:off x="11331245" y="2523744"/>
            <a:ext cx="1843430" cy="640080"/>
          </a:xfrm>
          <a:prstGeom prst="rect">
            <a:avLst/>
          </a:prstGeom>
          <a:noFill/>
        </p:spPr>
        <p:txBody>
          <a:bodyPr wrap="square" lIns="0" tIns="0" rIns="0" bIns="0" rtlCol="0" anchor="ctr">
            <a:noAutofit/>
          </a:bodyPr>
          <a:lstStyle/>
          <a:p>
            <a:pPr algn="ctr"/>
            <a:r>
              <a:rPr lang="en-US" sz="2400" b="1" dirty="0">
                <a:latin typeface="Helvetica Neue"/>
                <a:ea typeface="Helvetica Neue"/>
                <a:cs typeface="Helvetica Neue"/>
              </a:rPr>
              <a:t>Internet</a:t>
            </a:r>
          </a:p>
        </p:txBody>
      </p:sp>
      <p:pic>
        <p:nvPicPr>
          <p:cNvPr id="132" name="!!icon-phone" descr="Mobile banki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767560" y="1325880"/>
            <a:ext cx="822960" cy="822960"/>
          </a:xfrm>
          <a:prstGeom prst="rect">
            <a:avLst/>
          </a:prstGeom>
        </p:spPr>
      </p:pic>
      <p:sp>
        <p:nvSpPr>
          <p:cNvPr id="133" name="!!label-phone"/>
          <p:cNvSpPr txBox="1"/>
          <p:nvPr/>
        </p:nvSpPr>
        <p:spPr>
          <a:xfrm>
            <a:off x="13898880" y="219456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Mobile banking</a:t>
            </a:r>
          </a:p>
        </p:txBody>
      </p:sp>
      <p:pic>
        <p:nvPicPr>
          <p:cNvPr id="134" name="!!icon-hhA" descr="Work from home"/>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6550640" y="2194560"/>
            <a:ext cx="914400" cy="914400"/>
          </a:xfrm>
          <a:prstGeom prst="rect">
            <a:avLst/>
          </a:prstGeom>
        </p:spPr>
      </p:pic>
      <p:sp>
        <p:nvSpPr>
          <p:cNvPr id="135" name="!!label-hhA"/>
          <p:cNvSpPr txBox="1"/>
          <p:nvPr/>
        </p:nvSpPr>
        <p:spPr>
          <a:xfrm>
            <a:off x="15727680" y="315468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Work from home</a:t>
            </a:r>
          </a:p>
        </p:txBody>
      </p:sp>
      <p:pic>
        <p:nvPicPr>
          <p:cNvPr id="136" name="!!icon-shop" descr="shop"/>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4447520" y="4114800"/>
            <a:ext cx="914400" cy="914400"/>
          </a:xfrm>
          <a:prstGeom prst="rect">
            <a:avLst/>
          </a:prstGeom>
        </p:spPr>
      </p:pic>
      <p:pic>
        <p:nvPicPr>
          <p:cNvPr id="137" name="!!icon-factory" descr="factory"/>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6093440" y="4114800"/>
            <a:ext cx="914400" cy="914400"/>
          </a:xfrm>
          <a:prstGeom prst="rect">
            <a:avLst/>
          </a:prstGeom>
        </p:spPr>
      </p:pic>
      <p:pic>
        <p:nvPicPr>
          <p:cNvPr id="138" name="!!icon-core" descr="Core processo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344400" y="6675120"/>
            <a:ext cx="1280160" cy="1280160"/>
          </a:xfrm>
          <a:prstGeom prst="rect">
            <a:avLst/>
          </a:prstGeom>
        </p:spPr>
      </p:pic>
      <p:sp>
        <p:nvSpPr>
          <p:cNvPr id="139" name="!!label-core"/>
          <p:cNvSpPr txBox="1"/>
          <p:nvPr/>
        </p:nvSpPr>
        <p:spPr>
          <a:xfrm>
            <a:off x="11704320" y="8001000"/>
            <a:ext cx="2560320" cy="384048"/>
          </a:xfrm>
          <a:prstGeom prst="rect">
            <a:avLst/>
          </a:prstGeom>
          <a:noFill/>
        </p:spPr>
        <p:txBody>
          <a:bodyPr wrap="square" lIns="0" tIns="0" rIns="0" bIns="0" rtlCol="0" anchor="ctr">
            <a:noAutofit/>
          </a:bodyPr>
          <a:lstStyle/>
          <a:p>
            <a:pPr algn="ctr"/>
            <a:r>
              <a:rPr lang="en-US" sz="1800" b="1" dirty="0">
                <a:latin typeface="Helvetica Neue"/>
                <a:ea typeface="Helvetica Neue"/>
                <a:cs typeface="Helvetica Neue"/>
              </a:rPr>
              <a:t>Core processor</a:t>
            </a:r>
          </a:p>
        </p:txBody>
      </p:sp>
      <p:sp>
        <p:nvSpPr>
          <p:cNvPr id="140" name="!!glabel-biz"/>
          <p:cNvSpPr txBox="1"/>
          <p:nvPr/>
        </p:nvSpPr>
        <p:spPr>
          <a:xfrm>
            <a:off x="13898880" y="5157216"/>
            <a:ext cx="365760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Business customers</a:t>
            </a:r>
          </a:p>
        </p:txBody>
      </p:sp>
      <p:sp>
        <p:nvSpPr>
          <p:cNvPr id="141" name="!!caption"/>
          <p:cNvSpPr txBox="1"/>
          <p:nvPr/>
        </p:nvSpPr>
        <p:spPr>
          <a:xfrm>
            <a:off x="548640" y="9738360"/>
            <a:ext cx="17190720" cy="411480"/>
          </a:xfrm>
          <a:prstGeom prst="rect">
            <a:avLst/>
          </a:prstGeom>
          <a:noFill/>
        </p:spPr>
        <p:txBody>
          <a:bodyPr wrap="square" lIns="0" tIns="0" rIns="0" bIns="0" rtlCol="0" anchor="ctr">
            <a:noAutofit/>
          </a:bodyPr>
          <a:lstStyle/>
          <a:p>
            <a:pPr algn="l"/>
            <a:r>
              <a:rPr lang="en-US" sz="1800" b="0" dirty="0">
                <a:solidFill>
                  <a:srgbClr val="595959"/>
                </a:solidFill>
                <a:latin typeface="Helvetica Neue"/>
                <a:ea typeface="Helvetica Neue"/>
                <a:cs typeface="Helvetica Neue"/>
              </a:rPr>
              <a:t>3  Headquarters and a datacenter: an internet connection, a firewall, online banking, remote staff</a:t>
            </a:r>
          </a:p>
        </p:txBody>
      </p:sp>
    </p:spTree>
    <p:extLst>
      <p:ext uri="{BB962C8B-B14F-4D97-AF65-F5344CB8AC3E}">
        <p14:creationId xmlns:p14="http://schemas.microsoft.com/office/powerpoint/2010/main" val="3727927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400" b="1"/>
              <a:t>From Corner Bank to Global Conglomerate</a:t>
            </a:r>
          </a:p>
        </p:txBody>
      </p:sp>
      <p:cxnSp>
        <p:nvCxnSpPr>
          <p:cNvPr id="101" name="!!line-b1-wan"/>
          <p:cNvCxnSpPr/>
          <p:nvPr/>
        </p:nvCxnSpPr>
        <p:spPr>
          <a:xfrm>
            <a:off x="1821639" y="2703439"/>
            <a:ext cx="2042584" cy="1856894"/>
          </a:xfrm>
          <a:prstGeom prst="line">
            <a:avLst/>
          </a:prstGeom>
          <a:ln w="57150" cap="rnd">
            <a:solidFill>
              <a:schemeClr val="tx1"/>
            </a:solidFill>
          </a:ln>
        </p:spPr>
      </p:cxnSp>
      <p:cxnSp>
        <p:nvCxnSpPr>
          <p:cNvPr id="102" name="!!line-b2-wan"/>
          <p:cNvCxnSpPr/>
          <p:nvPr/>
        </p:nvCxnSpPr>
        <p:spPr>
          <a:xfrm>
            <a:off x="1926845" y="4346787"/>
            <a:ext cx="1542703" cy="467486"/>
          </a:xfrm>
          <a:prstGeom prst="line">
            <a:avLst/>
          </a:prstGeom>
          <a:ln w="57150" cap="rnd">
            <a:solidFill>
              <a:schemeClr val="tx1"/>
            </a:solidFill>
          </a:ln>
        </p:spPr>
      </p:cxnSp>
      <p:cxnSp>
        <p:nvCxnSpPr>
          <p:cNvPr id="103" name="!!line-b3-wan"/>
          <p:cNvCxnSpPr/>
          <p:nvPr/>
        </p:nvCxnSpPr>
        <p:spPr>
          <a:xfrm flipV="1">
            <a:off x="1926845" y="5427007"/>
            <a:ext cx="1542703" cy="467486"/>
          </a:xfrm>
          <a:prstGeom prst="line">
            <a:avLst/>
          </a:prstGeom>
          <a:ln w="57150" cap="rnd">
            <a:solidFill>
              <a:schemeClr val="tx1"/>
            </a:solidFill>
          </a:ln>
        </p:spPr>
      </p:cxnSp>
      <p:cxnSp>
        <p:nvCxnSpPr>
          <p:cNvPr id="104" name="!!line-b4-wan"/>
          <p:cNvCxnSpPr/>
          <p:nvPr/>
        </p:nvCxnSpPr>
        <p:spPr>
          <a:xfrm flipV="1">
            <a:off x="1821639" y="5680947"/>
            <a:ext cx="2042584" cy="1856894"/>
          </a:xfrm>
          <a:prstGeom prst="line">
            <a:avLst/>
          </a:prstGeom>
          <a:ln w="57150" cap="rnd">
            <a:solidFill>
              <a:schemeClr val="tx1"/>
            </a:solidFill>
          </a:ln>
        </p:spPr>
      </p:cxnSp>
      <p:cxnSp>
        <p:nvCxnSpPr>
          <p:cNvPr id="105" name="!!line-dc-wan"/>
          <p:cNvCxnSpPr/>
          <p:nvPr/>
        </p:nvCxnSpPr>
        <p:spPr>
          <a:xfrm>
            <a:off x="5621731" y="5120640"/>
            <a:ext cx="1848917" cy="0"/>
          </a:xfrm>
          <a:prstGeom prst="line">
            <a:avLst/>
          </a:prstGeom>
          <a:ln w="57150" cap="rnd">
            <a:solidFill>
              <a:schemeClr val="tx1"/>
            </a:solidFill>
          </a:ln>
        </p:spPr>
      </p:cxnSp>
      <p:cxnSp>
        <p:nvCxnSpPr>
          <p:cNvPr id="106" name="!!line-dc-hq"/>
          <p:cNvCxnSpPr/>
          <p:nvPr/>
        </p:nvCxnSpPr>
        <p:spPr>
          <a:xfrm flipH="1">
            <a:off x="6892370" y="5949255"/>
            <a:ext cx="721715" cy="1752737"/>
          </a:xfrm>
          <a:prstGeom prst="line">
            <a:avLst/>
          </a:prstGeom>
          <a:ln w="57150" cap="rnd">
            <a:solidFill>
              <a:schemeClr val="tx1"/>
            </a:solidFill>
          </a:ln>
        </p:spPr>
      </p:cxnSp>
      <p:cxnSp>
        <p:nvCxnSpPr>
          <p:cNvPr id="107" name="!!line-dc-main"/>
          <p:cNvCxnSpPr/>
          <p:nvPr/>
        </p:nvCxnSpPr>
        <p:spPr>
          <a:xfrm>
            <a:off x="8296474" y="5949255"/>
            <a:ext cx="721715" cy="1752737"/>
          </a:xfrm>
          <a:prstGeom prst="line">
            <a:avLst/>
          </a:prstGeom>
          <a:ln w="57150" cap="rnd">
            <a:solidFill>
              <a:schemeClr val="tx1"/>
            </a:solidFill>
          </a:ln>
        </p:spPr>
      </p:cxnSp>
      <p:cxnSp>
        <p:nvCxnSpPr>
          <p:cNvPr id="108" name="!!line-dc-fw"/>
          <p:cNvCxnSpPr/>
          <p:nvPr/>
        </p:nvCxnSpPr>
        <p:spPr>
          <a:xfrm flipV="1">
            <a:off x="7955280" y="3459175"/>
            <a:ext cx="0" cy="1176833"/>
          </a:xfrm>
          <a:prstGeom prst="line">
            <a:avLst/>
          </a:prstGeom>
          <a:ln w="57150" cap="rnd">
            <a:solidFill>
              <a:schemeClr val="tx1"/>
            </a:solidFill>
          </a:ln>
        </p:spPr>
      </p:cxnSp>
      <p:cxnSp>
        <p:nvCxnSpPr>
          <p:cNvPr id="109" name="!!line-fw-inet"/>
          <p:cNvCxnSpPr/>
          <p:nvPr/>
        </p:nvCxnSpPr>
        <p:spPr>
          <a:xfrm flipV="1">
            <a:off x="8395344" y="2751230"/>
            <a:ext cx="2688837" cy="228837"/>
          </a:xfrm>
          <a:prstGeom prst="line">
            <a:avLst/>
          </a:prstGeom>
          <a:ln w="57150" cap="rnd">
            <a:solidFill>
              <a:schemeClr val="tx1"/>
            </a:solidFill>
          </a:ln>
        </p:spPr>
      </p:cxnSp>
      <p:cxnSp>
        <p:nvCxnSpPr>
          <p:cNvPr id="110" name="!!line-inet-phone"/>
          <p:cNvCxnSpPr/>
          <p:nvPr/>
        </p:nvCxnSpPr>
        <p:spPr>
          <a:xfrm flipV="1">
            <a:off x="13292420" y="1869095"/>
            <a:ext cx="1465069" cy="457834"/>
          </a:xfrm>
          <a:prstGeom prst="line">
            <a:avLst/>
          </a:prstGeom>
          <a:ln w="57150" cap="rnd">
            <a:solidFill>
              <a:schemeClr val="tx1"/>
            </a:solidFill>
          </a:ln>
        </p:spPr>
      </p:cxnSp>
      <p:cxnSp>
        <p:nvCxnSpPr>
          <p:cNvPr id="111" name="!!line-hhA-inet"/>
          <p:cNvCxnSpPr/>
          <p:nvPr/>
        </p:nvCxnSpPr>
        <p:spPr>
          <a:xfrm>
            <a:off x="13434365" y="2651760"/>
            <a:ext cx="3088843" cy="0"/>
          </a:xfrm>
          <a:prstGeom prst="line">
            <a:avLst/>
          </a:prstGeom>
          <a:ln w="57150" cap="rnd">
            <a:solidFill>
              <a:schemeClr val="tx1"/>
            </a:solidFill>
          </a:ln>
        </p:spPr>
      </p:cxnSp>
      <p:cxnSp>
        <p:nvCxnSpPr>
          <p:cNvPr id="112" name="!!line-inet-shop"/>
          <p:cNvCxnSpPr/>
          <p:nvPr/>
        </p:nvCxnSpPr>
        <p:spPr>
          <a:xfrm>
            <a:off x="12992805" y="3187510"/>
            <a:ext cx="1519391" cy="1100249"/>
          </a:xfrm>
          <a:prstGeom prst="line">
            <a:avLst/>
          </a:prstGeom>
          <a:ln w="57150" cap="rnd">
            <a:solidFill>
              <a:schemeClr val="tx1"/>
            </a:solidFill>
          </a:ln>
        </p:spPr>
      </p:cxnSp>
      <p:cxnSp>
        <p:nvCxnSpPr>
          <p:cNvPr id="113" name="!!line-factory-inet"/>
          <p:cNvCxnSpPr/>
          <p:nvPr/>
        </p:nvCxnSpPr>
        <p:spPr>
          <a:xfrm>
            <a:off x="13188583" y="3069804"/>
            <a:ext cx="2919584" cy="1304495"/>
          </a:xfrm>
          <a:prstGeom prst="line">
            <a:avLst/>
          </a:prstGeom>
          <a:ln w="57150" cap="rnd">
            <a:solidFill>
              <a:schemeClr val="tx1"/>
            </a:solidFill>
          </a:ln>
        </p:spPr>
      </p:cxnSp>
      <p:cxnSp>
        <p:nvCxnSpPr>
          <p:cNvPr id="114" name="!!line-inet-wan"/>
          <p:cNvCxnSpPr/>
          <p:nvPr/>
        </p:nvCxnSpPr>
        <p:spPr>
          <a:xfrm flipV="1">
            <a:off x="5481039" y="2980714"/>
            <a:ext cx="5736324" cy="1822126"/>
          </a:xfrm>
          <a:prstGeom prst="line">
            <a:avLst/>
          </a:prstGeom>
          <a:ln w="57150" cap="rnd">
            <a:solidFill>
              <a:schemeClr val="tx1"/>
            </a:solidFill>
          </a:ln>
        </p:spPr>
      </p:cxnSp>
      <p:cxnSp>
        <p:nvCxnSpPr>
          <p:cNvPr id="115" name="!!line-inet-saas"/>
          <p:cNvCxnSpPr/>
          <p:nvPr/>
        </p:nvCxnSpPr>
        <p:spPr>
          <a:xfrm>
            <a:off x="12252960" y="3346704"/>
            <a:ext cx="0" cy="2907792"/>
          </a:xfrm>
          <a:prstGeom prst="line">
            <a:avLst/>
          </a:prstGeom>
          <a:ln w="57150" cap="rnd">
            <a:solidFill>
              <a:schemeClr val="tx1"/>
            </a:solidFill>
          </a:ln>
        </p:spPr>
      </p:cxnSp>
      <p:cxnSp>
        <p:nvCxnSpPr>
          <p:cNvPr id="116" name="!!line-core-saas"/>
          <p:cNvCxnSpPr/>
          <p:nvPr/>
        </p:nvCxnSpPr>
        <p:spPr>
          <a:xfrm>
            <a:off x="13434365" y="6949440"/>
            <a:ext cx="1862633" cy="0"/>
          </a:xfrm>
          <a:prstGeom prst="line">
            <a:avLst/>
          </a:prstGeom>
          <a:ln w="57150" cap="rnd">
            <a:solidFill>
              <a:schemeClr val="tx1"/>
            </a:solidFill>
          </a:ln>
        </p:spPr>
      </p:cxnSp>
      <p:pic>
        <p:nvPicPr>
          <p:cNvPr id="117" name="!!icon-b1" descr="b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840" y="1920240"/>
            <a:ext cx="914400" cy="914400"/>
          </a:xfrm>
          <a:prstGeom prst="rect">
            <a:avLst/>
          </a:prstGeom>
        </p:spPr>
      </p:pic>
      <p:pic>
        <p:nvPicPr>
          <p:cNvPr id="118" name="!!icon-b2" descr="b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840" y="3749040"/>
            <a:ext cx="914400" cy="914400"/>
          </a:xfrm>
          <a:prstGeom prst="rect">
            <a:avLst/>
          </a:prstGeom>
        </p:spPr>
      </p:pic>
      <p:pic>
        <p:nvPicPr>
          <p:cNvPr id="119" name="!!icon-b3" descr="b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840" y="5577840"/>
            <a:ext cx="914400" cy="914400"/>
          </a:xfrm>
          <a:prstGeom prst="rect">
            <a:avLst/>
          </a:prstGeom>
        </p:spPr>
      </p:pic>
      <p:pic>
        <p:nvPicPr>
          <p:cNvPr id="120" name="!!icon-b4" descr="Branches"/>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840" y="7406640"/>
            <a:ext cx="914400" cy="914400"/>
          </a:xfrm>
          <a:prstGeom prst="rect">
            <a:avLst/>
          </a:prstGeom>
        </p:spPr>
      </p:pic>
      <p:sp>
        <p:nvSpPr>
          <p:cNvPr id="121" name="!!label-b4"/>
          <p:cNvSpPr txBox="1"/>
          <p:nvPr/>
        </p:nvSpPr>
        <p:spPr>
          <a:xfrm>
            <a:off x="182880" y="836676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Branches</a:t>
            </a:r>
          </a:p>
        </p:txBody>
      </p:sp>
      <p:pic>
        <p:nvPicPr>
          <p:cNvPr id="122" name="!!icon-wan" descr="SD-WA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46120" y="3886200"/>
            <a:ext cx="2468880" cy="2468880"/>
          </a:xfrm>
          <a:prstGeom prst="rect">
            <a:avLst/>
          </a:prstGeom>
        </p:spPr>
      </p:pic>
      <p:sp>
        <p:nvSpPr>
          <p:cNvPr id="123" name="!!label-wan"/>
          <p:cNvSpPr txBox="1"/>
          <p:nvPr/>
        </p:nvSpPr>
        <p:spPr>
          <a:xfrm>
            <a:off x="3591763" y="4997196"/>
            <a:ext cx="1777594" cy="617220"/>
          </a:xfrm>
          <a:prstGeom prst="rect">
            <a:avLst/>
          </a:prstGeom>
          <a:noFill/>
        </p:spPr>
        <p:txBody>
          <a:bodyPr wrap="square" lIns="0" tIns="0" rIns="0" bIns="0" rtlCol="0" anchor="ctr">
            <a:noAutofit/>
          </a:bodyPr>
          <a:lstStyle/>
          <a:p>
            <a:pPr algn="ctr"/>
            <a:r>
              <a:rPr lang="en-US" sz="2400" b="1" dirty="0">
                <a:latin typeface="Helvetica Neue"/>
                <a:ea typeface="Helvetica Neue"/>
                <a:cs typeface="Helvetica Neue"/>
              </a:rPr>
              <a:t>SD-WAN</a:t>
            </a:r>
          </a:p>
        </p:txBody>
      </p:sp>
      <p:pic>
        <p:nvPicPr>
          <p:cNvPr id="124" name="!!icon-dc" descr="Datacente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98080" y="4663440"/>
            <a:ext cx="914400" cy="914400"/>
          </a:xfrm>
          <a:prstGeom prst="rect">
            <a:avLst/>
          </a:prstGeom>
        </p:spPr>
      </p:pic>
      <p:sp>
        <p:nvSpPr>
          <p:cNvPr id="125" name="!!label-dc"/>
          <p:cNvSpPr txBox="1"/>
          <p:nvPr/>
        </p:nvSpPr>
        <p:spPr>
          <a:xfrm>
            <a:off x="6675120" y="562356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Datacenter</a:t>
            </a:r>
          </a:p>
        </p:txBody>
      </p:sp>
      <p:pic>
        <p:nvPicPr>
          <p:cNvPr id="126" name="!!icon-hq" descr="HQ"/>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26480" y="7680960"/>
            <a:ext cx="1097280" cy="1097280"/>
          </a:xfrm>
          <a:prstGeom prst="rect">
            <a:avLst/>
          </a:prstGeom>
        </p:spPr>
      </p:pic>
      <p:sp>
        <p:nvSpPr>
          <p:cNvPr id="127" name="!!label-hq"/>
          <p:cNvSpPr txBox="1"/>
          <p:nvPr/>
        </p:nvSpPr>
        <p:spPr>
          <a:xfrm>
            <a:off x="5394960" y="8823960"/>
            <a:ext cx="2560320" cy="384048"/>
          </a:xfrm>
          <a:prstGeom prst="rect">
            <a:avLst/>
          </a:prstGeom>
          <a:noFill/>
        </p:spPr>
        <p:txBody>
          <a:bodyPr wrap="square" lIns="0" tIns="0" rIns="0" bIns="0" rtlCol="0" anchor="ctr">
            <a:noAutofit/>
          </a:bodyPr>
          <a:lstStyle/>
          <a:p>
            <a:pPr algn="ctr"/>
            <a:r>
              <a:rPr lang="en-US" sz="1800" b="1" dirty="0">
                <a:latin typeface="Helvetica Neue"/>
                <a:ea typeface="Helvetica Neue"/>
                <a:cs typeface="Helvetica Neue"/>
              </a:rPr>
              <a:t>HQ</a:t>
            </a:r>
          </a:p>
        </p:txBody>
      </p:sp>
      <p:pic>
        <p:nvPicPr>
          <p:cNvPr id="128" name="!!icon-main" descr="Main office"/>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86800" y="7680960"/>
            <a:ext cx="1097280" cy="1097280"/>
          </a:xfrm>
          <a:prstGeom prst="rect">
            <a:avLst/>
          </a:prstGeom>
        </p:spPr>
      </p:pic>
      <p:sp>
        <p:nvSpPr>
          <p:cNvPr id="129" name="!!label-main"/>
          <p:cNvSpPr txBox="1"/>
          <p:nvPr/>
        </p:nvSpPr>
        <p:spPr>
          <a:xfrm>
            <a:off x="7955280" y="8823960"/>
            <a:ext cx="2560320" cy="384048"/>
          </a:xfrm>
          <a:prstGeom prst="rect">
            <a:avLst/>
          </a:prstGeom>
          <a:noFill/>
        </p:spPr>
        <p:txBody>
          <a:bodyPr wrap="square" lIns="0" tIns="0" rIns="0" bIns="0" rtlCol="0" anchor="ctr">
            <a:noAutofit/>
          </a:bodyPr>
          <a:lstStyle/>
          <a:p>
            <a:pPr algn="ctr"/>
            <a:r>
              <a:rPr lang="en-US" sz="1800" b="1" dirty="0">
                <a:latin typeface="Helvetica Neue"/>
                <a:ea typeface="Helvetica Neue"/>
                <a:cs typeface="Helvetica Neue"/>
              </a:rPr>
              <a:t>Main office</a:t>
            </a:r>
          </a:p>
        </p:txBody>
      </p:sp>
      <p:pic>
        <p:nvPicPr>
          <p:cNvPr id="130" name="!!icon-fw" descr="Firewall"/>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43800" y="2606040"/>
            <a:ext cx="822960" cy="822960"/>
          </a:xfrm>
          <a:prstGeom prst="rect">
            <a:avLst/>
          </a:prstGeom>
        </p:spPr>
      </p:pic>
      <p:sp>
        <p:nvSpPr>
          <p:cNvPr id="131" name="!!label-fw"/>
          <p:cNvSpPr txBox="1"/>
          <p:nvPr/>
        </p:nvSpPr>
        <p:spPr>
          <a:xfrm>
            <a:off x="5074920" y="2825496"/>
            <a:ext cx="2377440" cy="384048"/>
          </a:xfrm>
          <a:prstGeom prst="rect">
            <a:avLst/>
          </a:prstGeom>
          <a:noFill/>
        </p:spPr>
        <p:txBody>
          <a:bodyPr wrap="square" lIns="0" tIns="0" rIns="0" bIns="0" rtlCol="0" anchor="ctr">
            <a:noAutofit/>
          </a:bodyPr>
          <a:lstStyle/>
          <a:p>
            <a:pPr algn="r"/>
            <a:r>
              <a:rPr lang="en-US" sz="1600" b="1" dirty="0">
                <a:latin typeface="Helvetica Neue"/>
                <a:ea typeface="Helvetica Neue"/>
                <a:cs typeface="Helvetica Neue"/>
              </a:rPr>
              <a:t>Firewall</a:t>
            </a:r>
          </a:p>
        </p:txBody>
      </p:sp>
      <p:pic>
        <p:nvPicPr>
          <p:cNvPr id="132" name="!!icon-inet" descr="Internet"/>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72800" y="1371600"/>
            <a:ext cx="2560320" cy="2560320"/>
          </a:xfrm>
          <a:prstGeom prst="rect">
            <a:avLst/>
          </a:prstGeom>
        </p:spPr>
      </p:pic>
      <p:sp>
        <p:nvSpPr>
          <p:cNvPr id="133" name="!!label-inet"/>
          <p:cNvSpPr txBox="1"/>
          <p:nvPr/>
        </p:nvSpPr>
        <p:spPr>
          <a:xfrm>
            <a:off x="11331245" y="2523744"/>
            <a:ext cx="1843430" cy="640080"/>
          </a:xfrm>
          <a:prstGeom prst="rect">
            <a:avLst/>
          </a:prstGeom>
          <a:noFill/>
        </p:spPr>
        <p:txBody>
          <a:bodyPr wrap="square" lIns="0" tIns="0" rIns="0" bIns="0" rtlCol="0" anchor="ctr">
            <a:noAutofit/>
          </a:bodyPr>
          <a:lstStyle/>
          <a:p>
            <a:pPr algn="ctr"/>
            <a:r>
              <a:rPr lang="en-US" sz="2400" b="1" dirty="0">
                <a:latin typeface="Helvetica Neue"/>
                <a:ea typeface="Helvetica Neue"/>
                <a:cs typeface="Helvetica Neue"/>
              </a:rPr>
              <a:t>Internet</a:t>
            </a:r>
          </a:p>
        </p:txBody>
      </p:sp>
      <p:pic>
        <p:nvPicPr>
          <p:cNvPr id="134" name="!!icon-phone" descr="Mobile banki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767560" y="1325880"/>
            <a:ext cx="822960" cy="822960"/>
          </a:xfrm>
          <a:prstGeom prst="rect">
            <a:avLst/>
          </a:prstGeom>
        </p:spPr>
      </p:pic>
      <p:sp>
        <p:nvSpPr>
          <p:cNvPr id="135" name="!!label-phone"/>
          <p:cNvSpPr txBox="1"/>
          <p:nvPr/>
        </p:nvSpPr>
        <p:spPr>
          <a:xfrm>
            <a:off x="13898880" y="219456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Mobile banking</a:t>
            </a:r>
          </a:p>
        </p:txBody>
      </p:sp>
      <p:pic>
        <p:nvPicPr>
          <p:cNvPr id="136" name="!!icon-hhA" descr="Work from home"/>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6550640" y="2194560"/>
            <a:ext cx="914400" cy="914400"/>
          </a:xfrm>
          <a:prstGeom prst="rect">
            <a:avLst/>
          </a:prstGeom>
        </p:spPr>
      </p:pic>
      <p:sp>
        <p:nvSpPr>
          <p:cNvPr id="137" name="!!label-hhA"/>
          <p:cNvSpPr txBox="1"/>
          <p:nvPr/>
        </p:nvSpPr>
        <p:spPr>
          <a:xfrm>
            <a:off x="15727680" y="315468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Work from home</a:t>
            </a:r>
          </a:p>
        </p:txBody>
      </p:sp>
      <p:pic>
        <p:nvPicPr>
          <p:cNvPr id="138" name="!!icon-shop" descr="shop"/>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4447520" y="4114800"/>
            <a:ext cx="914400" cy="914400"/>
          </a:xfrm>
          <a:prstGeom prst="rect">
            <a:avLst/>
          </a:prstGeom>
        </p:spPr>
      </p:pic>
      <p:pic>
        <p:nvPicPr>
          <p:cNvPr id="139" name="!!icon-factory" descr="factory"/>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6093440" y="4114800"/>
            <a:ext cx="914400" cy="914400"/>
          </a:xfrm>
          <a:prstGeom prst="rect">
            <a:avLst/>
          </a:prstGeom>
        </p:spPr>
      </p:pic>
      <p:pic>
        <p:nvPicPr>
          <p:cNvPr id="140" name="!!icon-core" descr="Hosted core"/>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316200" y="6355080"/>
            <a:ext cx="1188720" cy="1188720"/>
          </a:xfrm>
          <a:prstGeom prst="rect">
            <a:avLst/>
          </a:prstGeom>
        </p:spPr>
      </p:pic>
      <p:sp>
        <p:nvSpPr>
          <p:cNvPr id="141" name="!!label-core"/>
          <p:cNvSpPr txBox="1"/>
          <p:nvPr/>
        </p:nvSpPr>
        <p:spPr>
          <a:xfrm>
            <a:off x="14630400" y="7589520"/>
            <a:ext cx="2560320" cy="384048"/>
          </a:xfrm>
          <a:prstGeom prst="rect">
            <a:avLst/>
          </a:prstGeom>
          <a:noFill/>
        </p:spPr>
        <p:txBody>
          <a:bodyPr wrap="square" lIns="0" tIns="0" rIns="0" bIns="0" rtlCol="0" anchor="ctr">
            <a:noAutofit/>
          </a:bodyPr>
          <a:lstStyle/>
          <a:p>
            <a:pPr algn="ctr"/>
            <a:r>
              <a:rPr lang="en-US" sz="1800" b="1" dirty="0">
                <a:latin typeface="Helvetica Neue"/>
                <a:ea typeface="Helvetica Neue"/>
                <a:cs typeface="Helvetica Neue"/>
              </a:rPr>
              <a:t>Hosted core</a:t>
            </a:r>
          </a:p>
        </p:txBody>
      </p:sp>
      <p:pic>
        <p:nvPicPr>
          <p:cNvPr id="142" name="!!icon-saas" descr="Cloud &amp; Saa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72800" y="5669280"/>
            <a:ext cx="2560320" cy="2560320"/>
          </a:xfrm>
          <a:prstGeom prst="rect">
            <a:avLst/>
          </a:prstGeom>
        </p:spPr>
      </p:pic>
      <p:sp>
        <p:nvSpPr>
          <p:cNvPr id="143" name="!!label-saas"/>
          <p:cNvSpPr txBox="1"/>
          <p:nvPr/>
        </p:nvSpPr>
        <p:spPr>
          <a:xfrm>
            <a:off x="11331245" y="6821424"/>
            <a:ext cx="1843430" cy="640080"/>
          </a:xfrm>
          <a:prstGeom prst="rect">
            <a:avLst/>
          </a:prstGeom>
          <a:noFill/>
        </p:spPr>
        <p:txBody>
          <a:bodyPr wrap="square" lIns="0" tIns="0" rIns="0" bIns="0" rtlCol="0" anchor="ctr">
            <a:noAutofit/>
          </a:bodyPr>
          <a:lstStyle/>
          <a:p>
            <a:pPr algn="ctr"/>
            <a:r>
              <a:rPr lang="en-US" sz="2400" b="1" dirty="0">
                <a:latin typeface="Helvetica Neue"/>
                <a:ea typeface="Helvetica Neue"/>
                <a:cs typeface="Helvetica Neue"/>
              </a:rPr>
              <a:t>Cloud &amp; SaaS</a:t>
            </a:r>
          </a:p>
        </p:txBody>
      </p:sp>
      <p:sp>
        <p:nvSpPr>
          <p:cNvPr id="144" name="!!glabel-biz"/>
          <p:cNvSpPr txBox="1"/>
          <p:nvPr/>
        </p:nvSpPr>
        <p:spPr>
          <a:xfrm>
            <a:off x="13898880" y="5157216"/>
            <a:ext cx="365760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Business customers</a:t>
            </a:r>
          </a:p>
        </p:txBody>
      </p:sp>
      <p:sp>
        <p:nvSpPr>
          <p:cNvPr id="145" name="!!caption"/>
          <p:cNvSpPr txBox="1"/>
          <p:nvPr/>
        </p:nvSpPr>
        <p:spPr>
          <a:xfrm>
            <a:off x="548640" y="9738360"/>
            <a:ext cx="17190720" cy="411480"/>
          </a:xfrm>
          <a:prstGeom prst="rect">
            <a:avLst/>
          </a:prstGeom>
          <a:noFill/>
        </p:spPr>
        <p:txBody>
          <a:bodyPr wrap="square" lIns="0" tIns="0" rIns="0" bIns="0" rtlCol="0" anchor="ctr">
            <a:noAutofit/>
          </a:bodyPr>
          <a:lstStyle/>
          <a:p>
            <a:pPr algn="l"/>
            <a:r>
              <a:rPr lang="en-US" sz="1800" b="0" dirty="0">
                <a:solidFill>
                  <a:srgbClr val="595959"/>
                </a:solidFill>
                <a:latin typeface="Helvetica Neue"/>
                <a:ea typeface="Helvetica Neue"/>
                <a:cs typeface="Helvetica Neue"/>
              </a:rPr>
              <a:t>4  Cloud and SaaS: Microsoft 365, hosted core, and branches that ride the internet</a:t>
            </a:r>
          </a:p>
        </p:txBody>
      </p:sp>
    </p:spTree>
    <p:extLst>
      <p:ext uri="{BB962C8B-B14F-4D97-AF65-F5344CB8AC3E}">
        <p14:creationId xmlns:p14="http://schemas.microsoft.com/office/powerpoint/2010/main" val="17601527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400" b="1"/>
              <a:t>From Corner Bank to Global Conglomerate</a:t>
            </a:r>
          </a:p>
        </p:txBody>
      </p:sp>
      <p:cxnSp>
        <p:nvCxnSpPr>
          <p:cNvPr id="101" name="!!line-b1-wan"/>
          <p:cNvCxnSpPr/>
          <p:nvPr/>
        </p:nvCxnSpPr>
        <p:spPr>
          <a:xfrm>
            <a:off x="1821639" y="2703439"/>
            <a:ext cx="2042584" cy="1856894"/>
          </a:xfrm>
          <a:prstGeom prst="line">
            <a:avLst/>
          </a:prstGeom>
          <a:ln w="44450" cap="rnd">
            <a:solidFill>
              <a:schemeClr val="tx1"/>
            </a:solidFill>
          </a:ln>
        </p:spPr>
      </p:cxnSp>
      <p:cxnSp>
        <p:nvCxnSpPr>
          <p:cNvPr id="102" name="!!line-b2-wan"/>
          <p:cNvCxnSpPr/>
          <p:nvPr/>
        </p:nvCxnSpPr>
        <p:spPr>
          <a:xfrm>
            <a:off x="1926845" y="4346787"/>
            <a:ext cx="1542703" cy="467486"/>
          </a:xfrm>
          <a:prstGeom prst="line">
            <a:avLst/>
          </a:prstGeom>
          <a:ln w="44450" cap="rnd">
            <a:solidFill>
              <a:schemeClr val="tx1"/>
            </a:solidFill>
          </a:ln>
        </p:spPr>
      </p:cxnSp>
      <p:cxnSp>
        <p:nvCxnSpPr>
          <p:cNvPr id="103" name="!!line-b3-wan"/>
          <p:cNvCxnSpPr/>
          <p:nvPr/>
        </p:nvCxnSpPr>
        <p:spPr>
          <a:xfrm flipV="1">
            <a:off x="1926845" y="5427007"/>
            <a:ext cx="1542703" cy="467486"/>
          </a:xfrm>
          <a:prstGeom prst="line">
            <a:avLst/>
          </a:prstGeom>
          <a:ln w="44450" cap="rnd">
            <a:solidFill>
              <a:schemeClr val="tx1"/>
            </a:solidFill>
          </a:ln>
        </p:spPr>
      </p:cxnSp>
      <p:cxnSp>
        <p:nvCxnSpPr>
          <p:cNvPr id="104" name="!!line-b4-wan"/>
          <p:cNvCxnSpPr/>
          <p:nvPr/>
        </p:nvCxnSpPr>
        <p:spPr>
          <a:xfrm flipV="1">
            <a:off x="1821639" y="5680947"/>
            <a:ext cx="2042584" cy="1856894"/>
          </a:xfrm>
          <a:prstGeom prst="line">
            <a:avLst/>
          </a:prstGeom>
          <a:ln w="44450" cap="rnd">
            <a:solidFill>
              <a:schemeClr val="tx1"/>
            </a:solidFill>
          </a:ln>
        </p:spPr>
      </p:cxnSp>
      <p:cxnSp>
        <p:nvCxnSpPr>
          <p:cNvPr id="105" name="!!line-dc-wan"/>
          <p:cNvCxnSpPr/>
          <p:nvPr/>
        </p:nvCxnSpPr>
        <p:spPr>
          <a:xfrm>
            <a:off x="5621731" y="5120640"/>
            <a:ext cx="1848917" cy="0"/>
          </a:xfrm>
          <a:prstGeom prst="line">
            <a:avLst/>
          </a:prstGeom>
          <a:ln w="44450" cap="rnd">
            <a:solidFill>
              <a:schemeClr val="tx1"/>
            </a:solidFill>
          </a:ln>
        </p:spPr>
      </p:cxnSp>
      <p:cxnSp>
        <p:nvCxnSpPr>
          <p:cNvPr id="106" name="!!line-dc-hq"/>
          <p:cNvCxnSpPr/>
          <p:nvPr/>
        </p:nvCxnSpPr>
        <p:spPr>
          <a:xfrm flipH="1">
            <a:off x="7069332" y="5983103"/>
            <a:ext cx="642689" cy="2278626"/>
          </a:xfrm>
          <a:prstGeom prst="line">
            <a:avLst/>
          </a:prstGeom>
          <a:ln w="44450" cap="rnd">
            <a:solidFill>
              <a:schemeClr val="tx1"/>
            </a:solidFill>
          </a:ln>
        </p:spPr>
      </p:cxnSp>
      <p:cxnSp>
        <p:nvCxnSpPr>
          <p:cNvPr id="107" name="!!line-dc-main"/>
          <p:cNvCxnSpPr/>
          <p:nvPr/>
        </p:nvCxnSpPr>
        <p:spPr>
          <a:xfrm>
            <a:off x="8198539" y="5983103"/>
            <a:ext cx="642689" cy="2278626"/>
          </a:xfrm>
          <a:prstGeom prst="line">
            <a:avLst/>
          </a:prstGeom>
          <a:ln w="44450" cap="rnd">
            <a:solidFill>
              <a:schemeClr val="tx1"/>
            </a:solidFill>
          </a:ln>
        </p:spPr>
      </p:cxnSp>
      <p:cxnSp>
        <p:nvCxnSpPr>
          <p:cNvPr id="108" name="!!line-dc-fw"/>
          <p:cNvCxnSpPr/>
          <p:nvPr/>
        </p:nvCxnSpPr>
        <p:spPr>
          <a:xfrm flipV="1">
            <a:off x="7955280" y="3459175"/>
            <a:ext cx="0" cy="1176833"/>
          </a:xfrm>
          <a:prstGeom prst="line">
            <a:avLst/>
          </a:prstGeom>
          <a:ln w="44450" cap="rnd">
            <a:solidFill>
              <a:schemeClr val="tx1"/>
            </a:solidFill>
          </a:ln>
        </p:spPr>
      </p:cxnSp>
      <p:cxnSp>
        <p:nvCxnSpPr>
          <p:cNvPr id="109" name="!!line-fw-inet"/>
          <p:cNvCxnSpPr/>
          <p:nvPr/>
        </p:nvCxnSpPr>
        <p:spPr>
          <a:xfrm flipV="1">
            <a:off x="8395344" y="2751230"/>
            <a:ext cx="2688837" cy="228837"/>
          </a:xfrm>
          <a:prstGeom prst="line">
            <a:avLst/>
          </a:prstGeom>
          <a:ln w="44450" cap="rnd">
            <a:solidFill>
              <a:schemeClr val="tx1"/>
            </a:solidFill>
          </a:ln>
        </p:spPr>
      </p:cxnSp>
      <p:cxnSp>
        <p:nvCxnSpPr>
          <p:cNvPr id="110" name="!!line-inet-phone"/>
          <p:cNvCxnSpPr/>
          <p:nvPr/>
        </p:nvCxnSpPr>
        <p:spPr>
          <a:xfrm flipV="1">
            <a:off x="13292420" y="1869095"/>
            <a:ext cx="1465069" cy="457834"/>
          </a:xfrm>
          <a:prstGeom prst="line">
            <a:avLst/>
          </a:prstGeom>
          <a:ln w="44450" cap="rnd">
            <a:solidFill>
              <a:schemeClr val="tx1"/>
            </a:solidFill>
          </a:ln>
        </p:spPr>
      </p:cxnSp>
      <p:cxnSp>
        <p:nvCxnSpPr>
          <p:cNvPr id="111" name="!!line-hhA-inet"/>
          <p:cNvCxnSpPr/>
          <p:nvPr/>
        </p:nvCxnSpPr>
        <p:spPr>
          <a:xfrm>
            <a:off x="13434365" y="2651760"/>
            <a:ext cx="3088843" cy="0"/>
          </a:xfrm>
          <a:prstGeom prst="line">
            <a:avLst/>
          </a:prstGeom>
          <a:ln w="44450" cap="rnd">
            <a:solidFill>
              <a:schemeClr val="tx1"/>
            </a:solidFill>
          </a:ln>
        </p:spPr>
      </p:cxnSp>
      <p:cxnSp>
        <p:nvCxnSpPr>
          <p:cNvPr id="112" name="!!line-inet-shop"/>
          <p:cNvCxnSpPr/>
          <p:nvPr/>
        </p:nvCxnSpPr>
        <p:spPr>
          <a:xfrm>
            <a:off x="12992805" y="3187510"/>
            <a:ext cx="1519391" cy="1100249"/>
          </a:xfrm>
          <a:prstGeom prst="line">
            <a:avLst/>
          </a:prstGeom>
          <a:ln w="44450" cap="rnd">
            <a:solidFill>
              <a:schemeClr val="tx1"/>
            </a:solidFill>
          </a:ln>
        </p:spPr>
      </p:cxnSp>
      <p:cxnSp>
        <p:nvCxnSpPr>
          <p:cNvPr id="113" name="!!line-factory-inet"/>
          <p:cNvCxnSpPr/>
          <p:nvPr/>
        </p:nvCxnSpPr>
        <p:spPr>
          <a:xfrm>
            <a:off x="13188583" y="3069804"/>
            <a:ext cx="2919584" cy="1304495"/>
          </a:xfrm>
          <a:prstGeom prst="line">
            <a:avLst/>
          </a:prstGeom>
          <a:ln w="44450" cap="rnd">
            <a:solidFill>
              <a:schemeClr val="tx1"/>
            </a:solidFill>
          </a:ln>
        </p:spPr>
      </p:cxnSp>
      <p:cxnSp>
        <p:nvCxnSpPr>
          <p:cNvPr id="114" name="!!line-inet-wan"/>
          <p:cNvCxnSpPr/>
          <p:nvPr/>
        </p:nvCxnSpPr>
        <p:spPr>
          <a:xfrm flipV="1">
            <a:off x="5481039" y="2980714"/>
            <a:ext cx="5736324" cy="1822126"/>
          </a:xfrm>
          <a:prstGeom prst="line">
            <a:avLst/>
          </a:prstGeom>
          <a:ln w="44450" cap="rnd">
            <a:solidFill>
              <a:schemeClr val="tx1"/>
            </a:solidFill>
          </a:ln>
        </p:spPr>
      </p:cxnSp>
      <p:cxnSp>
        <p:nvCxnSpPr>
          <p:cNvPr id="115" name="!!line-inet-saas"/>
          <p:cNvCxnSpPr/>
          <p:nvPr/>
        </p:nvCxnSpPr>
        <p:spPr>
          <a:xfrm>
            <a:off x="12252960" y="3346704"/>
            <a:ext cx="0" cy="2679192"/>
          </a:xfrm>
          <a:prstGeom prst="line">
            <a:avLst/>
          </a:prstGeom>
          <a:ln w="44450" cap="rnd">
            <a:solidFill>
              <a:schemeClr val="tx1"/>
            </a:solidFill>
          </a:ln>
        </p:spPr>
      </p:cxnSp>
      <p:cxnSp>
        <p:nvCxnSpPr>
          <p:cNvPr id="116" name="!!line-core-saas"/>
          <p:cNvCxnSpPr/>
          <p:nvPr/>
        </p:nvCxnSpPr>
        <p:spPr>
          <a:xfrm>
            <a:off x="13353898" y="6675120"/>
            <a:ext cx="1943100" cy="0"/>
          </a:xfrm>
          <a:prstGeom prst="line">
            <a:avLst/>
          </a:prstGeom>
          <a:ln w="44450" cap="rnd">
            <a:solidFill>
              <a:schemeClr val="tx1"/>
            </a:solidFill>
          </a:ln>
        </p:spPr>
      </p:cxnSp>
      <p:cxnSp>
        <p:nvCxnSpPr>
          <p:cNvPr id="117" name="!!line-card-dc"/>
          <p:cNvCxnSpPr/>
          <p:nvPr/>
        </p:nvCxnSpPr>
        <p:spPr>
          <a:xfrm flipH="1">
            <a:off x="6151186" y="5780117"/>
            <a:ext cx="1197376" cy="1301496"/>
          </a:xfrm>
          <a:prstGeom prst="line">
            <a:avLst/>
          </a:prstGeom>
          <a:ln w="44450" cap="rnd">
            <a:solidFill>
              <a:schemeClr val="tx1"/>
            </a:solidFill>
          </a:ln>
        </p:spPr>
      </p:cxnSp>
      <p:cxnSp>
        <p:nvCxnSpPr>
          <p:cNvPr id="118" name="!!line-dc-fed"/>
          <p:cNvCxnSpPr/>
          <p:nvPr/>
        </p:nvCxnSpPr>
        <p:spPr>
          <a:xfrm>
            <a:off x="8561998" y="5780117"/>
            <a:ext cx="1197376" cy="1301496"/>
          </a:xfrm>
          <a:prstGeom prst="line">
            <a:avLst/>
          </a:prstGeom>
          <a:ln w="44450" cap="rnd">
            <a:solidFill>
              <a:schemeClr val="tx1"/>
            </a:solidFill>
          </a:ln>
        </p:spPr>
      </p:cxnSp>
      <p:cxnSp>
        <p:nvCxnSpPr>
          <p:cNvPr id="119" name="!!line-fintech-saas"/>
          <p:cNvCxnSpPr/>
          <p:nvPr/>
        </p:nvCxnSpPr>
        <p:spPr>
          <a:xfrm>
            <a:off x="13069841" y="7103983"/>
            <a:ext cx="2449678" cy="1286081"/>
          </a:xfrm>
          <a:prstGeom prst="line">
            <a:avLst/>
          </a:prstGeom>
          <a:ln w="44450" cap="rnd">
            <a:solidFill>
              <a:schemeClr val="tx1"/>
            </a:solidFill>
          </a:ln>
        </p:spPr>
      </p:cxnSp>
      <p:cxnSp>
        <p:nvCxnSpPr>
          <p:cNvPr id="120" name="!!line-mssp-saas"/>
          <p:cNvCxnSpPr/>
          <p:nvPr/>
        </p:nvCxnSpPr>
        <p:spPr>
          <a:xfrm>
            <a:off x="12252960" y="7324344"/>
            <a:ext cx="0" cy="1012241"/>
          </a:xfrm>
          <a:prstGeom prst="line">
            <a:avLst/>
          </a:prstGeom>
          <a:ln w="44450" cap="rnd">
            <a:solidFill>
              <a:schemeClr val="tx1"/>
            </a:solidFill>
          </a:ln>
        </p:spPr>
      </p:cxnSp>
      <p:pic>
        <p:nvPicPr>
          <p:cNvPr id="121" name="!!icon-b1" descr="b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840" y="1920240"/>
            <a:ext cx="914400" cy="914400"/>
          </a:xfrm>
          <a:prstGeom prst="rect">
            <a:avLst/>
          </a:prstGeom>
        </p:spPr>
      </p:pic>
      <p:pic>
        <p:nvPicPr>
          <p:cNvPr id="122" name="!!icon-b2" descr="b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840" y="3749040"/>
            <a:ext cx="914400" cy="914400"/>
          </a:xfrm>
          <a:prstGeom prst="rect">
            <a:avLst/>
          </a:prstGeom>
        </p:spPr>
      </p:pic>
      <p:pic>
        <p:nvPicPr>
          <p:cNvPr id="123" name="!!icon-b3" descr="b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840" y="5577840"/>
            <a:ext cx="914400" cy="914400"/>
          </a:xfrm>
          <a:prstGeom prst="rect">
            <a:avLst/>
          </a:prstGeom>
        </p:spPr>
      </p:pic>
      <p:pic>
        <p:nvPicPr>
          <p:cNvPr id="124" name="!!icon-b4" descr="Branches"/>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840" y="7406640"/>
            <a:ext cx="914400" cy="914400"/>
          </a:xfrm>
          <a:prstGeom prst="rect">
            <a:avLst/>
          </a:prstGeom>
        </p:spPr>
      </p:pic>
      <p:sp>
        <p:nvSpPr>
          <p:cNvPr id="125" name="!!label-b4"/>
          <p:cNvSpPr txBox="1"/>
          <p:nvPr/>
        </p:nvSpPr>
        <p:spPr>
          <a:xfrm>
            <a:off x="182880" y="836676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Branches</a:t>
            </a:r>
          </a:p>
        </p:txBody>
      </p:sp>
      <p:pic>
        <p:nvPicPr>
          <p:cNvPr id="126" name="!!icon-wan" descr="SD-WA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46120" y="3886200"/>
            <a:ext cx="2468880" cy="2468880"/>
          </a:xfrm>
          <a:prstGeom prst="rect">
            <a:avLst/>
          </a:prstGeom>
        </p:spPr>
      </p:pic>
      <p:sp>
        <p:nvSpPr>
          <p:cNvPr id="127" name="!!label-wan"/>
          <p:cNvSpPr txBox="1"/>
          <p:nvPr/>
        </p:nvSpPr>
        <p:spPr>
          <a:xfrm>
            <a:off x="3591763" y="4997196"/>
            <a:ext cx="1777594" cy="617220"/>
          </a:xfrm>
          <a:prstGeom prst="rect">
            <a:avLst/>
          </a:prstGeom>
          <a:noFill/>
        </p:spPr>
        <p:txBody>
          <a:bodyPr wrap="square" lIns="0" tIns="0" rIns="0" bIns="0" rtlCol="0" anchor="ctr">
            <a:noAutofit/>
          </a:bodyPr>
          <a:lstStyle/>
          <a:p>
            <a:pPr algn="ctr"/>
            <a:r>
              <a:rPr lang="en-US" sz="2400" b="1" dirty="0">
                <a:latin typeface="Helvetica Neue"/>
                <a:ea typeface="Helvetica Neue"/>
                <a:cs typeface="Helvetica Neue"/>
              </a:rPr>
              <a:t>SD-WAN</a:t>
            </a:r>
          </a:p>
        </p:txBody>
      </p:sp>
      <p:pic>
        <p:nvPicPr>
          <p:cNvPr id="128" name="!!icon-dc" descr="Datacente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98080" y="4663440"/>
            <a:ext cx="914400" cy="914400"/>
          </a:xfrm>
          <a:prstGeom prst="rect">
            <a:avLst/>
          </a:prstGeom>
        </p:spPr>
      </p:pic>
      <p:sp>
        <p:nvSpPr>
          <p:cNvPr id="129" name="!!label-dc"/>
          <p:cNvSpPr txBox="1"/>
          <p:nvPr/>
        </p:nvSpPr>
        <p:spPr>
          <a:xfrm>
            <a:off x="6675120" y="562356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Datacenter</a:t>
            </a:r>
          </a:p>
        </p:txBody>
      </p:sp>
      <p:pic>
        <p:nvPicPr>
          <p:cNvPr id="130" name="!!icon-hq" descr="HQ"/>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37960" y="8275320"/>
            <a:ext cx="822960" cy="822960"/>
          </a:xfrm>
          <a:prstGeom prst="rect">
            <a:avLst/>
          </a:prstGeom>
        </p:spPr>
      </p:pic>
      <p:sp>
        <p:nvSpPr>
          <p:cNvPr id="131" name="!!label-hq"/>
          <p:cNvSpPr txBox="1"/>
          <p:nvPr/>
        </p:nvSpPr>
        <p:spPr>
          <a:xfrm>
            <a:off x="5669280" y="914400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HQ</a:t>
            </a:r>
          </a:p>
        </p:txBody>
      </p:sp>
      <p:pic>
        <p:nvPicPr>
          <p:cNvPr id="132" name="!!icon-main" descr="Main office"/>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49640" y="8275320"/>
            <a:ext cx="822960" cy="822960"/>
          </a:xfrm>
          <a:prstGeom prst="rect">
            <a:avLst/>
          </a:prstGeom>
        </p:spPr>
      </p:pic>
      <p:sp>
        <p:nvSpPr>
          <p:cNvPr id="133" name="!!label-main"/>
          <p:cNvSpPr txBox="1"/>
          <p:nvPr/>
        </p:nvSpPr>
        <p:spPr>
          <a:xfrm>
            <a:off x="7680960" y="914400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Main office</a:t>
            </a:r>
          </a:p>
        </p:txBody>
      </p:sp>
      <p:pic>
        <p:nvPicPr>
          <p:cNvPr id="134" name="!!icon-fw" descr="Firewall"/>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43800" y="2606040"/>
            <a:ext cx="822960" cy="822960"/>
          </a:xfrm>
          <a:prstGeom prst="rect">
            <a:avLst/>
          </a:prstGeom>
        </p:spPr>
      </p:pic>
      <p:sp>
        <p:nvSpPr>
          <p:cNvPr id="135" name="!!label-fw"/>
          <p:cNvSpPr txBox="1"/>
          <p:nvPr/>
        </p:nvSpPr>
        <p:spPr>
          <a:xfrm>
            <a:off x="5074920" y="2825496"/>
            <a:ext cx="2377440" cy="384048"/>
          </a:xfrm>
          <a:prstGeom prst="rect">
            <a:avLst/>
          </a:prstGeom>
          <a:noFill/>
        </p:spPr>
        <p:txBody>
          <a:bodyPr wrap="square" lIns="0" tIns="0" rIns="0" bIns="0" rtlCol="0" anchor="ctr">
            <a:noAutofit/>
          </a:bodyPr>
          <a:lstStyle/>
          <a:p>
            <a:pPr algn="r"/>
            <a:r>
              <a:rPr lang="en-US" sz="1600" b="1" dirty="0">
                <a:latin typeface="Helvetica Neue"/>
                <a:ea typeface="Helvetica Neue"/>
                <a:cs typeface="Helvetica Neue"/>
              </a:rPr>
              <a:t>Firewall</a:t>
            </a:r>
          </a:p>
        </p:txBody>
      </p:sp>
      <p:pic>
        <p:nvPicPr>
          <p:cNvPr id="136" name="!!icon-inet" descr="Internet"/>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72800" y="1371600"/>
            <a:ext cx="2560320" cy="2560320"/>
          </a:xfrm>
          <a:prstGeom prst="rect">
            <a:avLst/>
          </a:prstGeom>
        </p:spPr>
      </p:pic>
      <p:sp>
        <p:nvSpPr>
          <p:cNvPr id="137" name="!!label-inet"/>
          <p:cNvSpPr txBox="1"/>
          <p:nvPr/>
        </p:nvSpPr>
        <p:spPr>
          <a:xfrm>
            <a:off x="11331245" y="2523744"/>
            <a:ext cx="1843430" cy="640080"/>
          </a:xfrm>
          <a:prstGeom prst="rect">
            <a:avLst/>
          </a:prstGeom>
          <a:noFill/>
        </p:spPr>
        <p:txBody>
          <a:bodyPr wrap="square" lIns="0" tIns="0" rIns="0" bIns="0" rtlCol="0" anchor="ctr">
            <a:noAutofit/>
          </a:bodyPr>
          <a:lstStyle/>
          <a:p>
            <a:pPr algn="ctr"/>
            <a:r>
              <a:rPr lang="en-US" sz="2400" b="1" dirty="0">
                <a:latin typeface="Helvetica Neue"/>
                <a:ea typeface="Helvetica Neue"/>
                <a:cs typeface="Helvetica Neue"/>
              </a:rPr>
              <a:t>Internet</a:t>
            </a:r>
          </a:p>
        </p:txBody>
      </p:sp>
      <p:pic>
        <p:nvPicPr>
          <p:cNvPr id="138" name="!!icon-phone" descr="Mobile banki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767560" y="1325880"/>
            <a:ext cx="822960" cy="822960"/>
          </a:xfrm>
          <a:prstGeom prst="rect">
            <a:avLst/>
          </a:prstGeom>
        </p:spPr>
      </p:pic>
      <p:sp>
        <p:nvSpPr>
          <p:cNvPr id="139" name="!!label-phone"/>
          <p:cNvSpPr txBox="1"/>
          <p:nvPr/>
        </p:nvSpPr>
        <p:spPr>
          <a:xfrm>
            <a:off x="13898880" y="219456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Mobile banking</a:t>
            </a:r>
          </a:p>
        </p:txBody>
      </p:sp>
      <p:pic>
        <p:nvPicPr>
          <p:cNvPr id="140" name="!!icon-hhA" descr="Work from home"/>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6550640" y="2194560"/>
            <a:ext cx="914400" cy="914400"/>
          </a:xfrm>
          <a:prstGeom prst="rect">
            <a:avLst/>
          </a:prstGeom>
        </p:spPr>
      </p:pic>
      <p:sp>
        <p:nvSpPr>
          <p:cNvPr id="141" name="!!label-hhA"/>
          <p:cNvSpPr txBox="1"/>
          <p:nvPr/>
        </p:nvSpPr>
        <p:spPr>
          <a:xfrm>
            <a:off x="15727680" y="315468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Work from home</a:t>
            </a:r>
          </a:p>
        </p:txBody>
      </p:sp>
      <p:pic>
        <p:nvPicPr>
          <p:cNvPr id="142" name="!!icon-shop" descr="shop"/>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4447520" y="4114800"/>
            <a:ext cx="914400" cy="914400"/>
          </a:xfrm>
          <a:prstGeom prst="rect">
            <a:avLst/>
          </a:prstGeom>
        </p:spPr>
      </p:pic>
      <p:pic>
        <p:nvPicPr>
          <p:cNvPr id="143" name="!!icon-factory" descr="factory"/>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6093440" y="4114800"/>
            <a:ext cx="914400" cy="914400"/>
          </a:xfrm>
          <a:prstGeom prst="rect">
            <a:avLst/>
          </a:prstGeom>
        </p:spPr>
      </p:pic>
      <p:pic>
        <p:nvPicPr>
          <p:cNvPr id="144" name="!!icon-core" descr="Hosted core"/>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316200" y="6080760"/>
            <a:ext cx="1188720" cy="1188720"/>
          </a:xfrm>
          <a:prstGeom prst="rect">
            <a:avLst/>
          </a:prstGeom>
        </p:spPr>
      </p:pic>
      <p:sp>
        <p:nvSpPr>
          <p:cNvPr id="145" name="!!label-core"/>
          <p:cNvSpPr txBox="1"/>
          <p:nvPr/>
        </p:nvSpPr>
        <p:spPr>
          <a:xfrm>
            <a:off x="14630400" y="7315200"/>
            <a:ext cx="2560320" cy="384048"/>
          </a:xfrm>
          <a:prstGeom prst="rect">
            <a:avLst/>
          </a:prstGeom>
          <a:noFill/>
        </p:spPr>
        <p:txBody>
          <a:bodyPr wrap="square" lIns="0" tIns="0" rIns="0" bIns="0" rtlCol="0" anchor="ctr">
            <a:noAutofit/>
          </a:bodyPr>
          <a:lstStyle/>
          <a:p>
            <a:pPr algn="ctr"/>
            <a:r>
              <a:rPr lang="en-US" sz="1800" b="1" dirty="0">
                <a:latin typeface="Helvetica Neue"/>
                <a:ea typeface="Helvetica Neue"/>
                <a:cs typeface="Helvetica Neue"/>
              </a:rPr>
              <a:t>Hosted core</a:t>
            </a:r>
          </a:p>
        </p:txBody>
      </p:sp>
      <p:pic>
        <p:nvPicPr>
          <p:cNvPr id="146" name="!!icon-saas" descr="Cloud &amp; Saa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64240" y="5486400"/>
            <a:ext cx="2377440" cy="2377440"/>
          </a:xfrm>
          <a:prstGeom prst="rect">
            <a:avLst/>
          </a:prstGeom>
        </p:spPr>
      </p:pic>
      <p:sp>
        <p:nvSpPr>
          <p:cNvPr id="147" name="!!label-saas"/>
          <p:cNvSpPr txBox="1"/>
          <p:nvPr/>
        </p:nvSpPr>
        <p:spPr>
          <a:xfrm>
            <a:off x="11397082" y="6556248"/>
            <a:ext cx="1711757" cy="594360"/>
          </a:xfrm>
          <a:prstGeom prst="rect">
            <a:avLst/>
          </a:prstGeom>
          <a:noFill/>
        </p:spPr>
        <p:txBody>
          <a:bodyPr wrap="square" lIns="0" tIns="0" rIns="0" bIns="0" rtlCol="0" anchor="ctr">
            <a:noAutofit/>
          </a:bodyPr>
          <a:lstStyle/>
          <a:p>
            <a:pPr algn="ctr"/>
            <a:r>
              <a:rPr lang="en-US" sz="2400" b="1" dirty="0">
                <a:latin typeface="Helvetica Neue"/>
                <a:ea typeface="Helvetica Neue"/>
                <a:cs typeface="Helvetica Neue"/>
              </a:rPr>
              <a:t>Cloud &amp; SaaS</a:t>
            </a:r>
          </a:p>
        </p:txBody>
      </p:sp>
      <p:pic>
        <p:nvPicPr>
          <p:cNvPr id="148" name="!!icon-card" descr="Card processo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440680" y="6995160"/>
            <a:ext cx="822960" cy="822960"/>
          </a:xfrm>
          <a:prstGeom prst="rect">
            <a:avLst/>
          </a:prstGeom>
        </p:spPr>
      </p:pic>
      <p:sp>
        <p:nvSpPr>
          <p:cNvPr id="149" name="!!label-card"/>
          <p:cNvSpPr txBox="1"/>
          <p:nvPr/>
        </p:nvSpPr>
        <p:spPr>
          <a:xfrm>
            <a:off x="4572000" y="786384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Card processor</a:t>
            </a:r>
          </a:p>
        </p:txBody>
      </p:sp>
      <p:pic>
        <p:nvPicPr>
          <p:cNvPr id="150" name="!!icon-fed" descr="Fed &amp; ACH"/>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646920" y="6995160"/>
            <a:ext cx="822960" cy="822960"/>
          </a:xfrm>
          <a:prstGeom prst="rect">
            <a:avLst/>
          </a:prstGeom>
        </p:spPr>
      </p:pic>
      <p:sp>
        <p:nvSpPr>
          <p:cNvPr id="151" name="!!label-fed"/>
          <p:cNvSpPr txBox="1"/>
          <p:nvPr/>
        </p:nvSpPr>
        <p:spPr>
          <a:xfrm>
            <a:off x="8778240" y="786384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Fed &amp; ACH</a:t>
            </a:r>
          </a:p>
        </p:txBody>
      </p:sp>
      <p:pic>
        <p:nvPicPr>
          <p:cNvPr id="152" name="!!icon-fintech" descr="Fintech partners"/>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5499080" y="8183880"/>
            <a:ext cx="822960" cy="822960"/>
          </a:xfrm>
          <a:prstGeom prst="rect">
            <a:avLst/>
          </a:prstGeom>
        </p:spPr>
      </p:pic>
      <p:sp>
        <p:nvSpPr>
          <p:cNvPr id="153" name="!!label-fintech"/>
          <p:cNvSpPr txBox="1"/>
          <p:nvPr/>
        </p:nvSpPr>
        <p:spPr>
          <a:xfrm>
            <a:off x="14630400" y="905256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Fintech partners</a:t>
            </a:r>
          </a:p>
        </p:txBody>
      </p:sp>
      <p:pic>
        <p:nvPicPr>
          <p:cNvPr id="154" name="!!icon-mssp" descr="Managed security"/>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1841480" y="8366760"/>
            <a:ext cx="822960" cy="822960"/>
          </a:xfrm>
          <a:prstGeom prst="rect">
            <a:avLst/>
          </a:prstGeom>
        </p:spPr>
      </p:pic>
      <p:sp>
        <p:nvSpPr>
          <p:cNvPr id="155" name="!!label-mssp"/>
          <p:cNvSpPr txBox="1"/>
          <p:nvPr/>
        </p:nvSpPr>
        <p:spPr>
          <a:xfrm>
            <a:off x="10972800" y="923544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Managed security</a:t>
            </a:r>
          </a:p>
        </p:txBody>
      </p:sp>
      <p:sp>
        <p:nvSpPr>
          <p:cNvPr id="156" name="!!glabel-biz"/>
          <p:cNvSpPr txBox="1"/>
          <p:nvPr/>
        </p:nvSpPr>
        <p:spPr>
          <a:xfrm>
            <a:off x="13898880" y="5157216"/>
            <a:ext cx="365760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Business customers</a:t>
            </a:r>
          </a:p>
        </p:txBody>
      </p:sp>
      <p:sp>
        <p:nvSpPr>
          <p:cNvPr id="157" name="!!caption"/>
          <p:cNvSpPr txBox="1"/>
          <p:nvPr/>
        </p:nvSpPr>
        <p:spPr>
          <a:xfrm>
            <a:off x="548640" y="9738360"/>
            <a:ext cx="17190720" cy="411480"/>
          </a:xfrm>
          <a:prstGeom prst="rect">
            <a:avLst/>
          </a:prstGeom>
          <a:noFill/>
        </p:spPr>
        <p:txBody>
          <a:bodyPr wrap="square" lIns="0" tIns="0" rIns="0" bIns="0" rtlCol="0" anchor="ctr">
            <a:noAutofit/>
          </a:bodyPr>
          <a:lstStyle/>
          <a:p>
            <a:pPr algn="l"/>
            <a:r>
              <a:rPr lang="en-US" sz="1800" b="0" dirty="0">
                <a:solidFill>
                  <a:srgbClr val="595959"/>
                </a:solidFill>
                <a:latin typeface="Helvetica Neue"/>
                <a:ea typeface="Helvetica Neue"/>
                <a:cs typeface="Helvetica Neue"/>
              </a:rPr>
              <a:t>5  Vendors and partners: card processing, payments, fintech connections, managed security</a:t>
            </a:r>
          </a:p>
        </p:txBody>
      </p:sp>
    </p:spTree>
    <p:extLst>
      <p:ext uri="{BB962C8B-B14F-4D97-AF65-F5344CB8AC3E}">
        <p14:creationId xmlns:p14="http://schemas.microsoft.com/office/powerpoint/2010/main" val="22274502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400" b="1"/>
              <a:t>From Corner Bank to Global Conglomerate</a:t>
            </a:r>
          </a:p>
        </p:txBody>
      </p:sp>
      <p:cxnSp>
        <p:nvCxnSpPr>
          <p:cNvPr id="101" name="!!line-b3-wan"/>
          <p:cNvCxnSpPr/>
          <p:nvPr/>
        </p:nvCxnSpPr>
        <p:spPr>
          <a:xfrm>
            <a:off x="2902366" y="2507123"/>
            <a:ext cx="761737" cy="672121"/>
          </a:xfrm>
          <a:prstGeom prst="line">
            <a:avLst/>
          </a:prstGeom>
          <a:ln w="31750" cap="rnd">
            <a:solidFill>
              <a:schemeClr val="tx1"/>
            </a:solidFill>
          </a:ln>
        </p:spPr>
      </p:cxnSp>
      <p:cxnSp>
        <p:nvCxnSpPr>
          <p:cNvPr id="102" name="!!line-b6-wan"/>
          <p:cNvCxnSpPr/>
          <p:nvPr/>
        </p:nvCxnSpPr>
        <p:spPr>
          <a:xfrm>
            <a:off x="2972393" y="3294704"/>
            <a:ext cx="359416" cy="105711"/>
          </a:xfrm>
          <a:prstGeom prst="line">
            <a:avLst/>
          </a:prstGeom>
          <a:ln w="31750" cap="rnd">
            <a:solidFill>
              <a:schemeClr val="tx1"/>
            </a:solidFill>
          </a:ln>
        </p:spPr>
      </p:cxnSp>
      <p:cxnSp>
        <p:nvCxnSpPr>
          <p:cNvPr id="103" name="!!line-b9-wan"/>
          <p:cNvCxnSpPr/>
          <p:nvPr/>
        </p:nvCxnSpPr>
        <p:spPr>
          <a:xfrm flipV="1">
            <a:off x="2972393" y="3914786"/>
            <a:ext cx="359416" cy="105711"/>
          </a:xfrm>
          <a:prstGeom prst="line">
            <a:avLst/>
          </a:prstGeom>
          <a:ln w="31750" cap="rnd">
            <a:solidFill>
              <a:schemeClr val="tx1"/>
            </a:solidFill>
          </a:ln>
        </p:spPr>
      </p:cxnSp>
      <p:cxnSp>
        <p:nvCxnSpPr>
          <p:cNvPr id="104" name="!!line-b12-wan"/>
          <p:cNvCxnSpPr/>
          <p:nvPr/>
        </p:nvCxnSpPr>
        <p:spPr>
          <a:xfrm flipV="1">
            <a:off x="2902366" y="4135956"/>
            <a:ext cx="761737" cy="672121"/>
          </a:xfrm>
          <a:prstGeom prst="line">
            <a:avLst/>
          </a:prstGeom>
          <a:ln w="31750" cap="rnd">
            <a:solidFill>
              <a:schemeClr val="tx1"/>
            </a:solidFill>
          </a:ln>
        </p:spPr>
      </p:cxnSp>
      <p:cxnSp>
        <p:nvCxnSpPr>
          <p:cNvPr id="105" name="!!line-dc-wan"/>
          <p:cNvCxnSpPr/>
          <p:nvPr/>
        </p:nvCxnSpPr>
        <p:spPr>
          <a:xfrm>
            <a:off x="5172197" y="3754196"/>
            <a:ext cx="1337780" cy="133778"/>
          </a:xfrm>
          <a:prstGeom prst="line">
            <a:avLst/>
          </a:prstGeom>
          <a:ln w="31750" cap="rnd">
            <a:solidFill>
              <a:schemeClr val="tx1"/>
            </a:solidFill>
          </a:ln>
        </p:spPr>
      </p:cxnSp>
      <p:cxnSp>
        <p:nvCxnSpPr>
          <p:cNvPr id="106" name="!!line-dc2-wan"/>
          <p:cNvCxnSpPr/>
          <p:nvPr/>
        </p:nvCxnSpPr>
        <p:spPr>
          <a:xfrm>
            <a:off x="4929350" y="4043259"/>
            <a:ext cx="1630394" cy="869543"/>
          </a:xfrm>
          <a:prstGeom prst="line">
            <a:avLst/>
          </a:prstGeom>
          <a:ln w="31750" cap="rnd">
            <a:solidFill>
              <a:schemeClr val="tx1"/>
            </a:solidFill>
          </a:ln>
        </p:spPr>
      </p:cxnSp>
      <p:cxnSp>
        <p:nvCxnSpPr>
          <p:cNvPr id="107" name="!!line-dc-fw"/>
          <p:cNvCxnSpPr/>
          <p:nvPr/>
        </p:nvCxnSpPr>
        <p:spPr>
          <a:xfrm flipV="1">
            <a:off x="7320241" y="3119315"/>
            <a:ext cx="885043" cy="572675"/>
          </a:xfrm>
          <a:prstGeom prst="line">
            <a:avLst/>
          </a:prstGeom>
          <a:ln w="31750" cap="rnd">
            <a:solidFill>
              <a:schemeClr val="tx1"/>
            </a:solidFill>
          </a:ln>
        </p:spPr>
      </p:cxnSp>
      <p:cxnSp>
        <p:nvCxnSpPr>
          <p:cNvPr id="108" name="!!line-fw-inet"/>
          <p:cNvCxnSpPr/>
          <p:nvPr/>
        </p:nvCxnSpPr>
        <p:spPr>
          <a:xfrm flipV="1">
            <a:off x="8858161" y="2750630"/>
            <a:ext cx="1575705" cy="143246"/>
          </a:xfrm>
          <a:prstGeom prst="line">
            <a:avLst/>
          </a:prstGeom>
          <a:ln w="31750" cap="rnd">
            <a:solidFill>
              <a:schemeClr val="tx1"/>
            </a:solidFill>
          </a:ln>
        </p:spPr>
      </p:cxnSp>
      <p:cxnSp>
        <p:nvCxnSpPr>
          <p:cNvPr id="109" name="!!line-inet-wan"/>
          <p:cNvCxnSpPr/>
          <p:nvPr/>
        </p:nvCxnSpPr>
        <p:spPr>
          <a:xfrm flipV="1">
            <a:off x="5160004" y="2799033"/>
            <a:ext cx="5290358" cy="727424"/>
          </a:xfrm>
          <a:prstGeom prst="line">
            <a:avLst/>
          </a:prstGeom>
          <a:ln w="31750" cap="rnd">
            <a:solidFill>
              <a:schemeClr val="tx1"/>
            </a:solidFill>
          </a:ln>
        </p:spPr>
      </p:cxnSp>
      <p:cxnSp>
        <p:nvCxnSpPr>
          <p:cNvPr id="110" name="!!line-dc2-hq"/>
          <p:cNvCxnSpPr/>
          <p:nvPr/>
        </p:nvCxnSpPr>
        <p:spPr>
          <a:xfrm>
            <a:off x="7680997" y="5559574"/>
            <a:ext cx="718526" cy="431116"/>
          </a:xfrm>
          <a:prstGeom prst="line">
            <a:avLst/>
          </a:prstGeom>
          <a:ln w="31750" cap="rnd">
            <a:solidFill>
              <a:schemeClr val="tx1"/>
            </a:solidFill>
          </a:ln>
        </p:spPr>
      </p:cxnSp>
      <p:cxnSp>
        <p:nvCxnSpPr>
          <p:cNvPr id="111" name="!!line-hq-main"/>
          <p:cNvCxnSpPr/>
          <p:nvPr/>
        </p:nvCxnSpPr>
        <p:spPr>
          <a:xfrm>
            <a:off x="8778240" y="7071055"/>
            <a:ext cx="0" cy="394106"/>
          </a:xfrm>
          <a:prstGeom prst="line">
            <a:avLst/>
          </a:prstGeom>
          <a:ln w="31750" cap="rnd">
            <a:solidFill>
              <a:schemeClr val="tx1"/>
            </a:solidFill>
          </a:ln>
        </p:spPr>
      </p:cxnSp>
      <p:cxnSp>
        <p:nvCxnSpPr>
          <p:cNvPr id="112" name="!!line-card-dc2"/>
          <p:cNvCxnSpPr/>
          <p:nvPr/>
        </p:nvCxnSpPr>
        <p:spPr>
          <a:xfrm flipH="1">
            <a:off x="6203724" y="5883707"/>
            <a:ext cx="364182" cy="728364"/>
          </a:xfrm>
          <a:prstGeom prst="line">
            <a:avLst/>
          </a:prstGeom>
          <a:ln w="31750" cap="rnd">
            <a:solidFill>
              <a:schemeClr val="tx1"/>
            </a:solidFill>
          </a:ln>
        </p:spPr>
      </p:cxnSp>
      <p:cxnSp>
        <p:nvCxnSpPr>
          <p:cNvPr id="113" name="!!line-fed-hq"/>
          <p:cNvCxnSpPr/>
          <p:nvPr/>
        </p:nvCxnSpPr>
        <p:spPr>
          <a:xfrm flipH="1">
            <a:off x="7498430" y="6802629"/>
            <a:ext cx="658557" cy="619819"/>
          </a:xfrm>
          <a:prstGeom prst="line">
            <a:avLst/>
          </a:prstGeom>
          <a:ln w="31750" cap="rnd">
            <a:solidFill>
              <a:schemeClr val="tx1"/>
            </a:solidFill>
          </a:ln>
        </p:spPr>
      </p:cxnSp>
      <p:cxnSp>
        <p:nvCxnSpPr>
          <p:cNvPr id="114" name="!!line-inet-saas"/>
          <p:cNvCxnSpPr/>
          <p:nvPr/>
        </p:nvCxnSpPr>
        <p:spPr>
          <a:xfrm>
            <a:off x="11558516" y="3300582"/>
            <a:ext cx="113951" cy="1994149"/>
          </a:xfrm>
          <a:prstGeom prst="line">
            <a:avLst/>
          </a:prstGeom>
          <a:ln w="31750" cap="rnd">
            <a:solidFill>
              <a:schemeClr val="tx1"/>
            </a:solidFill>
          </a:ln>
        </p:spPr>
      </p:cxnSp>
      <p:cxnSp>
        <p:nvCxnSpPr>
          <p:cNvPr id="115" name="!!line-cloud2-saas"/>
          <p:cNvCxnSpPr/>
          <p:nvPr/>
        </p:nvCxnSpPr>
        <p:spPr>
          <a:xfrm flipV="1">
            <a:off x="12535095" y="5310948"/>
            <a:ext cx="928163" cy="285589"/>
          </a:xfrm>
          <a:prstGeom prst="line">
            <a:avLst/>
          </a:prstGeom>
          <a:ln w="31750" cap="rnd">
            <a:solidFill>
              <a:schemeClr val="tx1"/>
            </a:solidFill>
          </a:ln>
        </p:spPr>
      </p:cxnSp>
      <p:cxnSp>
        <p:nvCxnSpPr>
          <p:cNvPr id="116" name="!!line-cloud3-saas"/>
          <p:cNvCxnSpPr/>
          <p:nvPr/>
        </p:nvCxnSpPr>
        <p:spPr>
          <a:xfrm>
            <a:off x="12512071" y="6131766"/>
            <a:ext cx="968095" cy="335110"/>
          </a:xfrm>
          <a:prstGeom prst="line">
            <a:avLst/>
          </a:prstGeom>
          <a:ln w="31750" cap="rnd">
            <a:solidFill>
              <a:schemeClr val="tx1"/>
            </a:solidFill>
          </a:ln>
        </p:spPr>
      </p:cxnSp>
      <p:cxnSp>
        <p:nvCxnSpPr>
          <p:cNvPr id="117" name="!!line-cloud2-core"/>
          <p:cNvCxnSpPr/>
          <p:nvPr/>
        </p:nvCxnSpPr>
        <p:spPr>
          <a:xfrm>
            <a:off x="14598498" y="5397464"/>
            <a:ext cx="1616388" cy="865922"/>
          </a:xfrm>
          <a:prstGeom prst="line">
            <a:avLst/>
          </a:prstGeom>
          <a:ln w="31750" cap="rnd">
            <a:solidFill>
              <a:schemeClr val="tx1"/>
            </a:solidFill>
          </a:ln>
        </p:spPr>
      </p:cxnSp>
      <p:cxnSp>
        <p:nvCxnSpPr>
          <p:cNvPr id="118" name="!!line-inet-phone"/>
          <p:cNvCxnSpPr/>
          <p:nvPr/>
        </p:nvCxnSpPr>
        <p:spPr>
          <a:xfrm flipV="1">
            <a:off x="12592116" y="1880533"/>
            <a:ext cx="4499298" cy="622980"/>
          </a:xfrm>
          <a:prstGeom prst="line">
            <a:avLst/>
          </a:prstGeom>
          <a:ln w="31750" cap="rnd">
            <a:solidFill>
              <a:schemeClr val="tx1"/>
            </a:solidFill>
          </a:ln>
        </p:spPr>
      </p:cxnSp>
      <p:cxnSp>
        <p:nvCxnSpPr>
          <p:cNvPr id="119" name="!!line-hhA-inet"/>
          <p:cNvCxnSpPr/>
          <p:nvPr/>
        </p:nvCxnSpPr>
        <p:spPr>
          <a:xfrm>
            <a:off x="12620821" y="2685587"/>
            <a:ext cx="4467207" cy="137453"/>
          </a:xfrm>
          <a:prstGeom prst="line">
            <a:avLst/>
          </a:prstGeom>
          <a:ln w="31750" cap="rnd">
            <a:solidFill>
              <a:schemeClr val="tx1"/>
            </a:solidFill>
          </a:ln>
        </p:spPr>
      </p:cxnSp>
      <p:cxnSp>
        <p:nvCxnSpPr>
          <p:cNvPr id="120" name="!!line-inet-shop"/>
          <p:cNvCxnSpPr/>
          <p:nvPr/>
        </p:nvCxnSpPr>
        <p:spPr>
          <a:xfrm>
            <a:off x="12561967" y="2859865"/>
            <a:ext cx="4533208" cy="906642"/>
          </a:xfrm>
          <a:prstGeom prst="line">
            <a:avLst/>
          </a:prstGeom>
          <a:ln w="31750" cap="rnd">
            <a:solidFill>
              <a:schemeClr val="tx1"/>
            </a:solidFill>
          </a:ln>
        </p:spPr>
      </p:cxnSp>
      <p:cxnSp>
        <p:nvCxnSpPr>
          <p:cNvPr id="121" name="!!line-factory-inet"/>
          <p:cNvCxnSpPr/>
          <p:nvPr/>
        </p:nvCxnSpPr>
        <p:spPr>
          <a:xfrm>
            <a:off x="12450043" y="2994629"/>
            <a:ext cx="4661156" cy="1721042"/>
          </a:xfrm>
          <a:prstGeom prst="line">
            <a:avLst/>
          </a:prstGeom>
          <a:ln w="31750" cap="rnd">
            <a:solidFill>
              <a:schemeClr val="tx1"/>
            </a:solidFill>
          </a:ln>
        </p:spPr>
      </p:cxnSp>
      <p:cxnSp>
        <p:nvCxnSpPr>
          <p:cNvPr id="122" name="!!line-mssp-saas"/>
          <p:cNvCxnSpPr/>
          <p:nvPr/>
        </p:nvCxnSpPr>
        <p:spPr>
          <a:xfrm>
            <a:off x="11741473" y="6409462"/>
            <a:ext cx="120636" cy="1809543"/>
          </a:xfrm>
          <a:prstGeom prst="line">
            <a:avLst/>
          </a:prstGeom>
          <a:ln w="31750" cap="rnd">
            <a:solidFill>
              <a:schemeClr val="tx1"/>
            </a:solidFill>
          </a:ln>
        </p:spPr>
      </p:cxnSp>
      <p:cxnSp>
        <p:nvCxnSpPr>
          <p:cNvPr id="123" name="!!line-cloud3-fintech"/>
          <p:cNvCxnSpPr/>
          <p:nvPr/>
        </p:nvCxnSpPr>
        <p:spPr>
          <a:xfrm>
            <a:off x="14450708" y="7027297"/>
            <a:ext cx="1369890" cy="1307622"/>
          </a:xfrm>
          <a:prstGeom prst="line">
            <a:avLst/>
          </a:prstGeom>
          <a:ln w="31750" cap="rnd">
            <a:solidFill>
              <a:schemeClr val="tx1"/>
            </a:solidFill>
          </a:ln>
        </p:spPr>
      </p:cxnSp>
      <p:cxnSp>
        <p:nvCxnSpPr>
          <p:cNvPr id="124" name="!!line-merger-wan2"/>
          <p:cNvCxnSpPr/>
          <p:nvPr/>
        </p:nvCxnSpPr>
        <p:spPr>
          <a:xfrm>
            <a:off x="2731437" y="7133147"/>
            <a:ext cx="763304" cy="485739"/>
          </a:xfrm>
          <a:prstGeom prst="line">
            <a:avLst/>
          </a:prstGeom>
          <a:ln w="31750" cap="rnd">
            <a:solidFill>
              <a:schemeClr val="tx1"/>
            </a:solidFill>
          </a:ln>
        </p:spPr>
      </p:cxnSp>
      <p:cxnSp>
        <p:nvCxnSpPr>
          <p:cNvPr id="125" name="!!line-ab1-wan2"/>
          <p:cNvCxnSpPr/>
          <p:nvPr/>
        </p:nvCxnSpPr>
        <p:spPr>
          <a:xfrm flipV="1">
            <a:off x="2132188" y="8134305"/>
            <a:ext cx="1175071" cy="293768"/>
          </a:xfrm>
          <a:prstGeom prst="line">
            <a:avLst/>
          </a:prstGeom>
          <a:ln w="31750" cap="rnd">
            <a:solidFill>
              <a:schemeClr val="tx1"/>
            </a:solidFill>
          </a:ln>
        </p:spPr>
      </p:cxnSp>
      <p:cxnSp>
        <p:nvCxnSpPr>
          <p:cNvPr id="126" name="!!line-ab2-wan2"/>
          <p:cNvCxnSpPr/>
          <p:nvPr/>
        </p:nvCxnSpPr>
        <p:spPr>
          <a:xfrm flipV="1">
            <a:off x="2972363" y="8343599"/>
            <a:ext cx="632807" cy="587607"/>
          </a:xfrm>
          <a:prstGeom prst="line">
            <a:avLst/>
          </a:prstGeom>
          <a:ln w="31750" cap="rnd">
            <a:solidFill>
              <a:schemeClr val="tx1"/>
            </a:solidFill>
          </a:ln>
        </p:spPr>
      </p:cxnSp>
      <p:cxnSp>
        <p:nvCxnSpPr>
          <p:cNvPr id="127" name="!!line-ab3-wan2"/>
          <p:cNvCxnSpPr/>
          <p:nvPr/>
        </p:nvCxnSpPr>
        <p:spPr>
          <a:xfrm flipV="1">
            <a:off x="4023360" y="8421624"/>
            <a:ext cx="0" cy="501091"/>
          </a:xfrm>
          <a:prstGeom prst="line">
            <a:avLst/>
          </a:prstGeom>
          <a:ln w="31750" cap="rnd">
            <a:solidFill>
              <a:schemeClr val="tx1"/>
            </a:solidFill>
          </a:ln>
        </p:spPr>
      </p:cxnSp>
      <p:cxnSp>
        <p:nvCxnSpPr>
          <p:cNvPr id="128" name="!!line-wan-wan2"/>
          <p:cNvCxnSpPr/>
          <p:nvPr/>
        </p:nvCxnSpPr>
        <p:spPr>
          <a:xfrm flipV="1">
            <a:off x="4043197" y="4238041"/>
            <a:ext cx="138343" cy="3251065"/>
          </a:xfrm>
          <a:prstGeom prst="line">
            <a:avLst/>
          </a:prstGeom>
          <a:ln w="31750" cap="rnd">
            <a:solidFill>
              <a:schemeClr val="tx1"/>
            </a:solidFill>
          </a:ln>
        </p:spPr>
      </p:cxnSp>
      <p:cxnSp>
        <p:nvCxnSpPr>
          <p:cNvPr id="129" name="!!line-globe-wan"/>
          <p:cNvCxnSpPr/>
          <p:nvPr/>
        </p:nvCxnSpPr>
        <p:spPr>
          <a:xfrm flipV="1">
            <a:off x="4852135" y="2463385"/>
            <a:ext cx="1145427" cy="763618"/>
          </a:xfrm>
          <a:prstGeom prst="line">
            <a:avLst/>
          </a:prstGeom>
          <a:ln w="31750" cap="rnd">
            <a:solidFill>
              <a:schemeClr val="tx1"/>
            </a:solidFill>
          </a:ln>
        </p:spPr>
      </p:cxnSp>
      <p:pic>
        <p:nvPicPr>
          <p:cNvPr id="130" name="!!icon-b1" descr="b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5780" y="1988820"/>
            <a:ext cx="594360" cy="594360"/>
          </a:xfrm>
          <a:prstGeom prst="rect">
            <a:avLst/>
          </a:prstGeom>
        </p:spPr>
      </p:pic>
      <p:pic>
        <p:nvPicPr>
          <p:cNvPr id="131" name="!!icon-b2" descr="b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40180" y="1988820"/>
            <a:ext cx="594360" cy="594360"/>
          </a:xfrm>
          <a:prstGeom prst="rect">
            <a:avLst/>
          </a:prstGeom>
        </p:spPr>
      </p:pic>
      <p:pic>
        <p:nvPicPr>
          <p:cNvPr id="132" name="!!icon-b3" descr="b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54580" y="1988820"/>
            <a:ext cx="594360" cy="594360"/>
          </a:xfrm>
          <a:prstGeom prst="rect">
            <a:avLst/>
          </a:prstGeom>
        </p:spPr>
      </p:pic>
      <p:pic>
        <p:nvPicPr>
          <p:cNvPr id="133" name="!!icon-b4" descr="b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5780" y="2903220"/>
            <a:ext cx="594360" cy="594360"/>
          </a:xfrm>
          <a:prstGeom prst="rect">
            <a:avLst/>
          </a:prstGeom>
        </p:spPr>
      </p:pic>
      <p:pic>
        <p:nvPicPr>
          <p:cNvPr id="134" name="!!icon-b5" descr="b5"/>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40180" y="2903220"/>
            <a:ext cx="594360" cy="594360"/>
          </a:xfrm>
          <a:prstGeom prst="rect">
            <a:avLst/>
          </a:prstGeom>
        </p:spPr>
      </p:pic>
      <p:pic>
        <p:nvPicPr>
          <p:cNvPr id="135" name="!!icon-b6" descr="b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54580" y="2903220"/>
            <a:ext cx="594360" cy="594360"/>
          </a:xfrm>
          <a:prstGeom prst="rect">
            <a:avLst/>
          </a:prstGeom>
        </p:spPr>
      </p:pic>
      <p:pic>
        <p:nvPicPr>
          <p:cNvPr id="136" name="!!icon-b7" descr="b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5780" y="3817620"/>
            <a:ext cx="594360" cy="594360"/>
          </a:xfrm>
          <a:prstGeom prst="rect">
            <a:avLst/>
          </a:prstGeom>
        </p:spPr>
      </p:pic>
      <p:pic>
        <p:nvPicPr>
          <p:cNvPr id="137" name="!!icon-b8" descr="b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40180" y="3817620"/>
            <a:ext cx="594360" cy="594360"/>
          </a:xfrm>
          <a:prstGeom prst="rect">
            <a:avLst/>
          </a:prstGeom>
        </p:spPr>
      </p:pic>
      <p:pic>
        <p:nvPicPr>
          <p:cNvPr id="138" name="!!icon-b9" descr="b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54580" y="3817620"/>
            <a:ext cx="594360" cy="594360"/>
          </a:xfrm>
          <a:prstGeom prst="rect">
            <a:avLst/>
          </a:prstGeom>
        </p:spPr>
      </p:pic>
      <p:pic>
        <p:nvPicPr>
          <p:cNvPr id="139" name="!!icon-b10" descr="b1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5780" y="4732020"/>
            <a:ext cx="594360" cy="594360"/>
          </a:xfrm>
          <a:prstGeom prst="rect">
            <a:avLst/>
          </a:prstGeom>
        </p:spPr>
      </p:pic>
      <p:pic>
        <p:nvPicPr>
          <p:cNvPr id="140" name="!!icon-b11" descr="b1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40180" y="4732020"/>
            <a:ext cx="594360" cy="594360"/>
          </a:xfrm>
          <a:prstGeom prst="rect">
            <a:avLst/>
          </a:prstGeom>
        </p:spPr>
      </p:pic>
      <p:pic>
        <p:nvPicPr>
          <p:cNvPr id="141" name="!!icon-b12" descr="b1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54580" y="4732020"/>
            <a:ext cx="594360" cy="594360"/>
          </a:xfrm>
          <a:prstGeom prst="rect">
            <a:avLst/>
          </a:prstGeom>
        </p:spPr>
      </p:pic>
      <p:pic>
        <p:nvPicPr>
          <p:cNvPr id="142" name="!!icon-wan" descr="SD-WA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54680" y="2606040"/>
            <a:ext cx="2103120" cy="2103120"/>
          </a:xfrm>
          <a:prstGeom prst="rect">
            <a:avLst/>
          </a:prstGeom>
        </p:spPr>
      </p:pic>
      <p:sp>
        <p:nvSpPr>
          <p:cNvPr id="143" name="!!label-wan"/>
          <p:cNvSpPr txBox="1"/>
          <p:nvPr/>
        </p:nvSpPr>
        <p:spPr>
          <a:xfrm>
            <a:off x="3449117" y="3552444"/>
            <a:ext cx="1514246" cy="525780"/>
          </a:xfrm>
          <a:prstGeom prst="rect">
            <a:avLst/>
          </a:prstGeom>
          <a:noFill/>
        </p:spPr>
        <p:txBody>
          <a:bodyPr wrap="square" lIns="0" tIns="0" rIns="0" bIns="0" rtlCol="0" anchor="ctr">
            <a:noAutofit/>
          </a:bodyPr>
          <a:lstStyle/>
          <a:p>
            <a:pPr algn="ctr"/>
            <a:r>
              <a:rPr lang="en-US" sz="2000" b="1" dirty="0">
                <a:latin typeface="Helvetica Neue"/>
                <a:ea typeface="Helvetica Neue"/>
                <a:cs typeface="Helvetica Neue"/>
              </a:rPr>
              <a:t>SD-WAN</a:t>
            </a:r>
          </a:p>
        </p:txBody>
      </p:sp>
      <p:pic>
        <p:nvPicPr>
          <p:cNvPr id="144" name="!!icon-dc" descr="dc"/>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37960" y="3520440"/>
            <a:ext cx="822960" cy="822960"/>
          </a:xfrm>
          <a:prstGeom prst="rect">
            <a:avLst/>
          </a:prstGeom>
        </p:spPr>
      </p:pic>
      <p:pic>
        <p:nvPicPr>
          <p:cNvPr id="145" name="!!icon-dc2" descr="Datacenters"/>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37960" y="4709160"/>
            <a:ext cx="822960" cy="822960"/>
          </a:xfrm>
          <a:prstGeom prst="rect">
            <a:avLst/>
          </a:prstGeom>
        </p:spPr>
      </p:pic>
      <p:sp>
        <p:nvSpPr>
          <p:cNvPr id="146" name="!!label-dc2"/>
          <p:cNvSpPr txBox="1"/>
          <p:nvPr/>
        </p:nvSpPr>
        <p:spPr>
          <a:xfrm>
            <a:off x="5669280" y="557784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Datacenters</a:t>
            </a:r>
          </a:p>
        </p:txBody>
      </p:sp>
      <p:pic>
        <p:nvPicPr>
          <p:cNvPr id="147" name="!!icon-fw" descr="fw"/>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83880" y="2606040"/>
            <a:ext cx="640080" cy="640080"/>
          </a:xfrm>
          <a:prstGeom prst="rect">
            <a:avLst/>
          </a:prstGeom>
        </p:spPr>
      </p:pic>
      <p:pic>
        <p:nvPicPr>
          <p:cNvPr id="148" name="!!icon-hq" descr="HQ"/>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366760" y="5806440"/>
            <a:ext cx="822960" cy="822960"/>
          </a:xfrm>
          <a:prstGeom prst="rect">
            <a:avLst/>
          </a:prstGeom>
        </p:spPr>
      </p:pic>
      <p:sp>
        <p:nvSpPr>
          <p:cNvPr id="149" name="!!label-hq"/>
          <p:cNvSpPr txBox="1"/>
          <p:nvPr/>
        </p:nvSpPr>
        <p:spPr>
          <a:xfrm>
            <a:off x="7498080" y="667512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HQ</a:t>
            </a:r>
          </a:p>
        </p:txBody>
      </p:sp>
      <p:pic>
        <p:nvPicPr>
          <p:cNvPr id="150" name="!!icon-main" descr="mai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12480" y="7498080"/>
            <a:ext cx="731520" cy="731520"/>
          </a:xfrm>
          <a:prstGeom prst="rect">
            <a:avLst/>
          </a:prstGeom>
        </p:spPr>
      </p:pic>
      <p:pic>
        <p:nvPicPr>
          <p:cNvPr id="151" name="!!icon-inet" descr="Internet"/>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32720" y="1463040"/>
            <a:ext cx="2377440" cy="2377440"/>
          </a:xfrm>
          <a:prstGeom prst="rect">
            <a:avLst/>
          </a:prstGeom>
        </p:spPr>
      </p:pic>
      <p:sp>
        <p:nvSpPr>
          <p:cNvPr id="152" name="!!label-inet"/>
          <p:cNvSpPr txBox="1"/>
          <p:nvPr/>
        </p:nvSpPr>
        <p:spPr>
          <a:xfrm>
            <a:off x="10665562" y="2532888"/>
            <a:ext cx="1711757" cy="594360"/>
          </a:xfrm>
          <a:prstGeom prst="rect">
            <a:avLst/>
          </a:prstGeom>
          <a:noFill/>
        </p:spPr>
        <p:txBody>
          <a:bodyPr wrap="square" lIns="0" tIns="0" rIns="0" bIns="0" rtlCol="0" anchor="ctr">
            <a:noAutofit/>
          </a:bodyPr>
          <a:lstStyle/>
          <a:p>
            <a:pPr algn="ctr"/>
            <a:r>
              <a:rPr lang="en-US" sz="2400" b="1" dirty="0">
                <a:latin typeface="Helvetica Neue"/>
                <a:ea typeface="Helvetica Neue"/>
                <a:cs typeface="Helvetica Neue"/>
              </a:rPr>
              <a:t>Internet</a:t>
            </a:r>
          </a:p>
        </p:txBody>
      </p:sp>
      <p:pic>
        <p:nvPicPr>
          <p:cNvPr id="153" name="!!icon-phone" descr="phone"/>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7122140" y="1485900"/>
            <a:ext cx="685800" cy="685800"/>
          </a:xfrm>
          <a:prstGeom prst="rect">
            <a:avLst/>
          </a:prstGeom>
        </p:spPr>
      </p:pic>
      <p:pic>
        <p:nvPicPr>
          <p:cNvPr id="154" name="!!icon-hhA" descr="hhA"/>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122140" y="2491740"/>
            <a:ext cx="685800" cy="685800"/>
          </a:xfrm>
          <a:prstGeom prst="rect">
            <a:avLst/>
          </a:prstGeom>
        </p:spPr>
      </p:pic>
      <p:pic>
        <p:nvPicPr>
          <p:cNvPr id="155" name="!!icon-shop" descr="shop"/>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7122140" y="3497580"/>
            <a:ext cx="685800" cy="685800"/>
          </a:xfrm>
          <a:prstGeom prst="rect">
            <a:avLst/>
          </a:prstGeom>
        </p:spPr>
      </p:pic>
      <p:pic>
        <p:nvPicPr>
          <p:cNvPr id="156" name="!!icon-factory" descr="factory"/>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7122140" y="4503420"/>
            <a:ext cx="685800" cy="685800"/>
          </a:xfrm>
          <a:prstGeom prst="rect">
            <a:avLst/>
          </a:prstGeom>
        </p:spPr>
      </p:pic>
      <p:pic>
        <p:nvPicPr>
          <p:cNvPr id="157" name="!!icon-saas" descr="Cloud &amp; Saa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98480" y="4846320"/>
            <a:ext cx="2011680" cy="2011680"/>
          </a:xfrm>
          <a:prstGeom prst="rect">
            <a:avLst/>
          </a:prstGeom>
        </p:spPr>
      </p:pic>
      <p:sp>
        <p:nvSpPr>
          <p:cNvPr id="158" name="!!label-saas"/>
          <p:cNvSpPr txBox="1"/>
          <p:nvPr/>
        </p:nvSpPr>
        <p:spPr>
          <a:xfrm>
            <a:off x="10980115" y="5751576"/>
            <a:ext cx="1448410" cy="502920"/>
          </a:xfrm>
          <a:prstGeom prst="rect">
            <a:avLst/>
          </a:prstGeom>
          <a:noFill/>
        </p:spPr>
        <p:txBody>
          <a:bodyPr wrap="square" lIns="0" tIns="0" rIns="0" bIns="0" rtlCol="0" anchor="ctr">
            <a:noAutofit/>
          </a:bodyPr>
          <a:lstStyle/>
          <a:p>
            <a:pPr algn="ctr"/>
            <a:r>
              <a:rPr lang="en-US" sz="2000" b="1" dirty="0">
                <a:latin typeface="Helvetica Neue"/>
                <a:ea typeface="Helvetica Neue"/>
                <a:cs typeface="Helvetica Neue"/>
              </a:rPr>
              <a:t>Cloud &amp; SaaS</a:t>
            </a:r>
          </a:p>
        </p:txBody>
      </p:sp>
      <p:pic>
        <p:nvPicPr>
          <p:cNvPr id="159" name="!!icon-cloud2" descr="cloud2"/>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350240" y="4389120"/>
            <a:ext cx="1463040" cy="1463040"/>
          </a:xfrm>
          <a:prstGeom prst="rect">
            <a:avLst/>
          </a:prstGeom>
        </p:spPr>
      </p:pic>
      <p:pic>
        <p:nvPicPr>
          <p:cNvPr id="160" name="!!icon-cloud3" descr="cloud3"/>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350240" y="5943600"/>
            <a:ext cx="1463040" cy="1463040"/>
          </a:xfrm>
          <a:prstGeom prst="rect">
            <a:avLst/>
          </a:prstGeom>
        </p:spPr>
      </p:pic>
      <p:pic>
        <p:nvPicPr>
          <p:cNvPr id="161" name="!!icon-core" descr="Hosted core"/>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184880" y="6035040"/>
            <a:ext cx="914400" cy="914400"/>
          </a:xfrm>
          <a:prstGeom prst="rect">
            <a:avLst/>
          </a:prstGeom>
        </p:spPr>
      </p:pic>
      <p:sp>
        <p:nvSpPr>
          <p:cNvPr id="162" name="!!label-core"/>
          <p:cNvSpPr txBox="1"/>
          <p:nvPr/>
        </p:nvSpPr>
        <p:spPr>
          <a:xfrm>
            <a:off x="15361920" y="699516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Hosted core</a:t>
            </a:r>
          </a:p>
        </p:txBody>
      </p:sp>
      <p:pic>
        <p:nvPicPr>
          <p:cNvPr id="163" name="!!icon-card" descr="card"/>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692140" y="6606540"/>
            <a:ext cx="685800" cy="685800"/>
          </a:xfrm>
          <a:prstGeom prst="rect">
            <a:avLst/>
          </a:prstGeom>
        </p:spPr>
      </p:pic>
      <p:pic>
        <p:nvPicPr>
          <p:cNvPr id="164" name="!!icon-fed" descr="fed"/>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880860" y="7338060"/>
            <a:ext cx="685800" cy="685800"/>
          </a:xfrm>
          <a:prstGeom prst="rect">
            <a:avLst/>
          </a:prstGeom>
        </p:spPr>
      </p:pic>
      <p:pic>
        <p:nvPicPr>
          <p:cNvPr id="165" name="!!icon-fintech" descr="fintech"/>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5750540" y="8252460"/>
            <a:ext cx="685800" cy="685800"/>
          </a:xfrm>
          <a:prstGeom prst="rect">
            <a:avLst/>
          </a:prstGeom>
        </p:spPr>
      </p:pic>
      <p:pic>
        <p:nvPicPr>
          <p:cNvPr id="166" name="!!icon-mssp" descr="mssp"/>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1544300" y="8252460"/>
            <a:ext cx="685800" cy="685800"/>
          </a:xfrm>
          <a:prstGeom prst="rect">
            <a:avLst/>
          </a:prstGeom>
        </p:spPr>
      </p:pic>
      <p:pic>
        <p:nvPicPr>
          <p:cNvPr id="167" name="!!icon-merger" descr="Acquired bank"/>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600200" y="6263640"/>
            <a:ext cx="822960" cy="822960"/>
          </a:xfrm>
          <a:prstGeom prst="rect">
            <a:avLst/>
          </a:prstGeom>
        </p:spPr>
      </p:pic>
      <p:sp>
        <p:nvSpPr>
          <p:cNvPr id="168" name="!!label-merger"/>
          <p:cNvSpPr txBox="1"/>
          <p:nvPr/>
        </p:nvSpPr>
        <p:spPr>
          <a:xfrm>
            <a:off x="731520" y="7132320"/>
            <a:ext cx="256032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Acquired bank</a:t>
            </a:r>
          </a:p>
        </p:txBody>
      </p:sp>
      <p:pic>
        <p:nvPicPr>
          <p:cNvPr id="169" name="!!icon-wan2" descr="wan2"/>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00400" y="7132320"/>
            <a:ext cx="1645920" cy="1645920"/>
          </a:xfrm>
          <a:prstGeom prst="rect">
            <a:avLst/>
          </a:prstGeom>
        </p:spPr>
      </p:pic>
      <p:pic>
        <p:nvPicPr>
          <p:cNvPr id="170" name="!!icon-ab1" descr="ab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54480" y="8229600"/>
            <a:ext cx="548640" cy="548640"/>
          </a:xfrm>
          <a:prstGeom prst="rect">
            <a:avLst/>
          </a:prstGeom>
        </p:spPr>
      </p:pic>
      <p:pic>
        <p:nvPicPr>
          <p:cNvPr id="171" name="!!icon-ab2" descr="ab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8880" y="8869680"/>
            <a:ext cx="548640" cy="548640"/>
          </a:xfrm>
          <a:prstGeom prst="rect">
            <a:avLst/>
          </a:prstGeom>
        </p:spPr>
      </p:pic>
      <p:pic>
        <p:nvPicPr>
          <p:cNvPr id="172" name="!!icon-ab3" descr="ab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49040" y="8961120"/>
            <a:ext cx="548640" cy="548640"/>
          </a:xfrm>
          <a:prstGeom prst="rect">
            <a:avLst/>
          </a:prstGeom>
        </p:spPr>
      </p:pic>
      <p:pic>
        <p:nvPicPr>
          <p:cNvPr id="173" name="!!icon-globe" descr="International offices"/>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5943600" y="1737360"/>
            <a:ext cx="914400" cy="914400"/>
          </a:xfrm>
          <a:prstGeom prst="rect">
            <a:avLst/>
          </a:prstGeom>
        </p:spPr>
      </p:pic>
      <p:sp>
        <p:nvSpPr>
          <p:cNvPr id="174" name="!!label-globe"/>
          <p:cNvSpPr txBox="1"/>
          <p:nvPr/>
        </p:nvSpPr>
        <p:spPr>
          <a:xfrm>
            <a:off x="6949440" y="2002536"/>
            <a:ext cx="2377440" cy="384048"/>
          </a:xfrm>
          <a:prstGeom prst="rect">
            <a:avLst/>
          </a:prstGeom>
          <a:noFill/>
        </p:spPr>
        <p:txBody>
          <a:bodyPr wrap="square" lIns="0" tIns="0" rIns="0" bIns="0" rtlCol="0" anchor="ctr">
            <a:noAutofit/>
          </a:bodyPr>
          <a:lstStyle/>
          <a:p>
            <a:pPr algn="l"/>
            <a:r>
              <a:rPr lang="en-US" sz="1600" b="1" dirty="0">
                <a:latin typeface="Helvetica Neue"/>
                <a:ea typeface="Helvetica Neue"/>
                <a:cs typeface="Helvetica Neue"/>
              </a:rPr>
              <a:t>International offices</a:t>
            </a:r>
          </a:p>
        </p:txBody>
      </p:sp>
      <p:sp>
        <p:nvSpPr>
          <p:cNvPr id="175" name="!!glabel-branches"/>
          <p:cNvSpPr txBox="1"/>
          <p:nvPr/>
        </p:nvSpPr>
        <p:spPr>
          <a:xfrm>
            <a:off x="-91440" y="5477256"/>
            <a:ext cx="365760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Branches</a:t>
            </a:r>
          </a:p>
        </p:txBody>
      </p:sp>
      <p:sp>
        <p:nvSpPr>
          <p:cNvPr id="176" name="!!glabel-multi"/>
          <p:cNvSpPr txBox="1"/>
          <p:nvPr/>
        </p:nvSpPr>
        <p:spPr>
          <a:xfrm>
            <a:off x="12252960" y="7397496"/>
            <a:ext cx="3657600" cy="384048"/>
          </a:xfrm>
          <a:prstGeom prst="rect">
            <a:avLst/>
          </a:prstGeom>
          <a:noFill/>
        </p:spPr>
        <p:txBody>
          <a:bodyPr wrap="square" lIns="0" tIns="0" rIns="0" bIns="0" rtlCol="0" anchor="ctr">
            <a:noAutofit/>
          </a:bodyPr>
          <a:lstStyle/>
          <a:p>
            <a:pPr algn="ctr"/>
            <a:r>
              <a:rPr lang="en-US" sz="1600" b="1" dirty="0">
                <a:latin typeface="Helvetica Neue"/>
                <a:ea typeface="Helvetica Neue"/>
                <a:cs typeface="Helvetica Neue"/>
              </a:rPr>
              <a:t>Multi-cloud</a:t>
            </a:r>
          </a:p>
        </p:txBody>
      </p:sp>
      <p:sp>
        <p:nvSpPr>
          <p:cNvPr id="177" name="!!caption"/>
          <p:cNvSpPr txBox="1"/>
          <p:nvPr/>
        </p:nvSpPr>
        <p:spPr>
          <a:xfrm>
            <a:off x="548640" y="9738360"/>
            <a:ext cx="17190720" cy="411480"/>
          </a:xfrm>
          <a:prstGeom prst="rect">
            <a:avLst/>
          </a:prstGeom>
          <a:noFill/>
        </p:spPr>
        <p:txBody>
          <a:bodyPr wrap="square" lIns="0" tIns="0" rIns="0" bIns="0" rtlCol="0" anchor="ctr">
            <a:noAutofit/>
          </a:bodyPr>
          <a:lstStyle/>
          <a:p>
            <a:pPr algn="l"/>
            <a:r>
              <a:rPr lang="en-US" sz="1800" b="0" dirty="0">
                <a:solidFill>
                  <a:srgbClr val="595959"/>
                </a:solidFill>
                <a:latin typeface="Helvetica Neue"/>
                <a:ea typeface="Helvetica Neue"/>
                <a:cs typeface="Helvetica Neue"/>
              </a:rPr>
              <a:t>6  Regional, then multinational: hundreds of branches, an acquired bank, many clouds, international links</a:t>
            </a:r>
          </a:p>
        </p:txBody>
      </p:sp>
    </p:spTree>
    <p:extLst>
      <p:ext uri="{BB962C8B-B14F-4D97-AF65-F5344CB8AC3E}">
        <p14:creationId xmlns:p14="http://schemas.microsoft.com/office/powerpoint/2010/main" val="2448575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7300" y="547688"/>
            <a:ext cx="17030700" cy="1988345"/>
          </a:xfrm>
        </p:spPr>
        <p:txBody>
          <a:bodyPr/>
          <a:lstStyle/>
          <a:p>
            <a:r>
              <a:rPr lang="en-US" sz="6600" b="1" dirty="0">
                <a:latin typeface="Helvetica Neue"/>
                <a:ea typeface="Helvetica Neue"/>
                <a:cs typeface="Helvetica Neue"/>
              </a:rPr>
              <a:t>Current </a:t>
            </a:r>
            <a:r>
              <a:rPr sz="6600" b="1" dirty="0">
                <a:latin typeface="Helvetica Neue"/>
                <a:ea typeface="Helvetica Neue"/>
                <a:cs typeface="Helvetica Neue"/>
              </a:rPr>
              <a:t>Themes</a:t>
            </a:r>
            <a:r>
              <a:rPr lang="en-US" sz="6600" b="1" dirty="0">
                <a:latin typeface="Helvetica Neue"/>
                <a:ea typeface="Helvetica Neue"/>
                <a:cs typeface="Helvetica Neue"/>
              </a:rPr>
              <a:t>: </a:t>
            </a:r>
            <a:r>
              <a:rPr sz="6600" b="1" dirty="0">
                <a:latin typeface="Helvetica Neue"/>
                <a:ea typeface="Helvetica Neue"/>
                <a:cs typeface="Helvetica Neue"/>
              </a:rPr>
              <a:t>Bank Network Evolution</a:t>
            </a:r>
          </a:p>
        </p:txBody>
      </p:sp>
      <p:graphicFrame>
        <p:nvGraphicFramePr>
          <p:cNvPr id="3" name="Themes table"/>
          <p:cNvGraphicFramePr>
            <a:graphicFrameLocks noGrp="1"/>
          </p:cNvGraphicFramePr>
          <p:nvPr>
            <p:extLst>
              <p:ext uri="{D42A27DB-BD31-4B8C-83A1-F6EECF244321}">
                <p14:modId xmlns:p14="http://schemas.microsoft.com/office/powerpoint/2010/main" val="484169865"/>
              </p:ext>
            </p:extLst>
          </p:nvPr>
        </p:nvGraphicFramePr>
        <p:xfrm>
          <a:off x="1257300" y="2606040"/>
          <a:ext cx="15773400" cy="6958584"/>
        </p:xfrm>
        <a:graphic>
          <a:graphicData uri="http://schemas.openxmlformats.org/drawingml/2006/table">
            <a:tbl>
              <a:tblPr>
                <a:tableStyleId>{2D5ABB26-0587-4C30-8999-92F81FD0307C}</a:tableStyleId>
              </a:tblPr>
              <a:tblGrid>
                <a:gridCol w="6766560">
                  <a:extLst>
                    <a:ext uri="{9D8B030D-6E8A-4147-A177-3AD203B41FA5}">
                      <a16:colId xmlns:a16="http://schemas.microsoft.com/office/drawing/2014/main" val="20000"/>
                    </a:ext>
                  </a:extLst>
                </a:gridCol>
                <a:gridCol w="9006840">
                  <a:extLst>
                    <a:ext uri="{9D8B030D-6E8A-4147-A177-3AD203B41FA5}">
                      <a16:colId xmlns:a16="http://schemas.microsoft.com/office/drawing/2014/main" val="20001"/>
                    </a:ext>
                  </a:extLst>
                </a:gridCol>
              </a:tblGrid>
              <a:tr h="640080">
                <a:tc>
                  <a:txBody>
                    <a:bodyPr/>
                    <a:lstStyle/>
                    <a:p>
                      <a:r>
                        <a:rPr sz="2400" b="1">
                          <a:solidFill>
                            <a:srgbClr val="000000"/>
                          </a:solidFill>
                          <a:latin typeface="Helvetica Neue"/>
                          <a:ea typeface="Helvetica Neue"/>
                          <a:cs typeface="Helvetica Neue"/>
                        </a:rPr>
                        <a:t>What changed</a:t>
                      </a:r>
                    </a:p>
                  </a:txBody>
                  <a:tcPr marL="109728" marR="109728" marT="73152" marB="73152" anchor="ctr">
                    <a:lnB w="38100" cmpd="sng">
                      <a:solidFill>
                        <a:srgbClr val="000000"/>
                      </a:solidFill>
                    </a:lnB>
                  </a:tcPr>
                </a:tc>
                <a:tc>
                  <a:txBody>
                    <a:bodyPr/>
                    <a:lstStyle/>
                    <a:p>
                      <a:r>
                        <a:rPr sz="2400" b="1">
                          <a:solidFill>
                            <a:srgbClr val="000000"/>
                          </a:solidFill>
                          <a:latin typeface="Helvetica Neue"/>
                          <a:ea typeface="Helvetica Neue"/>
                          <a:cs typeface="Helvetica Neue"/>
                        </a:rPr>
                        <a:t>What it did to the network</a:t>
                      </a:r>
                    </a:p>
                  </a:txBody>
                  <a:tcPr marL="109728" marR="109728" marT="73152" marB="73152" anchor="ctr">
                    <a:lnB w="38100" cmpd="sng">
                      <a:solidFill>
                        <a:srgbClr val="000000"/>
                      </a:solidFill>
                    </a:lnB>
                  </a:tcPr>
                </a:tc>
                <a:extLst>
                  <a:ext uri="{0D108BD9-81ED-4DB2-BD59-A6C34878D82A}">
                    <a16:rowId xmlns:a16="http://schemas.microsoft.com/office/drawing/2014/main" val="10000"/>
                  </a:ext>
                </a:extLst>
              </a:tr>
              <a:tr h="1051560">
                <a:tc>
                  <a:txBody>
                    <a:bodyPr/>
                    <a:lstStyle/>
                    <a:p>
                      <a:r>
                        <a:rPr sz="2400" b="1">
                          <a:solidFill>
                            <a:srgbClr val="000000"/>
                          </a:solidFill>
                          <a:latin typeface="Helvetica Neue"/>
                          <a:ea typeface="Helvetica Neue"/>
                          <a:cs typeface="Helvetica Neue"/>
                        </a:rPr>
                        <a:t>The internet replaced private circuits</a:t>
                      </a:r>
                    </a:p>
                    <a:p>
                      <a:r>
                        <a:rPr sz="1800" b="0">
                          <a:solidFill>
                            <a:srgbClr val="595959"/>
                          </a:solidFill>
                          <a:latin typeface="Helvetica Neue"/>
                          <a:ea typeface="Helvetica Neue"/>
                          <a:cs typeface="Helvetica Neue"/>
                        </a:rPr>
                        <a:t>Leased lines and MPLS gave way to broadband, SD-WAN and cellular backup</a:t>
                      </a:r>
                    </a:p>
                  </a:txBody>
                  <a:tcPr marL="109728" marR="109728" marT="73152" marB="73152" anchor="ctr">
                    <a:lnT w="38100" cap="flat" cmpd="sng" algn="ctr">
                      <a:solidFill>
                        <a:srgbClr val="000000"/>
                      </a:solidFill>
                      <a:prstDash val="solid"/>
                      <a:round/>
                      <a:headEnd type="none" w="med" len="med"/>
                      <a:tailEnd type="none" w="med" len="med"/>
                    </a:lnT>
                    <a:lnB w="12700" cmpd="sng">
                      <a:solidFill>
                        <a:srgbClr val="BFBFBF"/>
                      </a:solidFill>
                    </a:lnB>
                  </a:tcPr>
                </a:tc>
                <a:tc>
                  <a:txBody>
                    <a:bodyPr/>
                    <a:lstStyle/>
                    <a:p>
                      <a:r>
                        <a:rPr sz="2200" b="0">
                          <a:solidFill>
                            <a:srgbClr val="000000"/>
                          </a:solidFill>
                          <a:latin typeface="Helvetica Neue"/>
                          <a:ea typeface="Helvetica Neue"/>
                          <a:cs typeface="Helvetica Neue"/>
                        </a:rPr>
                        <a:t>Cheaper and more resilient, but the bank now rides the public internet, and security has to live at every site</a:t>
                      </a:r>
                    </a:p>
                  </a:txBody>
                  <a:tcPr marL="109728" marR="109728" marT="73152" marB="73152" anchor="ctr">
                    <a:lnT w="38100" cap="flat" cmpd="sng" algn="ctr">
                      <a:solidFill>
                        <a:srgbClr val="000000"/>
                      </a:solidFill>
                      <a:prstDash val="solid"/>
                      <a:round/>
                      <a:headEnd type="none" w="med" len="med"/>
                      <a:tailEnd type="none" w="med" len="med"/>
                    </a:lnT>
                    <a:lnB w="12700" cmpd="sng">
                      <a:solidFill>
                        <a:srgbClr val="BFBFBF"/>
                      </a:solidFill>
                    </a:lnB>
                  </a:tcPr>
                </a:tc>
                <a:extLst>
                  <a:ext uri="{0D108BD9-81ED-4DB2-BD59-A6C34878D82A}">
                    <a16:rowId xmlns:a16="http://schemas.microsoft.com/office/drawing/2014/main" val="10001"/>
                  </a:ext>
                </a:extLst>
              </a:tr>
              <a:tr h="1051560">
                <a:tc>
                  <a:txBody>
                    <a:bodyPr/>
                    <a:lstStyle/>
                    <a:p>
                      <a:r>
                        <a:rPr sz="2400" b="1">
                          <a:solidFill>
                            <a:srgbClr val="000000"/>
                          </a:solidFill>
                          <a:latin typeface="Helvetica Neue"/>
                          <a:ea typeface="Helvetica Neue"/>
                          <a:cs typeface="Helvetica Neue"/>
                        </a:rPr>
                        <a:t>Staff work from anywhere</a:t>
                      </a:r>
                    </a:p>
                    <a:p>
                      <a:r>
                        <a:rPr sz="1800" b="0">
                          <a:solidFill>
                            <a:srgbClr val="595959"/>
                          </a:solidFill>
                          <a:latin typeface="Helvetica Neue"/>
                          <a:ea typeface="Helvetica Neue"/>
                          <a:cs typeface="Helvetica Neue"/>
                        </a:rPr>
                        <a:t>Home offices, laptops and phones</a:t>
                      </a:r>
                    </a:p>
                  </a:txBody>
                  <a:tcPr marL="109728" marR="109728" marT="73152" marB="73152" anchor="ctr">
                    <a:lnT w="12700" cap="flat" cmpd="sng" algn="ctr">
                      <a:solidFill>
                        <a:srgbClr val="BFBFBF"/>
                      </a:solidFill>
                      <a:prstDash val="solid"/>
                      <a:round/>
                      <a:headEnd type="none" w="med" len="med"/>
                      <a:tailEnd type="none" w="med" len="med"/>
                    </a:lnT>
                    <a:lnB w="12700" cmpd="sng">
                      <a:solidFill>
                        <a:srgbClr val="BFBFBF"/>
                      </a:solidFill>
                    </a:lnB>
                  </a:tcPr>
                </a:tc>
                <a:tc>
                  <a:txBody>
                    <a:bodyPr/>
                    <a:lstStyle/>
                    <a:p>
                      <a:r>
                        <a:rPr sz="2200" b="0" dirty="0">
                          <a:solidFill>
                            <a:srgbClr val="000000"/>
                          </a:solidFill>
                          <a:latin typeface="Helvetica Neue"/>
                          <a:ea typeface="Helvetica Neue"/>
                          <a:cs typeface="Helvetica Neue"/>
                        </a:rPr>
                        <a:t>Remote access went from an exception to the norm</a:t>
                      </a:r>
                      <a:r>
                        <a:rPr lang="en-US" sz="2200" b="0" dirty="0">
                          <a:solidFill>
                            <a:srgbClr val="000000"/>
                          </a:solidFill>
                          <a:latin typeface="Helvetica Neue"/>
                          <a:ea typeface="Helvetica Neue"/>
                          <a:cs typeface="Helvetica Neue"/>
                        </a:rPr>
                        <a:t> (maybe)</a:t>
                      </a:r>
                      <a:endParaRPr sz="2200" b="0" dirty="0">
                        <a:solidFill>
                          <a:srgbClr val="000000"/>
                        </a:solidFill>
                        <a:latin typeface="Helvetica Neue"/>
                        <a:ea typeface="Helvetica Neue"/>
                        <a:cs typeface="Helvetica Neue"/>
                      </a:endParaRPr>
                    </a:p>
                  </a:txBody>
                  <a:tcPr marL="109728" marR="109728" marT="73152" marB="73152" anchor="ctr">
                    <a:lnT w="12700" cap="flat" cmpd="sng" algn="ctr">
                      <a:solidFill>
                        <a:srgbClr val="BFBFBF"/>
                      </a:solidFill>
                      <a:prstDash val="solid"/>
                      <a:round/>
                      <a:headEnd type="none" w="med" len="med"/>
                      <a:tailEnd type="none" w="med" len="med"/>
                    </a:lnT>
                    <a:lnB w="12700" cmpd="sng">
                      <a:solidFill>
                        <a:srgbClr val="BFBFBF"/>
                      </a:solidFill>
                    </a:lnB>
                  </a:tcPr>
                </a:tc>
                <a:extLst>
                  <a:ext uri="{0D108BD9-81ED-4DB2-BD59-A6C34878D82A}">
                    <a16:rowId xmlns:a16="http://schemas.microsoft.com/office/drawing/2014/main" val="10002"/>
                  </a:ext>
                </a:extLst>
              </a:tr>
              <a:tr h="1051560">
                <a:tc>
                  <a:txBody>
                    <a:bodyPr/>
                    <a:lstStyle/>
                    <a:p>
                      <a:r>
                        <a:rPr sz="2400" b="1">
                          <a:solidFill>
                            <a:srgbClr val="000000"/>
                          </a:solidFill>
                          <a:latin typeface="Helvetica Neue"/>
                          <a:ea typeface="Helvetica Neue"/>
                          <a:cs typeface="Helvetica Neue"/>
                        </a:rPr>
                        <a:t>Payments went real-time</a:t>
                      </a:r>
                    </a:p>
                    <a:p>
                      <a:r>
                        <a:rPr sz="1800" b="0">
                          <a:solidFill>
                            <a:srgbClr val="595959"/>
                          </a:solidFill>
                          <a:latin typeface="Helvetica Neue"/>
                          <a:ea typeface="Helvetica Neue"/>
                          <a:cs typeface="Helvetica Neue"/>
                        </a:rPr>
                        <a:t>FedNow, RTP and same-day ACH</a:t>
                      </a:r>
                    </a:p>
                  </a:txBody>
                  <a:tcPr marL="109728" marR="109728" marT="73152" marB="73152" anchor="ctr">
                    <a:lnT w="12700" cap="flat" cmpd="sng" algn="ctr">
                      <a:solidFill>
                        <a:srgbClr val="BFBFBF"/>
                      </a:solidFill>
                      <a:prstDash val="solid"/>
                      <a:round/>
                      <a:headEnd type="none" w="med" len="med"/>
                      <a:tailEnd type="none" w="med" len="med"/>
                    </a:lnT>
                    <a:lnB w="12700" cmpd="sng">
                      <a:solidFill>
                        <a:srgbClr val="BFBFBF"/>
                      </a:solidFill>
                    </a:lnB>
                  </a:tcPr>
                </a:tc>
                <a:tc>
                  <a:txBody>
                    <a:bodyPr/>
                    <a:lstStyle/>
                    <a:p>
                      <a:r>
                        <a:rPr sz="2200" b="0">
                          <a:solidFill>
                            <a:srgbClr val="000000"/>
                          </a:solidFill>
                          <a:latin typeface="Helvetica Neue"/>
                          <a:ea typeface="Helvetica Neue"/>
                          <a:cs typeface="Helvetica Neue"/>
                        </a:rPr>
                        <a:t>No overnight batch to catch up in; an outage is felt by customers immediately</a:t>
                      </a:r>
                    </a:p>
                  </a:txBody>
                  <a:tcPr marL="109728" marR="109728" marT="73152" marB="73152" anchor="ctr">
                    <a:lnT w="12700" cap="flat" cmpd="sng" algn="ctr">
                      <a:solidFill>
                        <a:srgbClr val="BFBFBF"/>
                      </a:solidFill>
                      <a:prstDash val="solid"/>
                      <a:round/>
                      <a:headEnd type="none" w="med" len="med"/>
                      <a:tailEnd type="none" w="med" len="med"/>
                    </a:lnT>
                    <a:lnB w="12700" cmpd="sng">
                      <a:solidFill>
                        <a:srgbClr val="BFBFBF"/>
                      </a:solidFill>
                    </a:lnB>
                  </a:tcPr>
                </a:tc>
                <a:extLst>
                  <a:ext uri="{0D108BD9-81ED-4DB2-BD59-A6C34878D82A}">
                    <a16:rowId xmlns:a16="http://schemas.microsoft.com/office/drawing/2014/main" val="10003"/>
                  </a:ext>
                </a:extLst>
              </a:tr>
              <a:tr h="1051560">
                <a:tc>
                  <a:txBody>
                    <a:bodyPr/>
                    <a:lstStyle/>
                    <a:p>
                      <a:r>
                        <a:rPr sz="2400" b="1">
                          <a:solidFill>
                            <a:srgbClr val="000000"/>
                          </a:solidFill>
                          <a:latin typeface="Helvetica Neue"/>
                          <a:ea typeface="Helvetica Neue"/>
                          <a:cs typeface="Helvetica Neue"/>
                        </a:rPr>
                        <a:t>Systems moved out of the building</a:t>
                      </a:r>
                    </a:p>
                    <a:p>
                      <a:r>
                        <a:rPr sz="1800" b="0">
                          <a:solidFill>
                            <a:srgbClr val="595959"/>
                          </a:solidFill>
                          <a:latin typeface="Helvetica Neue"/>
                          <a:ea typeface="Helvetica Neue"/>
                          <a:cs typeface="Helvetica Neue"/>
                        </a:rPr>
                        <a:t>Core, email and files went to vendors and the cloud</a:t>
                      </a:r>
                    </a:p>
                  </a:txBody>
                  <a:tcPr marL="109728" marR="109728" marT="73152" marB="73152" anchor="ctr">
                    <a:lnT w="12700" cap="flat" cmpd="sng" algn="ctr">
                      <a:solidFill>
                        <a:srgbClr val="BFBFBF"/>
                      </a:solidFill>
                      <a:prstDash val="solid"/>
                      <a:round/>
                      <a:headEnd type="none" w="med" len="med"/>
                      <a:tailEnd type="none" w="med" len="med"/>
                    </a:lnT>
                    <a:lnB w="12700" cmpd="sng">
                      <a:solidFill>
                        <a:srgbClr val="BFBFBF"/>
                      </a:solidFill>
                    </a:lnB>
                  </a:tcPr>
                </a:tc>
                <a:tc>
                  <a:txBody>
                    <a:bodyPr/>
                    <a:lstStyle/>
                    <a:p>
                      <a:r>
                        <a:rPr sz="2200" b="0">
                          <a:solidFill>
                            <a:srgbClr val="000000"/>
                          </a:solidFill>
                          <a:latin typeface="Helvetica Neue"/>
                          <a:ea typeface="Helvetica Neue"/>
                          <a:cs typeface="Helvetica Neue"/>
                        </a:rPr>
                        <a:t>The connection out of the branch became the lifeline; no connection means no business</a:t>
                      </a:r>
                    </a:p>
                  </a:txBody>
                  <a:tcPr marL="109728" marR="109728" marT="73152" marB="73152" anchor="ctr">
                    <a:lnT w="12700" cap="flat" cmpd="sng" algn="ctr">
                      <a:solidFill>
                        <a:srgbClr val="BFBFBF"/>
                      </a:solidFill>
                      <a:prstDash val="solid"/>
                      <a:round/>
                      <a:headEnd type="none" w="med" len="med"/>
                      <a:tailEnd type="none" w="med" len="med"/>
                    </a:lnT>
                    <a:lnB w="12700" cmpd="sng">
                      <a:solidFill>
                        <a:srgbClr val="BFBFBF"/>
                      </a:solidFill>
                    </a:lnB>
                  </a:tcPr>
                </a:tc>
                <a:extLst>
                  <a:ext uri="{0D108BD9-81ED-4DB2-BD59-A6C34878D82A}">
                    <a16:rowId xmlns:a16="http://schemas.microsoft.com/office/drawing/2014/main" val="10004"/>
                  </a:ext>
                </a:extLst>
              </a:tr>
              <a:tr h="1051560">
                <a:tc>
                  <a:txBody>
                    <a:bodyPr/>
                    <a:lstStyle/>
                    <a:p>
                      <a:r>
                        <a:rPr sz="2400" b="1">
                          <a:solidFill>
                            <a:srgbClr val="000000"/>
                          </a:solidFill>
                          <a:latin typeface="Helvetica Neue"/>
                          <a:ea typeface="Helvetica Neue"/>
                          <a:cs typeface="Helvetica Neue"/>
                        </a:rPr>
                        <a:t>Fewer IT people, more vendors</a:t>
                      </a:r>
                    </a:p>
                    <a:p>
                      <a:r>
                        <a:rPr sz="1800" b="0">
                          <a:solidFill>
                            <a:srgbClr val="595959"/>
                          </a:solidFill>
                          <a:latin typeface="Helvetica Neue"/>
                          <a:ea typeface="Helvetica Neue"/>
                          <a:cs typeface="Helvetica Neue"/>
                        </a:rPr>
                        <a:t>Managed service and security providers</a:t>
                      </a:r>
                    </a:p>
                  </a:txBody>
                  <a:tcPr marL="109728" marR="109728" marT="73152" marB="73152" anchor="ctr">
                    <a:lnT w="12700" cap="flat" cmpd="sng" algn="ctr">
                      <a:solidFill>
                        <a:srgbClr val="BFBFBF"/>
                      </a:solidFill>
                      <a:prstDash val="solid"/>
                      <a:round/>
                      <a:headEnd type="none" w="med" len="med"/>
                      <a:tailEnd type="none" w="med" len="med"/>
                    </a:lnT>
                    <a:lnB w="12700" cmpd="sng">
                      <a:solidFill>
                        <a:srgbClr val="BFBFBF"/>
                      </a:solidFill>
                    </a:lnB>
                  </a:tcPr>
                </a:tc>
                <a:tc>
                  <a:txBody>
                    <a:bodyPr/>
                    <a:lstStyle/>
                    <a:p>
                      <a:r>
                        <a:rPr sz="2200" b="0">
                          <a:solidFill>
                            <a:srgbClr val="000000"/>
                          </a:solidFill>
                          <a:latin typeface="Helvetica Neue"/>
                          <a:ea typeface="Helvetica Neue"/>
                          <a:cs typeface="Helvetica Neue"/>
                        </a:rPr>
                        <a:t>Outsiders run parts of the network, so trust and oversight become the issue</a:t>
                      </a:r>
                    </a:p>
                  </a:txBody>
                  <a:tcPr marL="109728" marR="109728" marT="73152" marB="73152" anchor="ctr">
                    <a:lnT w="12700" cap="flat" cmpd="sng" algn="ctr">
                      <a:solidFill>
                        <a:srgbClr val="BFBFBF"/>
                      </a:solidFill>
                      <a:prstDash val="solid"/>
                      <a:round/>
                      <a:headEnd type="none" w="med" len="med"/>
                      <a:tailEnd type="none" w="med" len="med"/>
                    </a:lnT>
                    <a:lnB w="12700" cmpd="sng">
                      <a:solidFill>
                        <a:srgbClr val="BFBFBF"/>
                      </a:solidFill>
                    </a:lnB>
                  </a:tcPr>
                </a:tc>
                <a:extLst>
                  <a:ext uri="{0D108BD9-81ED-4DB2-BD59-A6C34878D82A}">
                    <a16:rowId xmlns:a16="http://schemas.microsoft.com/office/drawing/2014/main" val="10005"/>
                  </a:ext>
                </a:extLst>
              </a:tr>
              <a:tr h="1051560">
                <a:tc>
                  <a:txBody>
                    <a:bodyPr/>
                    <a:lstStyle/>
                    <a:p>
                      <a:r>
                        <a:rPr sz="2400" b="1">
                          <a:solidFill>
                            <a:srgbClr val="000000"/>
                          </a:solidFill>
                          <a:latin typeface="Helvetica Neue"/>
                          <a:ea typeface="Helvetica Neue"/>
                          <a:cs typeface="Helvetica Neue"/>
                        </a:rPr>
                        <a:t>Customers went digital</a:t>
                      </a:r>
                    </a:p>
                    <a:p>
                      <a:r>
                        <a:rPr sz="1800" b="0">
                          <a:solidFill>
                            <a:srgbClr val="595959"/>
                          </a:solidFill>
                          <a:latin typeface="Helvetica Neue"/>
                          <a:ea typeface="Helvetica Neue"/>
                          <a:cs typeface="Helvetica Neue"/>
                        </a:rPr>
                        <a:t>Online and mobile banking</a:t>
                      </a:r>
                    </a:p>
                  </a:txBody>
                  <a:tcPr marL="109728" marR="109728" marT="73152" marB="73152" anchor="ctr">
                    <a:lnT w="12700" cap="flat" cmpd="sng" algn="ctr">
                      <a:solidFill>
                        <a:srgbClr val="BFBFBF"/>
                      </a:solidFill>
                      <a:prstDash val="solid"/>
                      <a:round/>
                      <a:headEnd type="none" w="med" len="med"/>
                      <a:tailEnd type="none" w="med" len="med"/>
                    </a:lnT>
                    <a:lnB w="12700" cmpd="sng">
                      <a:solidFill>
                        <a:srgbClr val="BFBFBF"/>
                      </a:solidFill>
                    </a:lnB>
                  </a:tcPr>
                </a:tc>
                <a:tc>
                  <a:txBody>
                    <a:bodyPr/>
                    <a:lstStyle/>
                    <a:p>
                      <a:r>
                        <a:rPr sz="2200" b="0" dirty="0">
                          <a:solidFill>
                            <a:srgbClr val="000000"/>
                          </a:solidFill>
                          <a:latin typeface="Helvetica Neue"/>
                          <a:ea typeface="Helvetica Neue"/>
                          <a:cs typeface="Helvetica Neue"/>
                        </a:rPr>
                        <a:t>The bank's front door is now an app, often hosted by a vendor, and expected to be up all the time</a:t>
                      </a:r>
                    </a:p>
                  </a:txBody>
                  <a:tcPr marL="109728" marR="109728" marT="73152" marB="73152" anchor="ctr">
                    <a:lnT w="12700" cap="flat" cmpd="sng" algn="ctr">
                      <a:solidFill>
                        <a:srgbClr val="BFBFBF"/>
                      </a:solidFill>
                      <a:prstDash val="solid"/>
                      <a:round/>
                      <a:headEnd type="none" w="med" len="med"/>
                      <a:tailEnd type="none" w="med" len="med"/>
                    </a:lnT>
                    <a:lnB w="12700" cmpd="sng">
                      <a:solidFill>
                        <a:srgbClr val="BFBFBF"/>
                      </a:solidFill>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280382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a:latin typeface="Helvetica Neue"/>
              </a:rPr>
              <a:t>Branch Transformation: Fewer, Smaller, Self-Service</a:t>
            </a:r>
          </a:p>
        </p:txBody>
      </p:sp>
      <p:sp>
        <p:nvSpPr>
          <p:cNvPr id="101" name="!!subtitle"/>
          <p:cNvSpPr txBox="1"/>
          <p:nvPr/>
        </p:nvSpPr>
        <p:spPr>
          <a:xfrm>
            <a:off x="10241280" y="1783080"/>
            <a:ext cx="6949440" cy="548640"/>
          </a:xfrm>
          <a:prstGeom prst="rect">
            <a:avLst/>
          </a:prstGeom>
          <a:noFill/>
        </p:spPr>
        <p:txBody>
          <a:bodyPr wrap="square" lIns="0" tIns="0" rIns="0" bIns="0" anchor="t">
            <a:noAutofit/>
          </a:bodyPr>
          <a:lstStyle/>
          <a:p>
            <a:pPr algn="r"/>
            <a:r>
              <a:rPr lang="en-US" sz="2800" b="0" dirty="0">
                <a:solidFill>
                  <a:srgbClr val="595959"/>
                </a:solidFill>
                <a:latin typeface="Helvetica Neue"/>
                <a:ea typeface="Helvetica Neue"/>
                <a:cs typeface="Helvetica Neue"/>
              </a:rPr>
              <a:t>Before: the traditional branch</a:t>
            </a:r>
          </a:p>
        </p:txBody>
      </p:sp>
      <p:pic>
        <p:nvPicPr>
          <p:cNvPr id="102" name="!!icon-inet" descr="Internet"/>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1680" y="2377440"/>
            <a:ext cx="2468880" cy="2468880"/>
          </a:xfrm>
          <a:prstGeom prst="rect">
            <a:avLst/>
          </a:prstGeom>
        </p:spPr>
      </p:pic>
      <p:sp>
        <p:nvSpPr>
          <p:cNvPr id="103" name="!!label-inet"/>
          <p:cNvSpPr txBox="1"/>
          <p:nvPr/>
        </p:nvSpPr>
        <p:spPr>
          <a:xfrm>
            <a:off x="2331720" y="3520440"/>
            <a:ext cx="1828800" cy="548640"/>
          </a:xfrm>
          <a:prstGeom prst="rect">
            <a:avLst/>
          </a:prstGeom>
          <a:noFill/>
        </p:spPr>
        <p:txBody>
          <a:bodyPr wrap="square" lIns="0" tIns="0" rIns="0" bIns="0" anchor="t">
            <a:noAutofit/>
          </a:bodyPr>
          <a:lstStyle/>
          <a:p>
            <a:pPr algn="ctr"/>
            <a:r>
              <a:rPr lang="en-US" sz="2000" b="1" dirty="0">
                <a:latin typeface="Helvetica Neue"/>
                <a:ea typeface="Helvetica Neue"/>
                <a:cs typeface="Helvetica Neue"/>
              </a:rPr>
              <a:t>Internet</a:t>
            </a:r>
          </a:p>
        </p:txBody>
      </p:sp>
      <p:cxnSp>
        <p:nvCxnSpPr>
          <p:cNvPr id="104" name="!!line-inet-fw"/>
          <p:cNvCxnSpPr/>
          <p:nvPr/>
        </p:nvCxnSpPr>
        <p:spPr>
          <a:xfrm>
            <a:off x="4343400" y="3611880"/>
            <a:ext cx="685800" cy="0"/>
          </a:xfrm>
          <a:prstGeom prst="line">
            <a:avLst/>
          </a:prstGeom>
          <a:ln w="44450" cap="rnd">
            <a:solidFill>
              <a:schemeClr val="tx1"/>
            </a:solidFill>
          </a:ln>
        </p:spPr>
      </p:cxnSp>
      <p:pic>
        <p:nvPicPr>
          <p:cNvPr id="105" name="!!icon-lte" descr="Cellular backup"/>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00400" y="4480560"/>
            <a:ext cx="731520" cy="731520"/>
          </a:xfrm>
          <a:prstGeom prst="rect">
            <a:avLst/>
          </a:prstGeom>
        </p:spPr>
      </p:pic>
      <p:sp>
        <p:nvSpPr>
          <p:cNvPr id="106" name="!!label-lte"/>
          <p:cNvSpPr txBox="1"/>
          <p:nvPr/>
        </p:nvSpPr>
        <p:spPr>
          <a:xfrm>
            <a:off x="731520" y="4663440"/>
            <a:ext cx="2377440" cy="365760"/>
          </a:xfrm>
          <a:prstGeom prst="rect">
            <a:avLst/>
          </a:prstGeom>
          <a:noFill/>
        </p:spPr>
        <p:txBody>
          <a:bodyPr wrap="square" lIns="0" tIns="0" rIns="0" bIns="0" anchor="t">
            <a:noAutofit/>
          </a:bodyPr>
          <a:lstStyle/>
          <a:p>
            <a:pPr algn="r"/>
            <a:r>
              <a:rPr lang="en-US" sz="1600" b="1" dirty="0">
                <a:latin typeface="Helvetica Neue"/>
                <a:ea typeface="Helvetica Neue"/>
                <a:cs typeface="Helvetica Neue"/>
              </a:rPr>
              <a:t>LTE backup</a:t>
            </a:r>
          </a:p>
        </p:txBody>
      </p:sp>
      <p:cxnSp>
        <p:nvCxnSpPr>
          <p:cNvPr id="107" name="!!line-lte-fw"/>
          <p:cNvCxnSpPr/>
          <p:nvPr/>
        </p:nvCxnSpPr>
        <p:spPr>
          <a:xfrm flipV="1">
            <a:off x="3977640" y="4046220"/>
            <a:ext cx="1874520" cy="571500"/>
          </a:xfrm>
          <a:prstGeom prst="line">
            <a:avLst/>
          </a:prstGeom>
          <a:ln w="44450" cap="rnd">
            <a:solidFill>
              <a:schemeClr val="tx1"/>
            </a:solidFill>
            <a:prstDash val="dash"/>
          </a:ln>
        </p:spPr>
      </p:cxnSp>
      <p:sp>
        <p:nvSpPr>
          <p:cNvPr id="108" name="!!box-fw"/>
          <p:cNvSpPr/>
          <p:nvPr/>
        </p:nvSpPr>
        <p:spPr>
          <a:xfrm>
            <a:off x="5029200" y="3177540"/>
            <a:ext cx="3840480" cy="868680"/>
          </a:xfrm>
          <a:prstGeom prst="roundRect">
            <a:avLst>
              <a:gd name="adj" fmla="val 18000"/>
            </a:avLst>
          </a:prstGeom>
          <a:solidFill>
            <a:schemeClr val="bg1"/>
          </a:solidFill>
          <a:ln w="44450">
            <a:solidFill>
              <a:schemeClr val="tx1"/>
            </a:solidFill>
          </a:ln>
        </p:spPr>
        <p:txBody>
          <a:bodyPr wrap="square" lIns="45720" tIns="0" rIns="45720" bIns="0" anchor="ctr">
            <a:noAutofit/>
          </a:bodyPr>
          <a:lstStyle/>
          <a:p>
            <a:pPr algn="ctr"/>
            <a:r>
              <a:rPr lang="en-US" sz="1800" b="1" dirty="0">
                <a:solidFill>
                  <a:srgbClr val="000000"/>
                </a:solidFill>
                <a:latin typeface="Helvetica Neue"/>
                <a:ea typeface="Helvetica Neue"/>
                <a:cs typeface="Helvetica Neue"/>
              </a:rPr>
              <a:t>Router / firewall</a:t>
            </a:r>
          </a:p>
          <a:p>
            <a:pPr algn="ctr"/>
            <a:r>
              <a:rPr lang="en-US" sz="1400" b="0" dirty="0">
                <a:solidFill>
                  <a:srgbClr val="000000"/>
                </a:solidFill>
                <a:latin typeface="Helvetica Neue"/>
                <a:ea typeface="Helvetica Neue"/>
                <a:cs typeface="Helvetica Neue"/>
              </a:rPr>
              <a:t>or SD-WAN appliance</a:t>
            </a:r>
          </a:p>
        </p:txBody>
      </p:sp>
      <p:cxnSp>
        <p:nvCxnSpPr>
          <p:cNvPr id="109" name="!!line-fw-switch"/>
          <p:cNvCxnSpPr/>
          <p:nvPr/>
        </p:nvCxnSpPr>
        <p:spPr>
          <a:xfrm>
            <a:off x="6949440" y="4046220"/>
            <a:ext cx="0" cy="1303020"/>
          </a:xfrm>
          <a:prstGeom prst="line">
            <a:avLst/>
          </a:prstGeom>
          <a:ln w="44450" cap="rnd">
            <a:solidFill>
              <a:schemeClr val="tx1"/>
            </a:solidFill>
          </a:ln>
        </p:spPr>
      </p:cxnSp>
      <p:sp>
        <p:nvSpPr>
          <p:cNvPr id="110" name="!!box-vpn"/>
          <p:cNvSpPr/>
          <p:nvPr/>
        </p:nvSpPr>
        <p:spPr>
          <a:xfrm>
            <a:off x="10607040" y="3177540"/>
            <a:ext cx="3108960" cy="868680"/>
          </a:xfrm>
          <a:prstGeom prst="roundRect">
            <a:avLst>
              <a:gd name="adj" fmla="val 18000"/>
            </a:avLst>
          </a:prstGeom>
          <a:solidFill>
            <a:schemeClr val="bg1"/>
          </a:solidFill>
          <a:ln w="44450">
            <a:solidFill>
              <a:schemeClr val="tx1"/>
            </a:solidFill>
          </a:ln>
        </p:spPr>
        <p:txBody>
          <a:bodyPr wrap="square" lIns="45720" tIns="0" rIns="45720" bIns="0" anchor="ctr">
            <a:noAutofit/>
          </a:bodyPr>
          <a:lstStyle/>
          <a:p>
            <a:pPr algn="ctr"/>
            <a:r>
              <a:rPr lang="en-US" sz="1800" b="1" dirty="0">
                <a:solidFill>
                  <a:srgbClr val="000000"/>
                </a:solidFill>
                <a:latin typeface="Helvetica Neue"/>
                <a:ea typeface="Helvetica Neue"/>
                <a:cs typeface="Helvetica Neue"/>
              </a:rPr>
              <a:t>Core VPN device</a:t>
            </a:r>
          </a:p>
          <a:p>
            <a:pPr algn="ctr"/>
            <a:r>
              <a:rPr lang="en-US" sz="1400" b="0" dirty="0">
                <a:solidFill>
                  <a:srgbClr val="000000"/>
                </a:solidFill>
                <a:latin typeface="Helvetica Neue"/>
                <a:ea typeface="Helvetica Neue"/>
                <a:cs typeface="Helvetica Neue"/>
              </a:rPr>
              <a:t>from the core processor</a:t>
            </a:r>
          </a:p>
        </p:txBody>
      </p:sp>
      <p:cxnSp>
        <p:nvCxnSpPr>
          <p:cNvPr id="111" name="!!line-fw-vpn"/>
          <p:cNvCxnSpPr/>
          <p:nvPr/>
        </p:nvCxnSpPr>
        <p:spPr>
          <a:xfrm>
            <a:off x="8869680" y="3611880"/>
            <a:ext cx="1737360" cy="0"/>
          </a:xfrm>
          <a:prstGeom prst="line">
            <a:avLst/>
          </a:prstGeom>
          <a:ln w="44450" cap="rnd">
            <a:solidFill>
              <a:schemeClr val="tx1"/>
            </a:solidFill>
          </a:ln>
        </p:spPr>
      </p:cxnSp>
      <p:pic>
        <p:nvPicPr>
          <p:cNvPr id="112" name="!!icon-core" descr="Core processo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590520" y="2743200"/>
            <a:ext cx="1005840" cy="1005840"/>
          </a:xfrm>
          <a:prstGeom prst="rect">
            <a:avLst/>
          </a:prstGeom>
        </p:spPr>
      </p:pic>
      <p:sp>
        <p:nvSpPr>
          <p:cNvPr id="113" name="!!label-core"/>
          <p:cNvSpPr txBox="1"/>
          <p:nvPr/>
        </p:nvSpPr>
        <p:spPr>
          <a:xfrm>
            <a:off x="14904720" y="3794760"/>
            <a:ext cx="2377440" cy="36576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Core processor</a:t>
            </a:r>
          </a:p>
        </p:txBody>
      </p:sp>
      <p:cxnSp>
        <p:nvCxnSpPr>
          <p:cNvPr id="114" name="!!tunnel-core"/>
          <p:cNvCxnSpPr/>
          <p:nvPr/>
        </p:nvCxnSpPr>
        <p:spPr>
          <a:xfrm flipV="1">
            <a:off x="13761720" y="3291840"/>
            <a:ext cx="1737360" cy="320040"/>
          </a:xfrm>
          <a:prstGeom prst="line">
            <a:avLst/>
          </a:prstGeom>
          <a:ln w="38100" cap="rnd">
            <a:solidFill>
              <a:schemeClr val="tx1"/>
            </a:solidFill>
            <a:prstDash val="lgDash"/>
          </a:ln>
        </p:spPr>
      </p:cxnSp>
      <p:sp>
        <p:nvSpPr>
          <p:cNvPr id="115" name="!!box-switch"/>
          <p:cNvSpPr/>
          <p:nvPr/>
        </p:nvSpPr>
        <p:spPr>
          <a:xfrm>
            <a:off x="1097280" y="5349240"/>
            <a:ext cx="16093440" cy="640080"/>
          </a:xfrm>
          <a:prstGeom prst="roundRect">
            <a:avLst>
              <a:gd name="adj" fmla="val 18000"/>
            </a:avLst>
          </a:prstGeom>
          <a:solidFill>
            <a:schemeClr val="bg1"/>
          </a:solidFill>
          <a:ln w="44450">
            <a:solidFill>
              <a:schemeClr val="tx1"/>
            </a:solidFill>
          </a:ln>
        </p:spPr>
        <p:txBody>
          <a:bodyPr wrap="square" lIns="45720" tIns="0" rIns="45720" bIns="0" anchor="ctr">
            <a:noAutofit/>
          </a:bodyPr>
          <a:lstStyle/>
          <a:p>
            <a:pPr algn="ctr"/>
            <a:r>
              <a:rPr lang="en-US" sz="1800" b="1" dirty="0">
                <a:solidFill>
                  <a:srgbClr val="000000"/>
                </a:solidFill>
                <a:latin typeface="Helvetica Neue"/>
                <a:ea typeface="Helvetica Neue"/>
                <a:cs typeface="Helvetica Neue"/>
              </a:rPr>
              <a:t>Ethernet switch</a:t>
            </a:r>
          </a:p>
          <a:p>
            <a:pPr algn="ctr"/>
            <a:r>
              <a:rPr lang="en-US" sz="1400" b="0" dirty="0">
                <a:solidFill>
                  <a:srgbClr val="000000"/>
                </a:solidFill>
                <a:latin typeface="Helvetica Neue"/>
                <a:ea typeface="Helvetica Neue"/>
                <a:cs typeface="Helvetica Neue"/>
              </a:rPr>
              <a:t>Every device in the branch plugs in here</a:t>
            </a:r>
          </a:p>
        </p:txBody>
      </p:sp>
      <p:cxnSp>
        <p:nvCxnSpPr>
          <p:cNvPr id="116" name="!!eth-teller1"/>
          <p:cNvCxnSpPr/>
          <p:nvPr/>
        </p:nvCxnSpPr>
        <p:spPr>
          <a:xfrm>
            <a:off x="1097280" y="5989320"/>
            <a:ext cx="0" cy="457200"/>
          </a:xfrm>
          <a:prstGeom prst="line">
            <a:avLst/>
          </a:prstGeom>
          <a:ln w="44450" cap="rnd">
            <a:solidFill>
              <a:schemeClr val="tx1"/>
            </a:solidFill>
          </a:ln>
        </p:spPr>
      </p:cxnSp>
      <p:pic>
        <p:nvPicPr>
          <p:cNvPr id="117" name="!!icon-teller1" descr="teller1"/>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0080" y="6492240"/>
            <a:ext cx="914400" cy="914400"/>
          </a:xfrm>
          <a:prstGeom prst="rect">
            <a:avLst/>
          </a:prstGeom>
        </p:spPr>
      </p:pic>
      <p:cxnSp>
        <p:nvCxnSpPr>
          <p:cNvPr id="118" name="!!eth-teller2"/>
          <p:cNvCxnSpPr/>
          <p:nvPr/>
        </p:nvCxnSpPr>
        <p:spPr>
          <a:xfrm>
            <a:off x="2286000" y="5989320"/>
            <a:ext cx="0" cy="457200"/>
          </a:xfrm>
          <a:prstGeom prst="line">
            <a:avLst/>
          </a:prstGeom>
          <a:ln w="44450" cap="rnd">
            <a:solidFill>
              <a:schemeClr val="tx1"/>
            </a:solidFill>
          </a:ln>
        </p:spPr>
      </p:cxnSp>
      <p:pic>
        <p:nvPicPr>
          <p:cNvPr id="119" name="!!icon-teller2" descr="teller2"/>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28800" y="6492240"/>
            <a:ext cx="914400" cy="914400"/>
          </a:xfrm>
          <a:prstGeom prst="rect">
            <a:avLst/>
          </a:prstGeom>
        </p:spPr>
      </p:pic>
      <p:sp>
        <p:nvSpPr>
          <p:cNvPr id="120" name="!!label-tellers"/>
          <p:cNvSpPr txBox="1"/>
          <p:nvPr/>
        </p:nvSpPr>
        <p:spPr>
          <a:xfrm>
            <a:off x="320040" y="7479792"/>
            <a:ext cx="2743200" cy="36576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Teller line</a:t>
            </a:r>
          </a:p>
        </p:txBody>
      </p:sp>
      <p:cxnSp>
        <p:nvCxnSpPr>
          <p:cNvPr id="121" name="!!eth-printers"/>
          <p:cNvCxnSpPr/>
          <p:nvPr/>
        </p:nvCxnSpPr>
        <p:spPr>
          <a:xfrm>
            <a:off x="3840480" y="5989320"/>
            <a:ext cx="0" cy="457200"/>
          </a:xfrm>
          <a:prstGeom prst="line">
            <a:avLst/>
          </a:prstGeom>
          <a:ln w="44450" cap="rnd">
            <a:solidFill>
              <a:schemeClr val="tx1"/>
            </a:solidFill>
          </a:ln>
        </p:spPr>
      </p:cxnSp>
      <p:pic>
        <p:nvPicPr>
          <p:cNvPr id="122" name="!!icon-printers" descr="Printers"/>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383280" y="6492240"/>
            <a:ext cx="914400" cy="914400"/>
          </a:xfrm>
          <a:prstGeom prst="rect">
            <a:avLst/>
          </a:prstGeom>
        </p:spPr>
      </p:pic>
      <p:sp>
        <p:nvSpPr>
          <p:cNvPr id="123" name="!!label-printers"/>
          <p:cNvSpPr txBox="1"/>
          <p:nvPr/>
        </p:nvSpPr>
        <p:spPr>
          <a:xfrm>
            <a:off x="2834640" y="7479792"/>
            <a:ext cx="201168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Printers</a:t>
            </a:r>
          </a:p>
        </p:txBody>
      </p:sp>
      <p:cxnSp>
        <p:nvCxnSpPr>
          <p:cNvPr id="124" name="!!eth-phones"/>
          <p:cNvCxnSpPr/>
          <p:nvPr/>
        </p:nvCxnSpPr>
        <p:spPr>
          <a:xfrm>
            <a:off x="5303520" y="5989320"/>
            <a:ext cx="0" cy="457200"/>
          </a:xfrm>
          <a:prstGeom prst="line">
            <a:avLst/>
          </a:prstGeom>
          <a:ln w="44450" cap="rnd">
            <a:solidFill>
              <a:schemeClr val="tx1"/>
            </a:solidFill>
          </a:ln>
        </p:spPr>
      </p:cxnSp>
      <p:pic>
        <p:nvPicPr>
          <p:cNvPr id="125" name="!!icon-phones" descr="Desk phones"/>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846320" y="6492240"/>
            <a:ext cx="914400" cy="914400"/>
          </a:xfrm>
          <a:prstGeom prst="rect">
            <a:avLst/>
          </a:prstGeom>
        </p:spPr>
      </p:pic>
      <p:sp>
        <p:nvSpPr>
          <p:cNvPr id="126" name="!!label-phones"/>
          <p:cNvSpPr txBox="1"/>
          <p:nvPr/>
        </p:nvSpPr>
        <p:spPr>
          <a:xfrm>
            <a:off x="4297680" y="7479792"/>
            <a:ext cx="201168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Desk phones</a:t>
            </a:r>
          </a:p>
        </p:txBody>
      </p:sp>
      <p:cxnSp>
        <p:nvCxnSpPr>
          <p:cNvPr id="127" name="!!eth-server"/>
          <p:cNvCxnSpPr/>
          <p:nvPr/>
        </p:nvCxnSpPr>
        <p:spPr>
          <a:xfrm>
            <a:off x="6766560" y="5989320"/>
            <a:ext cx="0" cy="457200"/>
          </a:xfrm>
          <a:prstGeom prst="line">
            <a:avLst/>
          </a:prstGeom>
          <a:ln w="44450" cap="rnd">
            <a:solidFill>
              <a:schemeClr val="tx1"/>
            </a:solidFill>
          </a:ln>
        </p:spPr>
      </p:cxnSp>
      <p:pic>
        <p:nvPicPr>
          <p:cNvPr id="128" name="!!icon-server" descr="Branch serve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09360" y="6492240"/>
            <a:ext cx="914400" cy="914400"/>
          </a:xfrm>
          <a:prstGeom prst="rect">
            <a:avLst/>
          </a:prstGeom>
        </p:spPr>
      </p:pic>
      <p:sp>
        <p:nvSpPr>
          <p:cNvPr id="129" name="!!label-server"/>
          <p:cNvSpPr txBox="1"/>
          <p:nvPr/>
        </p:nvSpPr>
        <p:spPr>
          <a:xfrm>
            <a:off x="5760720" y="7479792"/>
            <a:ext cx="201168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Branch server</a:t>
            </a:r>
          </a:p>
        </p:txBody>
      </p:sp>
      <p:cxnSp>
        <p:nvCxnSpPr>
          <p:cNvPr id="130" name="!!eth-atm"/>
          <p:cNvCxnSpPr/>
          <p:nvPr/>
        </p:nvCxnSpPr>
        <p:spPr>
          <a:xfrm>
            <a:off x="8229600" y="5989320"/>
            <a:ext cx="0" cy="457200"/>
          </a:xfrm>
          <a:prstGeom prst="line">
            <a:avLst/>
          </a:prstGeom>
          <a:ln w="44450" cap="rnd">
            <a:solidFill>
              <a:schemeClr val="tx1"/>
            </a:solidFill>
          </a:ln>
        </p:spPr>
      </p:cxnSp>
      <p:pic>
        <p:nvPicPr>
          <p:cNvPr id="131" name="!!icon-atm" descr="ATM"/>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772400" y="6492240"/>
            <a:ext cx="914400" cy="914400"/>
          </a:xfrm>
          <a:prstGeom prst="rect">
            <a:avLst/>
          </a:prstGeom>
        </p:spPr>
      </p:pic>
      <p:sp>
        <p:nvSpPr>
          <p:cNvPr id="132" name="!!label-atm"/>
          <p:cNvSpPr txBox="1"/>
          <p:nvPr/>
        </p:nvSpPr>
        <p:spPr>
          <a:xfrm>
            <a:off x="7223760" y="7479792"/>
            <a:ext cx="201168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ATM</a:t>
            </a:r>
          </a:p>
        </p:txBody>
      </p:sp>
      <p:cxnSp>
        <p:nvCxnSpPr>
          <p:cNvPr id="133" name="!!eth-cameras"/>
          <p:cNvCxnSpPr/>
          <p:nvPr/>
        </p:nvCxnSpPr>
        <p:spPr>
          <a:xfrm>
            <a:off x="9692640" y="5989320"/>
            <a:ext cx="0" cy="457200"/>
          </a:xfrm>
          <a:prstGeom prst="line">
            <a:avLst/>
          </a:prstGeom>
          <a:ln w="44450" cap="rnd">
            <a:solidFill>
              <a:schemeClr val="tx1"/>
            </a:solidFill>
          </a:ln>
        </p:spPr>
      </p:cxnSp>
      <p:pic>
        <p:nvPicPr>
          <p:cNvPr id="134" name="!!icon-cameras" descr="Cameras"/>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235440" y="6492240"/>
            <a:ext cx="914400" cy="914400"/>
          </a:xfrm>
          <a:prstGeom prst="rect">
            <a:avLst/>
          </a:prstGeom>
        </p:spPr>
      </p:pic>
      <p:sp>
        <p:nvSpPr>
          <p:cNvPr id="135" name="!!label-cameras"/>
          <p:cNvSpPr txBox="1"/>
          <p:nvPr/>
        </p:nvSpPr>
        <p:spPr>
          <a:xfrm>
            <a:off x="8686800" y="7479792"/>
            <a:ext cx="201168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Cameras</a:t>
            </a:r>
          </a:p>
          <a:p>
            <a:pPr algn="ctr"/>
            <a:r>
              <a:rPr lang="en-US" sz="1200" b="0" dirty="0">
                <a:latin typeface="Helvetica Neue"/>
                <a:ea typeface="Helvetica Neue"/>
                <a:cs typeface="Helvetica Neue"/>
              </a:rPr>
              <a:t>and DVR</a:t>
            </a:r>
          </a:p>
        </p:txBody>
      </p:sp>
      <p:cxnSp>
        <p:nvCxnSpPr>
          <p:cNvPr id="136" name="!!eth-alarm"/>
          <p:cNvCxnSpPr/>
          <p:nvPr/>
        </p:nvCxnSpPr>
        <p:spPr>
          <a:xfrm>
            <a:off x="11155680" y="5989320"/>
            <a:ext cx="0" cy="457200"/>
          </a:xfrm>
          <a:prstGeom prst="line">
            <a:avLst/>
          </a:prstGeom>
          <a:ln w="44450" cap="rnd">
            <a:solidFill>
              <a:schemeClr val="tx1"/>
            </a:solidFill>
          </a:ln>
        </p:spPr>
      </p:cxnSp>
      <p:pic>
        <p:nvPicPr>
          <p:cNvPr id="137" name="!!icon-alarm" descr="Alarm panel"/>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698480" y="6492240"/>
            <a:ext cx="914400" cy="914400"/>
          </a:xfrm>
          <a:prstGeom prst="rect">
            <a:avLst/>
          </a:prstGeom>
        </p:spPr>
      </p:pic>
      <p:sp>
        <p:nvSpPr>
          <p:cNvPr id="138" name="!!label-alarm"/>
          <p:cNvSpPr txBox="1"/>
          <p:nvPr/>
        </p:nvSpPr>
        <p:spPr>
          <a:xfrm>
            <a:off x="10149840" y="7479792"/>
            <a:ext cx="201168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Alarm panel</a:t>
            </a:r>
          </a:p>
        </p:txBody>
      </p:sp>
      <p:cxnSp>
        <p:nvCxnSpPr>
          <p:cNvPr id="139" name="!!eth-staffap"/>
          <p:cNvCxnSpPr/>
          <p:nvPr/>
        </p:nvCxnSpPr>
        <p:spPr>
          <a:xfrm>
            <a:off x="13533120" y="5989320"/>
            <a:ext cx="0" cy="365760"/>
          </a:xfrm>
          <a:prstGeom prst="line">
            <a:avLst/>
          </a:prstGeom>
          <a:ln w="44450" cap="rnd">
            <a:solidFill>
              <a:schemeClr val="tx1"/>
            </a:solidFill>
          </a:ln>
        </p:spPr>
      </p:cxnSp>
      <p:pic>
        <p:nvPicPr>
          <p:cNvPr id="140" name="!!icon-staffap" descr="Staff Wi-Fi"/>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3167360" y="6400800"/>
            <a:ext cx="731520" cy="731520"/>
          </a:xfrm>
          <a:prstGeom prst="rect">
            <a:avLst/>
          </a:prstGeom>
        </p:spPr>
      </p:pic>
      <p:sp>
        <p:nvSpPr>
          <p:cNvPr id="141" name="!!label-staffap"/>
          <p:cNvSpPr txBox="1"/>
          <p:nvPr/>
        </p:nvSpPr>
        <p:spPr>
          <a:xfrm>
            <a:off x="12527280" y="7205472"/>
            <a:ext cx="201168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Staff Wi-Fi</a:t>
            </a:r>
          </a:p>
        </p:txBody>
      </p:sp>
      <p:cxnSp>
        <p:nvCxnSpPr>
          <p:cNvPr id="142" name="!!wifi-staffclient"/>
          <p:cNvCxnSpPr/>
          <p:nvPr/>
        </p:nvCxnSpPr>
        <p:spPr>
          <a:xfrm>
            <a:off x="13533120" y="7589520"/>
            <a:ext cx="0" cy="320040"/>
          </a:xfrm>
          <a:prstGeom prst="line">
            <a:avLst/>
          </a:prstGeom>
          <a:ln w="38100" cap="rnd">
            <a:solidFill>
              <a:schemeClr val="tx1"/>
            </a:solidFill>
            <a:prstDash val="sysDash"/>
          </a:ln>
        </p:spPr>
      </p:cxnSp>
      <p:pic>
        <p:nvPicPr>
          <p:cNvPr id="143" name="!!icon-staffclient" descr="Staff laptops"/>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3190220" y="7978140"/>
            <a:ext cx="685800" cy="685800"/>
          </a:xfrm>
          <a:prstGeom prst="rect">
            <a:avLst/>
          </a:prstGeom>
        </p:spPr>
      </p:pic>
      <p:sp>
        <p:nvSpPr>
          <p:cNvPr id="144" name="!!label-staffclient"/>
          <p:cNvSpPr txBox="1"/>
          <p:nvPr/>
        </p:nvSpPr>
        <p:spPr>
          <a:xfrm>
            <a:off x="12344400" y="8732520"/>
            <a:ext cx="2377440" cy="365760"/>
          </a:xfrm>
          <a:prstGeom prst="rect">
            <a:avLst/>
          </a:prstGeom>
          <a:noFill/>
        </p:spPr>
        <p:txBody>
          <a:bodyPr wrap="square" lIns="0" tIns="0" rIns="0" bIns="0" anchor="t">
            <a:noAutofit/>
          </a:bodyPr>
          <a:lstStyle/>
          <a:p>
            <a:pPr algn="ctr"/>
            <a:r>
              <a:rPr lang="en-US" sz="1400" b="0" dirty="0">
                <a:latin typeface="Helvetica Neue"/>
                <a:ea typeface="Helvetica Neue"/>
                <a:cs typeface="Helvetica Neue"/>
              </a:rPr>
              <a:t>Staff laptops</a:t>
            </a:r>
          </a:p>
        </p:txBody>
      </p:sp>
      <p:cxnSp>
        <p:nvCxnSpPr>
          <p:cNvPr id="145" name="!!eth-guestap"/>
          <p:cNvCxnSpPr/>
          <p:nvPr/>
        </p:nvCxnSpPr>
        <p:spPr>
          <a:xfrm>
            <a:off x="16276320" y="5989320"/>
            <a:ext cx="0" cy="365760"/>
          </a:xfrm>
          <a:prstGeom prst="line">
            <a:avLst/>
          </a:prstGeom>
          <a:ln w="44450" cap="rnd">
            <a:solidFill>
              <a:schemeClr val="tx1"/>
            </a:solidFill>
          </a:ln>
        </p:spPr>
      </p:cxnSp>
      <p:pic>
        <p:nvPicPr>
          <p:cNvPr id="146" name="!!icon-guestap" descr="Guest Wi-Fi"/>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5910560" y="6400800"/>
            <a:ext cx="731520" cy="731520"/>
          </a:xfrm>
          <a:prstGeom prst="rect">
            <a:avLst/>
          </a:prstGeom>
        </p:spPr>
      </p:pic>
      <p:sp>
        <p:nvSpPr>
          <p:cNvPr id="147" name="!!label-guestap"/>
          <p:cNvSpPr txBox="1"/>
          <p:nvPr/>
        </p:nvSpPr>
        <p:spPr>
          <a:xfrm>
            <a:off x="15270480" y="7205472"/>
            <a:ext cx="201168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Guest Wi-Fi</a:t>
            </a:r>
          </a:p>
        </p:txBody>
      </p:sp>
      <p:cxnSp>
        <p:nvCxnSpPr>
          <p:cNvPr id="148" name="!!wifi-guestclient"/>
          <p:cNvCxnSpPr/>
          <p:nvPr/>
        </p:nvCxnSpPr>
        <p:spPr>
          <a:xfrm>
            <a:off x="16276320" y="7589520"/>
            <a:ext cx="0" cy="320040"/>
          </a:xfrm>
          <a:prstGeom prst="line">
            <a:avLst/>
          </a:prstGeom>
          <a:ln w="38100" cap="rnd">
            <a:solidFill>
              <a:schemeClr val="tx1"/>
            </a:solidFill>
            <a:prstDash val="sysDash"/>
          </a:ln>
        </p:spPr>
      </p:cxnSp>
      <p:pic>
        <p:nvPicPr>
          <p:cNvPr id="149" name="!!icon-guestclient" descr="Customer phones"/>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5933420" y="7978140"/>
            <a:ext cx="685800" cy="685800"/>
          </a:xfrm>
          <a:prstGeom prst="rect">
            <a:avLst/>
          </a:prstGeom>
        </p:spPr>
      </p:pic>
      <p:sp>
        <p:nvSpPr>
          <p:cNvPr id="150" name="!!label-guestclient"/>
          <p:cNvSpPr txBox="1"/>
          <p:nvPr/>
        </p:nvSpPr>
        <p:spPr>
          <a:xfrm>
            <a:off x="15087600" y="8732520"/>
            <a:ext cx="2377440" cy="365760"/>
          </a:xfrm>
          <a:prstGeom prst="rect">
            <a:avLst/>
          </a:prstGeom>
          <a:noFill/>
        </p:spPr>
        <p:txBody>
          <a:bodyPr wrap="square" lIns="0" tIns="0" rIns="0" bIns="0" anchor="t">
            <a:noAutofit/>
          </a:bodyPr>
          <a:lstStyle/>
          <a:p>
            <a:pPr algn="ctr"/>
            <a:r>
              <a:rPr lang="en-US" sz="1400" b="0" dirty="0">
                <a:latin typeface="Helvetica Neue"/>
                <a:ea typeface="Helvetica Neue"/>
                <a:cs typeface="Helvetica Neue"/>
              </a:rPr>
              <a:t>Customer phones</a:t>
            </a:r>
          </a:p>
        </p:txBody>
      </p:sp>
      <p:cxnSp>
        <p:nvCxnSpPr>
          <p:cNvPr id="151" name="!!legend-line-0"/>
          <p:cNvCxnSpPr/>
          <p:nvPr/>
        </p:nvCxnSpPr>
        <p:spPr>
          <a:xfrm>
            <a:off x="548640" y="9829800"/>
            <a:ext cx="731520" cy="0"/>
          </a:xfrm>
          <a:prstGeom prst="line">
            <a:avLst/>
          </a:prstGeom>
          <a:ln w="44450" cap="rnd">
            <a:solidFill>
              <a:schemeClr val="tx1"/>
            </a:solidFill>
          </a:ln>
        </p:spPr>
      </p:cxnSp>
      <p:sp>
        <p:nvSpPr>
          <p:cNvPr id="152" name="!!legend-text-0"/>
          <p:cNvSpPr txBox="1"/>
          <p:nvPr/>
        </p:nvSpPr>
        <p:spPr>
          <a:xfrm>
            <a:off x="1417320" y="9674352"/>
            <a:ext cx="1554480" cy="320040"/>
          </a:xfrm>
          <a:prstGeom prst="rect">
            <a:avLst/>
          </a:prstGeom>
          <a:noFill/>
        </p:spPr>
        <p:txBody>
          <a:bodyPr wrap="square" lIns="0" tIns="0" rIns="0" bIns="0" anchor="t">
            <a:noAutofit/>
          </a:bodyPr>
          <a:lstStyle/>
          <a:p>
            <a:pPr algn="l"/>
            <a:r>
              <a:rPr lang="en-US" sz="1400" b="0" dirty="0">
                <a:latin typeface="Helvetica Neue"/>
                <a:ea typeface="Helvetica Neue"/>
                <a:cs typeface="Helvetica Neue"/>
              </a:rPr>
              <a:t>Ethernet</a:t>
            </a:r>
          </a:p>
        </p:txBody>
      </p:sp>
      <p:cxnSp>
        <p:nvCxnSpPr>
          <p:cNvPr id="153" name="!!legend-line-1"/>
          <p:cNvCxnSpPr/>
          <p:nvPr/>
        </p:nvCxnSpPr>
        <p:spPr>
          <a:xfrm>
            <a:off x="2926080" y="9829800"/>
            <a:ext cx="731520" cy="0"/>
          </a:xfrm>
          <a:prstGeom prst="line">
            <a:avLst/>
          </a:prstGeom>
          <a:ln w="38100" cap="rnd">
            <a:solidFill>
              <a:schemeClr val="tx1"/>
            </a:solidFill>
            <a:prstDash val="sysDash"/>
          </a:ln>
        </p:spPr>
      </p:cxnSp>
      <p:sp>
        <p:nvSpPr>
          <p:cNvPr id="154" name="!!legend-text-1"/>
          <p:cNvSpPr txBox="1"/>
          <p:nvPr/>
        </p:nvSpPr>
        <p:spPr>
          <a:xfrm>
            <a:off x="3794760" y="9674352"/>
            <a:ext cx="1554480" cy="320040"/>
          </a:xfrm>
          <a:prstGeom prst="rect">
            <a:avLst/>
          </a:prstGeom>
          <a:noFill/>
        </p:spPr>
        <p:txBody>
          <a:bodyPr wrap="square" lIns="0" tIns="0" rIns="0" bIns="0" anchor="t">
            <a:noAutofit/>
          </a:bodyPr>
          <a:lstStyle/>
          <a:p>
            <a:pPr algn="l"/>
            <a:r>
              <a:rPr lang="en-US" sz="1400" b="0" dirty="0">
                <a:latin typeface="Helvetica Neue"/>
                <a:ea typeface="Helvetica Neue"/>
                <a:cs typeface="Helvetica Neue"/>
              </a:rPr>
              <a:t>Wi-Fi</a:t>
            </a:r>
          </a:p>
        </p:txBody>
      </p:sp>
      <p:cxnSp>
        <p:nvCxnSpPr>
          <p:cNvPr id="155" name="!!legend-line-2"/>
          <p:cNvCxnSpPr/>
          <p:nvPr/>
        </p:nvCxnSpPr>
        <p:spPr>
          <a:xfrm>
            <a:off x="5303520" y="9829800"/>
            <a:ext cx="731520" cy="0"/>
          </a:xfrm>
          <a:prstGeom prst="line">
            <a:avLst/>
          </a:prstGeom>
          <a:ln w="44450" cap="rnd">
            <a:solidFill>
              <a:schemeClr val="tx1"/>
            </a:solidFill>
            <a:prstDash val="dash"/>
          </a:ln>
        </p:spPr>
      </p:cxnSp>
      <p:sp>
        <p:nvSpPr>
          <p:cNvPr id="156" name="!!legend-text-2"/>
          <p:cNvSpPr txBox="1"/>
          <p:nvPr/>
        </p:nvSpPr>
        <p:spPr>
          <a:xfrm>
            <a:off x="6172200" y="9674352"/>
            <a:ext cx="1554480" cy="320040"/>
          </a:xfrm>
          <a:prstGeom prst="rect">
            <a:avLst/>
          </a:prstGeom>
          <a:noFill/>
        </p:spPr>
        <p:txBody>
          <a:bodyPr wrap="square" lIns="0" tIns="0" rIns="0" bIns="0" anchor="t">
            <a:noAutofit/>
          </a:bodyPr>
          <a:lstStyle/>
          <a:p>
            <a:pPr algn="l"/>
            <a:r>
              <a:rPr lang="en-US" sz="1400" b="0" dirty="0">
                <a:latin typeface="Helvetica Neue"/>
                <a:ea typeface="Helvetica Neue"/>
                <a:cs typeface="Helvetica Neue"/>
              </a:rPr>
              <a:t>Backup link</a:t>
            </a:r>
          </a:p>
        </p:txBody>
      </p:sp>
      <p:cxnSp>
        <p:nvCxnSpPr>
          <p:cNvPr id="157" name="!!legend-line-3"/>
          <p:cNvCxnSpPr/>
          <p:nvPr/>
        </p:nvCxnSpPr>
        <p:spPr>
          <a:xfrm>
            <a:off x="7680960" y="9829800"/>
            <a:ext cx="731520" cy="0"/>
          </a:xfrm>
          <a:prstGeom prst="line">
            <a:avLst/>
          </a:prstGeom>
          <a:ln w="38100" cap="rnd">
            <a:solidFill>
              <a:schemeClr val="tx1"/>
            </a:solidFill>
            <a:prstDash val="lgDash"/>
          </a:ln>
        </p:spPr>
      </p:cxnSp>
      <p:sp>
        <p:nvSpPr>
          <p:cNvPr id="158" name="!!legend-text-3"/>
          <p:cNvSpPr txBox="1"/>
          <p:nvPr/>
        </p:nvSpPr>
        <p:spPr>
          <a:xfrm>
            <a:off x="8549640" y="9674352"/>
            <a:ext cx="1554480" cy="320040"/>
          </a:xfrm>
          <a:prstGeom prst="rect">
            <a:avLst/>
          </a:prstGeom>
          <a:noFill/>
        </p:spPr>
        <p:txBody>
          <a:bodyPr wrap="square" lIns="0" tIns="0" rIns="0" bIns="0" anchor="t">
            <a:noAutofit/>
          </a:bodyPr>
          <a:lstStyle/>
          <a:p>
            <a:pPr algn="l"/>
            <a:r>
              <a:rPr lang="en-US" sz="1400" b="0" dirty="0">
                <a:latin typeface="Helvetica Neue"/>
                <a:ea typeface="Helvetica Neue"/>
                <a:cs typeface="Helvetica Neue"/>
              </a:rPr>
              <a:t>Encrypted tunnel</a:t>
            </a:r>
          </a:p>
        </p:txBody>
      </p:sp>
    </p:spTree>
    <p:extLst>
      <p:ext uri="{BB962C8B-B14F-4D97-AF65-F5344CB8AC3E}">
        <p14:creationId xmlns:p14="http://schemas.microsoft.com/office/powerpoint/2010/main" val="15514148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a:latin typeface="Helvetica Neue"/>
              </a:rPr>
              <a:t>Branch Transformation: Fewer, Smaller, Self-Service</a:t>
            </a:r>
          </a:p>
        </p:txBody>
      </p:sp>
      <p:sp>
        <p:nvSpPr>
          <p:cNvPr id="101" name="!!subtitle"/>
          <p:cNvSpPr txBox="1"/>
          <p:nvPr/>
        </p:nvSpPr>
        <p:spPr>
          <a:xfrm>
            <a:off x="10241280" y="1783080"/>
            <a:ext cx="6949440" cy="548640"/>
          </a:xfrm>
          <a:prstGeom prst="rect">
            <a:avLst/>
          </a:prstGeom>
          <a:noFill/>
        </p:spPr>
        <p:txBody>
          <a:bodyPr wrap="square" lIns="0" tIns="0" rIns="0" bIns="0" anchor="t">
            <a:noAutofit/>
          </a:bodyPr>
          <a:lstStyle/>
          <a:p>
            <a:pPr algn="r"/>
            <a:r>
              <a:rPr lang="en-US" sz="2800" b="0" dirty="0">
                <a:solidFill>
                  <a:srgbClr val="595959"/>
                </a:solidFill>
                <a:latin typeface="Helvetica Neue"/>
                <a:ea typeface="Helvetica Neue"/>
                <a:cs typeface="Helvetica Neue"/>
              </a:rPr>
              <a:t>After: the transformed branch</a:t>
            </a:r>
          </a:p>
        </p:txBody>
      </p:sp>
      <p:pic>
        <p:nvPicPr>
          <p:cNvPr id="102" name="!!icon-inet" descr="Internet"/>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1680" y="2377440"/>
            <a:ext cx="2468880" cy="2468880"/>
          </a:xfrm>
          <a:prstGeom prst="rect">
            <a:avLst/>
          </a:prstGeom>
        </p:spPr>
      </p:pic>
      <p:sp>
        <p:nvSpPr>
          <p:cNvPr id="103" name="!!label-inet"/>
          <p:cNvSpPr txBox="1"/>
          <p:nvPr/>
        </p:nvSpPr>
        <p:spPr>
          <a:xfrm>
            <a:off x="2331720" y="3429000"/>
            <a:ext cx="1828800" cy="548640"/>
          </a:xfrm>
          <a:prstGeom prst="rect">
            <a:avLst/>
          </a:prstGeom>
          <a:noFill/>
        </p:spPr>
        <p:txBody>
          <a:bodyPr wrap="square" lIns="0" tIns="0" rIns="0" bIns="0" anchor="t">
            <a:noAutofit/>
          </a:bodyPr>
          <a:lstStyle/>
          <a:p>
            <a:pPr algn="ctr"/>
            <a:r>
              <a:rPr lang="en-US" sz="2000" b="1" dirty="0">
                <a:latin typeface="Helvetica Neue"/>
                <a:ea typeface="Helvetica Neue"/>
                <a:cs typeface="Helvetica Neue"/>
              </a:rPr>
              <a:t>Internet</a:t>
            </a:r>
          </a:p>
          <a:p>
            <a:pPr algn="ctr"/>
            <a:r>
              <a:rPr lang="en-US" sz="1600" b="0" dirty="0">
                <a:latin typeface="Helvetica Neue"/>
                <a:ea typeface="Helvetica Neue"/>
                <a:cs typeface="Helvetica Neue"/>
              </a:rPr>
              <a:t>two providers</a:t>
            </a:r>
          </a:p>
        </p:txBody>
      </p:sp>
      <p:cxnSp>
        <p:nvCxnSpPr>
          <p:cNvPr id="104" name="!!line-inet-fw"/>
          <p:cNvCxnSpPr/>
          <p:nvPr/>
        </p:nvCxnSpPr>
        <p:spPr>
          <a:xfrm>
            <a:off x="4343400" y="3611880"/>
            <a:ext cx="685800" cy="0"/>
          </a:xfrm>
          <a:prstGeom prst="line">
            <a:avLst/>
          </a:prstGeom>
          <a:ln w="44450" cap="rnd">
            <a:solidFill>
              <a:schemeClr val="tx1"/>
            </a:solidFill>
          </a:ln>
        </p:spPr>
      </p:cxnSp>
      <p:pic>
        <p:nvPicPr>
          <p:cNvPr id="105" name="!!icon-lte" descr="Cellular backup"/>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00400" y="4480560"/>
            <a:ext cx="731520" cy="731520"/>
          </a:xfrm>
          <a:prstGeom prst="rect">
            <a:avLst/>
          </a:prstGeom>
        </p:spPr>
      </p:pic>
      <p:sp>
        <p:nvSpPr>
          <p:cNvPr id="106" name="!!label-lte"/>
          <p:cNvSpPr txBox="1"/>
          <p:nvPr/>
        </p:nvSpPr>
        <p:spPr>
          <a:xfrm>
            <a:off x="731520" y="4663440"/>
            <a:ext cx="2377440" cy="365760"/>
          </a:xfrm>
          <a:prstGeom prst="rect">
            <a:avLst/>
          </a:prstGeom>
          <a:noFill/>
        </p:spPr>
        <p:txBody>
          <a:bodyPr wrap="square" lIns="0" tIns="0" rIns="0" bIns="0" anchor="t">
            <a:noAutofit/>
          </a:bodyPr>
          <a:lstStyle/>
          <a:p>
            <a:pPr algn="r"/>
            <a:r>
              <a:rPr lang="en-US" sz="1600" b="1" dirty="0">
                <a:latin typeface="Helvetica Neue"/>
                <a:ea typeface="Helvetica Neue"/>
                <a:cs typeface="Helvetica Neue"/>
              </a:rPr>
              <a:t>5G / LTE backup</a:t>
            </a:r>
          </a:p>
        </p:txBody>
      </p:sp>
      <p:cxnSp>
        <p:nvCxnSpPr>
          <p:cNvPr id="107" name="!!line-lte-fw"/>
          <p:cNvCxnSpPr/>
          <p:nvPr/>
        </p:nvCxnSpPr>
        <p:spPr>
          <a:xfrm flipV="1">
            <a:off x="3977640" y="4046220"/>
            <a:ext cx="1874520" cy="571500"/>
          </a:xfrm>
          <a:prstGeom prst="line">
            <a:avLst/>
          </a:prstGeom>
          <a:ln w="44450" cap="rnd">
            <a:solidFill>
              <a:schemeClr val="tx1"/>
            </a:solidFill>
            <a:prstDash val="dash"/>
          </a:ln>
        </p:spPr>
      </p:cxnSp>
      <p:sp>
        <p:nvSpPr>
          <p:cNvPr id="108" name="!!box-fw"/>
          <p:cNvSpPr/>
          <p:nvPr/>
        </p:nvSpPr>
        <p:spPr>
          <a:xfrm>
            <a:off x="5029200" y="3177540"/>
            <a:ext cx="3840480" cy="868680"/>
          </a:xfrm>
          <a:prstGeom prst="roundRect">
            <a:avLst>
              <a:gd name="adj" fmla="val 18000"/>
            </a:avLst>
          </a:prstGeom>
          <a:solidFill>
            <a:schemeClr val="bg1"/>
          </a:solidFill>
          <a:ln w="44450">
            <a:solidFill>
              <a:schemeClr val="tx1"/>
            </a:solidFill>
          </a:ln>
        </p:spPr>
        <p:txBody>
          <a:bodyPr wrap="square" lIns="45720" tIns="0" rIns="45720" bIns="0" anchor="ctr">
            <a:noAutofit/>
          </a:bodyPr>
          <a:lstStyle/>
          <a:p>
            <a:pPr algn="ctr"/>
            <a:r>
              <a:rPr lang="en-US" sz="1800" b="1" dirty="0">
                <a:solidFill>
                  <a:srgbClr val="000000"/>
                </a:solidFill>
                <a:latin typeface="Helvetica Neue"/>
                <a:ea typeface="Helvetica Neue"/>
                <a:cs typeface="Helvetica Neue"/>
              </a:rPr>
              <a:t>SD-WAN appliance</a:t>
            </a:r>
          </a:p>
          <a:p>
            <a:pPr algn="ctr"/>
            <a:r>
              <a:rPr lang="en-US" sz="1400" b="0" dirty="0">
                <a:solidFill>
                  <a:srgbClr val="000000"/>
                </a:solidFill>
                <a:latin typeface="Helvetica Neue"/>
                <a:ea typeface="Helvetica Neue"/>
                <a:cs typeface="Helvetica Neue"/>
              </a:rPr>
              <a:t>managed remotely</a:t>
            </a:r>
          </a:p>
        </p:txBody>
      </p:sp>
      <p:cxnSp>
        <p:nvCxnSpPr>
          <p:cNvPr id="109" name="!!line-fw-switch"/>
          <p:cNvCxnSpPr/>
          <p:nvPr/>
        </p:nvCxnSpPr>
        <p:spPr>
          <a:xfrm>
            <a:off x="6949440" y="4046220"/>
            <a:ext cx="0" cy="1303020"/>
          </a:xfrm>
          <a:prstGeom prst="line">
            <a:avLst/>
          </a:prstGeom>
          <a:ln w="44450" cap="rnd">
            <a:solidFill>
              <a:schemeClr val="tx1"/>
            </a:solidFill>
          </a:ln>
        </p:spPr>
      </p:cxnSp>
      <p:pic>
        <p:nvPicPr>
          <p:cNvPr id="110" name="!!icon-saas" descr="Cloud and SaaS"/>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84280" y="1737360"/>
            <a:ext cx="2468880" cy="2468880"/>
          </a:xfrm>
          <a:prstGeom prst="rect">
            <a:avLst/>
          </a:prstGeom>
        </p:spPr>
      </p:pic>
      <p:sp>
        <p:nvSpPr>
          <p:cNvPr id="111" name="!!label-saas"/>
          <p:cNvSpPr txBox="1"/>
          <p:nvPr/>
        </p:nvSpPr>
        <p:spPr>
          <a:xfrm>
            <a:off x="11637414" y="3015288"/>
            <a:ext cx="1828800" cy="365760"/>
          </a:xfrm>
          <a:prstGeom prst="rect">
            <a:avLst/>
          </a:prstGeom>
          <a:noFill/>
        </p:spPr>
        <p:txBody>
          <a:bodyPr wrap="square" lIns="0" tIns="0" rIns="0" bIns="0" anchor="t">
            <a:noAutofit/>
          </a:bodyPr>
          <a:lstStyle/>
          <a:p>
            <a:pPr algn="ctr"/>
            <a:r>
              <a:rPr lang="en-US" sz="1800" b="1" dirty="0">
                <a:latin typeface="Helvetica Neue"/>
                <a:ea typeface="Helvetica Neue"/>
                <a:cs typeface="Helvetica Neue"/>
              </a:rPr>
              <a:t>Cloud &amp; SaaS</a:t>
            </a:r>
          </a:p>
        </p:txBody>
      </p:sp>
      <p:pic>
        <p:nvPicPr>
          <p:cNvPr id="112" name="!!icon-core" descr="Hosted core"/>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590520" y="2880360"/>
            <a:ext cx="1005840" cy="1005840"/>
          </a:xfrm>
          <a:prstGeom prst="rect">
            <a:avLst/>
          </a:prstGeom>
        </p:spPr>
      </p:pic>
      <p:sp>
        <p:nvSpPr>
          <p:cNvPr id="113" name="!!label-core"/>
          <p:cNvSpPr txBox="1"/>
          <p:nvPr/>
        </p:nvSpPr>
        <p:spPr>
          <a:xfrm>
            <a:off x="14904720" y="3931920"/>
            <a:ext cx="2377440" cy="36576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Hosted core</a:t>
            </a:r>
          </a:p>
        </p:txBody>
      </p:sp>
      <p:cxnSp>
        <p:nvCxnSpPr>
          <p:cNvPr id="114" name="!!tunnel-saas"/>
          <p:cNvCxnSpPr/>
          <p:nvPr/>
        </p:nvCxnSpPr>
        <p:spPr>
          <a:xfrm flipV="1">
            <a:off x="8869680" y="3200400"/>
            <a:ext cx="2606040" cy="228600"/>
          </a:xfrm>
          <a:prstGeom prst="line">
            <a:avLst/>
          </a:prstGeom>
          <a:ln w="38100" cap="rnd">
            <a:solidFill>
              <a:schemeClr val="tx1"/>
            </a:solidFill>
            <a:prstDash val="lgDash"/>
          </a:ln>
        </p:spPr>
      </p:cxnSp>
      <p:cxnSp>
        <p:nvCxnSpPr>
          <p:cNvPr id="115" name="!!tunnel-core"/>
          <p:cNvCxnSpPr/>
          <p:nvPr/>
        </p:nvCxnSpPr>
        <p:spPr>
          <a:xfrm flipV="1">
            <a:off x="8869680" y="3611880"/>
            <a:ext cx="6675120" cy="182880"/>
          </a:xfrm>
          <a:prstGeom prst="line">
            <a:avLst/>
          </a:prstGeom>
          <a:ln w="38100" cap="rnd">
            <a:solidFill>
              <a:schemeClr val="tx1"/>
            </a:solidFill>
            <a:prstDash val="lgDash"/>
          </a:ln>
        </p:spPr>
      </p:cxnSp>
      <p:sp>
        <p:nvSpPr>
          <p:cNvPr id="116" name="!!box-switch"/>
          <p:cNvSpPr/>
          <p:nvPr/>
        </p:nvSpPr>
        <p:spPr>
          <a:xfrm>
            <a:off x="1097280" y="5349240"/>
            <a:ext cx="16093440" cy="640080"/>
          </a:xfrm>
          <a:prstGeom prst="roundRect">
            <a:avLst>
              <a:gd name="adj" fmla="val 18000"/>
            </a:avLst>
          </a:prstGeom>
          <a:solidFill>
            <a:schemeClr val="bg1"/>
          </a:solidFill>
          <a:ln w="44450">
            <a:solidFill>
              <a:schemeClr val="tx1"/>
            </a:solidFill>
          </a:ln>
        </p:spPr>
        <p:txBody>
          <a:bodyPr wrap="square" lIns="45720" tIns="0" rIns="45720" bIns="0" anchor="ctr">
            <a:noAutofit/>
          </a:bodyPr>
          <a:lstStyle/>
          <a:p>
            <a:pPr algn="ctr"/>
            <a:r>
              <a:rPr lang="en-US" sz="1800" b="1" dirty="0">
                <a:solidFill>
                  <a:srgbClr val="000000"/>
                </a:solidFill>
                <a:latin typeface="Helvetica Neue"/>
                <a:ea typeface="Helvetica Neue"/>
                <a:cs typeface="Helvetica Neue"/>
              </a:rPr>
              <a:t>Ethernet switch</a:t>
            </a:r>
          </a:p>
          <a:p>
            <a:pPr algn="ctr"/>
            <a:r>
              <a:rPr lang="en-US" sz="1400" b="0" dirty="0">
                <a:solidFill>
                  <a:srgbClr val="000000"/>
                </a:solidFill>
                <a:latin typeface="Helvetica Neue"/>
                <a:ea typeface="Helvetica Neue"/>
                <a:cs typeface="Helvetica Neue"/>
              </a:rPr>
              <a:t>Fewer devices, and most of them depend on the connection out</a:t>
            </a:r>
          </a:p>
        </p:txBody>
      </p:sp>
      <p:cxnSp>
        <p:nvCxnSpPr>
          <p:cNvPr id="117" name="!!eth-teller1"/>
          <p:cNvCxnSpPr/>
          <p:nvPr/>
        </p:nvCxnSpPr>
        <p:spPr>
          <a:xfrm>
            <a:off x="1737360" y="5989320"/>
            <a:ext cx="0" cy="457200"/>
          </a:xfrm>
          <a:prstGeom prst="line">
            <a:avLst/>
          </a:prstGeom>
          <a:ln w="44450" cap="rnd">
            <a:solidFill>
              <a:schemeClr val="tx1"/>
            </a:solidFill>
          </a:ln>
        </p:spPr>
      </p:cxnSp>
      <p:pic>
        <p:nvPicPr>
          <p:cNvPr id="118" name="!!icon-teller1" descr="Thin client"/>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80160" y="6492240"/>
            <a:ext cx="914400" cy="914400"/>
          </a:xfrm>
          <a:prstGeom prst="rect">
            <a:avLst/>
          </a:prstGeom>
        </p:spPr>
      </p:pic>
      <p:sp>
        <p:nvSpPr>
          <p:cNvPr id="119" name="!!label-teller1"/>
          <p:cNvSpPr txBox="1"/>
          <p:nvPr/>
        </p:nvSpPr>
        <p:spPr>
          <a:xfrm>
            <a:off x="731520" y="7479792"/>
            <a:ext cx="201168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Thin client</a:t>
            </a:r>
          </a:p>
        </p:txBody>
      </p:sp>
      <p:cxnSp>
        <p:nvCxnSpPr>
          <p:cNvPr id="120" name="!!eth-printers"/>
          <p:cNvCxnSpPr/>
          <p:nvPr/>
        </p:nvCxnSpPr>
        <p:spPr>
          <a:xfrm>
            <a:off x="3840480" y="5989320"/>
            <a:ext cx="0" cy="457200"/>
          </a:xfrm>
          <a:prstGeom prst="line">
            <a:avLst/>
          </a:prstGeom>
          <a:ln w="44450" cap="rnd">
            <a:solidFill>
              <a:schemeClr val="tx1"/>
            </a:solidFill>
          </a:ln>
        </p:spPr>
      </p:cxnSp>
      <p:pic>
        <p:nvPicPr>
          <p:cNvPr id="121" name="!!icon-printers" descr="Receipt printe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383280" y="6492240"/>
            <a:ext cx="914400" cy="914400"/>
          </a:xfrm>
          <a:prstGeom prst="rect">
            <a:avLst/>
          </a:prstGeom>
        </p:spPr>
      </p:pic>
      <p:sp>
        <p:nvSpPr>
          <p:cNvPr id="122" name="!!label-printers"/>
          <p:cNvSpPr txBox="1"/>
          <p:nvPr/>
        </p:nvSpPr>
        <p:spPr>
          <a:xfrm>
            <a:off x="2834640" y="7479792"/>
            <a:ext cx="201168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Receipt printer</a:t>
            </a:r>
          </a:p>
        </p:txBody>
      </p:sp>
      <p:cxnSp>
        <p:nvCxnSpPr>
          <p:cNvPr id="123" name="!!eth-atm"/>
          <p:cNvCxnSpPr/>
          <p:nvPr/>
        </p:nvCxnSpPr>
        <p:spPr>
          <a:xfrm>
            <a:off x="5852160" y="5989320"/>
            <a:ext cx="0" cy="457200"/>
          </a:xfrm>
          <a:prstGeom prst="line">
            <a:avLst/>
          </a:prstGeom>
          <a:ln w="44450" cap="rnd">
            <a:solidFill>
              <a:schemeClr val="tx1"/>
            </a:solidFill>
          </a:ln>
        </p:spPr>
      </p:cxnSp>
      <p:pic>
        <p:nvPicPr>
          <p:cNvPr id="124" name="!!icon-atm" descr="Video telle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394960" y="6492240"/>
            <a:ext cx="914400" cy="914400"/>
          </a:xfrm>
          <a:prstGeom prst="rect">
            <a:avLst/>
          </a:prstGeom>
        </p:spPr>
      </p:pic>
      <p:sp>
        <p:nvSpPr>
          <p:cNvPr id="125" name="!!label-atm"/>
          <p:cNvSpPr txBox="1"/>
          <p:nvPr/>
        </p:nvSpPr>
        <p:spPr>
          <a:xfrm>
            <a:off x="4846320" y="7479792"/>
            <a:ext cx="201168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Video teller</a:t>
            </a:r>
          </a:p>
          <a:p>
            <a:pPr algn="ctr"/>
            <a:r>
              <a:rPr lang="en-US" sz="1200" b="0" dirty="0">
                <a:latin typeface="Helvetica Neue"/>
                <a:ea typeface="Helvetica Neue"/>
                <a:cs typeface="Helvetica Neue"/>
              </a:rPr>
              <a:t>live remote teller</a:t>
            </a:r>
          </a:p>
        </p:txBody>
      </p:sp>
      <p:cxnSp>
        <p:nvCxnSpPr>
          <p:cNvPr id="126" name="!!eth-recycler"/>
          <p:cNvCxnSpPr/>
          <p:nvPr/>
        </p:nvCxnSpPr>
        <p:spPr>
          <a:xfrm>
            <a:off x="7863840" y="5989320"/>
            <a:ext cx="0" cy="457200"/>
          </a:xfrm>
          <a:prstGeom prst="line">
            <a:avLst/>
          </a:prstGeom>
          <a:ln w="44450" cap="rnd">
            <a:solidFill>
              <a:schemeClr val="tx1"/>
            </a:solidFill>
          </a:ln>
        </p:spPr>
      </p:cxnSp>
      <p:pic>
        <p:nvPicPr>
          <p:cNvPr id="127" name="!!icon-recycler" descr="Cash recycle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406640" y="6492240"/>
            <a:ext cx="914400" cy="914400"/>
          </a:xfrm>
          <a:prstGeom prst="rect">
            <a:avLst/>
          </a:prstGeom>
        </p:spPr>
      </p:pic>
      <p:sp>
        <p:nvSpPr>
          <p:cNvPr id="128" name="!!label-recycler"/>
          <p:cNvSpPr txBox="1"/>
          <p:nvPr/>
        </p:nvSpPr>
        <p:spPr>
          <a:xfrm>
            <a:off x="6858000" y="7479792"/>
            <a:ext cx="201168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Teller Cash</a:t>
            </a:r>
            <a:br>
              <a:rPr lang="en-US" sz="1600" b="1" dirty="0">
                <a:latin typeface="Helvetica Neue"/>
                <a:ea typeface="Helvetica Neue"/>
                <a:cs typeface="Helvetica Neue"/>
              </a:rPr>
            </a:br>
            <a:r>
              <a:rPr lang="en-US" sz="1600" b="1" dirty="0">
                <a:latin typeface="Helvetica Neue"/>
                <a:ea typeface="Helvetica Neue"/>
                <a:cs typeface="Helvetica Neue"/>
              </a:rPr>
              <a:t>recycler</a:t>
            </a:r>
          </a:p>
        </p:txBody>
      </p:sp>
      <p:cxnSp>
        <p:nvCxnSpPr>
          <p:cNvPr id="129" name="!!eth-cameras"/>
          <p:cNvCxnSpPr/>
          <p:nvPr/>
        </p:nvCxnSpPr>
        <p:spPr>
          <a:xfrm>
            <a:off x="9692640" y="5989320"/>
            <a:ext cx="0" cy="457200"/>
          </a:xfrm>
          <a:prstGeom prst="line">
            <a:avLst/>
          </a:prstGeom>
          <a:ln w="44450" cap="rnd">
            <a:solidFill>
              <a:schemeClr val="tx1"/>
            </a:solidFill>
          </a:ln>
        </p:spPr>
      </p:cxnSp>
      <p:pic>
        <p:nvPicPr>
          <p:cNvPr id="130" name="!!icon-cameras" descr="Cameras"/>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235440" y="6492240"/>
            <a:ext cx="914400" cy="914400"/>
          </a:xfrm>
          <a:prstGeom prst="rect">
            <a:avLst/>
          </a:prstGeom>
        </p:spPr>
      </p:pic>
      <p:sp>
        <p:nvSpPr>
          <p:cNvPr id="131" name="!!label-cameras"/>
          <p:cNvSpPr txBox="1"/>
          <p:nvPr/>
        </p:nvSpPr>
        <p:spPr>
          <a:xfrm>
            <a:off x="8686800" y="7479792"/>
            <a:ext cx="201168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Cameras</a:t>
            </a:r>
          </a:p>
          <a:p>
            <a:pPr algn="ctr"/>
            <a:r>
              <a:rPr lang="en-US" sz="1200" b="0" dirty="0">
                <a:latin typeface="Helvetica Neue"/>
                <a:ea typeface="Helvetica Neue"/>
                <a:cs typeface="Helvetica Neue"/>
              </a:rPr>
              <a:t>cloud-recorded</a:t>
            </a:r>
          </a:p>
        </p:txBody>
      </p:sp>
      <p:cxnSp>
        <p:nvCxnSpPr>
          <p:cNvPr id="132" name="!!eth-alarm"/>
          <p:cNvCxnSpPr/>
          <p:nvPr/>
        </p:nvCxnSpPr>
        <p:spPr>
          <a:xfrm>
            <a:off x="11155680" y="5989320"/>
            <a:ext cx="0" cy="457200"/>
          </a:xfrm>
          <a:prstGeom prst="line">
            <a:avLst/>
          </a:prstGeom>
          <a:ln w="44450" cap="rnd">
            <a:solidFill>
              <a:schemeClr val="tx1"/>
            </a:solidFill>
          </a:ln>
        </p:spPr>
      </p:cxnSp>
      <p:pic>
        <p:nvPicPr>
          <p:cNvPr id="133" name="!!icon-alarm" descr="Alarm panel"/>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698480" y="6492240"/>
            <a:ext cx="914400" cy="914400"/>
          </a:xfrm>
          <a:prstGeom prst="rect">
            <a:avLst/>
          </a:prstGeom>
        </p:spPr>
      </p:pic>
      <p:sp>
        <p:nvSpPr>
          <p:cNvPr id="134" name="!!label-alarm"/>
          <p:cNvSpPr txBox="1"/>
          <p:nvPr/>
        </p:nvSpPr>
        <p:spPr>
          <a:xfrm>
            <a:off x="10149840" y="7479792"/>
            <a:ext cx="201168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Alarm panel</a:t>
            </a:r>
          </a:p>
        </p:txBody>
      </p:sp>
      <p:cxnSp>
        <p:nvCxnSpPr>
          <p:cNvPr id="135" name="!!eth-staffap"/>
          <p:cNvCxnSpPr/>
          <p:nvPr/>
        </p:nvCxnSpPr>
        <p:spPr>
          <a:xfrm>
            <a:off x="13533120" y="5989320"/>
            <a:ext cx="0" cy="365760"/>
          </a:xfrm>
          <a:prstGeom prst="line">
            <a:avLst/>
          </a:prstGeom>
          <a:ln w="44450" cap="rnd">
            <a:solidFill>
              <a:schemeClr val="tx1"/>
            </a:solidFill>
          </a:ln>
        </p:spPr>
      </p:cxnSp>
      <p:pic>
        <p:nvPicPr>
          <p:cNvPr id="136" name="!!icon-staffap" descr="Staff Wi-Fi"/>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3167360" y="6400800"/>
            <a:ext cx="731520" cy="731520"/>
          </a:xfrm>
          <a:prstGeom prst="rect">
            <a:avLst/>
          </a:prstGeom>
        </p:spPr>
      </p:pic>
      <p:sp>
        <p:nvSpPr>
          <p:cNvPr id="137" name="!!label-staffap"/>
          <p:cNvSpPr txBox="1"/>
          <p:nvPr/>
        </p:nvSpPr>
        <p:spPr>
          <a:xfrm>
            <a:off x="12527280" y="7205472"/>
            <a:ext cx="201168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Staff Wi-Fi</a:t>
            </a:r>
          </a:p>
        </p:txBody>
      </p:sp>
      <p:cxnSp>
        <p:nvCxnSpPr>
          <p:cNvPr id="138" name="!!wifi-staffclient"/>
          <p:cNvCxnSpPr/>
          <p:nvPr/>
        </p:nvCxnSpPr>
        <p:spPr>
          <a:xfrm>
            <a:off x="13533120" y="7589520"/>
            <a:ext cx="0" cy="320040"/>
          </a:xfrm>
          <a:prstGeom prst="line">
            <a:avLst/>
          </a:prstGeom>
          <a:ln w="38100" cap="rnd">
            <a:solidFill>
              <a:schemeClr val="tx1"/>
            </a:solidFill>
            <a:prstDash val="sysDash"/>
          </a:ln>
        </p:spPr>
      </p:cxnSp>
      <p:pic>
        <p:nvPicPr>
          <p:cNvPr id="139" name="!!icon-staffclient" descr="Banker tablets"/>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3190220" y="7978140"/>
            <a:ext cx="685800" cy="685800"/>
          </a:xfrm>
          <a:prstGeom prst="rect">
            <a:avLst/>
          </a:prstGeom>
        </p:spPr>
      </p:pic>
      <p:sp>
        <p:nvSpPr>
          <p:cNvPr id="140" name="!!label-staffclient"/>
          <p:cNvSpPr txBox="1"/>
          <p:nvPr/>
        </p:nvSpPr>
        <p:spPr>
          <a:xfrm>
            <a:off x="12344400" y="8732520"/>
            <a:ext cx="2377440" cy="365760"/>
          </a:xfrm>
          <a:prstGeom prst="rect">
            <a:avLst/>
          </a:prstGeom>
          <a:noFill/>
        </p:spPr>
        <p:txBody>
          <a:bodyPr wrap="square" lIns="0" tIns="0" rIns="0" bIns="0" anchor="t">
            <a:noAutofit/>
          </a:bodyPr>
          <a:lstStyle/>
          <a:p>
            <a:pPr algn="ctr"/>
            <a:r>
              <a:rPr lang="en-US" sz="1400" b="0" dirty="0">
                <a:latin typeface="Helvetica Neue"/>
                <a:ea typeface="Helvetica Neue"/>
                <a:cs typeface="Helvetica Neue"/>
              </a:rPr>
              <a:t>Banker tablets</a:t>
            </a:r>
          </a:p>
        </p:txBody>
      </p:sp>
      <p:cxnSp>
        <p:nvCxnSpPr>
          <p:cNvPr id="141" name="!!eth-guestap"/>
          <p:cNvCxnSpPr/>
          <p:nvPr/>
        </p:nvCxnSpPr>
        <p:spPr>
          <a:xfrm>
            <a:off x="16276320" y="5989320"/>
            <a:ext cx="0" cy="365760"/>
          </a:xfrm>
          <a:prstGeom prst="line">
            <a:avLst/>
          </a:prstGeom>
          <a:ln w="44450" cap="rnd">
            <a:solidFill>
              <a:schemeClr val="tx1"/>
            </a:solidFill>
          </a:ln>
        </p:spPr>
      </p:cxnSp>
      <p:pic>
        <p:nvPicPr>
          <p:cNvPr id="142" name="!!icon-guestap" descr="Guest Wi-Fi"/>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5910560" y="6400800"/>
            <a:ext cx="731520" cy="731520"/>
          </a:xfrm>
          <a:prstGeom prst="rect">
            <a:avLst/>
          </a:prstGeom>
        </p:spPr>
      </p:pic>
      <p:sp>
        <p:nvSpPr>
          <p:cNvPr id="143" name="!!label-guestap"/>
          <p:cNvSpPr txBox="1"/>
          <p:nvPr/>
        </p:nvSpPr>
        <p:spPr>
          <a:xfrm>
            <a:off x="15270480" y="7205472"/>
            <a:ext cx="2011680" cy="685800"/>
          </a:xfrm>
          <a:prstGeom prst="rect">
            <a:avLst/>
          </a:prstGeom>
          <a:noFill/>
        </p:spPr>
        <p:txBody>
          <a:bodyPr wrap="square" lIns="0" tIns="0" rIns="0" bIns="0" anchor="t">
            <a:noAutofit/>
          </a:bodyPr>
          <a:lstStyle/>
          <a:p>
            <a:pPr algn="ctr"/>
            <a:r>
              <a:rPr lang="en-US" sz="1600" b="1" dirty="0">
                <a:latin typeface="Helvetica Neue"/>
                <a:ea typeface="Helvetica Neue"/>
                <a:cs typeface="Helvetica Neue"/>
              </a:rPr>
              <a:t>Guest Wi-Fi</a:t>
            </a:r>
          </a:p>
        </p:txBody>
      </p:sp>
      <p:cxnSp>
        <p:nvCxnSpPr>
          <p:cNvPr id="144" name="!!wifi-guestclient"/>
          <p:cNvCxnSpPr/>
          <p:nvPr/>
        </p:nvCxnSpPr>
        <p:spPr>
          <a:xfrm>
            <a:off x="16276320" y="7589520"/>
            <a:ext cx="0" cy="320040"/>
          </a:xfrm>
          <a:prstGeom prst="line">
            <a:avLst/>
          </a:prstGeom>
          <a:ln w="38100" cap="rnd">
            <a:solidFill>
              <a:schemeClr val="tx1"/>
            </a:solidFill>
            <a:prstDash val="sysDash"/>
          </a:ln>
        </p:spPr>
      </p:cxnSp>
      <p:pic>
        <p:nvPicPr>
          <p:cNvPr id="145" name="!!icon-guestclient" descr="Customer phones"/>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5933420" y="7978140"/>
            <a:ext cx="685800" cy="685800"/>
          </a:xfrm>
          <a:prstGeom prst="rect">
            <a:avLst/>
          </a:prstGeom>
        </p:spPr>
      </p:pic>
      <p:sp>
        <p:nvSpPr>
          <p:cNvPr id="146" name="!!label-guestclient"/>
          <p:cNvSpPr txBox="1"/>
          <p:nvPr/>
        </p:nvSpPr>
        <p:spPr>
          <a:xfrm>
            <a:off x="15087600" y="8732520"/>
            <a:ext cx="2377440" cy="365760"/>
          </a:xfrm>
          <a:prstGeom prst="rect">
            <a:avLst/>
          </a:prstGeom>
          <a:noFill/>
        </p:spPr>
        <p:txBody>
          <a:bodyPr wrap="square" lIns="0" tIns="0" rIns="0" bIns="0" anchor="t">
            <a:noAutofit/>
          </a:bodyPr>
          <a:lstStyle/>
          <a:p>
            <a:pPr algn="ctr"/>
            <a:r>
              <a:rPr lang="en-US" sz="1400" b="0" dirty="0">
                <a:latin typeface="Helvetica Neue"/>
                <a:ea typeface="Helvetica Neue"/>
                <a:cs typeface="Helvetica Neue"/>
              </a:rPr>
              <a:t>Customer phones</a:t>
            </a:r>
          </a:p>
        </p:txBody>
      </p:sp>
      <p:cxnSp>
        <p:nvCxnSpPr>
          <p:cNvPr id="147" name="!!legend-line-0"/>
          <p:cNvCxnSpPr/>
          <p:nvPr/>
        </p:nvCxnSpPr>
        <p:spPr>
          <a:xfrm>
            <a:off x="548640" y="9829800"/>
            <a:ext cx="731520" cy="0"/>
          </a:xfrm>
          <a:prstGeom prst="line">
            <a:avLst/>
          </a:prstGeom>
          <a:ln w="44450" cap="rnd">
            <a:solidFill>
              <a:schemeClr val="tx1"/>
            </a:solidFill>
          </a:ln>
        </p:spPr>
      </p:cxnSp>
      <p:sp>
        <p:nvSpPr>
          <p:cNvPr id="148" name="!!legend-text-0"/>
          <p:cNvSpPr txBox="1"/>
          <p:nvPr/>
        </p:nvSpPr>
        <p:spPr>
          <a:xfrm>
            <a:off x="1417320" y="9674352"/>
            <a:ext cx="1554480" cy="320040"/>
          </a:xfrm>
          <a:prstGeom prst="rect">
            <a:avLst/>
          </a:prstGeom>
          <a:noFill/>
        </p:spPr>
        <p:txBody>
          <a:bodyPr wrap="square" lIns="0" tIns="0" rIns="0" bIns="0" anchor="t">
            <a:noAutofit/>
          </a:bodyPr>
          <a:lstStyle/>
          <a:p>
            <a:pPr algn="l"/>
            <a:r>
              <a:rPr lang="en-US" sz="1400" b="0" dirty="0">
                <a:latin typeface="Helvetica Neue"/>
                <a:ea typeface="Helvetica Neue"/>
                <a:cs typeface="Helvetica Neue"/>
              </a:rPr>
              <a:t>Ethernet</a:t>
            </a:r>
          </a:p>
        </p:txBody>
      </p:sp>
      <p:cxnSp>
        <p:nvCxnSpPr>
          <p:cNvPr id="149" name="!!legend-line-1"/>
          <p:cNvCxnSpPr/>
          <p:nvPr/>
        </p:nvCxnSpPr>
        <p:spPr>
          <a:xfrm>
            <a:off x="2926080" y="9829800"/>
            <a:ext cx="731520" cy="0"/>
          </a:xfrm>
          <a:prstGeom prst="line">
            <a:avLst/>
          </a:prstGeom>
          <a:ln w="38100" cap="rnd">
            <a:solidFill>
              <a:schemeClr val="tx1"/>
            </a:solidFill>
            <a:prstDash val="sysDash"/>
          </a:ln>
        </p:spPr>
      </p:cxnSp>
      <p:sp>
        <p:nvSpPr>
          <p:cNvPr id="150" name="!!legend-text-1"/>
          <p:cNvSpPr txBox="1"/>
          <p:nvPr/>
        </p:nvSpPr>
        <p:spPr>
          <a:xfrm>
            <a:off x="3794760" y="9674352"/>
            <a:ext cx="1554480" cy="320040"/>
          </a:xfrm>
          <a:prstGeom prst="rect">
            <a:avLst/>
          </a:prstGeom>
          <a:noFill/>
        </p:spPr>
        <p:txBody>
          <a:bodyPr wrap="square" lIns="0" tIns="0" rIns="0" bIns="0" anchor="t">
            <a:noAutofit/>
          </a:bodyPr>
          <a:lstStyle/>
          <a:p>
            <a:pPr algn="l"/>
            <a:r>
              <a:rPr lang="en-US" sz="1400" b="0" dirty="0">
                <a:latin typeface="Helvetica Neue"/>
                <a:ea typeface="Helvetica Neue"/>
                <a:cs typeface="Helvetica Neue"/>
              </a:rPr>
              <a:t>Wi-Fi</a:t>
            </a:r>
          </a:p>
        </p:txBody>
      </p:sp>
      <p:cxnSp>
        <p:nvCxnSpPr>
          <p:cNvPr id="151" name="!!legend-line-2"/>
          <p:cNvCxnSpPr/>
          <p:nvPr/>
        </p:nvCxnSpPr>
        <p:spPr>
          <a:xfrm>
            <a:off x="5303520" y="9829800"/>
            <a:ext cx="731520" cy="0"/>
          </a:xfrm>
          <a:prstGeom prst="line">
            <a:avLst/>
          </a:prstGeom>
          <a:ln w="44450" cap="rnd">
            <a:solidFill>
              <a:schemeClr val="tx1"/>
            </a:solidFill>
            <a:prstDash val="dash"/>
          </a:ln>
        </p:spPr>
      </p:cxnSp>
      <p:sp>
        <p:nvSpPr>
          <p:cNvPr id="152" name="!!legend-text-2"/>
          <p:cNvSpPr txBox="1"/>
          <p:nvPr/>
        </p:nvSpPr>
        <p:spPr>
          <a:xfrm>
            <a:off x="6172200" y="9674352"/>
            <a:ext cx="1554480" cy="320040"/>
          </a:xfrm>
          <a:prstGeom prst="rect">
            <a:avLst/>
          </a:prstGeom>
          <a:noFill/>
        </p:spPr>
        <p:txBody>
          <a:bodyPr wrap="square" lIns="0" tIns="0" rIns="0" bIns="0" anchor="t">
            <a:noAutofit/>
          </a:bodyPr>
          <a:lstStyle/>
          <a:p>
            <a:pPr algn="l"/>
            <a:r>
              <a:rPr lang="en-US" sz="1400" b="0" dirty="0">
                <a:latin typeface="Helvetica Neue"/>
                <a:ea typeface="Helvetica Neue"/>
                <a:cs typeface="Helvetica Neue"/>
              </a:rPr>
              <a:t>Backup link</a:t>
            </a:r>
          </a:p>
        </p:txBody>
      </p:sp>
      <p:cxnSp>
        <p:nvCxnSpPr>
          <p:cNvPr id="153" name="!!legend-line-3"/>
          <p:cNvCxnSpPr/>
          <p:nvPr/>
        </p:nvCxnSpPr>
        <p:spPr>
          <a:xfrm>
            <a:off x="7680960" y="9829800"/>
            <a:ext cx="731520" cy="0"/>
          </a:xfrm>
          <a:prstGeom prst="line">
            <a:avLst/>
          </a:prstGeom>
          <a:ln w="38100" cap="rnd">
            <a:solidFill>
              <a:schemeClr val="tx1"/>
            </a:solidFill>
            <a:prstDash val="lgDash"/>
          </a:ln>
        </p:spPr>
      </p:cxnSp>
      <p:sp>
        <p:nvSpPr>
          <p:cNvPr id="154" name="!!legend-text-3"/>
          <p:cNvSpPr txBox="1"/>
          <p:nvPr/>
        </p:nvSpPr>
        <p:spPr>
          <a:xfrm>
            <a:off x="8549640" y="9674352"/>
            <a:ext cx="1554480" cy="320040"/>
          </a:xfrm>
          <a:prstGeom prst="rect">
            <a:avLst/>
          </a:prstGeom>
          <a:noFill/>
        </p:spPr>
        <p:txBody>
          <a:bodyPr wrap="square" lIns="0" tIns="0" rIns="0" bIns="0" anchor="t">
            <a:noAutofit/>
          </a:bodyPr>
          <a:lstStyle/>
          <a:p>
            <a:pPr algn="l"/>
            <a:r>
              <a:rPr lang="en-US" sz="1400" b="0" dirty="0">
                <a:latin typeface="Helvetica Neue"/>
                <a:ea typeface="Helvetica Neue"/>
                <a:cs typeface="Helvetica Neue"/>
              </a:rPr>
              <a:t>Encrypted tunnel</a:t>
            </a:r>
          </a:p>
        </p:txBody>
      </p:sp>
    </p:spTree>
    <p:extLst>
      <p:ext uri="{BB962C8B-B14F-4D97-AF65-F5344CB8AC3E}">
        <p14:creationId xmlns:p14="http://schemas.microsoft.com/office/powerpoint/2010/main" val="3108559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Chapter 5: LANs</a:t>
            </a:r>
            <a:r>
              <a:rPr lang="en-US" dirty="0"/>
              <a:t> i</a:t>
            </a:r>
            <a:r>
              <a:rPr dirty="0"/>
              <a:t>n Depth</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D6840-EAFF-6943-D475-AA4BF7A4147F}"/>
              </a:ext>
            </a:extLst>
          </p:cNvPr>
          <p:cNvSpPr>
            <a:spLocks noGrp="1"/>
          </p:cNvSpPr>
          <p:nvPr>
            <p:ph type="title"/>
          </p:nvPr>
        </p:nvSpPr>
        <p:spPr/>
        <p:txBody>
          <a:bodyPr/>
          <a:lstStyle/>
          <a:p>
            <a:r>
              <a:rPr lang="en-US"/>
              <a:t>Ethernet</a:t>
            </a:r>
          </a:p>
        </p:txBody>
      </p:sp>
      <p:sp>
        <p:nvSpPr>
          <p:cNvPr id="3" name="Content Placeholder 2">
            <a:extLst>
              <a:ext uri="{FF2B5EF4-FFF2-40B4-BE49-F238E27FC236}">
                <a16:creationId xmlns:a16="http://schemas.microsoft.com/office/drawing/2014/main" id="{99C6D7D4-5972-5126-0AF8-4B931A333F14}"/>
              </a:ext>
            </a:extLst>
          </p:cNvPr>
          <p:cNvSpPr>
            <a:spLocks noGrp="1"/>
          </p:cNvSpPr>
          <p:nvPr>
            <p:ph idx="1"/>
          </p:nvPr>
        </p:nvSpPr>
        <p:spPr/>
        <p:txBody>
          <a:bodyPr/>
          <a:lstStyle/>
          <a:p>
            <a:r>
              <a:rPr lang="en-US" dirty="0"/>
              <a:t>Ethernet is </a:t>
            </a:r>
            <a:r>
              <a:rPr lang="en-US" b="1" i="1" dirty="0"/>
              <a:t>the</a:t>
            </a:r>
            <a:r>
              <a:rPr lang="en-US" dirty="0"/>
              <a:t> wired LAN technology of choice</a:t>
            </a:r>
          </a:p>
          <a:p>
            <a:r>
              <a:rPr lang="en-US" dirty="0"/>
              <a:t>Standards created by the IEEE 802.3 Committee </a:t>
            </a:r>
          </a:p>
          <a:p>
            <a:r>
              <a:rPr lang="en-US" dirty="0"/>
              <a:t>Equivalent to the Physical and Data Link Layers of the OSI model and the Network Interface in the Internet Protocol Suite</a:t>
            </a:r>
          </a:p>
          <a:p>
            <a:r>
              <a:rPr lang="en-US" dirty="0"/>
              <a:t>A variety of Physical Layer options meet a wide variety of application needs</a:t>
            </a:r>
          </a:p>
          <a:p>
            <a:pPr lvl="1"/>
            <a:r>
              <a:rPr lang="en-US" dirty="0"/>
              <a:t>Twisted pair </a:t>
            </a:r>
          </a:p>
          <a:p>
            <a:pPr lvl="1"/>
            <a:r>
              <a:rPr lang="en-US" dirty="0"/>
              <a:t>Optical fiber</a:t>
            </a:r>
          </a:p>
          <a:p>
            <a:pPr lvl="1"/>
            <a:r>
              <a:rPr lang="en-US" dirty="0"/>
              <a:t>Coaxial cable (almost extinct for Ethernet now)</a:t>
            </a:r>
          </a:p>
          <a:p>
            <a:endParaRPr lang="en-US" dirty="0"/>
          </a:p>
        </p:txBody>
      </p:sp>
    </p:spTree>
    <p:extLst>
      <p:ext uri="{BB962C8B-B14F-4D97-AF65-F5344CB8AC3E}">
        <p14:creationId xmlns:p14="http://schemas.microsoft.com/office/powerpoint/2010/main" val="38560536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7" name="Rectangle 6156">
            <a:extLst>
              <a:ext uri="{FF2B5EF4-FFF2-40B4-BE49-F238E27FC236}">
                <a16:creationId xmlns:a16="http://schemas.microsoft.com/office/drawing/2014/main" id="{21AC6A30-4F22-4C0F-B278-19C5B8A80C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9" name="Rectangle 6158">
            <a:extLst>
              <a:ext uri="{FF2B5EF4-FFF2-40B4-BE49-F238E27FC236}">
                <a16:creationId xmlns:a16="http://schemas.microsoft.com/office/drawing/2014/main" id="{BB4335AD-65B1-44E4-90AF-264024FE4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 y="0"/>
            <a:ext cx="18287998" cy="10287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C5EAD8-7F7D-9178-2A32-83FEAD46823F}"/>
              </a:ext>
            </a:extLst>
          </p:cNvPr>
          <p:cNvSpPr>
            <a:spLocks noGrp="1"/>
          </p:cNvSpPr>
          <p:nvPr>
            <p:ph type="title"/>
          </p:nvPr>
        </p:nvSpPr>
        <p:spPr>
          <a:xfrm>
            <a:off x="5955549" y="914400"/>
            <a:ext cx="6400800" cy="2027208"/>
          </a:xfrm>
        </p:spPr>
        <p:txBody>
          <a:bodyPr>
            <a:normAutofit/>
          </a:bodyPr>
          <a:lstStyle/>
          <a:p>
            <a:pPr algn="ctr"/>
            <a:r>
              <a:rPr lang="en-US" dirty="0">
                <a:solidFill>
                  <a:schemeClr val="tx1">
                    <a:lumMod val="85000"/>
                    <a:lumOff val="15000"/>
                  </a:schemeClr>
                </a:solidFill>
              </a:rPr>
              <a:t>(un) Structured Cabling</a:t>
            </a:r>
          </a:p>
        </p:txBody>
      </p:sp>
      <p:pic>
        <p:nvPicPr>
          <p:cNvPr id="6152" name="Picture 8" descr="A group of men working on a computer&#10;&#10;Description automatically generated with low confidence">
            <a:extLst>
              <a:ext uri="{FF2B5EF4-FFF2-40B4-BE49-F238E27FC236}">
                <a16:creationId xmlns:a16="http://schemas.microsoft.com/office/drawing/2014/main" id="{593F2139-6210-7432-B4EA-2D2FC21E3104}"/>
              </a:ext>
            </a:extLst>
          </p:cNvPr>
          <p:cNvPicPr>
            <a:picLocks noChangeAspect="1" noChangeArrowheads="1"/>
          </p:cNvPicPr>
          <p:nvPr/>
        </p:nvPicPr>
        <p:blipFill rotWithShape="1">
          <a:blip r:embed="rId2">
            <a:extLst>
              <a:ext uri="{28A0092B-C50C-407E-A947-70E740481C1C}">
                <a14:useLocalDpi xmlns:a14="http://schemas.microsoft.com/office/drawing/2010/main"/>
              </a:ext>
            </a:extLst>
          </a:blip>
          <a:srcRect/>
          <a:stretch/>
        </p:blipFill>
        <p:spPr bwMode="auto">
          <a:xfrm>
            <a:off x="4" y="1"/>
            <a:ext cx="5543549" cy="10287002"/>
          </a:xfrm>
          <a:custGeom>
            <a:avLst/>
            <a:gdLst/>
            <a:ahLst/>
            <a:cxnLst/>
            <a:rect l="l" t="t" r="r" b="b"/>
            <a:pathLst>
              <a:path w="3695699" h="6858001">
                <a:moveTo>
                  <a:pt x="0" y="0"/>
                </a:moveTo>
                <a:lnTo>
                  <a:pt x="3435129" y="0"/>
                </a:lnTo>
                <a:lnTo>
                  <a:pt x="3430599" y="17349"/>
                </a:lnTo>
                <a:cubicBezTo>
                  <a:pt x="3437542" y="19835"/>
                  <a:pt x="3423757" y="30822"/>
                  <a:pt x="3427683" y="38871"/>
                </a:cubicBezTo>
                <a:cubicBezTo>
                  <a:pt x="3431230" y="44698"/>
                  <a:pt x="3427877" y="49388"/>
                  <a:pt x="3427096" y="55116"/>
                </a:cubicBezTo>
                <a:cubicBezTo>
                  <a:pt x="3429620" y="62945"/>
                  <a:pt x="3421946" y="87211"/>
                  <a:pt x="3417356" y="93331"/>
                </a:cubicBezTo>
                <a:cubicBezTo>
                  <a:pt x="3401974" y="107607"/>
                  <a:pt x="3409629" y="143436"/>
                  <a:pt x="3397765" y="155370"/>
                </a:cubicBezTo>
                <a:cubicBezTo>
                  <a:pt x="3395800" y="159886"/>
                  <a:pt x="3394789" y="164378"/>
                  <a:pt x="3394373" y="168831"/>
                </a:cubicBezTo>
                <a:lnTo>
                  <a:pt x="3394553" y="181402"/>
                </a:lnTo>
                <a:lnTo>
                  <a:pt x="3397293" y="185192"/>
                </a:lnTo>
                <a:lnTo>
                  <a:pt x="3395923" y="192756"/>
                </a:lnTo>
                <a:cubicBezTo>
                  <a:pt x="3396018" y="193497"/>
                  <a:pt x="3396112" y="194237"/>
                  <a:pt x="3396207" y="194978"/>
                </a:cubicBezTo>
                <a:cubicBezTo>
                  <a:pt x="3396531" y="199154"/>
                  <a:pt x="3396856" y="203330"/>
                  <a:pt x="3397180" y="207506"/>
                </a:cubicBezTo>
                <a:cubicBezTo>
                  <a:pt x="3382438" y="200939"/>
                  <a:pt x="3394549" y="241317"/>
                  <a:pt x="3383191" y="229051"/>
                </a:cubicBezTo>
                <a:cubicBezTo>
                  <a:pt x="3382519" y="234401"/>
                  <a:pt x="3381383" y="237332"/>
                  <a:pt x="3380194" y="239137"/>
                </a:cubicBezTo>
                <a:lnTo>
                  <a:pt x="3349267" y="310262"/>
                </a:lnTo>
                <a:lnTo>
                  <a:pt x="3344455" y="381704"/>
                </a:lnTo>
                <a:cubicBezTo>
                  <a:pt x="3343420" y="464598"/>
                  <a:pt x="3338482" y="511985"/>
                  <a:pt x="3327551" y="571873"/>
                </a:cubicBezTo>
                <a:cubicBezTo>
                  <a:pt x="3316620" y="631761"/>
                  <a:pt x="3309762" y="702429"/>
                  <a:pt x="3278869" y="741030"/>
                </a:cubicBezTo>
                <a:lnTo>
                  <a:pt x="3239259" y="957888"/>
                </a:lnTo>
                <a:cubicBezTo>
                  <a:pt x="3267597" y="1021376"/>
                  <a:pt x="3235647" y="1004478"/>
                  <a:pt x="3243890" y="1047869"/>
                </a:cubicBezTo>
                <a:cubicBezTo>
                  <a:pt x="3245988" y="1077107"/>
                  <a:pt x="3228006" y="1101189"/>
                  <a:pt x="3221700" y="1118244"/>
                </a:cubicBezTo>
                <a:cubicBezTo>
                  <a:pt x="3220198" y="1120922"/>
                  <a:pt x="3213346" y="1188569"/>
                  <a:pt x="3211078" y="1190394"/>
                </a:cubicBezTo>
                <a:cubicBezTo>
                  <a:pt x="3204899" y="1218939"/>
                  <a:pt x="3210276" y="1253036"/>
                  <a:pt x="3199704" y="1304585"/>
                </a:cubicBezTo>
                <a:cubicBezTo>
                  <a:pt x="3199438" y="1346246"/>
                  <a:pt x="3168623" y="1413431"/>
                  <a:pt x="3167741" y="1449444"/>
                </a:cubicBezTo>
                <a:cubicBezTo>
                  <a:pt x="3180911" y="1471132"/>
                  <a:pt x="3193362" y="1499173"/>
                  <a:pt x="3194410" y="1520667"/>
                </a:cubicBezTo>
                <a:cubicBezTo>
                  <a:pt x="3181228" y="1513763"/>
                  <a:pt x="3199978" y="1547097"/>
                  <a:pt x="3184473" y="1547038"/>
                </a:cubicBezTo>
                <a:cubicBezTo>
                  <a:pt x="3185153" y="1550949"/>
                  <a:pt x="3186303" y="1554741"/>
                  <a:pt x="3187573" y="1558550"/>
                </a:cubicBezTo>
                <a:lnTo>
                  <a:pt x="3188231" y="1560544"/>
                </a:lnTo>
                <a:lnTo>
                  <a:pt x="3188195" y="1568317"/>
                </a:lnTo>
                <a:lnTo>
                  <a:pt x="3191518" y="1570772"/>
                </a:lnTo>
                <a:lnTo>
                  <a:pt x="3193853" y="1582659"/>
                </a:lnTo>
                <a:cubicBezTo>
                  <a:pt x="3194213" y="1587070"/>
                  <a:pt x="3193997" y="1591769"/>
                  <a:pt x="3192857" y="1596890"/>
                </a:cubicBezTo>
                <a:cubicBezTo>
                  <a:pt x="3185716" y="1609144"/>
                  <a:pt x="3191593" y="1629575"/>
                  <a:pt x="3189686" y="1647479"/>
                </a:cubicBezTo>
                <a:lnTo>
                  <a:pt x="3187125" y="1655568"/>
                </a:lnTo>
                <a:cubicBezTo>
                  <a:pt x="3187259" y="1659315"/>
                  <a:pt x="3192418" y="1733399"/>
                  <a:pt x="3192552" y="1737146"/>
                </a:cubicBezTo>
                <a:cubicBezTo>
                  <a:pt x="3236684" y="1834597"/>
                  <a:pt x="3210475" y="1851660"/>
                  <a:pt x="3219437" y="1908917"/>
                </a:cubicBezTo>
                <a:lnTo>
                  <a:pt x="3220572" y="1915235"/>
                </a:lnTo>
                <a:cubicBezTo>
                  <a:pt x="3225642" y="1919319"/>
                  <a:pt x="3228448" y="1945519"/>
                  <a:pt x="3226946" y="1954447"/>
                </a:cubicBezTo>
                <a:cubicBezTo>
                  <a:pt x="3219553" y="1979351"/>
                  <a:pt x="3239504" y="2001442"/>
                  <a:pt x="3234148" y="2021397"/>
                </a:cubicBezTo>
                <a:cubicBezTo>
                  <a:pt x="3234224" y="2026740"/>
                  <a:pt x="3235084" y="2031233"/>
                  <a:pt x="3236424" y="2035173"/>
                </a:cubicBezTo>
                <a:lnTo>
                  <a:pt x="3241339" y="2045116"/>
                </a:lnTo>
                <a:lnTo>
                  <a:pt x="3233470" y="2098623"/>
                </a:lnTo>
                <a:cubicBezTo>
                  <a:pt x="3230495" y="2129687"/>
                  <a:pt x="3232618" y="2188321"/>
                  <a:pt x="3230016" y="2240964"/>
                </a:cubicBezTo>
                <a:cubicBezTo>
                  <a:pt x="3226602" y="2283982"/>
                  <a:pt x="3232644" y="2342030"/>
                  <a:pt x="3237809" y="2379644"/>
                </a:cubicBezTo>
                <a:cubicBezTo>
                  <a:pt x="3244462" y="2409884"/>
                  <a:pt x="3221747" y="2435219"/>
                  <a:pt x="3237054" y="2459103"/>
                </a:cubicBezTo>
                <a:cubicBezTo>
                  <a:pt x="3245536" y="2488997"/>
                  <a:pt x="3251426" y="2510390"/>
                  <a:pt x="3255285" y="2538679"/>
                </a:cubicBezTo>
                <a:cubicBezTo>
                  <a:pt x="3258296" y="2574322"/>
                  <a:pt x="3245460" y="2589819"/>
                  <a:pt x="3245073" y="2622720"/>
                </a:cubicBezTo>
                <a:lnTo>
                  <a:pt x="3252960" y="2736087"/>
                </a:lnTo>
                <a:cubicBezTo>
                  <a:pt x="3245577" y="2772183"/>
                  <a:pt x="3230063" y="2856752"/>
                  <a:pt x="3218681" y="2902964"/>
                </a:cubicBezTo>
                <a:cubicBezTo>
                  <a:pt x="3212624" y="2927969"/>
                  <a:pt x="3209733" y="2973979"/>
                  <a:pt x="3203641" y="3008786"/>
                </a:cubicBezTo>
                <a:cubicBezTo>
                  <a:pt x="3197547" y="3043595"/>
                  <a:pt x="3186644" y="3093251"/>
                  <a:pt x="3182123" y="3111815"/>
                </a:cubicBezTo>
                <a:lnTo>
                  <a:pt x="3176517" y="3120169"/>
                </a:lnTo>
                <a:lnTo>
                  <a:pt x="3177035" y="3121646"/>
                </a:lnTo>
                <a:cubicBezTo>
                  <a:pt x="3177423" y="3127588"/>
                  <a:pt x="3176129" y="3130763"/>
                  <a:pt x="3174093" y="3132705"/>
                </a:cubicBezTo>
                <a:lnTo>
                  <a:pt x="3171045" y="3134220"/>
                </a:lnTo>
                <a:lnTo>
                  <a:pt x="3168274" y="3141524"/>
                </a:lnTo>
                <a:lnTo>
                  <a:pt x="3160781" y="3155149"/>
                </a:lnTo>
                <a:cubicBezTo>
                  <a:pt x="3160949" y="3156237"/>
                  <a:pt x="3161116" y="3157326"/>
                  <a:pt x="3161284" y="3158414"/>
                </a:cubicBezTo>
                <a:lnTo>
                  <a:pt x="3152950" y="3180080"/>
                </a:lnTo>
                <a:lnTo>
                  <a:pt x="3153739" y="3180719"/>
                </a:lnTo>
                <a:cubicBezTo>
                  <a:pt x="3155321" y="3182647"/>
                  <a:pt x="3156128" y="3184999"/>
                  <a:pt x="3155342" y="3188313"/>
                </a:cubicBezTo>
                <a:cubicBezTo>
                  <a:pt x="3169797" y="3188216"/>
                  <a:pt x="3159934" y="3192271"/>
                  <a:pt x="3156340" y="3202049"/>
                </a:cubicBezTo>
                <a:cubicBezTo>
                  <a:pt x="3177988" y="3204083"/>
                  <a:pt x="3159779" y="3228842"/>
                  <a:pt x="3169832" y="3237938"/>
                </a:cubicBezTo>
                <a:cubicBezTo>
                  <a:pt x="3166705" y="3245075"/>
                  <a:pt x="3163793" y="3252659"/>
                  <a:pt x="3161244" y="3260564"/>
                </a:cubicBezTo>
                <a:lnTo>
                  <a:pt x="3160005" y="3265314"/>
                </a:lnTo>
                <a:cubicBezTo>
                  <a:pt x="3160063" y="3265371"/>
                  <a:pt x="3160124" y="3265428"/>
                  <a:pt x="3160184" y="3265486"/>
                </a:cubicBezTo>
                <a:cubicBezTo>
                  <a:pt x="3160345" y="3266694"/>
                  <a:pt x="3160101" y="3268319"/>
                  <a:pt x="3159279" y="3270659"/>
                </a:cubicBezTo>
                <a:lnTo>
                  <a:pt x="3157747" y="3273971"/>
                </a:lnTo>
                <a:lnTo>
                  <a:pt x="3155343" y="3283185"/>
                </a:lnTo>
                <a:cubicBezTo>
                  <a:pt x="3155517" y="3284422"/>
                  <a:pt x="3155689" y="3285657"/>
                  <a:pt x="3155860" y="3286893"/>
                </a:cubicBezTo>
                <a:lnTo>
                  <a:pt x="3158001" y="3289146"/>
                </a:lnTo>
                <a:lnTo>
                  <a:pt x="3157508" y="3289877"/>
                </a:lnTo>
                <a:cubicBezTo>
                  <a:pt x="3151604" y="3294411"/>
                  <a:pt x="3144966" y="3293561"/>
                  <a:pt x="3159853" y="3309833"/>
                </a:cubicBezTo>
                <a:cubicBezTo>
                  <a:pt x="3149181" y="3321561"/>
                  <a:pt x="3158789" y="3329345"/>
                  <a:pt x="3157392" y="3351579"/>
                </a:cubicBezTo>
                <a:cubicBezTo>
                  <a:pt x="3148710" y="3357083"/>
                  <a:pt x="3149361" y="3365079"/>
                  <a:pt x="3152871" y="3374240"/>
                </a:cubicBezTo>
                <a:cubicBezTo>
                  <a:pt x="3148885" y="3383513"/>
                  <a:pt x="3145239" y="3392740"/>
                  <a:pt x="3142119" y="3402557"/>
                </a:cubicBezTo>
                <a:lnTo>
                  <a:pt x="3138061" y="3419585"/>
                </a:lnTo>
                <a:lnTo>
                  <a:pt x="3139796" y="3424940"/>
                </a:lnTo>
                <a:cubicBezTo>
                  <a:pt x="3142520" y="3434326"/>
                  <a:pt x="3143300" y="3443700"/>
                  <a:pt x="3137669" y="3463264"/>
                </a:cubicBezTo>
                <a:cubicBezTo>
                  <a:pt x="3147380" y="3480689"/>
                  <a:pt x="3167781" y="3490510"/>
                  <a:pt x="3168140" y="3518969"/>
                </a:cubicBezTo>
                <a:cubicBezTo>
                  <a:pt x="3159473" y="3545761"/>
                  <a:pt x="3191152" y="3574399"/>
                  <a:pt x="3179206" y="3607864"/>
                </a:cubicBezTo>
                <a:cubicBezTo>
                  <a:pt x="3176757" y="3619813"/>
                  <a:pt x="3181069" y="3654600"/>
                  <a:pt x="3189125" y="3659839"/>
                </a:cubicBezTo>
                <a:cubicBezTo>
                  <a:pt x="3191518" y="3666815"/>
                  <a:pt x="3189857" y="3675779"/>
                  <a:pt x="3198077" y="3677681"/>
                </a:cubicBezTo>
                <a:cubicBezTo>
                  <a:pt x="3208136" y="3681475"/>
                  <a:pt x="3196345" y="3709561"/>
                  <a:pt x="3207094" y="3703876"/>
                </a:cubicBezTo>
                <a:cubicBezTo>
                  <a:pt x="3199084" y="3723751"/>
                  <a:pt x="3220453" y="3734396"/>
                  <a:pt x="3227016" y="3748633"/>
                </a:cubicBezTo>
                <a:cubicBezTo>
                  <a:pt x="3218663" y="3764666"/>
                  <a:pt x="3240667" y="3778725"/>
                  <a:pt x="3246806" y="3811324"/>
                </a:cubicBezTo>
                <a:cubicBezTo>
                  <a:pt x="3237058" y="3829063"/>
                  <a:pt x="3251097" y="3833247"/>
                  <a:pt x="3239091" y="3865102"/>
                </a:cubicBezTo>
                <a:cubicBezTo>
                  <a:pt x="3240755" y="3865725"/>
                  <a:pt x="3242340" y="3866659"/>
                  <a:pt x="3243800" y="3867874"/>
                </a:cubicBezTo>
                <a:cubicBezTo>
                  <a:pt x="3252276" y="3874935"/>
                  <a:pt x="3254724" y="3889782"/>
                  <a:pt x="3249268" y="3901031"/>
                </a:cubicBezTo>
                <a:cubicBezTo>
                  <a:pt x="3234180" y="3950514"/>
                  <a:pt x="3270886" y="3938724"/>
                  <a:pt x="3271850" y="3976535"/>
                </a:cubicBezTo>
                <a:cubicBezTo>
                  <a:pt x="3275333" y="4018513"/>
                  <a:pt x="3265836" y="4033210"/>
                  <a:pt x="3253128" y="4091308"/>
                </a:cubicBezTo>
                <a:cubicBezTo>
                  <a:pt x="3262530" y="4093945"/>
                  <a:pt x="3263925" y="4100312"/>
                  <a:pt x="3261491" y="4112665"/>
                </a:cubicBezTo>
                <a:cubicBezTo>
                  <a:pt x="3263824" y="4132845"/>
                  <a:pt x="3285122" y="4124005"/>
                  <a:pt x="3275235" y="4148543"/>
                </a:cubicBezTo>
                <a:cubicBezTo>
                  <a:pt x="3282222" y="4163609"/>
                  <a:pt x="3300717" y="4191930"/>
                  <a:pt x="3303406" y="4203059"/>
                </a:cubicBezTo>
                <a:cubicBezTo>
                  <a:pt x="3307769" y="4216879"/>
                  <a:pt x="3289765" y="4198911"/>
                  <a:pt x="3291377" y="4215304"/>
                </a:cubicBezTo>
                <a:cubicBezTo>
                  <a:pt x="3295421" y="4234470"/>
                  <a:pt x="3290844" y="4240556"/>
                  <a:pt x="3303627" y="4247412"/>
                </a:cubicBezTo>
                <a:cubicBezTo>
                  <a:pt x="3300302" y="4270043"/>
                  <a:pt x="3313094" y="4269840"/>
                  <a:pt x="3323715" y="4295574"/>
                </a:cubicBezTo>
                <a:cubicBezTo>
                  <a:pt x="3318854" y="4309546"/>
                  <a:pt x="3323708" y="4317748"/>
                  <a:pt x="3331757" y="4324626"/>
                </a:cubicBezTo>
                <a:cubicBezTo>
                  <a:pt x="3334500" y="4352298"/>
                  <a:pt x="3348521" y="4373553"/>
                  <a:pt x="3357571" y="4402594"/>
                </a:cubicBezTo>
                <a:cubicBezTo>
                  <a:pt x="3395421" y="4440113"/>
                  <a:pt x="3406716" y="4492429"/>
                  <a:pt x="3416883" y="4511276"/>
                </a:cubicBezTo>
                <a:lnTo>
                  <a:pt x="3418568" y="4515669"/>
                </a:lnTo>
                <a:cubicBezTo>
                  <a:pt x="3418685" y="4519956"/>
                  <a:pt x="3418801" y="4524244"/>
                  <a:pt x="3418918" y="4528531"/>
                </a:cubicBezTo>
                <a:cubicBezTo>
                  <a:pt x="3418727" y="4530191"/>
                  <a:pt x="3418537" y="4531850"/>
                  <a:pt x="3418346" y="4533510"/>
                </a:cubicBezTo>
                <a:cubicBezTo>
                  <a:pt x="3418215" y="4536889"/>
                  <a:pt x="3418462" y="4539065"/>
                  <a:pt x="3419005" y="4540494"/>
                </a:cubicBezTo>
                <a:lnTo>
                  <a:pt x="3424268" y="4595886"/>
                </a:lnTo>
                <a:cubicBezTo>
                  <a:pt x="3429156" y="4624362"/>
                  <a:pt x="3443934" y="4682306"/>
                  <a:pt x="3448330" y="4711348"/>
                </a:cubicBezTo>
                <a:lnTo>
                  <a:pt x="3445621" y="4714874"/>
                </a:lnTo>
                <a:cubicBezTo>
                  <a:pt x="3444103" y="4718397"/>
                  <a:pt x="3443735" y="4723077"/>
                  <a:pt x="3445980" y="4730345"/>
                </a:cubicBezTo>
                <a:lnTo>
                  <a:pt x="3446976" y="4731926"/>
                </a:lnTo>
                <a:lnTo>
                  <a:pt x="3443720" y="4745408"/>
                </a:lnTo>
                <a:cubicBezTo>
                  <a:pt x="3444756" y="4771155"/>
                  <a:pt x="3455466" y="4843107"/>
                  <a:pt x="3453194" y="4886406"/>
                </a:cubicBezTo>
                <a:cubicBezTo>
                  <a:pt x="3454856" y="4906631"/>
                  <a:pt x="3481235" y="5008239"/>
                  <a:pt x="3455210" y="5025296"/>
                </a:cubicBezTo>
                <a:cubicBezTo>
                  <a:pt x="3442202" y="5116320"/>
                  <a:pt x="3464654" y="5119078"/>
                  <a:pt x="3462841" y="5211091"/>
                </a:cubicBezTo>
                <a:cubicBezTo>
                  <a:pt x="3469390" y="5269669"/>
                  <a:pt x="3462794" y="5327391"/>
                  <a:pt x="3469385" y="5356669"/>
                </a:cubicBezTo>
                <a:cubicBezTo>
                  <a:pt x="3471479" y="5361935"/>
                  <a:pt x="3474277" y="5366825"/>
                  <a:pt x="3477268" y="5371683"/>
                </a:cubicBezTo>
                <a:lnTo>
                  <a:pt x="3478824" y="5374232"/>
                </a:lnTo>
                <a:lnTo>
                  <a:pt x="3486664" y="5427532"/>
                </a:lnTo>
                <a:lnTo>
                  <a:pt x="3499845" y="5523238"/>
                </a:lnTo>
                <a:cubicBezTo>
                  <a:pt x="3496480" y="5535759"/>
                  <a:pt x="3498126" y="5574631"/>
                  <a:pt x="3505782" y="5582050"/>
                </a:cubicBezTo>
                <a:cubicBezTo>
                  <a:pt x="3507640" y="5590169"/>
                  <a:pt x="3505294" y="5599602"/>
                  <a:pt x="3513368" y="5603412"/>
                </a:cubicBezTo>
                <a:cubicBezTo>
                  <a:pt x="3518549" y="5620896"/>
                  <a:pt x="3530454" y="5660930"/>
                  <a:pt x="3536869" y="5686953"/>
                </a:cubicBezTo>
                <a:cubicBezTo>
                  <a:pt x="3527290" y="5702684"/>
                  <a:pt x="3548216" y="5722678"/>
                  <a:pt x="3551859" y="5759548"/>
                </a:cubicBezTo>
                <a:cubicBezTo>
                  <a:pt x="3540751" y="5776843"/>
                  <a:pt x="3554471" y="5784377"/>
                  <a:pt x="3540024" y="5816599"/>
                </a:cubicBezTo>
                <a:cubicBezTo>
                  <a:pt x="3541640" y="5817630"/>
                  <a:pt x="3543154" y="5818984"/>
                  <a:pt x="3544521" y="5820619"/>
                </a:cubicBezTo>
                <a:cubicBezTo>
                  <a:pt x="3552455" y="5830118"/>
                  <a:pt x="3553767" y="5846834"/>
                  <a:pt x="3547449" y="5857956"/>
                </a:cubicBezTo>
                <a:cubicBezTo>
                  <a:pt x="3528571" y="5908761"/>
                  <a:pt x="3532186" y="5952107"/>
                  <a:pt x="3530253" y="5993572"/>
                </a:cubicBezTo>
                <a:cubicBezTo>
                  <a:pt x="3530522" y="6040113"/>
                  <a:pt x="3553891" y="6005695"/>
                  <a:pt x="3536734" y="6066404"/>
                </a:cubicBezTo>
                <a:cubicBezTo>
                  <a:pt x="3545935" y="6071268"/>
                  <a:pt x="3546842" y="6078512"/>
                  <a:pt x="3543461" y="6091477"/>
                </a:cubicBezTo>
                <a:cubicBezTo>
                  <a:pt x="3549602" y="6107585"/>
                  <a:pt x="3568275" y="6137061"/>
                  <a:pt x="3573577" y="6163051"/>
                </a:cubicBezTo>
                <a:cubicBezTo>
                  <a:pt x="3577046" y="6182032"/>
                  <a:pt x="3572259" y="6223892"/>
                  <a:pt x="3575275" y="6247420"/>
                </a:cubicBezTo>
                <a:cubicBezTo>
                  <a:pt x="3570217" y="6271412"/>
                  <a:pt x="3583023" y="6273898"/>
                  <a:pt x="3591673" y="6304222"/>
                </a:cubicBezTo>
                <a:cubicBezTo>
                  <a:pt x="3585743" y="6318440"/>
                  <a:pt x="3589967" y="6328418"/>
                  <a:pt x="3597489" y="6337624"/>
                </a:cubicBezTo>
                <a:cubicBezTo>
                  <a:pt x="3598113" y="6368401"/>
                  <a:pt x="3610504" y="6394558"/>
                  <a:pt x="3617330" y="6428161"/>
                </a:cubicBezTo>
                <a:cubicBezTo>
                  <a:pt x="3612404" y="6466489"/>
                  <a:pt x="3633001" y="6482393"/>
                  <a:pt x="3640218" y="6518318"/>
                </a:cubicBezTo>
                <a:cubicBezTo>
                  <a:pt x="3625420" y="6557419"/>
                  <a:pt x="3668862" y="6537820"/>
                  <a:pt x="3670788" y="6568733"/>
                </a:cubicBezTo>
                <a:cubicBezTo>
                  <a:pt x="3659124" y="6621466"/>
                  <a:pt x="3685482" y="6565072"/>
                  <a:pt x="3687763" y="6643164"/>
                </a:cubicBezTo>
                <a:cubicBezTo>
                  <a:pt x="3685396" y="6647995"/>
                  <a:pt x="3689317" y="6656838"/>
                  <a:pt x="3693097" y="6655183"/>
                </a:cubicBezTo>
                <a:cubicBezTo>
                  <a:pt x="3693444" y="6672318"/>
                  <a:pt x="3690193" y="6715787"/>
                  <a:pt x="3689847" y="6745974"/>
                </a:cubicBezTo>
                <a:cubicBezTo>
                  <a:pt x="3689583" y="6773144"/>
                  <a:pt x="3690048" y="6817635"/>
                  <a:pt x="3691023" y="6836306"/>
                </a:cubicBezTo>
                <a:lnTo>
                  <a:pt x="3695699" y="6858001"/>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CDBFE3A1-E933-32EB-4F9A-F11A75B31E58}"/>
              </a:ext>
            </a:extLst>
          </p:cNvPr>
          <p:cNvSpPr>
            <a:spLocks noGrp="1"/>
          </p:cNvSpPr>
          <p:nvPr>
            <p:ph idx="1"/>
          </p:nvPr>
        </p:nvSpPr>
        <p:spPr>
          <a:xfrm>
            <a:off x="6298449" y="3221035"/>
            <a:ext cx="5715000" cy="6151563"/>
          </a:xfrm>
        </p:spPr>
        <p:txBody>
          <a:bodyPr>
            <a:normAutofit/>
          </a:bodyPr>
          <a:lstStyle/>
          <a:p>
            <a:r>
              <a:rPr lang="en-US" sz="3000" dirty="0">
                <a:solidFill>
                  <a:schemeClr val="tx1">
                    <a:lumMod val="85000"/>
                    <a:lumOff val="15000"/>
                  </a:schemeClr>
                </a:solidFill>
              </a:rPr>
              <a:t>Which cabling job is better? </a:t>
            </a:r>
          </a:p>
          <a:p>
            <a:r>
              <a:rPr lang="en-US" sz="3000" dirty="0">
                <a:solidFill>
                  <a:schemeClr val="tx1">
                    <a:lumMod val="85000"/>
                    <a:lumOff val="15000"/>
                  </a:schemeClr>
                </a:solidFill>
              </a:rPr>
              <a:t>What might the cabling say about the IT team?</a:t>
            </a:r>
          </a:p>
          <a:p>
            <a:r>
              <a:rPr lang="en-US" sz="3000" dirty="0">
                <a:solidFill>
                  <a:schemeClr val="tx1">
                    <a:lumMod val="85000"/>
                    <a:lumOff val="15000"/>
                  </a:schemeClr>
                </a:solidFill>
              </a:rPr>
              <a:t>What do you see in the average community bank?</a:t>
            </a:r>
          </a:p>
        </p:txBody>
      </p:sp>
      <p:pic>
        <p:nvPicPr>
          <p:cNvPr id="6150" name="Picture 6">
            <a:extLst>
              <a:ext uri="{FF2B5EF4-FFF2-40B4-BE49-F238E27FC236}">
                <a16:creationId xmlns:a16="http://schemas.microsoft.com/office/drawing/2014/main" id="{F053C1D6-9BB3-2457-85CD-5D3E2E2E798E}"/>
              </a:ext>
            </a:extLst>
          </p:cNvPr>
          <p:cNvPicPr>
            <a:picLocks noChangeAspect="1" noChangeArrowheads="1"/>
          </p:cNvPicPr>
          <p:nvPr/>
        </p:nvPicPr>
        <p:blipFill rotWithShape="1">
          <a:blip r:embed="rId3">
            <a:extLst>
              <a:ext uri="{28A0092B-C50C-407E-A947-70E740481C1C}">
                <a14:useLocalDpi xmlns:a14="http://schemas.microsoft.com/office/drawing/2010/main"/>
              </a:ext>
            </a:extLst>
          </a:blip>
          <a:srcRect b="-2"/>
          <a:stretch/>
        </p:blipFill>
        <p:spPr bwMode="auto">
          <a:xfrm>
            <a:off x="12870700" y="10"/>
            <a:ext cx="5417300" cy="10286990"/>
          </a:xfrm>
          <a:custGeom>
            <a:avLst/>
            <a:gdLst/>
            <a:ahLst/>
            <a:cxnLst/>
            <a:rect l="l" t="t" r="r" b="b"/>
            <a:pathLst>
              <a:path w="3810000" h="6858000">
                <a:moveTo>
                  <a:pt x="95627" y="0"/>
                </a:moveTo>
                <a:lnTo>
                  <a:pt x="3810000" y="0"/>
                </a:lnTo>
                <a:lnTo>
                  <a:pt x="3810000" y="6858000"/>
                </a:lnTo>
                <a:lnTo>
                  <a:pt x="13132" y="6858000"/>
                </a:lnTo>
                <a:cubicBezTo>
                  <a:pt x="13183" y="6857363"/>
                  <a:pt x="13234" y="6856727"/>
                  <a:pt x="13284" y="6856090"/>
                </a:cubicBezTo>
                <a:lnTo>
                  <a:pt x="31566" y="6805847"/>
                </a:lnTo>
                <a:lnTo>
                  <a:pt x="30463" y="6715381"/>
                </a:lnTo>
                <a:cubicBezTo>
                  <a:pt x="29585" y="6714082"/>
                  <a:pt x="28597" y="6713038"/>
                  <a:pt x="27533" y="6712286"/>
                </a:cubicBezTo>
                <a:lnTo>
                  <a:pt x="31288" y="6698474"/>
                </a:lnTo>
                <a:lnTo>
                  <a:pt x="29901" y="6686264"/>
                </a:lnTo>
                <a:cubicBezTo>
                  <a:pt x="29591" y="6639749"/>
                  <a:pt x="29281" y="6593234"/>
                  <a:pt x="28971" y="6546719"/>
                </a:cubicBezTo>
                <a:cubicBezTo>
                  <a:pt x="23415" y="6502008"/>
                  <a:pt x="3087" y="6462057"/>
                  <a:pt x="310" y="6408337"/>
                </a:cubicBezTo>
                <a:cubicBezTo>
                  <a:pt x="-2468" y="6354617"/>
                  <a:pt x="14431" y="6312397"/>
                  <a:pt x="12307" y="6224401"/>
                </a:cubicBezTo>
                <a:lnTo>
                  <a:pt x="27152" y="6147415"/>
                </a:lnTo>
                <a:lnTo>
                  <a:pt x="39044" y="6093837"/>
                </a:lnTo>
                <a:cubicBezTo>
                  <a:pt x="47718" y="6039281"/>
                  <a:pt x="47985" y="5964495"/>
                  <a:pt x="46816" y="5915901"/>
                </a:cubicBezTo>
                <a:cubicBezTo>
                  <a:pt x="43189" y="5876557"/>
                  <a:pt x="47196" y="5863739"/>
                  <a:pt x="33533" y="5831562"/>
                </a:cubicBezTo>
                <a:cubicBezTo>
                  <a:pt x="27901" y="5792459"/>
                  <a:pt x="47408" y="5747455"/>
                  <a:pt x="46555" y="5710909"/>
                </a:cubicBezTo>
                <a:cubicBezTo>
                  <a:pt x="53188" y="5686865"/>
                  <a:pt x="49116" y="5615845"/>
                  <a:pt x="62461" y="5602222"/>
                </a:cubicBezTo>
                <a:cubicBezTo>
                  <a:pt x="64066" y="5572067"/>
                  <a:pt x="49594" y="5555548"/>
                  <a:pt x="56185" y="5529979"/>
                </a:cubicBezTo>
                <a:lnTo>
                  <a:pt x="67961" y="5458854"/>
                </a:lnTo>
                <a:lnTo>
                  <a:pt x="110939" y="5353584"/>
                </a:lnTo>
                <a:cubicBezTo>
                  <a:pt x="123070" y="5308303"/>
                  <a:pt x="110671" y="5307524"/>
                  <a:pt x="128276" y="5249764"/>
                </a:cubicBezTo>
                <a:cubicBezTo>
                  <a:pt x="137692" y="5218499"/>
                  <a:pt x="146153" y="5160067"/>
                  <a:pt x="156749" y="5116288"/>
                </a:cubicBezTo>
                <a:cubicBezTo>
                  <a:pt x="167347" y="5072508"/>
                  <a:pt x="184838" y="5010298"/>
                  <a:pt x="191855" y="4987089"/>
                </a:cubicBezTo>
                <a:lnTo>
                  <a:pt x="219824" y="4934095"/>
                </a:lnTo>
                <a:cubicBezTo>
                  <a:pt x="223315" y="4926170"/>
                  <a:pt x="231151" y="4920904"/>
                  <a:pt x="231137" y="4903120"/>
                </a:cubicBezTo>
                <a:lnTo>
                  <a:pt x="219738" y="4827391"/>
                </a:lnTo>
                <a:cubicBezTo>
                  <a:pt x="223928" y="4818620"/>
                  <a:pt x="227939" y="4809255"/>
                  <a:pt x="231597" y="4799440"/>
                </a:cubicBezTo>
                <a:lnTo>
                  <a:pt x="233480" y="4793512"/>
                </a:lnTo>
                <a:cubicBezTo>
                  <a:pt x="233423" y="4793432"/>
                  <a:pt x="233367" y="4793351"/>
                  <a:pt x="233310" y="4793271"/>
                </a:cubicBezTo>
                <a:cubicBezTo>
                  <a:pt x="233275" y="4791711"/>
                  <a:pt x="233728" y="4789662"/>
                  <a:pt x="234882" y="4786765"/>
                </a:cubicBezTo>
                <a:lnTo>
                  <a:pt x="236914" y="4782703"/>
                </a:lnTo>
                <a:lnTo>
                  <a:pt x="246329" y="4683644"/>
                </a:lnTo>
                <a:cubicBezTo>
                  <a:pt x="256294" y="4677568"/>
                  <a:pt x="256527" y="4667288"/>
                  <a:pt x="253823" y="4655204"/>
                </a:cubicBezTo>
                <a:cubicBezTo>
                  <a:pt x="259521" y="4631796"/>
                  <a:pt x="280440" y="4574275"/>
                  <a:pt x="280514" y="4543195"/>
                </a:cubicBezTo>
                <a:cubicBezTo>
                  <a:pt x="272112" y="4519880"/>
                  <a:pt x="251340" y="4505102"/>
                  <a:pt x="254268" y="4468722"/>
                </a:cubicBezTo>
                <a:cubicBezTo>
                  <a:pt x="266696" y="4435462"/>
                  <a:pt x="236001" y="4395418"/>
                  <a:pt x="252728" y="4353998"/>
                </a:cubicBezTo>
                <a:cubicBezTo>
                  <a:pt x="256750" y="4339008"/>
                  <a:pt x="256168" y="4294115"/>
                  <a:pt x="248123" y="4286542"/>
                </a:cubicBezTo>
                <a:cubicBezTo>
                  <a:pt x="246365" y="4277371"/>
                  <a:pt x="249194" y="4266107"/>
                  <a:pt x="240584" y="4262777"/>
                </a:cubicBezTo>
                <a:cubicBezTo>
                  <a:pt x="230221" y="4256829"/>
                  <a:pt x="246153" y="4222259"/>
                  <a:pt x="233949" y="4228340"/>
                </a:cubicBezTo>
                <a:cubicBezTo>
                  <a:pt x="244865" y="4203839"/>
                  <a:pt x="223150" y="4187902"/>
                  <a:pt x="217758" y="4169004"/>
                </a:cubicBezTo>
                <a:cubicBezTo>
                  <a:pt x="228596" y="4149446"/>
                  <a:pt x="206597" y="4129080"/>
                  <a:pt x="203797" y="4086781"/>
                </a:cubicBezTo>
                <a:cubicBezTo>
                  <a:pt x="216334" y="4065199"/>
                  <a:pt x="201740" y="4058317"/>
                  <a:pt x="218344" y="4018957"/>
                </a:cubicBezTo>
                <a:cubicBezTo>
                  <a:pt x="216630" y="4017979"/>
                  <a:pt x="215034" y="4016614"/>
                  <a:pt x="213609" y="4014902"/>
                </a:cubicBezTo>
                <a:cubicBezTo>
                  <a:pt x="205325" y="4004955"/>
                  <a:pt x="204424" y="3985729"/>
                  <a:pt x="211594" y="3971964"/>
                </a:cubicBezTo>
                <a:cubicBezTo>
                  <a:pt x="233561" y="3910433"/>
                  <a:pt x="230991" y="3860613"/>
                  <a:pt x="234357" y="3812226"/>
                </a:cubicBezTo>
                <a:cubicBezTo>
                  <a:pt x="235501" y="3758242"/>
                  <a:pt x="209185" y="3801364"/>
                  <a:pt x="229596" y="3728573"/>
                </a:cubicBezTo>
                <a:cubicBezTo>
                  <a:pt x="219804" y="3724174"/>
                  <a:pt x="219047" y="3715890"/>
                  <a:pt x="223099" y="3700384"/>
                </a:cubicBezTo>
                <a:cubicBezTo>
                  <a:pt x="222942" y="3674360"/>
                  <a:pt x="199034" y="3683312"/>
                  <a:pt x="212511" y="3653063"/>
                </a:cubicBezTo>
                <a:cubicBezTo>
                  <a:pt x="207582" y="3623616"/>
                  <a:pt x="199349" y="3555881"/>
                  <a:pt x="193522" y="3523704"/>
                </a:cubicBezTo>
                <a:cubicBezTo>
                  <a:pt x="199728" y="3495169"/>
                  <a:pt x="185963" y="3494025"/>
                  <a:pt x="177551" y="3460001"/>
                </a:cubicBezTo>
                <a:cubicBezTo>
                  <a:pt x="184399" y="3442692"/>
                  <a:pt x="180138" y="3431687"/>
                  <a:pt x="172293" y="3422022"/>
                </a:cubicBezTo>
                <a:cubicBezTo>
                  <a:pt x="172567" y="3386386"/>
                  <a:pt x="159982" y="3357707"/>
                  <a:pt x="153640" y="3319632"/>
                </a:cubicBezTo>
                <a:cubicBezTo>
                  <a:pt x="117352" y="3267571"/>
                  <a:pt x="111308" y="3199530"/>
                  <a:pt x="102580" y="3174350"/>
                </a:cubicBezTo>
                <a:lnTo>
                  <a:pt x="101281" y="3168555"/>
                </a:lnTo>
                <a:cubicBezTo>
                  <a:pt x="101655" y="3163067"/>
                  <a:pt x="102030" y="3157580"/>
                  <a:pt x="102403" y="3152092"/>
                </a:cubicBezTo>
                <a:lnTo>
                  <a:pt x="103597" y="3145797"/>
                </a:lnTo>
                <a:cubicBezTo>
                  <a:pt x="104132" y="3141497"/>
                  <a:pt x="104119" y="3138691"/>
                  <a:pt x="103701" y="3136806"/>
                </a:cubicBezTo>
                <a:lnTo>
                  <a:pt x="108221" y="3088993"/>
                </a:lnTo>
                <a:cubicBezTo>
                  <a:pt x="109464" y="3064872"/>
                  <a:pt x="113188" y="3030250"/>
                  <a:pt x="111158" y="2992081"/>
                </a:cubicBezTo>
                <a:cubicBezTo>
                  <a:pt x="109031" y="2944441"/>
                  <a:pt x="104226" y="2942439"/>
                  <a:pt x="105565" y="2902844"/>
                </a:cubicBezTo>
                <a:cubicBezTo>
                  <a:pt x="107874" y="2897323"/>
                  <a:pt x="101362" y="2801618"/>
                  <a:pt x="105102" y="2797375"/>
                </a:cubicBezTo>
                <a:cubicBezTo>
                  <a:pt x="86174" y="2744941"/>
                  <a:pt x="109804" y="2750735"/>
                  <a:pt x="107241" y="2691357"/>
                </a:cubicBezTo>
                <a:cubicBezTo>
                  <a:pt x="107811" y="2665349"/>
                  <a:pt x="115946" y="2561129"/>
                  <a:pt x="145888" y="2542201"/>
                </a:cubicBezTo>
                <a:cubicBezTo>
                  <a:pt x="170455" y="2427400"/>
                  <a:pt x="123634" y="2367849"/>
                  <a:pt x="136292" y="2250554"/>
                </a:cubicBezTo>
                <a:cubicBezTo>
                  <a:pt x="110877" y="2215639"/>
                  <a:pt x="134601" y="2180816"/>
                  <a:pt x="130310" y="2141581"/>
                </a:cubicBezTo>
                <a:cubicBezTo>
                  <a:pt x="154051" y="2149219"/>
                  <a:pt x="117587" y="2094975"/>
                  <a:pt x="144587" y="2089095"/>
                </a:cubicBezTo>
                <a:cubicBezTo>
                  <a:pt x="142952" y="2082142"/>
                  <a:pt x="140513" y="2075590"/>
                  <a:pt x="137867" y="2069059"/>
                </a:cubicBezTo>
                <a:lnTo>
                  <a:pt x="136492" y="2065634"/>
                </a:lnTo>
                <a:cubicBezTo>
                  <a:pt x="136216" y="2060851"/>
                  <a:pt x="135939" y="2056067"/>
                  <a:pt x="135663" y="2051284"/>
                </a:cubicBezTo>
                <a:lnTo>
                  <a:pt x="124268" y="1960184"/>
                </a:lnTo>
                <a:cubicBezTo>
                  <a:pt x="138968" y="1926370"/>
                  <a:pt x="111716" y="1914873"/>
                  <a:pt x="131257" y="1873060"/>
                </a:cubicBezTo>
                <a:cubicBezTo>
                  <a:pt x="136329" y="1857442"/>
                  <a:pt x="139083" y="1807624"/>
                  <a:pt x="131724" y="1797311"/>
                </a:cubicBezTo>
                <a:cubicBezTo>
                  <a:pt x="130673" y="1786740"/>
                  <a:pt x="134293" y="1774954"/>
                  <a:pt x="126063" y="1769201"/>
                </a:cubicBezTo>
                <a:cubicBezTo>
                  <a:pt x="116300" y="1760126"/>
                  <a:pt x="134551" y="1725705"/>
                  <a:pt x="122085" y="1729500"/>
                </a:cubicBezTo>
                <a:cubicBezTo>
                  <a:pt x="134648" y="1705012"/>
                  <a:pt x="114449" y="1682158"/>
                  <a:pt x="110543" y="1659949"/>
                </a:cubicBezTo>
                <a:cubicBezTo>
                  <a:pt x="122664" y="1640913"/>
                  <a:pt x="102513" y="1613087"/>
                  <a:pt x="102892" y="1565607"/>
                </a:cubicBezTo>
                <a:cubicBezTo>
                  <a:pt x="116835" y="1544742"/>
                  <a:pt x="102976" y="1533616"/>
                  <a:pt x="122245" y="1494057"/>
                </a:cubicBezTo>
                <a:cubicBezTo>
                  <a:pt x="120629" y="1492563"/>
                  <a:pt x="119160" y="1490668"/>
                  <a:pt x="117883" y="1488429"/>
                </a:cubicBezTo>
                <a:cubicBezTo>
                  <a:pt x="110465" y="1475431"/>
                  <a:pt x="111002" y="1453942"/>
                  <a:pt x="119083" y="1440433"/>
                </a:cubicBezTo>
                <a:cubicBezTo>
                  <a:pt x="145274" y="1377630"/>
                  <a:pt x="146438" y="1321884"/>
                  <a:pt x="153340" y="1269148"/>
                </a:cubicBezTo>
                <a:cubicBezTo>
                  <a:pt x="158467" y="1209690"/>
                  <a:pt x="129360" y="1251077"/>
                  <a:pt x="154855" y="1175439"/>
                </a:cubicBezTo>
                <a:cubicBezTo>
                  <a:pt x="145538" y="1168218"/>
                  <a:pt x="145408" y="1158868"/>
                  <a:pt x="150548" y="1142685"/>
                </a:cubicBezTo>
                <a:cubicBezTo>
                  <a:pt x="152321" y="1113850"/>
                  <a:pt x="128121" y="1118007"/>
                  <a:pt x="143630" y="1087778"/>
                </a:cubicBezTo>
                <a:cubicBezTo>
                  <a:pt x="139451" y="1064261"/>
                  <a:pt x="125971" y="1018012"/>
                  <a:pt x="125476" y="1001580"/>
                </a:cubicBezTo>
                <a:cubicBezTo>
                  <a:pt x="123958" y="976962"/>
                  <a:pt x="134851" y="962709"/>
                  <a:pt x="134526" y="940069"/>
                </a:cubicBezTo>
                <a:cubicBezTo>
                  <a:pt x="142751" y="909988"/>
                  <a:pt x="129284" y="905409"/>
                  <a:pt x="123523" y="865739"/>
                </a:cubicBezTo>
                <a:cubicBezTo>
                  <a:pt x="131549" y="848234"/>
                  <a:pt x="128173" y="835030"/>
                  <a:pt x="121164" y="822450"/>
                </a:cubicBezTo>
                <a:cubicBezTo>
                  <a:pt x="124077" y="783082"/>
                  <a:pt x="113811" y="748321"/>
                  <a:pt x="110389" y="704665"/>
                </a:cubicBezTo>
                <a:cubicBezTo>
                  <a:pt x="120144" y="656264"/>
                  <a:pt x="99869" y="633697"/>
                  <a:pt x="96299" y="587032"/>
                </a:cubicBezTo>
                <a:cubicBezTo>
                  <a:pt x="87861" y="539988"/>
                  <a:pt x="66571" y="452493"/>
                  <a:pt x="59759" y="422399"/>
                </a:cubicBezTo>
                <a:cubicBezTo>
                  <a:pt x="62865" y="416491"/>
                  <a:pt x="59682" y="404768"/>
                  <a:pt x="55429" y="406467"/>
                </a:cubicBezTo>
                <a:cubicBezTo>
                  <a:pt x="56742" y="400038"/>
                  <a:pt x="64884" y="384166"/>
                  <a:pt x="58062" y="383409"/>
                </a:cubicBezTo>
                <a:cubicBezTo>
                  <a:pt x="57210" y="351894"/>
                  <a:pt x="61145" y="320031"/>
                  <a:pt x="69487" y="290892"/>
                </a:cubicBezTo>
                <a:cubicBezTo>
                  <a:pt x="57686" y="231306"/>
                  <a:pt x="89539" y="260845"/>
                  <a:pt x="86198" y="217175"/>
                </a:cubicBezTo>
                <a:cubicBezTo>
                  <a:pt x="72715" y="183379"/>
                  <a:pt x="83646" y="168958"/>
                  <a:pt x="74643" y="129155"/>
                </a:cubicBezTo>
                <a:cubicBezTo>
                  <a:pt x="96697" y="112411"/>
                  <a:pt x="72236" y="90977"/>
                  <a:pt x="78417" y="74202"/>
                </a:cubicBezTo>
                <a:cubicBezTo>
                  <a:pt x="59029" y="57686"/>
                  <a:pt x="81827" y="29115"/>
                  <a:pt x="94183" y="4683"/>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05458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A90A9-9DE7-2F96-F0C6-EF7501859D62}"/>
              </a:ext>
            </a:extLst>
          </p:cNvPr>
          <p:cNvSpPr>
            <a:spLocks noGrp="1"/>
          </p:cNvSpPr>
          <p:nvPr>
            <p:ph type="title"/>
          </p:nvPr>
        </p:nvSpPr>
        <p:spPr/>
        <p:txBody>
          <a:bodyPr/>
          <a:lstStyle/>
          <a:p>
            <a:r>
              <a:rPr lang="en-US"/>
              <a:t>Ethernet Evolution</a:t>
            </a:r>
          </a:p>
        </p:txBody>
      </p:sp>
      <p:grpSp>
        <p:nvGrpSpPr>
          <p:cNvPr id="36" name="Group 35">
            <a:extLst>
              <a:ext uri="{FF2B5EF4-FFF2-40B4-BE49-F238E27FC236}">
                <a16:creationId xmlns:a16="http://schemas.microsoft.com/office/drawing/2014/main" id="{ECB073A8-41CA-35EC-4CE0-D95A3A14CB4C}"/>
              </a:ext>
            </a:extLst>
          </p:cNvPr>
          <p:cNvGrpSpPr/>
          <p:nvPr/>
        </p:nvGrpSpPr>
        <p:grpSpPr>
          <a:xfrm>
            <a:off x="2476806" y="2672857"/>
            <a:ext cx="12758021" cy="6806809"/>
            <a:chOff x="475770" y="161150"/>
            <a:chExt cx="7677630" cy="3793869"/>
          </a:xfrm>
        </p:grpSpPr>
        <p:sp>
          <p:nvSpPr>
            <p:cNvPr id="4" name="Rounded Rectangle 3">
              <a:extLst>
                <a:ext uri="{FF2B5EF4-FFF2-40B4-BE49-F238E27FC236}">
                  <a16:creationId xmlns:a16="http://schemas.microsoft.com/office/drawing/2014/main" id="{8DFEC1CC-D433-1315-F4A0-86BC9F3B1049}"/>
                </a:ext>
              </a:extLst>
            </p:cNvPr>
            <p:cNvSpPr/>
            <p:nvPr/>
          </p:nvSpPr>
          <p:spPr>
            <a:xfrm>
              <a:off x="914400" y="2712481"/>
              <a:ext cx="1066800" cy="1230869"/>
            </a:xfrm>
            <a:prstGeom prst="roundRect">
              <a:avLst/>
            </a:prstGeom>
            <a:solidFill>
              <a:schemeClr val="accent1">
                <a:lumMod val="40000"/>
                <a:lumOff val="60000"/>
              </a:schemeClr>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Right Arrow 4">
              <a:extLst>
                <a:ext uri="{FF2B5EF4-FFF2-40B4-BE49-F238E27FC236}">
                  <a16:creationId xmlns:a16="http://schemas.microsoft.com/office/drawing/2014/main" id="{97FEC665-0B8B-7E74-AD49-D2AFAC8D4F22}"/>
                </a:ext>
              </a:extLst>
            </p:cNvPr>
            <p:cNvSpPr/>
            <p:nvPr/>
          </p:nvSpPr>
          <p:spPr>
            <a:xfrm>
              <a:off x="609600" y="666750"/>
              <a:ext cx="7543800" cy="533400"/>
            </a:xfrm>
            <a:prstGeom prst="rightArrow">
              <a:avLst/>
            </a:prstGeom>
            <a:ln>
              <a:noFill/>
            </a:ln>
          </p:spPr>
          <p:style>
            <a:lnRef idx="1">
              <a:schemeClr val="accent1"/>
            </a:lnRef>
            <a:fillRef idx="1">
              <a:schemeClr val="accent1"/>
            </a:fillRef>
            <a:effectRef idx="0">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TextBox 5">
              <a:extLst>
                <a:ext uri="{FF2B5EF4-FFF2-40B4-BE49-F238E27FC236}">
                  <a16:creationId xmlns:a16="http://schemas.microsoft.com/office/drawing/2014/main" id="{D7AF3F45-495E-4362-BF89-9A4BBF5CC7D7}"/>
                </a:ext>
              </a:extLst>
            </p:cNvPr>
            <p:cNvSpPr txBox="1"/>
            <p:nvPr/>
          </p:nvSpPr>
          <p:spPr>
            <a:xfrm>
              <a:off x="718857" y="1200150"/>
              <a:ext cx="524008" cy="257315"/>
            </a:xfrm>
            <a:prstGeom prst="rect">
              <a:avLst/>
            </a:prstGeom>
            <a:noFill/>
          </p:spPr>
          <p:txBody>
            <a:bodyPr wrap="none" rtlCol="0">
              <a:spAutoFit/>
            </a:bodyPr>
            <a:lstStyle/>
            <a:p>
              <a:r>
                <a:rPr lang="en-US" sz="2400" b="1">
                  <a:latin typeface="Helvetica Neue" panose="02000503000000020004" pitchFamily="2" charset="0"/>
                  <a:ea typeface="Helvetica Neue" panose="02000503000000020004" pitchFamily="2" charset="0"/>
                  <a:cs typeface="Helvetica Neue" panose="02000503000000020004" pitchFamily="2" charset="0"/>
                </a:rPr>
                <a:t>1973</a:t>
              </a:r>
            </a:p>
          </p:txBody>
        </p:sp>
        <p:sp>
          <p:nvSpPr>
            <p:cNvPr id="7" name="TextBox 6">
              <a:extLst>
                <a:ext uri="{FF2B5EF4-FFF2-40B4-BE49-F238E27FC236}">
                  <a16:creationId xmlns:a16="http://schemas.microsoft.com/office/drawing/2014/main" id="{604A726F-04D2-3860-DEAC-0A17410C1240}"/>
                </a:ext>
              </a:extLst>
            </p:cNvPr>
            <p:cNvSpPr txBox="1"/>
            <p:nvPr/>
          </p:nvSpPr>
          <p:spPr>
            <a:xfrm>
              <a:off x="3995457" y="1200150"/>
              <a:ext cx="524008" cy="257315"/>
            </a:xfrm>
            <a:prstGeom prst="rect">
              <a:avLst/>
            </a:prstGeom>
            <a:noFill/>
          </p:spPr>
          <p:txBody>
            <a:bodyPr wrap="none" rtlCol="0">
              <a:spAutoFit/>
            </a:bodyPr>
            <a:lstStyle/>
            <a:p>
              <a:r>
                <a:rPr lang="en-US" sz="2400" b="1">
                  <a:latin typeface="Helvetica Neue" panose="02000503000000020004" pitchFamily="2" charset="0"/>
                  <a:ea typeface="Helvetica Neue" panose="02000503000000020004" pitchFamily="2" charset="0"/>
                  <a:cs typeface="Helvetica Neue" panose="02000503000000020004" pitchFamily="2" charset="0"/>
                </a:rPr>
                <a:t>1980</a:t>
              </a:r>
            </a:p>
          </p:txBody>
        </p:sp>
        <p:sp>
          <p:nvSpPr>
            <p:cNvPr id="8" name="TextBox 7">
              <a:extLst>
                <a:ext uri="{FF2B5EF4-FFF2-40B4-BE49-F238E27FC236}">
                  <a16:creationId xmlns:a16="http://schemas.microsoft.com/office/drawing/2014/main" id="{00AFAE40-2099-3781-2664-C7647C1E6127}"/>
                </a:ext>
              </a:extLst>
            </p:cNvPr>
            <p:cNvSpPr txBox="1"/>
            <p:nvPr/>
          </p:nvSpPr>
          <p:spPr>
            <a:xfrm>
              <a:off x="6862060" y="1200150"/>
              <a:ext cx="524008" cy="257315"/>
            </a:xfrm>
            <a:prstGeom prst="rect">
              <a:avLst/>
            </a:prstGeom>
            <a:noFill/>
          </p:spPr>
          <p:txBody>
            <a:bodyPr wrap="none" rtlCol="0">
              <a:spAutoFit/>
            </a:bodyPr>
            <a:lstStyle/>
            <a:p>
              <a:r>
                <a:rPr lang="en-US" sz="2400" b="1">
                  <a:latin typeface="Helvetica Neue" panose="02000503000000020004" pitchFamily="2" charset="0"/>
                  <a:ea typeface="Helvetica Neue" panose="02000503000000020004" pitchFamily="2" charset="0"/>
                  <a:cs typeface="Helvetica Neue" panose="02000503000000020004" pitchFamily="2" charset="0"/>
                </a:rPr>
                <a:t>2001</a:t>
              </a:r>
            </a:p>
          </p:txBody>
        </p:sp>
        <p:sp>
          <p:nvSpPr>
            <p:cNvPr id="9" name="TextBox 8">
              <a:extLst>
                <a:ext uri="{FF2B5EF4-FFF2-40B4-BE49-F238E27FC236}">
                  <a16:creationId xmlns:a16="http://schemas.microsoft.com/office/drawing/2014/main" id="{E69AFDBF-AFC6-A303-6726-63B24E10C80B}"/>
                </a:ext>
              </a:extLst>
            </p:cNvPr>
            <p:cNvSpPr txBox="1"/>
            <p:nvPr/>
          </p:nvSpPr>
          <p:spPr>
            <a:xfrm>
              <a:off x="475770" y="161150"/>
              <a:ext cx="1295204" cy="463168"/>
            </a:xfrm>
            <a:prstGeom prst="rect">
              <a:avLst/>
            </a:prstGeom>
            <a:noFill/>
          </p:spPr>
          <p:txBody>
            <a:bodyPr wrap="none" rtlCol="0">
              <a:spAutoFit/>
            </a:bodyPr>
            <a:lstStyle/>
            <a:p>
              <a:pPr algn="ctr"/>
              <a:r>
                <a:rPr lang="en-US" sz="2400" b="1">
                  <a:latin typeface="Helvetica Neue" panose="02000503000000020004" pitchFamily="2" charset="0"/>
                  <a:ea typeface="Helvetica Neue" panose="02000503000000020004" pitchFamily="2" charset="0"/>
                  <a:cs typeface="Helvetica Neue" panose="02000503000000020004" pitchFamily="2" charset="0"/>
                </a:rPr>
                <a:t>Ethernet LAN</a:t>
              </a:r>
            </a:p>
            <a:p>
              <a:pPr algn="ctr"/>
              <a:r>
                <a:rPr lang="en-US" sz="2400" b="1">
                  <a:latin typeface="Helvetica Neue" panose="02000503000000020004" pitchFamily="2" charset="0"/>
                  <a:ea typeface="Helvetica Neue" panose="02000503000000020004" pitchFamily="2" charset="0"/>
                  <a:cs typeface="Helvetica Neue" panose="02000503000000020004" pitchFamily="2" charset="0"/>
                </a:rPr>
                <a:t>Invented</a:t>
              </a:r>
            </a:p>
          </p:txBody>
        </p:sp>
        <p:sp>
          <p:nvSpPr>
            <p:cNvPr id="10" name="TextBox 9">
              <a:extLst>
                <a:ext uri="{FF2B5EF4-FFF2-40B4-BE49-F238E27FC236}">
                  <a16:creationId xmlns:a16="http://schemas.microsoft.com/office/drawing/2014/main" id="{BF4ED9B8-1ACB-A7BE-CF49-7C9EE0B660F3}"/>
                </a:ext>
              </a:extLst>
            </p:cNvPr>
            <p:cNvSpPr txBox="1"/>
            <p:nvPr/>
          </p:nvSpPr>
          <p:spPr>
            <a:xfrm>
              <a:off x="6665775" y="161151"/>
              <a:ext cx="1045315" cy="463168"/>
            </a:xfrm>
            <a:prstGeom prst="rect">
              <a:avLst/>
            </a:prstGeom>
            <a:noFill/>
          </p:spPr>
          <p:txBody>
            <a:bodyPr wrap="none" rtlCol="0">
              <a:spAutoFit/>
            </a:bodyPr>
            <a:lstStyle/>
            <a:p>
              <a:pPr algn="ctr"/>
              <a:r>
                <a:rPr lang="en-US" sz="2400" b="1">
                  <a:latin typeface="Helvetica Neue" panose="02000503000000020004" pitchFamily="2" charset="0"/>
                  <a:ea typeface="Helvetica Neue" panose="02000503000000020004" pitchFamily="2" charset="0"/>
                  <a:cs typeface="Helvetica Neue" panose="02000503000000020004" pitchFamily="2" charset="0"/>
                </a:rPr>
                <a:t>MEF WAN </a:t>
              </a:r>
            </a:p>
            <a:p>
              <a:pPr algn="ctr"/>
              <a:r>
                <a:rPr lang="en-US" sz="2400" b="1">
                  <a:latin typeface="Helvetica Neue" panose="02000503000000020004" pitchFamily="2" charset="0"/>
                  <a:ea typeface="Helvetica Neue" panose="02000503000000020004" pitchFamily="2" charset="0"/>
                  <a:cs typeface="Helvetica Neue" panose="02000503000000020004" pitchFamily="2" charset="0"/>
                </a:rPr>
                <a:t>Standards</a:t>
              </a:r>
            </a:p>
          </p:txBody>
        </p:sp>
        <p:sp>
          <p:nvSpPr>
            <p:cNvPr id="11" name="TextBox 10">
              <a:extLst>
                <a:ext uri="{FF2B5EF4-FFF2-40B4-BE49-F238E27FC236}">
                  <a16:creationId xmlns:a16="http://schemas.microsoft.com/office/drawing/2014/main" id="{9B4AF956-1AF7-8073-1D8A-FEE7B01F75D7}"/>
                </a:ext>
              </a:extLst>
            </p:cNvPr>
            <p:cNvSpPr txBox="1"/>
            <p:nvPr/>
          </p:nvSpPr>
          <p:spPr>
            <a:xfrm>
              <a:off x="3648739" y="191184"/>
              <a:ext cx="1465525" cy="463168"/>
            </a:xfrm>
            <a:prstGeom prst="rect">
              <a:avLst/>
            </a:prstGeom>
            <a:noFill/>
          </p:spPr>
          <p:txBody>
            <a:bodyPr wrap="none" rtlCol="0">
              <a:spAutoFit/>
            </a:bodyPr>
            <a:lstStyle/>
            <a:p>
              <a:pPr algn="ctr"/>
              <a:r>
                <a:rPr lang="en-US" sz="2400" b="1">
                  <a:latin typeface="Helvetica Neue" panose="02000503000000020004" pitchFamily="2" charset="0"/>
                  <a:ea typeface="Helvetica Neue" panose="02000503000000020004" pitchFamily="2" charset="0"/>
                  <a:cs typeface="Helvetica Neue" panose="02000503000000020004" pitchFamily="2" charset="0"/>
                </a:rPr>
                <a:t>IEEE 802.3 LAN</a:t>
              </a:r>
            </a:p>
            <a:p>
              <a:pPr algn="ctr"/>
              <a:r>
                <a:rPr lang="en-US" sz="2400" b="1">
                  <a:latin typeface="Helvetica Neue" panose="02000503000000020004" pitchFamily="2" charset="0"/>
                  <a:ea typeface="Helvetica Neue" panose="02000503000000020004" pitchFamily="2" charset="0"/>
                  <a:cs typeface="Helvetica Neue" panose="02000503000000020004" pitchFamily="2" charset="0"/>
                </a:rPr>
                <a:t>Standards</a:t>
              </a:r>
            </a:p>
          </p:txBody>
        </p:sp>
        <p:pic>
          <p:nvPicPr>
            <p:cNvPr id="12" name="Picture 11" descr="Diagram&#10;&#10;Description automatically generated">
              <a:extLst>
                <a:ext uri="{FF2B5EF4-FFF2-40B4-BE49-F238E27FC236}">
                  <a16:creationId xmlns:a16="http://schemas.microsoft.com/office/drawing/2014/main" id="{F091C6C8-691D-27F3-641E-DEFF8F950F26}"/>
                </a:ext>
              </a:extLst>
            </p:cNvPr>
            <p:cNvPicPr>
              <a:picLocks noChangeAspect="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914400" y="2827161"/>
              <a:ext cx="1143000" cy="811390"/>
            </a:xfrm>
            <a:prstGeom prst="rect">
              <a:avLst/>
            </a:prstGeom>
          </p:spPr>
        </p:pic>
        <p:grpSp>
          <p:nvGrpSpPr>
            <p:cNvPr id="13" name="Group 12">
              <a:extLst>
                <a:ext uri="{FF2B5EF4-FFF2-40B4-BE49-F238E27FC236}">
                  <a16:creationId xmlns:a16="http://schemas.microsoft.com/office/drawing/2014/main" id="{22C67AF2-69C7-31C1-B2DB-D92716B5E32F}"/>
                </a:ext>
              </a:extLst>
            </p:cNvPr>
            <p:cNvGrpSpPr/>
            <p:nvPr/>
          </p:nvGrpSpPr>
          <p:grpSpPr>
            <a:xfrm>
              <a:off x="3124200" y="2724150"/>
              <a:ext cx="2133600" cy="1230869"/>
              <a:chOff x="3124200" y="2724150"/>
              <a:chExt cx="2133600" cy="1230869"/>
            </a:xfrm>
          </p:grpSpPr>
          <p:sp>
            <p:nvSpPr>
              <p:cNvPr id="14" name="Rounded Rectangle 13">
                <a:extLst>
                  <a:ext uri="{FF2B5EF4-FFF2-40B4-BE49-F238E27FC236}">
                    <a16:creationId xmlns:a16="http://schemas.microsoft.com/office/drawing/2014/main" id="{0C0F4C92-B66B-9516-CF61-9EA186852134}"/>
                  </a:ext>
                </a:extLst>
              </p:cNvPr>
              <p:cNvSpPr/>
              <p:nvPr/>
            </p:nvSpPr>
            <p:spPr>
              <a:xfrm>
                <a:off x="3124200" y="2724150"/>
                <a:ext cx="2133600" cy="1230869"/>
              </a:xfrm>
              <a:prstGeom prst="roundRect">
                <a:avLst/>
              </a:prstGeom>
              <a:solidFill>
                <a:schemeClr val="accent1">
                  <a:lumMod val="40000"/>
                  <a:lumOff val="60000"/>
                </a:schemeClr>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5" name="Picture 14" descr="Diagram&#10;&#10;Description automatically generated">
                <a:extLst>
                  <a:ext uri="{FF2B5EF4-FFF2-40B4-BE49-F238E27FC236}">
                    <a16:creationId xmlns:a16="http://schemas.microsoft.com/office/drawing/2014/main" id="{3E50CFDF-C896-599B-A902-33EC85835F72}"/>
                  </a:ext>
                </a:extLst>
              </p:cNvPr>
              <p:cNvPicPr>
                <a:picLocks noChangeAspect="1"/>
              </p:cNvPicPr>
              <p:nvPr/>
            </p:nvPicPr>
            <p:blipFill rotWithShape="1">
              <a:blip r:embed="rId3">
                <a:clrChange>
                  <a:clrFrom>
                    <a:srgbClr val="FEFEFE"/>
                  </a:clrFrom>
                  <a:clrTo>
                    <a:srgbClr val="FEFEFE">
                      <a:alpha val="0"/>
                    </a:srgbClr>
                  </a:clrTo>
                </a:clrChange>
                <a:extLst>
                  <a:ext uri="{28A0092B-C50C-407E-A947-70E740481C1C}">
                    <a14:useLocalDpi xmlns:a14="http://schemas.microsoft.com/office/drawing/2010/main"/>
                  </a:ext>
                </a:extLst>
              </a:blip>
              <a:srcRect/>
              <a:stretch/>
            </p:blipFill>
            <p:spPr>
              <a:xfrm>
                <a:off x="3340522" y="3401698"/>
                <a:ext cx="523437" cy="245105"/>
              </a:xfrm>
              <a:prstGeom prst="rect">
                <a:avLst/>
              </a:prstGeom>
            </p:spPr>
          </p:pic>
          <p:pic>
            <p:nvPicPr>
              <p:cNvPr id="16" name="Picture 15" descr="Diagram&#10;&#10;Description automatically generated">
                <a:extLst>
                  <a:ext uri="{FF2B5EF4-FFF2-40B4-BE49-F238E27FC236}">
                    <a16:creationId xmlns:a16="http://schemas.microsoft.com/office/drawing/2014/main" id="{5A342FB2-BA13-92E8-AB54-ABD96F557691}"/>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3828790" y="2923038"/>
                <a:ext cx="552710" cy="170444"/>
              </a:xfrm>
              <a:prstGeom prst="rect">
                <a:avLst/>
              </a:prstGeom>
            </p:spPr>
          </p:pic>
          <p:pic>
            <p:nvPicPr>
              <p:cNvPr id="17" name="Picture 16" descr="Diagram&#10;&#10;Description automatically generated">
                <a:extLst>
                  <a:ext uri="{FF2B5EF4-FFF2-40B4-BE49-F238E27FC236}">
                    <a16:creationId xmlns:a16="http://schemas.microsoft.com/office/drawing/2014/main" id="{B6ABD508-4BB0-E9A9-973B-89764ADF4E82}"/>
                  </a:ext>
                </a:extLst>
              </p:cNvPr>
              <p:cNvPicPr>
                <a:picLocks noChangeAspect="1"/>
              </p:cNvPicPr>
              <p:nvPr/>
            </p:nvPicPr>
            <p:blipFill rotWithShape="1">
              <a:blip r:embed="rId3">
                <a:clrChange>
                  <a:clrFrom>
                    <a:srgbClr val="FEFEFE"/>
                  </a:clrFrom>
                  <a:clrTo>
                    <a:srgbClr val="FEFEFE">
                      <a:alpha val="0"/>
                    </a:srgbClr>
                  </a:clrTo>
                </a:clrChange>
                <a:extLst>
                  <a:ext uri="{28A0092B-C50C-407E-A947-70E740481C1C}">
                    <a14:useLocalDpi xmlns:a14="http://schemas.microsoft.com/office/drawing/2010/main"/>
                  </a:ext>
                </a:extLst>
              </a:blip>
              <a:srcRect/>
              <a:stretch/>
            </p:blipFill>
            <p:spPr>
              <a:xfrm>
                <a:off x="3929281" y="3401698"/>
                <a:ext cx="523437" cy="245105"/>
              </a:xfrm>
              <a:prstGeom prst="rect">
                <a:avLst/>
              </a:prstGeom>
            </p:spPr>
          </p:pic>
          <p:pic>
            <p:nvPicPr>
              <p:cNvPr id="18" name="Picture 17" descr="Diagram&#10;&#10;Description automatically generated">
                <a:extLst>
                  <a:ext uri="{FF2B5EF4-FFF2-40B4-BE49-F238E27FC236}">
                    <a16:creationId xmlns:a16="http://schemas.microsoft.com/office/drawing/2014/main" id="{8E888EDC-D6DA-78C2-9153-4C3934743B46}"/>
                  </a:ext>
                </a:extLst>
              </p:cNvPr>
              <p:cNvPicPr>
                <a:picLocks noChangeAspect="1"/>
              </p:cNvPicPr>
              <p:nvPr/>
            </p:nvPicPr>
            <p:blipFill rotWithShape="1">
              <a:blip r:embed="rId3">
                <a:clrChange>
                  <a:clrFrom>
                    <a:srgbClr val="FEFEFE"/>
                  </a:clrFrom>
                  <a:clrTo>
                    <a:srgbClr val="FEFEFE">
                      <a:alpha val="0"/>
                    </a:srgbClr>
                  </a:clrTo>
                </a:clrChange>
                <a:extLst>
                  <a:ext uri="{28A0092B-C50C-407E-A947-70E740481C1C}">
                    <a14:useLocalDpi xmlns:a14="http://schemas.microsoft.com/office/drawing/2010/main"/>
                  </a:ext>
                </a:extLst>
              </a:blip>
              <a:srcRect/>
              <a:stretch/>
            </p:blipFill>
            <p:spPr>
              <a:xfrm>
                <a:off x="4493133" y="3393446"/>
                <a:ext cx="523437" cy="245105"/>
              </a:xfrm>
              <a:prstGeom prst="rect">
                <a:avLst/>
              </a:prstGeom>
            </p:spPr>
          </p:pic>
          <p:cxnSp>
            <p:nvCxnSpPr>
              <p:cNvPr id="19" name="Straight Connector 18">
                <a:extLst>
                  <a:ext uri="{FF2B5EF4-FFF2-40B4-BE49-F238E27FC236}">
                    <a16:creationId xmlns:a16="http://schemas.microsoft.com/office/drawing/2014/main" id="{B2B15FB6-F2E6-AE52-A84B-DD0AC6D8C18E}"/>
                  </a:ext>
                </a:extLst>
              </p:cNvPr>
              <p:cNvCxnSpPr>
                <a:cxnSpLocks/>
              </p:cNvCxnSpPr>
              <p:nvPr/>
            </p:nvCxnSpPr>
            <p:spPr>
              <a:xfrm flipV="1">
                <a:off x="3670071" y="3008260"/>
                <a:ext cx="226549" cy="393438"/>
              </a:xfrm>
              <a:prstGeom prst="line">
                <a:avLst/>
              </a:prstGeom>
              <a:ln w="57150" cap="sq">
                <a:solidFill>
                  <a:schemeClr val="tx1"/>
                </a:solidFill>
              </a:ln>
            </p:spPr>
            <p:style>
              <a:lnRef idx="1">
                <a:schemeClr val="accent1"/>
              </a:lnRef>
              <a:fillRef idx="1">
                <a:schemeClr val="accent1"/>
              </a:fillRef>
              <a:effectRef idx="0">
                <a:schemeClr val="accent1"/>
              </a:effectRef>
              <a:fontRef idx="minor">
                <a:schemeClr val="lt1"/>
              </a:fontRef>
            </p:style>
          </p:cxnSp>
          <p:cxnSp>
            <p:nvCxnSpPr>
              <p:cNvPr id="20" name="Straight Connector 19">
                <a:extLst>
                  <a:ext uri="{FF2B5EF4-FFF2-40B4-BE49-F238E27FC236}">
                    <a16:creationId xmlns:a16="http://schemas.microsoft.com/office/drawing/2014/main" id="{0261A031-2487-0D8E-E50A-EA8FE156CDA4}"/>
                  </a:ext>
                </a:extLst>
              </p:cNvPr>
              <p:cNvCxnSpPr>
                <a:cxnSpLocks/>
                <a:stCxn id="17" idx="0"/>
              </p:cNvCxnSpPr>
              <p:nvPr/>
            </p:nvCxnSpPr>
            <p:spPr>
              <a:xfrm flipH="1" flipV="1">
                <a:off x="3993124" y="3050872"/>
                <a:ext cx="197876" cy="350826"/>
              </a:xfrm>
              <a:prstGeom prst="line">
                <a:avLst/>
              </a:prstGeom>
              <a:ln w="57150" cap="sq">
                <a:solidFill>
                  <a:schemeClr val="tx1"/>
                </a:solidFill>
              </a:ln>
            </p:spPr>
            <p:style>
              <a:lnRef idx="1">
                <a:schemeClr val="accent1"/>
              </a:lnRef>
              <a:fillRef idx="1">
                <a:schemeClr val="accent1"/>
              </a:fillRef>
              <a:effectRef idx="0">
                <a:schemeClr val="accent1"/>
              </a:effectRef>
              <a:fontRef idx="minor">
                <a:schemeClr val="lt1"/>
              </a:fontRef>
            </p:style>
          </p:cxnSp>
          <p:cxnSp>
            <p:nvCxnSpPr>
              <p:cNvPr id="21" name="Straight Connector 20">
                <a:extLst>
                  <a:ext uri="{FF2B5EF4-FFF2-40B4-BE49-F238E27FC236}">
                    <a16:creationId xmlns:a16="http://schemas.microsoft.com/office/drawing/2014/main" id="{DD6DAC63-9275-5599-8E20-EEF426189BCA}"/>
                  </a:ext>
                </a:extLst>
              </p:cNvPr>
              <p:cNvCxnSpPr>
                <a:cxnSpLocks/>
              </p:cNvCxnSpPr>
              <p:nvPr/>
            </p:nvCxnSpPr>
            <p:spPr>
              <a:xfrm flipH="1" flipV="1">
                <a:off x="4152966" y="3050872"/>
                <a:ext cx="495234" cy="342574"/>
              </a:xfrm>
              <a:prstGeom prst="line">
                <a:avLst/>
              </a:prstGeom>
              <a:ln w="57150" cap="sq">
                <a:solidFill>
                  <a:schemeClr val="tx1"/>
                </a:solidFill>
              </a:ln>
            </p:spPr>
            <p:style>
              <a:lnRef idx="1">
                <a:schemeClr val="accent1"/>
              </a:lnRef>
              <a:fillRef idx="1">
                <a:schemeClr val="accent1"/>
              </a:fillRef>
              <a:effectRef idx="0">
                <a:schemeClr val="accent1"/>
              </a:effectRef>
              <a:fontRef idx="minor">
                <a:schemeClr val="lt1"/>
              </a:fontRef>
            </p:style>
          </p:cxnSp>
          <p:sp>
            <p:nvSpPr>
              <p:cNvPr id="22" name="TextBox 21">
                <a:extLst>
                  <a:ext uri="{FF2B5EF4-FFF2-40B4-BE49-F238E27FC236}">
                    <a16:creationId xmlns:a16="http://schemas.microsoft.com/office/drawing/2014/main" id="{ABDA2072-0A42-DB73-5E5D-20DF5A27069D}"/>
                  </a:ext>
                </a:extLst>
              </p:cNvPr>
              <p:cNvSpPr txBox="1"/>
              <p:nvPr/>
            </p:nvSpPr>
            <p:spPr>
              <a:xfrm>
                <a:off x="4507523" y="2848456"/>
                <a:ext cx="412107" cy="223007"/>
              </a:xfrm>
              <a:prstGeom prst="rect">
                <a:avLst/>
              </a:prstGeom>
              <a:noFill/>
            </p:spPr>
            <p:txBody>
              <a:bodyPr wrap="none" rtlCol="0">
                <a:spAutoFit/>
              </a:bodyPr>
              <a:lstStyle/>
              <a:p>
                <a:r>
                  <a:rPr lang="en-US" sz="2000" b="1">
                    <a:latin typeface="Helvetica Neue" panose="02000503000000020004" pitchFamily="2" charset="0"/>
                    <a:ea typeface="Helvetica Neue" panose="02000503000000020004" pitchFamily="2" charset="0"/>
                    <a:cs typeface="Helvetica Neue" panose="02000503000000020004" pitchFamily="2" charset="0"/>
                  </a:rPr>
                  <a:t>Hub</a:t>
                </a:r>
              </a:p>
            </p:txBody>
          </p:sp>
        </p:grpSp>
        <p:grpSp>
          <p:nvGrpSpPr>
            <p:cNvPr id="23" name="Group 22">
              <a:extLst>
                <a:ext uri="{FF2B5EF4-FFF2-40B4-BE49-F238E27FC236}">
                  <a16:creationId xmlns:a16="http://schemas.microsoft.com/office/drawing/2014/main" id="{247C52A5-FFA9-FE3E-B32D-A9D691103B17}"/>
                </a:ext>
              </a:extLst>
            </p:cNvPr>
            <p:cNvGrpSpPr/>
            <p:nvPr/>
          </p:nvGrpSpPr>
          <p:grpSpPr>
            <a:xfrm>
              <a:off x="6019800" y="2724150"/>
              <a:ext cx="2133600" cy="1230869"/>
              <a:chOff x="5943600" y="2724150"/>
              <a:chExt cx="2133600" cy="1230869"/>
            </a:xfrm>
          </p:grpSpPr>
          <p:sp>
            <p:nvSpPr>
              <p:cNvPr id="24" name="Rounded Rectangle 23">
                <a:extLst>
                  <a:ext uri="{FF2B5EF4-FFF2-40B4-BE49-F238E27FC236}">
                    <a16:creationId xmlns:a16="http://schemas.microsoft.com/office/drawing/2014/main" id="{D3C3197E-93FF-AD65-A09F-2DE3EB32CC04}"/>
                  </a:ext>
                </a:extLst>
              </p:cNvPr>
              <p:cNvSpPr/>
              <p:nvPr/>
            </p:nvSpPr>
            <p:spPr>
              <a:xfrm>
                <a:off x="5943600" y="2724150"/>
                <a:ext cx="2133600" cy="1230869"/>
              </a:xfrm>
              <a:prstGeom prst="roundRect">
                <a:avLst/>
              </a:prstGeom>
              <a:solidFill>
                <a:schemeClr val="accent1">
                  <a:lumMod val="40000"/>
                  <a:lumOff val="60000"/>
                </a:schemeClr>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25" name="Picture 24" descr="Diagram&#10;&#10;Description automatically generated">
                <a:extLst>
                  <a:ext uri="{FF2B5EF4-FFF2-40B4-BE49-F238E27FC236}">
                    <a16:creationId xmlns:a16="http://schemas.microsoft.com/office/drawing/2014/main" id="{4E7F2C2A-2FEC-397A-8F4D-43F79B58C439}"/>
                  </a:ext>
                </a:extLst>
              </p:cNvPr>
              <p:cNvPicPr>
                <a:picLocks noChangeAspect="1"/>
              </p:cNvPicPr>
              <p:nvPr/>
            </p:nvPicPr>
            <p:blipFill rotWithShape="1">
              <a:blip r:embed="rId3">
                <a:clrChange>
                  <a:clrFrom>
                    <a:srgbClr val="FEFEFE"/>
                  </a:clrFrom>
                  <a:clrTo>
                    <a:srgbClr val="FEFEFE">
                      <a:alpha val="0"/>
                    </a:srgbClr>
                  </a:clrTo>
                </a:clrChange>
                <a:extLst>
                  <a:ext uri="{28A0092B-C50C-407E-A947-70E740481C1C}">
                    <a14:useLocalDpi xmlns:a14="http://schemas.microsoft.com/office/drawing/2010/main"/>
                  </a:ext>
                </a:extLst>
              </a:blip>
              <a:srcRect/>
              <a:stretch/>
            </p:blipFill>
            <p:spPr>
              <a:xfrm>
                <a:off x="6159922" y="3401698"/>
                <a:ext cx="523437" cy="245105"/>
              </a:xfrm>
              <a:prstGeom prst="rect">
                <a:avLst/>
              </a:prstGeom>
            </p:spPr>
          </p:pic>
          <p:pic>
            <p:nvPicPr>
              <p:cNvPr id="26" name="Picture 25" descr="Diagram&#10;&#10;Description automatically generated">
                <a:extLst>
                  <a:ext uri="{FF2B5EF4-FFF2-40B4-BE49-F238E27FC236}">
                    <a16:creationId xmlns:a16="http://schemas.microsoft.com/office/drawing/2014/main" id="{5FCBCCFA-59E7-390E-2369-2649E0FAC38A}"/>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6648190" y="2923038"/>
                <a:ext cx="552710" cy="170444"/>
              </a:xfrm>
              <a:prstGeom prst="rect">
                <a:avLst/>
              </a:prstGeom>
            </p:spPr>
          </p:pic>
          <p:pic>
            <p:nvPicPr>
              <p:cNvPr id="27" name="Picture 26" descr="Diagram&#10;&#10;Description automatically generated">
                <a:extLst>
                  <a:ext uri="{FF2B5EF4-FFF2-40B4-BE49-F238E27FC236}">
                    <a16:creationId xmlns:a16="http://schemas.microsoft.com/office/drawing/2014/main" id="{1E0DB6EA-0D3A-299D-181B-5F02B1FDA93F}"/>
                  </a:ext>
                </a:extLst>
              </p:cNvPr>
              <p:cNvPicPr>
                <a:picLocks noChangeAspect="1"/>
              </p:cNvPicPr>
              <p:nvPr/>
            </p:nvPicPr>
            <p:blipFill rotWithShape="1">
              <a:blip r:embed="rId3">
                <a:clrChange>
                  <a:clrFrom>
                    <a:srgbClr val="FEFEFE"/>
                  </a:clrFrom>
                  <a:clrTo>
                    <a:srgbClr val="FEFEFE">
                      <a:alpha val="0"/>
                    </a:srgbClr>
                  </a:clrTo>
                </a:clrChange>
                <a:extLst>
                  <a:ext uri="{28A0092B-C50C-407E-A947-70E740481C1C}">
                    <a14:useLocalDpi xmlns:a14="http://schemas.microsoft.com/office/drawing/2010/main"/>
                  </a:ext>
                </a:extLst>
              </a:blip>
              <a:srcRect/>
              <a:stretch/>
            </p:blipFill>
            <p:spPr>
              <a:xfrm>
                <a:off x="6748681" y="3401698"/>
                <a:ext cx="523437" cy="245105"/>
              </a:xfrm>
              <a:prstGeom prst="rect">
                <a:avLst/>
              </a:prstGeom>
            </p:spPr>
          </p:pic>
          <p:pic>
            <p:nvPicPr>
              <p:cNvPr id="28" name="Picture 27" descr="Diagram&#10;&#10;Description automatically generated">
                <a:extLst>
                  <a:ext uri="{FF2B5EF4-FFF2-40B4-BE49-F238E27FC236}">
                    <a16:creationId xmlns:a16="http://schemas.microsoft.com/office/drawing/2014/main" id="{C481DB5A-798E-00B7-EAD4-F476723F5A4C}"/>
                  </a:ext>
                </a:extLst>
              </p:cNvPr>
              <p:cNvPicPr>
                <a:picLocks noChangeAspect="1"/>
              </p:cNvPicPr>
              <p:nvPr/>
            </p:nvPicPr>
            <p:blipFill rotWithShape="1">
              <a:blip r:embed="rId3">
                <a:clrChange>
                  <a:clrFrom>
                    <a:srgbClr val="FEFEFE"/>
                  </a:clrFrom>
                  <a:clrTo>
                    <a:srgbClr val="FEFEFE">
                      <a:alpha val="0"/>
                    </a:srgbClr>
                  </a:clrTo>
                </a:clrChange>
                <a:extLst>
                  <a:ext uri="{28A0092B-C50C-407E-A947-70E740481C1C}">
                    <a14:useLocalDpi xmlns:a14="http://schemas.microsoft.com/office/drawing/2010/main"/>
                  </a:ext>
                </a:extLst>
              </a:blip>
              <a:srcRect/>
              <a:stretch/>
            </p:blipFill>
            <p:spPr>
              <a:xfrm>
                <a:off x="7312533" y="3393446"/>
                <a:ext cx="523437" cy="245105"/>
              </a:xfrm>
              <a:prstGeom prst="rect">
                <a:avLst/>
              </a:prstGeom>
            </p:spPr>
          </p:pic>
          <p:cxnSp>
            <p:nvCxnSpPr>
              <p:cNvPr id="29" name="Straight Connector 28">
                <a:extLst>
                  <a:ext uri="{FF2B5EF4-FFF2-40B4-BE49-F238E27FC236}">
                    <a16:creationId xmlns:a16="http://schemas.microsoft.com/office/drawing/2014/main" id="{9CA7C1A0-572B-1424-8518-4852CFD525F0}"/>
                  </a:ext>
                </a:extLst>
              </p:cNvPr>
              <p:cNvCxnSpPr>
                <a:cxnSpLocks/>
              </p:cNvCxnSpPr>
              <p:nvPr/>
            </p:nvCxnSpPr>
            <p:spPr>
              <a:xfrm flipV="1">
                <a:off x="6489471" y="3008260"/>
                <a:ext cx="226549" cy="393438"/>
              </a:xfrm>
              <a:prstGeom prst="line">
                <a:avLst/>
              </a:prstGeom>
              <a:ln w="57150" cap="sq">
                <a:solidFill>
                  <a:schemeClr val="tx1"/>
                </a:solidFill>
              </a:ln>
            </p:spPr>
            <p:style>
              <a:lnRef idx="1">
                <a:schemeClr val="accent1"/>
              </a:lnRef>
              <a:fillRef idx="1">
                <a:schemeClr val="accent1"/>
              </a:fillRef>
              <a:effectRef idx="0">
                <a:schemeClr val="accent1"/>
              </a:effectRef>
              <a:fontRef idx="minor">
                <a:schemeClr val="lt1"/>
              </a:fontRef>
            </p:style>
          </p:cxnSp>
          <p:cxnSp>
            <p:nvCxnSpPr>
              <p:cNvPr id="30" name="Straight Connector 29">
                <a:extLst>
                  <a:ext uri="{FF2B5EF4-FFF2-40B4-BE49-F238E27FC236}">
                    <a16:creationId xmlns:a16="http://schemas.microsoft.com/office/drawing/2014/main" id="{F7D3B872-238E-0FE2-1458-79211E0C82A4}"/>
                  </a:ext>
                </a:extLst>
              </p:cNvPr>
              <p:cNvCxnSpPr>
                <a:cxnSpLocks/>
                <a:stCxn id="27" idx="0"/>
              </p:cNvCxnSpPr>
              <p:nvPr/>
            </p:nvCxnSpPr>
            <p:spPr>
              <a:xfrm flipH="1" flipV="1">
                <a:off x="6812524" y="3050872"/>
                <a:ext cx="197876" cy="350826"/>
              </a:xfrm>
              <a:prstGeom prst="line">
                <a:avLst/>
              </a:prstGeom>
              <a:ln w="57150" cap="sq">
                <a:solidFill>
                  <a:schemeClr val="tx1"/>
                </a:solidFill>
              </a:ln>
            </p:spPr>
            <p:style>
              <a:lnRef idx="1">
                <a:schemeClr val="accent1"/>
              </a:lnRef>
              <a:fillRef idx="1">
                <a:schemeClr val="accent1"/>
              </a:fillRef>
              <a:effectRef idx="0">
                <a:schemeClr val="accent1"/>
              </a:effectRef>
              <a:fontRef idx="minor">
                <a:schemeClr val="lt1"/>
              </a:fontRef>
            </p:style>
          </p:cxnSp>
          <p:cxnSp>
            <p:nvCxnSpPr>
              <p:cNvPr id="31" name="Straight Connector 30">
                <a:extLst>
                  <a:ext uri="{FF2B5EF4-FFF2-40B4-BE49-F238E27FC236}">
                    <a16:creationId xmlns:a16="http://schemas.microsoft.com/office/drawing/2014/main" id="{5A129E95-2D0C-CB3F-57EA-08FCF74ED580}"/>
                  </a:ext>
                </a:extLst>
              </p:cNvPr>
              <p:cNvCxnSpPr>
                <a:cxnSpLocks/>
                <a:stCxn id="28" idx="0"/>
              </p:cNvCxnSpPr>
              <p:nvPr/>
            </p:nvCxnSpPr>
            <p:spPr>
              <a:xfrm flipH="1" flipV="1">
                <a:off x="6972366" y="3050872"/>
                <a:ext cx="601886" cy="342574"/>
              </a:xfrm>
              <a:prstGeom prst="line">
                <a:avLst/>
              </a:prstGeom>
              <a:ln w="57150" cap="sq">
                <a:solidFill>
                  <a:schemeClr val="tx1"/>
                </a:solidFill>
              </a:ln>
            </p:spPr>
            <p:style>
              <a:lnRef idx="1">
                <a:schemeClr val="accent1"/>
              </a:lnRef>
              <a:fillRef idx="1">
                <a:schemeClr val="accent1"/>
              </a:fillRef>
              <a:effectRef idx="0">
                <a:schemeClr val="accent1"/>
              </a:effectRef>
              <a:fontRef idx="minor">
                <a:schemeClr val="lt1"/>
              </a:fontRef>
            </p:style>
          </p:cxnSp>
          <p:sp>
            <p:nvSpPr>
              <p:cNvPr id="32" name="TextBox 31">
                <a:extLst>
                  <a:ext uri="{FF2B5EF4-FFF2-40B4-BE49-F238E27FC236}">
                    <a16:creationId xmlns:a16="http://schemas.microsoft.com/office/drawing/2014/main" id="{231CD862-6955-AA4A-C51F-D6F6256DC41A}"/>
                  </a:ext>
                </a:extLst>
              </p:cNvPr>
              <p:cNvSpPr txBox="1"/>
              <p:nvPr/>
            </p:nvSpPr>
            <p:spPr>
              <a:xfrm>
                <a:off x="7326923" y="2848456"/>
                <a:ext cx="610828" cy="223007"/>
              </a:xfrm>
              <a:prstGeom prst="rect">
                <a:avLst/>
              </a:prstGeom>
              <a:noFill/>
            </p:spPr>
            <p:txBody>
              <a:bodyPr wrap="none" rtlCol="0">
                <a:spAutoFit/>
              </a:bodyPr>
              <a:lstStyle/>
              <a:p>
                <a:r>
                  <a:rPr lang="en-US" sz="2000" b="1">
                    <a:latin typeface="Helvetica Neue" panose="02000503000000020004" pitchFamily="2" charset="0"/>
                    <a:ea typeface="Helvetica Neue" panose="02000503000000020004" pitchFamily="2" charset="0"/>
                    <a:cs typeface="Helvetica Neue" panose="02000503000000020004" pitchFamily="2" charset="0"/>
                  </a:rPr>
                  <a:t>Switch</a:t>
                </a:r>
              </a:p>
            </p:txBody>
          </p:sp>
        </p:grpSp>
        <p:sp>
          <p:nvSpPr>
            <p:cNvPr id="33" name="TextBox 32">
              <a:extLst>
                <a:ext uri="{FF2B5EF4-FFF2-40B4-BE49-F238E27FC236}">
                  <a16:creationId xmlns:a16="http://schemas.microsoft.com/office/drawing/2014/main" id="{400A3C1B-96E1-E58E-2F8D-4DE65E6D872F}"/>
                </a:ext>
              </a:extLst>
            </p:cNvPr>
            <p:cNvSpPr txBox="1"/>
            <p:nvPr/>
          </p:nvSpPr>
          <p:spPr>
            <a:xfrm>
              <a:off x="574431" y="2247030"/>
              <a:ext cx="1797371" cy="257315"/>
            </a:xfrm>
            <a:prstGeom prst="rect">
              <a:avLst/>
            </a:prstGeom>
            <a:noFill/>
          </p:spPr>
          <p:txBody>
            <a:bodyPr wrap="none" rtlCol="0">
              <a:spAutoFit/>
            </a:bodyPr>
            <a:lstStyle/>
            <a:p>
              <a:r>
                <a:rPr lang="en-US" sz="2400" b="1">
                  <a:latin typeface="Helvetica Neue" panose="02000503000000020004" pitchFamily="2" charset="0"/>
                  <a:ea typeface="Helvetica Neue" panose="02000503000000020004" pitchFamily="2" charset="0"/>
                  <a:cs typeface="Helvetica Neue" panose="02000503000000020004" pitchFamily="2" charset="0"/>
                </a:rPr>
                <a:t>1973 to early 1980s</a:t>
              </a:r>
            </a:p>
          </p:txBody>
        </p:sp>
        <p:sp>
          <p:nvSpPr>
            <p:cNvPr id="34" name="TextBox 33">
              <a:extLst>
                <a:ext uri="{FF2B5EF4-FFF2-40B4-BE49-F238E27FC236}">
                  <a16:creationId xmlns:a16="http://schemas.microsoft.com/office/drawing/2014/main" id="{103EA6AD-307B-F2FF-B327-D925D3CD13A4}"/>
                </a:ext>
              </a:extLst>
            </p:cNvPr>
            <p:cNvSpPr txBox="1"/>
            <p:nvPr/>
          </p:nvSpPr>
          <p:spPr>
            <a:xfrm>
              <a:off x="3788092" y="2247030"/>
              <a:ext cx="623369" cy="257315"/>
            </a:xfrm>
            <a:prstGeom prst="rect">
              <a:avLst/>
            </a:prstGeom>
            <a:noFill/>
          </p:spPr>
          <p:txBody>
            <a:bodyPr wrap="none" rtlCol="0">
              <a:spAutoFit/>
            </a:bodyPr>
            <a:lstStyle/>
            <a:p>
              <a:r>
                <a:rPr lang="en-US" sz="2400" b="1">
                  <a:latin typeface="Helvetica Neue" panose="02000503000000020004" pitchFamily="2" charset="0"/>
                  <a:ea typeface="Helvetica Neue" panose="02000503000000020004" pitchFamily="2" charset="0"/>
                  <a:cs typeface="Helvetica Neue" panose="02000503000000020004" pitchFamily="2" charset="0"/>
                </a:rPr>
                <a:t>1980s</a:t>
              </a:r>
            </a:p>
          </p:txBody>
        </p:sp>
        <p:sp>
          <p:nvSpPr>
            <p:cNvPr id="35" name="TextBox 34">
              <a:extLst>
                <a:ext uri="{FF2B5EF4-FFF2-40B4-BE49-F238E27FC236}">
                  <a16:creationId xmlns:a16="http://schemas.microsoft.com/office/drawing/2014/main" id="{E0E83B91-7628-E7A6-3DC0-102D102866A5}"/>
                </a:ext>
              </a:extLst>
            </p:cNvPr>
            <p:cNvSpPr txBox="1"/>
            <p:nvPr/>
          </p:nvSpPr>
          <p:spPr>
            <a:xfrm>
              <a:off x="6129216" y="2247030"/>
              <a:ext cx="1939718" cy="257315"/>
            </a:xfrm>
            <a:prstGeom prst="rect">
              <a:avLst/>
            </a:prstGeom>
            <a:noFill/>
          </p:spPr>
          <p:txBody>
            <a:bodyPr wrap="none" rtlCol="0">
              <a:spAutoFit/>
            </a:bodyPr>
            <a:lstStyle/>
            <a:p>
              <a:r>
                <a:rPr lang="en-US" sz="2400" b="1">
                  <a:latin typeface="Helvetica Neue" panose="02000503000000020004" pitchFamily="2" charset="0"/>
                  <a:ea typeface="Helvetica Neue" panose="02000503000000020004" pitchFamily="2" charset="0"/>
                  <a:cs typeface="Helvetica Neue" panose="02000503000000020004" pitchFamily="2" charset="0"/>
                </a:rPr>
                <a:t>1990s to present day</a:t>
              </a:r>
            </a:p>
          </p:txBody>
        </p:sp>
      </p:grpSp>
    </p:spTree>
    <p:extLst>
      <p:ext uri="{BB962C8B-B14F-4D97-AF65-F5344CB8AC3E}">
        <p14:creationId xmlns:p14="http://schemas.microsoft.com/office/powerpoint/2010/main" val="9952809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E95C1-D990-2D20-6207-392F61C9C00F}"/>
              </a:ext>
            </a:extLst>
          </p:cNvPr>
          <p:cNvSpPr>
            <a:spLocks noGrp="1"/>
          </p:cNvSpPr>
          <p:nvPr>
            <p:ph type="title"/>
          </p:nvPr>
        </p:nvSpPr>
        <p:spPr/>
        <p:txBody>
          <a:bodyPr/>
          <a:lstStyle/>
          <a:p>
            <a:r>
              <a:rPr lang="en-US"/>
              <a:t>Some Popular Ethernet Physical Layers</a:t>
            </a:r>
          </a:p>
        </p:txBody>
      </p:sp>
      <p:graphicFrame>
        <p:nvGraphicFramePr>
          <p:cNvPr id="4" name="Group 2">
            <a:extLst>
              <a:ext uri="{FF2B5EF4-FFF2-40B4-BE49-F238E27FC236}">
                <a16:creationId xmlns:a16="http://schemas.microsoft.com/office/drawing/2014/main" id="{ACEA1A13-B600-6D12-B612-233406A9BACF}"/>
              </a:ext>
            </a:extLst>
          </p:cNvPr>
          <p:cNvGraphicFramePr>
            <a:graphicFrameLocks noGrp="1"/>
          </p:cNvGraphicFramePr>
          <p:nvPr>
            <p:extLst>
              <p:ext uri="{D42A27DB-BD31-4B8C-83A1-F6EECF244321}">
                <p14:modId xmlns:p14="http://schemas.microsoft.com/office/powerpoint/2010/main" val="2353105982"/>
              </p:ext>
            </p:extLst>
          </p:nvPr>
        </p:nvGraphicFramePr>
        <p:xfrm>
          <a:off x="3015205" y="2555353"/>
          <a:ext cx="11904562" cy="6496049"/>
        </p:xfrm>
        <a:graphic>
          <a:graphicData uri="http://schemas.openxmlformats.org/drawingml/2006/table">
            <a:tbl>
              <a:tblPr/>
              <a:tblGrid>
                <a:gridCol w="3649519">
                  <a:extLst>
                    <a:ext uri="{9D8B030D-6E8A-4147-A177-3AD203B41FA5}">
                      <a16:colId xmlns:a16="http://schemas.microsoft.com/office/drawing/2014/main" val="20000"/>
                    </a:ext>
                  </a:extLst>
                </a:gridCol>
                <a:gridCol w="3459836">
                  <a:extLst>
                    <a:ext uri="{9D8B030D-6E8A-4147-A177-3AD203B41FA5}">
                      <a16:colId xmlns:a16="http://schemas.microsoft.com/office/drawing/2014/main" val="20001"/>
                    </a:ext>
                  </a:extLst>
                </a:gridCol>
                <a:gridCol w="4795207">
                  <a:extLst>
                    <a:ext uri="{9D8B030D-6E8A-4147-A177-3AD203B41FA5}">
                      <a16:colId xmlns:a16="http://schemas.microsoft.com/office/drawing/2014/main" val="20002"/>
                    </a:ext>
                  </a:extLst>
                </a:gridCol>
              </a:tblGrid>
              <a:tr h="121690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bg2"/>
                          </a:solidFill>
                          <a:effectLst/>
                          <a:latin typeface="Helvetica Neue" panose="02000503000000020004" pitchFamily="2" charset="0"/>
                          <a:ea typeface="Helvetica Neue" panose="02000503000000020004" pitchFamily="2" charset="0"/>
                          <a:cs typeface="Helvetica Neue" panose="02000503000000020004" pitchFamily="2" charset="0"/>
                        </a:rPr>
                        <a:t>Standard</a:t>
                      </a:r>
                      <a:endParaRPr kumimoji="0" lang="en-US" sz="2800" b="0" i="0" u="none" strike="noStrike" cap="none" normalizeH="0" baseline="0">
                        <a:ln>
                          <a:noFill/>
                        </a:ln>
                        <a:solidFill>
                          <a:schemeClr val="bg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85000"/>
                        <a:lumOff val="1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bg2"/>
                          </a:solidFill>
                          <a:effectLst/>
                          <a:latin typeface="Helvetica Neue" panose="02000503000000020004" pitchFamily="2" charset="0"/>
                          <a:ea typeface="Helvetica Neue" panose="02000503000000020004" pitchFamily="2" charset="0"/>
                          <a:cs typeface="Helvetica Neue" panose="02000503000000020004" pitchFamily="2" charset="0"/>
                        </a:rPr>
                        <a:t>Length</a:t>
                      </a:r>
                      <a:endParaRPr kumimoji="0" lang="en-US" sz="2800" b="0" i="0" u="none" strike="noStrike" cap="none" normalizeH="0" baseline="0">
                        <a:ln>
                          <a:noFill/>
                        </a:ln>
                        <a:solidFill>
                          <a:schemeClr val="bg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85000"/>
                        <a:lumOff val="1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bg2"/>
                          </a:solidFill>
                          <a:effectLst/>
                          <a:latin typeface="Helvetica Neue" panose="02000503000000020004" pitchFamily="2" charset="0"/>
                          <a:ea typeface="Helvetica Neue" panose="02000503000000020004" pitchFamily="2" charset="0"/>
                          <a:cs typeface="Helvetica Neue" panose="02000503000000020004" pitchFamily="2" charset="0"/>
                        </a:rPr>
                        <a:t>Cable</a:t>
                      </a:r>
                      <a:endParaRPr kumimoji="0" lang="en-US" sz="2800" b="0" i="0" u="none" strike="noStrike" cap="none" normalizeH="0" baseline="0">
                        <a:ln>
                          <a:noFill/>
                        </a:ln>
                        <a:solidFill>
                          <a:schemeClr val="bg2"/>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85000"/>
                        <a:lumOff val="15000"/>
                      </a:schemeClr>
                    </a:solidFill>
                  </a:tcPr>
                </a:tc>
                <a:extLst>
                  <a:ext uri="{0D108BD9-81ED-4DB2-BD59-A6C34878D82A}">
                    <a16:rowId xmlns:a16="http://schemas.microsoft.com/office/drawing/2014/main" val="10000"/>
                  </a:ext>
                </a:extLst>
              </a:tr>
              <a:tr h="105535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10BASE-T</a:t>
                      </a:r>
                      <a:endParaRPr kumimoji="0" lang="en-US" sz="2800" b="0" i="0" u="none" strike="noStrike" cap="none" normalizeH="0" baseline="0" dirty="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8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100 m</a:t>
                      </a:r>
                      <a:endParaRPr kumimoji="0" lang="en-US" sz="2800" b="0"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8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Cat 3, 4, 5 UTP</a:t>
                      </a:r>
                      <a:endParaRPr kumimoji="0" lang="en-US" sz="2800" b="0"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85000"/>
                      </a:schemeClr>
                    </a:solidFill>
                  </a:tcPr>
                </a:tc>
                <a:extLst>
                  <a:ext uri="{0D108BD9-81ED-4DB2-BD59-A6C34878D82A}">
                    <a16:rowId xmlns:a16="http://schemas.microsoft.com/office/drawing/2014/main" val="10001"/>
                  </a:ext>
                </a:extLst>
              </a:tr>
              <a:tr h="105773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100BASE-TX</a:t>
                      </a:r>
                      <a:endParaRPr kumimoji="0" lang="en-US" sz="2800" b="0"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8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100 m</a:t>
                      </a:r>
                      <a:endParaRPr kumimoji="0" lang="en-US" sz="2800" b="0"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8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Cat 5 UTP</a:t>
                      </a:r>
                      <a:endParaRPr kumimoji="0" lang="en-US" sz="2800" b="0"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85000"/>
                      </a:schemeClr>
                    </a:solidFill>
                  </a:tcPr>
                </a:tc>
                <a:extLst>
                  <a:ext uri="{0D108BD9-81ED-4DB2-BD59-A6C34878D82A}">
                    <a16:rowId xmlns:a16="http://schemas.microsoft.com/office/drawing/2014/main" val="10002"/>
                  </a:ext>
                </a:extLst>
              </a:tr>
              <a:tr h="105535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1000BASE-SX</a:t>
                      </a:r>
                      <a:endParaRPr kumimoji="0" lang="en-US" sz="2800" b="0"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8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2000 m</a:t>
                      </a:r>
                      <a:endParaRPr kumimoji="0" lang="en-US" sz="2800" b="0"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8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MMF</a:t>
                      </a:r>
                      <a:endParaRPr kumimoji="0" lang="en-US" sz="2800" b="0"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85000"/>
                      </a:schemeClr>
                    </a:solidFill>
                  </a:tcPr>
                </a:tc>
                <a:extLst>
                  <a:ext uri="{0D108BD9-81ED-4DB2-BD59-A6C34878D82A}">
                    <a16:rowId xmlns:a16="http://schemas.microsoft.com/office/drawing/2014/main" val="10003"/>
                  </a:ext>
                </a:extLst>
              </a:tr>
              <a:tr h="105535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1000BASE-LX</a:t>
                      </a:r>
                      <a:endParaRPr kumimoji="0" lang="en-US" sz="2800" b="0"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8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3000 m</a:t>
                      </a:r>
                      <a:endParaRPr kumimoji="0" lang="en-US" sz="2800" b="0"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8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SMF</a:t>
                      </a:r>
                      <a:endParaRPr kumimoji="0" lang="en-US" sz="2800" b="0"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85000"/>
                      </a:schemeClr>
                    </a:solidFill>
                  </a:tcPr>
                </a:tc>
                <a:extLst>
                  <a:ext uri="{0D108BD9-81ED-4DB2-BD59-A6C34878D82A}">
                    <a16:rowId xmlns:a16="http://schemas.microsoft.com/office/drawing/2014/main" val="10004"/>
                  </a:ext>
                </a:extLst>
              </a:tr>
              <a:tr h="105535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1000BASE-T</a:t>
                      </a:r>
                      <a:endParaRPr kumimoji="0" lang="en-US" sz="2800" b="0"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8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100 m</a:t>
                      </a:r>
                      <a:endParaRPr kumimoji="0" lang="en-US" sz="2800" b="0" i="0" u="none" strike="noStrike" cap="none" normalizeH="0" baseline="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8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Cat 5e, 6, 7 UTP</a:t>
                      </a:r>
                      <a:endParaRPr kumimoji="0" lang="en-US" sz="2800" b="0" i="0" u="none" strike="noStrike" cap="none" normalizeH="0" baseline="0" dirty="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216" marR="82216" marT="41108" marB="411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85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135939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3AC18-EDED-9C39-8B32-F35C197CBE15}"/>
              </a:ext>
            </a:extLst>
          </p:cNvPr>
          <p:cNvSpPr>
            <a:spLocks noGrp="1"/>
          </p:cNvSpPr>
          <p:nvPr>
            <p:ph type="title"/>
          </p:nvPr>
        </p:nvSpPr>
        <p:spPr/>
        <p:txBody>
          <a:bodyPr/>
          <a:lstStyle/>
          <a:p>
            <a:r>
              <a:rPr lang="en-US"/>
              <a:t>Typical Ethernet LAN</a:t>
            </a:r>
          </a:p>
        </p:txBody>
      </p:sp>
      <p:sp>
        <p:nvSpPr>
          <p:cNvPr id="3" name="Content Placeholder 2">
            <a:extLst>
              <a:ext uri="{FF2B5EF4-FFF2-40B4-BE49-F238E27FC236}">
                <a16:creationId xmlns:a16="http://schemas.microsoft.com/office/drawing/2014/main" id="{D92CACCC-CE1D-B1D3-6BAC-C3749D19DA82}"/>
              </a:ext>
            </a:extLst>
          </p:cNvPr>
          <p:cNvSpPr>
            <a:spLocks noGrp="1"/>
          </p:cNvSpPr>
          <p:nvPr>
            <p:ph idx="1"/>
          </p:nvPr>
        </p:nvSpPr>
        <p:spPr/>
        <p:txBody>
          <a:bodyPr/>
          <a:lstStyle/>
          <a:p>
            <a:r>
              <a:rPr lang="en-US" dirty="0"/>
              <a:t>Most devices use a standard Ethernet chipset and use twisted pair connections</a:t>
            </a:r>
          </a:p>
          <a:p>
            <a:r>
              <a:rPr lang="en-US" dirty="0"/>
              <a:t>Autosensing selects speeds 100, 1000 Mbps</a:t>
            </a:r>
          </a:p>
          <a:p>
            <a:r>
              <a:rPr lang="en-US" dirty="0"/>
              <a:t>Connections go from the desk to a patch panel or switch </a:t>
            </a:r>
          </a:p>
          <a:p>
            <a:pPr lvl="1"/>
            <a:r>
              <a:rPr lang="en-US" dirty="0"/>
              <a:t>Allows different speeds on its ports</a:t>
            </a:r>
          </a:p>
          <a:p>
            <a:pPr lvl="1"/>
            <a:r>
              <a:rPr lang="en-US" dirty="0"/>
              <a:t>Provides the ability to have older devices in the same LAN as newer ones, such an old laser printer that only supports 100 Mbps</a:t>
            </a:r>
          </a:p>
          <a:p>
            <a:r>
              <a:rPr lang="en-US" dirty="0"/>
              <a:t>Switches can be interconnected</a:t>
            </a:r>
          </a:p>
          <a:p>
            <a:pPr lvl="1"/>
            <a:r>
              <a:rPr lang="en-US" dirty="0"/>
              <a:t>Twisted pair if close and on the same floor</a:t>
            </a:r>
          </a:p>
          <a:p>
            <a:pPr lvl="1"/>
            <a:r>
              <a:rPr lang="en-US" dirty="0"/>
              <a:t>Optical fiber used when further apart or on different floors</a:t>
            </a:r>
          </a:p>
          <a:p>
            <a:endParaRPr lang="en-US" dirty="0"/>
          </a:p>
          <a:p>
            <a:endParaRPr lang="en-US" dirty="0"/>
          </a:p>
          <a:p>
            <a:endParaRPr lang="en-US" dirty="0"/>
          </a:p>
        </p:txBody>
      </p:sp>
      <p:pic>
        <p:nvPicPr>
          <p:cNvPr id="5" name="Picture 4" descr="A picture containing cable&#10;&#10;Description automatically generated">
            <a:extLst>
              <a:ext uri="{FF2B5EF4-FFF2-40B4-BE49-F238E27FC236}">
                <a16:creationId xmlns:a16="http://schemas.microsoft.com/office/drawing/2014/main" id="{A3FE0BED-CF04-F523-B3C1-3E565E610E84}"/>
              </a:ext>
            </a:extLst>
          </p:cNvPr>
          <p:cNvPicPr>
            <a:picLocks noChangeAspect="1"/>
          </p:cNvPicPr>
          <p:nvPr/>
        </p:nvPicPr>
        <p:blipFill>
          <a:blip r:embed="rId2"/>
          <a:stretch>
            <a:fillRect/>
          </a:stretch>
        </p:blipFill>
        <p:spPr>
          <a:xfrm flipH="1">
            <a:off x="15760700" y="8010185"/>
            <a:ext cx="2540000" cy="1587500"/>
          </a:xfrm>
          <a:prstGeom prst="rect">
            <a:avLst/>
          </a:prstGeom>
        </p:spPr>
      </p:pic>
    </p:spTree>
    <p:extLst>
      <p:ext uri="{BB962C8B-B14F-4D97-AF65-F5344CB8AC3E}">
        <p14:creationId xmlns:p14="http://schemas.microsoft.com/office/powerpoint/2010/main" val="25178426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F61A01-D6CA-1B47-BAA7-69ACCC921AA8}"/>
              </a:ext>
            </a:extLst>
          </p:cNvPr>
          <p:cNvSpPr>
            <a:spLocks noGrp="1"/>
          </p:cNvSpPr>
          <p:nvPr>
            <p:ph type="title"/>
          </p:nvPr>
        </p:nvSpPr>
        <p:spPr/>
        <p:txBody>
          <a:bodyPr/>
          <a:lstStyle/>
          <a:p>
            <a:r>
              <a:rPr lang="en-US"/>
              <a:t>Ethernet Frame</a:t>
            </a:r>
          </a:p>
        </p:txBody>
      </p:sp>
      <p:sp>
        <p:nvSpPr>
          <p:cNvPr id="2" name="Content Placeholder 1">
            <a:extLst>
              <a:ext uri="{FF2B5EF4-FFF2-40B4-BE49-F238E27FC236}">
                <a16:creationId xmlns:a16="http://schemas.microsoft.com/office/drawing/2014/main" id="{79447E9B-BB27-174C-98C1-05C9F1795D5C}"/>
              </a:ext>
            </a:extLst>
          </p:cNvPr>
          <p:cNvSpPr>
            <a:spLocks noGrp="1"/>
          </p:cNvSpPr>
          <p:nvPr>
            <p:ph idx="1"/>
          </p:nvPr>
        </p:nvSpPr>
        <p:spPr/>
        <p:txBody>
          <a:bodyPr>
            <a:normAutofit lnSpcReduction="10000"/>
          </a:bodyPr>
          <a:lstStyle/>
          <a:p>
            <a:r>
              <a:rPr lang="en-US"/>
              <a:t>Ethernet LANs allow any device on the LAN to talk to any other device on the LAN (any-to-any)</a:t>
            </a:r>
          </a:p>
          <a:p>
            <a:r>
              <a:rPr lang="en-US"/>
              <a:t>Addresses are needed to identify who the information is for</a:t>
            </a:r>
          </a:p>
          <a:p>
            <a:r>
              <a:rPr lang="en-US"/>
              <a:t>Ethernet frames include an address (referred to as the MAC address)</a:t>
            </a:r>
          </a:p>
          <a:p>
            <a:endParaRPr lang="en-US"/>
          </a:p>
          <a:p>
            <a:endParaRPr lang="en-US"/>
          </a:p>
          <a:p>
            <a:endParaRPr lang="en-US"/>
          </a:p>
          <a:p>
            <a:endParaRPr lang="en-US"/>
          </a:p>
          <a:p>
            <a:pPr marL="0" indent="0">
              <a:buNone/>
            </a:pPr>
            <a:r>
              <a:rPr lang="en-US"/>
              <a:t>MAC address is assigned by device manufacturer</a:t>
            </a:r>
          </a:p>
        </p:txBody>
      </p:sp>
      <p:sp>
        <p:nvSpPr>
          <p:cNvPr id="3" name="Slide Number Placeholder 2">
            <a:extLst>
              <a:ext uri="{FF2B5EF4-FFF2-40B4-BE49-F238E27FC236}">
                <a16:creationId xmlns:a16="http://schemas.microsoft.com/office/drawing/2014/main" id="{D73F9146-FF0B-7B44-83EC-0A9B251260AA}"/>
              </a:ext>
            </a:extLst>
          </p:cNvPr>
          <p:cNvSpPr>
            <a:spLocks noGrp="1"/>
          </p:cNvSpPr>
          <p:nvPr>
            <p:ph type="sldNum" sz="quarter" idx="12"/>
          </p:nvPr>
        </p:nvSpPr>
        <p:spPr>
          <a:xfrm>
            <a:off x="914400" y="9534526"/>
            <a:ext cx="4114800" cy="547688"/>
          </a:xfrm>
        </p:spPr>
        <p:txBody>
          <a:bodyPr/>
          <a:lstStyle/>
          <a:p>
            <a:pPr algn="l"/>
            <a:fld id="{E12D0507-9F86-7A45-BE8E-43760B9F92AA}" type="slidenum">
              <a:rPr lang="en-US" smtClean="0"/>
              <a:pPr algn="l"/>
              <a:t>42</a:t>
            </a:fld>
            <a:endParaRPr lang="en-US"/>
          </a:p>
        </p:txBody>
      </p:sp>
      <p:pic>
        <p:nvPicPr>
          <p:cNvPr id="7" name="Graphic 6">
            <a:extLst>
              <a:ext uri="{FF2B5EF4-FFF2-40B4-BE49-F238E27FC236}">
                <a16:creationId xmlns:a16="http://schemas.microsoft.com/office/drawing/2014/main" id="{E4FFF69F-C3B3-1E4B-9B8A-6FCCB0899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4400" y="6129627"/>
            <a:ext cx="15544800" cy="1906650"/>
          </a:xfrm>
          <a:prstGeom prst="rect">
            <a:avLst/>
          </a:prstGeom>
        </p:spPr>
      </p:pic>
    </p:spTree>
    <p:extLst>
      <p:ext uri="{BB962C8B-B14F-4D97-AF65-F5344CB8AC3E}">
        <p14:creationId xmlns:p14="http://schemas.microsoft.com/office/powerpoint/2010/main" val="20284454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F416F-3744-E727-037A-665FB5BB30A2}"/>
              </a:ext>
            </a:extLst>
          </p:cNvPr>
          <p:cNvSpPr>
            <a:spLocks noGrp="1"/>
          </p:cNvSpPr>
          <p:nvPr>
            <p:ph type="title"/>
          </p:nvPr>
        </p:nvSpPr>
        <p:spPr/>
        <p:txBody>
          <a:bodyPr/>
          <a:lstStyle/>
          <a:p>
            <a:r>
              <a:rPr lang="en-US"/>
              <a:t>Multiple LAN Configuration</a:t>
            </a:r>
          </a:p>
        </p:txBody>
      </p:sp>
      <p:sp>
        <p:nvSpPr>
          <p:cNvPr id="3" name="Content Placeholder 2">
            <a:extLst>
              <a:ext uri="{FF2B5EF4-FFF2-40B4-BE49-F238E27FC236}">
                <a16:creationId xmlns:a16="http://schemas.microsoft.com/office/drawing/2014/main" id="{8BBD94ED-D48B-64F0-954D-3DC817D193C6}"/>
              </a:ext>
            </a:extLst>
          </p:cNvPr>
          <p:cNvSpPr>
            <a:spLocks noGrp="1"/>
          </p:cNvSpPr>
          <p:nvPr>
            <p:ph idx="1"/>
          </p:nvPr>
        </p:nvSpPr>
        <p:spPr/>
        <p:txBody>
          <a:bodyPr/>
          <a:lstStyle/>
          <a:p>
            <a:r>
              <a:rPr lang="en-US"/>
              <a:t>Allows traffic segmentation, for example data and voice</a:t>
            </a:r>
          </a:p>
          <a:p>
            <a:r>
              <a:rPr lang="en-US"/>
              <a:t>Simplest way to create multiple LANs (networks) is to have separate physical networks, requires</a:t>
            </a:r>
          </a:p>
          <a:p>
            <a:pPr lvl="1"/>
            <a:r>
              <a:rPr lang="en-US"/>
              <a:t>Multiple cable drops to the desk</a:t>
            </a:r>
          </a:p>
          <a:p>
            <a:pPr lvl="1"/>
            <a:r>
              <a:rPr lang="en-US"/>
              <a:t>Switches for each LAN</a:t>
            </a:r>
          </a:p>
          <a:p>
            <a:pPr lvl="1"/>
            <a:r>
              <a:rPr lang="en-US"/>
              <a:t>Separate inter-switch (trunk) connections for each LAN</a:t>
            </a:r>
          </a:p>
          <a:p>
            <a:r>
              <a:rPr lang="en-US"/>
              <a:t>Note each LAN (network) will have its own block of IP addresses assigned to it, more on this later</a:t>
            </a:r>
          </a:p>
          <a:p>
            <a:r>
              <a:rPr lang="en-US"/>
              <a:t>What if we could use one infrastructure and create multiple </a:t>
            </a:r>
            <a:r>
              <a:rPr lang="en-US" i="1"/>
              <a:t>logical</a:t>
            </a:r>
            <a:r>
              <a:rPr lang="en-US"/>
              <a:t> LANs to create separate segments?</a:t>
            </a:r>
          </a:p>
          <a:p>
            <a:pPr lvl="1"/>
            <a:endParaRPr lang="en-US"/>
          </a:p>
          <a:p>
            <a:pPr lvl="1"/>
            <a:endParaRPr lang="en-US"/>
          </a:p>
          <a:p>
            <a:pPr lvl="1"/>
            <a:endParaRPr lang="en-US"/>
          </a:p>
        </p:txBody>
      </p:sp>
    </p:spTree>
    <p:extLst>
      <p:ext uri="{BB962C8B-B14F-4D97-AF65-F5344CB8AC3E}">
        <p14:creationId xmlns:p14="http://schemas.microsoft.com/office/powerpoint/2010/main" val="33435551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42" name="Oval 2"/>
          <p:cNvSpPr>
            <a:spLocks noChangeArrowheads="1"/>
          </p:cNvSpPr>
          <p:nvPr/>
        </p:nvSpPr>
        <p:spPr bwMode="auto">
          <a:xfrm>
            <a:off x="2483645" y="2052640"/>
            <a:ext cx="6660356" cy="7653338"/>
          </a:xfrm>
          <a:prstGeom prst="ellipse">
            <a:avLst/>
          </a:prstGeom>
          <a:gradFill flip="none" rotWithShape="1">
            <a:gsLst>
              <a:gs pos="0">
                <a:srgbClr val="336699">
                  <a:gamma/>
                  <a:tint val="0"/>
                  <a:invGamma/>
                  <a:alpha val="75000"/>
                </a:srgbClr>
              </a:gs>
              <a:gs pos="100000">
                <a:srgbClr val="336699"/>
              </a:gs>
            </a:gsLst>
            <a:path path="circle">
              <a:fillToRect l="50000" t="50000" r="50000" b="50000"/>
            </a:path>
            <a:tileRect/>
          </a:gradFill>
          <a:ln w="28575" algn="ctr">
            <a:noFill/>
            <a:round/>
            <a:headEnd/>
            <a:tailEnd/>
          </a:ln>
          <a:effectLst/>
        </p:spPr>
        <p:txBody>
          <a:bodyPr wrap="none" lIns="153933" tIns="76970" rIns="153933" bIns="76970" anchorCtr="1"/>
          <a:lstStyle/>
          <a:p>
            <a:pPr algn="ctr" defTabSz="1540670" fontAlgn="base">
              <a:spcBef>
                <a:spcPct val="0"/>
              </a:spcBef>
              <a:spcAft>
                <a:spcPct val="0"/>
              </a:spcAft>
            </a:pPr>
            <a:r>
              <a:rPr lang="en-US" sz="3300">
                <a:solidFill>
                  <a:srgbClr val="000000"/>
                </a:solidFill>
                <a:latin typeface="Helvetica Neue Medium" panose="02000503000000020004" pitchFamily="2" charset="0"/>
                <a:ea typeface="Helvetica Neue Medium" panose="02000503000000020004" pitchFamily="2" charset="0"/>
                <a:cs typeface="Helvetica Neue Medium" panose="02000503000000020004" pitchFamily="2" charset="0"/>
              </a:rPr>
              <a:t>VLAN 1</a:t>
            </a:r>
          </a:p>
          <a:p>
            <a:pPr algn="ctr" defTabSz="1540670" fontAlgn="base">
              <a:spcBef>
                <a:spcPct val="0"/>
              </a:spcBef>
              <a:spcAft>
                <a:spcPct val="0"/>
              </a:spcAft>
            </a:pPr>
            <a:r>
              <a:rPr lang="en-US" sz="2700">
                <a:solidFill>
                  <a:srgbClr val="000000"/>
                </a:solidFill>
                <a:latin typeface="Helvetica Neue Medium" panose="02000503000000020004" pitchFamily="2" charset="0"/>
                <a:ea typeface="Helvetica Neue Medium" panose="02000503000000020004" pitchFamily="2" charset="0"/>
                <a:cs typeface="Helvetica Neue Medium" panose="02000503000000020004" pitchFamily="2" charset="0"/>
              </a:rPr>
              <a:t>Personnel</a:t>
            </a:r>
            <a:endParaRPr lang="en-US" sz="3300">
              <a:solidFill>
                <a:srgbClr val="000000"/>
              </a:solidFill>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1853443" name="Oval 3"/>
          <p:cNvSpPr>
            <a:spLocks noChangeArrowheads="1"/>
          </p:cNvSpPr>
          <p:nvPr/>
        </p:nvSpPr>
        <p:spPr bwMode="auto">
          <a:xfrm>
            <a:off x="9144000" y="2052640"/>
            <a:ext cx="6660357" cy="7653338"/>
          </a:xfrm>
          <a:prstGeom prst="ellipse">
            <a:avLst/>
          </a:prstGeom>
          <a:gradFill flip="none" rotWithShape="1">
            <a:gsLst>
              <a:gs pos="0">
                <a:srgbClr val="CC0000">
                  <a:gamma/>
                  <a:tint val="0"/>
                  <a:invGamma/>
                </a:srgbClr>
              </a:gs>
              <a:gs pos="100000">
                <a:srgbClr val="CC0000"/>
              </a:gs>
            </a:gsLst>
            <a:path path="circle">
              <a:fillToRect l="50000" t="50000" r="50000" b="50000"/>
            </a:path>
            <a:tileRect/>
          </a:gradFill>
          <a:ln w="28575" algn="ctr">
            <a:noFill/>
            <a:round/>
            <a:headEnd/>
            <a:tailEnd/>
          </a:ln>
          <a:effectLst/>
        </p:spPr>
        <p:txBody>
          <a:bodyPr wrap="none" lIns="153933" tIns="76970" rIns="153933" bIns="76970" anchorCtr="1"/>
          <a:lstStyle/>
          <a:p>
            <a:pPr algn="ctr" defTabSz="1540670" fontAlgn="base">
              <a:spcBef>
                <a:spcPct val="0"/>
              </a:spcBef>
              <a:spcAft>
                <a:spcPct val="0"/>
              </a:spcAft>
            </a:pPr>
            <a:r>
              <a:rPr lang="en-US" sz="3300">
                <a:solidFill>
                  <a:srgbClr val="000000"/>
                </a:solidFill>
                <a:latin typeface="Helvetica Neue Medium" panose="02000503000000020004" pitchFamily="2" charset="0"/>
                <a:ea typeface="Helvetica Neue Medium" panose="02000503000000020004" pitchFamily="2" charset="0"/>
                <a:cs typeface="Helvetica Neue Medium" panose="02000503000000020004" pitchFamily="2" charset="0"/>
              </a:rPr>
              <a:t>VLAN 2</a:t>
            </a:r>
          </a:p>
          <a:p>
            <a:pPr algn="ctr" defTabSz="1540670" fontAlgn="base">
              <a:spcBef>
                <a:spcPct val="0"/>
              </a:spcBef>
              <a:spcAft>
                <a:spcPct val="0"/>
              </a:spcAft>
            </a:pPr>
            <a:r>
              <a:rPr lang="en-US" sz="2700">
                <a:solidFill>
                  <a:srgbClr val="000000"/>
                </a:solidFill>
                <a:latin typeface="Helvetica Neue Medium" panose="02000503000000020004" pitchFamily="2" charset="0"/>
                <a:ea typeface="Helvetica Neue Medium" panose="02000503000000020004" pitchFamily="2" charset="0"/>
                <a:cs typeface="Helvetica Neue Medium" panose="02000503000000020004" pitchFamily="2" charset="0"/>
              </a:rPr>
              <a:t>Engineering</a:t>
            </a:r>
            <a:endParaRPr lang="en-US" sz="3300">
              <a:solidFill>
                <a:srgbClr val="000000"/>
              </a:solidFill>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grpSp>
        <p:nvGrpSpPr>
          <p:cNvPr id="2" name="Group 4"/>
          <p:cNvGrpSpPr>
            <a:grpSpLocks/>
          </p:cNvGrpSpPr>
          <p:nvPr/>
        </p:nvGrpSpPr>
        <p:grpSpPr bwMode="auto">
          <a:xfrm>
            <a:off x="7346158" y="3287267"/>
            <a:ext cx="3155156" cy="1585409"/>
            <a:chOff x="1891" y="1732"/>
            <a:chExt cx="1179" cy="592"/>
          </a:xfrm>
        </p:grpSpPr>
        <p:pic>
          <p:nvPicPr>
            <p:cNvPr id="1853445" name="Picture 5"/>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bwMode="auto">
            <a:xfrm>
              <a:off x="1891" y="1732"/>
              <a:ext cx="1179" cy="592"/>
            </a:xfrm>
            <a:prstGeom prst="rect">
              <a:avLst/>
            </a:prstGeom>
            <a:noFill/>
          </p:spPr>
        </p:pic>
        <p:sp>
          <p:nvSpPr>
            <p:cNvPr id="1853446" name="Text Box 6"/>
            <p:cNvSpPr txBox="1">
              <a:spLocks noChangeArrowheads="1"/>
            </p:cNvSpPr>
            <p:nvPr/>
          </p:nvSpPr>
          <p:spPr bwMode="auto">
            <a:xfrm>
              <a:off x="2289" y="1831"/>
              <a:ext cx="422" cy="196"/>
            </a:xfrm>
            <a:prstGeom prst="rect">
              <a:avLst/>
            </a:prstGeom>
            <a:noFill/>
            <a:ln w="28575" algn="ctr">
              <a:noFill/>
              <a:miter lim="800000"/>
              <a:headEnd/>
              <a:tailEnd/>
            </a:ln>
            <a:effectLst/>
          </p:spPr>
          <p:txBody>
            <a:bodyPr wrap="none" lIns="153906" tIns="76956" rIns="153906" bIns="76956">
              <a:spAutoFit/>
            </a:bodyPr>
            <a:lstStyle/>
            <a:p>
              <a:pPr algn="ctr" defTabSz="1540670" fontAlgn="base">
                <a:spcBef>
                  <a:spcPct val="0"/>
                </a:spcBef>
                <a:spcAft>
                  <a:spcPct val="0"/>
                </a:spcAft>
              </a:pPr>
              <a:r>
                <a:rPr lang="en-US" sz="2400">
                  <a:solidFill>
                    <a:srgbClr val="FFFFFF"/>
                  </a:solidFill>
                  <a:ea typeface="ヒラギノ角ゴ Pro W3" pitchFamily="16" charset="-128"/>
                  <a:cs typeface="Arial" charset="0"/>
                </a:rPr>
                <a:t>Switch</a:t>
              </a:r>
            </a:p>
          </p:txBody>
        </p:sp>
      </p:grpSp>
      <p:grpSp>
        <p:nvGrpSpPr>
          <p:cNvPr id="3" name="Group 7"/>
          <p:cNvGrpSpPr>
            <a:grpSpLocks/>
          </p:cNvGrpSpPr>
          <p:nvPr/>
        </p:nvGrpSpPr>
        <p:grpSpPr bwMode="auto">
          <a:xfrm>
            <a:off x="8229509" y="4406785"/>
            <a:ext cx="959645" cy="462087"/>
            <a:chOff x="2478" y="1474"/>
            <a:chExt cx="403" cy="549"/>
          </a:xfrm>
        </p:grpSpPr>
        <p:sp>
          <p:nvSpPr>
            <p:cNvPr id="1853448" name="Rectangle 8"/>
            <p:cNvSpPr>
              <a:spLocks noChangeArrowheads="1"/>
            </p:cNvSpPr>
            <p:nvPr/>
          </p:nvSpPr>
          <p:spPr bwMode="auto">
            <a:xfrm>
              <a:off x="2478" y="1475"/>
              <a:ext cx="43" cy="548"/>
            </a:xfrm>
            <a:prstGeom prst="rect">
              <a:avLst/>
            </a:prstGeom>
            <a:solidFill>
              <a:srgbClr val="336699"/>
            </a:solidFill>
            <a:ln w="28575" algn="ctr">
              <a:noFill/>
              <a:miter lim="800000"/>
              <a:headEnd/>
              <a:tailEnd/>
            </a:ln>
            <a:effectLst/>
          </p:spPr>
          <p:txBody>
            <a:bodyPr anchor="ctr">
              <a:spAutoFit/>
            </a:bodyPr>
            <a:lstStyle/>
            <a:p>
              <a:pPr algn="ctr" fontAlgn="base">
                <a:spcBef>
                  <a:spcPct val="0"/>
                </a:spcBef>
                <a:spcAft>
                  <a:spcPct val="0"/>
                </a:spcAft>
              </a:pPr>
              <a:endParaRPr lang="en-US" sz="2400">
                <a:solidFill>
                  <a:srgbClr val="000000"/>
                </a:solidFill>
                <a:cs typeface="Arial" charset="0"/>
              </a:endParaRPr>
            </a:p>
          </p:txBody>
        </p:sp>
        <p:sp>
          <p:nvSpPr>
            <p:cNvPr id="1853449" name="Rectangle 9"/>
            <p:cNvSpPr>
              <a:spLocks noChangeArrowheads="1"/>
            </p:cNvSpPr>
            <p:nvPr/>
          </p:nvSpPr>
          <p:spPr bwMode="auto">
            <a:xfrm>
              <a:off x="2549" y="1474"/>
              <a:ext cx="43" cy="548"/>
            </a:xfrm>
            <a:prstGeom prst="rect">
              <a:avLst/>
            </a:prstGeom>
            <a:solidFill>
              <a:srgbClr val="336699"/>
            </a:solidFill>
            <a:ln w="28575" algn="ctr">
              <a:noFill/>
              <a:miter lim="800000"/>
              <a:headEnd/>
              <a:tailEnd/>
            </a:ln>
            <a:effectLst/>
          </p:spPr>
          <p:txBody>
            <a:bodyPr anchor="ctr">
              <a:spAutoFit/>
            </a:bodyPr>
            <a:lstStyle/>
            <a:p>
              <a:pPr algn="ctr" fontAlgn="base">
                <a:spcBef>
                  <a:spcPct val="0"/>
                </a:spcBef>
                <a:spcAft>
                  <a:spcPct val="0"/>
                </a:spcAft>
              </a:pPr>
              <a:endParaRPr lang="en-US" sz="2400">
                <a:solidFill>
                  <a:srgbClr val="000000"/>
                </a:solidFill>
                <a:cs typeface="Arial" charset="0"/>
              </a:endParaRPr>
            </a:p>
          </p:txBody>
        </p:sp>
        <p:sp>
          <p:nvSpPr>
            <p:cNvPr id="1853450" name="Rectangle 10"/>
            <p:cNvSpPr>
              <a:spLocks noChangeArrowheads="1"/>
            </p:cNvSpPr>
            <p:nvPr/>
          </p:nvSpPr>
          <p:spPr bwMode="auto">
            <a:xfrm>
              <a:off x="2621" y="1474"/>
              <a:ext cx="42" cy="548"/>
            </a:xfrm>
            <a:prstGeom prst="rect">
              <a:avLst/>
            </a:prstGeom>
            <a:solidFill>
              <a:srgbClr val="336699"/>
            </a:solidFill>
            <a:ln w="28575" algn="ctr">
              <a:noFill/>
              <a:miter lim="800000"/>
              <a:headEnd/>
              <a:tailEnd/>
            </a:ln>
            <a:effectLst/>
          </p:spPr>
          <p:txBody>
            <a:bodyPr anchor="ctr">
              <a:spAutoFit/>
            </a:bodyPr>
            <a:lstStyle/>
            <a:p>
              <a:pPr algn="ctr" fontAlgn="base">
                <a:spcBef>
                  <a:spcPct val="0"/>
                </a:spcBef>
                <a:spcAft>
                  <a:spcPct val="0"/>
                </a:spcAft>
              </a:pPr>
              <a:endParaRPr lang="en-US" sz="2400">
                <a:solidFill>
                  <a:srgbClr val="000000"/>
                </a:solidFill>
                <a:cs typeface="Arial" charset="0"/>
              </a:endParaRPr>
            </a:p>
          </p:txBody>
        </p:sp>
        <p:sp>
          <p:nvSpPr>
            <p:cNvPr id="1853451" name="Rectangle 11"/>
            <p:cNvSpPr>
              <a:spLocks noChangeArrowheads="1"/>
            </p:cNvSpPr>
            <p:nvPr/>
          </p:nvSpPr>
          <p:spPr bwMode="auto">
            <a:xfrm>
              <a:off x="2693" y="1474"/>
              <a:ext cx="42" cy="548"/>
            </a:xfrm>
            <a:prstGeom prst="rect">
              <a:avLst/>
            </a:prstGeom>
            <a:solidFill>
              <a:srgbClr val="336699"/>
            </a:solidFill>
            <a:ln w="28575" algn="ctr">
              <a:noFill/>
              <a:miter lim="800000"/>
              <a:headEnd/>
              <a:tailEnd/>
            </a:ln>
            <a:effectLst/>
          </p:spPr>
          <p:txBody>
            <a:bodyPr anchor="ctr">
              <a:spAutoFit/>
            </a:bodyPr>
            <a:lstStyle/>
            <a:p>
              <a:pPr algn="ctr" fontAlgn="base">
                <a:spcBef>
                  <a:spcPct val="0"/>
                </a:spcBef>
                <a:spcAft>
                  <a:spcPct val="0"/>
                </a:spcAft>
              </a:pPr>
              <a:endParaRPr lang="en-US" sz="2400">
                <a:solidFill>
                  <a:srgbClr val="000000"/>
                </a:solidFill>
                <a:cs typeface="Arial" charset="0"/>
              </a:endParaRPr>
            </a:p>
          </p:txBody>
        </p:sp>
        <p:sp>
          <p:nvSpPr>
            <p:cNvPr id="1853452" name="Rectangle 12"/>
            <p:cNvSpPr>
              <a:spLocks noChangeArrowheads="1"/>
            </p:cNvSpPr>
            <p:nvPr/>
          </p:nvSpPr>
          <p:spPr bwMode="auto">
            <a:xfrm>
              <a:off x="2767" y="1474"/>
              <a:ext cx="42" cy="548"/>
            </a:xfrm>
            <a:prstGeom prst="rect">
              <a:avLst/>
            </a:prstGeom>
            <a:solidFill>
              <a:srgbClr val="336699"/>
            </a:solidFill>
            <a:ln w="28575" algn="ctr">
              <a:noFill/>
              <a:miter lim="800000"/>
              <a:headEnd/>
              <a:tailEnd/>
            </a:ln>
            <a:effectLst/>
          </p:spPr>
          <p:txBody>
            <a:bodyPr anchor="ctr">
              <a:spAutoFit/>
            </a:bodyPr>
            <a:lstStyle/>
            <a:p>
              <a:pPr algn="ctr" fontAlgn="base">
                <a:spcBef>
                  <a:spcPct val="0"/>
                </a:spcBef>
                <a:spcAft>
                  <a:spcPct val="0"/>
                </a:spcAft>
              </a:pPr>
              <a:endParaRPr lang="en-US" sz="2400">
                <a:solidFill>
                  <a:srgbClr val="000000"/>
                </a:solidFill>
                <a:cs typeface="Arial" charset="0"/>
              </a:endParaRPr>
            </a:p>
          </p:txBody>
        </p:sp>
        <p:sp>
          <p:nvSpPr>
            <p:cNvPr id="1853453" name="Rectangle 13"/>
            <p:cNvSpPr>
              <a:spLocks noChangeArrowheads="1"/>
            </p:cNvSpPr>
            <p:nvPr/>
          </p:nvSpPr>
          <p:spPr bwMode="auto">
            <a:xfrm>
              <a:off x="2838" y="1474"/>
              <a:ext cx="43" cy="548"/>
            </a:xfrm>
            <a:prstGeom prst="rect">
              <a:avLst/>
            </a:prstGeom>
            <a:solidFill>
              <a:srgbClr val="336699"/>
            </a:solidFill>
            <a:ln w="28575" algn="ctr">
              <a:noFill/>
              <a:miter lim="800000"/>
              <a:headEnd/>
              <a:tailEnd/>
            </a:ln>
            <a:effectLst/>
          </p:spPr>
          <p:txBody>
            <a:bodyPr anchor="ctr">
              <a:spAutoFit/>
            </a:bodyPr>
            <a:lstStyle/>
            <a:p>
              <a:pPr algn="ctr" fontAlgn="base">
                <a:spcBef>
                  <a:spcPct val="0"/>
                </a:spcBef>
                <a:spcAft>
                  <a:spcPct val="0"/>
                </a:spcAft>
              </a:pPr>
              <a:endParaRPr lang="en-US" sz="2400">
                <a:solidFill>
                  <a:srgbClr val="000000"/>
                </a:solidFill>
                <a:cs typeface="Arial" charset="0"/>
              </a:endParaRPr>
            </a:p>
          </p:txBody>
        </p:sp>
      </p:grpSp>
      <p:grpSp>
        <p:nvGrpSpPr>
          <p:cNvPr id="4" name="Group 14"/>
          <p:cNvGrpSpPr>
            <a:grpSpLocks/>
          </p:cNvGrpSpPr>
          <p:nvPr/>
        </p:nvGrpSpPr>
        <p:grpSpPr bwMode="auto">
          <a:xfrm>
            <a:off x="9277260" y="4408626"/>
            <a:ext cx="1143000" cy="463524"/>
            <a:chOff x="2912" y="1442"/>
            <a:chExt cx="480" cy="614"/>
          </a:xfrm>
        </p:grpSpPr>
        <p:sp>
          <p:nvSpPr>
            <p:cNvPr id="1853455" name="Rectangle 15"/>
            <p:cNvSpPr>
              <a:spLocks noChangeArrowheads="1"/>
            </p:cNvSpPr>
            <p:nvPr/>
          </p:nvSpPr>
          <p:spPr bwMode="auto">
            <a:xfrm>
              <a:off x="2985" y="1443"/>
              <a:ext cx="43" cy="612"/>
            </a:xfrm>
            <a:prstGeom prst="rect">
              <a:avLst/>
            </a:prstGeom>
            <a:solidFill>
              <a:srgbClr val="CC0000"/>
            </a:solidFill>
            <a:ln w="28575" algn="ctr">
              <a:noFill/>
              <a:miter lim="800000"/>
              <a:headEnd/>
              <a:tailEnd/>
            </a:ln>
            <a:effectLst/>
          </p:spPr>
          <p:txBody>
            <a:bodyPr anchor="ctr">
              <a:spAutoFit/>
            </a:bodyPr>
            <a:lstStyle/>
            <a:p>
              <a:pPr algn="ctr" fontAlgn="base">
                <a:spcBef>
                  <a:spcPct val="0"/>
                </a:spcBef>
                <a:spcAft>
                  <a:spcPct val="0"/>
                </a:spcAft>
              </a:pPr>
              <a:endParaRPr lang="en-US" sz="2400">
                <a:solidFill>
                  <a:srgbClr val="000000"/>
                </a:solidFill>
                <a:cs typeface="Arial" charset="0"/>
              </a:endParaRPr>
            </a:p>
          </p:txBody>
        </p:sp>
        <p:sp>
          <p:nvSpPr>
            <p:cNvPr id="1853456" name="Rectangle 16"/>
            <p:cNvSpPr>
              <a:spLocks noChangeArrowheads="1"/>
            </p:cNvSpPr>
            <p:nvPr/>
          </p:nvSpPr>
          <p:spPr bwMode="auto">
            <a:xfrm>
              <a:off x="3058" y="1444"/>
              <a:ext cx="43" cy="612"/>
            </a:xfrm>
            <a:prstGeom prst="rect">
              <a:avLst/>
            </a:prstGeom>
            <a:solidFill>
              <a:srgbClr val="CC0000"/>
            </a:solidFill>
            <a:ln w="28575" algn="ctr">
              <a:noFill/>
              <a:miter lim="800000"/>
              <a:headEnd/>
              <a:tailEnd/>
            </a:ln>
            <a:effectLst/>
          </p:spPr>
          <p:txBody>
            <a:bodyPr anchor="ctr">
              <a:spAutoFit/>
            </a:bodyPr>
            <a:lstStyle/>
            <a:p>
              <a:pPr algn="ctr" fontAlgn="base">
                <a:spcBef>
                  <a:spcPct val="0"/>
                </a:spcBef>
                <a:spcAft>
                  <a:spcPct val="0"/>
                </a:spcAft>
              </a:pPr>
              <a:endParaRPr lang="en-US" sz="2400">
                <a:solidFill>
                  <a:srgbClr val="000000"/>
                </a:solidFill>
                <a:cs typeface="Arial" charset="0"/>
              </a:endParaRPr>
            </a:p>
          </p:txBody>
        </p:sp>
        <p:sp>
          <p:nvSpPr>
            <p:cNvPr id="1853457" name="Rectangle 17"/>
            <p:cNvSpPr>
              <a:spLocks noChangeArrowheads="1"/>
            </p:cNvSpPr>
            <p:nvPr/>
          </p:nvSpPr>
          <p:spPr bwMode="auto">
            <a:xfrm>
              <a:off x="3130" y="1444"/>
              <a:ext cx="42" cy="612"/>
            </a:xfrm>
            <a:prstGeom prst="rect">
              <a:avLst/>
            </a:prstGeom>
            <a:solidFill>
              <a:srgbClr val="CC0000"/>
            </a:solidFill>
            <a:ln w="28575" algn="ctr">
              <a:noFill/>
              <a:miter lim="800000"/>
              <a:headEnd/>
              <a:tailEnd/>
            </a:ln>
            <a:effectLst/>
          </p:spPr>
          <p:txBody>
            <a:bodyPr anchor="ctr">
              <a:spAutoFit/>
            </a:bodyPr>
            <a:lstStyle/>
            <a:p>
              <a:pPr algn="ctr" fontAlgn="base">
                <a:spcBef>
                  <a:spcPct val="0"/>
                </a:spcBef>
                <a:spcAft>
                  <a:spcPct val="0"/>
                </a:spcAft>
              </a:pPr>
              <a:endParaRPr lang="en-US" sz="2400">
                <a:solidFill>
                  <a:srgbClr val="000000"/>
                </a:solidFill>
                <a:cs typeface="Arial" charset="0"/>
              </a:endParaRPr>
            </a:p>
          </p:txBody>
        </p:sp>
        <p:sp>
          <p:nvSpPr>
            <p:cNvPr id="1853458" name="Rectangle 18"/>
            <p:cNvSpPr>
              <a:spLocks noChangeArrowheads="1"/>
            </p:cNvSpPr>
            <p:nvPr/>
          </p:nvSpPr>
          <p:spPr bwMode="auto">
            <a:xfrm>
              <a:off x="3204" y="1444"/>
              <a:ext cx="42" cy="612"/>
            </a:xfrm>
            <a:prstGeom prst="rect">
              <a:avLst/>
            </a:prstGeom>
            <a:solidFill>
              <a:srgbClr val="CC0000"/>
            </a:solidFill>
            <a:ln w="28575" algn="ctr">
              <a:noFill/>
              <a:miter lim="800000"/>
              <a:headEnd/>
              <a:tailEnd/>
            </a:ln>
            <a:effectLst/>
          </p:spPr>
          <p:txBody>
            <a:bodyPr anchor="ctr">
              <a:spAutoFit/>
            </a:bodyPr>
            <a:lstStyle/>
            <a:p>
              <a:pPr algn="ctr" fontAlgn="base">
                <a:spcBef>
                  <a:spcPct val="0"/>
                </a:spcBef>
                <a:spcAft>
                  <a:spcPct val="0"/>
                </a:spcAft>
              </a:pPr>
              <a:endParaRPr lang="en-US" sz="2400">
                <a:solidFill>
                  <a:srgbClr val="000000"/>
                </a:solidFill>
                <a:cs typeface="Arial" charset="0"/>
              </a:endParaRPr>
            </a:p>
          </p:txBody>
        </p:sp>
        <p:sp>
          <p:nvSpPr>
            <p:cNvPr id="1853459" name="Rectangle 19"/>
            <p:cNvSpPr>
              <a:spLocks noChangeArrowheads="1"/>
            </p:cNvSpPr>
            <p:nvPr/>
          </p:nvSpPr>
          <p:spPr bwMode="auto">
            <a:xfrm>
              <a:off x="3276" y="1444"/>
              <a:ext cx="42" cy="612"/>
            </a:xfrm>
            <a:prstGeom prst="rect">
              <a:avLst/>
            </a:prstGeom>
            <a:solidFill>
              <a:srgbClr val="CC0000"/>
            </a:solidFill>
            <a:ln w="28575" algn="ctr">
              <a:noFill/>
              <a:miter lim="800000"/>
              <a:headEnd/>
              <a:tailEnd/>
            </a:ln>
            <a:effectLst/>
          </p:spPr>
          <p:txBody>
            <a:bodyPr anchor="ctr">
              <a:spAutoFit/>
            </a:bodyPr>
            <a:lstStyle/>
            <a:p>
              <a:pPr algn="ctr" fontAlgn="base">
                <a:spcBef>
                  <a:spcPct val="0"/>
                </a:spcBef>
                <a:spcAft>
                  <a:spcPct val="0"/>
                </a:spcAft>
              </a:pPr>
              <a:endParaRPr lang="en-US" sz="2400">
                <a:solidFill>
                  <a:srgbClr val="000000"/>
                </a:solidFill>
                <a:cs typeface="Arial" charset="0"/>
              </a:endParaRPr>
            </a:p>
          </p:txBody>
        </p:sp>
        <p:sp>
          <p:nvSpPr>
            <p:cNvPr id="1853460" name="Rectangle 20"/>
            <p:cNvSpPr>
              <a:spLocks noChangeArrowheads="1"/>
            </p:cNvSpPr>
            <p:nvPr/>
          </p:nvSpPr>
          <p:spPr bwMode="auto">
            <a:xfrm>
              <a:off x="3349" y="1444"/>
              <a:ext cx="43" cy="612"/>
            </a:xfrm>
            <a:prstGeom prst="rect">
              <a:avLst/>
            </a:prstGeom>
            <a:solidFill>
              <a:srgbClr val="CC0000"/>
            </a:solidFill>
            <a:ln w="28575" algn="ctr">
              <a:noFill/>
              <a:miter lim="800000"/>
              <a:headEnd/>
              <a:tailEnd/>
            </a:ln>
            <a:effectLst/>
          </p:spPr>
          <p:txBody>
            <a:bodyPr anchor="ctr">
              <a:spAutoFit/>
            </a:bodyPr>
            <a:lstStyle/>
            <a:p>
              <a:pPr algn="ctr" fontAlgn="base">
                <a:spcBef>
                  <a:spcPct val="0"/>
                </a:spcBef>
                <a:spcAft>
                  <a:spcPct val="0"/>
                </a:spcAft>
              </a:pPr>
              <a:endParaRPr lang="en-US" sz="2400">
                <a:solidFill>
                  <a:srgbClr val="000000"/>
                </a:solidFill>
                <a:cs typeface="Arial" charset="0"/>
              </a:endParaRPr>
            </a:p>
          </p:txBody>
        </p:sp>
        <p:sp>
          <p:nvSpPr>
            <p:cNvPr id="1853461" name="Rectangle 21"/>
            <p:cNvSpPr>
              <a:spLocks noChangeArrowheads="1"/>
            </p:cNvSpPr>
            <p:nvPr/>
          </p:nvSpPr>
          <p:spPr bwMode="auto">
            <a:xfrm>
              <a:off x="2912" y="1442"/>
              <a:ext cx="43" cy="612"/>
            </a:xfrm>
            <a:prstGeom prst="rect">
              <a:avLst/>
            </a:prstGeom>
            <a:solidFill>
              <a:srgbClr val="CC0000"/>
            </a:solidFill>
            <a:ln w="28575" algn="ctr">
              <a:noFill/>
              <a:miter lim="800000"/>
              <a:headEnd/>
              <a:tailEnd/>
            </a:ln>
            <a:effectLst/>
          </p:spPr>
          <p:txBody>
            <a:bodyPr anchor="ctr">
              <a:spAutoFit/>
            </a:bodyPr>
            <a:lstStyle/>
            <a:p>
              <a:pPr algn="ctr" fontAlgn="base">
                <a:spcBef>
                  <a:spcPct val="0"/>
                </a:spcBef>
                <a:spcAft>
                  <a:spcPct val="0"/>
                </a:spcAft>
              </a:pPr>
              <a:endParaRPr lang="en-US" sz="2400">
                <a:solidFill>
                  <a:srgbClr val="000000"/>
                </a:solidFill>
                <a:cs typeface="Arial" charset="0"/>
              </a:endParaRPr>
            </a:p>
          </p:txBody>
        </p:sp>
      </p:grpSp>
      <p:sp>
        <p:nvSpPr>
          <p:cNvPr id="1853462" name="Line 22"/>
          <p:cNvSpPr>
            <a:spLocks noChangeShapeType="1"/>
          </p:cNvSpPr>
          <p:nvPr/>
        </p:nvSpPr>
        <p:spPr bwMode="auto">
          <a:xfrm flipH="1" flipV="1">
            <a:off x="9467849" y="4617244"/>
            <a:ext cx="476250" cy="1440656"/>
          </a:xfrm>
          <a:prstGeom prst="line">
            <a:avLst/>
          </a:prstGeom>
          <a:noFill/>
          <a:ln w="28575">
            <a:solidFill>
              <a:schemeClr val="tx1"/>
            </a:solidFill>
            <a:round/>
            <a:headEnd/>
            <a:tailEnd/>
          </a:ln>
          <a:effectLst/>
        </p:spPr>
        <p:txBody>
          <a:bodyPr wrap="square">
            <a:spAutoFit/>
          </a:bodyPr>
          <a:lstStyle/>
          <a:p>
            <a:pPr algn="ctr" fontAlgn="base">
              <a:spcBef>
                <a:spcPct val="0"/>
              </a:spcBef>
              <a:spcAft>
                <a:spcPct val="0"/>
              </a:spcAft>
            </a:pPr>
            <a:endParaRPr lang="en-US" sz="2700">
              <a:solidFill>
                <a:srgbClr val="000000"/>
              </a:solidFill>
              <a:cs typeface="Arial" charset="0"/>
            </a:endParaRPr>
          </a:p>
        </p:txBody>
      </p:sp>
      <p:sp>
        <p:nvSpPr>
          <p:cNvPr id="1853463" name="Line 23"/>
          <p:cNvSpPr>
            <a:spLocks noChangeShapeType="1"/>
          </p:cNvSpPr>
          <p:nvPr/>
        </p:nvSpPr>
        <p:spPr bwMode="auto">
          <a:xfrm flipH="1" flipV="1">
            <a:off x="9820274" y="4591051"/>
            <a:ext cx="1724025" cy="1466849"/>
          </a:xfrm>
          <a:prstGeom prst="line">
            <a:avLst/>
          </a:prstGeom>
          <a:noFill/>
          <a:ln w="28575">
            <a:solidFill>
              <a:schemeClr val="tx1"/>
            </a:solidFill>
            <a:round/>
            <a:headEnd/>
            <a:tailEnd/>
          </a:ln>
          <a:effectLst/>
        </p:spPr>
        <p:txBody>
          <a:bodyPr wrap="square">
            <a:spAutoFit/>
          </a:bodyPr>
          <a:lstStyle/>
          <a:p>
            <a:pPr algn="ctr" fontAlgn="base">
              <a:spcBef>
                <a:spcPct val="0"/>
              </a:spcBef>
              <a:spcAft>
                <a:spcPct val="0"/>
              </a:spcAft>
            </a:pPr>
            <a:endParaRPr lang="en-US" sz="2700">
              <a:solidFill>
                <a:srgbClr val="000000"/>
              </a:solidFill>
              <a:cs typeface="Arial" charset="0"/>
            </a:endParaRPr>
          </a:p>
        </p:txBody>
      </p:sp>
      <p:sp>
        <p:nvSpPr>
          <p:cNvPr id="1853464" name="Line 24"/>
          <p:cNvSpPr>
            <a:spLocks noChangeShapeType="1"/>
          </p:cNvSpPr>
          <p:nvPr/>
        </p:nvSpPr>
        <p:spPr bwMode="auto">
          <a:xfrm flipH="1" flipV="1">
            <a:off x="9989344" y="4579144"/>
            <a:ext cx="3383756" cy="1478756"/>
          </a:xfrm>
          <a:prstGeom prst="line">
            <a:avLst/>
          </a:prstGeom>
          <a:noFill/>
          <a:ln w="28575">
            <a:solidFill>
              <a:schemeClr val="tx1"/>
            </a:solidFill>
            <a:round/>
            <a:headEnd/>
            <a:tailEnd/>
          </a:ln>
          <a:effectLst/>
        </p:spPr>
        <p:txBody>
          <a:bodyPr wrap="square">
            <a:spAutoFit/>
          </a:bodyPr>
          <a:lstStyle/>
          <a:p>
            <a:pPr algn="ctr" fontAlgn="base">
              <a:spcBef>
                <a:spcPct val="0"/>
              </a:spcBef>
              <a:spcAft>
                <a:spcPct val="0"/>
              </a:spcAft>
            </a:pPr>
            <a:endParaRPr lang="en-US" sz="2700">
              <a:solidFill>
                <a:srgbClr val="000000"/>
              </a:solidFill>
              <a:cs typeface="Arial" charset="0"/>
            </a:endParaRPr>
          </a:p>
        </p:txBody>
      </p:sp>
      <p:sp>
        <p:nvSpPr>
          <p:cNvPr id="1853465" name="Line 25"/>
          <p:cNvSpPr>
            <a:spLocks noChangeShapeType="1"/>
          </p:cNvSpPr>
          <p:nvPr/>
        </p:nvSpPr>
        <p:spPr bwMode="auto">
          <a:xfrm flipH="1" flipV="1">
            <a:off x="10322719" y="4600576"/>
            <a:ext cx="4536281" cy="1457324"/>
          </a:xfrm>
          <a:prstGeom prst="line">
            <a:avLst/>
          </a:prstGeom>
          <a:noFill/>
          <a:ln w="28575">
            <a:solidFill>
              <a:schemeClr val="tx1"/>
            </a:solidFill>
            <a:round/>
            <a:headEnd/>
            <a:tailEnd/>
          </a:ln>
          <a:effectLst/>
        </p:spPr>
        <p:txBody>
          <a:bodyPr wrap="square">
            <a:spAutoFit/>
          </a:bodyPr>
          <a:lstStyle/>
          <a:p>
            <a:pPr algn="ctr" fontAlgn="base">
              <a:spcBef>
                <a:spcPct val="0"/>
              </a:spcBef>
              <a:spcAft>
                <a:spcPct val="0"/>
              </a:spcAft>
            </a:pPr>
            <a:endParaRPr lang="en-US" sz="2700">
              <a:solidFill>
                <a:srgbClr val="000000"/>
              </a:solidFill>
              <a:cs typeface="Arial" charset="0"/>
            </a:endParaRPr>
          </a:p>
        </p:txBody>
      </p:sp>
      <p:pic>
        <p:nvPicPr>
          <p:cNvPr id="1853466" name="Picture 26"/>
          <p:cNvPicPr>
            <a:picLocks noChangeAspect="1" noChangeArrowheads="1"/>
          </p:cNvPicPr>
          <p:nvPr/>
        </p:nvPicPr>
        <p:blipFill>
          <a:blip r:embed="rId5" cstate="email">
            <a:extLst>
              <a:ext uri="{28A0092B-C50C-407E-A947-70E740481C1C}">
                <a14:useLocalDpi xmlns:a14="http://schemas.microsoft.com/office/drawing/2010/main"/>
              </a:ext>
            </a:extLst>
          </a:blip>
          <a:stretch>
            <a:fillRect/>
          </a:stretch>
        </p:blipFill>
        <p:spPr bwMode="auto">
          <a:xfrm>
            <a:off x="9029700" y="5857235"/>
            <a:ext cx="1557723" cy="1277892"/>
          </a:xfrm>
          <a:prstGeom prst="rect">
            <a:avLst/>
          </a:prstGeom>
          <a:noFill/>
        </p:spPr>
      </p:pic>
      <p:pic>
        <p:nvPicPr>
          <p:cNvPr id="1853467" name="Picture 27"/>
          <p:cNvPicPr>
            <a:picLocks noChangeAspect="1" noChangeArrowheads="1"/>
          </p:cNvPicPr>
          <p:nvPr/>
        </p:nvPicPr>
        <p:blipFill>
          <a:blip r:embed="rId5" cstate="email">
            <a:extLst>
              <a:ext uri="{28A0092B-C50C-407E-A947-70E740481C1C}">
                <a14:useLocalDpi xmlns:a14="http://schemas.microsoft.com/office/drawing/2010/main"/>
              </a:ext>
            </a:extLst>
          </a:blip>
          <a:stretch>
            <a:fillRect/>
          </a:stretch>
        </p:blipFill>
        <p:spPr bwMode="auto">
          <a:xfrm>
            <a:off x="10629900" y="5857235"/>
            <a:ext cx="1557723" cy="1277892"/>
          </a:xfrm>
          <a:prstGeom prst="rect">
            <a:avLst/>
          </a:prstGeom>
          <a:noFill/>
        </p:spPr>
      </p:pic>
      <p:pic>
        <p:nvPicPr>
          <p:cNvPr id="1853468" name="Picture 28"/>
          <p:cNvPicPr>
            <a:picLocks noChangeAspect="1" noChangeArrowheads="1"/>
          </p:cNvPicPr>
          <p:nvPr/>
        </p:nvPicPr>
        <p:blipFill>
          <a:blip r:embed="rId5" cstate="email">
            <a:extLst>
              <a:ext uri="{28A0092B-C50C-407E-A947-70E740481C1C}">
                <a14:useLocalDpi xmlns:a14="http://schemas.microsoft.com/office/drawing/2010/main"/>
              </a:ext>
            </a:extLst>
          </a:blip>
          <a:stretch>
            <a:fillRect/>
          </a:stretch>
        </p:blipFill>
        <p:spPr bwMode="auto">
          <a:xfrm>
            <a:off x="12344400" y="5857235"/>
            <a:ext cx="1557723" cy="1277892"/>
          </a:xfrm>
          <a:prstGeom prst="rect">
            <a:avLst/>
          </a:prstGeom>
          <a:noFill/>
        </p:spPr>
      </p:pic>
      <p:pic>
        <p:nvPicPr>
          <p:cNvPr id="1853469" name="Picture 29"/>
          <p:cNvPicPr>
            <a:picLocks noChangeAspect="1" noChangeArrowheads="1"/>
          </p:cNvPicPr>
          <p:nvPr/>
        </p:nvPicPr>
        <p:blipFill>
          <a:blip r:embed="rId5" cstate="email">
            <a:extLst>
              <a:ext uri="{28A0092B-C50C-407E-A947-70E740481C1C}">
                <a14:useLocalDpi xmlns:a14="http://schemas.microsoft.com/office/drawing/2010/main"/>
              </a:ext>
            </a:extLst>
          </a:blip>
          <a:stretch>
            <a:fillRect/>
          </a:stretch>
        </p:blipFill>
        <p:spPr bwMode="auto">
          <a:xfrm>
            <a:off x="13963390" y="5858008"/>
            <a:ext cx="1555841" cy="1276349"/>
          </a:xfrm>
          <a:prstGeom prst="rect">
            <a:avLst/>
          </a:prstGeom>
          <a:noFill/>
        </p:spPr>
      </p:pic>
      <p:sp>
        <p:nvSpPr>
          <p:cNvPr id="1853470" name="Text Box 30"/>
          <p:cNvSpPr txBox="1">
            <a:spLocks noChangeArrowheads="1"/>
          </p:cNvSpPr>
          <p:nvPr/>
        </p:nvSpPr>
        <p:spPr bwMode="auto">
          <a:xfrm>
            <a:off x="9720710" y="6100764"/>
            <a:ext cx="504836" cy="524775"/>
          </a:xfrm>
          <a:prstGeom prst="rect">
            <a:avLst/>
          </a:prstGeom>
          <a:noFill/>
          <a:ln w="28575" algn="ctr">
            <a:noFill/>
            <a:miter lim="800000"/>
            <a:headEnd/>
            <a:tailEnd/>
          </a:ln>
          <a:effectLst/>
        </p:spPr>
        <p:txBody>
          <a:bodyPr wrap="none" lIns="153933" tIns="76970" rIns="153933" bIns="76970">
            <a:spAutoFit/>
          </a:bodyPr>
          <a:lstStyle/>
          <a:p>
            <a:pPr algn="ctr" defTabSz="1540670" fontAlgn="base">
              <a:spcBef>
                <a:spcPct val="0"/>
              </a:spcBef>
              <a:spcAft>
                <a:spcPct val="0"/>
              </a:spcAft>
            </a:pPr>
            <a:r>
              <a:rPr lang="en-US" sz="240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E</a:t>
            </a:r>
          </a:p>
        </p:txBody>
      </p:sp>
      <p:sp>
        <p:nvSpPr>
          <p:cNvPr id="1853471" name="Text Box 31"/>
          <p:cNvSpPr txBox="1">
            <a:spLocks noChangeArrowheads="1"/>
          </p:cNvSpPr>
          <p:nvPr/>
        </p:nvSpPr>
        <p:spPr bwMode="auto">
          <a:xfrm>
            <a:off x="11318105" y="6100764"/>
            <a:ext cx="493615" cy="524775"/>
          </a:xfrm>
          <a:prstGeom prst="rect">
            <a:avLst/>
          </a:prstGeom>
          <a:noFill/>
          <a:ln w="28575" algn="ctr">
            <a:noFill/>
            <a:miter lim="800000"/>
            <a:headEnd/>
            <a:tailEnd/>
          </a:ln>
          <a:effectLst/>
        </p:spPr>
        <p:txBody>
          <a:bodyPr wrap="none" lIns="153933" tIns="76970" rIns="153933" bIns="76970">
            <a:spAutoFit/>
          </a:bodyPr>
          <a:lstStyle/>
          <a:p>
            <a:pPr algn="ctr" defTabSz="1540670" fontAlgn="base">
              <a:spcBef>
                <a:spcPct val="0"/>
              </a:spcBef>
              <a:spcAft>
                <a:spcPct val="0"/>
              </a:spcAft>
            </a:pPr>
            <a:r>
              <a:rPr lang="en-US" sz="240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F</a:t>
            </a:r>
          </a:p>
        </p:txBody>
      </p:sp>
      <p:sp>
        <p:nvSpPr>
          <p:cNvPr id="1853472" name="Text Box 32"/>
          <p:cNvSpPr txBox="1">
            <a:spLocks noChangeArrowheads="1"/>
          </p:cNvSpPr>
          <p:nvPr/>
        </p:nvSpPr>
        <p:spPr bwMode="auto">
          <a:xfrm>
            <a:off x="13031589" y="6100764"/>
            <a:ext cx="544912" cy="524775"/>
          </a:xfrm>
          <a:prstGeom prst="rect">
            <a:avLst/>
          </a:prstGeom>
          <a:noFill/>
          <a:ln w="28575" algn="ctr">
            <a:noFill/>
            <a:miter lim="800000"/>
            <a:headEnd/>
            <a:tailEnd/>
          </a:ln>
          <a:effectLst/>
        </p:spPr>
        <p:txBody>
          <a:bodyPr wrap="none" lIns="153933" tIns="76970" rIns="153933" bIns="76970">
            <a:spAutoFit/>
          </a:bodyPr>
          <a:lstStyle/>
          <a:p>
            <a:pPr algn="ctr" defTabSz="1540670" fontAlgn="base">
              <a:spcBef>
                <a:spcPct val="0"/>
              </a:spcBef>
              <a:spcAft>
                <a:spcPct val="0"/>
              </a:spcAft>
            </a:pPr>
            <a:r>
              <a:rPr lang="en-US" sz="240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G</a:t>
            </a:r>
          </a:p>
        </p:txBody>
      </p:sp>
      <p:sp>
        <p:nvSpPr>
          <p:cNvPr id="1853473" name="Text Box 33"/>
          <p:cNvSpPr txBox="1">
            <a:spLocks noChangeArrowheads="1"/>
          </p:cNvSpPr>
          <p:nvPr/>
        </p:nvSpPr>
        <p:spPr bwMode="auto">
          <a:xfrm>
            <a:off x="14673120" y="6100764"/>
            <a:ext cx="533690" cy="524775"/>
          </a:xfrm>
          <a:prstGeom prst="rect">
            <a:avLst/>
          </a:prstGeom>
          <a:noFill/>
          <a:ln w="28575" algn="ctr">
            <a:noFill/>
            <a:miter lim="800000"/>
            <a:headEnd/>
            <a:tailEnd/>
          </a:ln>
          <a:effectLst/>
        </p:spPr>
        <p:txBody>
          <a:bodyPr wrap="none" lIns="153933" tIns="76970" rIns="153933" bIns="76970">
            <a:spAutoFit/>
          </a:bodyPr>
          <a:lstStyle/>
          <a:p>
            <a:pPr algn="ctr" defTabSz="1540670" fontAlgn="base">
              <a:spcBef>
                <a:spcPct val="0"/>
              </a:spcBef>
              <a:spcAft>
                <a:spcPct val="0"/>
              </a:spcAft>
            </a:pPr>
            <a:r>
              <a:rPr lang="en-US" sz="240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H</a:t>
            </a:r>
          </a:p>
        </p:txBody>
      </p:sp>
      <p:sp>
        <p:nvSpPr>
          <p:cNvPr id="1853474" name="Rectangle 34"/>
          <p:cNvSpPr>
            <a:spLocks noGrp="1" noChangeArrowheads="1"/>
          </p:cNvSpPr>
          <p:nvPr>
            <p:ph type="title"/>
          </p:nvPr>
        </p:nvSpPr>
        <p:spPr>
          <a:xfrm>
            <a:off x="1030991" y="322658"/>
            <a:ext cx="15773400" cy="1988345"/>
          </a:xfrm>
        </p:spPr>
        <p:txBody>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Virtual LANs (VLANs)</a:t>
            </a:r>
          </a:p>
        </p:txBody>
      </p:sp>
      <p:sp>
        <p:nvSpPr>
          <p:cNvPr id="61" name="Slide Number Placeholder 60"/>
          <p:cNvSpPr>
            <a:spLocks noGrp="1"/>
          </p:cNvSpPr>
          <p:nvPr>
            <p:ph type="sldNum" sz="quarter" idx="10"/>
          </p:nvPr>
        </p:nvSpPr>
        <p:spPr>
          <a:prstGeom prst="rect">
            <a:avLst/>
          </a:prstGeom>
        </p:spPr>
        <p:txBody>
          <a:bodyPr/>
          <a:lstStyle/>
          <a:p>
            <a:fld id="{52B67DA5-9DD9-4BCA-8370-9CA784C1DE92}" type="slidenum">
              <a:rPr lang="en-US" smtClean="0"/>
              <a:pPr/>
              <a:t>44</a:t>
            </a:fld>
            <a:endParaRPr lang="en-US"/>
          </a:p>
        </p:txBody>
      </p:sp>
      <p:sp>
        <p:nvSpPr>
          <p:cNvPr id="1853475" name="Line 35"/>
          <p:cNvSpPr>
            <a:spLocks noChangeShapeType="1"/>
          </p:cNvSpPr>
          <p:nvPr/>
        </p:nvSpPr>
        <p:spPr bwMode="auto">
          <a:xfrm flipH="1">
            <a:off x="3314700" y="4600577"/>
            <a:ext cx="4926807" cy="1571624"/>
          </a:xfrm>
          <a:prstGeom prst="line">
            <a:avLst/>
          </a:prstGeom>
          <a:noFill/>
          <a:ln w="28575">
            <a:solidFill>
              <a:schemeClr val="tx1"/>
            </a:solidFill>
            <a:round/>
            <a:headEnd/>
            <a:tailEnd/>
          </a:ln>
          <a:effectLst/>
        </p:spPr>
        <p:txBody>
          <a:bodyPr wrap="square">
            <a:spAutoFit/>
          </a:bodyPr>
          <a:lstStyle/>
          <a:p>
            <a:pPr algn="ctr" fontAlgn="base">
              <a:spcBef>
                <a:spcPct val="0"/>
              </a:spcBef>
              <a:spcAft>
                <a:spcPct val="0"/>
              </a:spcAft>
            </a:pPr>
            <a:endParaRPr lang="en-US" sz="2700">
              <a:solidFill>
                <a:srgbClr val="000000"/>
              </a:solidFill>
              <a:cs typeface="Arial" charset="0"/>
            </a:endParaRPr>
          </a:p>
        </p:txBody>
      </p:sp>
      <p:sp>
        <p:nvSpPr>
          <p:cNvPr id="1853476" name="Line 36"/>
          <p:cNvSpPr>
            <a:spLocks noChangeShapeType="1"/>
          </p:cNvSpPr>
          <p:nvPr/>
        </p:nvSpPr>
        <p:spPr bwMode="auto">
          <a:xfrm flipH="1">
            <a:off x="5029199" y="4605339"/>
            <a:ext cx="3400425" cy="1452561"/>
          </a:xfrm>
          <a:prstGeom prst="line">
            <a:avLst/>
          </a:prstGeom>
          <a:noFill/>
          <a:ln w="28575">
            <a:solidFill>
              <a:schemeClr val="tx1"/>
            </a:solidFill>
            <a:round/>
            <a:headEnd/>
            <a:tailEnd/>
          </a:ln>
          <a:effectLst/>
        </p:spPr>
        <p:txBody>
          <a:bodyPr wrap="square">
            <a:spAutoFit/>
          </a:bodyPr>
          <a:lstStyle/>
          <a:p>
            <a:pPr algn="ctr" fontAlgn="base">
              <a:spcBef>
                <a:spcPct val="0"/>
              </a:spcBef>
              <a:spcAft>
                <a:spcPct val="0"/>
              </a:spcAft>
            </a:pPr>
            <a:endParaRPr lang="en-US" sz="2700">
              <a:solidFill>
                <a:srgbClr val="000000"/>
              </a:solidFill>
              <a:cs typeface="Arial" charset="0"/>
            </a:endParaRPr>
          </a:p>
        </p:txBody>
      </p:sp>
      <p:sp>
        <p:nvSpPr>
          <p:cNvPr id="1853477" name="Line 37"/>
          <p:cNvSpPr>
            <a:spLocks noChangeShapeType="1"/>
          </p:cNvSpPr>
          <p:nvPr/>
        </p:nvSpPr>
        <p:spPr bwMode="auto">
          <a:xfrm flipH="1">
            <a:off x="6857999" y="4583907"/>
            <a:ext cx="1728788" cy="1473993"/>
          </a:xfrm>
          <a:prstGeom prst="line">
            <a:avLst/>
          </a:prstGeom>
          <a:noFill/>
          <a:ln w="28575">
            <a:solidFill>
              <a:schemeClr val="tx1"/>
            </a:solidFill>
            <a:round/>
            <a:headEnd/>
            <a:tailEnd/>
          </a:ln>
          <a:effectLst/>
        </p:spPr>
        <p:txBody>
          <a:bodyPr wrap="square">
            <a:spAutoFit/>
          </a:bodyPr>
          <a:lstStyle/>
          <a:p>
            <a:pPr algn="ctr" fontAlgn="base">
              <a:spcBef>
                <a:spcPct val="0"/>
              </a:spcBef>
              <a:spcAft>
                <a:spcPct val="0"/>
              </a:spcAft>
            </a:pPr>
            <a:endParaRPr lang="en-US" sz="2700">
              <a:solidFill>
                <a:srgbClr val="000000"/>
              </a:solidFill>
              <a:cs typeface="Arial" charset="0"/>
            </a:endParaRPr>
          </a:p>
        </p:txBody>
      </p:sp>
      <p:sp>
        <p:nvSpPr>
          <p:cNvPr id="1853478" name="Line 38"/>
          <p:cNvSpPr>
            <a:spLocks noChangeShapeType="1"/>
          </p:cNvSpPr>
          <p:nvPr/>
        </p:nvSpPr>
        <p:spPr bwMode="auto">
          <a:xfrm flipH="1">
            <a:off x="8458199" y="4598194"/>
            <a:ext cx="654845" cy="1459706"/>
          </a:xfrm>
          <a:prstGeom prst="line">
            <a:avLst/>
          </a:prstGeom>
          <a:noFill/>
          <a:ln w="28575">
            <a:solidFill>
              <a:schemeClr val="tx1"/>
            </a:solidFill>
            <a:round/>
            <a:headEnd/>
            <a:tailEnd/>
          </a:ln>
          <a:effectLst/>
        </p:spPr>
        <p:txBody>
          <a:bodyPr wrap="square">
            <a:spAutoFit/>
          </a:bodyPr>
          <a:lstStyle/>
          <a:p>
            <a:pPr algn="ctr" fontAlgn="base">
              <a:spcBef>
                <a:spcPct val="0"/>
              </a:spcBef>
              <a:spcAft>
                <a:spcPct val="0"/>
              </a:spcAft>
            </a:pPr>
            <a:endParaRPr lang="en-US" sz="2700">
              <a:solidFill>
                <a:srgbClr val="000000"/>
              </a:solidFill>
              <a:cs typeface="Arial" charset="0"/>
            </a:endParaRPr>
          </a:p>
        </p:txBody>
      </p:sp>
      <p:pic>
        <p:nvPicPr>
          <p:cNvPr id="1853479" name="Picture 39"/>
          <p:cNvPicPr>
            <a:picLocks noChangeAspect="1" noChangeArrowheads="1"/>
          </p:cNvPicPr>
          <p:nvPr/>
        </p:nvPicPr>
        <p:blipFill>
          <a:blip r:embed="rId5" cstate="email">
            <a:extLst>
              <a:ext uri="{28A0092B-C50C-407E-A947-70E740481C1C}">
                <a14:useLocalDpi xmlns:a14="http://schemas.microsoft.com/office/drawing/2010/main"/>
              </a:ext>
            </a:extLst>
          </a:blip>
          <a:stretch>
            <a:fillRect/>
          </a:stretch>
        </p:blipFill>
        <p:spPr bwMode="auto">
          <a:xfrm>
            <a:off x="2514600" y="5857235"/>
            <a:ext cx="1557723" cy="1277892"/>
          </a:xfrm>
          <a:prstGeom prst="rect">
            <a:avLst/>
          </a:prstGeom>
          <a:noFill/>
        </p:spPr>
      </p:pic>
      <p:pic>
        <p:nvPicPr>
          <p:cNvPr id="1853480" name="Picture 40"/>
          <p:cNvPicPr>
            <a:picLocks noChangeAspect="1" noChangeArrowheads="1"/>
          </p:cNvPicPr>
          <p:nvPr/>
        </p:nvPicPr>
        <p:blipFill>
          <a:blip r:embed="rId5" cstate="email">
            <a:extLst>
              <a:ext uri="{28A0092B-C50C-407E-A947-70E740481C1C}">
                <a14:useLocalDpi xmlns:a14="http://schemas.microsoft.com/office/drawing/2010/main"/>
              </a:ext>
            </a:extLst>
          </a:blip>
          <a:stretch>
            <a:fillRect/>
          </a:stretch>
        </p:blipFill>
        <p:spPr bwMode="auto">
          <a:xfrm>
            <a:off x="5981829" y="5857235"/>
            <a:ext cx="1557723" cy="1277892"/>
          </a:xfrm>
          <a:prstGeom prst="rect">
            <a:avLst/>
          </a:prstGeom>
          <a:noFill/>
        </p:spPr>
      </p:pic>
      <p:pic>
        <p:nvPicPr>
          <p:cNvPr id="1853481" name="Picture 41"/>
          <p:cNvPicPr>
            <a:picLocks noChangeAspect="1" noChangeArrowheads="1"/>
          </p:cNvPicPr>
          <p:nvPr/>
        </p:nvPicPr>
        <p:blipFill>
          <a:blip r:embed="rId5" cstate="email">
            <a:extLst>
              <a:ext uri="{28A0092B-C50C-407E-A947-70E740481C1C}">
                <a14:useLocalDpi xmlns:a14="http://schemas.microsoft.com/office/drawing/2010/main"/>
              </a:ext>
            </a:extLst>
          </a:blip>
          <a:stretch>
            <a:fillRect/>
          </a:stretch>
        </p:blipFill>
        <p:spPr bwMode="auto">
          <a:xfrm>
            <a:off x="7543800" y="5857235"/>
            <a:ext cx="1557723" cy="1277892"/>
          </a:xfrm>
          <a:prstGeom prst="rect">
            <a:avLst/>
          </a:prstGeom>
          <a:noFill/>
        </p:spPr>
      </p:pic>
      <p:sp>
        <p:nvSpPr>
          <p:cNvPr id="1853482" name="Text Box 42"/>
          <p:cNvSpPr txBox="1">
            <a:spLocks noChangeArrowheads="1"/>
          </p:cNvSpPr>
          <p:nvPr/>
        </p:nvSpPr>
        <p:spPr bwMode="auto">
          <a:xfrm>
            <a:off x="3200000" y="6100764"/>
            <a:ext cx="516058" cy="524775"/>
          </a:xfrm>
          <a:prstGeom prst="rect">
            <a:avLst/>
          </a:prstGeom>
          <a:noFill/>
          <a:ln w="28575" algn="ctr">
            <a:noFill/>
            <a:miter lim="800000"/>
            <a:headEnd/>
            <a:tailEnd/>
          </a:ln>
          <a:effectLst/>
        </p:spPr>
        <p:txBody>
          <a:bodyPr wrap="none" lIns="153933" tIns="76970" rIns="153933" bIns="76970">
            <a:spAutoFit/>
          </a:bodyPr>
          <a:lstStyle/>
          <a:p>
            <a:pPr algn="ctr" defTabSz="1540670" fontAlgn="base">
              <a:spcBef>
                <a:spcPct val="0"/>
              </a:spcBef>
              <a:spcAft>
                <a:spcPct val="0"/>
              </a:spcAft>
            </a:pPr>
            <a:r>
              <a:rPr lang="en-US" sz="240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A</a:t>
            </a:r>
          </a:p>
        </p:txBody>
      </p:sp>
      <p:sp>
        <p:nvSpPr>
          <p:cNvPr id="1853483" name="Text Box 43"/>
          <p:cNvSpPr txBox="1">
            <a:spLocks noChangeArrowheads="1"/>
          </p:cNvSpPr>
          <p:nvPr/>
        </p:nvSpPr>
        <p:spPr bwMode="auto">
          <a:xfrm>
            <a:off x="6668013" y="6100764"/>
            <a:ext cx="533690" cy="524775"/>
          </a:xfrm>
          <a:prstGeom prst="rect">
            <a:avLst/>
          </a:prstGeom>
          <a:noFill/>
          <a:ln w="28575" algn="ctr">
            <a:noFill/>
            <a:miter lim="800000"/>
            <a:headEnd/>
            <a:tailEnd/>
          </a:ln>
          <a:effectLst/>
        </p:spPr>
        <p:txBody>
          <a:bodyPr wrap="none" lIns="153933" tIns="76970" rIns="153933" bIns="76970">
            <a:spAutoFit/>
          </a:bodyPr>
          <a:lstStyle/>
          <a:p>
            <a:pPr algn="ctr" defTabSz="1540670" fontAlgn="base">
              <a:spcBef>
                <a:spcPct val="0"/>
              </a:spcBef>
              <a:spcAft>
                <a:spcPct val="0"/>
              </a:spcAft>
            </a:pPr>
            <a:r>
              <a:rPr lang="en-US" sz="240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C</a:t>
            </a:r>
          </a:p>
        </p:txBody>
      </p:sp>
      <p:sp>
        <p:nvSpPr>
          <p:cNvPr id="1853484" name="Text Box 44"/>
          <p:cNvSpPr txBox="1">
            <a:spLocks noChangeArrowheads="1"/>
          </p:cNvSpPr>
          <p:nvPr/>
        </p:nvSpPr>
        <p:spPr bwMode="auto">
          <a:xfrm>
            <a:off x="8205645" y="6100764"/>
            <a:ext cx="533690" cy="524775"/>
          </a:xfrm>
          <a:prstGeom prst="rect">
            <a:avLst/>
          </a:prstGeom>
          <a:noFill/>
          <a:ln w="28575" algn="ctr">
            <a:noFill/>
            <a:miter lim="800000"/>
            <a:headEnd/>
            <a:tailEnd/>
          </a:ln>
          <a:effectLst/>
        </p:spPr>
        <p:txBody>
          <a:bodyPr wrap="none" lIns="153933" tIns="76970" rIns="153933" bIns="76970">
            <a:spAutoFit/>
          </a:bodyPr>
          <a:lstStyle/>
          <a:p>
            <a:pPr algn="ctr" defTabSz="1540670" fontAlgn="base">
              <a:spcBef>
                <a:spcPct val="0"/>
              </a:spcBef>
              <a:spcAft>
                <a:spcPct val="0"/>
              </a:spcAft>
            </a:pPr>
            <a:r>
              <a:rPr lang="en-US" sz="240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D</a:t>
            </a:r>
          </a:p>
        </p:txBody>
      </p:sp>
      <p:sp>
        <p:nvSpPr>
          <p:cNvPr id="1853494" name="Text Box 54"/>
          <p:cNvSpPr txBox="1">
            <a:spLocks noChangeArrowheads="1"/>
          </p:cNvSpPr>
          <p:nvPr/>
        </p:nvSpPr>
        <p:spPr bwMode="auto">
          <a:xfrm>
            <a:off x="6935428" y="9372601"/>
            <a:ext cx="4145687" cy="523220"/>
          </a:xfrm>
          <a:prstGeom prst="rect">
            <a:avLst/>
          </a:prstGeom>
          <a:noFill/>
          <a:ln w="28575" algn="ctr">
            <a:noFill/>
            <a:miter lim="800000"/>
            <a:headEnd/>
            <a:tailEnd/>
          </a:ln>
          <a:effectLst/>
        </p:spPr>
        <p:txBody>
          <a:bodyPr wrap="none" anchorCtr="1">
            <a:spAutoFit/>
          </a:bodyPr>
          <a:lstStyle/>
          <a:p>
            <a:pPr algn="ctr" fontAlgn="base">
              <a:spcBef>
                <a:spcPct val="0"/>
              </a:spcBef>
              <a:spcAft>
                <a:spcPct val="0"/>
              </a:spcAft>
            </a:pPr>
            <a:r>
              <a:rPr lang="en-US" sz="2800">
                <a:solidFill>
                  <a:srgbClr val="000000"/>
                </a:solidFill>
                <a:latin typeface="Helvetica Neue Medium" panose="02000503000000020004" pitchFamily="2" charset="0"/>
                <a:ea typeface="Helvetica Neue Medium" panose="02000503000000020004" pitchFamily="2" charset="0"/>
                <a:cs typeface="Helvetica Neue Medium" panose="02000503000000020004" pitchFamily="2" charset="0"/>
              </a:rPr>
              <a:t>Separates End Systems</a:t>
            </a:r>
          </a:p>
        </p:txBody>
      </p:sp>
      <p:pic>
        <p:nvPicPr>
          <p:cNvPr id="1853495" name="Picture 55"/>
          <p:cNvPicPr>
            <a:picLocks noChangeAspect="1" noChangeArrowheads="1"/>
          </p:cNvPicPr>
          <p:nvPr/>
        </p:nvPicPr>
        <p:blipFill>
          <a:blip r:embed="rId5" cstate="email">
            <a:extLst>
              <a:ext uri="{28A0092B-C50C-407E-A947-70E740481C1C}">
                <a14:useLocalDpi xmlns:a14="http://schemas.microsoft.com/office/drawing/2010/main"/>
              </a:ext>
            </a:extLst>
          </a:blip>
          <a:stretch>
            <a:fillRect/>
          </a:stretch>
        </p:blipFill>
        <p:spPr bwMode="auto">
          <a:xfrm>
            <a:off x="4114800" y="5857235"/>
            <a:ext cx="1557723" cy="1277892"/>
          </a:xfrm>
          <a:prstGeom prst="rect">
            <a:avLst/>
          </a:prstGeom>
          <a:noFill/>
        </p:spPr>
      </p:pic>
      <p:sp>
        <p:nvSpPr>
          <p:cNvPr id="1853496" name="Text Box 56"/>
          <p:cNvSpPr txBox="1">
            <a:spLocks noChangeArrowheads="1"/>
          </p:cNvSpPr>
          <p:nvPr/>
        </p:nvSpPr>
        <p:spPr bwMode="auto">
          <a:xfrm>
            <a:off x="4794591" y="6100764"/>
            <a:ext cx="527278" cy="524775"/>
          </a:xfrm>
          <a:prstGeom prst="rect">
            <a:avLst/>
          </a:prstGeom>
          <a:noFill/>
          <a:ln w="28575" algn="ctr">
            <a:noFill/>
            <a:miter lim="800000"/>
            <a:headEnd/>
            <a:tailEnd/>
          </a:ln>
          <a:effectLst/>
        </p:spPr>
        <p:txBody>
          <a:bodyPr wrap="none" lIns="153933" tIns="76970" rIns="153933" bIns="76970">
            <a:spAutoFit/>
          </a:bodyPr>
          <a:lstStyle/>
          <a:p>
            <a:pPr algn="ctr" defTabSz="1540670" fontAlgn="base">
              <a:spcBef>
                <a:spcPct val="0"/>
              </a:spcBef>
              <a:spcAft>
                <a:spcPct val="0"/>
              </a:spcAft>
            </a:pPr>
            <a:r>
              <a:rPr lang="en-US" sz="240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B</a:t>
            </a:r>
          </a:p>
        </p:txBody>
      </p:sp>
      <p:sp>
        <p:nvSpPr>
          <p:cNvPr id="1853497" name="Text Box 57"/>
          <p:cNvSpPr txBox="1">
            <a:spLocks noChangeArrowheads="1"/>
          </p:cNvSpPr>
          <p:nvPr/>
        </p:nvSpPr>
        <p:spPr bwMode="auto">
          <a:xfrm>
            <a:off x="3998120" y="6076952"/>
            <a:ext cx="2228850" cy="507589"/>
          </a:xfrm>
          <a:prstGeom prst="rect">
            <a:avLst/>
          </a:prstGeom>
          <a:solidFill>
            <a:srgbClr val="FFFF99"/>
          </a:solidFill>
          <a:ln w="28575" algn="ctr">
            <a:solidFill>
              <a:srgbClr val="3366FF"/>
            </a:solidFill>
            <a:miter lim="800000"/>
            <a:headEnd/>
            <a:tailEnd/>
          </a:ln>
          <a:effectLst/>
        </p:spPr>
        <p:txBody>
          <a:bodyPr lIns="136940" tIns="68460" rIns="136940" bIns="68460">
            <a:spAutoFit/>
          </a:bodyPr>
          <a:lstStyle/>
          <a:p>
            <a:pPr algn="ctr" defTabSz="1540670" fontAlgn="base">
              <a:spcBef>
                <a:spcPct val="0"/>
              </a:spcBef>
              <a:spcAft>
                <a:spcPct val="0"/>
              </a:spcAft>
            </a:pPr>
            <a:r>
              <a:rPr lang="en-US" sz="2400">
                <a:solidFill>
                  <a:srgbClr val="000000"/>
                </a:solidFill>
                <a:ea typeface="ヒラギノ角ゴ Pro W3" pitchFamily="16" charset="-128"/>
                <a:cs typeface="Arial" charset="0"/>
              </a:rPr>
              <a:t>From B </a:t>
            </a:r>
            <a:r>
              <a:rPr lang="en-US" sz="2400">
                <a:solidFill>
                  <a:srgbClr val="000000"/>
                </a:solidFill>
                <a:latin typeface="Symbol" pitchFamily="18" charset="2"/>
                <a:ea typeface="ヒラギノ角ゴ Pro W3" pitchFamily="16" charset="-128"/>
                <a:cs typeface="Arial" charset="0"/>
              </a:rPr>
              <a:t>Þ</a:t>
            </a:r>
            <a:r>
              <a:rPr lang="en-US" sz="2400">
                <a:solidFill>
                  <a:srgbClr val="000000"/>
                </a:solidFill>
                <a:ea typeface="ヒラギノ角ゴ Pro W3" pitchFamily="16" charset="-128"/>
                <a:cs typeface="Arial" charset="0"/>
              </a:rPr>
              <a:t> All</a:t>
            </a:r>
          </a:p>
        </p:txBody>
      </p:sp>
      <p:sp>
        <p:nvSpPr>
          <p:cNvPr id="1853498" name="Text Box 58"/>
          <p:cNvSpPr txBox="1">
            <a:spLocks noChangeArrowheads="1"/>
          </p:cNvSpPr>
          <p:nvPr/>
        </p:nvSpPr>
        <p:spPr bwMode="auto">
          <a:xfrm>
            <a:off x="3995738" y="6122195"/>
            <a:ext cx="2178845" cy="507589"/>
          </a:xfrm>
          <a:prstGeom prst="rect">
            <a:avLst/>
          </a:prstGeom>
          <a:solidFill>
            <a:srgbClr val="FFFF99"/>
          </a:solidFill>
          <a:ln w="28575" algn="ctr">
            <a:solidFill>
              <a:srgbClr val="3366FF"/>
            </a:solidFill>
            <a:miter lim="800000"/>
            <a:headEnd/>
            <a:tailEnd/>
          </a:ln>
          <a:effectLst/>
        </p:spPr>
        <p:txBody>
          <a:bodyPr lIns="136940" tIns="68460" rIns="136940" bIns="68460">
            <a:spAutoFit/>
          </a:bodyPr>
          <a:lstStyle/>
          <a:p>
            <a:pPr algn="ctr" defTabSz="1540670" fontAlgn="base">
              <a:spcBef>
                <a:spcPct val="0"/>
              </a:spcBef>
              <a:spcAft>
                <a:spcPct val="0"/>
              </a:spcAft>
            </a:pPr>
            <a:r>
              <a:rPr lang="en-US" sz="2400">
                <a:solidFill>
                  <a:srgbClr val="000000"/>
                </a:solidFill>
                <a:ea typeface="ヒラギノ角ゴ Pro W3" pitchFamily="16" charset="-128"/>
                <a:cs typeface="Arial" charset="0"/>
              </a:rPr>
              <a:t>From B </a:t>
            </a:r>
            <a:r>
              <a:rPr lang="en-US" sz="2400">
                <a:solidFill>
                  <a:srgbClr val="000000"/>
                </a:solidFill>
                <a:latin typeface="Symbol" pitchFamily="18" charset="2"/>
                <a:ea typeface="ヒラギノ角ゴ Pro W3" pitchFamily="16" charset="-128"/>
                <a:cs typeface="Arial" charset="0"/>
              </a:rPr>
              <a:t>Þ</a:t>
            </a:r>
            <a:r>
              <a:rPr lang="en-US" sz="2400">
                <a:solidFill>
                  <a:srgbClr val="000000"/>
                </a:solidFill>
                <a:ea typeface="ヒラギノ角ゴ Pro W3" pitchFamily="16" charset="-128"/>
                <a:cs typeface="Arial" charset="0"/>
              </a:rPr>
              <a:t> E</a:t>
            </a:r>
          </a:p>
        </p:txBody>
      </p:sp>
      <p:sp>
        <p:nvSpPr>
          <p:cNvPr id="1853499" name="Text Box 59"/>
          <p:cNvSpPr txBox="1">
            <a:spLocks noChangeArrowheads="1"/>
          </p:cNvSpPr>
          <p:nvPr/>
        </p:nvSpPr>
        <p:spPr bwMode="auto">
          <a:xfrm>
            <a:off x="3995738" y="6131720"/>
            <a:ext cx="2231232" cy="507589"/>
          </a:xfrm>
          <a:prstGeom prst="rect">
            <a:avLst/>
          </a:prstGeom>
          <a:solidFill>
            <a:srgbClr val="FFFF99"/>
          </a:solidFill>
          <a:ln w="28575" algn="ctr">
            <a:solidFill>
              <a:srgbClr val="3366FF"/>
            </a:solidFill>
            <a:miter lim="800000"/>
            <a:headEnd/>
            <a:tailEnd/>
          </a:ln>
          <a:effectLst/>
        </p:spPr>
        <p:txBody>
          <a:bodyPr lIns="136940" tIns="68460" rIns="136940" bIns="68460">
            <a:spAutoFit/>
          </a:bodyPr>
          <a:lstStyle/>
          <a:p>
            <a:pPr algn="ctr" defTabSz="1540670" fontAlgn="base">
              <a:spcBef>
                <a:spcPct val="0"/>
              </a:spcBef>
              <a:spcAft>
                <a:spcPct val="0"/>
              </a:spcAft>
            </a:pPr>
            <a:r>
              <a:rPr lang="en-US" sz="2400">
                <a:solidFill>
                  <a:srgbClr val="000000"/>
                </a:solidFill>
                <a:ea typeface="ヒラギノ角ゴ Pro W3" pitchFamily="16" charset="-128"/>
                <a:cs typeface="Arial" charset="0"/>
              </a:rPr>
              <a:t>From B </a:t>
            </a:r>
            <a:r>
              <a:rPr lang="en-US" sz="2400">
                <a:solidFill>
                  <a:srgbClr val="000000"/>
                </a:solidFill>
                <a:latin typeface="Symbol" pitchFamily="18" charset="2"/>
                <a:ea typeface="ヒラギノ角ゴ Pro W3" pitchFamily="16" charset="-128"/>
                <a:cs typeface="Arial" charset="0"/>
              </a:rPr>
              <a:t>Þ</a:t>
            </a:r>
            <a:r>
              <a:rPr lang="en-US" sz="2400">
                <a:solidFill>
                  <a:srgbClr val="000000"/>
                </a:solidFill>
                <a:ea typeface="ヒラギノ角ゴ Pro W3" pitchFamily="16" charset="-128"/>
                <a:cs typeface="Arial" charset="0"/>
              </a:rPr>
              <a:t> All</a:t>
            </a:r>
          </a:p>
        </p:txBody>
      </p:sp>
      <p:sp>
        <p:nvSpPr>
          <p:cNvPr id="1853500" name="Text Box 60"/>
          <p:cNvSpPr txBox="1">
            <a:spLocks noChangeArrowheads="1"/>
          </p:cNvSpPr>
          <p:nvPr/>
        </p:nvSpPr>
        <p:spPr bwMode="auto">
          <a:xfrm>
            <a:off x="3995738" y="6122195"/>
            <a:ext cx="2124075" cy="507589"/>
          </a:xfrm>
          <a:prstGeom prst="rect">
            <a:avLst/>
          </a:prstGeom>
          <a:solidFill>
            <a:srgbClr val="FFFF99"/>
          </a:solidFill>
          <a:ln w="28575" algn="ctr">
            <a:solidFill>
              <a:srgbClr val="3366FF"/>
            </a:solidFill>
            <a:miter lim="800000"/>
            <a:headEnd/>
            <a:tailEnd/>
          </a:ln>
          <a:effectLst/>
        </p:spPr>
        <p:txBody>
          <a:bodyPr lIns="136940" tIns="68460" rIns="136940" bIns="68460">
            <a:spAutoFit/>
          </a:bodyPr>
          <a:lstStyle/>
          <a:p>
            <a:pPr algn="ctr" defTabSz="1540670" fontAlgn="base">
              <a:spcBef>
                <a:spcPct val="0"/>
              </a:spcBef>
              <a:spcAft>
                <a:spcPct val="0"/>
              </a:spcAft>
            </a:pPr>
            <a:r>
              <a:rPr lang="en-US" sz="2400" dirty="0">
                <a:solidFill>
                  <a:srgbClr val="000000"/>
                </a:solidFill>
                <a:latin typeface="Helvetica Neue Medium" panose="02000503000000020004" pitchFamily="2" charset="0"/>
                <a:ea typeface="Helvetica Neue Medium" panose="02000503000000020004" pitchFamily="2" charset="0"/>
                <a:cs typeface="Helvetica Neue Medium" panose="02000503000000020004" pitchFamily="2" charset="0"/>
              </a:rPr>
              <a:t>From B</a:t>
            </a:r>
            <a:r>
              <a:rPr lang="en-US" sz="2400" dirty="0">
                <a:solidFill>
                  <a:srgbClr val="000000"/>
                </a:solidFill>
                <a:ea typeface="ヒラギノ角ゴ Pro W3" pitchFamily="16" charset="-128"/>
                <a:cs typeface="Arial" charset="0"/>
              </a:rPr>
              <a:t> </a:t>
            </a:r>
            <a:r>
              <a:rPr lang="en-US" sz="2400" dirty="0" err="1">
                <a:solidFill>
                  <a:srgbClr val="000000"/>
                </a:solidFill>
                <a:latin typeface="Symbol" pitchFamily="18" charset="2"/>
                <a:ea typeface="ヒラギノ角ゴ Pro W3" pitchFamily="16" charset="-128"/>
                <a:cs typeface="Arial" charset="0"/>
              </a:rPr>
              <a:t>Þ</a:t>
            </a:r>
            <a:r>
              <a:rPr lang="en-US" sz="2400" dirty="0">
                <a:solidFill>
                  <a:srgbClr val="000000"/>
                </a:solidFill>
                <a:ea typeface="ヒラギノ角ゴ Pro W3" pitchFamily="16" charset="-128"/>
                <a:cs typeface="Arial" charset="0"/>
              </a:rPr>
              <a:t> </a:t>
            </a:r>
            <a:r>
              <a:rPr lang="en-US" sz="2400" dirty="0">
                <a:solidFill>
                  <a:srgbClr val="000000"/>
                </a:solidFill>
                <a:latin typeface="Helvetica Neue Medium" panose="02000503000000020004" pitchFamily="2" charset="0"/>
                <a:ea typeface="Helvetica Neue Medium" panose="02000503000000020004" pitchFamily="2" charset="0"/>
                <a:cs typeface="Helvetica Neue Medium" panose="02000503000000020004" pitchFamily="2" charset="0"/>
              </a:rPr>
              <a:t>E</a:t>
            </a:r>
          </a:p>
        </p:txBody>
      </p:sp>
      <p:sp>
        <p:nvSpPr>
          <p:cNvPr id="1853485" name="Text Box 45"/>
          <p:cNvSpPr txBox="1">
            <a:spLocks noChangeArrowheads="1"/>
          </p:cNvSpPr>
          <p:nvPr/>
        </p:nvSpPr>
        <p:spPr bwMode="auto">
          <a:xfrm>
            <a:off x="7622383" y="3645695"/>
            <a:ext cx="2250281" cy="507589"/>
          </a:xfrm>
          <a:prstGeom prst="rect">
            <a:avLst/>
          </a:prstGeom>
          <a:solidFill>
            <a:srgbClr val="FFFF99"/>
          </a:solidFill>
          <a:ln w="28575" algn="ctr">
            <a:solidFill>
              <a:srgbClr val="3366FF"/>
            </a:solidFill>
            <a:miter lim="800000"/>
            <a:headEnd/>
            <a:tailEnd/>
          </a:ln>
          <a:effectLst/>
        </p:spPr>
        <p:txBody>
          <a:bodyPr lIns="136940" tIns="68460" rIns="136940" bIns="68460">
            <a:spAutoFit/>
          </a:bodyPr>
          <a:lstStyle/>
          <a:p>
            <a:pPr algn="ctr" defTabSz="1540670" fontAlgn="base">
              <a:spcBef>
                <a:spcPct val="0"/>
              </a:spcBef>
              <a:spcAft>
                <a:spcPct val="0"/>
              </a:spcAft>
            </a:pPr>
            <a:r>
              <a:rPr lang="en-US" sz="2400">
                <a:solidFill>
                  <a:srgbClr val="000000"/>
                </a:solidFill>
                <a:ea typeface="ヒラギノ角ゴ Pro W3" pitchFamily="16" charset="-128"/>
                <a:cs typeface="Arial" charset="0"/>
              </a:rPr>
              <a:t>From B </a:t>
            </a:r>
            <a:r>
              <a:rPr lang="en-US" sz="2400">
                <a:solidFill>
                  <a:srgbClr val="000000"/>
                </a:solidFill>
                <a:latin typeface="Symbol" pitchFamily="18" charset="2"/>
                <a:ea typeface="ヒラギノ角ゴ Pro W3" pitchFamily="16" charset="-128"/>
                <a:cs typeface="Arial" charset="0"/>
              </a:rPr>
              <a:t>Þ </a:t>
            </a:r>
            <a:r>
              <a:rPr lang="en-US" sz="2400">
                <a:solidFill>
                  <a:srgbClr val="000000"/>
                </a:solidFill>
                <a:ea typeface="ヒラギノ角ゴ Pro W3" pitchFamily="16" charset="-128"/>
                <a:cs typeface="Arial" charset="0"/>
              </a:rPr>
              <a:t>All</a:t>
            </a:r>
          </a:p>
        </p:txBody>
      </p:sp>
      <p:sp>
        <p:nvSpPr>
          <p:cNvPr id="1853486" name="Text Box 46"/>
          <p:cNvSpPr txBox="1">
            <a:spLocks noChangeArrowheads="1"/>
          </p:cNvSpPr>
          <p:nvPr/>
        </p:nvSpPr>
        <p:spPr bwMode="auto">
          <a:xfrm>
            <a:off x="7650957" y="3631408"/>
            <a:ext cx="2235993" cy="507589"/>
          </a:xfrm>
          <a:prstGeom prst="rect">
            <a:avLst/>
          </a:prstGeom>
          <a:solidFill>
            <a:srgbClr val="FFFF99"/>
          </a:solidFill>
          <a:ln w="28575" algn="ctr">
            <a:solidFill>
              <a:srgbClr val="3366FF"/>
            </a:solidFill>
            <a:miter lim="800000"/>
            <a:headEnd/>
            <a:tailEnd/>
          </a:ln>
          <a:effectLst/>
        </p:spPr>
        <p:txBody>
          <a:bodyPr lIns="136940" tIns="68460" rIns="136940" bIns="68460">
            <a:spAutoFit/>
          </a:bodyPr>
          <a:lstStyle/>
          <a:p>
            <a:pPr algn="ctr" defTabSz="1540670" fontAlgn="base">
              <a:spcBef>
                <a:spcPct val="0"/>
              </a:spcBef>
              <a:spcAft>
                <a:spcPct val="0"/>
              </a:spcAft>
            </a:pPr>
            <a:r>
              <a:rPr lang="en-US" sz="2400">
                <a:solidFill>
                  <a:srgbClr val="000000"/>
                </a:solidFill>
                <a:ea typeface="ヒラギノ角ゴ Pro W3" pitchFamily="16" charset="-128"/>
                <a:cs typeface="Arial" charset="0"/>
              </a:rPr>
              <a:t>From B </a:t>
            </a:r>
            <a:r>
              <a:rPr lang="en-US" sz="2400">
                <a:solidFill>
                  <a:srgbClr val="000000"/>
                </a:solidFill>
                <a:latin typeface="Symbol" pitchFamily="18" charset="2"/>
                <a:ea typeface="ヒラギノ角ゴ Pro W3" pitchFamily="16" charset="-128"/>
                <a:cs typeface="Arial" charset="0"/>
              </a:rPr>
              <a:t>Þ </a:t>
            </a:r>
            <a:r>
              <a:rPr lang="en-US" sz="2400">
                <a:solidFill>
                  <a:srgbClr val="000000"/>
                </a:solidFill>
                <a:ea typeface="ヒラギノ角ゴ Pro W3" pitchFamily="16" charset="-128"/>
                <a:cs typeface="Arial" charset="0"/>
              </a:rPr>
              <a:t>All</a:t>
            </a:r>
          </a:p>
        </p:txBody>
      </p:sp>
      <p:sp>
        <p:nvSpPr>
          <p:cNvPr id="1853487" name="Text Box 47"/>
          <p:cNvSpPr txBox="1">
            <a:spLocks noChangeArrowheads="1"/>
          </p:cNvSpPr>
          <p:nvPr/>
        </p:nvSpPr>
        <p:spPr bwMode="auto">
          <a:xfrm>
            <a:off x="7622382" y="3631408"/>
            <a:ext cx="2264568" cy="507589"/>
          </a:xfrm>
          <a:prstGeom prst="rect">
            <a:avLst/>
          </a:prstGeom>
          <a:solidFill>
            <a:srgbClr val="FFFF99"/>
          </a:solidFill>
          <a:ln w="28575" algn="ctr">
            <a:solidFill>
              <a:srgbClr val="3366FF"/>
            </a:solidFill>
            <a:miter lim="800000"/>
            <a:headEnd/>
            <a:tailEnd/>
          </a:ln>
          <a:effectLst/>
        </p:spPr>
        <p:txBody>
          <a:bodyPr lIns="136940" tIns="68460" rIns="136940" bIns="68460">
            <a:spAutoFit/>
          </a:bodyPr>
          <a:lstStyle/>
          <a:p>
            <a:pPr algn="ctr" defTabSz="1540670" fontAlgn="base">
              <a:spcBef>
                <a:spcPct val="0"/>
              </a:spcBef>
              <a:spcAft>
                <a:spcPct val="0"/>
              </a:spcAft>
            </a:pPr>
            <a:r>
              <a:rPr lang="en-US" sz="2400">
                <a:solidFill>
                  <a:srgbClr val="000000"/>
                </a:solidFill>
                <a:ea typeface="ヒラギノ角ゴ Pro W3" pitchFamily="16" charset="-128"/>
                <a:cs typeface="Arial" charset="0"/>
              </a:rPr>
              <a:t>From B </a:t>
            </a:r>
            <a:r>
              <a:rPr lang="en-US" sz="2400">
                <a:solidFill>
                  <a:srgbClr val="000000"/>
                </a:solidFill>
                <a:latin typeface="Symbol" pitchFamily="18" charset="2"/>
                <a:ea typeface="ヒラギノ角ゴ Pro W3" pitchFamily="16" charset="-128"/>
                <a:cs typeface="Arial" charset="0"/>
              </a:rPr>
              <a:t>Þ </a:t>
            </a:r>
            <a:r>
              <a:rPr lang="en-US" sz="2400">
                <a:solidFill>
                  <a:srgbClr val="000000"/>
                </a:solidFill>
                <a:ea typeface="ヒラギノ角ゴ Pro W3" pitchFamily="16" charset="-128"/>
                <a:cs typeface="Arial" charset="0"/>
              </a:rPr>
              <a:t>All</a:t>
            </a:r>
          </a:p>
        </p:txBody>
      </p:sp>
      <p:sp>
        <p:nvSpPr>
          <p:cNvPr id="1853488" name="Text Box 48"/>
          <p:cNvSpPr txBox="1">
            <a:spLocks noChangeArrowheads="1"/>
          </p:cNvSpPr>
          <p:nvPr/>
        </p:nvSpPr>
        <p:spPr bwMode="auto">
          <a:xfrm>
            <a:off x="7650957" y="3602833"/>
            <a:ext cx="2207418" cy="507589"/>
          </a:xfrm>
          <a:prstGeom prst="rect">
            <a:avLst/>
          </a:prstGeom>
          <a:solidFill>
            <a:srgbClr val="FFFF99"/>
          </a:solidFill>
          <a:ln w="28575" algn="ctr">
            <a:solidFill>
              <a:srgbClr val="3366FF"/>
            </a:solidFill>
            <a:miter lim="800000"/>
            <a:headEnd/>
            <a:tailEnd/>
          </a:ln>
          <a:effectLst/>
        </p:spPr>
        <p:txBody>
          <a:bodyPr lIns="136940" tIns="68460" rIns="136940" bIns="68460">
            <a:spAutoFit/>
          </a:bodyPr>
          <a:lstStyle/>
          <a:p>
            <a:pPr algn="ctr" defTabSz="1540670" fontAlgn="base">
              <a:spcBef>
                <a:spcPct val="0"/>
              </a:spcBef>
              <a:spcAft>
                <a:spcPct val="0"/>
              </a:spcAft>
            </a:pPr>
            <a:r>
              <a:rPr lang="en-US" sz="2400">
                <a:solidFill>
                  <a:srgbClr val="000000"/>
                </a:solidFill>
                <a:ea typeface="ヒラギノ角ゴ Pro W3" pitchFamily="16" charset="-128"/>
                <a:cs typeface="Arial" charset="0"/>
              </a:rPr>
              <a:t>From B </a:t>
            </a:r>
            <a:r>
              <a:rPr lang="en-US" sz="2400">
                <a:solidFill>
                  <a:srgbClr val="000000"/>
                </a:solidFill>
                <a:latin typeface="Symbol" pitchFamily="18" charset="2"/>
                <a:ea typeface="ヒラギノ角ゴ Pro W3" pitchFamily="16" charset="-128"/>
                <a:cs typeface="Arial" charset="0"/>
              </a:rPr>
              <a:t>Þ </a:t>
            </a:r>
            <a:r>
              <a:rPr lang="en-US" sz="2400">
                <a:solidFill>
                  <a:srgbClr val="000000"/>
                </a:solidFill>
                <a:ea typeface="ヒラギノ角ゴ Pro W3" pitchFamily="16" charset="-128"/>
                <a:cs typeface="Arial" charset="0"/>
              </a:rPr>
              <a:t>All</a:t>
            </a:r>
          </a:p>
        </p:txBody>
      </p:sp>
      <p:sp>
        <p:nvSpPr>
          <p:cNvPr id="1853489" name="Text Box 49"/>
          <p:cNvSpPr txBox="1">
            <a:spLocks noChangeArrowheads="1"/>
          </p:cNvSpPr>
          <p:nvPr/>
        </p:nvSpPr>
        <p:spPr bwMode="auto">
          <a:xfrm>
            <a:off x="7631908" y="3602833"/>
            <a:ext cx="2243138" cy="507589"/>
          </a:xfrm>
          <a:prstGeom prst="rect">
            <a:avLst/>
          </a:prstGeom>
          <a:solidFill>
            <a:srgbClr val="FFFF99"/>
          </a:solidFill>
          <a:ln w="28575" algn="ctr">
            <a:solidFill>
              <a:srgbClr val="3366FF"/>
            </a:solidFill>
            <a:miter lim="800000"/>
            <a:headEnd/>
            <a:tailEnd/>
          </a:ln>
          <a:effectLst/>
        </p:spPr>
        <p:txBody>
          <a:bodyPr lIns="136940" tIns="68460" rIns="136940" bIns="68460">
            <a:spAutoFit/>
          </a:bodyPr>
          <a:lstStyle/>
          <a:p>
            <a:pPr algn="ctr" defTabSz="1540670" fontAlgn="base">
              <a:spcBef>
                <a:spcPct val="0"/>
              </a:spcBef>
              <a:spcAft>
                <a:spcPct val="0"/>
              </a:spcAft>
            </a:pPr>
            <a:r>
              <a:rPr lang="en-US" sz="2400">
                <a:solidFill>
                  <a:srgbClr val="000000"/>
                </a:solidFill>
                <a:ea typeface="ヒラギノ角ゴ Pro W3" pitchFamily="16" charset="-128"/>
                <a:cs typeface="Arial" charset="0"/>
              </a:rPr>
              <a:t>From B </a:t>
            </a:r>
            <a:r>
              <a:rPr lang="en-US" sz="2400">
                <a:solidFill>
                  <a:srgbClr val="000000"/>
                </a:solidFill>
                <a:latin typeface="Symbol" pitchFamily="18" charset="2"/>
                <a:ea typeface="ヒラギノ角ゴ Pro W3" pitchFamily="16" charset="-128"/>
                <a:cs typeface="Arial" charset="0"/>
              </a:rPr>
              <a:t>Þ</a:t>
            </a:r>
            <a:r>
              <a:rPr lang="en-US" sz="2400">
                <a:solidFill>
                  <a:srgbClr val="000000"/>
                </a:solidFill>
                <a:ea typeface="ヒラギノ角ゴ Pro W3" pitchFamily="16" charset="-128"/>
                <a:cs typeface="Arial" charset="0"/>
              </a:rPr>
              <a:t> All</a:t>
            </a:r>
          </a:p>
        </p:txBody>
      </p:sp>
      <p:sp>
        <p:nvSpPr>
          <p:cNvPr id="1853490" name="Text Box 50"/>
          <p:cNvSpPr txBox="1">
            <a:spLocks noChangeArrowheads="1"/>
          </p:cNvSpPr>
          <p:nvPr/>
        </p:nvSpPr>
        <p:spPr bwMode="auto">
          <a:xfrm>
            <a:off x="7631908" y="3600452"/>
            <a:ext cx="2243138" cy="507589"/>
          </a:xfrm>
          <a:prstGeom prst="rect">
            <a:avLst/>
          </a:prstGeom>
          <a:solidFill>
            <a:srgbClr val="FFFF99"/>
          </a:solidFill>
          <a:ln w="28575" algn="ctr">
            <a:solidFill>
              <a:srgbClr val="3366FF"/>
            </a:solidFill>
            <a:miter lim="800000"/>
            <a:headEnd/>
            <a:tailEnd/>
          </a:ln>
          <a:effectLst/>
        </p:spPr>
        <p:txBody>
          <a:bodyPr lIns="136940" tIns="68460" rIns="136940" bIns="68460">
            <a:spAutoFit/>
          </a:bodyPr>
          <a:lstStyle/>
          <a:p>
            <a:pPr algn="ctr" defTabSz="1540670" fontAlgn="base">
              <a:spcBef>
                <a:spcPct val="0"/>
              </a:spcBef>
              <a:spcAft>
                <a:spcPct val="0"/>
              </a:spcAft>
            </a:pPr>
            <a:r>
              <a:rPr lang="en-US" sz="2400">
                <a:solidFill>
                  <a:srgbClr val="000000"/>
                </a:solidFill>
                <a:ea typeface="ヒラギノ角ゴ Pro W3" pitchFamily="16" charset="-128"/>
                <a:cs typeface="Arial" charset="0"/>
              </a:rPr>
              <a:t>From B </a:t>
            </a:r>
            <a:r>
              <a:rPr lang="en-US" sz="2400">
                <a:solidFill>
                  <a:srgbClr val="000000"/>
                </a:solidFill>
                <a:latin typeface="Symbol" pitchFamily="18" charset="2"/>
                <a:ea typeface="ヒラギノ角ゴ Pro W3" pitchFamily="16" charset="-128"/>
                <a:cs typeface="Arial" charset="0"/>
              </a:rPr>
              <a:t>Þ</a:t>
            </a:r>
            <a:r>
              <a:rPr lang="en-US" sz="2400">
                <a:solidFill>
                  <a:srgbClr val="000000"/>
                </a:solidFill>
                <a:ea typeface="ヒラギノ角ゴ Pro W3" pitchFamily="16" charset="-128"/>
                <a:cs typeface="Arial" charset="0"/>
              </a:rPr>
              <a:t> All</a:t>
            </a:r>
          </a:p>
        </p:txBody>
      </p:sp>
      <p:sp>
        <p:nvSpPr>
          <p:cNvPr id="1853491" name="Text Box 51"/>
          <p:cNvSpPr txBox="1">
            <a:spLocks noChangeArrowheads="1"/>
          </p:cNvSpPr>
          <p:nvPr/>
        </p:nvSpPr>
        <p:spPr bwMode="auto">
          <a:xfrm>
            <a:off x="7631908" y="3588545"/>
            <a:ext cx="2243138" cy="507589"/>
          </a:xfrm>
          <a:prstGeom prst="rect">
            <a:avLst/>
          </a:prstGeom>
          <a:solidFill>
            <a:srgbClr val="FFFF99"/>
          </a:solidFill>
          <a:ln w="28575" algn="ctr">
            <a:solidFill>
              <a:srgbClr val="3366FF"/>
            </a:solidFill>
            <a:miter lim="800000"/>
            <a:headEnd/>
            <a:tailEnd/>
          </a:ln>
          <a:effectLst/>
        </p:spPr>
        <p:txBody>
          <a:bodyPr lIns="136940" tIns="68460" rIns="136940" bIns="68460">
            <a:spAutoFit/>
          </a:bodyPr>
          <a:lstStyle/>
          <a:p>
            <a:pPr algn="ctr" defTabSz="1540670" fontAlgn="base">
              <a:spcBef>
                <a:spcPct val="0"/>
              </a:spcBef>
              <a:spcAft>
                <a:spcPct val="0"/>
              </a:spcAft>
            </a:pPr>
            <a:r>
              <a:rPr lang="en-US" sz="2400">
                <a:solidFill>
                  <a:srgbClr val="000000"/>
                </a:solidFill>
                <a:ea typeface="ヒラギノ角ゴ Pro W3" pitchFamily="16" charset="-128"/>
                <a:cs typeface="Arial" charset="0"/>
              </a:rPr>
              <a:t>From B </a:t>
            </a:r>
            <a:r>
              <a:rPr lang="en-US" sz="2400">
                <a:solidFill>
                  <a:srgbClr val="000000"/>
                </a:solidFill>
                <a:latin typeface="Symbol" pitchFamily="18" charset="2"/>
                <a:ea typeface="ヒラギノ角ゴ Pro W3" pitchFamily="16" charset="-128"/>
                <a:cs typeface="Arial" charset="0"/>
              </a:rPr>
              <a:t>Þ</a:t>
            </a:r>
            <a:r>
              <a:rPr lang="en-US" sz="2400">
                <a:solidFill>
                  <a:srgbClr val="000000"/>
                </a:solidFill>
                <a:ea typeface="ヒラギノ角ゴ Pro W3" pitchFamily="16" charset="-128"/>
                <a:cs typeface="Arial" charset="0"/>
              </a:rPr>
              <a:t> All</a:t>
            </a:r>
          </a:p>
        </p:txBody>
      </p:sp>
      <p:sp>
        <p:nvSpPr>
          <p:cNvPr id="1853492" name="Text Box 52"/>
          <p:cNvSpPr txBox="1">
            <a:spLocks noChangeArrowheads="1"/>
          </p:cNvSpPr>
          <p:nvPr/>
        </p:nvSpPr>
        <p:spPr bwMode="auto">
          <a:xfrm>
            <a:off x="7631908" y="3600452"/>
            <a:ext cx="2243138" cy="507589"/>
          </a:xfrm>
          <a:prstGeom prst="rect">
            <a:avLst/>
          </a:prstGeom>
          <a:solidFill>
            <a:srgbClr val="FFFF99"/>
          </a:solidFill>
          <a:ln w="28575" algn="ctr">
            <a:solidFill>
              <a:srgbClr val="3366FF"/>
            </a:solidFill>
            <a:miter lim="800000"/>
            <a:headEnd/>
            <a:tailEnd/>
          </a:ln>
          <a:effectLst/>
        </p:spPr>
        <p:txBody>
          <a:bodyPr lIns="136940" tIns="68460" rIns="136940" bIns="68460">
            <a:spAutoFit/>
          </a:bodyPr>
          <a:lstStyle/>
          <a:p>
            <a:pPr algn="ctr" defTabSz="1540670" fontAlgn="base">
              <a:spcBef>
                <a:spcPct val="0"/>
              </a:spcBef>
              <a:spcAft>
                <a:spcPct val="0"/>
              </a:spcAft>
            </a:pPr>
            <a:r>
              <a:rPr lang="en-US" sz="2400">
                <a:solidFill>
                  <a:srgbClr val="000000"/>
                </a:solidFill>
                <a:ea typeface="ヒラギノ角ゴ Pro W3" pitchFamily="16" charset="-128"/>
                <a:cs typeface="Arial" charset="0"/>
              </a:rPr>
              <a:t>From B </a:t>
            </a:r>
            <a:r>
              <a:rPr lang="en-US" sz="2400">
                <a:solidFill>
                  <a:srgbClr val="000000"/>
                </a:solidFill>
                <a:latin typeface="Symbol" pitchFamily="18" charset="2"/>
                <a:ea typeface="ヒラギノ角ゴ Pro W3" pitchFamily="16" charset="-128"/>
                <a:cs typeface="Arial" charset="0"/>
              </a:rPr>
              <a:t>Þ </a:t>
            </a:r>
            <a:r>
              <a:rPr lang="en-US" sz="2400">
                <a:solidFill>
                  <a:srgbClr val="000000"/>
                </a:solidFill>
                <a:ea typeface="ヒラギノ角ゴ Pro W3" pitchFamily="16" charset="-128"/>
                <a:cs typeface="Arial" charset="0"/>
              </a:rPr>
              <a:t>All</a:t>
            </a:r>
          </a:p>
        </p:txBody>
      </p:sp>
      <p:sp>
        <p:nvSpPr>
          <p:cNvPr id="1853493" name="Text Box 53"/>
          <p:cNvSpPr txBox="1">
            <a:spLocks noChangeArrowheads="1"/>
          </p:cNvSpPr>
          <p:nvPr/>
        </p:nvSpPr>
        <p:spPr bwMode="auto">
          <a:xfrm>
            <a:off x="7627145" y="3593308"/>
            <a:ext cx="2243138" cy="507589"/>
          </a:xfrm>
          <a:prstGeom prst="rect">
            <a:avLst/>
          </a:prstGeom>
          <a:solidFill>
            <a:srgbClr val="FFFF99"/>
          </a:solidFill>
          <a:ln w="28575" algn="ctr">
            <a:solidFill>
              <a:srgbClr val="3366FF"/>
            </a:solidFill>
            <a:miter lim="800000"/>
            <a:headEnd/>
            <a:tailEnd/>
          </a:ln>
          <a:effectLst/>
        </p:spPr>
        <p:txBody>
          <a:bodyPr lIns="136940" tIns="68460" rIns="136940" bIns="68460">
            <a:spAutoFit/>
          </a:bodyPr>
          <a:lstStyle/>
          <a:p>
            <a:pPr algn="ctr" defTabSz="1540670" fontAlgn="base">
              <a:spcBef>
                <a:spcPct val="0"/>
              </a:spcBef>
              <a:spcAft>
                <a:spcPct val="0"/>
              </a:spcAft>
            </a:pPr>
            <a:r>
              <a:rPr lang="en-US" sz="2400">
                <a:solidFill>
                  <a:srgbClr val="000000"/>
                </a:solidFill>
                <a:latin typeface="Helvetica Neue Medium" panose="02000503000000020004" pitchFamily="2" charset="0"/>
                <a:ea typeface="Helvetica Neue Medium" panose="02000503000000020004" pitchFamily="2" charset="0"/>
                <a:cs typeface="Helvetica Neue Medium" panose="02000503000000020004" pitchFamily="2" charset="0"/>
              </a:rPr>
              <a:t>From</a:t>
            </a:r>
            <a:r>
              <a:rPr lang="en-US" sz="2400">
                <a:solidFill>
                  <a:srgbClr val="000000"/>
                </a:solidFill>
                <a:ea typeface="ヒラギノ角ゴ Pro W3" pitchFamily="16" charset="-128"/>
                <a:cs typeface="Arial" charset="0"/>
              </a:rPr>
              <a:t> </a:t>
            </a:r>
            <a:r>
              <a:rPr lang="en-US" sz="2400">
                <a:solidFill>
                  <a:srgbClr val="000000"/>
                </a:solidFill>
                <a:latin typeface="Helvetica Neue Medium" panose="02000503000000020004" pitchFamily="2" charset="0"/>
                <a:ea typeface="Helvetica Neue Medium" panose="02000503000000020004" pitchFamily="2" charset="0"/>
                <a:cs typeface="Helvetica Neue Medium" panose="02000503000000020004" pitchFamily="2" charset="0"/>
              </a:rPr>
              <a:t>B</a:t>
            </a:r>
            <a:r>
              <a:rPr lang="en-US" sz="2400">
                <a:solidFill>
                  <a:srgbClr val="000000"/>
                </a:solidFill>
                <a:ea typeface="ヒラギノ角ゴ Pro W3" pitchFamily="16" charset="-128"/>
                <a:cs typeface="Arial" charset="0"/>
              </a:rPr>
              <a:t> </a:t>
            </a:r>
            <a:r>
              <a:rPr lang="en-US" sz="2400">
                <a:solidFill>
                  <a:srgbClr val="000000"/>
                </a:solidFill>
                <a:latin typeface="Symbol" pitchFamily="18" charset="2"/>
                <a:ea typeface="ヒラギノ角ゴ Pro W3" pitchFamily="16" charset="-128"/>
                <a:cs typeface="Arial" charset="0"/>
              </a:rPr>
              <a:t>Þ </a:t>
            </a:r>
            <a:r>
              <a:rPr lang="en-US" sz="2400">
                <a:solidFill>
                  <a:srgbClr val="000000"/>
                </a:solidFill>
                <a:latin typeface="Helvetica Neue Medium" panose="02000503000000020004" pitchFamily="2" charset="0"/>
                <a:ea typeface="Helvetica Neue Medium" panose="02000503000000020004" pitchFamily="2" charset="0"/>
                <a:cs typeface="Helvetica Neue Medium" panose="02000503000000020004" pitchFamily="2" charset="0"/>
              </a:rPr>
              <a:t>All</a:t>
            </a:r>
          </a:p>
        </p:txBody>
      </p:sp>
    </p:spTree>
    <p:custDataLst>
      <p:tags r:id="rId1"/>
    </p:custDataLst>
    <p:extLst>
      <p:ext uri="{BB962C8B-B14F-4D97-AF65-F5344CB8AC3E}">
        <p14:creationId xmlns:p14="http://schemas.microsoft.com/office/powerpoint/2010/main" val="2676635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1853497"/>
                                        </p:tgtEl>
                                        <p:attrNameLst>
                                          <p:attrName>style.visibility</p:attrName>
                                        </p:attrNameLst>
                                      </p:cBhvr>
                                      <p:to>
                                        <p:strVal val="visible"/>
                                      </p:to>
                                    </p:set>
                                    <p:animEffect transition="in" filter="fade">
                                      <p:cBhvr>
                                        <p:cTn id="7" dur="2000"/>
                                        <p:tgtEl>
                                          <p:spTgt spid="1853497"/>
                                        </p:tgtEl>
                                      </p:cBhvr>
                                    </p:animEffect>
                                  </p:childTnLst>
                                </p:cTn>
                              </p:par>
                            </p:childTnLst>
                          </p:cTn>
                        </p:par>
                        <p:par>
                          <p:cTn id="8" fill="hold">
                            <p:stCondLst>
                              <p:cond delay="2000"/>
                            </p:stCondLst>
                            <p:childTnLst>
                              <p:par>
                                <p:cTn id="9" presetID="56" presetClass="path" presetSubtype="0" accel="50000" decel="50000" fill="hold" grpId="0" nodeType="afterEffect">
                                  <p:stCondLst>
                                    <p:cond delay="0"/>
                                  </p:stCondLst>
                                  <p:childTnLst>
                                    <p:animMotion origin="layout" path="M -0.00019 0.00911 L 0.2853 -0.24271 " pathEditMode="relative" rAng="0" ptsTypes="AA">
                                      <p:cBhvr>
                                        <p:cTn id="10" dur="2000" fill="hold"/>
                                        <p:tgtEl>
                                          <p:spTgt spid="1853497"/>
                                        </p:tgtEl>
                                        <p:attrNameLst>
                                          <p:attrName>ppt_x</p:attrName>
                                          <p:attrName>ppt_y</p:attrName>
                                        </p:attrNameLst>
                                      </p:cBhvr>
                                      <p:rCtr x="14300" y="-12600"/>
                                    </p:animMotion>
                                  </p:childTnLst>
                                </p:cTn>
                              </p:par>
                            </p:childTnLst>
                          </p:cTn>
                        </p:par>
                        <p:par>
                          <p:cTn id="11" fill="hold">
                            <p:stCondLst>
                              <p:cond delay="4000"/>
                            </p:stCondLst>
                            <p:childTnLst>
                              <p:par>
                                <p:cTn id="12" presetID="1" presetClass="entr" presetSubtype="0" fill="hold" grpId="1" nodeType="afterEffect">
                                  <p:stCondLst>
                                    <p:cond delay="0"/>
                                  </p:stCondLst>
                                  <p:childTnLst>
                                    <p:set>
                                      <p:cBhvr>
                                        <p:cTn id="13" dur="1" fill="hold">
                                          <p:stCondLst>
                                            <p:cond delay="0"/>
                                          </p:stCondLst>
                                        </p:cTn>
                                        <p:tgtEl>
                                          <p:spTgt spid="1853485"/>
                                        </p:tgtEl>
                                        <p:attrNameLst>
                                          <p:attrName>style.visibility</p:attrName>
                                        </p:attrNameLst>
                                      </p:cBhvr>
                                      <p:to>
                                        <p:strVal val="visible"/>
                                      </p:to>
                                    </p:set>
                                  </p:childTnLst>
                                </p:cTn>
                              </p:par>
                              <p:par>
                                <p:cTn id="14" presetID="1" presetClass="entr" presetSubtype="0" fill="hold" grpId="1" nodeType="withEffect">
                                  <p:stCondLst>
                                    <p:cond delay="0"/>
                                  </p:stCondLst>
                                  <p:childTnLst>
                                    <p:set>
                                      <p:cBhvr>
                                        <p:cTn id="15" dur="1" fill="hold">
                                          <p:stCondLst>
                                            <p:cond delay="0"/>
                                          </p:stCondLst>
                                        </p:cTn>
                                        <p:tgtEl>
                                          <p:spTgt spid="1853486"/>
                                        </p:tgtEl>
                                        <p:attrNameLst>
                                          <p:attrName>style.visibility</p:attrName>
                                        </p:attrNameLst>
                                      </p:cBhvr>
                                      <p:to>
                                        <p:strVal val="visible"/>
                                      </p:to>
                                    </p:set>
                                  </p:childTnLst>
                                </p:cTn>
                              </p:par>
                              <p:par>
                                <p:cTn id="16" presetID="1" presetClass="entr" presetSubtype="0" fill="hold" grpId="1" nodeType="withEffect">
                                  <p:stCondLst>
                                    <p:cond delay="0"/>
                                  </p:stCondLst>
                                  <p:childTnLst>
                                    <p:set>
                                      <p:cBhvr>
                                        <p:cTn id="17" dur="1" fill="hold">
                                          <p:stCondLst>
                                            <p:cond delay="0"/>
                                          </p:stCondLst>
                                        </p:cTn>
                                        <p:tgtEl>
                                          <p:spTgt spid="1853487"/>
                                        </p:tgtEl>
                                        <p:attrNameLst>
                                          <p:attrName>style.visibility</p:attrName>
                                        </p:attrNameLst>
                                      </p:cBhvr>
                                      <p:to>
                                        <p:strVal val="visible"/>
                                      </p:to>
                                    </p:set>
                                  </p:childTnLst>
                                </p:cTn>
                              </p:par>
                              <p:par>
                                <p:cTn id="18" presetID="1" presetClass="entr" presetSubtype="0" fill="hold" grpId="1" nodeType="withEffect">
                                  <p:stCondLst>
                                    <p:cond delay="0"/>
                                  </p:stCondLst>
                                  <p:childTnLst>
                                    <p:set>
                                      <p:cBhvr>
                                        <p:cTn id="19" dur="1" fill="hold">
                                          <p:stCondLst>
                                            <p:cond delay="0"/>
                                          </p:stCondLst>
                                        </p:cTn>
                                        <p:tgtEl>
                                          <p:spTgt spid="1853488"/>
                                        </p:tgtEl>
                                        <p:attrNameLst>
                                          <p:attrName>style.visibility</p:attrName>
                                        </p:attrNameLst>
                                      </p:cBhvr>
                                      <p:to>
                                        <p:strVal val="visible"/>
                                      </p:to>
                                    </p:set>
                                  </p:childTnLst>
                                </p:cTn>
                              </p:par>
                              <p:par>
                                <p:cTn id="20" presetID="1" presetClass="entr" presetSubtype="0" fill="hold" grpId="1" nodeType="withEffect">
                                  <p:stCondLst>
                                    <p:cond delay="0"/>
                                  </p:stCondLst>
                                  <p:childTnLst>
                                    <p:set>
                                      <p:cBhvr>
                                        <p:cTn id="21" dur="1" fill="hold">
                                          <p:stCondLst>
                                            <p:cond delay="0"/>
                                          </p:stCondLst>
                                        </p:cTn>
                                        <p:tgtEl>
                                          <p:spTgt spid="1853489"/>
                                        </p:tgtEl>
                                        <p:attrNameLst>
                                          <p:attrName>style.visibility</p:attrName>
                                        </p:attrNameLst>
                                      </p:cBhvr>
                                      <p:to>
                                        <p:strVal val="visible"/>
                                      </p:to>
                                    </p:set>
                                  </p:childTnLst>
                                </p:cTn>
                              </p:par>
                              <p:par>
                                <p:cTn id="22" presetID="1" presetClass="entr" presetSubtype="0" fill="hold" grpId="1" nodeType="withEffect">
                                  <p:stCondLst>
                                    <p:cond delay="0"/>
                                  </p:stCondLst>
                                  <p:childTnLst>
                                    <p:set>
                                      <p:cBhvr>
                                        <p:cTn id="23" dur="1" fill="hold">
                                          <p:stCondLst>
                                            <p:cond delay="0"/>
                                          </p:stCondLst>
                                        </p:cTn>
                                        <p:tgtEl>
                                          <p:spTgt spid="1853490"/>
                                        </p:tgtEl>
                                        <p:attrNameLst>
                                          <p:attrName>style.visibility</p:attrName>
                                        </p:attrNameLst>
                                      </p:cBhvr>
                                      <p:to>
                                        <p:strVal val="visible"/>
                                      </p:to>
                                    </p:set>
                                  </p:childTnLst>
                                </p:cTn>
                              </p:par>
                              <p:par>
                                <p:cTn id="24" presetID="1" presetClass="entr" presetSubtype="0" fill="hold" grpId="1" nodeType="withEffect">
                                  <p:stCondLst>
                                    <p:cond delay="0"/>
                                  </p:stCondLst>
                                  <p:childTnLst>
                                    <p:set>
                                      <p:cBhvr>
                                        <p:cTn id="25" dur="1" fill="hold">
                                          <p:stCondLst>
                                            <p:cond delay="0"/>
                                          </p:stCondLst>
                                        </p:cTn>
                                        <p:tgtEl>
                                          <p:spTgt spid="1853493"/>
                                        </p:tgtEl>
                                        <p:attrNameLst>
                                          <p:attrName>style.visibility</p:attrName>
                                        </p:attrNameLst>
                                      </p:cBhvr>
                                      <p:to>
                                        <p:strVal val="visible"/>
                                      </p:to>
                                    </p:set>
                                  </p:childTnLst>
                                </p:cTn>
                              </p:par>
                            </p:childTnLst>
                          </p:cTn>
                        </p:par>
                        <p:par>
                          <p:cTn id="26" fill="hold">
                            <p:stCondLst>
                              <p:cond delay="4000"/>
                            </p:stCondLst>
                            <p:childTnLst>
                              <p:par>
                                <p:cTn id="27" presetID="49" presetClass="path" presetSubtype="0" accel="50000" decel="50000" fill="hold" grpId="0" nodeType="afterEffect">
                                  <p:stCondLst>
                                    <p:cond delay="0"/>
                                  </p:stCondLst>
                                  <p:childTnLst>
                                    <p:animMotion origin="layout" path="M -4.27457E-6 5E-6 L 0.42922 0.23907 " pathEditMode="relative" rAng="0" ptsTypes="AA">
                                      <p:cBhvr>
                                        <p:cTn id="28" dur="2000" fill="hold"/>
                                        <p:tgtEl>
                                          <p:spTgt spid="1853485"/>
                                        </p:tgtEl>
                                        <p:attrNameLst>
                                          <p:attrName>ppt_x</p:attrName>
                                          <p:attrName>ppt_y</p:attrName>
                                        </p:attrNameLst>
                                      </p:cBhvr>
                                      <p:rCtr x="21500" y="12000"/>
                                    </p:animMotion>
                                  </p:childTnLst>
                                </p:cTn>
                              </p:par>
                              <p:par>
                                <p:cTn id="29" presetID="49" presetClass="path" presetSubtype="0" accel="50000" decel="50000" fill="hold" grpId="2" nodeType="withEffect">
                                  <p:stCondLst>
                                    <p:cond delay="0"/>
                                  </p:stCondLst>
                                  <p:childTnLst>
                                    <p:animMotion origin="layout" path="M 0.28529 -0.2427 L 0.59516 -0.00364 " pathEditMode="relative" rAng="0" ptsTypes="AA">
                                      <p:cBhvr>
                                        <p:cTn id="30" dur="2000" fill="hold"/>
                                        <p:tgtEl>
                                          <p:spTgt spid="1853497"/>
                                        </p:tgtEl>
                                        <p:attrNameLst>
                                          <p:attrName>ppt_x</p:attrName>
                                          <p:attrName>ppt_y</p:attrName>
                                        </p:attrNameLst>
                                      </p:cBhvr>
                                      <p:rCtr x="15500" y="12000"/>
                                    </p:animMotion>
                                  </p:childTnLst>
                                </p:cTn>
                              </p:par>
                              <p:par>
                                <p:cTn id="31" presetID="49" presetClass="path" presetSubtype="0" accel="50000" decel="50000" fill="hold" grpId="0" nodeType="withEffect">
                                  <p:stCondLst>
                                    <p:cond delay="0"/>
                                  </p:stCondLst>
                                  <p:childTnLst>
                                    <p:animMotion origin="layout" path="M -4.27457E-6 5E-6 L 0.18604 0.2448 " pathEditMode="relative" rAng="0" ptsTypes="AA">
                                      <p:cBhvr>
                                        <p:cTn id="32" dur="2000" fill="hold"/>
                                        <p:tgtEl>
                                          <p:spTgt spid="1853486"/>
                                        </p:tgtEl>
                                        <p:attrNameLst>
                                          <p:attrName>ppt_x</p:attrName>
                                          <p:attrName>ppt_y</p:attrName>
                                        </p:attrNameLst>
                                      </p:cBhvr>
                                      <p:rCtr x="9300" y="12200"/>
                                    </p:animMotion>
                                  </p:childTnLst>
                                </p:cTn>
                              </p:par>
                              <p:par>
                                <p:cTn id="33" presetID="49" presetClass="path" presetSubtype="0" accel="50000" decel="50000" fill="hold" grpId="0" nodeType="withEffect">
                                  <p:stCondLst>
                                    <p:cond delay="0"/>
                                  </p:stCondLst>
                                  <p:childTnLst>
                                    <p:animMotion origin="layout" path="M -4.27457E-6 5E-6 L -0.40659 0.2448 " pathEditMode="relative" rAng="0" ptsTypes="AA">
                                      <p:cBhvr>
                                        <p:cTn id="34" dur="2000" fill="hold"/>
                                        <p:tgtEl>
                                          <p:spTgt spid="1853487"/>
                                        </p:tgtEl>
                                        <p:attrNameLst>
                                          <p:attrName>ppt_x</p:attrName>
                                          <p:attrName>ppt_y</p:attrName>
                                        </p:attrNameLst>
                                      </p:cBhvr>
                                      <p:rCtr x="-20300" y="12200"/>
                                    </p:animMotion>
                                  </p:childTnLst>
                                </p:cTn>
                              </p:par>
                              <p:par>
                                <p:cTn id="35" presetID="49" presetClass="path" presetSubtype="0" accel="50000" decel="50000" fill="hold" grpId="0" nodeType="withEffect">
                                  <p:stCondLst>
                                    <p:cond delay="0"/>
                                  </p:stCondLst>
                                  <p:childTnLst>
                                    <p:animMotion origin="layout" path="M -4.27457E-6 5E-6 L -0.16341 0.23907 " pathEditMode="relative" rAng="0" ptsTypes="AA">
                                      <p:cBhvr>
                                        <p:cTn id="36" dur="2000" fill="hold"/>
                                        <p:tgtEl>
                                          <p:spTgt spid="1853488"/>
                                        </p:tgtEl>
                                        <p:attrNameLst>
                                          <p:attrName>ppt_x</p:attrName>
                                          <p:attrName>ppt_y</p:attrName>
                                        </p:attrNameLst>
                                      </p:cBhvr>
                                      <p:rCtr x="-8200" y="12000"/>
                                    </p:animMotion>
                                  </p:childTnLst>
                                </p:cTn>
                              </p:par>
                              <p:par>
                                <p:cTn id="37" presetID="49" presetClass="path" presetSubtype="0" accel="50000" decel="50000" fill="hold" grpId="0" nodeType="withEffect">
                                  <p:stCondLst>
                                    <p:cond delay="0"/>
                                  </p:stCondLst>
                                  <p:childTnLst>
                                    <p:animMotion origin="layout" path="M -4.27457E-6 5E-6 L -0.04836 0.2448 " pathEditMode="relative" rAng="0" ptsTypes="AA">
                                      <p:cBhvr>
                                        <p:cTn id="38" dur="2000" fill="hold"/>
                                        <p:tgtEl>
                                          <p:spTgt spid="1853489"/>
                                        </p:tgtEl>
                                        <p:attrNameLst>
                                          <p:attrName>ppt_x</p:attrName>
                                          <p:attrName>ppt_y</p:attrName>
                                        </p:attrNameLst>
                                      </p:cBhvr>
                                      <p:rCtr x="-2400" y="12200"/>
                                    </p:animMotion>
                                  </p:childTnLst>
                                </p:cTn>
                              </p:par>
                              <p:par>
                                <p:cTn id="39" presetID="49" presetClass="path" presetSubtype="0" accel="50000" decel="50000" fill="hold" grpId="0" nodeType="withEffect">
                                  <p:stCondLst>
                                    <p:cond delay="0"/>
                                  </p:stCondLst>
                                  <p:childTnLst>
                                    <p:animMotion origin="layout" path="M -4.27457E-6 5E-6 L -0.4023 0.2448 " pathEditMode="relative" rAng="0" ptsTypes="AA">
                                      <p:cBhvr>
                                        <p:cTn id="40" dur="2000" fill="hold"/>
                                        <p:tgtEl>
                                          <p:spTgt spid="1853490"/>
                                        </p:tgtEl>
                                        <p:attrNameLst>
                                          <p:attrName>ppt_x</p:attrName>
                                          <p:attrName>ppt_y</p:attrName>
                                        </p:attrNameLst>
                                      </p:cBhvr>
                                      <p:rCtr x="-20100" y="12200"/>
                                    </p:animMotion>
                                  </p:childTnLst>
                                </p:cTn>
                              </p:par>
                              <p:par>
                                <p:cTn id="41" presetID="49" presetClass="path" presetSubtype="0" accel="50000" decel="50000" fill="hold" grpId="0" nodeType="withEffect">
                                  <p:stCondLst>
                                    <p:cond delay="0"/>
                                  </p:stCondLst>
                                  <p:childTnLst>
                                    <p:animMotion origin="layout" path="M 5.55556E-7 3.33333E-6 L 0.05903 0.2449 " pathEditMode="relative" rAng="0" ptsTypes="AA">
                                      <p:cBhvr>
                                        <p:cTn id="42" dur="2000" fill="hold"/>
                                        <p:tgtEl>
                                          <p:spTgt spid="1853493"/>
                                        </p:tgtEl>
                                        <p:attrNameLst>
                                          <p:attrName>ppt_x</p:attrName>
                                          <p:attrName>ppt_y</p:attrName>
                                        </p:attrNameLst>
                                      </p:cBhvr>
                                      <p:rCtr x="3000" y="12200"/>
                                    </p:animMotion>
                                  </p:childTnLst>
                                </p:cTn>
                              </p:par>
                            </p:childTnLst>
                          </p:cTn>
                        </p:par>
                        <p:par>
                          <p:cTn id="43" fill="hold">
                            <p:stCondLst>
                              <p:cond delay="6000"/>
                            </p:stCondLst>
                            <p:childTnLst>
                              <p:par>
                                <p:cTn id="44" presetID="10" presetClass="exit" presetSubtype="0" fill="hold" grpId="2" nodeType="afterEffect">
                                  <p:stCondLst>
                                    <p:cond delay="0"/>
                                  </p:stCondLst>
                                  <p:childTnLst>
                                    <p:animEffect transition="out" filter="fade">
                                      <p:cBhvr>
                                        <p:cTn id="45" dur="2000"/>
                                        <p:tgtEl>
                                          <p:spTgt spid="1853485"/>
                                        </p:tgtEl>
                                      </p:cBhvr>
                                    </p:animEffect>
                                    <p:set>
                                      <p:cBhvr>
                                        <p:cTn id="46" dur="1" fill="hold">
                                          <p:stCondLst>
                                            <p:cond delay="1999"/>
                                          </p:stCondLst>
                                        </p:cTn>
                                        <p:tgtEl>
                                          <p:spTgt spid="1853485"/>
                                        </p:tgtEl>
                                        <p:attrNameLst>
                                          <p:attrName>style.visibility</p:attrName>
                                        </p:attrNameLst>
                                      </p:cBhvr>
                                      <p:to>
                                        <p:strVal val="hidden"/>
                                      </p:to>
                                    </p:set>
                                  </p:childTnLst>
                                </p:cTn>
                              </p:par>
                              <p:par>
                                <p:cTn id="47" presetID="10" presetClass="exit" presetSubtype="0" fill="hold" grpId="3" nodeType="withEffect">
                                  <p:stCondLst>
                                    <p:cond delay="0"/>
                                  </p:stCondLst>
                                  <p:childTnLst>
                                    <p:animEffect transition="out" filter="fade">
                                      <p:cBhvr>
                                        <p:cTn id="48" dur="2000"/>
                                        <p:tgtEl>
                                          <p:spTgt spid="1853497"/>
                                        </p:tgtEl>
                                      </p:cBhvr>
                                    </p:animEffect>
                                    <p:set>
                                      <p:cBhvr>
                                        <p:cTn id="49" dur="1" fill="hold">
                                          <p:stCondLst>
                                            <p:cond delay="1999"/>
                                          </p:stCondLst>
                                        </p:cTn>
                                        <p:tgtEl>
                                          <p:spTgt spid="1853497"/>
                                        </p:tgtEl>
                                        <p:attrNameLst>
                                          <p:attrName>style.visibility</p:attrName>
                                        </p:attrNameLst>
                                      </p:cBhvr>
                                      <p:to>
                                        <p:strVal val="hidden"/>
                                      </p:to>
                                    </p:set>
                                  </p:childTnLst>
                                </p:cTn>
                              </p:par>
                              <p:par>
                                <p:cTn id="50" presetID="10" presetClass="exit" presetSubtype="0" fill="hold" grpId="2" nodeType="withEffect">
                                  <p:stCondLst>
                                    <p:cond delay="0"/>
                                  </p:stCondLst>
                                  <p:childTnLst>
                                    <p:animEffect transition="out" filter="fade">
                                      <p:cBhvr>
                                        <p:cTn id="51" dur="2000"/>
                                        <p:tgtEl>
                                          <p:spTgt spid="1853486"/>
                                        </p:tgtEl>
                                      </p:cBhvr>
                                    </p:animEffect>
                                    <p:set>
                                      <p:cBhvr>
                                        <p:cTn id="52" dur="1" fill="hold">
                                          <p:stCondLst>
                                            <p:cond delay="1999"/>
                                          </p:stCondLst>
                                        </p:cTn>
                                        <p:tgtEl>
                                          <p:spTgt spid="1853486"/>
                                        </p:tgtEl>
                                        <p:attrNameLst>
                                          <p:attrName>style.visibility</p:attrName>
                                        </p:attrNameLst>
                                      </p:cBhvr>
                                      <p:to>
                                        <p:strVal val="hidden"/>
                                      </p:to>
                                    </p:set>
                                  </p:childTnLst>
                                </p:cTn>
                              </p:par>
                              <p:par>
                                <p:cTn id="53" presetID="10" presetClass="exit" presetSubtype="0" fill="hold" grpId="2" nodeType="withEffect">
                                  <p:stCondLst>
                                    <p:cond delay="0"/>
                                  </p:stCondLst>
                                  <p:childTnLst>
                                    <p:animEffect transition="out" filter="fade">
                                      <p:cBhvr>
                                        <p:cTn id="54" dur="2000"/>
                                        <p:tgtEl>
                                          <p:spTgt spid="1853487"/>
                                        </p:tgtEl>
                                      </p:cBhvr>
                                    </p:animEffect>
                                    <p:set>
                                      <p:cBhvr>
                                        <p:cTn id="55" dur="1" fill="hold">
                                          <p:stCondLst>
                                            <p:cond delay="1999"/>
                                          </p:stCondLst>
                                        </p:cTn>
                                        <p:tgtEl>
                                          <p:spTgt spid="1853487"/>
                                        </p:tgtEl>
                                        <p:attrNameLst>
                                          <p:attrName>style.visibility</p:attrName>
                                        </p:attrNameLst>
                                      </p:cBhvr>
                                      <p:to>
                                        <p:strVal val="hidden"/>
                                      </p:to>
                                    </p:set>
                                  </p:childTnLst>
                                </p:cTn>
                              </p:par>
                              <p:par>
                                <p:cTn id="56" presetID="10" presetClass="exit" presetSubtype="0" fill="hold" grpId="2" nodeType="withEffect">
                                  <p:stCondLst>
                                    <p:cond delay="0"/>
                                  </p:stCondLst>
                                  <p:childTnLst>
                                    <p:animEffect transition="out" filter="fade">
                                      <p:cBhvr>
                                        <p:cTn id="57" dur="2000"/>
                                        <p:tgtEl>
                                          <p:spTgt spid="1853488"/>
                                        </p:tgtEl>
                                      </p:cBhvr>
                                    </p:animEffect>
                                    <p:set>
                                      <p:cBhvr>
                                        <p:cTn id="58" dur="1" fill="hold">
                                          <p:stCondLst>
                                            <p:cond delay="1999"/>
                                          </p:stCondLst>
                                        </p:cTn>
                                        <p:tgtEl>
                                          <p:spTgt spid="1853488"/>
                                        </p:tgtEl>
                                        <p:attrNameLst>
                                          <p:attrName>style.visibility</p:attrName>
                                        </p:attrNameLst>
                                      </p:cBhvr>
                                      <p:to>
                                        <p:strVal val="hidden"/>
                                      </p:to>
                                    </p:set>
                                  </p:childTnLst>
                                </p:cTn>
                              </p:par>
                              <p:par>
                                <p:cTn id="59" presetID="10" presetClass="exit" presetSubtype="0" fill="hold" grpId="2" nodeType="withEffect">
                                  <p:stCondLst>
                                    <p:cond delay="0"/>
                                  </p:stCondLst>
                                  <p:childTnLst>
                                    <p:animEffect transition="out" filter="fade">
                                      <p:cBhvr>
                                        <p:cTn id="60" dur="2000"/>
                                        <p:tgtEl>
                                          <p:spTgt spid="1853489"/>
                                        </p:tgtEl>
                                      </p:cBhvr>
                                    </p:animEffect>
                                    <p:set>
                                      <p:cBhvr>
                                        <p:cTn id="61" dur="1" fill="hold">
                                          <p:stCondLst>
                                            <p:cond delay="1999"/>
                                          </p:stCondLst>
                                        </p:cTn>
                                        <p:tgtEl>
                                          <p:spTgt spid="1853489"/>
                                        </p:tgtEl>
                                        <p:attrNameLst>
                                          <p:attrName>style.visibility</p:attrName>
                                        </p:attrNameLst>
                                      </p:cBhvr>
                                      <p:to>
                                        <p:strVal val="hidden"/>
                                      </p:to>
                                    </p:set>
                                  </p:childTnLst>
                                </p:cTn>
                              </p:par>
                              <p:par>
                                <p:cTn id="62" presetID="10" presetClass="exit" presetSubtype="0" fill="hold" grpId="2" nodeType="withEffect">
                                  <p:stCondLst>
                                    <p:cond delay="0"/>
                                  </p:stCondLst>
                                  <p:childTnLst>
                                    <p:animEffect transition="out" filter="fade">
                                      <p:cBhvr>
                                        <p:cTn id="63" dur="2000"/>
                                        <p:tgtEl>
                                          <p:spTgt spid="1853490"/>
                                        </p:tgtEl>
                                      </p:cBhvr>
                                    </p:animEffect>
                                    <p:set>
                                      <p:cBhvr>
                                        <p:cTn id="64" dur="1" fill="hold">
                                          <p:stCondLst>
                                            <p:cond delay="1999"/>
                                          </p:stCondLst>
                                        </p:cTn>
                                        <p:tgtEl>
                                          <p:spTgt spid="1853490"/>
                                        </p:tgtEl>
                                        <p:attrNameLst>
                                          <p:attrName>style.visibility</p:attrName>
                                        </p:attrNameLst>
                                      </p:cBhvr>
                                      <p:to>
                                        <p:strVal val="hidden"/>
                                      </p:to>
                                    </p:set>
                                  </p:childTnLst>
                                </p:cTn>
                              </p:par>
                              <p:par>
                                <p:cTn id="65" presetID="10" presetClass="exit" presetSubtype="0" fill="hold" grpId="2" nodeType="withEffect">
                                  <p:stCondLst>
                                    <p:cond delay="0"/>
                                  </p:stCondLst>
                                  <p:childTnLst>
                                    <p:animEffect transition="out" filter="fade">
                                      <p:cBhvr>
                                        <p:cTn id="66" dur="2000"/>
                                        <p:tgtEl>
                                          <p:spTgt spid="1853493"/>
                                        </p:tgtEl>
                                      </p:cBhvr>
                                    </p:animEffect>
                                    <p:set>
                                      <p:cBhvr>
                                        <p:cTn id="67" dur="1" fill="hold">
                                          <p:stCondLst>
                                            <p:cond delay="1999"/>
                                          </p:stCondLst>
                                        </p:cTn>
                                        <p:tgtEl>
                                          <p:spTgt spid="1853493"/>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53498"/>
                                        </p:tgtEl>
                                        <p:attrNameLst>
                                          <p:attrName>style.visibility</p:attrName>
                                        </p:attrNameLst>
                                      </p:cBhvr>
                                      <p:to>
                                        <p:strVal val="visible"/>
                                      </p:to>
                                    </p:set>
                                    <p:animEffect transition="in" filter="fade">
                                      <p:cBhvr>
                                        <p:cTn id="72" dur="2000"/>
                                        <p:tgtEl>
                                          <p:spTgt spid="1853498"/>
                                        </p:tgtEl>
                                      </p:cBhvr>
                                    </p:animEffect>
                                  </p:childTnLst>
                                </p:cTn>
                              </p:par>
                            </p:childTnLst>
                          </p:cTn>
                        </p:par>
                        <p:par>
                          <p:cTn id="73" fill="hold">
                            <p:stCondLst>
                              <p:cond delay="2000"/>
                            </p:stCondLst>
                            <p:childTnLst>
                              <p:par>
                                <p:cTn id="74" presetID="0" presetClass="path" presetSubtype="0" accel="50000" decel="50000" fill="hold" grpId="2" nodeType="afterEffect">
                                  <p:stCondLst>
                                    <p:cond delay="0"/>
                                  </p:stCondLst>
                                  <p:childTnLst>
                                    <p:animMotion origin="layout" path="M 0.00429 0.00339 L 0.28335 -0.24687 L 0.34887 -0.00182 " pathEditMode="relative" rAng="0" ptsTypes="AAA">
                                      <p:cBhvr>
                                        <p:cTn id="75" dur="5000" fill="hold"/>
                                        <p:tgtEl>
                                          <p:spTgt spid="1853498"/>
                                        </p:tgtEl>
                                        <p:attrNameLst>
                                          <p:attrName>ppt_x</p:attrName>
                                          <p:attrName>ppt_y</p:attrName>
                                        </p:attrNameLst>
                                      </p:cBhvr>
                                      <p:rCtr x="17200" y="-12500"/>
                                    </p:animMotion>
                                  </p:childTnLst>
                                </p:cTn>
                              </p:par>
                            </p:childTnLst>
                          </p:cTn>
                        </p:par>
                        <p:par>
                          <p:cTn id="76" fill="hold">
                            <p:stCondLst>
                              <p:cond delay="7000"/>
                            </p:stCondLst>
                            <p:childTnLst>
                              <p:par>
                                <p:cTn id="77" presetID="10" presetClass="exit" presetSubtype="0" fill="hold" grpId="1" nodeType="afterEffect">
                                  <p:stCondLst>
                                    <p:cond delay="0"/>
                                  </p:stCondLst>
                                  <p:childTnLst>
                                    <p:animEffect transition="out" filter="fade">
                                      <p:cBhvr>
                                        <p:cTn id="78" dur="2000"/>
                                        <p:tgtEl>
                                          <p:spTgt spid="1853498"/>
                                        </p:tgtEl>
                                      </p:cBhvr>
                                    </p:animEffect>
                                    <p:set>
                                      <p:cBhvr>
                                        <p:cTn id="79" dur="1" fill="hold">
                                          <p:stCondLst>
                                            <p:cond delay="1999"/>
                                          </p:stCondLst>
                                        </p:cTn>
                                        <p:tgtEl>
                                          <p:spTgt spid="1853498"/>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1853442"/>
                                        </p:tgtEl>
                                        <p:attrNameLst>
                                          <p:attrName>style.visibility</p:attrName>
                                        </p:attrNameLst>
                                      </p:cBhvr>
                                      <p:to>
                                        <p:strVal val="visible"/>
                                      </p:to>
                                    </p:set>
                                    <p:animEffect transition="in" filter="fade">
                                      <p:cBhvr>
                                        <p:cTn id="84" dur="2000"/>
                                        <p:tgtEl>
                                          <p:spTgt spid="185344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853443"/>
                                        </p:tgtEl>
                                        <p:attrNameLst>
                                          <p:attrName>style.visibility</p:attrName>
                                        </p:attrNameLst>
                                      </p:cBhvr>
                                      <p:to>
                                        <p:strVal val="visible"/>
                                      </p:to>
                                    </p:set>
                                    <p:animEffect transition="in" filter="fade">
                                      <p:cBhvr>
                                        <p:cTn id="87" dur="2000"/>
                                        <p:tgtEl>
                                          <p:spTgt spid="1853443"/>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nodeType="clickEffect">
                                  <p:stCondLst>
                                    <p:cond delay="0"/>
                                  </p:stCondLst>
                                  <p:childTnLst>
                                    <p:set>
                                      <p:cBhvr>
                                        <p:cTn id="91" dur="1" fill="hold">
                                          <p:stCondLst>
                                            <p:cond delay="0"/>
                                          </p:stCondLst>
                                        </p:cTn>
                                        <p:tgtEl>
                                          <p:spTgt spid="3"/>
                                        </p:tgtEl>
                                        <p:attrNameLst>
                                          <p:attrName>style.visibility</p:attrName>
                                        </p:attrNameLst>
                                      </p:cBhvr>
                                      <p:to>
                                        <p:strVal val="visible"/>
                                      </p:to>
                                    </p:set>
                                    <p:animEffect transition="in" filter="dissolve">
                                      <p:cBhvr>
                                        <p:cTn id="92" dur="1000"/>
                                        <p:tgtEl>
                                          <p:spTgt spid="3"/>
                                        </p:tgtEl>
                                      </p:cBhvr>
                                    </p:animEffect>
                                  </p:childTnLst>
                                </p:cTn>
                              </p:par>
                              <p:par>
                                <p:cTn id="93" presetID="9" presetClass="entr" presetSubtype="0" fill="hold" nodeType="withEffect">
                                  <p:stCondLst>
                                    <p:cond delay="0"/>
                                  </p:stCondLst>
                                  <p:childTnLst>
                                    <p:set>
                                      <p:cBhvr>
                                        <p:cTn id="94" dur="1" fill="hold">
                                          <p:stCondLst>
                                            <p:cond delay="0"/>
                                          </p:stCondLst>
                                        </p:cTn>
                                        <p:tgtEl>
                                          <p:spTgt spid="4"/>
                                        </p:tgtEl>
                                        <p:attrNameLst>
                                          <p:attrName>style.visibility</p:attrName>
                                        </p:attrNameLst>
                                      </p:cBhvr>
                                      <p:to>
                                        <p:strVal val="visible"/>
                                      </p:to>
                                    </p:set>
                                    <p:animEffect transition="in" filter="dissolve">
                                      <p:cBhvr>
                                        <p:cTn id="95" dur="1000"/>
                                        <p:tgtEl>
                                          <p:spTgt spid="4"/>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1" nodeType="clickEffect">
                                  <p:stCondLst>
                                    <p:cond delay="0"/>
                                  </p:stCondLst>
                                  <p:childTnLst>
                                    <p:set>
                                      <p:cBhvr>
                                        <p:cTn id="99" dur="1" fill="hold">
                                          <p:stCondLst>
                                            <p:cond delay="0"/>
                                          </p:stCondLst>
                                        </p:cTn>
                                        <p:tgtEl>
                                          <p:spTgt spid="1853499"/>
                                        </p:tgtEl>
                                        <p:attrNameLst>
                                          <p:attrName>style.visibility</p:attrName>
                                        </p:attrNameLst>
                                      </p:cBhvr>
                                      <p:to>
                                        <p:strVal val="visible"/>
                                      </p:to>
                                    </p:set>
                                    <p:animEffect transition="in" filter="fade">
                                      <p:cBhvr>
                                        <p:cTn id="100" dur="2000"/>
                                        <p:tgtEl>
                                          <p:spTgt spid="1853499"/>
                                        </p:tgtEl>
                                      </p:cBhvr>
                                    </p:animEffect>
                                  </p:childTnLst>
                                </p:cTn>
                              </p:par>
                            </p:childTnLst>
                          </p:cTn>
                        </p:par>
                        <p:par>
                          <p:cTn id="101" fill="hold">
                            <p:stCondLst>
                              <p:cond delay="2000"/>
                            </p:stCondLst>
                            <p:childTnLst>
                              <p:par>
                                <p:cTn id="102" presetID="56" presetClass="path" presetSubtype="0" accel="50000" decel="50000" fill="hold" grpId="0" nodeType="afterEffect">
                                  <p:stCondLst>
                                    <p:cond delay="0"/>
                                  </p:stCondLst>
                                  <p:childTnLst>
                                    <p:animMotion origin="layout" path="M -0.00019 0.00911 L 0.2853 -0.24271 " pathEditMode="relative" rAng="0" ptsTypes="AA">
                                      <p:cBhvr>
                                        <p:cTn id="103" dur="2000" fill="hold"/>
                                        <p:tgtEl>
                                          <p:spTgt spid="1853499"/>
                                        </p:tgtEl>
                                        <p:attrNameLst>
                                          <p:attrName>ppt_x</p:attrName>
                                          <p:attrName>ppt_y</p:attrName>
                                        </p:attrNameLst>
                                      </p:cBhvr>
                                      <p:rCtr x="14300" y="-12600"/>
                                    </p:animMotion>
                                  </p:childTnLst>
                                </p:cTn>
                              </p:par>
                            </p:childTnLst>
                          </p:cTn>
                        </p:par>
                        <p:par>
                          <p:cTn id="104" fill="hold">
                            <p:stCondLst>
                              <p:cond delay="4000"/>
                            </p:stCondLst>
                            <p:childTnLst>
                              <p:par>
                                <p:cTn id="105" presetID="1" presetClass="entr" presetSubtype="0" fill="hold" grpId="1" nodeType="afterEffect">
                                  <p:stCondLst>
                                    <p:cond delay="0"/>
                                  </p:stCondLst>
                                  <p:childTnLst>
                                    <p:set>
                                      <p:cBhvr>
                                        <p:cTn id="106" dur="1" fill="hold">
                                          <p:stCondLst>
                                            <p:cond delay="0"/>
                                          </p:stCondLst>
                                        </p:cTn>
                                        <p:tgtEl>
                                          <p:spTgt spid="1853491"/>
                                        </p:tgtEl>
                                        <p:attrNameLst>
                                          <p:attrName>style.visibility</p:attrName>
                                        </p:attrNameLst>
                                      </p:cBhvr>
                                      <p:to>
                                        <p:strVal val="visible"/>
                                      </p:to>
                                    </p:set>
                                  </p:childTnLst>
                                </p:cTn>
                              </p:par>
                              <p:par>
                                <p:cTn id="107" presetID="1" presetClass="entr" presetSubtype="0" fill="hold" grpId="1" nodeType="withEffect">
                                  <p:stCondLst>
                                    <p:cond delay="0"/>
                                  </p:stCondLst>
                                  <p:childTnLst>
                                    <p:set>
                                      <p:cBhvr>
                                        <p:cTn id="108" dur="1" fill="hold">
                                          <p:stCondLst>
                                            <p:cond delay="0"/>
                                          </p:stCondLst>
                                        </p:cTn>
                                        <p:tgtEl>
                                          <p:spTgt spid="1853492"/>
                                        </p:tgtEl>
                                        <p:attrNameLst>
                                          <p:attrName>style.visibility</p:attrName>
                                        </p:attrNameLst>
                                      </p:cBhvr>
                                      <p:to>
                                        <p:strVal val="visible"/>
                                      </p:to>
                                    </p:set>
                                  </p:childTnLst>
                                </p:cTn>
                              </p:par>
                            </p:childTnLst>
                          </p:cTn>
                        </p:par>
                        <p:par>
                          <p:cTn id="109" fill="hold">
                            <p:stCondLst>
                              <p:cond delay="4000"/>
                            </p:stCondLst>
                            <p:childTnLst>
                              <p:par>
                                <p:cTn id="110" presetID="49" presetClass="path" presetSubtype="0" accel="50000" decel="50000" fill="hold" grpId="2" nodeType="afterEffect">
                                  <p:stCondLst>
                                    <p:cond delay="0"/>
                                  </p:stCondLst>
                                  <p:childTnLst>
                                    <p:animMotion origin="layout" path="M 0.28705 -0.24141 L 0.23596 0.00469 " pathEditMode="relative" rAng="0" ptsTypes="AA">
                                      <p:cBhvr>
                                        <p:cTn id="111" dur="2000" fill="hold"/>
                                        <p:tgtEl>
                                          <p:spTgt spid="1853499"/>
                                        </p:tgtEl>
                                        <p:attrNameLst>
                                          <p:attrName>ppt_x</p:attrName>
                                          <p:attrName>ppt_y</p:attrName>
                                        </p:attrNameLst>
                                      </p:cBhvr>
                                      <p:rCtr x="-2600" y="12300"/>
                                    </p:animMotion>
                                  </p:childTnLst>
                                </p:cTn>
                              </p:par>
                              <p:par>
                                <p:cTn id="112" presetID="49" presetClass="path" presetSubtype="0" accel="50000" decel="50000" fill="hold" grpId="0" nodeType="withEffect">
                                  <p:stCondLst>
                                    <p:cond delay="0"/>
                                  </p:stCondLst>
                                  <p:childTnLst>
                                    <p:animMotion origin="layout" path="M -4.27457E-6 5E-6 L -0.1679 0.23907 " pathEditMode="relative" rAng="0" ptsTypes="AA">
                                      <p:cBhvr>
                                        <p:cTn id="113" dur="2000" fill="hold"/>
                                        <p:tgtEl>
                                          <p:spTgt spid="1853491"/>
                                        </p:tgtEl>
                                        <p:attrNameLst>
                                          <p:attrName>ppt_x</p:attrName>
                                          <p:attrName>ppt_y</p:attrName>
                                        </p:attrNameLst>
                                      </p:cBhvr>
                                      <p:rCtr x="-8400" y="12000"/>
                                    </p:animMotion>
                                  </p:childTnLst>
                                </p:cTn>
                              </p:par>
                              <p:par>
                                <p:cTn id="114" presetID="49" presetClass="path" presetSubtype="0" accel="50000" decel="50000" fill="hold" grpId="0" nodeType="withEffect">
                                  <p:stCondLst>
                                    <p:cond delay="0"/>
                                  </p:stCondLst>
                                  <p:childTnLst>
                                    <p:animMotion origin="layout" path="M -4.27457E-6 5E-6 L -0.4023 0.2448 " pathEditMode="relative" rAng="0" ptsTypes="AA">
                                      <p:cBhvr>
                                        <p:cTn id="115" dur="2000" fill="hold"/>
                                        <p:tgtEl>
                                          <p:spTgt spid="1853492"/>
                                        </p:tgtEl>
                                        <p:attrNameLst>
                                          <p:attrName>ppt_x</p:attrName>
                                          <p:attrName>ppt_y</p:attrName>
                                        </p:attrNameLst>
                                      </p:cBhvr>
                                      <p:rCtr x="-20100" y="12200"/>
                                    </p:animMotion>
                                  </p:childTnLst>
                                </p:cTn>
                              </p:par>
                            </p:childTnLst>
                          </p:cTn>
                        </p:par>
                        <p:par>
                          <p:cTn id="116" fill="hold">
                            <p:stCondLst>
                              <p:cond delay="6000"/>
                            </p:stCondLst>
                            <p:childTnLst>
                              <p:par>
                                <p:cTn id="117" presetID="10" presetClass="exit" presetSubtype="0" fill="hold" grpId="3" nodeType="afterEffect">
                                  <p:stCondLst>
                                    <p:cond delay="0"/>
                                  </p:stCondLst>
                                  <p:childTnLst>
                                    <p:animEffect transition="out" filter="fade">
                                      <p:cBhvr>
                                        <p:cTn id="118" dur="2000"/>
                                        <p:tgtEl>
                                          <p:spTgt spid="1853499"/>
                                        </p:tgtEl>
                                      </p:cBhvr>
                                    </p:animEffect>
                                    <p:set>
                                      <p:cBhvr>
                                        <p:cTn id="119" dur="1" fill="hold">
                                          <p:stCondLst>
                                            <p:cond delay="1999"/>
                                          </p:stCondLst>
                                        </p:cTn>
                                        <p:tgtEl>
                                          <p:spTgt spid="1853499"/>
                                        </p:tgtEl>
                                        <p:attrNameLst>
                                          <p:attrName>style.visibility</p:attrName>
                                        </p:attrNameLst>
                                      </p:cBhvr>
                                      <p:to>
                                        <p:strVal val="hidden"/>
                                      </p:to>
                                    </p:set>
                                  </p:childTnLst>
                                </p:cTn>
                              </p:par>
                              <p:par>
                                <p:cTn id="120" presetID="10" presetClass="exit" presetSubtype="0" fill="hold" grpId="2" nodeType="withEffect">
                                  <p:stCondLst>
                                    <p:cond delay="0"/>
                                  </p:stCondLst>
                                  <p:childTnLst>
                                    <p:animEffect transition="out" filter="fade">
                                      <p:cBhvr>
                                        <p:cTn id="121" dur="2000"/>
                                        <p:tgtEl>
                                          <p:spTgt spid="1853491"/>
                                        </p:tgtEl>
                                      </p:cBhvr>
                                    </p:animEffect>
                                    <p:set>
                                      <p:cBhvr>
                                        <p:cTn id="122" dur="1" fill="hold">
                                          <p:stCondLst>
                                            <p:cond delay="1999"/>
                                          </p:stCondLst>
                                        </p:cTn>
                                        <p:tgtEl>
                                          <p:spTgt spid="1853491"/>
                                        </p:tgtEl>
                                        <p:attrNameLst>
                                          <p:attrName>style.visibility</p:attrName>
                                        </p:attrNameLst>
                                      </p:cBhvr>
                                      <p:to>
                                        <p:strVal val="hidden"/>
                                      </p:to>
                                    </p:set>
                                  </p:childTnLst>
                                </p:cTn>
                              </p:par>
                              <p:par>
                                <p:cTn id="123" presetID="10" presetClass="exit" presetSubtype="0" fill="hold" grpId="2" nodeType="withEffect">
                                  <p:stCondLst>
                                    <p:cond delay="0"/>
                                  </p:stCondLst>
                                  <p:childTnLst>
                                    <p:animEffect transition="out" filter="fade">
                                      <p:cBhvr>
                                        <p:cTn id="124" dur="2000"/>
                                        <p:tgtEl>
                                          <p:spTgt spid="1853492"/>
                                        </p:tgtEl>
                                      </p:cBhvr>
                                    </p:animEffect>
                                    <p:set>
                                      <p:cBhvr>
                                        <p:cTn id="125" dur="1" fill="hold">
                                          <p:stCondLst>
                                            <p:cond delay="1999"/>
                                          </p:stCondLst>
                                        </p:cTn>
                                        <p:tgtEl>
                                          <p:spTgt spid="1853492"/>
                                        </p:tgtEl>
                                        <p:attrNameLst>
                                          <p:attrName>style.visibility</p:attrName>
                                        </p:attrNameLst>
                                      </p:cBhvr>
                                      <p:to>
                                        <p:strVal val="hidden"/>
                                      </p:to>
                                    </p:se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grpId="0" nodeType="clickEffect">
                                  <p:stCondLst>
                                    <p:cond delay="0"/>
                                  </p:stCondLst>
                                  <p:childTnLst>
                                    <p:set>
                                      <p:cBhvr>
                                        <p:cTn id="129" dur="1" fill="hold">
                                          <p:stCondLst>
                                            <p:cond delay="0"/>
                                          </p:stCondLst>
                                        </p:cTn>
                                        <p:tgtEl>
                                          <p:spTgt spid="1853500"/>
                                        </p:tgtEl>
                                        <p:attrNameLst>
                                          <p:attrName>style.visibility</p:attrName>
                                        </p:attrNameLst>
                                      </p:cBhvr>
                                      <p:to>
                                        <p:strVal val="visible"/>
                                      </p:to>
                                    </p:set>
                                    <p:animEffect transition="in" filter="fade">
                                      <p:cBhvr>
                                        <p:cTn id="130" dur="2000"/>
                                        <p:tgtEl>
                                          <p:spTgt spid="1853500"/>
                                        </p:tgtEl>
                                      </p:cBhvr>
                                    </p:animEffect>
                                  </p:childTnLst>
                                </p:cTn>
                              </p:par>
                            </p:childTnLst>
                          </p:cTn>
                        </p:par>
                        <p:par>
                          <p:cTn id="131" fill="hold">
                            <p:stCondLst>
                              <p:cond delay="2000"/>
                            </p:stCondLst>
                            <p:childTnLst>
                              <p:par>
                                <p:cTn id="132" presetID="56" presetClass="path" presetSubtype="0" accel="50000" decel="50000" fill="hold" grpId="2" nodeType="afterEffect">
                                  <p:stCondLst>
                                    <p:cond delay="0"/>
                                  </p:stCondLst>
                                  <p:childTnLst>
                                    <p:animMotion origin="layout" path="M 0.00409 0.00911 L 0.28627 -0.24193 " pathEditMode="relative" rAng="0" ptsTypes="AA">
                                      <p:cBhvr>
                                        <p:cTn id="133" dur="2000" fill="hold"/>
                                        <p:tgtEl>
                                          <p:spTgt spid="1853500"/>
                                        </p:tgtEl>
                                        <p:attrNameLst>
                                          <p:attrName>ppt_x</p:attrName>
                                          <p:attrName>ppt_y</p:attrName>
                                        </p:attrNameLst>
                                      </p:cBhvr>
                                      <p:rCtr x="14100" y="-12600"/>
                                    </p:animMotion>
                                  </p:childTnLst>
                                </p:cTn>
                              </p:par>
                            </p:childTnLst>
                          </p:cTn>
                        </p:par>
                        <p:par>
                          <p:cTn id="134" fill="hold">
                            <p:stCondLst>
                              <p:cond delay="4000"/>
                            </p:stCondLst>
                            <p:childTnLst>
                              <p:par>
                                <p:cTn id="135" presetID="35" presetClass="exit" presetSubtype="0" fill="hold" grpId="1" nodeType="afterEffect">
                                  <p:stCondLst>
                                    <p:cond delay="0"/>
                                  </p:stCondLst>
                                  <p:childTnLst>
                                    <p:animEffect transition="out" filter="fade">
                                      <p:cBhvr>
                                        <p:cTn id="136" dur="2000"/>
                                        <p:tgtEl>
                                          <p:spTgt spid="1853500"/>
                                        </p:tgtEl>
                                      </p:cBhvr>
                                    </p:animEffect>
                                    <p:anim calcmode="lin" valueType="num">
                                      <p:cBhvr>
                                        <p:cTn id="137" dur="2000"/>
                                        <p:tgtEl>
                                          <p:spTgt spid="1853500"/>
                                        </p:tgtEl>
                                        <p:attrNameLst>
                                          <p:attrName>style.rotation</p:attrName>
                                        </p:attrNameLst>
                                      </p:cBhvr>
                                      <p:tavLst>
                                        <p:tav tm="0">
                                          <p:val>
                                            <p:fltVal val="0"/>
                                          </p:val>
                                        </p:tav>
                                        <p:tav tm="100000">
                                          <p:val>
                                            <p:fltVal val="720"/>
                                          </p:val>
                                        </p:tav>
                                      </p:tavLst>
                                    </p:anim>
                                    <p:anim calcmode="lin" valueType="num">
                                      <p:cBhvr>
                                        <p:cTn id="138" dur="2000"/>
                                        <p:tgtEl>
                                          <p:spTgt spid="1853500"/>
                                        </p:tgtEl>
                                        <p:attrNameLst>
                                          <p:attrName>ppt_h</p:attrName>
                                        </p:attrNameLst>
                                      </p:cBhvr>
                                      <p:tavLst>
                                        <p:tav tm="0">
                                          <p:val>
                                            <p:strVal val="ppt_h"/>
                                          </p:val>
                                        </p:tav>
                                        <p:tav tm="100000">
                                          <p:val>
                                            <p:fltVal val="0"/>
                                          </p:val>
                                        </p:tav>
                                      </p:tavLst>
                                    </p:anim>
                                    <p:anim calcmode="lin" valueType="num">
                                      <p:cBhvr>
                                        <p:cTn id="139" dur="2000"/>
                                        <p:tgtEl>
                                          <p:spTgt spid="1853500"/>
                                        </p:tgtEl>
                                        <p:attrNameLst>
                                          <p:attrName>ppt_w</p:attrName>
                                        </p:attrNameLst>
                                      </p:cBhvr>
                                      <p:tavLst>
                                        <p:tav tm="0">
                                          <p:val>
                                            <p:strVal val="ppt_w"/>
                                          </p:val>
                                        </p:tav>
                                        <p:tav tm="100000">
                                          <p:val>
                                            <p:fltVal val="0"/>
                                          </p:val>
                                        </p:tav>
                                      </p:tavLst>
                                    </p:anim>
                                    <p:set>
                                      <p:cBhvr>
                                        <p:cTn id="140" dur="1" fill="hold">
                                          <p:stCondLst>
                                            <p:cond delay="1999"/>
                                          </p:stCondLst>
                                        </p:cTn>
                                        <p:tgtEl>
                                          <p:spTgt spid="185350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42" grpId="0" animBg="1"/>
      <p:bldP spid="1853443" grpId="0" animBg="1"/>
      <p:bldP spid="1853497" grpId="0" animBg="1"/>
      <p:bldP spid="1853497" grpId="1" animBg="1"/>
      <p:bldP spid="1853497" grpId="2" animBg="1"/>
      <p:bldP spid="1853497" grpId="3" animBg="1"/>
      <p:bldP spid="1853498" grpId="0" animBg="1"/>
      <p:bldP spid="1853498" grpId="1" animBg="1"/>
      <p:bldP spid="1853498" grpId="2" animBg="1"/>
      <p:bldP spid="1853499" grpId="0" animBg="1"/>
      <p:bldP spid="1853499" grpId="1" animBg="1"/>
      <p:bldP spid="1853499" grpId="2" animBg="1"/>
      <p:bldP spid="1853499" grpId="3" animBg="1"/>
      <p:bldP spid="1853500" grpId="0" animBg="1"/>
      <p:bldP spid="1853500" grpId="1" animBg="1"/>
      <p:bldP spid="1853500" grpId="2" animBg="1"/>
      <p:bldP spid="1853485" grpId="0" animBg="1"/>
      <p:bldP spid="1853485" grpId="1" animBg="1"/>
      <p:bldP spid="1853485" grpId="2" animBg="1"/>
      <p:bldP spid="1853486" grpId="0" animBg="1"/>
      <p:bldP spid="1853486" grpId="1" animBg="1"/>
      <p:bldP spid="1853486" grpId="2" animBg="1"/>
      <p:bldP spid="1853487" grpId="0" animBg="1"/>
      <p:bldP spid="1853487" grpId="1" animBg="1"/>
      <p:bldP spid="1853487" grpId="2" animBg="1"/>
      <p:bldP spid="1853488" grpId="0" animBg="1"/>
      <p:bldP spid="1853488" grpId="1" animBg="1"/>
      <p:bldP spid="1853488" grpId="2" animBg="1"/>
      <p:bldP spid="1853489" grpId="0" animBg="1"/>
      <p:bldP spid="1853489" grpId="1" animBg="1"/>
      <p:bldP spid="1853489" grpId="2" animBg="1"/>
      <p:bldP spid="1853490" grpId="0" animBg="1"/>
      <p:bldP spid="1853490" grpId="1" animBg="1"/>
      <p:bldP spid="1853490" grpId="2" animBg="1"/>
      <p:bldP spid="1853491" grpId="0" animBg="1"/>
      <p:bldP spid="1853491" grpId="1" animBg="1"/>
      <p:bldP spid="1853491" grpId="2" animBg="1"/>
      <p:bldP spid="1853492" grpId="0" animBg="1"/>
      <p:bldP spid="1853492" grpId="1" animBg="1"/>
      <p:bldP spid="1853492" grpId="2" animBg="1"/>
      <p:bldP spid="1853493" grpId="0" animBg="1"/>
      <p:bldP spid="1853493" grpId="1" animBg="1"/>
      <p:bldP spid="1853493" grpId="2"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B6279-70FC-C1D8-F14C-E118FC16B1F8}"/>
              </a:ext>
            </a:extLst>
          </p:cNvPr>
          <p:cNvSpPr>
            <a:spLocks noGrp="1"/>
          </p:cNvSpPr>
          <p:nvPr>
            <p:ph type="title"/>
          </p:nvPr>
        </p:nvSpPr>
        <p:spPr/>
        <p:txBody>
          <a:bodyPr/>
          <a:lstStyle/>
          <a:p>
            <a:r>
              <a:rPr lang="en-US"/>
              <a:t>VLANs</a:t>
            </a:r>
          </a:p>
        </p:txBody>
      </p:sp>
      <p:sp>
        <p:nvSpPr>
          <p:cNvPr id="3" name="Content Placeholder 2">
            <a:extLst>
              <a:ext uri="{FF2B5EF4-FFF2-40B4-BE49-F238E27FC236}">
                <a16:creationId xmlns:a16="http://schemas.microsoft.com/office/drawing/2014/main" id="{7989A1C1-9F6F-FDD9-D807-1F378704A74C}"/>
              </a:ext>
            </a:extLst>
          </p:cNvPr>
          <p:cNvSpPr>
            <a:spLocks noGrp="1"/>
          </p:cNvSpPr>
          <p:nvPr>
            <p:ph idx="1"/>
          </p:nvPr>
        </p:nvSpPr>
        <p:spPr/>
        <p:txBody>
          <a:bodyPr/>
          <a:lstStyle/>
          <a:p>
            <a:r>
              <a:rPr lang="en-US"/>
              <a:t>Logically creates multiple LANs within a switch</a:t>
            </a:r>
          </a:p>
          <a:p>
            <a:r>
              <a:rPr lang="en-US"/>
              <a:t>Tags used between switches to identify which LAN the frame belongs to</a:t>
            </a:r>
          </a:p>
          <a:p>
            <a:r>
              <a:rPr lang="en-US"/>
              <a:t>Configured on the switches</a:t>
            </a:r>
          </a:p>
          <a:p>
            <a:r>
              <a:rPr lang="en-US"/>
              <a:t>Change requires software update versus physical connection change for separate switches</a:t>
            </a:r>
          </a:p>
          <a:p>
            <a:r>
              <a:rPr lang="en-US"/>
              <a:t>Centralizes switch management</a:t>
            </a:r>
          </a:p>
        </p:txBody>
      </p:sp>
    </p:spTree>
    <p:extLst>
      <p:ext uri="{BB962C8B-B14F-4D97-AF65-F5344CB8AC3E}">
        <p14:creationId xmlns:p14="http://schemas.microsoft.com/office/powerpoint/2010/main" val="12525501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1379" name="Rectangle 3"/>
          <p:cNvSpPr>
            <a:spLocks noGrp="1" noChangeArrowheads="1"/>
          </p:cNvSpPr>
          <p:nvPr>
            <p:ph type="title"/>
          </p:nvPr>
        </p:nvSpPr>
        <p:spPr/>
        <p:txBody>
          <a:bodyPr/>
          <a:lstStyle/>
          <a:p>
            <a:r>
              <a:rPr lang="en-US"/>
              <a:t>Wi-Fi</a:t>
            </a:r>
          </a:p>
        </p:txBody>
      </p:sp>
      <p:sp>
        <p:nvSpPr>
          <p:cNvPr id="3941380" name="Rectangle 4"/>
          <p:cNvSpPr>
            <a:spLocks noGrp="1" noChangeArrowheads="1"/>
          </p:cNvSpPr>
          <p:nvPr>
            <p:ph idx="1"/>
          </p:nvPr>
        </p:nvSpPr>
        <p:spPr>
          <a:xfrm>
            <a:off x="1257300" y="2193131"/>
            <a:ext cx="14090730" cy="6967198"/>
          </a:xfrm>
        </p:spPr>
        <p:txBody>
          <a:bodyPr>
            <a:normAutofit lnSpcReduction="10000"/>
          </a:bodyPr>
          <a:lstStyle/>
          <a:p>
            <a:r>
              <a:rPr lang="en-US"/>
              <a:t>As ubiquitous as Ethernet in the LAN now</a:t>
            </a:r>
          </a:p>
          <a:p>
            <a:r>
              <a:rPr lang="en-US"/>
              <a:t>Part of IEEE 802.x family of LAN standards</a:t>
            </a:r>
          </a:p>
          <a:p>
            <a:r>
              <a:rPr lang="en-US"/>
              <a:t>802.11 is the IEEE name, but we just say Wi-Fi</a:t>
            </a:r>
          </a:p>
          <a:p>
            <a:r>
              <a:rPr lang="en-US"/>
              <a:t>The Wi-Fi Alliance is helping keep things simple</a:t>
            </a:r>
          </a:p>
          <a:p>
            <a:r>
              <a:rPr lang="en-US"/>
              <a:t>Theoretical speeds run to multi-gigabits, but the reality is usually slower</a:t>
            </a:r>
          </a:p>
          <a:p>
            <a:r>
              <a:rPr lang="en-US"/>
              <a:t>Huge variations in experience and </a:t>
            </a:r>
            <a:br>
              <a:rPr lang="en-US"/>
            </a:br>
            <a:r>
              <a:rPr lang="en-US"/>
              <a:t>management between vendors</a:t>
            </a:r>
          </a:p>
          <a:p>
            <a:r>
              <a:rPr lang="en-US"/>
              <a:t>Ethernet frame with Wi-Fi extras</a:t>
            </a:r>
            <a:br>
              <a:rPr lang="en-US"/>
            </a:br>
            <a:endParaRPr lang="en-US"/>
          </a:p>
        </p:txBody>
      </p:sp>
      <p:sp>
        <p:nvSpPr>
          <p:cNvPr id="4" name="Slide Number Placeholder 3"/>
          <p:cNvSpPr>
            <a:spLocks noGrp="1"/>
          </p:cNvSpPr>
          <p:nvPr>
            <p:ph type="sldNum" sz="quarter" idx="10"/>
          </p:nvPr>
        </p:nvSpPr>
        <p:spPr>
          <a:prstGeom prst="rect">
            <a:avLst/>
          </a:prstGeom>
        </p:spPr>
        <p:txBody>
          <a:bodyPr/>
          <a:lstStyle/>
          <a:p>
            <a:fld id="{A040DF1C-D544-4A4C-B379-5D6EE17E9ACE}" type="slidenum">
              <a:rPr lang="en-US">
                <a:solidFill>
                  <a:schemeClr val="tx1"/>
                </a:solidFill>
              </a:rPr>
              <a:pPr/>
              <a:t>46</a:t>
            </a:fld>
            <a:endParaRPr lang="en-US">
              <a:solidFill>
                <a:schemeClr val="tx1"/>
              </a:solidFill>
            </a:endParaRPr>
          </a:p>
        </p:txBody>
      </p:sp>
      <p:pic>
        <p:nvPicPr>
          <p:cNvPr id="5" name="Picture 4">
            <a:extLst>
              <a:ext uri="{FF2B5EF4-FFF2-40B4-BE49-F238E27FC236}">
                <a16:creationId xmlns:a16="http://schemas.microsoft.com/office/drawing/2014/main" id="{CBD5A7D9-FC13-9746-8D52-AAB70A423F41}"/>
              </a:ext>
            </a:extLst>
          </p:cNvPr>
          <p:cNvPicPr>
            <a:picLocks noChangeAspect="1"/>
          </p:cNvPicPr>
          <p:nvPr/>
        </p:nvPicPr>
        <p:blipFill>
          <a:blip r:embed="rId4"/>
          <a:stretch>
            <a:fillRect/>
          </a:stretch>
        </p:blipFill>
        <p:spPr>
          <a:xfrm>
            <a:off x="11720807" y="6113144"/>
            <a:ext cx="6029053" cy="3695226"/>
          </a:xfrm>
          <a:prstGeom prst="rect">
            <a:avLst/>
          </a:prstGeom>
        </p:spPr>
      </p:pic>
      <p:pic>
        <p:nvPicPr>
          <p:cNvPr id="1026" name="Picture 2" descr="Wi-Fi Alliance">
            <a:hlinkClick r:id="rId5"/>
            <a:extLst>
              <a:ext uri="{FF2B5EF4-FFF2-40B4-BE49-F238E27FC236}">
                <a16:creationId xmlns:a16="http://schemas.microsoft.com/office/drawing/2014/main" id="{54DBF548-057A-9546-B77D-02F2BE6A0AC9}"/>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14321271" y="2193131"/>
            <a:ext cx="2709429" cy="219728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991338290"/>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52A56B-F9C6-5659-ED36-D163D3B80ACE}"/>
              </a:ext>
            </a:extLst>
          </p:cNvPr>
          <p:cNvSpPr>
            <a:spLocks noGrp="1"/>
          </p:cNvSpPr>
          <p:nvPr>
            <p:ph type="title"/>
          </p:nvPr>
        </p:nvSpPr>
        <p:spPr/>
        <p:txBody>
          <a:bodyPr/>
          <a:lstStyle/>
          <a:p>
            <a:r>
              <a:rPr lang="en-US" b="1">
                <a:latin typeface="Helvetica Neue" panose="02000503000000020004" pitchFamily="2" charset="0"/>
                <a:ea typeface="Helvetica Neue" panose="02000503000000020004" pitchFamily="2" charset="0"/>
                <a:cs typeface="Helvetica Neue" panose="02000503000000020004" pitchFamily="2" charset="0"/>
              </a:rPr>
              <a:t>Wi-Fi Standards </a:t>
            </a:r>
          </a:p>
        </p:txBody>
      </p:sp>
      <p:pic>
        <p:nvPicPr>
          <p:cNvPr id="5" name="Picture 4">
            <a:extLst>
              <a:ext uri="{FF2B5EF4-FFF2-40B4-BE49-F238E27FC236}">
                <a16:creationId xmlns:a16="http://schemas.microsoft.com/office/drawing/2014/main" id="{6D2B00A6-ED05-FB11-A68A-33FC17289EBF}"/>
              </a:ext>
            </a:extLst>
          </p:cNvPr>
          <p:cNvPicPr>
            <a:picLocks noChangeAspect="1"/>
          </p:cNvPicPr>
          <p:nvPr/>
        </p:nvPicPr>
        <p:blipFill>
          <a:blip r:embed="rId2"/>
          <a:stretch>
            <a:fillRect/>
          </a:stretch>
        </p:blipFill>
        <p:spPr>
          <a:xfrm>
            <a:off x="3298784" y="2749135"/>
            <a:ext cx="10521387" cy="6551829"/>
          </a:xfrm>
          <a:prstGeom prst="rect">
            <a:avLst/>
          </a:prstGeom>
        </p:spPr>
      </p:pic>
    </p:spTree>
    <p:extLst>
      <p:ext uri="{BB962C8B-B14F-4D97-AF65-F5344CB8AC3E}">
        <p14:creationId xmlns:p14="http://schemas.microsoft.com/office/powerpoint/2010/main" val="39568307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Bands and Channels - 2.4 </a:t>
            </a:r>
            <a:r>
              <a:rPr lang="en-US" err="1"/>
              <a:t>Ghz</a:t>
            </a:r>
            <a:endParaRPr lang="en-US"/>
          </a:p>
        </p:txBody>
      </p:sp>
      <p:sp>
        <p:nvSpPr>
          <p:cNvPr id="7" name="Slide Number Placeholder 6"/>
          <p:cNvSpPr>
            <a:spLocks noGrp="1"/>
          </p:cNvSpPr>
          <p:nvPr>
            <p:ph type="sldNum" sz="quarter" idx="12"/>
          </p:nvPr>
        </p:nvSpPr>
        <p:spPr/>
        <p:txBody>
          <a:bodyPr/>
          <a:lstStyle/>
          <a:p>
            <a:fld id="{52B67DA5-9DD9-4BCA-8370-9CA784C1DE92}" type="slidenum">
              <a:rPr lang="en-US" smtClean="0"/>
              <a:pPr/>
              <a:t>48</a:t>
            </a:fld>
            <a:endParaRPr lang="en-US"/>
          </a:p>
        </p:txBody>
      </p:sp>
      <p:pic>
        <p:nvPicPr>
          <p:cNvPr id="13" name="Picture 12">
            <a:extLst>
              <a:ext uri="{FF2B5EF4-FFF2-40B4-BE49-F238E27FC236}">
                <a16:creationId xmlns:a16="http://schemas.microsoft.com/office/drawing/2014/main" id="{D6D668A4-61BB-BDA3-B38B-A33E55E9C469}"/>
              </a:ext>
            </a:extLst>
          </p:cNvPr>
          <p:cNvPicPr>
            <a:picLocks noChangeAspect="1"/>
          </p:cNvPicPr>
          <p:nvPr/>
        </p:nvPicPr>
        <p:blipFill>
          <a:blip r:embed="rId4"/>
          <a:stretch>
            <a:fillRect/>
          </a:stretch>
        </p:blipFill>
        <p:spPr>
          <a:xfrm>
            <a:off x="2526993" y="2293636"/>
            <a:ext cx="13133554" cy="6481016"/>
          </a:xfrm>
          <a:prstGeom prst="rect">
            <a:avLst/>
          </a:prstGeom>
        </p:spPr>
      </p:pic>
    </p:spTree>
    <p:custDataLst>
      <p:tags r:id="rId1"/>
    </p:custDataLst>
    <p:extLst>
      <p:ext uri="{BB962C8B-B14F-4D97-AF65-F5344CB8AC3E}">
        <p14:creationId xmlns:p14="http://schemas.microsoft.com/office/powerpoint/2010/main" val="22554009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F68F8-D27F-4E7F-945A-9D3C46592CAC}"/>
              </a:ext>
            </a:extLst>
          </p:cNvPr>
          <p:cNvSpPr>
            <a:spLocks noGrp="1"/>
          </p:cNvSpPr>
          <p:nvPr>
            <p:ph type="title"/>
          </p:nvPr>
        </p:nvSpPr>
        <p:spPr/>
        <p:txBody>
          <a:bodyPr/>
          <a:lstStyle/>
          <a:p>
            <a:r>
              <a:rPr lang="en-US"/>
              <a:t>2.4 GHz Channel Reuse</a:t>
            </a:r>
          </a:p>
        </p:txBody>
      </p:sp>
      <p:sp>
        <p:nvSpPr>
          <p:cNvPr id="3" name="Slide Number Placeholder 2">
            <a:extLst>
              <a:ext uri="{FF2B5EF4-FFF2-40B4-BE49-F238E27FC236}">
                <a16:creationId xmlns:a16="http://schemas.microsoft.com/office/drawing/2014/main" id="{734E8DCF-D9A3-460A-82AD-15ED7B71368F}"/>
              </a:ext>
            </a:extLst>
          </p:cNvPr>
          <p:cNvSpPr>
            <a:spLocks noGrp="1"/>
          </p:cNvSpPr>
          <p:nvPr>
            <p:ph type="sldNum" sz="quarter" idx="12"/>
          </p:nvPr>
        </p:nvSpPr>
        <p:spPr/>
        <p:txBody>
          <a:bodyPr/>
          <a:lstStyle/>
          <a:p>
            <a:fld id="{52B67DA5-9DD9-4BCA-8370-9CA784C1DE92}" type="slidenum">
              <a:rPr lang="en-US" smtClean="0"/>
              <a:pPr/>
              <a:t>49</a:t>
            </a:fld>
            <a:endParaRPr lang="en-US"/>
          </a:p>
        </p:txBody>
      </p:sp>
      <p:pic>
        <p:nvPicPr>
          <p:cNvPr id="23" name="Picture 22">
            <a:extLst>
              <a:ext uri="{FF2B5EF4-FFF2-40B4-BE49-F238E27FC236}">
                <a16:creationId xmlns:a16="http://schemas.microsoft.com/office/drawing/2014/main" id="{3BFFFC4F-2E4C-DEB3-CED4-67203A0847F6}"/>
              </a:ext>
            </a:extLst>
          </p:cNvPr>
          <p:cNvPicPr>
            <a:picLocks noChangeAspect="1"/>
          </p:cNvPicPr>
          <p:nvPr/>
        </p:nvPicPr>
        <p:blipFill>
          <a:blip r:embed="rId3"/>
          <a:stretch>
            <a:fillRect/>
          </a:stretch>
        </p:blipFill>
        <p:spPr>
          <a:xfrm>
            <a:off x="3325632" y="1987067"/>
            <a:ext cx="11978758" cy="7353702"/>
          </a:xfrm>
          <a:prstGeom prst="rect">
            <a:avLst/>
          </a:prstGeom>
        </p:spPr>
      </p:pic>
    </p:spTree>
    <p:custDataLst>
      <p:tags r:id="rId1"/>
    </p:custDataLst>
    <p:extLst>
      <p:ext uri="{BB962C8B-B14F-4D97-AF65-F5344CB8AC3E}">
        <p14:creationId xmlns:p14="http://schemas.microsoft.com/office/powerpoint/2010/main" val="37239055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0BC9E-22F8-B51B-CE5B-351E8F4CECE0}"/>
              </a:ext>
            </a:extLst>
          </p:cNvPr>
          <p:cNvSpPr>
            <a:spLocks noGrp="1"/>
          </p:cNvSpPr>
          <p:nvPr>
            <p:ph type="title"/>
          </p:nvPr>
        </p:nvSpPr>
        <p:spPr/>
        <p:txBody>
          <a:bodyPr/>
          <a:lstStyle/>
          <a:p>
            <a:r>
              <a:rPr lang="en-US"/>
              <a:t>Service Set Identifier (SSID)</a:t>
            </a:r>
          </a:p>
        </p:txBody>
      </p:sp>
      <p:sp>
        <p:nvSpPr>
          <p:cNvPr id="3" name="Content Placeholder 2">
            <a:extLst>
              <a:ext uri="{FF2B5EF4-FFF2-40B4-BE49-F238E27FC236}">
                <a16:creationId xmlns:a16="http://schemas.microsoft.com/office/drawing/2014/main" id="{63F1A340-BF58-3087-A287-6AD522C958F4}"/>
              </a:ext>
            </a:extLst>
          </p:cNvPr>
          <p:cNvSpPr>
            <a:spLocks noGrp="1"/>
          </p:cNvSpPr>
          <p:nvPr>
            <p:ph idx="1"/>
          </p:nvPr>
        </p:nvSpPr>
        <p:spPr>
          <a:xfrm>
            <a:off x="1257299" y="2193131"/>
            <a:ext cx="16070001" cy="6967198"/>
          </a:xfrm>
        </p:spPr>
        <p:txBody>
          <a:bodyPr/>
          <a:lstStyle/>
          <a:p>
            <a:r>
              <a:rPr lang="en-US" dirty="0"/>
              <a:t>Sometimes referred to as a network name in Wi-Fi</a:t>
            </a:r>
          </a:p>
          <a:p>
            <a:r>
              <a:rPr lang="en-US" dirty="0"/>
              <a:t>Clients connect to a specific SSID</a:t>
            </a:r>
          </a:p>
          <a:p>
            <a:r>
              <a:rPr lang="en-US" dirty="0"/>
              <a:t>Multiple SSIDs may exist in Wi-Fi channel</a:t>
            </a:r>
          </a:p>
          <a:p>
            <a:pPr lvl="1"/>
            <a:r>
              <a:rPr lang="en-US" dirty="0"/>
              <a:t>Used to create multiple logical networks</a:t>
            </a:r>
          </a:p>
          <a:p>
            <a:pPr lvl="2"/>
            <a:r>
              <a:rPr lang="en-US" i="1" dirty="0">
                <a:solidFill>
                  <a:srgbClr val="FF0000"/>
                </a:solidFill>
              </a:rPr>
              <a:t>FDIC CU </a:t>
            </a:r>
            <a:r>
              <a:rPr lang="en-US" dirty="0"/>
              <a:t>and </a:t>
            </a:r>
            <a:r>
              <a:rPr lang="en-US" i="1" dirty="0">
                <a:solidFill>
                  <a:srgbClr val="FF0000"/>
                </a:solidFill>
              </a:rPr>
              <a:t>FDIC Guest </a:t>
            </a:r>
            <a:r>
              <a:rPr lang="en-US" dirty="0"/>
              <a:t>being good examples</a:t>
            </a:r>
          </a:p>
          <a:p>
            <a:r>
              <a:rPr lang="en-US" dirty="0"/>
              <a:t>AP broadcasts name so devices can join</a:t>
            </a:r>
          </a:p>
          <a:p>
            <a:r>
              <a:rPr lang="en-US" dirty="0"/>
              <a:t>Like VLAN concept with client required to </a:t>
            </a:r>
            <a:r>
              <a:rPr lang="en-US" i="1" dirty="0"/>
              <a:t>join</a:t>
            </a:r>
            <a:endParaRPr lang="en-US" dirty="0"/>
          </a:p>
          <a:p>
            <a:r>
              <a:rPr lang="en-US" dirty="0"/>
              <a:t>Sometimes an SSID may not be broadcast to </a:t>
            </a:r>
            <a:r>
              <a:rPr lang="en-US" i="1" dirty="0"/>
              <a:t>hide</a:t>
            </a:r>
            <a:r>
              <a:rPr lang="en-US" dirty="0"/>
              <a:t> the network</a:t>
            </a:r>
          </a:p>
          <a:p>
            <a:pPr lvl="1"/>
            <a:r>
              <a:rPr lang="en-US" dirty="0"/>
              <a:t>This is almost always a bad idea and adds no security</a:t>
            </a:r>
          </a:p>
        </p:txBody>
      </p:sp>
    </p:spTree>
    <p:extLst>
      <p:ext uri="{BB962C8B-B14F-4D97-AF65-F5344CB8AC3E}">
        <p14:creationId xmlns:p14="http://schemas.microsoft.com/office/powerpoint/2010/main" val="40494633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7523" name="Rectangle 3"/>
          <p:cNvSpPr>
            <a:spLocks noGrp="1" noChangeArrowheads="1"/>
          </p:cNvSpPr>
          <p:nvPr>
            <p:ph type="title"/>
          </p:nvPr>
        </p:nvSpPr>
        <p:spPr/>
        <p:txBody>
          <a:bodyPr/>
          <a:lstStyle/>
          <a:p>
            <a:r>
              <a:rPr lang="en-US"/>
              <a:t>802.11 Security Issues</a:t>
            </a:r>
          </a:p>
        </p:txBody>
      </p:sp>
      <p:sp>
        <p:nvSpPr>
          <p:cNvPr id="3947524" name="Rectangle 4"/>
          <p:cNvSpPr>
            <a:spLocks noGrp="1" noChangeArrowheads="1"/>
          </p:cNvSpPr>
          <p:nvPr>
            <p:ph idx="1"/>
          </p:nvPr>
        </p:nvSpPr>
        <p:spPr/>
        <p:txBody>
          <a:bodyPr>
            <a:normAutofit fontScale="92500" lnSpcReduction="20000"/>
          </a:bodyPr>
          <a:lstStyle/>
          <a:p>
            <a:pPr>
              <a:lnSpc>
                <a:spcPct val="90000"/>
              </a:lnSpc>
            </a:pPr>
            <a:r>
              <a:rPr lang="en-US"/>
              <a:t>Unbounded nature of the medium</a:t>
            </a:r>
          </a:p>
          <a:p>
            <a:pPr lvl="1">
              <a:lnSpc>
                <a:spcPct val="90000"/>
              </a:lnSpc>
            </a:pPr>
            <a:r>
              <a:rPr lang="en-US"/>
              <a:t>Need for encryption and authentication</a:t>
            </a:r>
          </a:p>
          <a:p>
            <a:pPr>
              <a:lnSpc>
                <a:spcPct val="90000"/>
              </a:lnSpc>
            </a:pPr>
            <a:r>
              <a:rPr lang="en-US"/>
              <a:t>Original goal to be “equivalent” to wired LAN</a:t>
            </a:r>
          </a:p>
          <a:p>
            <a:pPr lvl="1">
              <a:lnSpc>
                <a:spcPct val="90000"/>
              </a:lnSpc>
            </a:pPr>
            <a:r>
              <a:rPr lang="en-US"/>
              <a:t>Service set identifiers (broadcast by access point)</a:t>
            </a:r>
          </a:p>
          <a:p>
            <a:pPr lvl="1">
              <a:lnSpc>
                <a:spcPct val="90000"/>
              </a:lnSpc>
            </a:pPr>
            <a:r>
              <a:rPr lang="en-US"/>
              <a:t>Wired equivalent privacy (WEP)</a:t>
            </a:r>
          </a:p>
          <a:p>
            <a:pPr lvl="2">
              <a:lnSpc>
                <a:spcPct val="90000"/>
              </a:lnSpc>
            </a:pPr>
            <a:r>
              <a:rPr lang="en-US"/>
              <a:t>Turned off by default</a:t>
            </a:r>
          </a:p>
          <a:p>
            <a:pPr lvl="2">
              <a:lnSpc>
                <a:spcPct val="90000"/>
              </a:lnSpc>
            </a:pPr>
            <a:r>
              <a:rPr lang="en-US"/>
              <a:t>No user authentication (MAC address only)</a:t>
            </a:r>
          </a:p>
          <a:p>
            <a:pPr>
              <a:lnSpc>
                <a:spcPct val="90000"/>
              </a:lnSpc>
            </a:pPr>
            <a:r>
              <a:rPr lang="en-US"/>
              <a:t>WEP problems</a:t>
            </a:r>
          </a:p>
          <a:p>
            <a:pPr lvl="1">
              <a:lnSpc>
                <a:spcPct val="90000"/>
              </a:lnSpc>
            </a:pPr>
            <a:r>
              <a:rPr lang="en-US"/>
              <a:t>64-bit RC4 encryption</a:t>
            </a:r>
          </a:p>
          <a:p>
            <a:pPr lvl="2">
              <a:lnSpc>
                <a:spcPct val="90000"/>
              </a:lnSpc>
            </a:pPr>
            <a:r>
              <a:rPr lang="en-US"/>
              <a:t>24-bit known initialization vector (IV) plus 40-bit secret key</a:t>
            </a:r>
          </a:p>
          <a:p>
            <a:pPr lvl="2">
              <a:lnSpc>
                <a:spcPct val="90000"/>
              </a:lnSpc>
            </a:pPr>
            <a:r>
              <a:rPr lang="en-US"/>
              <a:t>RC4 itself considered relatively weak</a:t>
            </a:r>
          </a:p>
          <a:p>
            <a:pPr lvl="1">
              <a:lnSpc>
                <a:spcPct val="90000"/>
              </a:lnSpc>
            </a:pPr>
            <a:r>
              <a:rPr lang="en-US"/>
              <a:t>No key distribution system</a:t>
            </a:r>
          </a:p>
          <a:p>
            <a:pPr lvl="2">
              <a:lnSpc>
                <a:spcPct val="90000"/>
              </a:lnSpc>
            </a:pPr>
            <a:r>
              <a:rPr lang="en-US"/>
              <a:t>All nodes share same key</a:t>
            </a:r>
          </a:p>
          <a:p>
            <a:pPr lvl="1"/>
            <a:r>
              <a:rPr lang="en-US"/>
              <a:t>No longer supported</a:t>
            </a:r>
          </a:p>
        </p:txBody>
      </p:sp>
      <p:sp>
        <p:nvSpPr>
          <p:cNvPr id="4" name="Slide Number Placeholder 3"/>
          <p:cNvSpPr>
            <a:spLocks noGrp="1"/>
          </p:cNvSpPr>
          <p:nvPr>
            <p:ph type="sldNum" sz="quarter" idx="10"/>
          </p:nvPr>
        </p:nvSpPr>
        <p:spPr>
          <a:prstGeom prst="rect">
            <a:avLst/>
          </a:prstGeom>
        </p:spPr>
        <p:txBody>
          <a:bodyPr/>
          <a:lstStyle/>
          <a:p>
            <a:fld id="{A4093CF0-D029-4A89-9675-F35517D5144F}" type="slidenum">
              <a:rPr lang="en-US">
                <a:solidFill>
                  <a:schemeClr val="tx1"/>
                </a:solidFill>
              </a:rPr>
              <a:pPr/>
              <a:t>51</a:t>
            </a:fld>
            <a:endParaRPr lang="en-US">
              <a:solidFill>
                <a:schemeClr val="tx1"/>
              </a:solidFill>
            </a:endParaRPr>
          </a:p>
        </p:txBody>
      </p:sp>
      <p:pic>
        <p:nvPicPr>
          <p:cNvPr id="30722" name="Picture 2" descr="view details"/>
          <p:cNvPicPr>
            <a:picLocks noChangeAspect="1" noChangeArrowheads="1"/>
          </p:cNvPicPr>
          <p:nvPr/>
        </p:nvPicPr>
        <p:blipFill>
          <a:blip r:embed="rId4" cstate="print"/>
          <a:srcRect/>
          <a:stretch>
            <a:fillRect/>
          </a:stretch>
        </p:blipFill>
        <p:spPr bwMode="auto">
          <a:xfrm>
            <a:off x="12915900" y="3175228"/>
            <a:ext cx="4114800" cy="4114800"/>
          </a:xfrm>
          <a:prstGeom prst="rect">
            <a:avLst/>
          </a:prstGeom>
          <a:noFill/>
        </p:spPr>
      </p:pic>
    </p:spTree>
    <p:custDataLst>
      <p:tags r:id="rId1"/>
    </p:custDataLst>
    <p:extLst>
      <p:ext uri="{BB962C8B-B14F-4D97-AF65-F5344CB8AC3E}">
        <p14:creationId xmlns:p14="http://schemas.microsoft.com/office/powerpoint/2010/main" val="3852429635"/>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9571" name="Rectangle 3"/>
          <p:cNvSpPr>
            <a:spLocks noGrp="1" noChangeArrowheads="1"/>
          </p:cNvSpPr>
          <p:nvPr>
            <p:ph type="title"/>
          </p:nvPr>
        </p:nvSpPr>
        <p:spPr/>
        <p:txBody>
          <a:bodyPr/>
          <a:lstStyle/>
          <a:p>
            <a:r>
              <a:rPr lang="en-US"/>
              <a:t>Wi-Fi Protected Access (WPA3)</a:t>
            </a:r>
          </a:p>
        </p:txBody>
      </p:sp>
      <p:sp>
        <p:nvSpPr>
          <p:cNvPr id="3949572" name="Rectangle 4"/>
          <p:cNvSpPr>
            <a:spLocks noGrp="1" noChangeArrowheads="1"/>
          </p:cNvSpPr>
          <p:nvPr>
            <p:ph idx="1"/>
          </p:nvPr>
        </p:nvSpPr>
        <p:spPr/>
        <p:txBody>
          <a:bodyPr>
            <a:normAutofit lnSpcReduction="10000"/>
          </a:bodyPr>
          <a:lstStyle/>
          <a:p>
            <a:pPr>
              <a:lnSpc>
                <a:spcPct val="90000"/>
              </a:lnSpc>
            </a:pPr>
            <a:r>
              <a:rPr lang="en-US"/>
              <a:t>Ratified by Wi-Fi Alliance January 2018 as a replacement for WPA2</a:t>
            </a:r>
          </a:p>
          <a:p>
            <a:pPr>
              <a:lnSpc>
                <a:spcPct val="90000"/>
              </a:lnSpc>
            </a:pPr>
            <a:r>
              <a:rPr lang="en-US"/>
              <a:t>Based on a subset of IEEE 802.11i</a:t>
            </a:r>
          </a:p>
          <a:p>
            <a:pPr>
              <a:lnSpc>
                <a:spcPct val="90000"/>
              </a:lnSpc>
            </a:pPr>
            <a:r>
              <a:rPr lang="en-US"/>
              <a:t>Designed for use with an IEEE 802.1X authentication server</a:t>
            </a:r>
          </a:p>
          <a:p>
            <a:pPr>
              <a:lnSpc>
                <a:spcPct val="90000"/>
              </a:lnSpc>
            </a:pPr>
            <a:r>
              <a:rPr lang="en-US"/>
              <a:t>Different 192-bit key distribution to each user</a:t>
            </a:r>
          </a:p>
          <a:p>
            <a:pPr>
              <a:lnSpc>
                <a:spcPct val="90000"/>
              </a:lnSpc>
            </a:pPr>
            <a:r>
              <a:rPr lang="en-US"/>
              <a:t>Temporal Key Integrity Protocol (TKIP)</a:t>
            </a:r>
          </a:p>
          <a:p>
            <a:pPr lvl="1">
              <a:lnSpc>
                <a:spcPct val="90000"/>
              </a:lnSpc>
            </a:pPr>
            <a:r>
              <a:rPr lang="en-US" sz="3200"/>
              <a:t>Dynamically changes keys as the system is used</a:t>
            </a:r>
          </a:p>
          <a:p>
            <a:pPr>
              <a:lnSpc>
                <a:spcPct val="90000"/>
              </a:lnSpc>
            </a:pPr>
            <a:r>
              <a:rPr lang="en-US"/>
              <a:t>Improved payload integrity</a:t>
            </a:r>
          </a:p>
          <a:p>
            <a:r>
              <a:rPr lang="en-US"/>
              <a:t>Stronger, safer</a:t>
            </a:r>
          </a:p>
          <a:p>
            <a:r>
              <a:rPr lang="en-US"/>
              <a:t>Many APs still support WPA2 along with WPA3</a:t>
            </a:r>
          </a:p>
          <a:p>
            <a:pPr>
              <a:lnSpc>
                <a:spcPct val="90000"/>
              </a:lnSpc>
            </a:pPr>
            <a:endParaRPr lang="en-US" sz="3000"/>
          </a:p>
        </p:txBody>
      </p:sp>
      <p:sp>
        <p:nvSpPr>
          <p:cNvPr id="4" name="Slide Number Placeholder 3"/>
          <p:cNvSpPr>
            <a:spLocks noGrp="1"/>
          </p:cNvSpPr>
          <p:nvPr>
            <p:ph type="sldNum" sz="quarter" idx="10"/>
          </p:nvPr>
        </p:nvSpPr>
        <p:spPr>
          <a:prstGeom prst="rect">
            <a:avLst/>
          </a:prstGeom>
        </p:spPr>
        <p:txBody>
          <a:bodyPr/>
          <a:lstStyle/>
          <a:p>
            <a:fld id="{F11832F7-1B1F-4395-9233-D570030BBC51}" type="slidenum">
              <a:rPr lang="en-US">
                <a:solidFill>
                  <a:schemeClr val="tx1"/>
                </a:solidFill>
              </a:rPr>
              <a:pPr/>
              <a:t>52</a:t>
            </a:fld>
            <a:endParaRPr lang="en-US">
              <a:solidFill>
                <a:schemeClr val="tx1"/>
              </a:solidFill>
            </a:endParaRPr>
          </a:p>
        </p:txBody>
      </p:sp>
      <p:pic>
        <p:nvPicPr>
          <p:cNvPr id="2" name="Picture 1">
            <a:extLst>
              <a:ext uri="{FF2B5EF4-FFF2-40B4-BE49-F238E27FC236}">
                <a16:creationId xmlns:a16="http://schemas.microsoft.com/office/drawing/2014/main" id="{B82602D6-7578-C741-88E1-B5E402FB37B2}"/>
              </a:ext>
            </a:extLst>
          </p:cNvPr>
          <p:cNvPicPr>
            <a:picLocks noChangeAspect="1"/>
          </p:cNvPicPr>
          <p:nvPr/>
        </p:nvPicPr>
        <p:blipFill>
          <a:blip r:embed="rId4"/>
          <a:stretch>
            <a:fillRect/>
          </a:stretch>
        </p:blipFill>
        <p:spPr>
          <a:xfrm>
            <a:off x="14963172" y="7752115"/>
            <a:ext cx="2171700" cy="1293260"/>
          </a:xfrm>
          <a:prstGeom prst="rect">
            <a:avLst/>
          </a:prstGeom>
        </p:spPr>
      </p:pic>
    </p:spTree>
    <p:custDataLst>
      <p:tags r:id="rId1"/>
    </p:custDataLst>
    <p:extLst>
      <p:ext uri="{BB962C8B-B14F-4D97-AF65-F5344CB8AC3E}">
        <p14:creationId xmlns:p14="http://schemas.microsoft.com/office/powerpoint/2010/main" val="4884154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89993-6A39-C880-6224-3B3E1AB81917}"/>
              </a:ext>
            </a:extLst>
          </p:cNvPr>
          <p:cNvSpPr>
            <a:spLocks noGrp="1"/>
          </p:cNvSpPr>
          <p:nvPr>
            <p:ph type="title"/>
          </p:nvPr>
        </p:nvSpPr>
        <p:spPr/>
        <p:txBody>
          <a:bodyPr/>
          <a:lstStyle/>
          <a:p>
            <a:r>
              <a:rPr lang="en-US"/>
              <a:t>Now We Have LANs</a:t>
            </a:r>
          </a:p>
        </p:txBody>
      </p:sp>
      <p:sp>
        <p:nvSpPr>
          <p:cNvPr id="3" name="Content Placeholder 2">
            <a:extLst>
              <a:ext uri="{FF2B5EF4-FFF2-40B4-BE49-F238E27FC236}">
                <a16:creationId xmlns:a16="http://schemas.microsoft.com/office/drawing/2014/main" id="{D7B7C7FA-D54D-13AC-85A7-44757FC976E8}"/>
              </a:ext>
            </a:extLst>
          </p:cNvPr>
          <p:cNvSpPr>
            <a:spLocks noGrp="1"/>
          </p:cNvSpPr>
          <p:nvPr>
            <p:ph idx="1"/>
          </p:nvPr>
        </p:nvSpPr>
        <p:spPr/>
        <p:txBody>
          <a:bodyPr/>
          <a:lstStyle/>
          <a:p>
            <a:r>
              <a:rPr lang="en-US"/>
              <a:t>LANs provide links between devices within a network</a:t>
            </a:r>
          </a:p>
          <a:p>
            <a:r>
              <a:rPr lang="en-US"/>
              <a:t>What makes the network a network?</a:t>
            </a:r>
          </a:p>
          <a:p>
            <a:pPr lvl="1"/>
            <a:r>
              <a:rPr lang="en-US"/>
              <a:t>Common link</a:t>
            </a:r>
          </a:p>
          <a:p>
            <a:pPr lvl="1"/>
            <a:r>
              <a:rPr lang="en-US"/>
              <a:t>Assigned block of network addresses (IP)</a:t>
            </a:r>
          </a:p>
          <a:p>
            <a:r>
              <a:rPr lang="en-US"/>
              <a:t>Connecting to devices (applications) outside of the network needs a gateway (router) between networks </a:t>
            </a:r>
          </a:p>
          <a:p>
            <a:r>
              <a:rPr lang="en-US"/>
              <a:t>Connections within the same network need a way to identify the LAN address of the destination</a:t>
            </a:r>
          </a:p>
          <a:p>
            <a:r>
              <a:rPr lang="en-US"/>
              <a:t>IP and associated protocols create networks and ways to interconnect them</a:t>
            </a:r>
          </a:p>
        </p:txBody>
      </p:sp>
    </p:spTree>
    <p:extLst>
      <p:ext uri="{BB962C8B-B14F-4D97-AF65-F5344CB8AC3E}">
        <p14:creationId xmlns:p14="http://schemas.microsoft.com/office/powerpoint/2010/main" val="2236890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Helvetica Neue Condensed" panose="02000503000000020004" pitchFamily="2" charset="0"/>
                <a:ea typeface="Helvetica Neue Condensed" panose="02000503000000020004" pitchFamily="2" charset="0"/>
                <a:cs typeface="Helvetica Neue Condensed" panose="02000503000000020004" pitchFamily="2" charset="0"/>
              </a:rPr>
              <a:t>Exercise 1: Annotate the LAN Segments</a:t>
            </a:r>
          </a:p>
        </p:txBody>
      </p:sp>
      <p:sp>
        <p:nvSpPr>
          <p:cNvPr id="3" name="Content Placeholder 2">
            <a:extLst>
              <a:ext uri="{FF2B5EF4-FFF2-40B4-BE49-F238E27FC236}">
                <a16:creationId xmlns:a16="http://schemas.microsoft.com/office/drawing/2014/main" id="{2F69248C-E5D8-153C-A4D3-B3F8D82059F4}"/>
              </a:ext>
            </a:extLst>
          </p:cNvPr>
          <p:cNvSpPr>
            <a:spLocks noGrp="1"/>
          </p:cNvSpPr>
          <p:nvPr>
            <p:ph idx="1"/>
          </p:nvPr>
        </p:nvSpPr>
        <p:spPr/>
        <p:txBody>
          <a:bodyPr/>
          <a:lstStyle/>
          <a:p>
            <a:r>
              <a:rPr lang="en-US" dirty="0"/>
              <a:t>Your table will receive a bank network diagram</a:t>
            </a:r>
          </a:p>
          <a:p>
            <a:r>
              <a:rPr lang="en-US" dirty="0"/>
              <a:t>Annotate your diagram thus:</a:t>
            </a:r>
          </a:p>
          <a:p>
            <a:pPr lvl="1"/>
            <a:r>
              <a:rPr lang="en-US" dirty="0"/>
              <a:t>Circle each LAN in green</a:t>
            </a:r>
          </a:p>
          <a:p>
            <a:pPr lvl="1"/>
            <a:r>
              <a:rPr lang="en-US" dirty="0"/>
              <a:t>Trace Ethernets in blue</a:t>
            </a:r>
          </a:p>
          <a:p>
            <a:pPr lvl="1"/>
            <a:r>
              <a:rPr lang="en-US" dirty="0"/>
              <a:t>Mark Wi-Fi with a blue X</a:t>
            </a:r>
          </a:p>
          <a:p>
            <a:pPr lvl="1"/>
            <a:r>
              <a:rPr lang="en-US" dirty="0"/>
              <a:t>All network exits get a red box</a:t>
            </a:r>
          </a:p>
          <a:p>
            <a:pPr lvl="1"/>
            <a:r>
              <a:rPr lang="en-US" dirty="0"/>
              <a:t>Question marks for anything weird</a:t>
            </a:r>
          </a:p>
          <a:p>
            <a:r>
              <a:rPr lang="en-US" dirty="0"/>
              <a:t>We’re not trying to be perfect, we’re trying to give us something to think and talk about.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dirty="0" err="1">
                <a:solidFill>
                  <a:srgbClr val="0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InTREx</a:t>
            </a:r>
            <a:r>
              <a:rPr sz="6600" b="1" dirty="0">
                <a:solidFill>
                  <a:srgbClr val="0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 Tie-In: Wireless Networks</a:t>
            </a:r>
          </a:p>
        </p:txBody>
      </p:sp>
      <p:sp>
        <p:nvSpPr>
          <p:cNvPr id="3" name="Form frame"/>
          <p:cNvSpPr/>
          <p:nvPr/>
        </p:nvSpPr>
        <p:spPr>
          <a:xfrm>
            <a:off x="1257300" y="2514600"/>
            <a:ext cx="7863840" cy="3794760"/>
          </a:xfrm>
          <a:prstGeom prst="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Form header band"/>
          <p:cNvSpPr/>
          <p:nvPr/>
        </p:nvSpPr>
        <p:spPr>
          <a:xfrm>
            <a:off x="1257300" y="2514600"/>
            <a:ext cx="7863840" cy="548640"/>
          </a:xfrm>
          <a:prstGeom prst="rect">
            <a:avLst/>
          </a:prstGeom>
          <a:solidFill>
            <a:srgbClr val="D9D9D9"/>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rm header"/>
          <p:cNvSpPr txBox="1"/>
          <p:nvPr/>
        </p:nvSpPr>
        <p:spPr>
          <a:xfrm>
            <a:off x="1485900" y="2606040"/>
            <a:ext cx="7406640" cy="411480"/>
          </a:xfrm>
          <a:prstGeom prst="rect">
            <a:avLst/>
          </a:prstGeom>
          <a:noFill/>
        </p:spPr>
        <p:txBody>
          <a:bodyPr wrap="square" lIns="0" tIns="0" rIns="0" bIns="0" anchor="ctr">
            <a:spAutoFit/>
          </a:bodyPr>
          <a:lstStyle/>
          <a:p>
            <a:pPr algn="l">
              <a:spcAft>
                <a:spcPts val="600"/>
              </a:spcAft>
            </a:pPr>
            <a:r>
              <a:rPr sz="1800" b="1" i="0">
                <a:solidFill>
                  <a:srgbClr val="000000"/>
                </a:solidFill>
                <a:latin typeface="Helvetica Neue"/>
                <a:ea typeface="Helvetica Neue"/>
                <a:cs typeface="Helvetica Neue"/>
              </a:rPr>
              <a:t>Information Technology Profile  ·  Network</a:t>
            </a:r>
          </a:p>
        </p:txBody>
      </p:sp>
      <p:sp>
        <p:nvSpPr>
          <p:cNvPr id="6" name="Form question"/>
          <p:cNvSpPr txBox="1"/>
          <p:nvPr/>
        </p:nvSpPr>
        <p:spPr>
          <a:xfrm>
            <a:off x="1577340" y="3291840"/>
            <a:ext cx="7223759" cy="822960"/>
          </a:xfrm>
          <a:prstGeom prst="rect">
            <a:avLst/>
          </a:prstGeom>
          <a:noFill/>
        </p:spPr>
        <p:txBody>
          <a:bodyPr wrap="square" lIns="0" tIns="0" rIns="0" bIns="0" anchor="t">
            <a:spAutoFit/>
          </a:bodyPr>
          <a:lstStyle/>
          <a:p>
            <a:pPr algn="l">
              <a:spcAft>
                <a:spcPts val="600"/>
              </a:spcAft>
            </a:pPr>
            <a:r>
              <a:rPr sz="2200" b="0" i="0">
                <a:solidFill>
                  <a:srgbClr val="000000"/>
                </a:solidFill>
                <a:latin typeface="Helvetica Neue"/>
                <a:ea typeface="Helvetica Neue"/>
                <a:cs typeface="Helvetica Neue"/>
              </a:rPr>
              <a:t>4.  Does the institution have a wireless network? Check all that apply.</a:t>
            </a:r>
          </a:p>
        </p:txBody>
      </p:sp>
      <p:sp>
        <p:nvSpPr>
          <p:cNvPr id="7" name="Checkbox 1"/>
          <p:cNvSpPr/>
          <p:nvPr/>
        </p:nvSpPr>
        <p:spPr>
          <a:xfrm>
            <a:off x="2125980" y="4352544"/>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ption 1"/>
          <p:cNvSpPr txBox="1"/>
          <p:nvPr/>
        </p:nvSpPr>
        <p:spPr>
          <a:xfrm>
            <a:off x="2628900" y="4297680"/>
            <a:ext cx="5943600" cy="411480"/>
          </a:xfrm>
          <a:prstGeom prst="rect">
            <a:avLst/>
          </a:prstGeom>
          <a:noFill/>
        </p:spPr>
        <p:txBody>
          <a:bodyPr wrap="square" lIns="0" tIns="0" rIns="0" bIns="0" anchor="ctr">
            <a:spAutoFit/>
          </a:bodyPr>
          <a:lstStyle/>
          <a:p>
            <a:pPr algn="l">
              <a:spcAft>
                <a:spcPts val="600"/>
              </a:spcAft>
            </a:pPr>
            <a:r>
              <a:rPr sz="2200" b="0" i="0">
                <a:solidFill>
                  <a:srgbClr val="000000"/>
                </a:solidFill>
                <a:latin typeface="Helvetica Neue"/>
                <a:ea typeface="Helvetica Neue"/>
                <a:cs typeface="Helvetica Neue"/>
              </a:rPr>
              <a:t>No</a:t>
            </a:r>
          </a:p>
        </p:txBody>
      </p:sp>
      <p:sp>
        <p:nvSpPr>
          <p:cNvPr id="9" name="Checkbox 2"/>
          <p:cNvSpPr/>
          <p:nvPr/>
        </p:nvSpPr>
        <p:spPr>
          <a:xfrm>
            <a:off x="2125980" y="4919472"/>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ption 2"/>
          <p:cNvSpPr txBox="1"/>
          <p:nvPr/>
        </p:nvSpPr>
        <p:spPr>
          <a:xfrm>
            <a:off x="2628900" y="4864608"/>
            <a:ext cx="5943600" cy="411480"/>
          </a:xfrm>
          <a:prstGeom prst="rect">
            <a:avLst/>
          </a:prstGeom>
          <a:noFill/>
        </p:spPr>
        <p:txBody>
          <a:bodyPr wrap="square" lIns="0" tIns="0" rIns="0" bIns="0" anchor="ctr">
            <a:spAutoFit/>
          </a:bodyPr>
          <a:lstStyle/>
          <a:p>
            <a:pPr algn="l">
              <a:spcAft>
                <a:spcPts val="600"/>
              </a:spcAft>
            </a:pPr>
            <a:r>
              <a:rPr sz="2200" b="0" i="0">
                <a:solidFill>
                  <a:srgbClr val="000000"/>
                </a:solidFill>
                <a:latin typeface="Helvetica Neue"/>
                <a:ea typeface="Helvetica Neue"/>
                <a:cs typeface="Helvetica Neue"/>
              </a:rPr>
              <a:t>Stand-alone guest network</a:t>
            </a:r>
          </a:p>
        </p:txBody>
      </p:sp>
      <p:sp>
        <p:nvSpPr>
          <p:cNvPr id="11" name="Checkbox 3"/>
          <p:cNvSpPr/>
          <p:nvPr/>
        </p:nvSpPr>
        <p:spPr>
          <a:xfrm>
            <a:off x="2125980" y="5486400"/>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ption 3"/>
          <p:cNvSpPr txBox="1"/>
          <p:nvPr/>
        </p:nvSpPr>
        <p:spPr>
          <a:xfrm>
            <a:off x="2628900" y="5431536"/>
            <a:ext cx="5943600" cy="411480"/>
          </a:xfrm>
          <a:prstGeom prst="rect">
            <a:avLst/>
          </a:prstGeom>
          <a:noFill/>
        </p:spPr>
        <p:txBody>
          <a:bodyPr wrap="square" lIns="0" tIns="0" rIns="0" bIns="0" anchor="ctr">
            <a:spAutoFit/>
          </a:bodyPr>
          <a:lstStyle/>
          <a:p>
            <a:pPr algn="l">
              <a:spcAft>
                <a:spcPts val="600"/>
              </a:spcAft>
            </a:pPr>
            <a:r>
              <a:rPr sz="2200" b="0" i="0">
                <a:solidFill>
                  <a:srgbClr val="000000"/>
                </a:solidFill>
                <a:latin typeface="Helvetica Neue"/>
                <a:ea typeface="Helvetica Neue"/>
                <a:cs typeface="Helvetica Neue"/>
              </a:rPr>
              <a:t>Production internal network</a:t>
            </a:r>
          </a:p>
        </p:txBody>
      </p:sp>
      <p:pic>
        <p:nvPicPr>
          <p:cNvPr id="13" name="Wi-Fi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86700" y="4434840"/>
            <a:ext cx="914400" cy="914400"/>
          </a:xfrm>
          <a:prstGeom prst="rect">
            <a:avLst/>
          </a:prstGeom>
        </p:spPr>
      </p:pic>
      <p:sp>
        <p:nvSpPr>
          <p:cNvPr id="14" name="Quote panel"/>
          <p:cNvSpPr/>
          <p:nvPr/>
        </p:nvSpPr>
        <p:spPr>
          <a:xfrm>
            <a:off x="9692640" y="2514600"/>
            <a:ext cx="7315200" cy="379476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Quote mark"/>
          <p:cNvSpPr txBox="1"/>
          <p:nvPr/>
        </p:nvSpPr>
        <p:spPr>
          <a:xfrm>
            <a:off x="9966960" y="2560320"/>
            <a:ext cx="914400" cy="914400"/>
          </a:xfrm>
          <a:prstGeom prst="rect">
            <a:avLst/>
          </a:prstGeom>
          <a:noFill/>
        </p:spPr>
        <p:txBody>
          <a:bodyPr wrap="square" lIns="0" tIns="0" rIns="0" bIns="0" anchor="t">
            <a:spAutoFit/>
          </a:bodyPr>
          <a:lstStyle/>
          <a:p>
            <a:pPr algn="l">
              <a:spcAft>
                <a:spcPts val="600"/>
              </a:spcAft>
            </a:pPr>
            <a:r>
              <a:rPr sz="9600" b="1" i="0">
                <a:solidFill>
                  <a:srgbClr val="8EA9DB"/>
                </a:solidFill>
                <a:latin typeface="Helvetica Neue"/>
                <a:ea typeface="Helvetica Neue"/>
                <a:cs typeface="Helvetica Neue"/>
              </a:rPr>
              <a:t>“</a:t>
            </a:r>
          </a:p>
        </p:txBody>
      </p:sp>
      <p:sp>
        <p:nvSpPr>
          <p:cNvPr id="16" name="Quote text"/>
          <p:cNvSpPr txBox="1"/>
          <p:nvPr/>
        </p:nvSpPr>
        <p:spPr>
          <a:xfrm>
            <a:off x="10149840" y="3291840"/>
            <a:ext cx="6400800" cy="1737360"/>
          </a:xfrm>
          <a:prstGeom prst="rect">
            <a:avLst/>
          </a:prstGeom>
          <a:noFill/>
        </p:spPr>
        <p:txBody>
          <a:bodyPr wrap="square" lIns="0" tIns="0" rIns="0" bIns="0" anchor="t">
            <a:spAutoFit/>
          </a:bodyPr>
          <a:lstStyle/>
          <a:p>
            <a:pPr algn="l">
              <a:spcAft>
                <a:spcPts val="600"/>
              </a:spcAft>
            </a:pPr>
            <a:r>
              <a:rPr sz="2400" b="0" i="1">
                <a:solidFill>
                  <a:srgbClr val="000000"/>
                </a:solidFill>
                <a:latin typeface="Helvetica Neue"/>
                <a:ea typeface="Helvetica Neue"/>
                <a:cs typeface="Helvetica Neue"/>
              </a:rPr>
              <a:t>Appropriately segment guest wireless networks from the internal network and accurately depict on the network topology diagram.</a:t>
            </a:r>
          </a:p>
        </p:txBody>
      </p:sp>
      <p:sp>
        <p:nvSpPr>
          <p:cNvPr id="17" name="Quote source"/>
          <p:cNvSpPr txBox="1"/>
          <p:nvPr/>
        </p:nvSpPr>
        <p:spPr>
          <a:xfrm>
            <a:off x="10149840" y="4937760"/>
            <a:ext cx="6400800" cy="365760"/>
          </a:xfrm>
          <a:prstGeom prst="rect">
            <a:avLst/>
          </a:prstGeom>
          <a:noFill/>
        </p:spPr>
        <p:txBody>
          <a:bodyPr wrap="square" lIns="0" tIns="0" rIns="0" bIns="0" anchor="t">
            <a:spAutoFit/>
          </a:bodyPr>
          <a:lstStyle/>
          <a:p>
            <a:pPr algn="l">
              <a:spcAft>
                <a:spcPts val="600"/>
              </a:spcAft>
            </a:pPr>
            <a:r>
              <a:rPr sz="1600" b="0" i="0">
                <a:solidFill>
                  <a:srgbClr val="595959"/>
                </a:solidFill>
                <a:latin typeface="Helvetica Neue"/>
                <a:ea typeface="Helvetica Neue"/>
                <a:cs typeface="Helvetica Neue"/>
              </a:rPr>
              <a:t>InTREx expanded analysis: guest wireless networks</a:t>
            </a:r>
          </a:p>
        </p:txBody>
      </p:sp>
      <p:sp>
        <p:nvSpPr>
          <p:cNvPr id="18" name="Quote prompt"/>
          <p:cNvSpPr txBox="1"/>
          <p:nvPr/>
        </p:nvSpPr>
        <p:spPr>
          <a:xfrm>
            <a:off x="10149840" y="5486400"/>
            <a:ext cx="6400800" cy="548640"/>
          </a:xfrm>
          <a:prstGeom prst="rect">
            <a:avLst/>
          </a:prstGeom>
          <a:noFill/>
        </p:spPr>
        <p:txBody>
          <a:bodyPr wrap="square" lIns="0" tIns="0" rIns="0" bIns="0" anchor="t">
            <a:spAutoFit/>
          </a:bodyPr>
          <a:lstStyle/>
          <a:p>
            <a:pPr algn="l">
              <a:spcAft>
                <a:spcPts val="600"/>
              </a:spcAft>
            </a:pPr>
            <a:r>
              <a:rPr sz="2600" b="1" i="0">
                <a:solidFill>
                  <a:srgbClr val="000000"/>
                </a:solidFill>
                <a:latin typeface="Helvetica Neue"/>
                <a:ea typeface="Helvetica Neue"/>
                <a:cs typeface="Helvetica Neue"/>
              </a:rPr>
              <a:t>Did your diagram show it?</a:t>
            </a:r>
          </a:p>
        </p:txBody>
      </p:sp>
      <p:sp>
        <p:nvSpPr>
          <p:cNvPr id="19" name="Leads heading"/>
          <p:cNvSpPr txBox="1"/>
          <p:nvPr/>
        </p:nvSpPr>
        <p:spPr>
          <a:xfrm>
            <a:off x="1257300" y="6675120"/>
            <a:ext cx="10972800" cy="457200"/>
          </a:xfrm>
          <a:prstGeom prst="rect">
            <a:avLst/>
          </a:prstGeom>
          <a:noFill/>
        </p:spPr>
        <p:txBody>
          <a:bodyPr wrap="square" lIns="0" tIns="0" rIns="0" bIns="0" anchor="t">
            <a:spAutoFit/>
          </a:bodyPr>
          <a:lstStyle/>
          <a:p>
            <a:pPr algn="l">
              <a:spcAft>
                <a:spcPts val="600"/>
              </a:spcAft>
            </a:pPr>
            <a:r>
              <a:rPr sz="2400" b="1" i="0">
                <a:solidFill>
                  <a:srgbClr val="000000"/>
                </a:solidFill>
                <a:latin typeface="Helvetica Neue"/>
                <a:ea typeface="Helvetica Neue"/>
                <a:cs typeface="Helvetica Neue"/>
              </a:rPr>
              <a:t>Where question 4 leads</a:t>
            </a:r>
          </a:p>
        </p:txBody>
      </p:sp>
      <p:sp>
        <p:nvSpPr>
          <p:cNvPr id="20" name="Card 1"/>
          <p:cNvSpPr/>
          <p:nvPr/>
        </p:nvSpPr>
        <p:spPr>
          <a:xfrm>
            <a:off x="1257300"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Card 1 text"/>
          <p:cNvSpPr txBox="1"/>
          <p:nvPr/>
        </p:nvSpPr>
        <p:spPr>
          <a:xfrm>
            <a:off x="1485900" y="7470648"/>
            <a:ext cx="3246120" cy="1783080"/>
          </a:xfrm>
          <a:prstGeom prst="rect">
            <a:avLst/>
          </a:prstGeom>
          <a:noFill/>
        </p:spPr>
        <p:txBody>
          <a:bodyPr wrap="square" lIns="0" tIns="0" rIns="0" bIns="0" anchor="t">
            <a:spAutoFit/>
          </a:bodyPr>
          <a:lstStyle/>
          <a:p>
            <a:pPr algn="l">
              <a:spcAft>
                <a:spcPts val="800"/>
              </a:spcAft>
            </a:pPr>
            <a:r>
              <a:rPr sz="2000" b="1" i="0">
                <a:solidFill>
                  <a:srgbClr val="000000"/>
                </a:solidFill>
                <a:latin typeface="Helvetica Neue"/>
                <a:ea typeface="Helvetica Neue"/>
                <a:cs typeface="Helvetica Neue"/>
              </a:rPr>
              <a:t>Network architecture</a:t>
            </a:r>
          </a:p>
          <a:p>
            <a:pPr algn="l">
              <a:spcAft>
                <a:spcPts val="800"/>
              </a:spcAft>
            </a:pPr>
            <a:r>
              <a:rPr sz="1700" b="0" i="0">
                <a:solidFill>
                  <a:srgbClr val="000000"/>
                </a:solidFill>
                <a:latin typeface="Helvetica Neue"/>
                <a:ea typeface="Helvetica Neue"/>
                <a:cs typeface="Helvetica Neue"/>
              </a:rPr>
              <a:t>Segmentation, with wireless named, and documentation of the network topology</a:t>
            </a:r>
          </a:p>
        </p:txBody>
      </p:sp>
      <p:sp>
        <p:nvSpPr>
          <p:cNvPr id="22" name="Card 2"/>
          <p:cNvSpPr/>
          <p:nvPr/>
        </p:nvSpPr>
        <p:spPr>
          <a:xfrm>
            <a:off x="5280659"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Card 2 text"/>
          <p:cNvSpPr txBox="1"/>
          <p:nvPr/>
        </p:nvSpPr>
        <p:spPr>
          <a:xfrm>
            <a:off x="5509259" y="7470648"/>
            <a:ext cx="3246120" cy="1783080"/>
          </a:xfrm>
          <a:prstGeom prst="rect">
            <a:avLst/>
          </a:prstGeom>
          <a:noFill/>
        </p:spPr>
        <p:txBody>
          <a:bodyPr wrap="square" lIns="0" tIns="0" rIns="0" bIns="0" anchor="t">
            <a:spAutoFit/>
          </a:bodyPr>
          <a:lstStyle/>
          <a:p>
            <a:pPr algn="l">
              <a:spcAft>
                <a:spcPts val="800"/>
              </a:spcAft>
            </a:pPr>
            <a:r>
              <a:rPr sz="2000" b="1" i="0">
                <a:solidFill>
                  <a:srgbClr val="000000"/>
                </a:solidFill>
                <a:latin typeface="Helvetica Neue"/>
                <a:ea typeface="Helvetica Neue"/>
                <a:cs typeface="Helvetica Neue"/>
              </a:rPr>
              <a:t>Security monitoring</a:t>
            </a:r>
          </a:p>
          <a:p>
            <a:pPr algn="l">
              <a:spcAft>
                <a:spcPts val="800"/>
              </a:spcAft>
            </a:pPr>
            <a:r>
              <a:rPr sz="1700" b="0" i="0">
                <a:solidFill>
                  <a:srgbClr val="000000"/>
                </a:solidFill>
                <a:latin typeface="Helvetica Neue"/>
                <a:ea typeface="Helvetica Neue"/>
                <a:cs typeface="Helvetica Neue"/>
              </a:rPr>
              <a:t>Whether wireless configuration and monitoring are appropriate</a:t>
            </a:r>
          </a:p>
        </p:txBody>
      </p:sp>
      <p:sp>
        <p:nvSpPr>
          <p:cNvPr id="24" name="Card 3"/>
          <p:cNvSpPr/>
          <p:nvPr/>
        </p:nvSpPr>
        <p:spPr>
          <a:xfrm>
            <a:off x="9304019"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Card 3 text"/>
          <p:cNvSpPr txBox="1"/>
          <p:nvPr/>
        </p:nvSpPr>
        <p:spPr>
          <a:xfrm>
            <a:off x="9532619" y="7470648"/>
            <a:ext cx="3246120" cy="1783080"/>
          </a:xfrm>
          <a:prstGeom prst="rect">
            <a:avLst/>
          </a:prstGeom>
          <a:noFill/>
        </p:spPr>
        <p:txBody>
          <a:bodyPr wrap="square" lIns="0" tIns="0" rIns="0" bIns="0" anchor="t">
            <a:spAutoFit/>
          </a:bodyPr>
          <a:lstStyle/>
          <a:p>
            <a:pPr algn="l">
              <a:spcAft>
                <a:spcPts val="800"/>
              </a:spcAft>
            </a:pPr>
            <a:r>
              <a:rPr sz="2000" b="1" i="0">
                <a:solidFill>
                  <a:srgbClr val="000000"/>
                </a:solidFill>
                <a:latin typeface="Helvetica Neue"/>
                <a:ea typeface="Helvetica Neue"/>
                <a:cs typeface="Helvetica Neue"/>
              </a:rPr>
              <a:t>Encryption</a:t>
            </a:r>
          </a:p>
          <a:p>
            <a:pPr algn="l">
              <a:spcAft>
                <a:spcPts val="800"/>
              </a:spcAft>
            </a:pPr>
            <a:r>
              <a:rPr sz="1700" b="0" i="0">
                <a:solidFill>
                  <a:srgbClr val="000000"/>
                </a:solidFill>
                <a:latin typeface="Helvetica Neue"/>
                <a:ea typeface="Helvetica Neue"/>
                <a:cs typeface="Helvetica Neue"/>
              </a:rPr>
              <a:t>Baseline: strong encryption for Wi-Fi authentication and transmission</a:t>
            </a:r>
          </a:p>
        </p:txBody>
      </p:sp>
      <p:sp>
        <p:nvSpPr>
          <p:cNvPr id="26" name="Card 4"/>
          <p:cNvSpPr/>
          <p:nvPr/>
        </p:nvSpPr>
        <p:spPr>
          <a:xfrm>
            <a:off x="13327380"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Card 4 text"/>
          <p:cNvSpPr txBox="1"/>
          <p:nvPr/>
        </p:nvSpPr>
        <p:spPr>
          <a:xfrm>
            <a:off x="13555980" y="7470648"/>
            <a:ext cx="3246120" cy="1783080"/>
          </a:xfrm>
          <a:prstGeom prst="rect">
            <a:avLst/>
          </a:prstGeom>
          <a:noFill/>
        </p:spPr>
        <p:txBody>
          <a:bodyPr wrap="square" lIns="0" tIns="0" rIns="0" bIns="0" anchor="t">
            <a:spAutoFit/>
          </a:bodyPr>
          <a:lstStyle/>
          <a:p>
            <a:pPr algn="l">
              <a:spcAft>
                <a:spcPts val="800"/>
              </a:spcAft>
            </a:pPr>
            <a:r>
              <a:rPr sz="2000" b="1" i="0">
                <a:solidFill>
                  <a:srgbClr val="000000"/>
                </a:solidFill>
                <a:latin typeface="Helvetica Neue"/>
                <a:ea typeface="Helvetica Neue"/>
                <a:cs typeface="Helvetica Neue"/>
              </a:rPr>
              <a:t>Wireless expanded analysis</a:t>
            </a:r>
          </a:p>
          <a:p>
            <a:pPr algn="l">
              <a:spcAft>
                <a:spcPts val="800"/>
              </a:spcAft>
            </a:pPr>
            <a:r>
              <a:rPr sz="1700" b="0" i="0">
                <a:solidFill>
                  <a:srgbClr val="000000"/>
                </a:solidFill>
                <a:latin typeface="Helvetica Neue"/>
                <a:ea typeface="Helvetica Neue"/>
                <a:cs typeface="Helvetica Neue"/>
              </a:rPr>
              <a:t>Management approval, minimum standards, periodic testing, guest-network controls</a:t>
            </a:r>
          </a:p>
        </p:txBody>
      </p:sp>
      <p:sp>
        <p:nvSpPr>
          <p:cNvPr id="28" name="Source note"/>
          <p:cNvSpPr txBox="1"/>
          <p:nvPr/>
        </p:nvSpPr>
        <p:spPr>
          <a:xfrm>
            <a:off x="1257300" y="9646920"/>
            <a:ext cx="15773400" cy="320040"/>
          </a:xfrm>
          <a:prstGeom prst="rect">
            <a:avLst/>
          </a:prstGeom>
          <a:noFill/>
        </p:spPr>
        <p:txBody>
          <a:bodyPr wrap="square" lIns="0" tIns="0" rIns="0" bIns="0" anchor="t">
            <a:spAutoFit/>
          </a:bodyPr>
          <a:lstStyle/>
          <a:p>
            <a:pPr algn="l">
              <a:spcAft>
                <a:spcPts val="600"/>
              </a:spcAft>
            </a:pPr>
            <a:r>
              <a:rPr sz="1300" b="0" i="0">
                <a:solidFill>
                  <a:srgbClr val="7F7F7F"/>
                </a:solidFill>
                <a:latin typeface="Helvetica Neue"/>
                <a:ea typeface="Helvetica Neue"/>
                <a:cs typeface="Helvetica Neue"/>
              </a:rPr>
              <a:t>Source: InTREx Information Technology Profile and Support &amp; Delivery modules (September 2023 version)</a:t>
            </a:r>
          </a:p>
        </p:txBody>
      </p:sp>
    </p:spTree>
    <p:extLst>
      <p:ext uri="{BB962C8B-B14F-4D97-AF65-F5344CB8AC3E}">
        <p14:creationId xmlns:p14="http://schemas.microsoft.com/office/powerpoint/2010/main" val="30256943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Could Go Wrong on a LAN?</a:t>
            </a:r>
          </a:p>
        </p:txBody>
      </p:sp>
      <p:sp>
        <p:nvSpPr>
          <p:cNvPr id="7" name="Content Placeholder 6">
            <a:extLst>
              <a:ext uri="{FF2B5EF4-FFF2-40B4-BE49-F238E27FC236}">
                <a16:creationId xmlns:a16="http://schemas.microsoft.com/office/drawing/2014/main" id="{1150FDC5-5087-1EDA-9D40-5E7507BA054A}"/>
              </a:ext>
            </a:extLst>
          </p:cNvPr>
          <p:cNvSpPr>
            <a:spLocks noGrp="1"/>
          </p:cNvSpPr>
          <p:nvPr>
            <p:ph idx="1"/>
          </p:nvPr>
        </p:nvSpPr>
        <p:spPr/>
        <p:txBody>
          <a:bodyPr/>
          <a:lstStyle/>
          <a:p>
            <a:r>
              <a:rPr lang="en-US" dirty="0"/>
              <a:t>Anyone who plugs in is “in”</a:t>
            </a:r>
          </a:p>
          <a:p>
            <a:r>
              <a:rPr lang="en-US" dirty="0"/>
              <a:t>Networks are often flat and undivided</a:t>
            </a:r>
          </a:p>
          <a:p>
            <a:r>
              <a:rPr lang="en-US" dirty="0"/>
              <a:t>IoT means lots of potential unknown devices</a:t>
            </a:r>
          </a:p>
          <a:p>
            <a:r>
              <a:rPr lang="en-US" dirty="0"/>
              <a:t>Weak Wi-Fi security, passwords, encryption</a:t>
            </a:r>
          </a:p>
          <a:p>
            <a:r>
              <a:rPr lang="en-US" dirty="0"/>
              <a:t>Single points of failure that are hard to find</a:t>
            </a:r>
          </a:p>
          <a:p>
            <a:r>
              <a:rPr lang="en-US" dirty="0"/>
              <a:t>What do you see on your Ex 1 diagram that fits?</a:t>
            </a:r>
          </a:p>
          <a:p>
            <a:endParaRPr lang="en-US" dirty="0"/>
          </a:p>
          <a:p>
            <a:r>
              <a:rPr lang="en-US" dirty="0"/>
              <a:t>There are good controls available for most of this</a:t>
            </a:r>
          </a:p>
          <a:p>
            <a:r>
              <a:rPr lang="en-US" dirty="0"/>
              <a:t>Question is, have they been applied?</a:t>
            </a:r>
          </a:p>
        </p:txBody>
      </p:sp>
      <p:pic>
        <p:nvPicPr>
          <p:cNvPr id="4" name="Picture 3" descr="A close up of a cable&#10;&#10;AI-generated content may be incorrect.">
            <a:extLst>
              <a:ext uri="{FF2B5EF4-FFF2-40B4-BE49-F238E27FC236}">
                <a16:creationId xmlns:a16="http://schemas.microsoft.com/office/drawing/2014/main" id="{F95D8F9B-B365-3372-2A80-5B45E84801B4}"/>
              </a:ext>
            </a:extLst>
          </p:cNvPr>
          <p:cNvPicPr>
            <a:picLocks noChangeAspect="1"/>
          </p:cNvPicPr>
          <p:nvPr/>
        </p:nvPicPr>
        <p:blipFill>
          <a:blip r:embed="rId2"/>
          <a:stretch>
            <a:fillRect/>
          </a:stretch>
        </p:blipFill>
        <p:spPr>
          <a:xfrm>
            <a:off x="13967832" y="683023"/>
            <a:ext cx="3733800" cy="4673600"/>
          </a:xfrm>
          <a:prstGeom prst="rect">
            <a:avLst/>
          </a:prstGeom>
        </p:spPr>
      </p:pic>
      <p:pic>
        <p:nvPicPr>
          <p:cNvPr id="6" name="Picture 5" descr="A bunch of white wires&#10;&#10;AI-generated content may be incorrect.">
            <a:extLst>
              <a:ext uri="{FF2B5EF4-FFF2-40B4-BE49-F238E27FC236}">
                <a16:creationId xmlns:a16="http://schemas.microsoft.com/office/drawing/2014/main" id="{4087A91B-377A-4CAE-B541-0D4E4FFFE196}"/>
              </a:ext>
            </a:extLst>
          </p:cNvPr>
          <p:cNvPicPr>
            <a:picLocks noChangeAspect="1"/>
          </p:cNvPicPr>
          <p:nvPr/>
        </p:nvPicPr>
        <p:blipFill>
          <a:blip r:embed="rId3"/>
          <a:stretch>
            <a:fillRect/>
          </a:stretch>
        </p:blipFill>
        <p:spPr>
          <a:xfrm>
            <a:off x="13967832" y="4693718"/>
            <a:ext cx="3910206" cy="4466611"/>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Chapter 9: WANs </a:t>
            </a:r>
            <a:r>
              <a:rPr lang="en-US" dirty="0"/>
              <a:t>in Depth</a:t>
            </a:r>
            <a:endParaRPr dirty="0"/>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BBAC9-64BA-C7EF-6810-FC1EDC140BAC}"/>
              </a:ext>
            </a:extLst>
          </p:cNvPr>
          <p:cNvSpPr>
            <a:spLocks noGrp="1"/>
          </p:cNvSpPr>
          <p:nvPr>
            <p:ph type="title"/>
          </p:nvPr>
        </p:nvSpPr>
        <p:spPr/>
        <p:txBody>
          <a:bodyPr/>
          <a:lstStyle/>
          <a:p>
            <a:r>
              <a:rPr lang="en-US"/>
              <a:t>Bank Branch Connection</a:t>
            </a:r>
          </a:p>
        </p:txBody>
      </p:sp>
      <p:sp>
        <p:nvSpPr>
          <p:cNvPr id="4" name="Content Placeholder 3">
            <a:extLst>
              <a:ext uri="{FF2B5EF4-FFF2-40B4-BE49-F238E27FC236}">
                <a16:creationId xmlns:a16="http://schemas.microsoft.com/office/drawing/2014/main" id="{C174DF60-3C3C-8D67-6F47-1D601AE4D732}"/>
              </a:ext>
            </a:extLst>
          </p:cNvPr>
          <p:cNvSpPr>
            <a:spLocks noGrp="1"/>
          </p:cNvSpPr>
          <p:nvPr>
            <p:ph idx="1"/>
          </p:nvPr>
        </p:nvSpPr>
        <p:spPr/>
        <p:txBody>
          <a:bodyPr/>
          <a:lstStyle/>
          <a:p>
            <a:r>
              <a:rPr lang="en-US"/>
              <a:t>Branches need to access applications </a:t>
            </a:r>
          </a:p>
          <a:p>
            <a:pPr lvl="1"/>
            <a:r>
              <a:rPr lang="en-US"/>
              <a:t>Internal applications at the datacenter</a:t>
            </a:r>
          </a:p>
          <a:p>
            <a:pPr lvl="1"/>
            <a:r>
              <a:rPr lang="en-US"/>
              <a:t>Core applications at a service provider</a:t>
            </a:r>
          </a:p>
          <a:p>
            <a:pPr lvl="1"/>
            <a:r>
              <a:rPr lang="en-US"/>
              <a:t>Cloud applications at a cloud datacenter</a:t>
            </a:r>
          </a:p>
          <a:p>
            <a:r>
              <a:rPr lang="en-US"/>
              <a:t>Common network architecture uses private network connection to the internal datacenter for all traffic</a:t>
            </a:r>
          </a:p>
          <a:p>
            <a:r>
              <a:rPr lang="en-US"/>
              <a:t>We have a variety of options for the connection</a:t>
            </a:r>
          </a:p>
          <a:p>
            <a:pPr lvl="1"/>
            <a:r>
              <a:rPr lang="en-US"/>
              <a:t>Private Line</a:t>
            </a:r>
          </a:p>
          <a:p>
            <a:pPr lvl="1"/>
            <a:r>
              <a:rPr lang="en-US"/>
              <a:t>MPLS</a:t>
            </a:r>
          </a:p>
          <a:p>
            <a:pPr lvl="1"/>
            <a:r>
              <a:rPr lang="en-US"/>
              <a:t>Carrier Ethernet</a:t>
            </a:r>
          </a:p>
          <a:p>
            <a:pPr lvl="1"/>
            <a:r>
              <a:rPr lang="en-US"/>
              <a:t>VPN</a:t>
            </a:r>
          </a:p>
        </p:txBody>
      </p:sp>
    </p:spTree>
    <p:extLst>
      <p:ext uri="{BB962C8B-B14F-4D97-AF65-F5344CB8AC3E}">
        <p14:creationId xmlns:p14="http://schemas.microsoft.com/office/powerpoint/2010/main" val="40417939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A87B6-2B14-8FF0-ADE8-FA90970000DB}"/>
              </a:ext>
            </a:extLst>
          </p:cNvPr>
          <p:cNvSpPr>
            <a:spLocks noGrp="1"/>
          </p:cNvSpPr>
          <p:nvPr>
            <p:ph type="title"/>
          </p:nvPr>
        </p:nvSpPr>
        <p:spPr/>
        <p:txBody>
          <a:bodyPr/>
          <a:lstStyle/>
          <a:p>
            <a:r>
              <a:rPr lang="en-US"/>
              <a:t>Private Lines</a:t>
            </a:r>
          </a:p>
        </p:txBody>
      </p:sp>
      <p:sp>
        <p:nvSpPr>
          <p:cNvPr id="3" name="Content Placeholder 2">
            <a:extLst>
              <a:ext uri="{FF2B5EF4-FFF2-40B4-BE49-F238E27FC236}">
                <a16:creationId xmlns:a16="http://schemas.microsoft.com/office/drawing/2014/main" id="{AA082D2C-0D1A-0CA7-9832-A3AE9AB42910}"/>
              </a:ext>
            </a:extLst>
          </p:cNvPr>
          <p:cNvSpPr>
            <a:spLocks noGrp="1"/>
          </p:cNvSpPr>
          <p:nvPr>
            <p:ph idx="1"/>
          </p:nvPr>
        </p:nvSpPr>
        <p:spPr/>
        <p:txBody>
          <a:bodyPr/>
          <a:lstStyle/>
          <a:p>
            <a:r>
              <a:rPr lang="en-US"/>
              <a:t>Dedicated physical connection or bandwidth between sites or as access to carrier service</a:t>
            </a:r>
          </a:p>
          <a:p>
            <a:r>
              <a:rPr lang="en-US"/>
              <a:t>Old school technology, such as T1, were originally designed for the public voice network</a:t>
            </a:r>
          </a:p>
          <a:p>
            <a:r>
              <a:rPr lang="en-US"/>
              <a:t>Most private connections today are optical fiber Ethernet connections to other services</a:t>
            </a:r>
          </a:p>
          <a:p>
            <a:pPr lvl="1"/>
            <a:r>
              <a:rPr lang="en-US"/>
              <a:t>MPLS</a:t>
            </a:r>
          </a:p>
          <a:p>
            <a:pPr lvl="1"/>
            <a:r>
              <a:rPr lang="en-US"/>
              <a:t>Carrier Ethernet</a:t>
            </a:r>
          </a:p>
          <a:p>
            <a:r>
              <a:rPr lang="en-US"/>
              <a:t>Carriers are investing heavily in expanding their fiber footprint</a:t>
            </a:r>
          </a:p>
          <a:p>
            <a:r>
              <a:rPr lang="en-US"/>
              <a:t>Private wireless networks are an option in come cases</a:t>
            </a:r>
          </a:p>
        </p:txBody>
      </p:sp>
    </p:spTree>
    <p:extLst>
      <p:ext uri="{BB962C8B-B14F-4D97-AF65-F5344CB8AC3E}">
        <p14:creationId xmlns:p14="http://schemas.microsoft.com/office/powerpoint/2010/main" val="11534382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AAB33-3825-BF8A-81E7-5941254EF099}"/>
              </a:ext>
            </a:extLst>
          </p:cNvPr>
          <p:cNvSpPr>
            <a:spLocks noGrp="1"/>
          </p:cNvSpPr>
          <p:nvPr>
            <p:ph type="title"/>
          </p:nvPr>
        </p:nvSpPr>
        <p:spPr/>
        <p:txBody>
          <a:bodyPr/>
          <a:lstStyle/>
          <a:p>
            <a:r>
              <a:rPr lang="en-US"/>
              <a:t>Ethernet Access</a:t>
            </a:r>
          </a:p>
        </p:txBody>
      </p:sp>
      <p:sp>
        <p:nvSpPr>
          <p:cNvPr id="3" name="Content Placeholder 2">
            <a:extLst>
              <a:ext uri="{FF2B5EF4-FFF2-40B4-BE49-F238E27FC236}">
                <a16:creationId xmlns:a16="http://schemas.microsoft.com/office/drawing/2014/main" id="{4E4E8F14-2277-4DD4-610C-FE2CEB38BCD9}"/>
              </a:ext>
            </a:extLst>
          </p:cNvPr>
          <p:cNvSpPr>
            <a:spLocks noGrp="1"/>
          </p:cNvSpPr>
          <p:nvPr>
            <p:ph idx="1"/>
          </p:nvPr>
        </p:nvSpPr>
        <p:spPr/>
        <p:txBody>
          <a:bodyPr/>
          <a:lstStyle/>
          <a:p>
            <a:r>
              <a:rPr lang="en-US"/>
              <a:t>Ethernet has expanded from the LAN to the WAN</a:t>
            </a:r>
          </a:p>
          <a:p>
            <a:r>
              <a:rPr lang="en-US"/>
              <a:t>Optical fiber is the medium of choice</a:t>
            </a:r>
          </a:p>
          <a:p>
            <a:r>
              <a:rPr lang="en-US"/>
              <a:t>Dedicated fibers frequently used for business services</a:t>
            </a:r>
          </a:p>
          <a:p>
            <a:pPr lvl="1"/>
            <a:r>
              <a:rPr lang="en-US"/>
              <a:t>MPLS</a:t>
            </a:r>
          </a:p>
          <a:p>
            <a:pPr lvl="1"/>
            <a:r>
              <a:rPr lang="en-US"/>
              <a:t>Carrier Ethernet</a:t>
            </a:r>
          </a:p>
          <a:p>
            <a:pPr lvl="1"/>
            <a:r>
              <a:rPr lang="en-US"/>
              <a:t>Internet access</a:t>
            </a:r>
          </a:p>
          <a:p>
            <a:r>
              <a:rPr lang="en-US"/>
              <a:t>Shared access offers lower cost option based on Passive Optical Networking (PON) technology </a:t>
            </a:r>
          </a:p>
          <a:p>
            <a:pPr lvl="1"/>
            <a:r>
              <a:rPr lang="en-US"/>
              <a:t>Originally used for home services</a:t>
            </a:r>
          </a:p>
          <a:p>
            <a:pPr lvl="1"/>
            <a:r>
              <a:rPr lang="en-US"/>
              <a:t>Cost effective approach for business internet access</a:t>
            </a:r>
          </a:p>
        </p:txBody>
      </p:sp>
    </p:spTree>
    <p:extLst>
      <p:ext uri="{BB962C8B-B14F-4D97-AF65-F5344CB8AC3E}">
        <p14:creationId xmlns:p14="http://schemas.microsoft.com/office/powerpoint/2010/main" val="30400544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Passive Optical Network (PON) Access</a:t>
            </a:r>
          </a:p>
        </p:txBody>
      </p:sp>
      <p:pic>
        <p:nvPicPr>
          <p:cNvPr id="3" name="Provider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7280" y="3794759"/>
            <a:ext cx="1280160" cy="1280160"/>
          </a:xfrm>
          <a:prstGeom prst="rect">
            <a:avLst/>
          </a:prstGeom>
        </p:spPr>
      </p:pic>
      <p:sp>
        <p:nvSpPr>
          <p:cNvPr id="4" name="Provider label"/>
          <p:cNvSpPr txBox="1"/>
          <p:nvPr/>
        </p:nvSpPr>
        <p:spPr>
          <a:xfrm>
            <a:off x="548640" y="5166360"/>
            <a:ext cx="2377440" cy="731520"/>
          </a:xfrm>
          <a:prstGeom prst="rect">
            <a:avLst/>
          </a:prstGeom>
          <a:noFill/>
        </p:spPr>
        <p:txBody>
          <a:bodyPr wrap="square" lIns="0" tIns="0" rIns="0" bIns="0" anchor="t">
            <a:spAutoFit/>
          </a:bodyPr>
          <a:lstStyle/>
          <a:p>
            <a:pPr algn="ctr">
              <a:spcAft>
                <a:spcPts val="0"/>
              </a:spcAft>
            </a:pPr>
            <a:r>
              <a:rPr sz="1800" b="1" i="0">
                <a:solidFill>
                  <a:srgbClr val="000000"/>
                </a:solidFill>
                <a:latin typeface="Helvetica Neue"/>
                <a:ea typeface="Helvetica Neue"/>
                <a:cs typeface="Helvetica Neue"/>
              </a:rPr>
              <a:t>Provider</a:t>
            </a:r>
          </a:p>
          <a:p>
            <a:pPr algn="ctr">
              <a:spcAft>
                <a:spcPts val="0"/>
              </a:spcAft>
            </a:pPr>
            <a:r>
              <a:rPr sz="1500" b="0" i="0">
                <a:solidFill>
                  <a:srgbClr val="000000"/>
                </a:solidFill>
                <a:latin typeface="Helvetica Neue"/>
                <a:ea typeface="Helvetica Neue"/>
                <a:cs typeface="Helvetica Neue"/>
              </a:rPr>
              <a:t>central office</a:t>
            </a:r>
          </a:p>
        </p:txBody>
      </p:sp>
      <p:sp>
        <p:nvSpPr>
          <p:cNvPr id="5" name="OLT"/>
          <p:cNvSpPr/>
          <p:nvPr/>
        </p:nvSpPr>
        <p:spPr>
          <a:xfrm>
            <a:off x="3017520" y="4206240"/>
            <a:ext cx="1371600" cy="73152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i="0">
                <a:solidFill>
                  <a:srgbClr val="000000"/>
                </a:solidFill>
                <a:latin typeface="Helvetica Neue"/>
                <a:ea typeface="Helvetica Neue"/>
                <a:cs typeface="Helvetica Neue"/>
              </a:rPr>
              <a:t>OLT</a:t>
            </a:r>
          </a:p>
        </p:txBody>
      </p:sp>
      <p:cxnSp>
        <p:nvCxnSpPr>
          <p:cNvPr id="6" name="Feeder fiber"/>
          <p:cNvCxnSpPr/>
          <p:nvPr/>
        </p:nvCxnSpPr>
        <p:spPr>
          <a:xfrm>
            <a:off x="4389120" y="4572000"/>
            <a:ext cx="3611880" cy="0"/>
          </a:xfrm>
          <a:prstGeom prst="line">
            <a:avLst/>
          </a:prstGeom>
          <a:ln w="57150">
            <a:solidFill>
              <a:srgbClr val="2F75B5"/>
            </a:solidFill>
          </a:ln>
        </p:spPr>
        <p:style>
          <a:lnRef idx="2">
            <a:schemeClr val="accent1"/>
          </a:lnRef>
          <a:fillRef idx="0">
            <a:schemeClr val="accent1"/>
          </a:fillRef>
          <a:effectRef idx="1">
            <a:schemeClr val="accent1"/>
          </a:effectRef>
          <a:fontRef idx="minor">
            <a:schemeClr val="tx1"/>
          </a:fontRef>
        </p:style>
      </p:cxnSp>
      <p:sp>
        <p:nvSpPr>
          <p:cNvPr id="7" name="Feeder label"/>
          <p:cNvSpPr txBox="1"/>
          <p:nvPr/>
        </p:nvSpPr>
        <p:spPr>
          <a:xfrm>
            <a:off x="4480560" y="3886200"/>
            <a:ext cx="3474720" cy="457200"/>
          </a:xfrm>
          <a:prstGeom prst="rect">
            <a:avLst/>
          </a:prstGeom>
          <a:noFill/>
        </p:spPr>
        <p:txBody>
          <a:bodyPr wrap="square" lIns="0" tIns="0" rIns="0" bIns="0" anchor="t">
            <a:spAutoFit/>
          </a:bodyPr>
          <a:lstStyle/>
          <a:p>
            <a:pPr algn="ctr">
              <a:spcAft>
                <a:spcPts val="600"/>
              </a:spcAft>
            </a:pPr>
            <a:r>
              <a:rPr sz="1800" b="1" i="0">
                <a:solidFill>
                  <a:srgbClr val="2F75B5"/>
                </a:solidFill>
                <a:latin typeface="Helvetica Neue"/>
                <a:ea typeface="Helvetica Neue"/>
                <a:cs typeface="Helvetica Neue"/>
              </a:rPr>
              <a:t>One shared fiber</a:t>
            </a:r>
          </a:p>
        </p:txBody>
      </p:sp>
      <p:sp>
        <p:nvSpPr>
          <p:cNvPr id="8" name="Distance label"/>
          <p:cNvSpPr txBox="1"/>
          <p:nvPr/>
        </p:nvSpPr>
        <p:spPr>
          <a:xfrm>
            <a:off x="4480560" y="4754880"/>
            <a:ext cx="3474720" cy="457200"/>
          </a:xfrm>
          <a:prstGeom prst="rect">
            <a:avLst/>
          </a:prstGeom>
          <a:noFill/>
        </p:spPr>
        <p:txBody>
          <a:bodyPr wrap="square" lIns="0" tIns="0" rIns="0" bIns="0" anchor="t">
            <a:spAutoFit/>
          </a:bodyPr>
          <a:lstStyle/>
          <a:p>
            <a:pPr algn="ctr">
              <a:spcAft>
                <a:spcPts val="600"/>
              </a:spcAft>
            </a:pPr>
            <a:r>
              <a:rPr sz="1500" b="0" i="0">
                <a:solidFill>
                  <a:srgbClr val="595959"/>
                </a:solidFill>
                <a:latin typeface="Helvetica Neue"/>
                <a:ea typeface="Helvetica Neue"/>
                <a:cs typeface="Helvetica Neue"/>
              </a:rPr>
              <a:t>up to about 20 km</a:t>
            </a:r>
          </a:p>
        </p:txBody>
      </p:sp>
      <p:sp>
        <p:nvSpPr>
          <p:cNvPr id="9" name="Splitter"/>
          <p:cNvSpPr/>
          <p:nvPr/>
        </p:nvSpPr>
        <p:spPr>
          <a:xfrm rot="16200000">
            <a:off x="8001000" y="4023360"/>
            <a:ext cx="1097280" cy="1097280"/>
          </a:xfrm>
          <a:prstGeom prst="triangle">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plitter label"/>
          <p:cNvSpPr txBox="1"/>
          <p:nvPr/>
        </p:nvSpPr>
        <p:spPr>
          <a:xfrm>
            <a:off x="7086600" y="5257800"/>
            <a:ext cx="2926080" cy="731520"/>
          </a:xfrm>
          <a:prstGeom prst="rect">
            <a:avLst/>
          </a:prstGeom>
          <a:noFill/>
        </p:spPr>
        <p:txBody>
          <a:bodyPr wrap="square" lIns="0" tIns="0" rIns="0" bIns="0" anchor="t">
            <a:spAutoFit/>
          </a:bodyPr>
          <a:lstStyle/>
          <a:p>
            <a:pPr algn="ctr">
              <a:spcAft>
                <a:spcPts val="0"/>
              </a:spcAft>
            </a:pPr>
            <a:r>
              <a:rPr sz="1800" b="1" i="0">
                <a:solidFill>
                  <a:srgbClr val="000000"/>
                </a:solidFill>
                <a:latin typeface="Helvetica Neue"/>
                <a:ea typeface="Helvetica Neue"/>
                <a:cs typeface="Helvetica Neue"/>
              </a:rPr>
              <a:t>Passive splitter</a:t>
            </a:r>
          </a:p>
          <a:p>
            <a:pPr algn="ctr">
              <a:spcAft>
                <a:spcPts val="0"/>
              </a:spcAft>
            </a:pPr>
            <a:r>
              <a:rPr sz="1500" b="0" i="0">
                <a:solidFill>
                  <a:srgbClr val="000000"/>
                </a:solidFill>
                <a:latin typeface="Helvetica Neue"/>
                <a:ea typeface="Helvetica Neue"/>
                <a:cs typeface="Helvetica Neue"/>
              </a:rPr>
              <a:t>no power in the field</a:t>
            </a:r>
          </a:p>
        </p:txBody>
      </p:sp>
      <p:cxnSp>
        <p:nvCxnSpPr>
          <p:cNvPr id="11" name="Drop fiber Bank branch"/>
          <p:cNvCxnSpPr/>
          <p:nvPr/>
        </p:nvCxnSpPr>
        <p:spPr>
          <a:xfrm flipV="1">
            <a:off x="9098280" y="3017520"/>
            <a:ext cx="2788920" cy="1554480"/>
          </a:xfrm>
          <a:prstGeom prst="line">
            <a:avLst/>
          </a:prstGeom>
          <a:ln w="44450">
            <a:solidFill>
              <a:srgbClr val="2F75B5"/>
            </a:solidFill>
          </a:ln>
        </p:spPr>
        <p:style>
          <a:lnRef idx="2">
            <a:schemeClr val="accent1"/>
          </a:lnRef>
          <a:fillRef idx="0">
            <a:schemeClr val="accent1"/>
          </a:fillRef>
          <a:effectRef idx="1">
            <a:schemeClr val="accent1"/>
          </a:effectRef>
          <a:fontRef idx="minor">
            <a:schemeClr val="tx1"/>
          </a:fontRef>
        </p:style>
      </p:cxnSp>
      <p:sp>
        <p:nvSpPr>
          <p:cNvPr id="12" name="ONT Bank branch"/>
          <p:cNvSpPr/>
          <p:nvPr/>
        </p:nvSpPr>
        <p:spPr>
          <a:xfrm>
            <a:off x="11887200" y="2743200"/>
            <a:ext cx="1097280" cy="548640"/>
          </a:xfrm>
          <a:prstGeom prst="round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000000"/>
                </a:solidFill>
                <a:latin typeface="Helvetica Neue"/>
                <a:ea typeface="Helvetica Neue"/>
                <a:cs typeface="Helvetica Neue"/>
              </a:rPr>
              <a:t>ONT</a:t>
            </a:r>
          </a:p>
        </p:txBody>
      </p:sp>
      <p:cxnSp>
        <p:nvCxnSpPr>
          <p:cNvPr id="13" name="Ethernet Bank branch"/>
          <p:cNvCxnSpPr/>
          <p:nvPr/>
        </p:nvCxnSpPr>
        <p:spPr>
          <a:xfrm>
            <a:off x="12984480" y="3017520"/>
            <a:ext cx="502920" cy="0"/>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pic>
        <p:nvPicPr>
          <p:cNvPr id="14" name="Icon Bank branch"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578840" y="2606039"/>
            <a:ext cx="822960" cy="822960"/>
          </a:xfrm>
          <a:prstGeom prst="rect">
            <a:avLst/>
          </a:prstGeom>
        </p:spPr>
      </p:pic>
      <p:sp>
        <p:nvSpPr>
          <p:cNvPr id="15" name="Label Bank branch"/>
          <p:cNvSpPr txBox="1"/>
          <p:nvPr/>
        </p:nvSpPr>
        <p:spPr>
          <a:xfrm>
            <a:off x="14584680" y="2788920"/>
            <a:ext cx="2743200" cy="457200"/>
          </a:xfrm>
          <a:prstGeom prst="rect">
            <a:avLst/>
          </a:prstGeom>
          <a:noFill/>
        </p:spPr>
        <p:txBody>
          <a:bodyPr wrap="square" lIns="0" tIns="0" rIns="0" bIns="0" anchor="ctr">
            <a:spAutoFit/>
          </a:bodyPr>
          <a:lstStyle/>
          <a:p>
            <a:pPr algn="l">
              <a:spcAft>
                <a:spcPts val="600"/>
              </a:spcAft>
            </a:pPr>
            <a:r>
              <a:rPr sz="2000" b="1" i="0">
                <a:solidFill>
                  <a:srgbClr val="000000"/>
                </a:solidFill>
                <a:latin typeface="Helvetica Neue"/>
                <a:ea typeface="Helvetica Neue"/>
                <a:cs typeface="Helvetica Neue"/>
              </a:rPr>
              <a:t>Bank branch</a:t>
            </a:r>
          </a:p>
        </p:txBody>
      </p:sp>
      <p:cxnSp>
        <p:nvCxnSpPr>
          <p:cNvPr id="16" name="Drop fiber Homes"/>
          <p:cNvCxnSpPr/>
          <p:nvPr/>
        </p:nvCxnSpPr>
        <p:spPr>
          <a:xfrm flipV="1">
            <a:off x="9098280" y="4069080"/>
            <a:ext cx="2788920" cy="502920"/>
          </a:xfrm>
          <a:prstGeom prst="line">
            <a:avLst/>
          </a:prstGeom>
          <a:ln w="44450">
            <a:solidFill>
              <a:srgbClr val="2F75B5"/>
            </a:solidFill>
          </a:ln>
        </p:spPr>
        <p:style>
          <a:lnRef idx="2">
            <a:schemeClr val="accent1"/>
          </a:lnRef>
          <a:fillRef idx="0">
            <a:schemeClr val="accent1"/>
          </a:fillRef>
          <a:effectRef idx="1">
            <a:schemeClr val="accent1"/>
          </a:effectRef>
          <a:fontRef idx="minor">
            <a:schemeClr val="tx1"/>
          </a:fontRef>
        </p:style>
      </p:cxnSp>
      <p:sp>
        <p:nvSpPr>
          <p:cNvPr id="17" name="ONT Homes"/>
          <p:cNvSpPr/>
          <p:nvPr/>
        </p:nvSpPr>
        <p:spPr>
          <a:xfrm>
            <a:off x="11887200" y="3794760"/>
            <a:ext cx="1097280" cy="548640"/>
          </a:xfrm>
          <a:prstGeom prst="round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000000"/>
                </a:solidFill>
                <a:latin typeface="Helvetica Neue"/>
                <a:ea typeface="Helvetica Neue"/>
                <a:cs typeface="Helvetica Neue"/>
              </a:rPr>
              <a:t>ONT</a:t>
            </a:r>
          </a:p>
        </p:txBody>
      </p:sp>
      <p:cxnSp>
        <p:nvCxnSpPr>
          <p:cNvPr id="18" name="Ethernet Homes"/>
          <p:cNvCxnSpPr/>
          <p:nvPr/>
        </p:nvCxnSpPr>
        <p:spPr>
          <a:xfrm>
            <a:off x="12984480" y="4069080"/>
            <a:ext cx="502920" cy="0"/>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pic>
        <p:nvPicPr>
          <p:cNvPr id="19" name="Icon Homes"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578840" y="3657600"/>
            <a:ext cx="822960" cy="822960"/>
          </a:xfrm>
          <a:prstGeom prst="rect">
            <a:avLst/>
          </a:prstGeom>
        </p:spPr>
      </p:pic>
      <p:sp>
        <p:nvSpPr>
          <p:cNvPr id="20" name="Label Homes"/>
          <p:cNvSpPr txBox="1"/>
          <p:nvPr/>
        </p:nvSpPr>
        <p:spPr>
          <a:xfrm>
            <a:off x="14584680" y="3840480"/>
            <a:ext cx="2743200" cy="457200"/>
          </a:xfrm>
          <a:prstGeom prst="rect">
            <a:avLst/>
          </a:prstGeom>
          <a:noFill/>
        </p:spPr>
        <p:txBody>
          <a:bodyPr wrap="square" lIns="0" tIns="0" rIns="0" bIns="0" anchor="ctr">
            <a:spAutoFit/>
          </a:bodyPr>
          <a:lstStyle/>
          <a:p>
            <a:pPr algn="l">
              <a:spcAft>
                <a:spcPts val="600"/>
              </a:spcAft>
            </a:pPr>
            <a:r>
              <a:rPr sz="2000" b="0" i="0">
                <a:solidFill>
                  <a:srgbClr val="000000"/>
                </a:solidFill>
                <a:latin typeface="Helvetica Neue"/>
                <a:ea typeface="Helvetica Neue"/>
                <a:cs typeface="Helvetica Neue"/>
              </a:rPr>
              <a:t>Homes</a:t>
            </a:r>
          </a:p>
        </p:txBody>
      </p:sp>
      <p:cxnSp>
        <p:nvCxnSpPr>
          <p:cNvPr id="21" name="Drop fiber Shops"/>
          <p:cNvCxnSpPr/>
          <p:nvPr/>
        </p:nvCxnSpPr>
        <p:spPr>
          <a:xfrm>
            <a:off x="9098280" y="4572000"/>
            <a:ext cx="2788920" cy="548640"/>
          </a:xfrm>
          <a:prstGeom prst="line">
            <a:avLst/>
          </a:prstGeom>
          <a:ln w="44450">
            <a:solidFill>
              <a:srgbClr val="2F75B5"/>
            </a:solidFill>
          </a:ln>
        </p:spPr>
        <p:style>
          <a:lnRef idx="2">
            <a:schemeClr val="accent1"/>
          </a:lnRef>
          <a:fillRef idx="0">
            <a:schemeClr val="accent1"/>
          </a:fillRef>
          <a:effectRef idx="1">
            <a:schemeClr val="accent1"/>
          </a:effectRef>
          <a:fontRef idx="minor">
            <a:schemeClr val="tx1"/>
          </a:fontRef>
        </p:style>
      </p:cxnSp>
      <p:sp>
        <p:nvSpPr>
          <p:cNvPr id="22" name="ONT Shops"/>
          <p:cNvSpPr/>
          <p:nvPr/>
        </p:nvSpPr>
        <p:spPr>
          <a:xfrm>
            <a:off x="11887200" y="4846320"/>
            <a:ext cx="1097280" cy="548640"/>
          </a:xfrm>
          <a:prstGeom prst="round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000000"/>
                </a:solidFill>
                <a:latin typeface="Helvetica Neue"/>
                <a:ea typeface="Helvetica Neue"/>
                <a:cs typeface="Helvetica Neue"/>
              </a:rPr>
              <a:t>ONT</a:t>
            </a:r>
          </a:p>
        </p:txBody>
      </p:sp>
      <p:cxnSp>
        <p:nvCxnSpPr>
          <p:cNvPr id="23" name="Ethernet Shops"/>
          <p:cNvCxnSpPr/>
          <p:nvPr/>
        </p:nvCxnSpPr>
        <p:spPr>
          <a:xfrm>
            <a:off x="12984480" y="5120640"/>
            <a:ext cx="502920" cy="0"/>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pic>
        <p:nvPicPr>
          <p:cNvPr id="24" name="Icon Shops"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578840" y="4709159"/>
            <a:ext cx="822960" cy="822960"/>
          </a:xfrm>
          <a:prstGeom prst="rect">
            <a:avLst/>
          </a:prstGeom>
        </p:spPr>
      </p:pic>
      <p:sp>
        <p:nvSpPr>
          <p:cNvPr id="25" name="Label Shops"/>
          <p:cNvSpPr txBox="1"/>
          <p:nvPr/>
        </p:nvSpPr>
        <p:spPr>
          <a:xfrm>
            <a:off x="14584680" y="4892040"/>
            <a:ext cx="2743200" cy="457200"/>
          </a:xfrm>
          <a:prstGeom prst="rect">
            <a:avLst/>
          </a:prstGeom>
          <a:noFill/>
        </p:spPr>
        <p:txBody>
          <a:bodyPr wrap="square" lIns="0" tIns="0" rIns="0" bIns="0" anchor="ctr">
            <a:spAutoFit/>
          </a:bodyPr>
          <a:lstStyle/>
          <a:p>
            <a:pPr algn="l">
              <a:spcAft>
                <a:spcPts val="600"/>
              </a:spcAft>
            </a:pPr>
            <a:r>
              <a:rPr sz="2000" b="0" i="0">
                <a:solidFill>
                  <a:srgbClr val="000000"/>
                </a:solidFill>
                <a:latin typeface="Helvetica Neue"/>
                <a:ea typeface="Helvetica Neue"/>
                <a:cs typeface="Helvetica Neue"/>
              </a:rPr>
              <a:t>Shops</a:t>
            </a:r>
          </a:p>
        </p:txBody>
      </p:sp>
      <p:cxnSp>
        <p:nvCxnSpPr>
          <p:cNvPr id="26" name="Drop fiber Businesses"/>
          <p:cNvCxnSpPr/>
          <p:nvPr/>
        </p:nvCxnSpPr>
        <p:spPr>
          <a:xfrm>
            <a:off x="9098280" y="4572000"/>
            <a:ext cx="2788920" cy="1600200"/>
          </a:xfrm>
          <a:prstGeom prst="line">
            <a:avLst/>
          </a:prstGeom>
          <a:ln w="44450">
            <a:solidFill>
              <a:srgbClr val="2F75B5"/>
            </a:solidFill>
          </a:ln>
        </p:spPr>
        <p:style>
          <a:lnRef idx="2">
            <a:schemeClr val="accent1"/>
          </a:lnRef>
          <a:fillRef idx="0">
            <a:schemeClr val="accent1"/>
          </a:fillRef>
          <a:effectRef idx="1">
            <a:schemeClr val="accent1"/>
          </a:effectRef>
          <a:fontRef idx="minor">
            <a:schemeClr val="tx1"/>
          </a:fontRef>
        </p:style>
      </p:cxnSp>
      <p:sp>
        <p:nvSpPr>
          <p:cNvPr id="27" name="ONT Businesses"/>
          <p:cNvSpPr/>
          <p:nvPr/>
        </p:nvSpPr>
        <p:spPr>
          <a:xfrm>
            <a:off x="11887200" y="5897880"/>
            <a:ext cx="1097280" cy="548640"/>
          </a:xfrm>
          <a:prstGeom prst="round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000000"/>
                </a:solidFill>
                <a:latin typeface="Helvetica Neue"/>
                <a:ea typeface="Helvetica Neue"/>
                <a:cs typeface="Helvetica Neue"/>
              </a:rPr>
              <a:t>ONT</a:t>
            </a:r>
          </a:p>
        </p:txBody>
      </p:sp>
      <p:cxnSp>
        <p:nvCxnSpPr>
          <p:cNvPr id="28" name="Ethernet Businesses"/>
          <p:cNvCxnSpPr/>
          <p:nvPr/>
        </p:nvCxnSpPr>
        <p:spPr>
          <a:xfrm>
            <a:off x="12984480" y="6172200"/>
            <a:ext cx="502920" cy="0"/>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pic>
        <p:nvPicPr>
          <p:cNvPr id="29" name="Icon Businesses"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578840" y="5760720"/>
            <a:ext cx="822960" cy="822960"/>
          </a:xfrm>
          <a:prstGeom prst="rect">
            <a:avLst/>
          </a:prstGeom>
        </p:spPr>
      </p:pic>
      <p:sp>
        <p:nvSpPr>
          <p:cNvPr id="30" name="Label Businesses"/>
          <p:cNvSpPr txBox="1"/>
          <p:nvPr/>
        </p:nvSpPr>
        <p:spPr>
          <a:xfrm>
            <a:off x="14584680" y="5943600"/>
            <a:ext cx="2743200" cy="457200"/>
          </a:xfrm>
          <a:prstGeom prst="rect">
            <a:avLst/>
          </a:prstGeom>
          <a:noFill/>
        </p:spPr>
        <p:txBody>
          <a:bodyPr wrap="square" lIns="0" tIns="0" rIns="0" bIns="0" anchor="ctr">
            <a:spAutoFit/>
          </a:bodyPr>
          <a:lstStyle/>
          <a:p>
            <a:pPr algn="l">
              <a:spcAft>
                <a:spcPts val="600"/>
              </a:spcAft>
            </a:pPr>
            <a:r>
              <a:rPr sz="2000" b="0" i="0">
                <a:solidFill>
                  <a:srgbClr val="000000"/>
                </a:solidFill>
                <a:latin typeface="Helvetica Neue"/>
                <a:ea typeface="Helvetica Neue"/>
                <a:cs typeface="Helvetica Neue"/>
              </a:rPr>
              <a:t>Businesses</a:t>
            </a:r>
          </a:p>
        </p:txBody>
      </p:sp>
      <p:sp>
        <p:nvSpPr>
          <p:cNvPr id="31" name="Split ratio"/>
          <p:cNvSpPr txBox="1"/>
          <p:nvPr/>
        </p:nvSpPr>
        <p:spPr>
          <a:xfrm>
            <a:off x="8778240" y="2606040"/>
            <a:ext cx="3291840" cy="411480"/>
          </a:xfrm>
          <a:prstGeom prst="rect">
            <a:avLst/>
          </a:prstGeom>
          <a:noFill/>
        </p:spPr>
        <p:txBody>
          <a:bodyPr wrap="square" lIns="0" tIns="0" rIns="0" bIns="0" anchor="t">
            <a:spAutoFit/>
          </a:bodyPr>
          <a:lstStyle/>
          <a:p>
            <a:pPr algn="ctr">
              <a:spcAft>
                <a:spcPts val="600"/>
              </a:spcAft>
            </a:pPr>
            <a:r>
              <a:rPr sz="1500" b="0" i="0">
                <a:solidFill>
                  <a:srgbClr val="595959"/>
                </a:solidFill>
                <a:latin typeface="Helvetica Neue"/>
                <a:ea typeface="Helvetica Neue"/>
                <a:cs typeface="Helvetica Neue"/>
              </a:rPr>
              <a:t>1 fiber → 32 or 64 customers</a:t>
            </a:r>
          </a:p>
        </p:txBody>
      </p:sp>
      <p:sp>
        <p:nvSpPr>
          <p:cNvPr id="32" name="Card 1"/>
          <p:cNvSpPr/>
          <p:nvPr/>
        </p:nvSpPr>
        <p:spPr>
          <a:xfrm>
            <a:off x="1257300" y="7178040"/>
            <a:ext cx="5029200" cy="21031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Card 1 text"/>
          <p:cNvSpPr txBox="1"/>
          <p:nvPr/>
        </p:nvSpPr>
        <p:spPr>
          <a:xfrm>
            <a:off x="1531620" y="7406640"/>
            <a:ext cx="4480560" cy="1691639"/>
          </a:xfrm>
          <a:prstGeom prst="rect">
            <a:avLst/>
          </a:prstGeom>
          <a:noFill/>
        </p:spPr>
        <p:txBody>
          <a:bodyPr wrap="square" lIns="0" tIns="0" rIns="0" bIns="0" anchor="t">
            <a:spAutoFit/>
          </a:bodyPr>
          <a:lstStyle/>
          <a:p>
            <a:pPr algn="l">
              <a:spcAft>
                <a:spcPts val="800"/>
              </a:spcAft>
            </a:pPr>
            <a:r>
              <a:rPr sz="2100" b="1" i="0">
                <a:solidFill>
                  <a:srgbClr val="000000"/>
                </a:solidFill>
                <a:latin typeface="Helvetica Neue"/>
                <a:ea typeface="Helvetica Neue"/>
                <a:cs typeface="Helvetica Neue"/>
              </a:rPr>
              <a:t>Shared</a:t>
            </a:r>
          </a:p>
          <a:p>
            <a:pPr algn="l">
              <a:spcAft>
                <a:spcPts val="800"/>
              </a:spcAft>
            </a:pPr>
            <a:r>
              <a:rPr sz="1700" b="0" i="0">
                <a:solidFill>
                  <a:srgbClr val="000000"/>
                </a:solidFill>
                <a:latin typeface="Helvetica Neue"/>
                <a:ea typeface="Helvetica Neue"/>
                <a:cs typeface="Helvetica Neue"/>
              </a:rPr>
              <a:t>One fiber from the provider feeds dozens of customers through an unpowered splitter. Everyone on it shares the capacity.</a:t>
            </a:r>
          </a:p>
        </p:txBody>
      </p:sp>
      <p:sp>
        <p:nvSpPr>
          <p:cNvPr id="34" name="Card 2"/>
          <p:cNvSpPr/>
          <p:nvPr/>
        </p:nvSpPr>
        <p:spPr>
          <a:xfrm>
            <a:off x="6633972" y="7178040"/>
            <a:ext cx="5029200" cy="21031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5" name="Card 2 text"/>
          <p:cNvSpPr txBox="1"/>
          <p:nvPr/>
        </p:nvSpPr>
        <p:spPr>
          <a:xfrm>
            <a:off x="6908292" y="7406640"/>
            <a:ext cx="4480560" cy="1691639"/>
          </a:xfrm>
          <a:prstGeom prst="rect">
            <a:avLst/>
          </a:prstGeom>
          <a:noFill/>
        </p:spPr>
        <p:txBody>
          <a:bodyPr wrap="square" lIns="0" tIns="0" rIns="0" bIns="0" anchor="t">
            <a:spAutoFit/>
          </a:bodyPr>
          <a:lstStyle/>
          <a:p>
            <a:pPr algn="l">
              <a:spcAft>
                <a:spcPts val="800"/>
              </a:spcAft>
            </a:pPr>
            <a:r>
              <a:rPr sz="2100" b="1" i="0">
                <a:solidFill>
                  <a:srgbClr val="000000"/>
                </a:solidFill>
                <a:latin typeface="Helvetica Neue"/>
                <a:ea typeface="Helvetica Neue"/>
                <a:cs typeface="Helvetica Neue"/>
              </a:rPr>
              <a:t>Fast and inexpensive</a:t>
            </a:r>
          </a:p>
          <a:p>
            <a:pPr algn="l">
              <a:spcAft>
                <a:spcPts val="800"/>
              </a:spcAft>
            </a:pPr>
            <a:r>
              <a:rPr sz="1700" b="0" i="0">
                <a:solidFill>
                  <a:srgbClr val="000000"/>
                </a:solidFill>
                <a:latin typeface="Helvetica Neue"/>
                <a:ea typeface="Helvetica Neue"/>
                <a:cs typeface="Helvetica Neue"/>
              </a:rPr>
              <a:t>GPON: about 2.5 Gbps down and 1.25 Gbps up. XGS-PON: 10 Gbps both ways. Usually far cheaper than dedicated fiber.</a:t>
            </a:r>
          </a:p>
        </p:txBody>
      </p:sp>
      <p:sp>
        <p:nvSpPr>
          <p:cNvPr id="36" name="Card 3"/>
          <p:cNvSpPr/>
          <p:nvPr/>
        </p:nvSpPr>
        <p:spPr>
          <a:xfrm>
            <a:off x="12010644" y="7178040"/>
            <a:ext cx="5029200" cy="21031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Card 3 text"/>
          <p:cNvSpPr txBox="1"/>
          <p:nvPr/>
        </p:nvSpPr>
        <p:spPr>
          <a:xfrm>
            <a:off x="12284964" y="7406640"/>
            <a:ext cx="4480560" cy="1691639"/>
          </a:xfrm>
          <a:prstGeom prst="rect">
            <a:avLst/>
          </a:prstGeom>
          <a:noFill/>
        </p:spPr>
        <p:txBody>
          <a:bodyPr wrap="square" lIns="0" tIns="0" rIns="0" bIns="0" anchor="t">
            <a:spAutoFit/>
          </a:bodyPr>
          <a:lstStyle/>
          <a:p>
            <a:pPr algn="l">
              <a:spcAft>
                <a:spcPts val="800"/>
              </a:spcAft>
            </a:pPr>
            <a:r>
              <a:rPr sz="2100" b="1" i="0">
                <a:solidFill>
                  <a:srgbClr val="000000"/>
                </a:solidFill>
                <a:latin typeface="Helvetica Neue"/>
                <a:ea typeface="Helvetica Neue"/>
                <a:cs typeface="Helvetica Neue"/>
              </a:rPr>
              <a:t>What to ask the bank</a:t>
            </a:r>
          </a:p>
          <a:p>
            <a:pPr algn="l">
              <a:spcAft>
                <a:spcPts val="800"/>
              </a:spcAft>
            </a:pPr>
            <a:r>
              <a:rPr sz="1700" b="0" i="0">
                <a:solidFill>
                  <a:srgbClr val="000000"/>
                </a:solidFill>
                <a:latin typeface="Helvetica Neue"/>
                <a:ea typeface="Helvetica Neue"/>
                <a:cs typeface="Helvetica Neue"/>
              </a:rPr>
              <a:t>Business or residential service, and what does the SLA promise? Is there a second, diverse connection? Does the ONT have battery backup?</a:t>
            </a:r>
          </a:p>
        </p:txBody>
      </p:sp>
    </p:spTree>
    <p:extLst>
      <p:ext uri="{BB962C8B-B14F-4D97-AF65-F5344CB8AC3E}">
        <p14:creationId xmlns:p14="http://schemas.microsoft.com/office/powerpoint/2010/main" val="4139656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80952-E6A1-CDAA-A09E-E33F09925CF1}"/>
              </a:ext>
            </a:extLst>
          </p:cNvPr>
          <p:cNvSpPr>
            <a:spLocks noGrp="1"/>
          </p:cNvSpPr>
          <p:nvPr>
            <p:ph type="title"/>
          </p:nvPr>
        </p:nvSpPr>
        <p:spPr/>
        <p:txBody>
          <a:bodyPr/>
          <a:lstStyle/>
          <a:p>
            <a:r>
              <a:rPr lang="en-US"/>
              <a:t>Cable Modem</a:t>
            </a:r>
          </a:p>
        </p:txBody>
      </p:sp>
      <p:sp>
        <p:nvSpPr>
          <p:cNvPr id="3" name="Content Placeholder 2">
            <a:extLst>
              <a:ext uri="{FF2B5EF4-FFF2-40B4-BE49-F238E27FC236}">
                <a16:creationId xmlns:a16="http://schemas.microsoft.com/office/drawing/2014/main" id="{BBBBF6B4-8373-9913-8D70-0A9EC6E133BD}"/>
              </a:ext>
            </a:extLst>
          </p:cNvPr>
          <p:cNvSpPr>
            <a:spLocks noGrp="1"/>
          </p:cNvSpPr>
          <p:nvPr>
            <p:ph idx="1"/>
          </p:nvPr>
        </p:nvSpPr>
        <p:spPr/>
        <p:txBody>
          <a:bodyPr/>
          <a:lstStyle/>
          <a:p>
            <a:r>
              <a:rPr lang="en-US"/>
              <a:t>Cable company data infrastructure </a:t>
            </a:r>
          </a:p>
          <a:p>
            <a:r>
              <a:rPr lang="en-US"/>
              <a:t>Hybrid Fiber Coax (HFC) </a:t>
            </a:r>
          </a:p>
          <a:p>
            <a:pPr lvl="1"/>
            <a:r>
              <a:rPr lang="en-US"/>
              <a:t>Fiber from cable company headend to a node (near customer)</a:t>
            </a:r>
          </a:p>
          <a:p>
            <a:pPr lvl="1"/>
            <a:r>
              <a:rPr lang="en-US"/>
              <a:t>Coaxial cable from node to customers (shared access)</a:t>
            </a:r>
          </a:p>
          <a:p>
            <a:r>
              <a:rPr lang="en-US"/>
              <a:t>DOCSIS protocols control access and transmission format</a:t>
            </a:r>
          </a:p>
          <a:p>
            <a:pPr lvl="1"/>
            <a:r>
              <a:rPr lang="en-US"/>
              <a:t>Service speeds available vary based on technology deployed</a:t>
            </a:r>
          </a:p>
          <a:p>
            <a:pPr lvl="1"/>
            <a:r>
              <a:rPr lang="en-US"/>
              <a:t>Asymmetric speeds often 1.2 Gbps down and 35 Mbps up</a:t>
            </a:r>
          </a:p>
          <a:p>
            <a:pPr lvl="1"/>
            <a:r>
              <a:rPr lang="en-US"/>
              <a:t>Multi-gigabit symmetric services starting to be deployed</a:t>
            </a:r>
          </a:p>
        </p:txBody>
      </p:sp>
      <p:grpSp>
        <p:nvGrpSpPr>
          <p:cNvPr id="23" name="Group 22">
            <a:extLst>
              <a:ext uri="{FF2B5EF4-FFF2-40B4-BE49-F238E27FC236}">
                <a16:creationId xmlns:a16="http://schemas.microsoft.com/office/drawing/2014/main" id="{9E5B2C0E-3684-32FB-CF67-EC3CF11EAC83}"/>
              </a:ext>
            </a:extLst>
          </p:cNvPr>
          <p:cNvGrpSpPr/>
          <p:nvPr/>
        </p:nvGrpSpPr>
        <p:grpSpPr>
          <a:xfrm>
            <a:off x="1257300" y="8093869"/>
            <a:ext cx="13017468" cy="1666956"/>
            <a:chOff x="1996293" y="8091392"/>
            <a:chExt cx="13017468" cy="1666956"/>
          </a:xfrm>
        </p:grpSpPr>
        <p:sp>
          <p:nvSpPr>
            <p:cNvPr id="4" name="Rounded Rectangle 3">
              <a:extLst>
                <a:ext uri="{FF2B5EF4-FFF2-40B4-BE49-F238E27FC236}">
                  <a16:creationId xmlns:a16="http://schemas.microsoft.com/office/drawing/2014/main" id="{7458F29A-9AB1-0EA5-8E70-70C6566F16B0}"/>
                </a:ext>
              </a:extLst>
            </p:cNvPr>
            <p:cNvSpPr/>
            <p:nvPr/>
          </p:nvSpPr>
          <p:spPr>
            <a:xfrm>
              <a:off x="7396743" y="8643937"/>
              <a:ext cx="2148791" cy="689183"/>
            </a:xfrm>
            <a:prstGeom prst="roundRect">
              <a:avLst/>
            </a:prstGeom>
            <a:noFill/>
            <a:ln w="571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6CA4A20-8B12-B52F-A8CF-8071A52F918D}"/>
                </a:ext>
              </a:extLst>
            </p:cNvPr>
            <p:cNvSpPr txBox="1"/>
            <p:nvPr/>
          </p:nvSpPr>
          <p:spPr>
            <a:xfrm>
              <a:off x="7996488" y="8727240"/>
              <a:ext cx="949299" cy="461665"/>
            </a:xfrm>
            <a:prstGeom prst="rect">
              <a:avLst/>
            </a:prstGeom>
            <a:noFill/>
          </p:spPr>
          <p:txBody>
            <a:bodyPr wrap="none" rtlCol="0">
              <a:spAutoFit/>
            </a:bodyPr>
            <a:lstStyle/>
            <a:p>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Node</a:t>
              </a:r>
            </a:p>
          </p:txBody>
        </p:sp>
        <p:sp>
          <p:nvSpPr>
            <p:cNvPr id="6" name="Rounded Rectangle 5">
              <a:extLst>
                <a:ext uri="{FF2B5EF4-FFF2-40B4-BE49-F238E27FC236}">
                  <a16:creationId xmlns:a16="http://schemas.microsoft.com/office/drawing/2014/main" id="{680D2B45-3ED0-9178-B015-02F796C4B9B9}"/>
                </a:ext>
              </a:extLst>
            </p:cNvPr>
            <p:cNvSpPr/>
            <p:nvPr/>
          </p:nvSpPr>
          <p:spPr>
            <a:xfrm>
              <a:off x="1996293" y="8563299"/>
              <a:ext cx="2081014" cy="850458"/>
            </a:xfrm>
            <a:prstGeom prst="round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5CAB3DA-0610-6CB3-BC23-8B3DEF34BBB2}"/>
                </a:ext>
              </a:extLst>
            </p:cNvPr>
            <p:cNvSpPr txBox="1"/>
            <p:nvPr/>
          </p:nvSpPr>
          <p:spPr>
            <a:xfrm>
              <a:off x="2402652" y="8598598"/>
              <a:ext cx="1268296" cy="830997"/>
            </a:xfrm>
            <a:prstGeom prst="rect">
              <a:avLst/>
            </a:prstGeom>
            <a:noFill/>
          </p:spPr>
          <p:txBody>
            <a:bodyPr wrap="none" rtlCol="0">
              <a:spAutoFit/>
            </a:bodyPr>
            <a:lstStyle/>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Cable</a:t>
              </a:r>
            </a:p>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Modem</a:t>
              </a:r>
            </a:p>
          </p:txBody>
        </p:sp>
        <p:cxnSp>
          <p:nvCxnSpPr>
            <p:cNvPr id="9" name="Straight Connector 8">
              <a:extLst>
                <a:ext uri="{FF2B5EF4-FFF2-40B4-BE49-F238E27FC236}">
                  <a16:creationId xmlns:a16="http://schemas.microsoft.com/office/drawing/2014/main" id="{0007418D-E5F9-9EF4-3743-717E07C70BF8}"/>
                </a:ext>
              </a:extLst>
            </p:cNvPr>
            <p:cNvCxnSpPr>
              <a:stCxn id="4" idx="1"/>
              <a:endCxn id="6" idx="3"/>
            </p:cNvCxnSpPr>
            <p:nvPr/>
          </p:nvCxnSpPr>
          <p:spPr>
            <a:xfrm flipH="1" flipV="1">
              <a:off x="4077307" y="8988528"/>
              <a:ext cx="3319436" cy="1"/>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3862A5D-F07A-9F29-CB9E-EA891F63C038}"/>
                </a:ext>
              </a:extLst>
            </p:cNvPr>
            <p:cNvCxnSpPr>
              <a:cxnSpLocks/>
            </p:cNvCxnSpPr>
            <p:nvPr/>
          </p:nvCxnSpPr>
          <p:spPr>
            <a:xfrm flipH="1">
              <a:off x="4243995" y="8988528"/>
              <a:ext cx="2056793" cy="76982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37D6B05-B401-2A7E-D047-4A9B36B576AA}"/>
                </a:ext>
              </a:extLst>
            </p:cNvPr>
            <p:cNvCxnSpPr>
              <a:cxnSpLocks/>
            </p:cNvCxnSpPr>
            <p:nvPr/>
          </p:nvCxnSpPr>
          <p:spPr>
            <a:xfrm flipH="1" flipV="1">
              <a:off x="6127430" y="8093869"/>
              <a:ext cx="664063" cy="894658"/>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3BC789A-4880-734E-14BD-34BE5212B2D5}"/>
                </a:ext>
              </a:extLst>
            </p:cNvPr>
            <p:cNvCxnSpPr>
              <a:cxnSpLocks/>
            </p:cNvCxnSpPr>
            <p:nvPr/>
          </p:nvCxnSpPr>
          <p:spPr>
            <a:xfrm flipH="1" flipV="1">
              <a:off x="4434871" y="8091392"/>
              <a:ext cx="664063" cy="894658"/>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0D8E33B-ED6F-3CD1-FABF-42CE26BE7CF5}"/>
                </a:ext>
              </a:extLst>
            </p:cNvPr>
            <p:cNvSpPr txBox="1"/>
            <p:nvPr/>
          </p:nvSpPr>
          <p:spPr>
            <a:xfrm>
              <a:off x="5968757" y="9102285"/>
              <a:ext cx="926857" cy="461665"/>
            </a:xfrm>
            <a:prstGeom prst="rect">
              <a:avLst/>
            </a:prstGeom>
            <a:noFill/>
          </p:spPr>
          <p:txBody>
            <a:bodyPr wrap="none" rtlCol="0">
              <a:spAutoFit/>
            </a:bodyPr>
            <a:lstStyle/>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Coax</a:t>
              </a:r>
            </a:p>
          </p:txBody>
        </p:sp>
        <p:cxnSp>
          <p:nvCxnSpPr>
            <p:cNvPr id="19" name="Straight Connector 18">
              <a:extLst>
                <a:ext uri="{FF2B5EF4-FFF2-40B4-BE49-F238E27FC236}">
                  <a16:creationId xmlns:a16="http://schemas.microsoft.com/office/drawing/2014/main" id="{0231FF23-E49C-D03A-FB17-C8145BD0CB21}"/>
                </a:ext>
              </a:extLst>
            </p:cNvPr>
            <p:cNvCxnSpPr/>
            <p:nvPr/>
          </p:nvCxnSpPr>
          <p:spPr>
            <a:xfrm flipH="1" flipV="1">
              <a:off x="9545534" y="9001849"/>
              <a:ext cx="3319436" cy="1"/>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9FD2639-AC5A-8AE9-33E5-AB13A186392E}"/>
                </a:ext>
              </a:extLst>
            </p:cNvPr>
            <p:cNvSpPr txBox="1"/>
            <p:nvPr/>
          </p:nvSpPr>
          <p:spPr>
            <a:xfrm>
              <a:off x="10328104" y="9102284"/>
              <a:ext cx="1553630" cy="461665"/>
            </a:xfrm>
            <a:prstGeom prst="rect">
              <a:avLst/>
            </a:prstGeom>
            <a:noFill/>
          </p:spPr>
          <p:txBody>
            <a:bodyPr wrap="none" rtlCol="0">
              <a:spAutoFit/>
            </a:bodyPr>
            <a:lstStyle/>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Fiber Pair</a:t>
              </a:r>
            </a:p>
          </p:txBody>
        </p:sp>
        <p:sp>
          <p:nvSpPr>
            <p:cNvPr id="21" name="Rounded Rectangle 20">
              <a:extLst>
                <a:ext uri="{FF2B5EF4-FFF2-40B4-BE49-F238E27FC236}">
                  <a16:creationId xmlns:a16="http://schemas.microsoft.com/office/drawing/2014/main" id="{7628A173-3329-ED3B-91A7-6B7DE51B414F}"/>
                </a:ext>
              </a:extLst>
            </p:cNvPr>
            <p:cNvSpPr/>
            <p:nvPr/>
          </p:nvSpPr>
          <p:spPr>
            <a:xfrm>
              <a:off x="12864970" y="8684255"/>
              <a:ext cx="2148791" cy="689183"/>
            </a:xfrm>
            <a:prstGeom prst="roundRect">
              <a:avLst/>
            </a:prstGeom>
            <a:noFill/>
            <a:ln w="571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F5AE42E-90EB-7CFE-1A4A-DBA80CA47C17}"/>
                </a:ext>
              </a:extLst>
            </p:cNvPr>
            <p:cNvSpPr txBox="1"/>
            <p:nvPr/>
          </p:nvSpPr>
          <p:spPr>
            <a:xfrm>
              <a:off x="13410731" y="8798013"/>
              <a:ext cx="1063112" cy="461665"/>
            </a:xfrm>
            <a:prstGeom prst="rect">
              <a:avLst/>
            </a:prstGeom>
            <a:noFill/>
          </p:spPr>
          <p:txBody>
            <a:bodyPr wrap="none" rtlCol="0">
              <a:spAutoFit/>
            </a:bodyPr>
            <a:lstStyle/>
            <a:p>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CMTS</a:t>
              </a:r>
            </a:p>
          </p:txBody>
        </p:sp>
      </p:grpSp>
      <p:pic>
        <p:nvPicPr>
          <p:cNvPr id="24" name="Graphic 23" descr="Cloud outline">
            <a:extLst>
              <a:ext uri="{FF2B5EF4-FFF2-40B4-BE49-F238E27FC236}">
                <a16:creationId xmlns:a16="http://schemas.microsoft.com/office/drawing/2014/main" id="{DB6E2763-37C5-F371-4892-EBAA05075B0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996182" y="5869681"/>
            <a:ext cx="4684423" cy="5392189"/>
          </a:xfrm>
          <a:prstGeom prst="rect">
            <a:avLst/>
          </a:prstGeom>
        </p:spPr>
      </p:pic>
      <p:sp>
        <p:nvSpPr>
          <p:cNvPr id="25" name="TextBox 24">
            <a:extLst>
              <a:ext uri="{FF2B5EF4-FFF2-40B4-BE49-F238E27FC236}">
                <a16:creationId xmlns:a16="http://schemas.microsoft.com/office/drawing/2014/main" id="{03E69DB5-D397-1D2E-AC7F-D0CB2D3E6313}"/>
              </a:ext>
            </a:extLst>
          </p:cNvPr>
          <p:cNvSpPr txBox="1"/>
          <p:nvPr/>
        </p:nvSpPr>
        <p:spPr>
          <a:xfrm>
            <a:off x="15681385" y="8698664"/>
            <a:ext cx="1273810" cy="461665"/>
          </a:xfrm>
          <a:prstGeom prst="rect">
            <a:avLst/>
          </a:prstGeom>
          <a:noFill/>
        </p:spPr>
        <p:txBody>
          <a:bodyPr wrap="none" rtlCol="0">
            <a:spAutoFit/>
          </a:bodyPr>
          <a:lstStyle/>
          <a:p>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internet</a:t>
            </a:r>
          </a:p>
        </p:txBody>
      </p:sp>
    </p:spTree>
    <p:extLst>
      <p:ext uri="{BB962C8B-B14F-4D97-AF65-F5344CB8AC3E}">
        <p14:creationId xmlns:p14="http://schemas.microsoft.com/office/powerpoint/2010/main" val="6981280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EDBA3-E892-B5F2-8F81-D81037D947F8}"/>
              </a:ext>
            </a:extLst>
          </p:cNvPr>
          <p:cNvSpPr>
            <a:spLocks noGrp="1"/>
          </p:cNvSpPr>
          <p:nvPr>
            <p:ph type="title"/>
          </p:nvPr>
        </p:nvSpPr>
        <p:spPr/>
        <p:txBody>
          <a:bodyPr/>
          <a:lstStyle/>
          <a:p>
            <a:r>
              <a:rPr lang="en-US" dirty="0">
                <a:latin typeface="Helvetica Neue Medium" panose="02000503000000020004" pitchFamily="2" charset="0"/>
                <a:ea typeface="Helvetica Neue Medium" panose="02000503000000020004" pitchFamily="2" charset="0"/>
                <a:cs typeface="Helvetica Neue Medium" panose="02000503000000020004" pitchFamily="2" charset="0"/>
              </a:rPr>
              <a:t>Private WAN Services</a:t>
            </a:r>
          </a:p>
        </p:txBody>
      </p:sp>
      <p:sp>
        <p:nvSpPr>
          <p:cNvPr id="3" name="Text Placeholder 2">
            <a:extLst>
              <a:ext uri="{FF2B5EF4-FFF2-40B4-BE49-F238E27FC236}">
                <a16:creationId xmlns:a16="http://schemas.microsoft.com/office/drawing/2014/main" id="{5A07D45F-D6E7-F6A2-F35C-71DCDC035F6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282615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B704C-5991-903B-AFA9-6B3244E2B37D}"/>
              </a:ext>
            </a:extLst>
          </p:cNvPr>
          <p:cNvSpPr>
            <a:spLocks noGrp="1"/>
          </p:cNvSpPr>
          <p:nvPr>
            <p:ph type="title"/>
          </p:nvPr>
        </p:nvSpPr>
        <p:spPr/>
        <p:txBody>
          <a:bodyPr/>
          <a:lstStyle/>
          <a:p>
            <a:r>
              <a:rPr lang="en-US" dirty="0"/>
              <a:t>MLPS: </a:t>
            </a:r>
            <a:r>
              <a:rPr lang="en-US" dirty="0" err="1"/>
              <a:t>MultiProtocol</a:t>
            </a:r>
            <a:r>
              <a:rPr lang="en-US" dirty="0"/>
              <a:t> Label Switching</a:t>
            </a:r>
          </a:p>
        </p:txBody>
      </p:sp>
      <p:sp>
        <p:nvSpPr>
          <p:cNvPr id="3" name="Content Placeholder 2">
            <a:extLst>
              <a:ext uri="{FF2B5EF4-FFF2-40B4-BE49-F238E27FC236}">
                <a16:creationId xmlns:a16="http://schemas.microsoft.com/office/drawing/2014/main" id="{A4998C86-33C5-0962-9E17-931ACA709F79}"/>
              </a:ext>
            </a:extLst>
          </p:cNvPr>
          <p:cNvSpPr>
            <a:spLocks noGrp="1"/>
          </p:cNvSpPr>
          <p:nvPr>
            <p:ph idx="1"/>
          </p:nvPr>
        </p:nvSpPr>
        <p:spPr/>
        <p:txBody>
          <a:bodyPr>
            <a:normAutofit lnSpcReduction="10000"/>
          </a:bodyPr>
          <a:lstStyle/>
          <a:p>
            <a:r>
              <a:rPr lang="en-US" dirty="0"/>
              <a:t>MPLS provides a private IP network between sites</a:t>
            </a:r>
          </a:p>
          <a:p>
            <a:r>
              <a:rPr lang="en-US" dirty="0"/>
              <a:t>Introduced  in the late 1990s it became the predominant private networking solution</a:t>
            </a:r>
          </a:p>
          <a:p>
            <a:r>
              <a:rPr lang="en-US" dirty="0"/>
              <a:t>It does </a:t>
            </a:r>
            <a:r>
              <a:rPr lang="en-US" b="1" dirty="0">
                <a:solidFill>
                  <a:srgbClr val="FF0000"/>
                </a:solidFill>
              </a:rPr>
              <a:t>not</a:t>
            </a:r>
            <a:r>
              <a:rPr lang="en-US" dirty="0"/>
              <a:t> use </a:t>
            </a:r>
            <a:r>
              <a:rPr lang="en-US" dirty="0">
                <a:solidFill>
                  <a:srgbClr val="FF0000"/>
                </a:solidFill>
              </a:rPr>
              <a:t>the internet </a:t>
            </a:r>
          </a:p>
          <a:p>
            <a:r>
              <a:rPr lang="en-US" dirty="0"/>
              <a:t>Connections to the MPLS service use a variety of private lines</a:t>
            </a:r>
          </a:p>
          <a:p>
            <a:r>
              <a:rPr lang="en-US" dirty="0"/>
              <a:t>Available everywhere</a:t>
            </a:r>
          </a:p>
          <a:p>
            <a:r>
              <a:rPr lang="en-US" dirty="0"/>
              <a:t>Carrier Ethernet started to displace MPLS in mid-00’s for higher speed applications</a:t>
            </a:r>
          </a:p>
          <a:p>
            <a:r>
              <a:rPr lang="en-US" dirty="0"/>
              <a:t>Recently SD WAN has started to become the service of choice for branch networks</a:t>
            </a:r>
          </a:p>
          <a:p>
            <a:endParaRPr lang="en-US" dirty="0"/>
          </a:p>
        </p:txBody>
      </p:sp>
    </p:spTree>
    <p:extLst>
      <p:ext uri="{BB962C8B-B14F-4D97-AF65-F5344CB8AC3E}">
        <p14:creationId xmlns:p14="http://schemas.microsoft.com/office/powerpoint/2010/main" val="15323327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DEB55-568D-1060-1F2F-CF33705939A3}"/>
              </a:ext>
            </a:extLst>
          </p:cNvPr>
          <p:cNvSpPr>
            <a:spLocks noGrp="1"/>
          </p:cNvSpPr>
          <p:nvPr>
            <p:ph type="title"/>
          </p:nvPr>
        </p:nvSpPr>
        <p:spPr/>
        <p:txBody>
          <a:bodyPr/>
          <a:lstStyle/>
          <a:p>
            <a:r>
              <a:rPr lang="en-US"/>
              <a:t>Carrier Ethernet</a:t>
            </a:r>
          </a:p>
        </p:txBody>
      </p:sp>
      <p:sp>
        <p:nvSpPr>
          <p:cNvPr id="3" name="Content Placeholder 2">
            <a:extLst>
              <a:ext uri="{FF2B5EF4-FFF2-40B4-BE49-F238E27FC236}">
                <a16:creationId xmlns:a16="http://schemas.microsoft.com/office/drawing/2014/main" id="{78156637-3F98-E226-40E9-462EC800B104}"/>
              </a:ext>
            </a:extLst>
          </p:cNvPr>
          <p:cNvSpPr>
            <a:spLocks noGrp="1"/>
          </p:cNvSpPr>
          <p:nvPr>
            <p:ph idx="1"/>
          </p:nvPr>
        </p:nvSpPr>
        <p:spPr/>
        <p:txBody>
          <a:bodyPr/>
          <a:lstStyle/>
          <a:p>
            <a:r>
              <a:rPr lang="en-US"/>
              <a:t>Carrier networks have become fiber rich</a:t>
            </a:r>
          </a:p>
          <a:p>
            <a:r>
              <a:rPr lang="en-US"/>
              <a:t>Growth of fiber in metro areas enabled widespread access to services using Ethernet </a:t>
            </a:r>
          </a:p>
          <a:p>
            <a:r>
              <a:rPr lang="en-US"/>
              <a:t>Led to industry development of Carrier Ethernet service specifications through the Metropolitan Ethernet Forum (MEF)</a:t>
            </a:r>
          </a:p>
          <a:p>
            <a:r>
              <a:rPr lang="en-US"/>
              <a:t>Certification of carriers, equipment and professionals has helped interoperability and grown the market</a:t>
            </a:r>
          </a:p>
          <a:p>
            <a:r>
              <a:rPr lang="en-US"/>
              <a:t>Very popular in metro areas where fiber is widely available</a:t>
            </a:r>
          </a:p>
          <a:p>
            <a:endParaRPr lang="en-US"/>
          </a:p>
        </p:txBody>
      </p:sp>
      <p:pic>
        <p:nvPicPr>
          <p:cNvPr id="6" name="Picture 5">
            <a:extLst>
              <a:ext uri="{FF2B5EF4-FFF2-40B4-BE49-F238E27FC236}">
                <a16:creationId xmlns:a16="http://schemas.microsoft.com/office/drawing/2014/main" id="{B69217BB-A3A5-6FC8-8761-EFD4579DB4B5}"/>
              </a:ext>
            </a:extLst>
          </p:cNvPr>
          <p:cNvPicPr>
            <a:picLocks noChangeAspect="1"/>
          </p:cNvPicPr>
          <p:nvPr/>
        </p:nvPicPr>
        <p:blipFill>
          <a:blip r:embed="rId3"/>
          <a:stretch>
            <a:fillRect/>
          </a:stretch>
        </p:blipFill>
        <p:spPr>
          <a:xfrm>
            <a:off x="14073186" y="7865514"/>
            <a:ext cx="3550477" cy="2216700"/>
          </a:xfrm>
          <a:prstGeom prst="rect">
            <a:avLst/>
          </a:prstGeom>
        </p:spPr>
      </p:pic>
    </p:spTree>
    <p:extLst>
      <p:ext uri="{BB962C8B-B14F-4D97-AF65-F5344CB8AC3E}">
        <p14:creationId xmlns:p14="http://schemas.microsoft.com/office/powerpoint/2010/main" val="32836262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3E7B1B0-BC72-3244-11A7-6187101BA2E8}"/>
              </a:ext>
            </a:extLst>
          </p:cNvPr>
          <p:cNvSpPr>
            <a:spLocks noGrp="1"/>
          </p:cNvSpPr>
          <p:nvPr>
            <p:ph type="title"/>
          </p:nvPr>
        </p:nvSpPr>
        <p:spPr/>
        <p:txBody>
          <a:bodyPr/>
          <a:lstStyle/>
          <a:p>
            <a:r>
              <a:rPr lang="en-US" dirty="0"/>
              <a:t>Private WAN Deployment Types</a:t>
            </a:r>
          </a:p>
        </p:txBody>
      </p:sp>
      <p:sp>
        <p:nvSpPr>
          <p:cNvPr id="10" name="Content Placeholder 9">
            <a:extLst>
              <a:ext uri="{FF2B5EF4-FFF2-40B4-BE49-F238E27FC236}">
                <a16:creationId xmlns:a16="http://schemas.microsoft.com/office/drawing/2014/main" id="{471D65A4-850E-4E1C-DA04-0E3EFB0554F5}"/>
              </a:ext>
            </a:extLst>
          </p:cNvPr>
          <p:cNvSpPr>
            <a:spLocks noGrp="1"/>
          </p:cNvSpPr>
          <p:nvPr>
            <p:ph idx="1"/>
          </p:nvPr>
        </p:nvSpPr>
        <p:spPr>
          <a:xfrm>
            <a:off x="783934" y="2189327"/>
            <a:ext cx="5556455" cy="6967198"/>
          </a:xfrm>
          <a:ln w="38100">
            <a:solidFill>
              <a:srgbClr val="FF0000"/>
            </a:solidFill>
          </a:ln>
        </p:spPr>
        <p:txBody>
          <a:bodyPr/>
          <a:lstStyle/>
          <a:p>
            <a:pPr marL="0" indent="0" algn="ctr">
              <a:buNone/>
            </a:pPr>
            <a:r>
              <a:rPr lang="en-US"/>
              <a:t>Point-to-Point</a:t>
            </a:r>
          </a:p>
          <a:p>
            <a:endParaRPr lang="en-US" sz="3200"/>
          </a:p>
          <a:p>
            <a:r>
              <a:rPr lang="en-US" sz="3200"/>
              <a:t>Data replication between datacenters</a:t>
            </a:r>
          </a:p>
          <a:p>
            <a:r>
              <a:rPr lang="en-US" sz="3200"/>
              <a:t>Connection to partner</a:t>
            </a:r>
          </a:p>
          <a:p>
            <a:pPr lvl="1"/>
            <a:r>
              <a:rPr lang="en-US" sz="2600"/>
              <a:t>Service provider</a:t>
            </a:r>
          </a:p>
          <a:p>
            <a:pPr lvl="1"/>
            <a:r>
              <a:rPr lang="en-US" sz="2600"/>
              <a:t>Cloud services</a:t>
            </a:r>
            <a:endParaRPr lang="en-US" sz="3200"/>
          </a:p>
          <a:p>
            <a:r>
              <a:rPr lang="en-US" sz="3200"/>
              <a:t>Internet access</a:t>
            </a:r>
          </a:p>
        </p:txBody>
      </p:sp>
      <p:sp>
        <p:nvSpPr>
          <p:cNvPr id="11" name="Content Placeholder 9">
            <a:extLst>
              <a:ext uri="{FF2B5EF4-FFF2-40B4-BE49-F238E27FC236}">
                <a16:creationId xmlns:a16="http://schemas.microsoft.com/office/drawing/2014/main" id="{E7690E4C-343B-CEB9-D7A0-C1990ABE8330}"/>
              </a:ext>
            </a:extLst>
          </p:cNvPr>
          <p:cNvSpPr txBox="1">
            <a:spLocks/>
          </p:cNvSpPr>
          <p:nvPr/>
        </p:nvSpPr>
        <p:spPr>
          <a:xfrm>
            <a:off x="6637265" y="2189327"/>
            <a:ext cx="5250974" cy="6967198"/>
          </a:xfrm>
          <a:prstGeom prst="rect">
            <a:avLst/>
          </a:prstGeom>
          <a:ln w="38100">
            <a:solidFill>
              <a:srgbClr val="0070C0"/>
            </a:solidFill>
          </a:ln>
        </p:spPr>
        <p:txBody>
          <a:bodyPr vert="horz" lIns="91440" tIns="45720" rIns="91440" bIns="45720" rtlCol="0">
            <a:norm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1pPr>
            <a:lvl2pPr marL="1028700" indent="-342900" algn="l" defTabSz="1371600" rtl="0" eaLnBrk="1" latinLnBrk="0" hangingPunct="1">
              <a:lnSpc>
                <a:spcPct val="90000"/>
              </a:lnSpc>
              <a:spcBef>
                <a:spcPts val="750"/>
              </a:spcBef>
              <a:buFont typeface="Arial" panose="020B0604020202020204" pitchFamily="34" charset="0"/>
              <a:buChar char="•"/>
              <a:defRPr sz="36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2pPr>
            <a:lvl3pPr marL="1714500" indent="-342900" algn="l" defTabSz="1371600" rtl="0" eaLnBrk="1" latinLnBrk="0" hangingPunct="1">
              <a:lnSpc>
                <a:spcPct val="90000"/>
              </a:lnSpc>
              <a:spcBef>
                <a:spcPts val="750"/>
              </a:spcBef>
              <a:buFont typeface="Arial" panose="020B0604020202020204" pitchFamily="34" charset="0"/>
              <a:buChar char="•"/>
              <a:defRPr sz="30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3pPr>
            <a:lvl4pPr marL="24003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4pPr>
            <a:lvl5pPr marL="30861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0" indent="0" algn="ctr">
              <a:buFont typeface="Arial" panose="020B0604020202020204" pitchFamily="34" charset="0"/>
              <a:buNone/>
            </a:pPr>
            <a:r>
              <a:rPr lang="en-US"/>
              <a:t>Point-to-Multipoint</a:t>
            </a:r>
          </a:p>
          <a:p>
            <a:endParaRPr lang="en-US" sz="3200"/>
          </a:p>
          <a:p>
            <a:r>
              <a:rPr lang="en-US" sz="3200"/>
              <a:t>Secure connection to customers</a:t>
            </a:r>
          </a:p>
          <a:p>
            <a:pPr lvl="1"/>
            <a:r>
              <a:rPr lang="en-US" sz="2600"/>
              <a:t>Hospital to specialty providers or another hospital system</a:t>
            </a:r>
          </a:p>
          <a:p>
            <a:r>
              <a:rPr lang="en-US" sz="3200"/>
              <a:t>School district connections from schools to datacenter </a:t>
            </a:r>
          </a:p>
        </p:txBody>
      </p:sp>
      <p:sp>
        <p:nvSpPr>
          <p:cNvPr id="12" name="Content Placeholder 9">
            <a:extLst>
              <a:ext uri="{FF2B5EF4-FFF2-40B4-BE49-F238E27FC236}">
                <a16:creationId xmlns:a16="http://schemas.microsoft.com/office/drawing/2014/main" id="{ECFE428F-B5D2-A3CE-816A-98CB4B02358D}"/>
              </a:ext>
            </a:extLst>
          </p:cNvPr>
          <p:cNvSpPr txBox="1">
            <a:spLocks/>
          </p:cNvSpPr>
          <p:nvPr/>
        </p:nvSpPr>
        <p:spPr>
          <a:xfrm>
            <a:off x="12135977" y="2189327"/>
            <a:ext cx="5556455" cy="6967198"/>
          </a:xfrm>
          <a:prstGeom prst="rect">
            <a:avLst/>
          </a:prstGeom>
          <a:ln w="38100">
            <a:solidFill>
              <a:srgbClr val="00B050"/>
            </a:solidFill>
          </a:ln>
        </p:spPr>
        <p:txBody>
          <a:bodyPr vert="horz" lIns="91440" tIns="45720" rIns="91440" bIns="45720" rtlCol="0">
            <a:norm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1pPr>
            <a:lvl2pPr marL="1028700" indent="-342900" algn="l" defTabSz="1371600" rtl="0" eaLnBrk="1" latinLnBrk="0" hangingPunct="1">
              <a:lnSpc>
                <a:spcPct val="90000"/>
              </a:lnSpc>
              <a:spcBef>
                <a:spcPts val="750"/>
              </a:spcBef>
              <a:buFont typeface="Arial" panose="020B0604020202020204" pitchFamily="34" charset="0"/>
              <a:buChar char="•"/>
              <a:defRPr sz="36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2pPr>
            <a:lvl3pPr marL="1714500" indent="-342900" algn="l" defTabSz="1371600" rtl="0" eaLnBrk="1" latinLnBrk="0" hangingPunct="1">
              <a:lnSpc>
                <a:spcPct val="90000"/>
              </a:lnSpc>
              <a:spcBef>
                <a:spcPts val="750"/>
              </a:spcBef>
              <a:buFont typeface="Arial" panose="020B0604020202020204" pitchFamily="34" charset="0"/>
              <a:buChar char="•"/>
              <a:defRPr sz="30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3pPr>
            <a:lvl4pPr marL="24003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4pPr>
            <a:lvl5pPr marL="30861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0" indent="0" algn="ctr">
              <a:buFont typeface="Arial" panose="020B0604020202020204" pitchFamily="34" charset="0"/>
              <a:buNone/>
            </a:pPr>
            <a:r>
              <a:rPr lang="en-US"/>
              <a:t>Any-to-Any</a:t>
            </a:r>
          </a:p>
          <a:p>
            <a:pPr marL="0" indent="0">
              <a:buFont typeface="Arial" panose="020B0604020202020204" pitchFamily="34" charset="0"/>
              <a:buNone/>
            </a:pPr>
            <a:endParaRPr lang="en-US" sz="3200"/>
          </a:p>
          <a:p>
            <a:r>
              <a:rPr lang="en-US" sz="3200"/>
              <a:t>General connectivity between sites</a:t>
            </a:r>
          </a:p>
          <a:p>
            <a:r>
              <a:rPr lang="en-US" sz="3200"/>
              <a:t>WAN functions like a big LAN switch</a:t>
            </a:r>
          </a:p>
          <a:p>
            <a:r>
              <a:rPr lang="en-US" sz="3200"/>
              <a:t>Customers usually put routers on the edge of their network</a:t>
            </a:r>
          </a:p>
        </p:txBody>
      </p:sp>
    </p:spTree>
    <p:extLst>
      <p:ext uri="{BB962C8B-B14F-4D97-AF65-F5344CB8AC3E}">
        <p14:creationId xmlns:p14="http://schemas.microsoft.com/office/powerpoint/2010/main" val="1605085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5D3D8-0226-8B99-7E3A-A8C654BA3F87}"/>
              </a:ext>
            </a:extLst>
          </p:cNvPr>
          <p:cNvSpPr>
            <a:spLocks noGrp="1"/>
          </p:cNvSpPr>
          <p:nvPr>
            <p:ph type="title"/>
          </p:nvPr>
        </p:nvSpPr>
        <p:spPr/>
        <p:txBody>
          <a:bodyPr/>
          <a:lstStyle/>
          <a:p>
            <a:r>
              <a:rPr lang="en-US"/>
              <a:t>Site-to-Site VPN </a:t>
            </a:r>
          </a:p>
        </p:txBody>
      </p:sp>
      <p:sp>
        <p:nvSpPr>
          <p:cNvPr id="3" name="Content Placeholder 2">
            <a:extLst>
              <a:ext uri="{FF2B5EF4-FFF2-40B4-BE49-F238E27FC236}">
                <a16:creationId xmlns:a16="http://schemas.microsoft.com/office/drawing/2014/main" id="{E5F82EFD-36DA-FEDF-438F-089E9EBB68DE}"/>
              </a:ext>
            </a:extLst>
          </p:cNvPr>
          <p:cNvSpPr>
            <a:spLocks noGrp="1"/>
          </p:cNvSpPr>
          <p:nvPr>
            <p:ph idx="1"/>
          </p:nvPr>
        </p:nvSpPr>
        <p:spPr/>
        <p:txBody>
          <a:bodyPr/>
          <a:lstStyle/>
          <a:p>
            <a:r>
              <a:rPr lang="en-US"/>
              <a:t>Offers low-cost approach to building a WAN</a:t>
            </a:r>
          </a:p>
          <a:p>
            <a:r>
              <a:rPr lang="en-US"/>
              <a:t>Point-to-Point VPN configured at network edges</a:t>
            </a:r>
          </a:p>
        </p:txBody>
      </p:sp>
      <p:grpSp>
        <p:nvGrpSpPr>
          <p:cNvPr id="4" name="Group 3">
            <a:extLst>
              <a:ext uri="{FF2B5EF4-FFF2-40B4-BE49-F238E27FC236}">
                <a16:creationId xmlns:a16="http://schemas.microsoft.com/office/drawing/2014/main" id="{4EA3CDDA-193B-A830-553A-5D9C4DCF2F62}"/>
              </a:ext>
            </a:extLst>
          </p:cNvPr>
          <p:cNvGrpSpPr/>
          <p:nvPr/>
        </p:nvGrpSpPr>
        <p:grpSpPr>
          <a:xfrm>
            <a:off x="2677243" y="840316"/>
            <a:ext cx="15026318" cy="8606368"/>
            <a:chOff x="666201" y="1341230"/>
            <a:chExt cx="15026318" cy="8606368"/>
          </a:xfrm>
        </p:grpSpPr>
        <p:pic>
          <p:nvPicPr>
            <p:cNvPr id="6" name="Graphic 5" descr="Cloud outline">
              <a:extLst>
                <a:ext uri="{FF2B5EF4-FFF2-40B4-BE49-F238E27FC236}">
                  <a16:creationId xmlns:a16="http://schemas.microsoft.com/office/drawing/2014/main" id="{10C86D9B-9B19-1A80-2E75-AEB9919D2B0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56126" y="4306174"/>
              <a:ext cx="3872594" cy="4457702"/>
            </a:xfrm>
            <a:prstGeom prst="rect">
              <a:avLst/>
            </a:prstGeom>
          </p:spPr>
        </p:pic>
        <p:pic>
          <p:nvPicPr>
            <p:cNvPr id="8" name="Graphic 7" descr="Bank outline">
              <a:extLst>
                <a:ext uri="{FF2B5EF4-FFF2-40B4-BE49-F238E27FC236}">
                  <a16:creationId xmlns:a16="http://schemas.microsoft.com/office/drawing/2014/main" id="{F09E1139-247F-53A6-30C9-4ADFB9ED0CA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82051" y="6133133"/>
              <a:ext cx="1436709" cy="1436709"/>
            </a:xfrm>
            <a:prstGeom prst="rect">
              <a:avLst/>
            </a:prstGeom>
          </p:spPr>
        </p:pic>
        <p:pic>
          <p:nvPicPr>
            <p:cNvPr id="9" name="Graphic 8" descr="Bank outline">
              <a:extLst>
                <a:ext uri="{FF2B5EF4-FFF2-40B4-BE49-F238E27FC236}">
                  <a16:creationId xmlns:a16="http://schemas.microsoft.com/office/drawing/2014/main" id="{B449BEF8-79BB-7D6A-F4F5-D2B5C16AF0F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31982" y="4696424"/>
              <a:ext cx="1436709" cy="1436709"/>
            </a:xfrm>
            <a:prstGeom prst="rect">
              <a:avLst/>
            </a:prstGeom>
          </p:spPr>
        </p:pic>
        <p:pic>
          <p:nvPicPr>
            <p:cNvPr id="10" name="Graphic 9" descr="Bank outline">
              <a:extLst>
                <a:ext uri="{FF2B5EF4-FFF2-40B4-BE49-F238E27FC236}">
                  <a16:creationId xmlns:a16="http://schemas.microsoft.com/office/drawing/2014/main" id="{3801C26A-F782-9EB1-E277-147F6D76A0D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55158" y="7804495"/>
              <a:ext cx="1436709" cy="1436709"/>
            </a:xfrm>
            <a:prstGeom prst="rect">
              <a:avLst/>
            </a:prstGeom>
          </p:spPr>
        </p:pic>
        <p:pic>
          <p:nvPicPr>
            <p:cNvPr id="11" name="Graphic 10" descr="Bank outline">
              <a:extLst>
                <a:ext uri="{FF2B5EF4-FFF2-40B4-BE49-F238E27FC236}">
                  <a16:creationId xmlns:a16="http://schemas.microsoft.com/office/drawing/2014/main" id="{2E4F1C3D-80E7-1DE0-0EE8-C84DDA7FC2D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44054" y="8510889"/>
              <a:ext cx="1436709" cy="1436709"/>
            </a:xfrm>
            <a:prstGeom prst="rect">
              <a:avLst/>
            </a:prstGeom>
          </p:spPr>
        </p:pic>
        <p:pic>
          <p:nvPicPr>
            <p:cNvPr id="12" name="Graphic 11" descr="Building with solid fill">
              <a:extLst>
                <a:ext uri="{FF2B5EF4-FFF2-40B4-BE49-F238E27FC236}">
                  <a16:creationId xmlns:a16="http://schemas.microsoft.com/office/drawing/2014/main" id="{D78D7F4E-889E-D4C5-B5EC-8A5A4808BFB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98010" y="5994239"/>
              <a:ext cx="2920678" cy="2920678"/>
            </a:xfrm>
            <a:prstGeom prst="rect">
              <a:avLst/>
            </a:prstGeom>
          </p:spPr>
        </p:pic>
        <p:sp>
          <p:nvSpPr>
            <p:cNvPr id="13" name="TextBox 12">
              <a:extLst>
                <a:ext uri="{FF2B5EF4-FFF2-40B4-BE49-F238E27FC236}">
                  <a16:creationId xmlns:a16="http://schemas.microsoft.com/office/drawing/2014/main" id="{2B170912-9489-FCB5-7032-F809461AD86F}"/>
                </a:ext>
              </a:extLst>
            </p:cNvPr>
            <p:cNvSpPr txBox="1"/>
            <p:nvPr/>
          </p:nvSpPr>
          <p:spPr>
            <a:xfrm>
              <a:off x="5888945" y="6321599"/>
              <a:ext cx="2162836" cy="954107"/>
            </a:xfrm>
            <a:prstGeom prst="rect">
              <a:avLst/>
            </a:prstGeom>
            <a:noFill/>
          </p:spPr>
          <p:txBody>
            <a:bodyPr wrap="none" rtlCol="0">
              <a:spAutoFit/>
            </a:bodyPr>
            <a:lstStyle/>
            <a:p>
              <a:pPr algn="ctr"/>
              <a:r>
                <a:rPr lang="en-US" sz="2800" b="1">
                  <a:latin typeface="Helvetica Neue" panose="02000503000000020004" pitchFamily="2" charset="0"/>
                  <a:ea typeface="Helvetica Neue" panose="02000503000000020004" pitchFamily="2" charset="0"/>
                  <a:cs typeface="Helvetica Neue" panose="02000503000000020004" pitchFamily="2" charset="0"/>
                </a:rPr>
                <a:t>VPNs over</a:t>
              </a:r>
            </a:p>
            <a:p>
              <a:pPr algn="ctr"/>
              <a:r>
                <a:rPr lang="en-US" sz="2800" b="1">
                  <a:latin typeface="Helvetica Neue" panose="02000503000000020004" pitchFamily="2" charset="0"/>
                  <a:ea typeface="Helvetica Neue" panose="02000503000000020004" pitchFamily="2" charset="0"/>
                  <a:cs typeface="Helvetica Neue" panose="02000503000000020004" pitchFamily="2" charset="0"/>
                </a:rPr>
                <a:t>the internet</a:t>
              </a:r>
            </a:p>
          </p:txBody>
        </p:sp>
        <p:sp>
          <p:nvSpPr>
            <p:cNvPr id="14" name="TextBox 13">
              <a:extLst>
                <a:ext uri="{FF2B5EF4-FFF2-40B4-BE49-F238E27FC236}">
                  <a16:creationId xmlns:a16="http://schemas.microsoft.com/office/drawing/2014/main" id="{F9BF33A0-AAD3-BADF-BB78-480B5C73CFFA}"/>
                </a:ext>
              </a:extLst>
            </p:cNvPr>
            <p:cNvSpPr txBox="1"/>
            <p:nvPr/>
          </p:nvSpPr>
          <p:spPr>
            <a:xfrm>
              <a:off x="9798010" y="9164557"/>
              <a:ext cx="2722220" cy="523220"/>
            </a:xfrm>
            <a:prstGeom prst="rect">
              <a:avLst/>
            </a:prstGeom>
            <a:noFill/>
          </p:spPr>
          <p:txBody>
            <a:bodyPr wrap="none" rtlCol="0">
              <a:spAutoFit/>
            </a:bodyPr>
            <a:lstStyle/>
            <a:p>
              <a:pPr algn="ctr"/>
              <a:r>
                <a:rPr lang="en-US" sz="2800" b="1">
                  <a:latin typeface="Helvetica Neue" panose="02000503000000020004" pitchFamily="2" charset="0"/>
                  <a:ea typeface="Helvetica Neue" panose="02000503000000020004" pitchFamily="2" charset="0"/>
                  <a:cs typeface="Helvetica Neue" panose="02000503000000020004" pitchFamily="2" charset="0"/>
                </a:rPr>
                <a:t>HQ/datacenter</a:t>
              </a:r>
            </a:p>
          </p:txBody>
        </p:sp>
        <p:sp>
          <p:nvSpPr>
            <p:cNvPr id="16" name="TextBox 15">
              <a:extLst>
                <a:ext uri="{FF2B5EF4-FFF2-40B4-BE49-F238E27FC236}">
                  <a16:creationId xmlns:a16="http://schemas.microsoft.com/office/drawing/2014/main" id="{445434E7-E042-C1EE-8825-AF409A95E958}"/>
                </a:ext>
              </a:extLst>
            </p:cNvPr>
            <p:cNvSpPr txBox="1"/>
            <p:nvPr/>
          </p:nvSpPr>
          <p:spPr>
            <a:xfrm>
              <a:off x="666201" y="5471019"/>
              <a:ext cx="1816524" cy="523220"/>
            </a:xfrm>
            <a:prstGeom prst="rect">
              <a:avLst/>
            </a:prstGeom>
            <a:noFill/>
          </p:spPr>
          <p:txBody>
            <a:bodyPr wrap="none" rtlCol="0">
              <a:spAutoFit/>
            </a:bodyPr>
            <a:lstStyle/>
            <a:p>
              <a:pPr algn="ctr"/>
              <a:r>
                <a:rPr lang="en-US" sz="2800" b="1">
                  <a:latin typeface="Helvetica Neue" panose="02000503000000020004" pitchFamily="2" charset="0"/>
                  <a:ea typeface="Helvetica Neue" panose="02000503000000020004" pitchFamily="2" charset="0"/>
                  <a:cs typeface="Helvetica Neue" panose="02000503000000020004" pitchFamily="2" charset="0"/>
                </a:rPr>
                <a:t>Branches</a:t>
              </a:r>
            </a:p>
          </p:txBody>
        </p:sp>
        <p:sp>
          <p:nvSpPr>
            <p:cNvPr id="17" name="TextBox 16">
              <a:extLst>
                <a:ext uri="{FF2B5EF4-FFF2-40B4-BE49-F238E27FC236}">
                  <a16:creationId xmlns:a16="http://schemas.microsoft.com/office/drawing/2014/main" id="{C81068B5-A7E8-7BE6-7718-03647B7DB194}"/>
                </a:ext>
              </a:extLst>
            </p:cNvPr>
            <p:cNvSpPr txBox="1"/>
            <p:nvPr/>
          </p:nvSpPr>
          <p:spPr>
            <a:xfrm>
              <a:off x="15507788" y="2218799"/>
              <a:ext cx="184731" cy="523220"/>
            </a:xfrm>
            <a:prstGeom prst="rect">
              <a:avLst/>
            </a:prstGeom>
            <a:noFill/>
          </p:spPr>
          <p:txBody>
            <a:bodyPr wrap="none" rtlCol="0">
              <a:spAutoFit/>
            </a:bodyPr>
            <a:lstStyle/>
            <a:p>
              <a:pPr algn="ctr"/>
              <a:endParaRPr lang="en-US" sz="2800" b="1">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20" name="Straight Connector 19">
              <a:extLst>
                <a:ext uri="{FF2B5EF4-FFF2-40B4-BE49-F238E27FC236}">
                  <a16:creationId xmlns:a16="http://schemas.microsoft.com/office/drawing/2014/main" id="{0FB6BA1E-5176-5EBA-3843-B2F1E7A1B676}"/>
                </a:ext>
              </a:extLst>
            </p:cNvPr>
            <p:cNvCxnSpPr>
              <a:cxnSpLocks/>
            </p:cNvCxnSpPr>
            <p:nvPr/>
          </p:nvCxnSpPr>
          <p:spPr>
            <a:xfrm>
              <a:off x="4130497" y="5667807"/>
              <a:ext cx="1655595" cy="65379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FEE17C0-A573-0775-61F9-2BF89D1D1086}"/>
                </a:ext>
              </a:extLst>
            </p:cNvPr>
            <p:cNvCxnSpPr>
              <a:cxnSpLocks/>
            </p:cNvCxnSpPr>
            <p:nvPr/>
          </p:nvCxnSpPr>
          <p:spPr>
            <a:xfrm flipV="1">
              <a:off x="2997257" y="7058690"/>
              <a:ext cx="2304253" cy="4582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112DE07-3048-4D79-D185-E80D088FBAE3}"/>
                </a:ext>
              </a:extLst>
            </p:cNvPr>
            <p:cNvCxnSpPr>
              <a:cxnSpLocks/>
            </p:cNvCxnSpPr>
            <p:nvPr/>
          </p:nvCxnSpPr>
          <p:spPr>
            <a:xfrm flipV="1">
              <a:off x="3064188" y="7339169"/>
              <a:ext cx="2416575" cy="138874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C216177-EEA7-CCFC-E620-A645B3DD3D55}"/>
                </a:ext>
              </a:extLst>
            </p:cNvPr>
            <p:cNvCxnSpPr>
              <a:cxnSpLocks/>
            </p:cNvCxnSpPr>
            <p:nvPr/>
          </p:nvCxnSpPr>
          <p:spPr>
            <a:xfrm flipV="1">
              <a:off x="4958294" y="7569842"/>
              <a:ext cx="921645" cy="126067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C398531-A4C6-2A0C-D276-8E750D0E68D8}"/>
                </a:ext>
              </a:extLst>
            </p:cNvPr>
            <p:cNvCxnSpPr>
              <a:cxnSpLocks/>
            </p:cNvCxnSpPr>
            <p:nvPr/>
          </p:nvCxnSpPr>
          <p:spPr>
            <a:xfrm>
              <a:off x="8510163" y="7403727"/>
              <a:ext cx="2054546" cy="84404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170E16F-9837-F13C-C4A1-DC713AC190C3}"/>
                </a:ext>
              </a:extLst>
            </p:cNvPr>
            <p:cNvSpPr txBox="1"/>
            <p:nvPr/>
          </p:nvSpPr>
          <p:spPr>
            <a:xfrm>
              <a:off x="9051634" y="1341230"/>
              <a:ext cx="184730" cy="523220"/>
            </a:xfrm>
            <a:prstGeom prst="rect">
              <a:avLst/>
            </a:prstGeom>
            <a:noFill/>
          </p:spPr>
          <p:txBody>
            <a:bodyPr wrap="none" rtlCol="0">
              <a:spAutoFit/>
            </a:bodyPr>
            <a:lstStyle/>
            <a:p>
              <a:pPr algn="ctr"/>
              <a:endParaRPr lang="en-US" sz="2800" b="1">
                <a:latin typeface="Helvetica Neue" panose="02000503000000020004" pitchFamily="2" charset="0"/>
                <a:ea typeface="Helvetica Neue" panose="02000503000000020004" pitchFamily="2" charset="0"/>
                <a:cs typeface="Helvetica Neue" panose="02000503000000020004" pitchFamily="2" charset="0"/>
              </a:endParaRPr>
            </a:p>
          </p:txBody>
        </p:sp>
      </p:grpSp>
    </p:spTree>
    <p:extLst>
      <p:ext uri="{BB962C8B-B14F-4D97-AF65-F5344CB8AC3E}">
        <p14:creationId xmlns:p14="http://schemas.microsoft.com/office/powerpoint/2010/main" val="37791609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6EAD-B3E5-855B-B4B1-C1C6C9CC8981}"/>
              </a:ext>
            </a:extLst>
          </p:cNvPr>
          <p:cNvSpPr>
            <a:spLocks noGrp="1"/>
          </p:cNvSpPr>
          <p:nvPr>
            <p:ph type="title"/>
          </p:nvPr>
        </p:nvSpPr>
        <p:spPr/>
        <p:txBody>
          <a:bodyPr/>
          <a:lstStyle/>
          <a:p>
            <a:r>
              <a:rPr lang="en-US"/>
              <a:t>Work From Home</a:t>
            </a:r>
          </a:p>
        </p:txBody>
      </p:sp>
      <p:sp>
        <p:nvSpPr>
          <p:cNvPr id="3" name="Content Placeholder 2">
            <a:extLst>
              <a:ext uri="{FF2B5EF4-FFF2-40B4-BE49-F238E27FC236}">
                <a16:creationId xmlns:a16="http://schemas.microsoft.com/office/drawing/2014/main" id="{64B2BB7B-165A-09A1-EA2F-D7A4762A4A16}"/>
              </a:ext>
            </a:extLst>
          </p:cNvPr>
          <p:cNvSpPr>
            <a:spLocks noGrp="1"/>
          </p:cNvSpPr>
          <p:nvPr>
            <p:ph idx="1"/>
          </p:nvPr>
        </p:nvSpPr>
        <p:spPr/>
        <p:txBody>
          <a:bodyPr/>
          <a:lstStyle/>
          <a:p>
            <a:r>
              <a:rPr lang="en-US"/>
              <a:t>VPN offers a secure connection to the bank, cloud and service providers</a:t>
            </a:r>
          </a:p>
          <a:p>
            <a:r>
              <a:rPr lang="en-US"/>
              <a:t>Encrypted tunnel to VPN server coupled with multifactor authentication</a:t>
            </a:r>
          </a:p>
          <a:p>
            <a:r>
              <a:rPr lang="en-US"/>
              <a:t>Where should the VPN server be?</a:t>
            </a:r>
          </a:p>
          <a:p>
            <a:pPr lvl="1"/>
            <a:r>
              <a:rPr lang="en-US"/>
              <a:t>On premises</a:t>
            </a:r>
          </a:p>
          <a:p>
            <a:pPr lvl="1"/>
            <a:r>
              <a:rPr lang="en-US"/>
              <a:t>In the cloud</a:t>
            </a:r>
          </a:p>
          <a:p>
            <a:r>
              <a:rPr lang="en-US"/>
              <a:t>Is there anything else we could do for the home network?</a:t>
            </a:r>
          </a:p>
          <a:p>
            <a:pPr lvl="1"/>
            <a:r>
              <a:rPr lang="en-US"/>
              <a:t>Separate SSID or Access Point</a:t>
            </a:r>
          </a:p>
          <a:p>
            <a:pPr lvl="1"/>
            <a:r>
              <a:rPr lang="en-US"/>
              <a:t>Corporate owned and managed home-based firewall</a:t>
            </a:r>
          </a:p>
        </p:txBody>
      </p:sp>
    </p:spTree>
    <p:extLst>
      <p:ext uri="{BB962C8B-B14F-4D97-AF65-F5344CB8AC3E}">
        <p14:creationId xmlns:p14="http://schemas.microsoft.com/office/powerpoint/2010/main" val="30908353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868F5-3276-FCD1-0DF3-A2CC49F43EBB}"/>
              </a:ext>
            </a:extLst>
          </p:cNvPr>
          <p:cNvSpPr>
            <a:spLocks noGrp="1"/>
          </p:cNvSpPr>
          <p:nvPr>
            <p:ph type="title"/>
          </p:nvPr>
        </p:nvSpPr>
        <p:spPr/>
        <p:txBody>
          <a:bodyPr/>
          <a:lstStyle/>
          <a:p>
            <a:r>
              <a:rPr lang="en-US"/>
              <a:t>VPN as a WAN Challenges</a:t>
            </a:r>
          </a:p>
        </p:txBody>
      </p:sp>
      <p:sp>
        <p:nvSpPr>
          <p:cNvPr id="3" name="Content Placeholder 2">
            <a:extLst>
              <a:ext uri="{FF2B5EF4-FFF2-40B4-BE49-F238E27FC236}">
                <a16:creationId xmlns:a16="http://schemas.microsoft.com/office/drawing/2014/main" id="{F7B8854A-478C-BA8B-FEA9-412DFDB2F63E}"/>
              </a:ext>
            </a:extLst>
          </p:cNvPr>
          <p:cNvSpPr>
            <a:spLocks noGrp="1"/>
          </p:cNvSpPr>
          <p:nvPr>
            <p:ph idx="1"/>
          </p:nvPr>
        </p:nvSpPr>
        <p:spPr/>
        <p:txBody>
          <a:bodyPr/>
          <a:lstStyle/>
          <a:p>
            <a:r>
              <a:rPr lang="en-US" dirty="0"/>
              <a:t>Historically a manual configuration in edge devices</a:t>
            </a:r>
          </a:p>
          <a:p>
            <a:pPr lvl="1"/>
            <a:r>
              <a:rPr lang="en-US" dirty="0"/>
              <a:t>Potential for errors</a:t>
            </a:r>
          </a:p>
          <a:p>
            <a:pPr lvl="1"/>
            <a:r>
              <a:rPr lang="en-US" dirty="0"/>
              <a:t>Unlikely to change keys frequently due to effort required</a:t>
            </a:r>
          </a:p>
          <a:p>
            <a:r>
              <a:rPr lang="en-US" dirty="0"/>
              <a:t>Limited visibility into performance</a:t>
            </a:r>
          </a:p>
          <a:p>
            <a:r>
              <a:rPr lang="en-US" dirty="0"/>
              <a:t>No control of applications</a:t>
            </a:r>
          </a:p>
          <a:p>
            <a:endParaRPr lang="en-US" dirty="0"/>
          </a:p>
          <a:p>
            <a:r>
              <a:rPr lang="en-US" dirty="0"/>
              <a:t>If only there were a way for these challenges to be solved automatically, with intelligence of some kind…</a:t>
            </a:r>
          </a:p>
        </p:txBody>
      </p:sp>
    </p:spTree>
    <p:extLst>
      <p:ext uri="{BB962C8B-B14F-4D97-AF65-F5344CB8AC3E}">
        <p14:creationId xmlns:p14="http://schemas.microsoft.com/office/powerpoint/2010/main" val="26283164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3FB6-E576-F8BA-F5D1-26E1AA68BDD6}"/>
              </a:ext>
            </a:extLst>
          </p:cNvPr>
          <p:cNvSpPr>
            <a:spLocks noGrp="1"/>
          </p:cNvSpPr>
          <p:nvPr>
            <p:ph type="title"/>
          </p:nvPr>
        </p:nvSpPr>
        <p:spPr/>
        <p:txBody>
          <a:bodyPr/>
          <a:lstStyle/>
          <a:p>
            <a:r>
              <a:rPr lang="en-US"/>
              <a:t>Software Defined WAN</a:t>
            </a:r>
          </a:p>
        </p:txBody>
      </p:sp>
      <p:sp>
        <p:nvSpPr>
          <p:cNvPr id="3" name="Content Placeholder 2">
            <a:extLst>
              <a:ext uri="{FF2B5EF4-FFF2-40B4-BE49-F238E27FC236}">
                <a16:creationId xmlns:a16="http://schemas.microsoft.com/office/drawing/2014/main" id="{517D1FAC-7BEC-07CA-64B5-7AB5D93A550F}"/>
              </a:ext>
            </a:extLst>
          </p:cNvPr>
          <p:cNvSpPr>
            <a:spLocks noGrp="1"/>
          </p:cNvSpPr>
          <p:nvPr>
            <p:ph idx="1"/>
          </p:nvPr>
        </p:nvSpPr>
        <p:spPr/>
        <p:txBody>
          <a:bodyPr/>
          <a:lstStyle/>
          <a:p>
            <a:r>
              <a:rPr lang="en-US"/>
              <a:t>SD WAN modernizes the approach to deploying a VPN WAN</a:t>
            </a:r>
          </a:p>
          <a:p>
            <a:endParaRPr lang="en-US"/>
          </a:p>
        </p:txBody>
      </p:sp>
      <p:pic>
        <p:nvPicPr>
          <p:cNvPr id="5" name="Picture 4" descr="A picture containing text, display device, display, flat panel display&#10;&#10;Description automatically generated">
            <a:extLst>
              <a:ext uri="{FF2B5EF4-FFF2-40B4-BE49-F238E27FC236}">
                <a16:creationId xmlns:a16="http://schemas.microsoft.com/office/drawing/2014/main" id="{E5E76218-65C0-C03D-2608-6200860A5156}"/>
              </a:ext>
            </a:extLst>
          </p:cNvPr>
          <p:cNvPicPr>
            <a:picLocks noChangeAspect="1"/>
          </p:cNvPicPr>
          <p:nvPr/>
        </p:nvPicPr>
        <p:blipFill>
          <a:blip r:embed="rId3"/>
          <a:stretch>
            <a:fillRect/>
          </a:stretch>
        </p:blipFill>
        <p:spPr>
          <a:xfrm>
            <a:off x="3433688" y="3448564"/>
            <a:ext cx="2540000" cy="1905000"/>
          </a:xfrm>
          <a:prstGeom prst="rect">
            <a:avLst/>
          </a:prstGeom>
        </p:spPr>
      </p:pic>
      <p:pic>
        <p:nvPicPr>
          <p:cNvPr id="6" name="Graphic 5" descr="Cloud outline">
            <a:extLst>
              <a:ext uri="{FF2B5EF4-FFF2-40B4-BE49-F238E27FC236}">
                <a16:creationId xmlns:a16="http://schemas.microsoft.com/office/drawing/2014/main" id="{46726F40-91C6-DF2C-AAB0-645CE203DBC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74054" y="2831866"/>
            <a:ext cx="6663580" cy="7670376"/>
          </a:xfrm>
          <a:prstGeom prst="rect">
            <a:avLst/>
          </a:prstGeom>
        </p:spPr>
      </p:pic>
      <p:sp>
        <p:nvSpPr>
          <p:cNvPr id="19" name="TextBox 18">
            <a:extLst>
              <a:ext uri="{FF2B5EF4-FFF2-40B4-BE49-F238E27FC236}">
                <a16:creationId xmlns:a16="http://schemas.microsoft.com/office/drawing/2014/main" id="{75F1FE4C-EF23-99FD-6CC9-6ABA8208054C}"/>
              </a:ext>
            </a:extLst>
          </p:cNvPr>
          <p:cNvSpPr txBox="1"/>
          <p:nvPr/>
        </p:nvSpPr>
        <p:spPr>
          <a:xfrm>
            <a:off x="558566" y="3456948"/>
            <a:ext cx="3376245" cy="1846659"/>
          </a:xfrm>
          <a:prstGeom prst="rect">
            <a:avLst/>
          </a:prstGeom>
          <a:noFill/>
        </p:spPr>
        <p:txBody>
          <a:bodyPr wrap="none" rtlCol="0">
            <a:spAutoFit/>
          </a:bodyPr>
          <a:lstStyle/>
          <a:p>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PORTAL</a:t>
            </a:r>
          </a:p>
          <a:p>
            <a:pPr marL="285750" indent="-285750">
              <a:buFont typeface="Arial" panose="020B0604020202020204" pitchFamily="34" charset="0"/>
              <a:buChar char="•"/>
            </a:pPr>
            <a:r>
              <a:rPr lang="en-US">
                <a:latin typeface="Helvetica Neue Medium" panose="02000503000000020004" pitchFamily="2" charset="0"/>
                <a:ea typeface="Helvetica Neue Medium" panose="02000503000000020004" pitchFamily="2" charset="0"/>
                <a:cs typeface="Helvetica Neue Medium" panose="02000503000000020004" pitchFamily="2" charset="0"/>
              </a:rPr>
              <a:t>Configuration management</a:t>
            </a:r>
          </a:p>
          <a:p>
            <a:pPr marL="285750" indent="-285750">
              <a:buFont typeface="Arial" panose="020B0604020202020204" pitchFamily="34" charset="0"/>
              <a:buChar char="•"/>
            </a:pPr>
            <a:r>
              <a:rPr lang="en-US">
                <a:latin typeface="Helvetica Neue Medium" panose="02000503000000020004" pitchFamily="2" charset="0"/>
                <a:ea typeface="Helvetica Neue Medium" panose="02000503000000020004" pitchFamily="2" charset="0"/>
                <a:cs typeface="Helvetica Neue Medium" panose="02000503000000020004" pitchFamily="2" charset="0"/>
              </a:rPr>
              <a:t>Network visibility</a:t>
            </a:r>
          </a:p>
          <a:p>
            <a:pPr marL="285750" indent="-285750">
              <a:buFont typeface="Arial" panose="020B0604020202020204" pitchFamily="34" charset="0"/>
              <a:buChar char="•"/>
            </a:pPr>
            <a:r>
              <a:rPr lang="en-US">
                <a:latin typeface="Helvetica Neue Medium" panose="02000503000000020004" pitchFamily="2" charset="0"/>
                <a:ea typeface="Helvetica Neue Medium" panose="02000503000000020004" pitchFamily="2" charset="0"/>
                <a:cs typeface="Helvetica Neue Medium" panose="02000503000000020004" pitchFamily="2" charset="0"/>
              </a:rPr>
              <a:t>Business continuity rules</a:t>
            </a:r>
          </a:p>
          <a:p>
            <a:pPr marL="285750" indent="-285750">
              <a:buFont typeface="Arial" panose="020B0604020202020204" pitchFamily="34" charset="0"/>
              <a:buChar char="•"/>
            </a:pPr>
            <a:r>
              <a:rPr lang="en-US">
                <a:latin typeface="Helvetica Neue Medium" panose="02000503000000020004" pitchFamily="2" charset="0"/>
                <a:ea typeface="Helvetica Neue Medium" panose="02000503000000020004" pitchFamily="2" charset="0"/>
                <a:cs typeface="Helvetica Neue Medium" panose="02000503000000020004" pitchFamily="2" charset="0"/>
              </a:rPr>
              <a:t>Security policies</a:t>
            </a:r>
          </a:p>
          <a:p>
            <a:pPr marL="285750" indent="-285750">
              <a:buFont typeface="Arial" panose="020B0604020202020204" pitchFamily="34" charset="0"/>
              <a:buChar char="•"/>
            </a:pPr>
            <a:endParaRPr lang="en-US">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21" name="Rounded Rectangle 20">
            <a:extLst>
              <a:ext uri="{FF2B5EF4-FFF2-40B4-BE49-F238E27FC236}">
                <a16:creationId xmlns:a16="http://schemas.microsoft.com/office/drawing/2014/main" id="{8D74DB95-E07E-DE26-CFE0-91CFCC358593}"/>
              </a:ext>
            </a:extLst>
          </p:cNvPr>
          <p:cNvSpPr/>
          <p:nvPr/>
        </p:nvSpPr>
        <p:spPr>
          <a:xfrm>
            <a:off x="13201473" y="4619501"/>
            <a:ext cx="3829227" cy="2166375"/>
          </a:xfrm>
          <a:custGeom>
            <a:avLst/>
            <a:gdLst>
              <a:gd name="connsiteX0" fmla="*/ 0 w 3829227"/>
              <a:gd name="connsiteY0" fmla="*/ 361070 h 2166375"/>
              <a:gd name="connsiteX1" fmla="*/ 361070 w 3829227"/>
              <a:gd name="connsiteY1" fmla="*/ 0 h 2166375"/>
              <a:gd name="connsiteX2" fmla="*/ 941060 w 3829227"/>
              <a:gd name="connsiteY2" fmla="*/ 0 h 2166375"/>
              <a:gd name="connsiteX3" fmla="*/ 1427837 w 3829227"/>
              <a:gd name="connsiteY3" fmla="*/ 0 h 2166375"/>
              <a:gd name="connsiteX4" fmla="*/ 1883543 w 3829227"/>
              <a:gd name="connsiteY4" fmla="*/ 0 h 2166375"/>
              <a:gd name="connsiteX5" fmla="*/ 2432461 w 3829227"/>
              <a:gd name="connsiteY5" fmla="*/ 0 h 2166375"/>
              <a:gd name="connsiteX6" fmla="*/ 2919238 w 3829227"/>
              <a:gd name="connsiteY6" fmla="*/ 0 h 2166375"/>
              <a:gd name="connsiteX7" fmla="*/ 3468157 w 3829227"/>
              <a:gd name="connsiteY7" fmla="*/ 0 h 2166375"/>
              <a:gd name="connsiteX8" fmla="*/ 3829227 w 3829227"/>
              <a:gd name="connsiteY8" fmla="*/ 361070 h 2166375"/>
              <a:gd name="connsiteX9" fmla="*/ 3829227 w 3829227"/>
              <a:gd name="connsiteY9" fmla="*/ 813597 h 2166375"/>
              <a:gd name="connsiteX10" fmla="*/ 3829227 w 3829227"/>
              <a:gd name="connsiteY10" fmla="*/ 1295009 h 2166375"/>
              <a:gd name="connsiteX11" fmla="*/ 3829227 w 3829227"/>
              <a:gd name="connsiteY11" fmla="*/ 1805305 h 2166375"/>
              <a:gd name="connsiteX12" fmla="*/ 3468157 w 3829227"/>
              <a:gd name="connsiteY12" fmla="*/ 2166375 h 2166375"/>
              <a:gd name="connsiteX13" fmla="*/ 2950309 w 3829227"/>
              <a:gd name="connsiteY13" fmla="*/ 2166375 h 2166375"/>
              <a:gd name="connsiteX14" fmla="*/ 2494603 w 3829227"/>
              <a:gd name="connsiteY14" fmla="*/ 2166375 h 2166375"/>
              <a:gd name="connsiteX15" fmla="*/ 1976755 w 3829227"/>
              <a:gd name="connsiteY15" fmla="*/ 2166375 h 2166375"/>
              <a:gd name="connsiteX16" fmla="*/ 1396766 w 3829227"/>
              <a:gd name="connsiteY16" fmla="*/ 2166375 h 2166375"/>
              <a:gd name="connsiteX17" fmla="*/ 878918 w 3829227"/>
              <a:gd name="connsiteY17" fmla="*/ 2166375 h 2166375"/>
              <a:gd name="connsiteX18" fmla="*/ 361070 w 3829227"/>
              <a:gd name="connsiteY18" fmla="*/ 2166375 h 2166375"/>
              <a:gd name="connsiteX19" fmla="*/ 0 w 3829227"/>
              <a:gd name="connsiteY19" fmla="*/ 1805305 h 2166375"/>
              <a:gd name="connsiteX20" fmla="*/ 0 w 3829227"/>
              <a:gd name="connsiteY20" fmla="*/ 1309451 h 2166375"/>
              <a:gd name="connsiteX21" fmla="*/ 0 w 3829227"/>
              <a:gd name="connsiteY21" fmla="*/ 856924 h 2166375"/>
              <a:gd name="connsiteX22" fmla="*/ 0 w 3829227"/>
              <a:gd name="connsiteY22" fmla="*/ 361070 h 216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829227" h="2166375" extrusionOk="0">
                <a:moveTo>
                  <a:pt x="0" y="361070"/>
                </a:moveTo>
                <a:cubicBezTo>
                  <a:pt x="-27972" y="144403"/>
                  <a:pt x="126322" y="13262"/>
                  <a:pt x="361070" y="0"/>
                </a:cubicBezTo>
                <a:cubicBezTo>
                  <a:pt x="609630" y="-54868"/>
                  <a:pt x="775516" y="63642"/>
                  <a:pt x="941060" y="0"/>
                </a:cubicBezTo>
                <a:cubicBezTo>
                  <a:pt x="1106604" y="-63642"/>
                  <a:pt x="1290147" y="48166"/>
                  <a:pt x="1427837" y="0"/>
                </a:cubicBezTo>
                <a:cubicBezTo>
                  <a:pt x="1565527" y="-48166"/>
                  <a:pt x="1681905" y="5499"/>
                  <a:pt x="1883543" y="0"/>
                </a:cubicBezTo>
                <a:cubicBezTo>
                  <a:pt x="2085181" y="-5499"/>
                  <a:pt x="2237690" y="14043"/>
                  <a:pt x="2432461" y="0"/>
                </a:cubicBezTo>
                <a:cubicBezTo>
                  <a:pt x="2627232" y="-14043"/>
                  <a:pt x="2685438" y="25715"/>
                  <a:pt x="2919238" y="0"/>
                </a:cubicBezTo>
                <a:cubicBezTo>
                  <a:pt x="3153038" y="-25715"/>
                  <a:pt x="3256720" y="1713"/>
                  <a:pt x="3468157" y="0"/>
                </a:cubicBezTo>
                <a:cubicBezTo>
                  <a:pt x="3661723" y="-55762"/>
                  <a:pt x="3824668" y="167993"/>
                  <a:pt x="3829227" y="361070"/>
                </a:cubicBezTo>
                <a:cubicBezTo>
                  <a:pt x="3852789" y="560532"/>
                  <a:pt x="3811796" y="658306"/>
                  <a:pt x="3829227" y="813597"/>
                </a:cubicBezTo>
                <a:cubicBezTo>
                  <a:pt x="3846658" y="968888"/>
                  <a:pt x="3777645" y="1192705"/>
                  <a:pt x="3829227" y="1295009"/>
                </a:cubicBezTo>
                <a:cubicBezTo>
                  <a:pt x="3880809" y="1397313"/>
                  <a:pt x="3804618" y="1554467"/>
                  <a:pt x="3829227" y="1805305"/>
                </a:cubicBezTo>
                <a:cubicBezTo>
                  <a:pt x="3850382" y="1983813"/>
                  <a:pt x="3676852" y="2160390"/>
                  <a:pt x="3468157" y="2166375"/>
                </a:cubicBezTo>
                <a:cubicBezTo>
                  <a:pt x="3213870" y="2193532"/>
                  <a:pt x="3180431" y="2164875"/>
                  <a:pt x="2950309" y="2166375"/>
                </a:cubicBezTo>
                <a:cubicBezTo>
                  <a:pt x="2720187" y="2167875"/>
                  <a:pt x="2626478" y="2142792"/>
                  <a:pt x="2494603" y="2166375"/>
                </a:cubicBezTo>
                <a:cubicBezTo>
                  <a:pt x="2362728" y="2189958"/>
                  <a:pt x="2151098" y="2157089"/>
                  <a:pt x="1976755" y="2166375"/>
                </a:cubicBezTo>
                <a:cubicBezTo>
                  <a:pt x="1802412" y="2175661"/>
                  <a:pt x="1536214" y="2134188"/>
                  <a:pt x="1396766" y="2166375"/>
                </a:cubicBezTo>
                <a:cubicBezTo>
                  <a:pt x="1257318" y="2198562"/>
                  <a:pt x="1056863" y="2157245"/>
                  <a:pt x="878918" y="2166375"/>
                </a:cubicBezTo>
                <a:cubicBezTo>
                  <a:pt x="700973" y="2175505"/>
                  <a:pt x="595016" y="2109421"/>
                  <a:pt x="361070" y="2166375"/>
                </a:cubicBezTo>
                <a:cubicBezTo>
                  <a:pt x="132464" y="2167577"/>
                  <a:pt x="23841" y="1961740"/>
                  <a:pt x="0" y="1805305"/>
                </a:cubicBezTo>
                <a:cubicBezTo>
                  <a:pt x="-33853" y="1598612"/>
                  <a:pt x="24489" y="1461154"/>
                  <a:pt x="0" y="1309451"/>
                </a:cubicBezTo>
                <a:cubicBezTo>
                  <a:pt x="-24489" y="1157748"/>
                  <a:pt x="28822" y="1033723"/>
                  <a:pt x="0" y="856924"/>
                </a:cubicBezTo>
                <a:cubicBezTo>
                  <a:pt x="-28822" y="680125"/>
                  <a:pt x="53580" y="479471"/>
                  <a:pt x="0" y="361070"/>
                </a:cubicBezTo>
                <a:close/>
              </a:path>
            </a:pathLst>
          </a:custGeom>
          <a:noFill/>
          <a:ln w="57150">
            <a:solidFill>
              <a:srgbClr val="00B05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BA7AB8D8-00C7-0E05-C2CE-8B3F45D825DB}"/>
              </a:ext>
            </a:extLst>
          </p:cNvPr>
          <p:cNvSpPr/>
          <p:nvPr/>
        </p:nvSpPr>
        <p:spPr>
          <a:xfrm>
            <a:off x="1506187" y="6322220"/>
            <a:ext cx="4619901" cy="3544953"/>
          </a:xfrm>
          <a:custGeom>
            <a:avLst/>
            <a:gdLst>
              <a:gd name="connsiteX0" fmla="*/ 0 w 4619901"/>
              <a:gd name="connsiteY0" fmla="*/ 590837 h 3544953"/>
              <a:gd name="connsiteX1" fmla="*/ 590837 w 4619901"/>
              <a:gd name="connsiteY1" fmla="*/ 0 h 3544953"/>
              <a:gd name="connsiteX2" fmla="*/ 1232639 w 4619901"/>
              <a:gd name="connsiteY2" fmla="*/ 0 h 3544953"/>
              <a:gd name="connsiteX3" fmla="*/ 1771295 w 4619901"/>
              <a:gd name="connsiteY3" fmla="*/ 0 h 3544953"/>
              <a:gd name="connsiteX4" fmla="*/ 2275568 w 4619901"/>
              <a:gd name="connsiteY4" fmla="*/ 0 h 3544953"/>
              <a:gd name="connsiteX5" fmla="*/ 2882988 w 4619901"/>
              <a:gd name="connsiteY5" fmla="*/ 0 h 3544953"/>
              <a:gd name="connsiteX6" fmla="*/ 3421644 w 4619901"/>
              <a:gd name="connsiteY6" fmla="*/ 0 h 3544953"/>
              <a:gd name="connsiteX7" fmla="*/ 4029064 w 4619901"/>
              <a:gd name="connsiteY7" fmla="*/ 0 h 3544953"/>
              <a:gd name="connsiteX8" fmla="*/ 4619901 w 4619901"/>
              <a:gd name="connsiteY8" fmla="*/ 590837 h 3544953"/>
              <a:gd name="connsiteX9" fmla="*/ 4619901 w 4619901"/>
              <a:gd name="connsiteY9" fmla="*/ 1134391 h 3544953"/>
              <a:gd name="connsiteX10" fmla="*/ 4619901 w 4619901"/>
              <a:gd name="connsiteY10" fmla="*/ 1725211 h 3544953"/>
              <a:gd name="connsiteX11" fmla="*/ 4619901 w 4619901"/>
              <a:gd name="connsiteY11" fmla="*/ 2316031 h 3544953"/>
              <a:gd name="connsiteX12" fmla="*/ 4619901 w 4619901"/>
              <a:gd name="connsiteY12" fmla="*/ 2954116 h 3544953"/>
              <a:gd name="connsiteX13" fmla="*/ 4029064 w 4619901"/>
              <a:gd name="connsiteY13" fmla="*/ 3544953 h 3544953"/>
              <a:gd name="connsiteX14" fmla="*/ 3456026 w 4619901"/>
              <a:gd name="connsiteY14" fmla="*/ 3544953 h 3544953"/>
              <a:gd name="connsiteX15" fmla="*/ 2882988 w 4619901"/>
              <a:gd name="connsiteY15" fmla="*/ 3544953 h 3544953"/>
              <a:gd name="connsiteX16" fmla="*/ 2241186 w 4619901"/>
              <a:gd name="connsiteY16" fmla="*/ 3544953 h 3544953"/>
              <a:gd name="connsiteX17" fmla="*/ 1668148 w 4619901"/>
              <a:gd name="connsiteY17" fmla="*/ 3544953 h 3544953"/>
              <a:gd name="connsiteX18" fmla="*/ 1198257 w 4619901"/>
              <a:gd name="connsiteY18" fmla="*/ 3544953 h 3544953"/>
              <a:gd name="connsiteX19" fmla="*/ 590837 w 4619901"/>
              <a:gd name="connsiteY19" fmla="*/ 3544953 h 3544953"/>
              <a:gd name="connsiteX20" fmla="*/ 0 w 4619901"/>
              <a:gd name="connsiteY20" fmla="*/ 2954116 h 3544953"/>
              <a:gd name="connsiteX21" fmla="*/ 0 w 4619901"/>
              <a:gd name="connsiteY21" fmla="*/ 2386929 h 3544953"/>
              <a:gd name="connsiteX22" fmla="*/ 0 w 4619901"/>
              <a:gd name="connsiteY22" fmla="*/ 1796109 h 3544953"/>
              <a:gd name="connsiteX23" fmla="*/ 0 w 4619901"/>
              <a:gd name="connsiteY23" fmla="*/ 1276188 h 3544953"/>
              <a:gd name="connsiteX24" fmla="*/ 0 w 4619901"/>
              <a:gd name="connsiteY24" fmla="*/ 590837 h 3544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619901" h="3544953" extrusionOk="0">
                <a:moveTo>
                  <a:pt x="0" y="590837"/>
                </a:moveTo>
                <a:cubicBezTo>
                  <a:pt x="-52855" y="231925"/>
                  <a:pt x="180028" y="31714"/>
                  <a:pt x="590837" y="0"/>
                </a:cubicBezTo>
                <a:cubicBezTo>
                  <a:pt x="806682" y="-8408"/>
                  <a:pt x="946418" y="72441"/>
                  <a:pt x="1232639" y="0"/>
                </a:cubicBezTo>
                <a:cubicBezTo>
                  <a:pt x="1518860" y="-72441"/>
                  <a:pt x="1615806" y="46341"/>
                  <a:pt x="1771295" y="0"/>
                </a:cubicBezTo>
                <a:cubicBezTo>
                  <a:pt x="1926784" y="-46341"/>
                  <a:pt x="2123442" y="16578"/>
                  <a:pt x="2275568" y="0"/>
                </a:cubicBezTo>
                <a:cubicBezTo>
                  <a:pt x="2427694" y="-16578"/>
                  <a:pt x="2669010" y="57289"/>
                  <a:pt x="2882988" y="0"/>
                </a:cubicBezTo>
                <a:cubicBezTo>
                  <a:pt x="3096966" y="-57289"/>
                  <a:pt x="3201762" y="11953"/>
                  <a:pt x="3421644" y="0"/>
                </a:cubicBezTo>
                <a:cubicBezTo>
                  <a:pt x="3641526" y="-11953"/>
                  <a:pt x="3852552" y="12109"/>
                  <a:pt x="4029064" y="0"/>
                </a:cubicBezTo>
                <a:cubicBezTo>
                  <a:pt x="4346933" y="-80493"/>
                  <a:pt x="4585316" y="312590"/>
                  <a:pt x="4619901" y="590837"/>
                </a:cubicBezTo>
                <a:cubicBezTo>
                  <a:pt x="4670454" y="723381"/>
                  <a:pt x="4577944" y="964582"/>
                  <a:pt x="4619901" y="1134391"/>
                </a:cubicBezTo>
                <a:cubicBezTo>
                  <a:pt x="4661858" y="1304200"/>
                  <a:pt x="4588584" y="1529041"/>
                  <a:pt x="4619901" y="1725211"/>
                </a:cubicBezTo>
                <a:cubicBezTo>
                  <a:pt x="4651218" y="1921381"/>
                  <a:pt x="4596365" y="2056115"/>
                  <a:pt x="4619901" y="2316031"/>
                </a:cubicBezTo>
                <a:cubicBezTo>
                  <a:pt x="4643437" y="2575947"/>
                  <a:pt x="4591696" y="2649973"/>
                  <a:pt x="4619901" y="2954116"/>
                </a:cubicBezTo>
                <a:cubicBezTo>
                  <a:pt x="4680379" y="3354508"/>
                  <a:pt x="4390956" y="3513799"/>
                  <a:pt x="4029064" y="3544953"/>
                </a:cubicBezTo>
                <a:cubicBezTo>
                  <a:pt x="3818948" y="3575198"/>
                  <a:pt x="3660522" y="3518534"/>
                  <a:pt x="3456026" y="3544953"/>
                </a:cubicBezTo>
                <a:cubicBezTo>
                  <a:pt x="3251530" y="3571372"/>
                  <a:pt x="3053479" y="3521122"/>
                  <a:pt x="2882988" y="3544953"/>
                </a:cubicBezTo>
                <a:cubicBezTo>
                  <a:pt x="2712497" y="3568784"/>
                  <a:pt x="2379533" y="3537627"/>
                  <a:pt x="2241186" y="3544953"/>
                </a:cubicBezTo>
                <a:cubicBezTo>
                  <a:pt x="2102839" y="3552279"/>
                  <a:pt x="1871016" y="3535538"/>
                  <a:pt x="1668148" y="3544953"/>
                </a:cubicBezTo>
                <a:cubicBezTo>
                  <a:pt x="1465280" y="3554368"/>
                  <a:pt x="1429523" y="3502691"/>
                  <a:pt x="1198257" y="3544953"/>
                </a:cubicBezTo>
                <a:cubicBezTo>
                  <a:pt x="966991" y="3587215"/>
                  <a:pt x="862218" y="3483088"/>
                  <a:pt x="590837" y="3544953"/>
                </a:cubicBezTo>
                <a:cubicBezTo>
                  <a:pt x="298335" y="3524899"/>
                  <a:pt x="-36584" y="3338505"/>
                  <a:pt x="0" y="2954116"/>
                </a:cubicBezTo>
                <a:cubicBezTo>
                  <a:pt x="-23643" y="2765107"/>
                  <a:pt x="33536" y="2544258"/>
                  <a:pt x="0" y="2386929"/>
                </a:cubicBezTo>
                <a:cubicBezTo>
                  <a:pt x="-33536" y="2229600"/>
                  <a:pt x="60273" y="1987646"/>
                  <a:pt x="0" y="1796109"/>
                </a:cubicBezTo>
                <a:cubicBezTo>
                  <a:pt x="-60273" y="1604572"/>
                  <a:pt x="47874" y="1491138"/>
                  <a:pt x="0" y="1276188"/>
                </a:cubicBezTo>
                <a:cubicBezTo>
                  <a:pt x="-47874" y="1061238"/>
                  <a:pt x="71542" y="825711"/>
                  <a:pt x="0" y="590837"/>
                </a:cubicBezTo>
                <a:close/>
              </a:path>
            </a:pathLst>
          </a:custGeom>
          <a:noFill/>
          <a:ln w="57150">
            <a:solidFill>
              <a:srgbClr val="FF000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a:extLst>
              <a:ext uri="{FF2B5EF4-FFF2-40B4-BE49-F238E27FC236}">
                <a16:creationId xmlns:a16="http://schemas.microsoft.com/office/drawing/2014/main" id="{4DF626D5-6249-9B03-1ED9-63B7F3B0BA4A}"/>
              </a:ext>
            </a:extLst>
          </p:cNvPr>
          <p:cNvSpPr/>
          <p:nvPr/>
        </p:nvSpPr>
        <p:spPr>
          <a:xfrm>
            <a:off x="13274263" y="7362365"/>
            <a:ext cx="3829227" cy="2166375"/>
          </a:xfrm>
          <a:custGeom>
            <a:avLst/>
            <a:gdLst>
              <a:gd name="connsiteX0" fmla="*/ 0 w 3829227"/>
              <a:gd name="connsiteY0" fmla="*/ 361070 h 2166375"/>
              <a:gd name="connsiteX1" fmla="*/ 361070 w 3829227"/>
              <a:gd name="connsiteY1" fmla="*/ 0 h 2166375"/>
              <a:gd name="connsiteX2" fmla="*/ 941060 w 3829227"/>
              <a:gd name="connsiteY2" fmla="*/ 0 h 2166375"/>
              <a:gd name="connsiteX3" fmla="*/ 1427837 w 3829227"/>
              <a:gd name="connsiteY3" fmla="*/ 0 h 2166375"/>
              <a:gd name="connsiteX4" fmla="*/ 1883543 w 3829227"/>
              <a:gd name="connsiteY4" fmla="*/ 0 h 2166375"/>
              <a:gd name="connsiteX5" fmla="*/ 2432461 w 3829227"/>
              <a:gd name="connsiteY5" fmla="*/ 0 h 2166375"/>
              <a:gd name="connsiteX6" fmla="*/ 2919238 w 3829227"/>
              <a:gd name="connsiteY6" fmla="*/ 0 h 2166375"/>
              <a:gd name="connsiteX7" fmla="*/ 3468157 w 3829227"/>
              <a:gd name="connsiteY7" fmla="*/ 0 h 2166375"/>
              <a:gd name="connsiteX8" fmla="*/ 3829227 w 3829227"/>
              <a:gd name="connsiteY8" fmla="*/ 361070 h 2166375"/>
              <a:gd name="connsiteX9" fmla="*/ 3829227 w 3829227"/>
              <a:gd name="connsiteY9" fmla="*/ 813597 h 2166375"/>
              <a:gd name="connsiteX10" fmla="*/ 3829227 w 3829227"/>
              <a:gd name="connsiteY10" fmla="*/ 1295009 h 2166375"/>
              <a:gd name="connsiteX11" fmla="*/ 3829227 w 3829227"/>
              <a:gd name="connsiteY11" fmla="*/ 1805305 h 2166375"/>
              <a:gd name="connsiteX12" fmla="*/ 3468157 w 3829227"/>
              <a:gd name="connsiteY12" fmla="*/ 2166375 h 2166375"/>
              <a:gd name="connsiteX13" fmla="*/ 2950309 w 3829227"/>
              <a:gd name="connsiteY13" fmla="*/ 2166375 h 2166375"/>
              <a:gd name="connsiteX14" fmla="*/ 2494603 w 3829227"/>
              <a:gd name="connsiteY14" fmla="*/ 2166375 h 2166375"/>
              <a:gd name="connsiteX15" fmla="*/ 1976755 w 3829227"/>
              <a:gd name="connsiteY15" fmla="*/ 2166375 h 2166375"/>
              <a:gd name="connsiteX16" fmla="*/ 1396766 w 3829227"/>
              <a:gd name="connsiteY16" fmla="*/ 2166375 h 2166375"/>
              <a:gd name="connsiteX17" fmla="*/ 878918 w 3829227"/>
              <a:gd name="connsiteY17" fmla="*/ 2166375 h 2166375"/>
              <a:gd name="connsiteX18" fmla="*/ 361070 w 3829227"/>
              <a:gd name="connsiteY18" fmla="*/ 2166375 h 2166375"/>
              <a:gd name="connsiteX19" fmla="*/ 0 w 3829227"/>
              <a:gd name="connsiteY19" fmla="*/ 1805305 h 2166375"/>
              <a:gd name="connsiteX20" fmla="*/ 0 w 3829227"/>
              <a:gd name="connsiteY20" fmla="*/ 1309451 h 2166375"/>
              <a:gd name="connsiteX21" fmla="*/ 0 w 3829227"/>
              <a:gd name="connsiteY21" fmla="*/ 856924 h 2166375"/>
              <a:gd name="connsiteX22" fmla="*/ 0 w 3829227"/>
              <a:gd name="connsiteY22" fmla="*/ 361070 h 216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829227" h="2166375" extrusionOk="0">
                <a:moveTo>
                  <a:pt x="0" y="361070"/>
                </a:moveTo>
                <a:cubicBezTo>
                  <a:pt x="-27972" y="144403"/>
                  <a:pt x="126322" y="13262"/>
                  <a:pt x="361070" y="0"/>
                </a:cubicBezTo>
                <a:cubicBezTo>
                  <a:pt x="609630" y="-54868"/>
                  <a:pt x="775516" y="63642"/>
                  <a:pt x="941060" y="0"/>
                </a:cubicBezTo>
                <a:cubicBezTo>
                  <a:pt x="1106604" y="-63642"/>
                  <a:pt x="1290147" y="48166"/>
                  <a:pt x="1427837" y="0"/>
                </a:cubicBezTo>
                <a:cubicBezTo>
                  <a:pt x="1565527" y="-48166"/>
                  <a:pt x="1681905" y="5499"/>
                  <a:pt x="1883543" y="0"/>
                </a:cubicBezTo>
                <a:cubicBezTo>
                  <a:pt x="2085181" y="-5499"/>
                  <a:pt x="2237690" y="14043"/>
                  <a:pt x="2432461" y="0"/>
                </a:cubicBezTo>
                <a:cubicBezTo>
                  <a:pt x="2627232" y="-14043"/>
                  <a:pt x="2685438" y="25715"/>
                  <a:pt x="2919238" y="0"/>
                </a:cubicBezTo>
                <a:cubicBezTo>
                  <a:pt x="3153038" y="-25715"/>
                  <a:pt x="3256720" y="1713"/>
                  <a:pt x="3468157" y="0"/>
                </a:cubicBezTo>
                <a:cubicBezTo>
                  <a:pt x="3661723" y="-55762"/>
                  <a:pt x="3824668" y="167993"/>
                  <a:pt x="3829227" y="361070"/>
                </a:cubicBezTo>
                <a:cubicBezTo>
                  <a:pt x="3852789" y="560532"/>
                  <a:pt x="3811796" y="658306"/>
                  <a:pt x="3829227" y="813597"/>
                </a:cubicBezTo>
                <a:cubicBezTo>
                  <a:pt x="3846658" y="968888"/>
                  <a:pt x="3777645" y="1192705"/>
                  <a:pt x="3829227" y="1295009"/>
                </a:cubicBezTo>
                <a:cubicBezTo>
                  <a:pt x="3880809" y="1397313"/>
                  <a:pt x="3804618" y="1554467"/>
                  <a:pt x="3829227" y="1805305"/>
                </a:cubicBezTo>
                <a:cubicBezTo>
                  <a:pt x="3850382" y="1983813"/>
                  <a:pt x="3676852" y="2160390"/>
                  <a:pt x="3468157" y="2166375"/>
                </a:cubicBezTo>
                <a:cubicBezTo>
                  <a:pt x="3213870" y="2193532"/>
                  <a:pt x="3180431" y="2164875"/>
                  <a:pt x="2950309" y="2166375"/>
                </a:cubicBezTo>
                <a:cubicBezTo>
                  <a:pt x="2720187" y="2167875"/>
                  <a:pt x="2626478" y="2142792"/>
                  <a:pt x="2494603" y="2166375"/>
                </a:cubicBezTo>
                <a:cubicBezTo>
                  <a:pt x="2362728" y="2189958"/>
                  <a:pt x="2151098" y="2157089"/>
                  <a:pt x="1976755" y="2166375"/>
                </a:cubicBezTo>
                <a:cubicBezTo>
                  <a:pt x="1802412" y="2175661"/>
                  <a:pt x="1536214" y="2134188"/>
                  <a:pt x="1396766" y="2166375"/>
                </a:cubicBezTo>
                <a:cubicBezTo>
                  <a:pt x="1257318" y="2198562"/>
                  <a:pt x="1056863" y="2157245"/>
                  <a:pt x="878918" y="2166375"/>
                </a:cubicBezTo>
                <a:cubicBezTo>
                  <a:pt x="700973" y="2175505"/>
                  <a:pt x="595016" y="2109421"/>
                  <a:pt x="361070" y="2166375"/>
                </a:cubicBezTo>
                <a:cubicBezTo>
                  <a:pt x="132464" y="2167577"/>
                  <a:pt x="23841" y="1961740"/>
                  <a:pt x="0" y="1805305"/>
                </a:cubicBezTo>
                <a:cubicBezTo>
                  <a:pt x="-33853" y="1598612"/>
                  <a:pt x="24489" y="1461154"/>
                  <a:pt x="0" y="1309451"/>
                </a:cubicBezTo>
                <a:cubicBezTo>
                  <a:pt x="-24489" y="1157748"/>
                  <a:pt x="28822" y="1033723"/>
                  <a:pt x="0" y="856924"/>
                </a:cubicBezTo>
                <a:cubicBezTo>
                  <a:pt x="-28822" y="680125"/>
                  <a:pt x="53580" y="479471"/>
                  <a:pt x="0" y="361070"/>
                </a:cubicBezTo>
                <a:close/>
              </a:path>
            </a:pathLst>
          </a:custGeom>
          <a:noFill/>
          <a:ln w="57150">
            <a:solidFill>
              <a:srgbClr val="0070C0"/>
            </a:solidFill>
            <a:prstDash val="dash"/>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B6480E48-3140-CA1E-7526-9BED1B9FDA9C}"/>
              </a:ext>
            </a:extLst>
          </p:cNvPr>
          <p:cNvSpPr txBox="1"/>
          <p:nvPr/>
        </p:nvSpPr>
        <p:spPr>
          <a:xfrm>
            <a:off x="2123916" y="7959539"/>
            <a:ext cx="2930610" cy="1384995"/>
          </a:xfrm>
          <a:prstGeom prst="rect">
            <a:avLst/>
          </a:prstGeom>
          <a:noFill/>
        </p:spPr>
        <p:txBody>
          <a:bodyPr wrap="none" rtlCol="0">
            <a:spAutoFit/>
          </a:bodyPr>
          <a:lstStyle/>
          <a:p>
            <a:pPr algn="ctr"/>
            <a:r>
              <a:rPr lang="en-US" sz="4200">
                <a:latin typeface="Helvetica Neue Medium" panose="02000503000000020004" pitchFamily="2" charset="0"/>
                <a:ea typeface="Helvetica Neue Medium" panose="02000503000000020004" pitchFamily="2" charset="0"/>
                <a:cs typeface="Helvetica Neue Medium" panose="02000503000000020004" pitchFamily="2" charset="0"/>
              </a:rPr>
              <a:t>HQ</a:t>
            </a:r>
          </a:p>
          <a:p>
            <a:pPr algn="ctr"/>
            <a:r>
              <a:rPr lang="en-US" sz="4200">
                <a:latin typeface="Helvetica Neue Medium" panose="02000503000000020004" pitchFamily="2" charset="0"/>
                <a:ea typeface="Helvetica Neue Medium" panose="02000503000000020004" pitchFamily="2" charset="0"/>
                <a:cs typeface="Helvetica Neue Medium" panose="02000503000000020004" pitchFamily="2" charset="0"/>
              </a:rPr>
              <a:t>Datacenter</a:t>
            </a:r>
          </a:p>
        </p:txBody>
      </p:sp>
      <p:sp>
        <p:nvSpPr>
          <p:cNvPr id="38" name="TextBox 37">
            <a:extLst>
              <a:ext uri="{FF2B5EF4-FFF2-40B4-BE49-F238E27FC236}">
                <a16:creationId xmlns:a16="http://schemas.microsoft.com/office/drawing/2014/main" id="{F11B6C79-BFE8-8DA1-87AA-244A05776BD2}"/>
              </a:ext>
            </a:extLst>
          </p:cNvPr>
          <p:cNvSpPr txBox="1"/>
          <p:nvPr/>
        </p:nvSpPr>
        <p:spPr>
          <a:xfrm>
            <a:off x="14006938" y="4774168"/>
            <a:ext cx="2720618" cy="738664"/>
          </a:xfrm>
          <a:prstGeom prst="rect">
            <a:avLst/>
          </a:prstGeom>
          <a:noFill/>
        </p:spPr>
        <p:txBody>
          <a:bodyPr wrap="none" rtlCol="0">
            <a:spAutoFit/>
          </a:bodyPr>
          <a:lstStyle/>
          <a:p>
            <a:pPr algn="ctr"/>
            <a:r>
              <a:rPr lang="en-US" sz="4200">
                <a:latin typeface="Helvetica Neue Medium" panose="02000503000000020004" pitchFamily="2" charset="0"/>
                <a:ea typeface="Helvetica Neue Medium" panose="02000503000000020004" pitchFamily="2" charset="0"/>
                <a:cs typeface="Helvetica Neue Medium" panose="02000503000000020004" pitchFamily="2" charset="0"/>
              </a:rPr>
              <a:t>Branch #1</a:t>
            </a:r>
          </a:p>
        </p:txBody>
      </p:sp>
      <p:sp>
        <p:nvSpPr>
          <p:cNvPr id="39" name="TextBox 38">
            <a:extLst>
              <a:ext uri="{FF2B5EF4-FFF2-40B4-BE49-F238E27FC236}">
                <a16:creationId xmlns:a16="http://schemas.microsoft.com/office/drawing/2014/main" id="{CDC1EC51-C922-8A6E-F151-88144F62F7B1}"/>
              </a:ext>
            </a:extLst>
          </p:cNvPr>
          <p:cNvSpPr txBox="1"/>
          <p:nvPr/>
        </p:nvSpPr>
        <p:spPr>
          <a:xfrm>
            <a:off x="14070340" y="7590207"/>
            <a:ext cx="2720617" cy="738664"/>
          </a:xfrm>
          <a:prstGeom prst="rect">
            <a:avLst/>
          </a:prstGeom>
          <a:noFill/>
        </p:spPr>
        <p:txBody>
          <a:bodyPr wrap="none" rtlCol="0">
            <a:spAutoFit/>
          </a:bodyPr>
          <a:lstStyle/>
          <a:p>
            <a:pPr algn="ctr"/>
            <a:r>
              <a:rPr lang="en-US" sz="4200">
                <a:latin typeface="Helvetica Neue Medium" panose="02000503000000020004" pitchFamily="2" charset="0"/>
                <a:ea typeface="Helvetica Neue Medium" panose="02000503000000020004" pitchFamily="2" charset="0"/>
                <a:cs typeface="Helvetica Neue Medium" panose="02000503000000020004" pitchFamily="2" charset="0"/>
              </a:rPr>
              <a:t>Branch #2</a:t>
            </a:r>
          </a:p>
        </p:txBody>
      </p:sp>
      <p:cxnSp>
        <p:nvCxnSpPr>
          <p:cNvPr id="45" name="Straight Connector 44">
            <a:extLst>
              <a:ext uri="{FF2B5EF4-FFF2-40B4-BE49-F238E27FC236}">
                <a16:creationId xmlns:a16="http://schemas.microsoft.com/office/drawing/2014/main" id="{979A206C-0003-AFD5-88EE-9682571C3D4B}"/>
              </a:ext>
            </a:extLst>
          </p:cNvPr>
          <p:cNvCxnSpPr>
            <a:cxnSpLocks/>
            <a:endCxn id="49" idx="2"/>
          </p:cNvCxnSpPr>
          <p:nvPr/>
        </p:nvCxnSpPr>
        <p:spPr>
          <a:xfrm>
            <a:off x="5230368" y="5143500"/>
            <a:ext cx="3554071" cy="1566411"/>
          </a:xfrm>
          <a:prstGeom prst="line">
            <a:avLst/>
          </a:prstGeom>
          <a:ln w="76200">
            <a:prstDash val="dash"/>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8CA16464-77D5-BD5E-F561-2A4BA6FDBDC8}"/>
              </a:ext>
            </a:extLst>
          </p:cNvPr>
          <p:cNvSpPr/>
          <p:nvPr/>
        </p:nvSpPr>
        <p:spPr>
          <a:xfrm>
            <a:off x="5504688" y="6709911"/>
            <a:ext cx="3279751" cy="849306"/>
          </a:xfrm>
          <a:custGeom>
            <a:avLst/>
            <a:gdLst>
              <a:gd name="connsiteX0" fmla="*/ 0 w 3279751"/>
              <a:gd name="connsiteY0" fmla="*/ 724183 h 849306"/>
              <a:gd name="connsiteX1" fmla="*/ 2840748 w 3279751"/>
              <a:gd name="connsiteY1" fmla="*/ 792342 h 849306"/>
              <a:gd name="connsiteX2" fmla="*/ 3226086 w 3279751"/>
              <a:gd name="connsiteY2" fmla="*/ 0 h 849306"/>
            </a:gdLst>
            <a:ahLst/>
            <a:cxnLst>
              <a:cxn ang="0">
                <a:pos x="connsiteX0" y="connsiteY0"/>
              </a:cxn>
              <a:cxn ang="0">
                <a:pos x="connsiteX1" y="connsiteY1"/>
              </a:cxn>
              <a:cxn ang="0">
                <a:pos x="connsiteX2" y="connsiteY2"/>
              </a:cxn>
            </a:cxnLst>
            <a:rect l="l" t="t" r="r" b="b"/>
            <a:pathLst>
              <a:path w="3279751" h="849306" extrusionOk="0">
                <a:moveTo>
                  <a:pt x="0" y="724183"/>
                </a:moveTo>
                <a:cubicBezTo>
                  <a:pt x="1115963" y="796671"/>
                  <a:pt x="2225727" y="942066"/>
                  <a:pt x="2840748" y="792342"/>
                </a:cubicBezTo>
                <a:cubicBezTo>
                  <a:pt x="3389429" y="673961"/>
                  <a:pt x="3269878" y="336852"/>
                  <a:pt x="3226086" y="0"/>
                </a:cubicBezTo>
              </a:path>
            </a:pathLst>
          </a:custGeom>
          <a:noFill/>
          <a:ln w="38100">
            <a:prstDash val="dash"/>
            <a:extLst>
              <a:ext uri="{C807C97D-BFC1-408E-A445-0C87EB9F89A2}">
                <ask:lineSketchStyleProps xmlns:ask="http://schemas.microsoft.com/office/drawing/2018/sketchyshapes" sd="1219033472">
                  <a:custGeom>
                    <a:avLst/>
                    <a:gdLst>
                      <a:gd name="connsiteX0" fmla="*/ 0 w 3346598"/>
                      <a:gd name="connsiteY0" fmla="*/ 777240 h 911529"/>
                      <a:gd name="connsiteX1" fmla="*/ 2898648 w 3346598"/>
                      <a:gd name="connsiteY1" fmla="*/ 850392 h 911529"/>
                      <a:gd name="connsiteX2" fmla="*/ 3291840 w 3346598"/>
                      <a:gd name="connsiteY2" fmla="*/ 0 h 911529"/>
                    </a:gdLst>
                    <a:ahLst/>
                    <a:cxnLst>
                      <a:cxn ang="0">
                        <a:pos x="connsiteX0" y="connsiteY0"/>
                      </a:cxn>
                      <a:cxn ang="0">
                        <a:pos x="connsiteX1" y="connsiteY1"/>
                      </a:cxn>
                      <a:cxn ang="0">
                        <a:pos x="connsiteX2" y="connsiteY2"/>
                      </a:cxn>
                    </a:cxnLst>
                    <a:rect l="l" t="t" r="r" b="b"/>
                    <a:pathLst>
                      <a:path w="3346598" h="911529">
                        <a:moveTo>
                          <a:pt x="0" y="777240"/>
                        </a:moveTo>
                        <a:cubicBezTo>
                          <a:pt x="1175004" y="878586"/>
                          <a:pt x="2350008" y="979932"/>
                          <a:pt x="2898648" y="850392"/>
                        </a:cubicBezTo>
                        <a:cubicBezTo>
                          <a:pt x="3447288" y="720852"/>
                          <a:pt x="3369564" y="360426"/>
                          <a:pt x="3291840" y="0"/>
                        </a:cubicBez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48">
            <a:extLst>
              <a:ext uri="{FF2B5EF4-FFF2-40B4-BE49-F238E27FC236}">
                <a16:creationId xmlns:a16="http://schemas.microsoft.com/office/drawing/2014/main" id="{28BC84E9-788E-FA39-B58F-265DE6D4DDB7}"/>
              </a:ext>
            </a:extLst>
          </p:cNvPr>
          <p:cNvSpPr/>
          <p:nvPr/>
        </p:nvSpPr>
        <p:spPr>
          <a:xfrm rot="10429115">
            <a:off x="8764997" y="6324663"/>
            <a:ext cx="4911828" cy="146272"/>
          </a:xfrm>
          <a:custGeom>
            <a:avLst/>
            <a:gdLst>
              <a:gd name="connsiteX0" fmla="*/ 0 w 4911828"/>
              <a:gd name="connsiteY0" fmla="*/ 146272 h 146272"/>
              <a:gd name="connsiteX1" fmla="*/ 2264846 w 4911828"/>
              <a:gd name="connsiteY1" fmla="*/ 8827 h 146272"/>
              <a:gd name="connsiteX2" fmla="*/ 4911828 w 4911828"/>
              <a:gd name="connsiteY2" fmla="*/ 25189 h 146272"/>
            </a:gdLst>
            <a:ahLst/>
            <a:cxnLst>
              <a:cxn ang="0">
                <a:pos x="connsiteX0" y="connsiteY0"/>
              </a:cxn>
              <a:cxn ang="0">
                <a:pos x="connsiteX1" y="connsiteY1"/>
              </a:cxn>
              <a:cxn ang="0">
                <a:pos x="connsiteX2" y="connsiteY2"/>
              </a:cxn>
            </a:cxnLst>
            <a:rect l="l" t="t" r="r" b="b"/>
            <a:pathLst>
              <a:path w="4911828" h="146272" extrusionOk="0">
                <a:moveTo>
                  <a:pt x="0" y="146272"/>
                </a:moveTo>
                <a:cubicBezTo>
                  <a:pt x="675043" y="83773"/>
                  <a:pt x="1379937" y="72341"/>
                  <a:pt x="2264846" y="8827"/>
                </a:cubicBezTo>
                <a:cubicBezTo>
                  <a:pt x="3038870" y="-182050"/>
                  <a:pt x="4046348" y="-127843"/>
                  <a:pt x="4911828" y="25189"/>
                </a:cubicBezTo>
              </a:path>
            </a:pathLst>
          </a:custGeom>
          <a:noFill/>
          <a:ln w="38100">
            <a:prstDash val="dash"/>
            <a:extLst>
              <a:ext uri="{C807C97D-BFC1-408E-A445-0C87EB9F89A2}">
                <ask:lineSketchStyleProps xmlns:ask="http://schemas.microsoft.com/office/drawing/2018/sketchyshapes" sd="2116632749">
                  <a:custGeom>
                    <a:avLst/>
                    <a:gdLst>
                      <a:gd name="connsiteX0" fmla="*/ 0 w 4818888"/>
                      <a:gd name="connsiteY0" fmla="*/ 817428 h 817428"/>
                      <a:gd name="connsiteX1" fmla="*/ 2221992 w 4818888"/>
                      <a:gd name="connsiteY1" fmla="*/ 49332 h 817428"/>
                      <a:gd name="connsiteX2" fmla="*/ 4818888 w 4818888"/>
                      <a:gd name="connsiteY2" fmla="*/ 140772 h 817428"/>
                    </a:gdLst>
                    <a:ahLst/>
                    <a:cxnLst>
                      <a:cxn ang="0">
                        <a:pos x="connsiteX0" y="connsiteY0"/>
                      </a:cxn>
                      <a:cxn ang="0">
                        <a:pos x="connsiteX1" y="connsiteY1"/>
                      </a:cxn>
                      <a:cxn ang="0">
                        <a:pos x="connsiteX2" y="connsiteY2"/>
                      </a:cxn>
                    </a:cxnLst>
                    <a:rect l="l" t="t" r="r" b="b"/>
                    <a:pathLst>
                      <a:path w="4818888" h="817428">
                        <a:moveTo>
                          <a:pt x="0" y="817428"/>
                        </a:moveTo>
                        <a:cubicBezTo>
                          <a:pt x="709422" y="489768"/>
                          <a:pt x="1418844" y="162108"/>
                          <a:pt x="2221992" y="49332"/>
                        </a:cubicBezTo>
                        <a:cubicBezTo>
                          <a:pt x="3025140" y="-63444"/>
                          <a:pt x="3922014" y="38664"/>
                          <a:pt x="4818888" y="140772"/>
                        </a:cubicBez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51">
            <a:extLst>
              <a:ext uri="{FF2B5EF4-FFF2-40B4-BE49-F238E27FC236}">
                <a16:creationId xmlns:a16="http://schemas.microsoft.com/office/drawing/2014/main" id="{FFE981E9-EEC1-4769-F778-B913A4447214}"/>
              </a:ext>
            </a:extLst>
          </p:cNvPr>
          <p:cNvSpPr/>
          <p:nvPr/>
        </p:nvSpPr>
        <p:spPr>
          <a:xfrm>
            <a:off x="8782493" y="6751674"/>
            <a:ext cx="4901609" cy="2073349"/>
          </a:xfrm>
          <a:custGeom>
            <a:avLst/>
            <a:gdLst>
              <a:gd name="connsiteX0" fmla="*/ 0 w 4901609"/>
              <a:gd name="connsiteY0" fmla="*/ 0 h 2073349"/>
              <a:gd name="connsiteX1" fmla="*/ 2232837 w 4901609"/>
              <a:gd name="connsiteY1" fmla="*/ 1318438 h 2073349"/>
              <a:gd name="connsiteX2" fmla="*/ 4901609 w 4901609"/>
              <a:gd name="connsiteY2" fmla="*/ 2073349 h 2073349"/>
            </a:gdLst>
            <a:ahLst/>
            <a:cxnLst>
              <a:cxn ang="0">
                <a:pos x="connsiteX0" y="connsiteY0"/>
              </a:cxn>
              <a:cxn ang="0">
                <a:pos x="connsiteX1" y="connsiteY1"/>
              </a:cxn>
              <a:cxn ang="0">
                <a:pos x="connsiteX2" y="connsiteY2"/>
              </a:cxn>
            </a:cxnLst>
            <a:rect l="l" t="t" r="r" b="b"/>
            <a:pathLst>
              <a:path w="4901609" h="2073349" extrusionOk="0">
                <a:moveTo>
                  <a:pt x="0" y="0"/>
                </a:moveTo>
                <a:cubicBezTo>
                  <a:pt x="665525" y="483027"/>
                  <a:pt x="1332052" y="1027709"/>
                  <a:pt x="2232837" y="1318438"/>
                </a:cubicBezTo>
                <a:cubicBezTo>
                  <a:pt x="3042668" y="1636815"/>
                  <a:pt x="4001133" y="1798257"/>
                  <a:pt x="4901609" y="2073349"/>
                </a:cubicBezTo>
              </a:path>
            </a:pathLst>
          </a:custGeom>
          <a:noFill/>
          <a:ln w="38100">
            <a:prstDash val="dash"/>
            <a:extLst>
              <a:ext uri="{C807C97D-BFC1-408E-A445-0C87EB9F89A2}">
                <ask:lineSketchStyleProps xmlns:ask="http://schemas.microsoft.com/office/drawing/2018/sketchyshapes" sd="2116632749">
                  <a:custGeom>
                    <a:avLst/>
                    <a:gdLst>
                      <a:gd name="connsiteX0" fmla="*/ 0 w 4901609"/>
                      <a:gd name="connsiteY0" fmla="*/ 0 h 2073349"/>
                      <a:gd name="connsiteX1" fmla="*/ 2232837 w 4901609"/>
                      <a:gd name="connsiteY1" fmla="*/ 1318438 h 2073349"/>
                      <a:gd name="connsiteX2" fmla="*/ 4901609 w 4901609"/>
                      <a:gd name="connsiteY2" fmla="*/ 2073349 h 2073349"/>
                    </a:gdLst>
                    <a:ahLst/>
                    <a:cxnLst>
                      <a:cxn ang="0">
                        <a:pos x="connsiteX0" y="connsiteY0"/>
                      </a:cxn>
                      <a:cxn ang="0">
                        <a:pos x="connsiteX1" y="connsiteY1"/>
                      </a:cxn>
                      <a:cxn ang="0">
                        <a:pos x="connsiteX2" y="connsiteY2"/>
                      </a:cxn>
                    </a:cxnLst>
                    <a:rect l="l" t="t" r="r" b="b"/>
                    <a:pathLst>
                      <a:path w="4901609" h="2073349">
                        <a:moveTo>
                          <a:pt x="0" y="0"/>
                        </a:moveTo>
                        <a:cubicBezTo>
                          <a:pt x="707951" y="486440"/>
                          <a:pt x="1415902" y="972880"/>
                          <a:pt x="2232837" y="1318438"/>
                        </a:cubicBezTo>
                        <a:cubicBezTo>
                          <a:pt x="3049772" y="1663996"/>
                          <a:pt x="3975690" y="1868672"/>
                          <a:pt x="4901609" y="2073349"/>
                        </a:cubicBez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562A80B3-811D-1A73-F16D-D23D68345CEC}"/>
              </a:ext>
            </a:extLst>
          </p:cNvPr>
          <p:cNvSpPr txBox="1"/>
          <p:nvPr/>
        </p:nvSpPr>
        <p:spPr>
          <a:xfrm>
            <a:off x="6521654" y="5030398"/>
            <a:ext cx="967573" cy="646331"/>
          </a:xfrm>
          <a:prstGeom prst="rect">
            <a:avLst/>
          </a:prstGeom>
          <a:noFill/>
        </p:spPr>
        <p:txBody>
          <a:bodyPr wrap="none" rtlCol="0">
            <a:spAutoFit/>
          </a:bodyPr>
          <a:lstStyle/>
          <a:p>
            <a:pPr algn="ctr"/>
            <a:r>
              <a:rPr lang="en-US">
                <a:solidFill>
                  <a:schemeClr val="accent1"/>
                </a:solidFill>
                <a:latin typeface="Helvetica Neue Medium" panose="02000503000000020004" pitchFamily="2" charset="0"/>
                <a:ea typeface="Helvetica Neue Medium" panose="02000503000000020004" pitchFamily="2" charset="0"/>
                <a:cs typeface="Helvetica Neue Medium" panose="02000503000000020004" pitchFamily="2" charset="0"/>
              </a:rPr>
              <a:t>Control</a:t>
            </a:r>
          </a:p>
          <a:p>
            <a:pPr algn="ctr"/>
            <a:r>
              <a:rPr lang="en-US">
                <a:solidFill>
                  <a:schemeClr val="accent1"/>
                </a:solidFill>
                <a:latin typeface="Helvetica Neue Medium" panose="02000503000000020004" pitchFamily="2" charset="0"/>
                <a:ea typeface="Helvetica Neue Medium" panose="02000503000000020004" pitchFamily="2" charset="0"/>
                <a:cs typeface="Helvetica Neue Medium" panose="02000503000000020004" pitchFamily="2" charset="0"/>
              </a:rPr>
              <a:t>Data</a:t>
            </a:r>
          </a:p>
        </p:txBody>
      </p:sp>
      <p:sp>
        <p:nvSpPr>
          <p:cNvPr id="54" name="Freeform 53">
            <a:extLst>
              <a:ext uri="{FF2B5EF4-FFF2-40B4-BE49-F238E27FC236}">
                <a16:creationId xmlns:a16="http://schemas.microsoft.com/office/drawing/2014/main" id="{C2BDCDAE-A8B6-4837-5D2C-3D7368E3C6F9}"/>
              </a:ext>
            </a:extLst>
          </p:cNvPr>
          <p:cNvSpPr/>
          <p:nvPr/>
        </p:nvSpPr>
        <p:spPr>
          <a:xfrm>
            <a:off x="5497975" y="5879939"/>
            <a:ext cx="8125428" cy="1423686"/>
          </a:xfrm>
          <a:custGeom>
            <a:avLst/>
            <a:gdLst>
              <a:gd name="connsiteX0" fmla="*/ 0 w 8125428"/>
              <a:gd name="connsiteY0" fmla="*/ 1423686 h 1423686"/>
              <a:gd name="connsiteX1" fmla="*/ 4363655 w 8125428"/>
              <a:gd name="connsiteY1" fmla="*/ 347241 h 1423686"/>
              <a:gd name="connsiteX2" fmla="*/ 8125428 w 8125428"/>
              <a:gd name="connsiteY2" fmla="*/ 0 h 1423686"/>
            </a:gdLst>
            <a:ahLst/>
            <a:cxnLst>
              <a:cxn ang="0">
                <a:pos x="connsiteX0" y="connsiteY0"/>
              </a:cxn>
              <a:cxn ang="0">
                <a:pos x="connsiteX1" y="connsiteY1"/>
              </a:cxn>
              <a:cxn ang="0">
                <a:pos x="connsiteX2" y="connsiteY2"/>
              </a:cxn>
            </a:cxnLst>
            <a:rect l="l" t="t" r="r" b="b"/>
            <a:pathLst>
              <a:path w="8125428" h="1423686">
                <a:moveTo>
                  <a:pt x="0" y="1423686"/>
                </a:moveTo>
                <a:cubicBezTo>
                  <a:pt x="1504708" y="1004104"/>
                  <a:pt x="3009417" y="584522"/>
                  <a:pt x="4363655" y="347241"/>
                </a:cubicBezTo>
                <a:cubicBezTo>
                  <a:pt x="5717893" y="109960"/>
                  <a:pt x="6921660" y="54980"/>
                  <a:pt x="8125428" y="0"/>
                </a:cubicBezTo>
              </a:path>
            </a:pathLst>
          </a:custGeom>
          <a:noFill/>
          <a:ln w="57150">
            <a:solidFill>
              <a:srgbClr val="FF4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55">
            <a:extLst>
              <a:ext uri="{FF2B5EF4-FFF2-40B4-BE49-F238E27FC236}">
                <a16:creationId xmlns:a16="http://schemas.microsoft.com/office/drawing/2014/main" id="{FB5706CE-E16F-FDFC-0A00-7007B78BC121}"/>
              </a:ext>
            </a:extLst>
          </p:cNvPr>
          <p:cNvSpPr/>
          <p:nvPr/>
        </p:nvSpPr>
        <p:spPr>
          <a:xfrm>
            <a:off x="5486400" y="7627716"/>
            <a:ext cx="8183301" cy="1453230"/>
          </a:xfrm>
          <a:custGeom>
            <a:avLst/>
            <a:gdLst>
              <a:gd name="connsiteX0" fmla="*/ 0 w 8183301"/>
              <a:gd name="connsiteY0" fmla="*/ 0 h 1453230"/>
              <a:gd name="connsiteX1" fmla="*/ 3622876 w 8183301"/>
              <a:gd name="connsiteY1" fmla="*/ 381965 h 1453230"/>
              <a:gd name="connsiteX2" fmla="*/ 4664597 w 8183301"/>
              <a:gd name="connsiteY2" fmla="*/ 1365813 h 1453230"/>
              <a:gd name="connsiteX3" fmla="*/ 8183301 w 8183301"/>
              <a:gd name="connsiteY3" fmla="*/ 1342664 h 1453230"/>
            </a:gdLst>
            <a:ahLst/>
            <a:cxnLst>
              <a:cxn ang="0">
                <a:pos x="connsiteX0" y="connsiteY0"/>
              </a:cxn>
              <a:cxn ang="0">
                <a:pos x="connsiteX1" y="connsiteY1"/>
              </a:cxn>
              <a:cxn ang="0">
                <a:pos x="connsiteX2" y="connsiteY2"/>
              </a:cxn>
              <a:cxn ang="0">
                <a:pos x="connsiteX3" y="connsiteY3"/>
              </a:cxn>
            </a:cxnLst>
            <a:rect l="l" t="t" r="r" b="b"/>
            <a:pathLst>
              <a:path w="8183301" h="1453230">
                <a:moveTo>
                  <a:pt x="0" y="0"/>
                </a:moveTo>
                <a:cubicBezTo>
                  <a:pt x="1422721" y="77165"/>
                  <a:pt x="2845443" y="154330"/>
                  <a:pt x="3622876" y="381965"/>
                </a:cubicBezTo>
                <a:cubicBezTo>
                  <a:pt x="4400309" y="609600"/>
                  <a:pt x="3904526" y="1205696"/>
                  <a:pt x="4664597" y="1365813"/>
                </a:cubicBezTo>
                <a:cubicBezTo>
                  <a:pt x="5424668" y="1525930"/>
                  <a:pt x="6803984" y="1434297"/>
                  <a:pt x="8183301" y="1342664"/>
                </a:cubicBezTo>
              </a:path>
            </a:pathLst>
          </a:custGeom>
          <a:noFill/>
          <a:ln w="57150">
            <a:solidFill>
              <a:srgbClr val="FF4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a:extLst>
              <a:ext uri="{FF2B5EF4-FFF2-40B4-BE49-F238E27FC236}">
                <a16:creationId xmlns:a16="http://schemas.microsoft.com/office/drawing/2014/main" id="{62F33B3C-B7BD-193C-A690-F9EB734F10B5}"/>
              </a:ext>
            </a:extLst>
          </p:cNvPr>
          <p:cNvSpPr/>
          <p:nvPr/>
        </p:nvSpPr>
        <p:spPr>
          <a:xfrm>
            <a:off x="11516808" y="6157732"/>
            <a:ext cx="2152893" cy="2592729"/>
          </a:xfrm>
          <a:custGeom>
            <a:avLst/>
            <a:gdLst>
              <a:gd name="connsiteX0" fmla="*/ 2141319 w 2152893"/>
              <a:gd name="connsiteY0" fmla="*/ 0 h 2592729"/>
              <a:gd name="connsiteX1" fmla="*/ 2 w 2152893"/>
              <a:gd name="connsiteY1" fmla="*/ 1088020 h 2592729"/>
              <a:gd name="connsiteX2" fmla="*/ 2152893 w 2152893"/>
              <a:gd name="connsiteY2" fmla="*/ 2592729 h 2592729"/>
            </a:gdLst>
            <a:ahLst/>
            <a:cxnLst>
              <a:cxn ang="0">
                <a:pos x="connsiteX0" y="connsiteY0"/>
              </a:cxn>
              <a:cxn ang="0">
                <a:pos x="connsiteX1" y="connsiteY1"/>
              </a:cxn>
              <a:cxn ang="0">
                <a:pos x="connsiteX2" y="connsiteY2"/>
              </a:cxn>
            </a:cxnLst>
            <a:rect l="l" t="t" r="r" b="b"/>
            <a:pathLst>
              <a:path w="2152893" h="2592729">
                <a:moveTo>
                  <a:pt x="2141319" y="0"/>
                </a:moveTo>
                <a:cubicBezTo>
                  <a:pt x="1069696" y="327949"/>
                  <a:pt x="-1927" y="655899"/>
                  <a:pt x="2" y="1088020"/>
                </a:cubicBezTo>
                <a:cubicBezTo>
                  <a:pt x="1931" y="1520142"/>
                  <a:pt x="1077412" y="2056435"/>
                  <a:pt x="2152893" y="2592729"/>
                </a:cubicBezTo>
              </a:path>
            </a:pathLst>
          </a:custGeom>
          <a:noFill/>
          <a:ln w="57150">
            <a:solidFill>
              <a:srgbClr val="FF4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A23F03F5-14DB-BA8B-A7A0-5D6FDDE9F941}"/>
              </a:ext>
            </a:extLst>
          </p:cNvPr>
          <p:cNvSpPr txBox="1"/>
          <p:nvPr/>
        </p:nvSpPr>
        <p:spPr>
          <a:xfrm>
            <a:off x="10544537" y="7134564"/>
            <a:ext cx="800219" cy="461665"/>
          </a:xfrm>
          <a:prstGeom prst="rect">
            <a:avLst/>
          </a:prstGeom>
          <a:noFill/>
        </p:spPr>
        <p:txBody>
          <a:bodyPr wrap="none" rtlCol="0">
            <a:spAutoFit/>
          </a:bodyPr>
          <a:lstStyle/>
          <a:p>
            <a:r>
              <a:rPr lang="en-US" sz="2400">
                <a:solidFill>
                  <a:srgbClr val="FF40FF"/>
                </a:solidFill>
                <a:latin typeface="Helvetica Neue Medium" panose="02000503000000020004" pitchFamily="2" charset="0"/>
                <a:ea typeface="Helvetica Neue Medium" panose="02000503000000020004" pitchFamily="2" charset="0"/>
                <a:cs typeface="Helvetica Neue Medium" panose="02000503000000020004" pitchFamily="2" charset="0"/>
              </a:rPr>
              <a:t>VPN</a:t>
            </a:r>
          </a:p>
        </p:txBody>
      </p:sp>
      <p:grpSp>
        <p:nvGrpSpPr>
          <p:cNvPr id="16" name="Group 15">
            <a:extLst>
              <a:ext uri="{FF2B5EF4-FFF2-40B4-BE49-F238E27FC236}">
                <a16:creationId xmlns:a16="http://schemas.microsoft.com/office/drawing/2014/main" id="{1D63098A-FA4F-2A81-EADE-A9325AD86134}"/>
              </a:ext>
            </a:extLst>
          </p:cNvPr>
          <p:cNvGrpSpPr/>
          <p:nvPr/>
        </p:nvGrpSpPr>
        <p:grpSpPr>
          <a:xfrm>
            <a:off x="3942529" y="7095364"/>
            <a:ext cx="1542797" cy="646331"/>
            <a:chOff x="13562784" y="4724230"/>
            <a:chExt cx="1542797" cy="646331"/>
          </a:xfrm>
        </p:grpSpPr>
        <p:sp>
          <p:nvSpPr>
            <p:cNvPr id="17" name="Rounded Rectangle 16">
              <a:extLst>
                <a:ext uri="{FF2B5EF4-FFF2-40B4-BE49-F238E27FC236}">
                  <a16:creationId xmlns:a16="http://schemas.microsoft.com/office/drawing/2014/main" id="{D3932912-A7B4-BA15-BFE1-1C421FB25FBC}"/>
                </a:ext>
              </a:extLst>
            </p:cNvPr>
            <p:cNvSpPr/>
            <p:nvPr/>
          </p:nvSpPr>
          <p:spPr>
            <a:xfrm>
              <a:off x="13583264" y="4724230"/>
              <a:ext cx="1522317" cy="64633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8" name="TextBox 17">
              <a:extLst>
                <a:ext uri="{FF2B5EF4-FFF2-40B4-BE49-F238E27FC236}">
                  <a16:creationId xmlns:a16="http://schemas.microsoft.com/office/drawing/2014/main" id="{F1668CEC-3812-2808-7C82-6E5882251CAE}"/>
                </a:ext>
              </a:extLst>
            </p:cNvPr>
            <p:cNvSpPr txBox="1"/>
            <p:nvPr/>
          </p:nvSpPr>
          <p:spPr>
            <a:xfrm>
              <a:off x="13562784" y="4724230"/>
              <a:ext cx="1522318" cy="646331"/>
            </a:xfrm>
            <a:prstGeom prst="rect">
              <a:avLst/>
            </a:prstGeom>
            <a:noFill/>
          </p:spPr>
          <p:txBody>
            <a:bodyPr wrap="square" rtlCol="0">
              <a:spAutoFit/>
            </a:bodyPr>
            <a:lstStyle/>
            <a:p>
              <a:pPr algn="ctr"/>
              <a:r>
                <a:rPr lang="en-US" b="1">
                  <a:latin typeface="Helvetica Neue Medium" panose="02000503000000020004" pitchFamily="2" charset="0"/>
                  <a:ea typeface="Helvetica Neue Medium" panose="02000503000000020004" pitchFamily="2" charset="0"/>
                  <a:cs typeface="Helvetica Neue Medium" panose="02000503000000020004" pitchFamily="2" charset="0"/>
                </a:rPr>
                <a:t>SD WAN</a:t>
              </a:r>
            </a:p>
            <a:p>
              <a:pPr algn="ctr"/>
              <a:r>
                <a:rPr lang="en-US" b="1">
                  <a:latin typeface="Helvetica Neue Medium" panose="02000503000000020004" pitchFamily="2" charset="0"/>
                  <a:ea typeface="Helvetica Neue Medium" panose="02000503000000020004" pitchFamily="2" charset="0"/>
                  <a:cs typeface="Helvetica Neue Medium" panose="02000503000000020004" pitchFamily="2" charset="0"/>
                </a:rPr>
                <a:t>CPE</a:t>
              </a:r>
            </a:p>
          </p:txBody>
        </p:sp>
      </p:grpSp>
      <p:grpSp>
        <p:nvGrpSpPr>
          <p:cNvPr id="13" name="Group 12">
            <a:extLst>
              <a:ext uri="{FF2B5EF4-FFF2-40B4-BE49-F238E27FC236}">
                <a16:creationId xmlns:a16="http://schemas.microsoft.com/office/drawing/2014/main" id="{AF781E42-8011-519C-3C2A-5B91271F9057}"/>
              </a:ext>
            </a:extLst>
          </p:cNvPr>
          <p:cNvGrpSpPr/>
          <p:nvPr/>
        </p:nvGrpSpPr>
        <p:grpSpPr>
          <a:xfrm>
            <a:off x="13646080" y="8513998"/>
            <a:ext cx="1542797" cy="646331"/>
            <a:chOff x="13562784" y="4724230"/>
            <a:chExt cx="1542797" cy="646331"/>
          </a:xfrm>
        </p:grpSpPr>
        <p:sp>
          <p:nvSpPr>
            <p:cNvPr id="14" name="Rounded Rectangle 13">
              <a:extLst>
                <a:ext uri="{FF2B5EF4-FFF2-40B4-BE49-F238E27FC236}">
                  <a16:creationId xmlns:a16="http://schemas.microsoft.com/office/drawing/2014/main" id="{11C5E355-3B40-1FB6-5C24-D13FDF191891}"/>
                </a:ext>
              </a:extLst>
            </p:cNvPr>
            <p:cNvSpPr/>
            <p:nvPr/>
          </p:nvSpPr>
          <p:spPr>
            <a:xfrm>
              <a:off x="13583264" y="4724230"/>
              <a:ext cx="1522317" cy="64633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5" name="TextBox 14">
              <a:extLst>
                <a:ext uri="{FF2B5EF4-FFF2-40B4-BE49-F238E27FC236}">
                  <a16:creationId xmlns:a16="http://schemas.microsoft.com/office/drawing/2014/main" id="{40DAC1B9-FA3A-AC80-3744-AAA90F87C86D}"/>
                </a:ext>
              </a:extLst>
            </p:cNvPr>
            <p:cNvSpPr txBox="1"/>
            <p:nvPr/>
          </p:nvSpPr>
          <p:spPr>
            <a:xfrm>
              <a:off x="13562784" y="4724230"/>
              <a:ext cx="1522318" cy="646331"/>
            </a:xfrm>
            <a:prstGeom prst="rect">
              <a:avLst/>
            </a:prstGeom>
            <a:noFill/>
          </p:spPr>
          <p:txBody>
            <a:bodyPr wrap="square" rtlCol="0">
              <a:spAutoFit/>
            </a:bodyPr>
            <a:lstStyle/>
            <a:p>
              <a:pPr algn="ctr"/>
              <a:r>
                <a:rPr lang="en-US" b="1">
                  <a:latin typeface="Helvetica Neue Medium" panose="02000503000000020004" pitchFamily="2" charset="0"/>
                  <a:ea typeface="Helvetica Neue Medium" panose="02000503000000020004" pitchFamily="2" charset="0"/>
                  <a:cs typeface="Helvetica Neue Medium" panose="02000503000000020004" pitchFamily="2" charset="0"/>
                </a:rPr>
                <a:t>SD WAN</a:t>
              </a:r>
            </a:p>
            <a:p>
              <a:pPr algn="ctr"/>
              <a:r>
                <a:rPr lang="en-US" b="1">
                  <a:latin typeface="Helvetica Neue Medium" panose="02000503000000020004" pitchFamily="2" charset="0"/>
                  <a:ea typeface="Helvetica Neue Medium" panose="02000503000000020004" pitchFamily="2" charset="0"/>
                  <a:cs typeface="Helvetica Neue Medium" panose="02000503000000020004" pitchFamily="2" charset="0"/>
                </a:rPr>
                <a:t>CPE</a:t>
              </a:r>
            </a:p>
          </p:txBody>
        </p:sp>
      </p:grpSp>
      <p:grpSp>
        <p:nvGrpSpPr>
          <p:cNvPr id="9" name="Group 8">
            <a:extLst>
              <a:ext uri="{FF2B5EF4-FFF2-40B4-BE49-F238E27FC236}">
                <a16:creationId xmlns:a16="http://schemas.microsoft.com/office/drawing/2014/main" id="{BBFAACB5-E4A5-7186-0F42-6CBFDB2BD571}"/>
              </a:ext>
            </a:extLst>
          </p:cNvPr>
          <p:cNvGrpSpPr/>
          <p:nvPr/>
        </p:nvGrpSpPr>
        <p:grpSpPr>
          <a:xfrm>
            <a:off x="13625601" y="5667768"/>
            <a:ext cx="1542797" cy="646331"/>
            <a:chOff x="13562784" y="4724230"/>
            <a:chExt cx="1542797" cy="646331"/>
          </a:xfrm>
        </p:grpSpPr>
        <p:sp>
          <p:nvSpPr>
            <p:cNvPr id="7" name="Rounded Rectangle 6">
              <a:extLst>
                <a:ext uri="{FF2B5EF4-FFF2-40B4-BE49-F238E27FC236}">
                  <a16:creationId xmlns:a16="http://schemas.microsoft.com/office/drawing/2014/main" id="{495108E9-DEAC-4332-3481-9482AF189640}"/>
                </a:ext>
              </a:extLst>
            </p:cNvPr>
            <p:cNvSpPr/>
            <p:nvPr/>
          </p:nvSpPr>
          <p:spPr>
            <a:xfrm>
              <a:off x="13583264" y="4724230"/>
              <a:ext cx="1522317" cy="64633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8" name="TextBox 7">
              <a:extLst>
                <a:ext uri="{FF2B5EF4-FFF2-40B4-BE49-F238E27FC236}">
                  <a16:creationId xmlns:a16="http://schemas.microsoft.com/office/drawing/2014/main" id="{15E653C1-075A-81EB-4845-D7AD921B13F6}"/>
                </a:ext>
              </a:extLst>
            </p:cNvPr>
            <p:cNvSpPr txBox="1"/>
            <p:nvPr/>
          </p:nvSpPr>
          <p:spPr>
            <a:xfrm>
              <a:off x="13562784" y="4724230"/>
              <a:ext cx="1522318" cy="646331"/>
            </a:xfrm>
            <a:prstGeom prst="rect">
              <a:avLst/>
            </a:prstGeom>
            <a:noFill/>
          </p:spPr>
          <p:txBody>
            <a:bodyPr wrap="square" rtlCol="0">
              <a:spAutoFit/>
            </a:bodyPr>
            <a:lstStyle/>
            <a:p>
              <a:pPr algn="ctr"/>
              <a:r>
                <a:rPr lang="en-US" b="1">
                  <a:latin typeface="Helvetica Neue Medium" panose="02000503000000020004" pitchFamily="2" charset="0"/>
                  <a:ea typeface="Helvetica Neue Medium" panose="02000503000000020004" pitchFamily="2" charset="0"/>
                  <a:cs typeface="Helvetica Neue Medium" panose="02000503000000020004" pitchFamily="2" charset="0"/>
                </a:rPr>
                <a:t>SD WAN</a:t>
              </a:r>
            </a:p>
            <a:p>
              <a:pPr algn="ctr"/>
              <a:r>
                <a:rPr lang="en-US" b="1">
                  <a:latin typeface="Helvetica Neue Medium" panose="02000503000000020004" pitchFamily="2" charset="0"/>
                  <a:ea typeface="Helvetica Neue Medium" panose="02000503000000020004" pitchFamily="2" charset="0"/>
                  <a:cs typeface="Helvetica Neue Medium" panose="02000503000000020004" pitchFamily="2" charset="0"/>
                </a:rPr>
                <a:t>CPE</a:t>
              </a:r>
            </a:p>
          </p:txBody>
        </p:sp>
      </p:grpSp>
    </p:spTree>
    <p:extLst>
      <p:ext uri="{BB962C8B-B14F-4D97-AF65-F5344CB8AC3E}">
        <p14:creationId xmlns:p14="http://schemas.microsoft.com/office/powerpoint/2010/main" val="13956387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BA95D-54AF-175C-4279-189BA94F5121}"/>
              </a:ext>
            </a:extLst>
          </p:cNvPr>
          <p:cNvSpPr>
            <a:spLocks noGrp="1"/>
          </p:cNvSpPr>
          <p:nvPr>
            <p:ph type="title"/>
          </p:nvPr>
        </p:nvSpPr>
        <p:spPr/>
        <p:txBody>
          <a:bodyPr/>
          <a:lstStyle/>
          <a:p>
            <a:r>
              <a:rPr lang="en-US"/>
              <a:t>SD WAN</a:t>
            </a:r>
          </a:p>
        </p:txBody>
      </p:sp>
      <p:sp>
        <p:nvSpPr>
          <p:cNvPr id="3" name="Content Placeholder 2">
            <a:extLst>
              <a:ext uri="{FF2B5EF4-FFF2-40B4-BE49-F238E27FC236}">
                <a16:creationId xmlns:a16="http://schemas.microsoft.com/office/drawing/2014/main" id="{9E22A861-5124-597D-7E5B-740D2CCD7139}"/>
              </a:ext>
            </a:extLst>
          </p:cNvPr>
          <p:cNvSpPr>
            <a:spLocks noGrp="1"/>
          </p:cNvSpPr>
          <p:nvPr>
            <p:ph idx="1"/>
          </p:nvPr>
        </p:nvSpPr>
        <p:spPr/>
        <p:txBody>
          <a:bodyPr/>
          <a:lstStyle/>
          <a:p>
            <a:r>
              <a:rPr lang="en-US"/>
              <a:t>Central configuration and orchestration automates deployment</a:t>
            </a:r>
          </a:p>
          <a:p>
            <a:r>
              <a:rPr lang="en-US"/>
              <a:t>Greater visibility than traditional WAN solutions</a:t>
            </a:r>
          </a:p>
          <a:p>
            <a:r>
              <a:rPr lang="en-US"/>
              <a:t>Application-level routing and management</a:t>
            </a:r>
          </a:p>
          <a:p>
            <a:r>
              <a:rPr lang="en-US"/>
              <a:t>Simple deployment of BCP rules</a:t>
            </a:r>
          </a:p>
          <a:p>
            <a:r>
              <a:rPr lang="en-US"/>
              <a:t>Often sold as a managed or co-managed solution</a:t>
            </a:r>
          </a:p>
          <a:p>
            <a:r>
              <a:rPr lang="en-US"/>
              <a:t>Security at the branch level or in the cloud</a:t>
            </a:r>
          </a:p>
          <a:p>
            <a:r>
              <a:rPr lang="en-US"/>
              <a:t>Secure cloud connectivity</a:t>
            </a:r>
          </a:p>
          <a:p>
            <a:r>
              <a:rPr lang="en-US"/>
              <a:t>Various implementation models</a:t>
            </a:r>
          </a:p>
        </p:txBody>
      </p:sp>
    </p:spTree>
    <p:extLst>
      <p:ext uri="{BB962C8B-B14F-4D97-AF65-F5344CB8AC3E}">
        <p14:creationId xmlns:p14="http://schemas.microsoft.com/office/powerpoint/2010/main" val="37097920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6FC44-0089-E5FD-C38F-5154966722EC}"/>
              </a:ext>
            </a:extLst>
          </p:cNvPr>
          <p:cNvSpPr>
            <a:spLocks noGrp="1"/>
          </p:cNvSpPr>
          <p:nvPr>
            <p:ph type="title"/>
          </p:nvPr>
        </p:nvSpPr>
        <p:spPr/>
        <p:txBody>
          <a:bodyPr/>
          <a:lstStyle/>
          <a:p>
            <a:r>
              <a:rPr lang="en-US"/>
              <a:t>Sample SD WAN Implementation</a:t>
            </a:r>
          </a:p>
        </p:txBody>
      </p:sp>
      <p:grpSp>
        <p:nvGrpSpPr>
          <p:cNvPr id="4" name="Group 3">
            <a:extLst>
              <a:ext uri="{FF2B5EF4-FFF2-40B4-BE49-F238E27FC236}">
                <a16:creationId xmlns:a16="http://schemas.microsoft.com/office/drawing/2014/main" id="{C102BFF8-2462-51AD-9472-7DCD14FF95D8}"/>
              </a:ext>
            </a:extLst>
          </p:cNvPr>
          <p:cNvGrpSpPr/>
          <p:nvPr/>
        </p:nvGrpSpPr>
        <p:grpSpPr>
          <a:xfrm>
            <a:off x="2181007" y="6018919"/>
            <a:ext cx="5016548" cy="3141409"/>
            <a:chOff x="10447871" y="4724230"/>
            <a:chExt cx="4777148" cy="1029809"/>
          </a:xfrm>
        </p:grpSpPr>
        <p:sp>
          <p:nvSpPr>
            <p:cNvPr id="5" name="Rounded Rectangle 4">
              <a:extLst>
                <a:ext uri="{FF2B5EF4-FFF2-40B4-BE49-F238E27FC236}">
                  <a16:creationId xmlns:a16="http://schemas.microsoft.com/office/drawing/2014/main" id="{4F3DE280-D952-1BFD-875B-12462CEEEFC7}"/>
                </a:ext>
              </a:extLst>
            </p:cNvPr>
            <p:cNvSpPr/>
            <p:nvPr/>
          </p:nvSpPr>
          <p:spPr>
            <a:xfrm>
              <a:off x="10447871" y="4724230"/>
              <a:ext cx="4657710" cy="1029809"/>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 name="TextBox 5">
              <a:extLst>
                <a:ext uri="{FF2B5EF4-FFF2-40B4-BE49-F238E27FC236}">
                  <a16:creationId xmlns:a16="http://schemas.microsoft.com/office/drawing/2014/main" id="{B1AAFB89-9C42-ADC3-2C80-0BC358A9A2BF}"/>
                </a:ext>
              </a:extLst>
            </p:cNvPr>
            <p:cNvSpPr txBox="1"/>
            <p:nvPr/>
          </p:nvSpPr>
          <p:spPr>
            <a:xfrm>
              <a:off x="12282864" y="4800243"/>
              <a:ext cx="2942155" cy="877783"/>
            </a:xfrm>
            <a:prstGeom prst="rect">
              <a:avLst/>
            </a:prstGeom>
            <a:noFill/>
          </p:spPr>
          <p:txBody>
            <a:bodyPr wrap="square" rtlCol="0">
              <a:spAutoFit/>
            </a:bodyPr>
            <a:lstStyle/>
            <a:p>
              <a:pPr algn="ctr"/>
              <a:r>
                <a:rPr lang="en-US" sz="2800" b="1">
                  <a:latin typeface="Helvetica Neue Medium" panose="02000503000000020004" pitchFamily="2" charset="0"/>
                  <a:ea typeface="Helvetica Neue Medium" panose="02000503000000020004" pitchFamily="2" charset="0"/>
                  <a:cs typeface="Helvetica Neue Medium" panose="02000503000000020004" pitchFamily="2" charset="0"/>
                </a:rPr>
                <a:t>Application Routing</a:t>
              </a:r>
            </a:p>
            <a:p>
              <a:pPr algn="ctr"/>
              <a:endParaRPr lang="en-US" sz="2800" b="1">
                <a:latin typeface="Helvetica Neue Medium" panose="02000503000000020004" pitchFamily="2" charset="0"/>
                <a:ea typeface="Helvetica Neue Medium" panose="02000503000000020004" pitchFamily="2" charset="0"/>
                <a:cs typeface="Helvetica Neue Medium" panose="02000503000000020004" pitchFamily="2" charset="0"/>
              </a:endParaRPr>
            </a:p>
            <a:p>
              <a:pPr algn="ctr"/>
              <a:r>
                <a:rPr lang="en-US" sz="2800" b="1">
                  <a:latin typeface="Helvetica Neue Medium" panose="02000503000000020004" pitchFamily="2" charset="0"/>
                  <a:ea typeface="Helvetica Neue Medium" panose="02000503000000020004" pitchFamily="2" charset="0"/>
                  <a:cs typeface="Helvetica Neue Medium" panose="02000503000000020004" pitchFamily="2" charset="0"/>
                </a:rPr>
                <a:t>VPN</a:t>
              </a:r>
            </a:p>
            <a:p>
              <a:pPr algn="ctr"/>
              <a:endParaRPr lang="en-US" sz="2800" b="1">
                <a:latin typeface="Helvetica Neue Medium" panose="02000503000000020004" pitchFamily="2" charset="0"/>
                <a:ea typeface="Helvetica Neue Medium" panose="02000503000000020004" pitchFamily="2" charset="0"/>
                <a:cs typeface="Helvetica Neue Medium" panose="02000503000000020004" pitchFamily="2" charset="0"/>
              </a:endParaRPr>
            </a:p>
            <a:p>
              <a:pPr algn="ctr"/>
              <a:r>
                <a:rPr lang="en-US" sz="2800" b="1">
                  <a:latin typeface="Helvetica Neue Medium" panose="02000503000000020004" pitchFamily="2" charset="0"/>
                  <a:ea typeface="Helvetica Neue Medium" panose="02000503000000020004" pitchFamily="2" charset="0"/>
                  <a:cs typeface="Helvetica Neue Medium" panose="02000503000000020004" pitchFamily="2" charset="0"/>
                </a:rPr>
                <a:t>Security</a:t>
              </a:r>
            </a:p>
          </p:txBody>
        </p:sp>
      </p:grpSp>
      <p:pic>
        <p:nvPicPr>
          <p:cNvPr id="7" name="Picture 6" descr="A picture containing text, display device, display, flat panel display&#10;&#10;Description automatically generated">
            <a:extLst>
              <a:ext uri="{FF2B5EF4-FFF2-40B4-BE49-F238E27FC236}">
                <a16:creationId xmlns:a16="http://schemas.microsoft.com/office/drawing/2014/main" id="{21004FD1-B49C-20CC-0BA7-B31B3621233E}"/>
              </a:ext>
            </a:extLst>
          </p:cNvPr>
          <p:cNvPicPr>
            <a:picLocks noChangeAspect="1"/>
          </p:cNvPicPr>
          <p:nvPr/>
        </p:nvPicPr>
        <p:blipFill>
          <a:blip r:embed="rId3"/>
          <a:stretch>
            <a:fillRect/>
          </a:stretch>
        </p:blipFill>
        <p:spPr>
          <a:xfrm>
            <a:off x="5799716" y="2653990"/>
            <a:ext cx="2540000" cy="1905000"/>
          </a:xfrm>
          <a:prstGeom prst="rect">
            <a:avLst/>
          </a:prstGeom>
        </p:spPr>
      </p:pic>
      <p:pic>
        <p:nvPicPr>
          <p:cNvPr id="8" name="Graphic 7" descr="Cloud outline">
            <a:extLst>
              <a:ext uri="{FF2B5EF4-FFF2-40B4-BE49-F238E27FC236}">
                <a16:creationId xmlns:a16="http://schemas.microsoft.com/office/drawing/2014/main" id="{08EAA671-E425-9523-291C-2B512D536F1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47954" y="1470729"/>
            <a:ext cx="8733227" cy="10052725"/>
          </a:xfrm>
          <a:prstGeom prst="rect">
            <a:avLst/>
          </a:prstGeom>
        </p:spPr>
      </p:pic>
      <p:sp>
        <p:nvSpPr>
          <p:cNvPr id="9" name="TextBox 8">
            <a:extLst>
              <a:ext uri="{FF2B5EF4-FFF2-40B4-BE49-F238E27FC236}">
                <a16:creationId xmlns:a16="http://schemas.microsoft.com/office/drawing/2014/main" id="{E8906252-C20F-ECB7-5F37-B476282727EF}"/>
              </a:ext>
            </a:extLst>
          </p:cNvPr>
          <p:cNvSpPr txBox="1"/>
          <p:nvPr/>
        </p:nvSpPr>
        <p:spPr>
          <a:xfrm>
            <a:off x="2104125" y="6044774"/>
            <a:ext cx="2522444" cy="2677656"/>
          </a:xfrm>
          <a:prstGeom prst="rect">
            <a:avLst/>
          </a:prstGeom>
          <a:noFill/>
        </p:spPr>
        <p:txBody>
          <a:bodyPr wrap="square" rtlCol="0">
            <a:spAutoFit/>
          </a:bodyPr>
          <a:lstStyle/>
          <a:p>
            <a:pPr algn="ctr"/>
            <a:endParaRPr lang="en-US" sz="2800" b="1">
              <a:latin typeface="Helvetica Neue Medium" panose="02000503000000020004" pitchFamily="2" charset="0"/>
              <a:ea typeface="Helvetica Neue Medium" panose="02000503000000020004" pitchFamily="2" charset="0"/>
              <a:cs typeface="Helvetica Neue Medium" panose="02000503000000020004" pitchFamily="2" charset="0"/>
            </a:endParaRPr>
          </a:p>
          <a:p>
            <a:pPr algn="ctr"/>
            <a:r>
              <a:rPr lang="en-US" sz="2800" b="1">
                <a:latin typeface="Helvetica Neue Medium" panose="02000503000000020004" pitchFamily="2" charset="0"/>
                <a:ea typeface="Helvetica Neue Medium" panose="02000503000000020004" pitchFamily="2" charset="0"/>
                <a:cs typeface="Helvetica Neue Medium" panose="02000503000000020004" pitchFamily="2" charset="0"/>
              </a:rPr>
              <a:t>Performance</a:t>
            </a:r>
          </a:p>
          <a:p>
            <a:pPr algn="ctr"/>
            <a:r>
              <a:rPr lang="en-US" sz="2800" b="1">
                <a:latin typeface="Helvetica Neue Medium" panose="02000503000000020004" pitchFamily="2" charset="0"/>
                <a:ea typeface="Helvetica Neue Medium" panose="02000503000000020004" pitchFamily="2" charset="0"/>
                <a:cs typeface="Helvetica Neue Medium" panose="02000503000000020004" pitchFamily="2" charset="0"/>
              </a:rPr>
              <a:t>Data Gathering</a:t>
            </a:r>
          </a:p>
          <a:p>
            <a:pPr algn="ctr"/>
            <a:endParaRPr lang="en-US" sz="2800" b="1">
              <a:latin typeface="Helvetica Neue Medium" panose="02000503000000020004" pitchFamily="2" charset="0"/>
              <a:ea typeface="Helvetica Neue Medium" panose="02000503000000020004" pitchFamily="2" charset="0"/>
              <a:cs typeface="Helvetica Neue Medium" panose="02000503000000020004" pitchFamily="2" charset="0"/>
            </a:endParaRPr>
          </a:p>
          <a:p>
            <a:pPr algn="ctr"/>
            <a:r>
              <a:rPr lang="en-US" sz="2800" b="1">
                <a:latin typeface="Helvetica Neue Medium" panose="02000503000000020004" pitchFamily="2" charset="0"/>
                <a:ea typeface="Helvetica Neue Medium" panose="02000503000000020004" pitchFamily="2" charset="0"/>
                <a:cs typeface="Helvetica Neue Medium" panose="02000503000000020004" pitchFamily="2" charset="0"/>
              </a:rPr>
              <a:t>BCP Rules</a:t>
            </a:r>
          </a:p>
        </p:txBody>
      </p:sp>
      <p:cxnSp>
        <p:nvCxnSpPr>
          <p:cNvPr id="11" name="Straight Connector 10">
            <a:extLst>
              <a:ext uri="{FF2B5EF4-FFF2-40B4-BE49-F238E27FC236}">
                <a16:creationId xmlns:a16="http://schemas.microsoft.com/office/drawing/2014/main" id="{F94394BA-409C-DF6B-52FB-697A0926B129}"/>
              </a:ext>
            </a:extLst>
          </p:cNvPr>
          <p:cNvCxnSpPr>
            <a:stCxn id="5" idx="0"/>
          </p:cNvCxnSpPr>
          <p:nvPr/>
        </p:nvCxnSpPr>
        <p:spPr>
          <a:xfrm flipH="1">
            <a:off x="4626569" y="6018919"/>
            <a:ext cx="1" cy="314140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3425FA6-59FA-FCEE-D09E-6674494F776E}"/>
              </a:ext>
            </a:extLst>
          </p:cNvPr>
          <p:cNvCxnSpPr>
            <a:cxnSpLocks/>
          </p:cNvCxnSpPr>
          <p:nvPr/>
        </p:nvCxnSpPr>
        <p:spPr>
          <a:xfrm>
            <a:off x="4621487" y="7383602"/>
            <a:ext cx="245064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ACDA60B-6B44-9B8A-6904-DCB9F3CF99CB}"/>
              </a:ext>
            </a:extLst>
          </p:cNvPr>
          <p:cNvCxnSpPr>
            <a:cxnSpLocks/>
          </p:cNvCxnSpPr>
          <p:nvPr/>
        </p:nvCxnSpPr>
        <p:spPr>
          <a:xfrm>
            <a:off x="4621487" y="8207333"/>
            <a:ext cx="245064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CAF0300-AD82-DF9A-6852-E8E3E9DF9D8C}"/>
              </a:ext>
            </a:extLst>
          </p:cNvPr>
          <p:cNvCxnSpPr>
            <a:cxnSpLocks/>
          </p:cNvCxnSpPr>
          <p:nvPr/>
        </p:nvCxnSpPr>
        <p:spPr>
          <a:xfrm>
            <a:off x="2181007" y="8013374"/>
            <a:ext cx="245064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BF90646-FE42-1620-3E84-549DB28648C6}"/>
              </a:ext>
            </a:extLst>
          </p:cNvPr>
          <p:cNvCxnSpPr/>
          <p:nvPr/>
        </p:nvCxnSpPr>
        <p:spPr>
          <a:xfrm flipV="1">
            <a:off x="3406329" y="3900668"/>
            <a:ext cx="2832425" cy="2118250"/>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9395FB6-580A-A07E-CC61-089E6213C549}"/>
              </a:ext>
            </a:extLst>
          </p:cNvPr>
          <p:cNvCxnSpPr>
            <a:cxnSpLocks/>
          </p:cNvCxnSpPr>
          <p:nvPr/>
        </p:nvCxnSpPr>
        <p:spPr>
          <a:xfrm>
            <a:off x="7069716" y="6829947"/>
            <a:ext cx="296553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58026CB-1547-8A20-95E2-546924BB8970}"/>
              </a:ext>
            </a:extLst>
          </p:cNvPr>
          <p:cNvCxnSpPr>
            <a:cxnSpLocks/>
          </p:cNvCxnSpPr>
          <p:nvPr/>
        </p:nvCxnSpPr>
        <p:spPr>
          <a:xfrm>
            <a:off x="7070437" y="8013374"/>
            <a:ext cx="296553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491AD3A-3E08-6AB2-24AF-2767E251E8CB}"/>
              </a:ext>
            </a:extLst>
          </p:cNvPr>
          <p:cNvSpPr txBox="1"/>
          <p:nvPr/>
        </p:nvSpPr>
        <p:spPr>
          <a:xfrm>
            <a:off x="12478397" y="6625482"/>
            <a:ext cx="2090701" cy="738664"/>
          </a:xfrm>
          <a:prstGeom prst="rect">
            <a:avLst/>
          </a:prstGeom>
          <a:noFill/>
        </p:spPr>
        <p:txBody>
          <a:bodyPr wrap="none" rtlCol="0">
            <a:spAutoFit/>
          </a:bodyPr>
          <a:lstStyle/>
          <a:p>
            <a:r>
              <a:rPr lang="en-US" sz="4200">
                <a:latin typeface="Helvetica Neue Medium" panose="02000503000000020004" pitchFamily="2" charset="0"/>
                <a:ea typeface="Helvetica Neue Medium" panose="02000503000000020004" pitchFamily="2" charset="0"/>
                <a:cs typeface="Helvetica Neue Medium" panose="02000503000000020004" pitchFamily="2" charset="0"/>
              </a:rPr>
              <a:t>internet</a:t>
            </a:r>
          </a:p>
        </p:txBody>
      </p:sp>
      <p:sp>
        <p:nvSpPr>
          <p:cNvPr id="25" name="TextBox 24">
            <a:extLst>
              <a:ext uri="{FF2B5EF4-FFF2-40B4-BE49-F238E27FC236}">
                <a16:creationId xmlns:a16="http://schemas.microsoft.com/office/drawing/2014/main" id="{C2B487F2-C198-2011-D041-8D2401448D79}"/>
              </a:ext>
            </a:extLst>
          </p:cNvPr>
          <p:cNvSpPr txBox="1"/>
          <p:nvPr/>
        </p:nvSpPr>
        <p:spPr>
          <a:xfrm>
            <a:off x="7975601" y="6231733"/>
            <a:ext cx="1055097" cy="523220"/>
          </a:xfrm>
          <a:prstGeom prst="rect">
            <a:avLst/>
          </a:prstGeom>
          <a:noFill/>
        </p:spPr>
        <p:txBody>
          <a:bodyPr wrap="none" rtlCol="0">
            <a:spAutoFit/>
          </a:bodyPr>
          <a:lstStyle/>
          <a:p>
            <a:r>
              <a:rPr lang="en-US" sz="2800">
                <a:solidFill>
                  <a:srgbClr val="FF0000"/>
                </a:solidFill>
                <a:latin typeface="Helvetica Neue Medium" panose="02000503000000020004" pitchFamily="2" charset="0"/>
                <a:ea typeface="Helvetica Neue Medium" panose="02000503000000020004" pitchFamily="2" charset="0"/>
                <a:cs typeface="Helvetica Neue Medium" panose="02000503000000020004" pitchFamily="2" charset="0"/>
              </a:rPr>
              <a:t>ISP 1</a:t>
            </a:r>
          </a:p>
        </p:txBody>
      </p:sp>
      <p:sp>
        <p:nvSpPr>
          <p:cNvPr id="27" name="TextBox 26">
            <a:extLst>
              <a:ext uri="{FF2B5EF4-FFF2-40B4-BE49-F238E27FC236}">
                <a16:creationId xmlns:a16="http://schemas.microsoft.com/office/drawing/2014/main" id="{F0409827-11C4-C225-FF74-661734B887E7}"/>
              </a:ext>
            </a:extLst>
          </p:cNvPr>
          <p:cNvSpPr txBox="1"/>
          <p:nvPr/>
        </p:nvSpPr>
        <p:spPr>
          <a:xfrm>
            <a:off x="7979992" y="8119926"/>
            <a:ext cx="1055097" cy="523220"/>
          </a:xfrm>
          <a:prstGeom prst="rect">
            <a:avLst/>
          </a:prstGeom>
          <a:noFill/>
        </p:spPr>
        <p:txBody>
          <a:bodyPr wrap="none" rtlCol="0">
            <a:spAutoFit/>
          </a:bodyPr>
          <a:lstStyle/>
          <a:p>
            <a:r>
              <a:rPr lang="en-US" sz="2800">
                <a:solidFill>
                  <a:srgbClr val="00B050"/>
                </a:solidFill>
                <a:latin typeface="Helvetica Neue Medium" panose="02000503000000020004" pitchFamily="2" charset="0"/>
                <a:ea typeface="Helvetica Neue Medium" panose="02000503000000020004" pitchFamily="2" charset="0"/>
                <a:cs typeface="Helvetica Neue Medium" panose="02000503000000020004" pitchFamily="2" charset="0"/>
              </a:rPr>
              <a:t>ISP 2</a:t>
            </a:r>
          </a:p>
        </p:txBody>
      </p:sp>
    </p:spTree>
    <p:extLst>
      <p:ext uri="{BB962C8B-B14F-4D97-AF65-F5344CB8AC3E}">
        <p14:creationId xmlns:p14="http://schemas.microsoft.com/office/powerpoint/2010/main" val="41845870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85204-BFB1-3823-1C08-25F5228C0DAF}"/>
              </a:ext>
            </a:extLst>
          </p:cNvPr>
          <p:cNvSpPr>
            <a:spLocks noGrp="1"/>
          </p:cNvSpPr>
          <p:nvPr>
            <p:ph type="title"/>
          </p:nvPr>
        </p:nvSpPr>
        <p:spPr/>
        <p:txBody>
          <a:bodyPr/>
          <a:lstStyle/>
          <a:p>
            <a:r>
              <a:rPr lang="en-US"/>
              <a:t>Observations for SD WAN Branch Networks</a:t>
            </a:r>
          </a:p>
        </p:txBody>
      </p:sp>
      <p:sp>
        <p:nvSpPr>
          <p:cNvPr id="3" name="Content Placeholder 2">
            <a:extLst>
              <a:ext uri="{FF2B5EF4-FFF2-40B4-BE49-F238E27FC236}">
                <a16:creationId xmlns:a16="http://schemas.microsoft.com/office/drawing/2014/main" id="{690E6678-4CAD-C123-281B-74D0DA608906}"/>
              </a:ext>
            </a:extLst>
          </p:cNvPr>
          <p:cNvSpPr>
            <a:spLocks noGrp="1"/>
          </p:cNvSpPr>
          <p:nvPr>
            <p:ph idx="1"/>
          </p:nvPr>
        </p:nvSpPr>
        <p:spPr/>
        <p:txBody>
          <a:bodyPr/>
          <a:lstStyle/>
          <a:p>
            <a:r>
              <a:rPr lang="en-US"/>
              <a:t>Benefits</a:t>
            </a:r>
          </a:p>
          <a:p>
            <a:pPr lvl="1"/>
            <a:r>
              <a:rPr lang="en-US"/>
              <a:t>Simpler configuration and implementation</a:t>
            </a:r>
          </a:p>
          <a:p>
            <a:pPr lvl="2"/>
            <a:r>
              <a:rPr lang="en-US"/>
              <a:t>Connectivity</a:t>
            </a:r>
          </a:p>
          <a:p>
            <a:pPr lvl="2"/>
            <a:r>
              <a:rPr lang="en-US"/>
              <a:t>Security</a:t>
            </a:r>
          </a:p>
          <a:p>
            <a:pPr lvl="2"/>
            <a:r>
              <a:rPr lang="en-US"/>
              <a:t>Business continuity</a:t>
            </a:r>
          </a:p>
          <a:p>
            <a:pPr lvl="1"/>
            <a:r>
              <a:rPr lang="en-US"/>
              <a:t>Greater visibility</a:t>
            </a:r>
          </a:p>
          <a:p>
            <a:pPr lvl="2"/>
            <a:r>
              <a:rPr lang="en-US"/>
              <a:t>Overall performance</a:t>
            </a:r>
          </a:p>
          <a:p>
            <a:pPr lvl="2"/>
            <a:r>
              <a:rPr lang="en-US"/>
              <a:t>Application specifics</a:t>
            </a:r>
          </a:p>
          <a:p>
            <a:pPr lvl="1"/>
            <a:r>
              <a:rPr lang="en-US"/>
              <a:t>Lower cost</a:t>
            </a:r>
          </a:p>
          <a:p>
            <a:pPr lvl="1"/>
            <a:r>
              <a:rPr lang="en-US"/>
              <a:t>Cloud integration</a:t>
            </a:r>
          </a:p>
          <a:p>
            <a:pPr lvl="1"/>
            <a:endParaRPr lang="en-US"/>
          </a:p>
          <a:p>
            <a:pPr lvl="1"/>
            <a:endParaRPr lang="en-US"/>
          </a:p>
        </p:txBody>
      </p:sp>
      <p:pic>
        <p:nvPicPr>
          <p:cNvPr id="5" name="Picture 4" descr="A picture containing screenshot, graphic design, cartoon, art&#10;&#10;Description automatically generated">
            <a:extLst>
              <a:ext uri="{FF2B5EF4-FFF2-40B4-BE49-F238E27FC236}">
                <a16:creationId xmlns:a16="http://schemas.microsoft.com/office/drawing/2014/main" id="{1940CEAB-36E9-8A9F-796C-4A52243B6D7F}"/>
              </a:ext>
            </a:extLst>
          </p:cNvPr>
          <p:cNvPicPr>
            <a:picLocks noChangeAspect="1"/>
          </p:cNvPicPr>
          <p:nvPr/>
        </p:nvPicPr>
        <p:blipFill>
          <a:blip r:embed="rId3"/>
          <a:stretch>
            <a:fillRect/>
          </a:stretch>
        </p:blipFill>
        <p:spPr>
          <a:xfrm>
            <a:off x="11599280" y="4275581"/>
            <a:ext cx="5715000" cy="6096000"/>
          </a:xfrm>
          <a:prstGeom prst="rect">
            <a:avLst/>
          </a:prstGeom>
        </p:spPr>
      </p:pic>
    </p:spTree>
    <p:extLst>
      <p:ext uri="{BB962C8B-B14F-4D97-AF65-F5344CB8AC3E}">
        <p14:creationId xmlns:p14="http://schemas.microsoft.com/office/powerpoint/2010/main" val="25343870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InTREx Tie-In: Remote Access</a:t>
            </a:r>
          </a:p>
        </p:txBody>
      </p:sp>
      <p:sp>
        <p:nvSpPr>
          <p:cNvPr id="3" name="Form frame"/>
          <p:cNvSpPr/>
          <p:nvPr/>
        </p:nvSpPr>
        <p:spPr>
          <a:xfrm>
            <a:off x="1257300" y="2514600"/>
            <a:ext cx="7863840" cy="3794760"/>
          </a:xfrm>
          <a:prstGeom prst="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Form header band"/>
          <p:cNvSpPr/>
          <p:nvPr/>
        </p:nvSpPr>
        <p:spPr>
          <a:xfrm>
            <a:off x="1257300" y="2514600"/>
            <a:ext cx="7863840" cy="548640"/>
          </a:xfrm>
          <a:prstGeom prst="rect">
            <a:avLst/>
          </a:prstGeom>
          <a:solidFill>
            <a:srgbClr val="D9D9D9"/>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rm header"/>
          <p:cNvSpPr txBox="1"/>
          <p:nvPr/>
        </p:nvSpPr>
        <p:spPr>
          <a:xfrm>
            <a:off x="1485900" y="2606040"/>
            <a:ext cx="7406640" cy="411480"/>
          </a:xfrm>
          <a:prstGeom prst="rect">
            <a:avLst/>
          </a:prstGeom>
          <a:noFill/>
        </p:spPr>
        <p:txBody>
          <a:bodyPr wrap="square" lIns="0" tIns="0" rIns="0" bIns="0" anchor="ctr">
            <a:spAutoFit/>
          </a:bodyPr>
          <a:lstStyle/>
          <a:p>
            <a:pPr algn="l">
              <a:spcAft>
                <a:spcPts val="600"/>
              </a:spcAft>
            </a:pPr>
            <a:r>
              <a:rPr sz="1800" b="1" i="0">
                <a:solidFill>
                  <a:srgbClr val="000000"/>
                </a:solidFill>
                <a:latin typeface="Helvetica Neue"/>
                <a:ea typeface="Helvetica Neue"/>
                <a:cs typeface="Helvetica Neue"/>
              </a:rPr>
              <a:t>Information Technology Profile  ·  Network</a:t>
            </a:r>
          </a:p>
        </p:txBody>
      </p:sp>
      <p:sp>
        <p:nvSpPr>
          <p:cNvPr id="6" name="Form question"/>
          <p:cNvSpPr txBox="1"/>
          <p:nvPr/>
        </p:nvSpPr>
        <p:spPr>
          <a:xfrm>
            <a:off x="1577340" y="3291840"/>
            <a:ext cx="7040879" cy="822960"/>
          </a:xfrm>
          <a:prstGeom prst="rect">
            <a:avLst/>
          </a:prstGeom>
          <a:noFill/>
        </p:spPr>
        <p:txBody>
          <a:bodyPr wrap="square" lIns="0" tIns="0" rIns="0" bIns="0" anchor="t">
            <a:spAutoFit/>
          </a:bodyPr>
          <a:lstStyle/>
          <a:p>
            <a:pPr algn="l">
              <a:spcAft>
                <a:spcPts val="600"/>
              </a:spcAft>
            </a:pPr>
            <a:r>
              <a:rPr sz="2100" b="0" i="0">
                <a:solidFill>
                  <a:srgbClr val="000000"/>
                </a:solidFill>
                <a:latin typeface="Helvetica Neue"/>
                <a:ea typeface="Helvetica Neue"/>
                <a:cs typeface="Helvetica Neue"/>
              </a:rPr>
              <a:t>3.  Who has remote access capability to network resources? Check all that apply.</a:t>
            </a:r>
          </a:p>
        </p:txBody>
      </p:sp>
      <p:sp>
        <p:nvSpPr>
          <p:cNvPr id="7" name="Checkbox 1"/>
          <p:cNvSpPr/>
          <p:nvPr/>
        </p:nvSpPr>
        <p:spPr>
          <a:xfrm>
            <a:off x="2125980" y="4169663"/>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ption 1"/>
          <p:cNvSpPr txBox="1"/>
          <p:nvPr/>
        </p:nvSpPr>
        <p:spPr>
          <a:xfrm>
            <a:off x="2628900" y="4114800"/>
            <a:ext cx="6400800" cy="41148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No one</a:t>
            </a:r>
          </a:p>
        </p:txBody>
      </p:sp>
      <p:sp>
        <p:nvSpPr>
          <p:cNvPr id="9" name="Checkbox 2"/>
          <p:cNvSpPr/>
          <p:nvPr/>
        </p:nvSpPr>
        <p:spPr>
          <a:xfrm>
            <a:off x="2125980" y="4681728"/>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ption 2"/>
          <p:cNvSpPr txBox="1"/>
          <p:nvPr/>
        </p:nvSpPr>
        <p:spPr>
          <a:xfrm>
            <a:off x="2628900" y="4626864"/>
            <a:ext cx="6400800" cy="41148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Vendors</a:t>
            </a:r>
          </a:p>
        </p:txBody>
      </p:sp>
      <p:sp>
        <p:nvSpPr>
          <p:cNvPr id="11" name="Checkbox 3"/>
          <p:cNvSpPr/>
          <p:nvPr/>
        </p:nvSpPr>
        <p:spPr>
          <a:xfrm>
            <a:off x="2125980" y="5193792"/>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ption 3"/>
          <p:cNvSpPr txBox="1"/>
          <p:nvPr/>
        </p:nvSpPr>
        <p:spPr>
          <a:xfrm>
            <a:off x="2628900" y="5138928"/>
            <a:ext cx="6400800" cy="41148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Employees or Board Members (bank-owned device)</a:t>
            </a:r>
          </a:p>
        </p:txBody>
      </p:sp>
      <p:sp>
        <p:nvSpPr>
          <p:cNvPr id="13" name="Checkbox 4"/>
          <p:cNvSpPr/>
          <p:nvPr/>
        </p:nvSpPr>
        <p:spPr>
          <a:xfrm>
            <a:off x="2125980" y="5705855"/>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ption 4"/>
          <p:cNvSpPr txBox="1"/>
          <p:nvPr/>
        </p:nvSpPr>
        <p:spPr>
          <a:xfrm>
            <a:off x="2628900" y="5650992"/>
            <a:ext cx="6400800" cy="41148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Employees or Board Members (personal device)</a:t>
            </a:r>
          </a:p>
        </p:txBody>
      </p:sp>
      <p:pic>
        <p:nvPicPr>
          <p:cNvPr id="15" name="Laptop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35340" y="2551176"/>
            <a:ext cx="475488" cy="475488"/>
          </a:xfrm>
          <a:prstGeom prst="rect">
            <a:avLst/>
          </a:prstGeom>
        </p:spPr>
      </p:pic>
      <p:sp>
        <p:nvSpPr>
          <p:cNvPr id="16" name="Quote panel"/>
          <p:cNvSpPr/>
          <p:nvPr/>
        </p:nvSpPr>
        <p:spPr>
          <a:xfrm>
            <a:off x="9692640" y="2514600"/>
            <a:ext cx="7315200" cy="379476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Quote mark"/>
          <p:cNvSpPr txBox="1"/>
          <p:nvPr/>
        </p:nvSpPr>
        <p:spPr>
          <a:xfrm>
            <a:off x="9966960" y="2560320"/>
            <a:ext cx="914400" cy="914400"/>
          </a:xfrm>
          <a:prstGeom prst="rect">
            <a:avLst/>
          </a:prstGeom>
          <a:noFill/>
        </p:spPr>
        <p:txBody>
          <a:bodyPr wrap="square" lIns="0" tIns="0" rIns="0" bIns="0" anchor="t">
            <a:spAutoFit/>
          </a:bodyPr>
          <a:lstStyle/>
          <a:p>
            <a:pPr algn="l">
              <a:spcAft>
                <a:spcPts val="600"/>
              </a:spcAft>
            </a:pPr>
            <a:r>
              <a:rPr sz="9600" b="1" i="0">
                <a:solidFill>
                  <a:srgbClr val="8EA9DB"/>
                </a:solidFill>
                <a:latin typeface="Helvetica Neue"/>
                <a:ea typeface="Helvetica Neue"/>
                <a:cs typeface="Helvetica Neue"/>
              </a:rPr>
              <a:t>“</a:t>
            </a:r>
          </a:p>
        </p:txBody>
      </p:sp>
      <p:sp>
        <p:nvSpPr>
          <p:cNvPr id="18" name="Quote text"/>
          <p:cNvSpPr txBox="1"/>
          <p:nvPr/>
        </p:nvSpPr>
        <p:spPr>
          <a:xfrm>
            <a:off x="10149840" y="3291840"/>
            <a:ext cx="6400800" cy="1737360"/>
          </a:xfrm>
          <a:prstGeom prst="rect">
            <a:avLst/>
          </a:prstGeom>
          <a:noFill/>
        </p:spPr>
        <p:txBody>
          <a:bodyPr wrap="square" lIns="0" tIns="0" rIns="0" bIns="0" anchor="t">
            <a:spAutoFit/>
          </a:bodyPr>
          <a:lstStyle/>
          <a:p>
            <a:pPr algn="l">
              <a:spcAft>
                <a:spcPts val="600"/>
              </a:spcAft>
            </a:pPr>
            <a:r>
              <a:rPr sz="2400" b="0" i="1">
                <a:solidFill>
                  <a:srgbClr val="000000"/>
                </a:solidFill>
                <a:latin typeface="Helvetica Neue"/>
                <a:ea typeface="Helvetica Neue"/>
                <a:cs typeface="Helvetica Neue"/>
              </a:rPr>
              <a:t>Remote access to critical systems by employees, contractors, and third parties uses encrypted connections and multifactor authentication.</a:t>
            </a:r>
          </a:p>
        </p:txBody>
      </p:sp>
      <p:sp>
        <p:nvSpPr>
          <p:cNvPr id="19" name="Quote source"/>
          <p:cNvSpPr txBox="1"/>
          <p:nvPr/>
        </p:nvSpPr>
        <p:spPr>
          <a:xfrm>
            <a:off x="10149840" y="4937760"/>
            <a:ext cx="6400800" cy="365760"/>
          </a:xfrm>
          <a:prstGeom prst="rect">
            <a:avLst/>
          </a:prstGeom>
          <a:noFill/>
        </p:spPr>
        <p:txBody>
          <a:bodyPr wrap="square" lIns="0" tIns="0" rIns="0" bIns="0" anchor="t">
            <a:spAutoFit/>
          </a:bodyPr>
          <a:lstStyle/>
          <a:p>
            <a:pPr algn="l">
              <a:spcAft>
                <a:spcPts val="600"/>
              </a:spcAft>
            </a:pPr>
            <a:r>
              <a:rPr sz="1600" b="0" i="0">
                <a:solidFill>
                  <a:srgbClr val="595959"/>
                </a:solidFill>
                <a:latin typeface="Helvetica Neue"/>
                <a:ea typeface="Helvetica Neue"/>
                <a:cs typeface="Helvetica Neue"/>
              </a:rPr>
              <a:t>InTREx baseline cybersecurity statement: remote access</a:t>
            </a:r>
          </a:p>
        </p:txBody>
      </p:sp>
      <p:sp>
        <p:nvSpPr>
          <p:cNvPr id="20" name="Quote prompt"/>
          <p:cNvSpPr txBox="1"/>
          <p:nvPr/>
        </p:nvSpPr>
        <p:spPr>
          <a:xfrm>
            <a:off x="10149840" y="5486400"/>
            <a:ext cx="6400800" cy="400110"/>
          </a:xfrm>
          <a:prstGeom prst="rect">
            <a:avLst/>
          </a:prstGeom>
          <a:noFill/>
        </p:spPr>
        <p:txBody>
          <a:bodyPr wrap="square" lIns="0" tIns="0" rIns="0" bIns="0" anchor="t">
            <a:spAutoFit/>
          </a:bodyPr>
          <a:lstStyle/>
          <a:p>
            <a:pPr algn="l">
              <a:spcAft>
                <a:spcPts val="600"/>
              </a:spcAft>
            </a:pPr>
            <a:r>
              <a:rPr sz="2600" b="1" i="0" dirty="0">
                <a:solidFill>
                  <a:srgbClr val="000000"/>
                </a:solidFill>
                <a:latin typeface="Helvetica Neue"/>
                <a:ea typeface="Helvetica Neue"/>
                <a:cs typeface="Helvetica Neue"/>
              </a:rPr>
              <a:t>Who’s behind your red </a:t>
            </a:r>
            <a:r>
              <a:rPr lang="en-US" sz="2600" b="1" i="0" dirty="0">
                <a:solidFill>
                  <a:srgbClr val="000000"/>
                </a:solidFill>
                <a:latin typeface="Helvetica Neue"/>
                <a:ea typeface="Helvetica Neue"/>
                <a:cs typeface="Helvetica Neue"/>
              </a:rPr>
              <a:t>boxes</a:t>
            </a:r>
            <a:r>
              <a:rPr sz="2600" b="1" i="0" dirty="0">
                <a:solidFill>
                  <a:srgbClr val="000000"/>
                </a:solidFill>
                <a:latin typeface="Helvetica Neue"/>
                <a:ea typeface="Helvetica Neue"/>
                <a:cs typeface="Helvetica Neue"/>
              </a:rPr>
              <a:t>?</a:t>
            </a:r>
          </a:p>
        </p:txBody>
      </p:sp>
      <p:sp>
        <p:nvSpPr>
          <p:cNvPr id="21" name="Leads heading"/>
          <p:cNvSpPr txBox="1"/>
          <p:nvPr/>
        </p:nvSpPr>
        <p:spPr>
          <a:xfrm>
            <a:off x="1257300" y="6675120"/>
            <a:ext cx="10972800" cy="457200"/>
          </a:xfrm>
          <a:prstGeom prst="rect">
            <a:avLst/>
          </a:prstGeom>
          <a:noFill/>
        </p:spPr>
        <p:txBody>
          <a:bodyPr wrap="square" lIns="0" tIns="0" rIns="0" bIns="0" anchor="t">
            <a:spAutoFit/>
          </a:bodyPr>
          <a:lstStyle/>
          <a:p>
            <a:pPr algn="l">
              <a:spcAft>
                <a:spcPts val="600"/>
              </a:spcAft>
            </a:pPr>
            <a:r>
              <a:rPr sz="2400" b="1" i="0">
                <a:solidFill>
                  <a:srgbClr val="000000"/>
                </a:solidFill>
                <a:latin typeface="Helvetica Neue"/>
                <a:ea typeface="Helvetica Neue"/>
                <a:cs typeface="Helvetica Neue"/>
              </a:rPr>
              <a:t>Where question 3 leads</a:t>
            </a:r>
          </a:p>
        </p:txBody>
      </p:sp>
      <p:sp>
        <p:nvSpPr>
          <p:cNvPr id="22" name="Card 1"/>
          <p:cNvSpPr/>
          <p:nvPr/>
        </p:nvSpPr>
        <p:spPr>
          <a:xfrm>
            <a:off x="1257300"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Card 1 text"/>
          <p:cNvSpPr txBox="1"/>
          <p:nvPr/>
        </p:nvSpPr>
        <p:spPr>
          <a:xfrm>
            <a:off x="1485900" y="7470648"/>
            <a:ext cx="3246120" cy="1783080"/>
          </a:xfrm>
          <a:prstGeom prst="rect">
            <a:avLst/>
          </a:prstGeom>
          <a:noFill/>
        </p:spPr>
        <p:txBody>
          <a:bodyPr wrap="square" lIns="0" tIns="0" rIns="0" bIns="0" anchor="t">
            <a:spAutoFit/>
          </a:bodyPr>
          <a:lstStyle/>
          <a:p>
            <a:pPr algn="l">
              <a:spcAft>
                <a:spcPts val="800"/>
              </a:spcAft>
            </a:pPr>
            <a:r>
              <a:rPr sz="2000" b="1" i="0">
                <a:solidFill>
                  <a:srgbClr val="000000"/>
                </a:solidFill>
                <a:latin typeface="Helvetica Neue"/>
                <a:ea typeface="Helvetica Neue"/>
                <a:cs typeface="Helvetica Neue"/>
              </a:rPr>
              <a:t>Remote access controls</a:t>
            </a:r>
          </a:p>
          <a:p>
            <a:pPr algn="l">
              <a:spcAft>
                <a:spcPts val="800"/>
              </a:spcAft>
            </a:pPr>
            <a:r>
              <a:rPr sz="1700" b="0" i="0">
                <a:solidFill>
                  <a:srgbClr val="000000"/>
                </a:solidFill>
                <a:latin typeface="Helvetica Neue"/>
                <a:ea typeface="Helvetica Neue"/>
                <a:cs typeface="Helvetica Neue"/>
              </a:rPr>
              <a:t>Approvals and audits, secure setup at both ends, strong authentication, vendor accounts on only when needed</a:t>
            </a:r>
          </a:p>
        </p:txBody>
      </p:sp>
      <p:sp>
        <p:nvSpPr>
          <p:cNvPr id="24" name="Card 2"/>
          <p:cNvSpPr/>
          <p:nvPr/>
        </p:nvSpPr>
        <p:spPr>
          <a:xfrm>
            <a:off x="5280659"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Card 2 text"/>
          <p:cNvSpPr txBox="1"/>
          <p:nvPr/>
        </p:nvSpPr>
        <p:spPr>
          <a:xfrm>
            <a:off x="5509259" y="7470648"/>
            <a:ext cx="3246120" cy="1783080"/>
          </a:xfrm>
          <a:prstGeom prst="rect">
            <a:avLst/>
          </a:prstGeom>
          <a:noFill/>
        </p:spPr>
        <p:txBody>
          <a:bodyPr wrap="square" lIns="0" tIns="0" rIns="0" bIns="0" anchor="t">
            <a:spAutoFit/>
          </a:bodyPr>
          <a:lstStyle/>
          <a:p>
            <a:pPr algn="l">
              <a:spcAft>
                <a:spcPts val="800"/>
              </a:spcAft>
            </a:pPr>
            <a:r>
              <a:rPr sz="2000" b="1" i="0">
                <a:solidFill>
                  <a:srgbClr val="000000"/>
                </a:solidFill>
                <a:latin typeface="Helvetica Neue"/>
                <a:ea typeface="Helvetica Neue"/>
                <a:cs typeface="Helvetica Neue"/>
              </a:rPr>
              <a:t>Logging and monitoring</a:t>
            </a:r>
          </a:p>
          <a:p>
            <a:pPr algn="l">
              <a:spcAft>
                <a:spcPts val="800"/>
              </a:spcAft>
            </a:pPr>
            <a:r>
              <a:rPr sz="1700" b="0" i="0">
                <a:solidFill>
                  <a:srgbClr val="000000"/>
                </a:solidFill>
                <a:latin typeface="Helvetica Neue"/>
                <a:ea typeface="Helvetica Neue"/>
                <a:cs typeface="Helvetica Neue"/>
              </a:rPr>
              <a:t>Remote sessions logged and watched, especially vendors and privileged users</a:t>
            </a:r>
          </a:p>
        </p:txBody>
      </p:sp>
      <p:sp>
        <p:nvSpPr>
          <p:cNvPr id="26" name="Card 3"/>
          <p:cNvSpPr/>
          <p:nvPr/>
        </p:nvSpPr>
        <p:spPr>
          <a:xfrm>
            <a:off x="9304019"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Card 3 text"/>
          <p:cNvSpPr txBox="1"/>
          <p:nvPr/>
        </p:nvSpPr>
        <p:spPr>
          <a:xfrm>
            <a:off x="9532619" y="7470648"/>
            <a:ext cx="3246120" cy="1783080"/>
          </a:xfrm>
          <a:prstGeom prst="rect">
            <a:avLst/>
          </a:prstGeom>
          <a:noFill/>
        </p:spPr>
        <p:txBody>
          <a:bodyPr wrap="square" lIns="0" tIns="0" rIns="0" bIns="0" anchor="t">
            <a:spAutoFit/>
          </a:bodyPr>
          <a:lstStyle/>
          <a:p>
            <a:pPr algn="l">
              <a:spcAft>
                <a:spcPts val="800"/>
              </a:spcAft>
            </a:pPr>
            <a:r>
              <a:rPr sz="2000" b="1" i="0">
                <a:solidFill>
                  <a:srgbClr val="000000"/>
                </a:solidFill>
                <a:latin typeface="Helvetica Neue"/>
                <a:ea typeface="Helvetica Neue"/>
                <a:cs typeface="Helvetica Neue"/>
              </a:rPr>
              <a:t>Policies</a:t>
            </a:r>
          </a:p>
          <a:p>
            <a:pPr algn="l">
              <a:spcAft>
                <a:spcPts val="800"/>
              </a:spcAft>
            </a:pPr>
            <a:r>
              <a:rPr sz="1700" b="0" i="0">
                <a:solidFill>
                  <a:srgbClr val="000000"/>
                </a:solidFill>
                <a:latin typeface="Helvetica Neue"/>
                <a:ea typeface="Helvetica Neue"/>
                <a:cs typeface="Helvetica Neue"/>
              </a:rPr>
              <a:t>Remote access, bring-your-own-device and bank-issued mobile device policies</a:t>
            </a:r>
          </a:p>
        </p:txBody>
      </p:sp>
      <p:sp>
        <p:nvSpPr>
          <p:cNvPr id="28" name="Card 4"/>
          <p:cNvSpPr/>
          <p:nvPr/>
        </p:nvSpPr>
        <p:spPr>
          <a:xfrm>
            <a:off x="13327380"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Card 4 text"/>
          <p:cNvSpPr txBox="1"/>
          <p:nvPr/>
        </p:nvSpPr>
        <p:spPr>
          <a:xfrm>
            <a:off x="13555980" y="7470648"/>
            <a:ext cx="3246120" cy="1783080"/>
          </a:xfrm>
          <a:prstGeom prst="rect">
            <a:avLst/>
          </a:prstGeom>
          <a:noFill/>
        </p:spPr>
        <p:txBody>
          <a:bodyPr wrap="square" lIns="0" tIns="0" rIns="0" bIns="0" anchor="t">
            <a:spAutoFit/>
          </a:bodyPr>
          <a:lstStyle/>
          <a:p>
            <a:pPr algn="l">
              <a:spcAft>
                <a:spcPts val="800"/>
              </a:spcAft>
            </a:pPr>
            <a:r>
              <a:rPr sz="2000" b="1" i="0">
                <a:solidFill>
                  <a:srgbClr val="000000"/>
                </a:solidFill>
                <a:latin typeface="Helvetica Neue"/>
                <a:ea typeface="Helvetica Neue"/>
                <a:cs typeface="Helvetica Neue"/>
              </a:rPr>
              <a:t>Business continuity</a:t>
            </a:r>
          </a:p>
          <a:p>
            <a:pPr algn="l">
              <a:spcAft>
                <a:spcPts val="800"/>
              </a:spcAft>
            </a:pPr>
            <a:r>
              <a:rPr sz="1700" b="0" i="0">
                <a:solidFill>
                  <a:srgbClr val="000000"/>
                </a:solidFill>
                <a:latin typeface="Helvetica Neue"/>
                <a:ea typeface="Helvetica Neue"/>
                <a:cs typeface="Helvetica Neue"/>
              </a:rPr>
              <a:t>Can staff still connect remotely when working from the backup site?</a:t>
            </a:r>
          </a:p>
        </p:txBody>
      </p:sp>
      <p:sp>
        <p:nvSpPr>
          <p:cNvPr id="30" name="Source note"/>
          <p:cNvSpPr txBox="1"/>
          <p:nvPr/>
        </p:nvSpPr>
        <p:spPr>
          <a:xfrm>
            <a:off x="1257300" y="9646920"/>
            <a:ext cx="15773400" cy="320040"/>
          </a:xfrm>
          <a:prstGeom prst="rect">
            <a:avLst/>
          </a:prstGeom>
          <a:noFill/>
        </p:spPr>
        <p:txBody>
          <a:bodyPr wrap="square" lIns="0" tIns="0" rIns="0" bIns="0" anchor="t">
            <a:spAutoFit/>
          </a:bodyPr>
          <a:lstStyle/>
          <a:p>
            <a:pPr algn="l">
              <a:spcAft>
                <a:spcPts val="600"/>
              </a:spcAft>
            </a:pPr>
            <a:r>
              <a:rPr sz="1300" b="0" i="0">
                <a:solidFill>
                  <a:srgbClr val="7F7F7F"/>
                </a:solidFill>
                <a:latin typeface="Helvetica Neue"/>
                <a:ea typeface="Helvetica Neue"/>
                <a:cs typeface="Helvetica Neue"/>
              </a:rPr>
              <a:t>Source: InTREx Information Technology Profile, Management and Support &amp; Delivery modules (September 2023 version)</a:t>
            </a:r>
          </a:p>
        </p:txBody>
      </p:sp>
    </p:spTree>
    <p:extLst>
      <p:ext uri="{BB962C8B-B14F-4D97-AF65-F5344CB8AC3E}">
        <p14:creationId xmlns:p14="http://schemas.microsoft.com/office/powerpoint/2010/main" val="11047264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Chapter 10: </a:t>
            </a:r>
            <a:br>
              <a:rPr lang="en-US" dirty="0"/>
            </a:br>
            <a:r>
              <a:rPr dirty="0"/>
              <a:t>Wireless</a:t>
            </a:r>
            <a:r>
              <a:rPr lang="en-US" dirty="0"/>
              <a:t> WANs</a:t>
            </a:r>
            <a:endParaRPr dirty="0"/>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6818A29-ECCA-0574-B47B-BABF34A26674}"/>
              </a:ext>
            </a:extLst>
          </p:cNvPr>
          <p:cNvSpPr>
            <a:spLocks noGrp="1"/>
          </p:cNvSpPr>
          <p:nvPr>
            <p:ph type="title"/>
          </p:nvPr>
        </p:nvSpPr>
        <p:spPr/>
        <p:txBody>
          <a:bodyPr/>
          <a:lstStyle/>
          <a:p>
            <a:r>
              <a:rPr lang="en-US"/>
              <a:t>Connecting to the Internet</a:t>
            </a:r>
          </a:p>
        </p:txBody>
      </p:sp>
      <p:sp>
        <p:nvSpPr>
          <p:cNvPr id="4" name="Content Placeholder 3">
            <a:extLst>
              <a:ext uri="{FF2B5EF4-FFF2-40B4-BE49-F238E27FC236}">
                <a16:creationId xmlns:a16="http://schemas.microsoft.com/office/drawing/2014/main" id="{6673A23B-F4A9-439C-6CA5-F96B3D192FC1}"/>
              </a:ext>
            </a:extLst>
          </p:cNvPr>
          <p:cNvSpPr>
            <a:spLocks noGrp="1"/>
          </p:cNvSpPr>
          <p:nvPr>
            <p:ph idx="1"/>
          </p:nvPr>
        </p:nvSpPr>
        <p:spPr/>
        <p:txBody>
          <a:bodyPr/>
          <a:lstStyle/>
          <a:p>
            <a:r>
              <a:rPr lang="en-US" dirty="0"/>
              <a:t>A wide variety of access options already discussed</a:t>
            </a:r>
          </a:p>
          <a:p>
            <a:pPr lvl="1"/>
            <a:r>
              <a:rPr lang="en-US" dirty="0"/>
              <a:t>DSL</a:t>
            </a:r>
          </a:p>
          <a:p>
            <a:pPr lvl="1"/>
            <a:r>
              <a:rPr lang="en-US" dirty="0"/>
              <a:t>Cable Modem</a:t>
            </a:r>
          </a:p>
          <a:p>
            <a:pPr lvl="1"/>
            <a:r>
              <a:rPr lang="en-US" dirty="0"/>
              <a:t>Ethernet</a:t>
            </a:r>
          </a:p>
          <a:p>
            <a:r>
              <a:rPr lang="en-US" dirty="0"/>
              <a:t>Wireless options have increasingly grown in access share</a:t>
            </a:r>
          </a:p>
          <a:p>
            <a:pPr lvl="1"/>
            <a:r>
              <a:rPr lang="en-US" dirty="0"/>
              <a:t>Mobile phones</a:t>
            </a:r>
          </a:p>
          <a:p>
            <a:pPr lvl="1"/>
            <a:r>
              <a:rPr lang="en-US" dirty="0"/>
              <a:t>Fixed wireless access</a:t>
            </a:r>
          </a:p>
          <a:p>
            <a:pPr lvl="2"/>
            <a:r>
              <a:rPr lang="en-US" dirty="0"/>
              <a:t>Mobile</a:t>
            </a:r>
          </a:p>
          <a:p>
            <a:pPr lvl="2"/>
            <a:r>
              <a:rPr lang="en-US" dirty="0"/>
              <a:t>Wi-Fi </a:t>
            </a:r>
          </a:p>
          <a:p>
            <a:pPr lvl="2"/>
            <a:r>
              <a:rPr lang="en-US" dirty="0"/>
              <a:t>Satellite</a:t>
            </a:r>
          </a:p>
          <a:p>
            <a:pPr lvl="2"/>
            <a:r>
              <a:rPr lang="en-US" dirty="0"/>
              <a:t>Terrestrial Microwave</a:t>
            </a:r>
          </a:p>
          <a:p>
            <a:pPr lvl="2"/>
            <a:endParaRPr lang="en-US" dirty="0"/>
          </a:p>
        </p:txBody>
      </p:sp>
    </p:spTree>
    <p:extLst>
      <p:ext uri="{BB962C8B-B14F-4D97-AF65-F5344CB8AC3E}">
        <p14:creationId xmlns:p14="http://schemas.microsoft.com/office/powerpoint/2010/main" val="14273829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A137C-7AC6-59CC-1522-EB5A629992D9}"/>
              </a:ext>
            </a:extLst>
          </p:cNvPr>
          <p:cNvSpPr>
            <a:spLocks noGrp="1"/>
          </p:cNvSpPr>
          <p:nvPr>
            <p:ph type="title"/>
          </p:nvPr>
        </p:nvSpPr>
        <p:spPr/>
        <p:txBody>
          <a:bodyPr/>
          <a:lstStyle/>
          <a:p>
            <a:r>
              <a:rPr lang="en-US" dirty="0"/>
              <a:t>Cellular (Mobile?) Networks</a:t>
            </a:r>
          </a:p>
        </p:txBody>
      </p:sp>
      <p:sp>
        <p:nvSpPr>
          <p:cNvPr id="3" name="Content Placeholder 2">
            <a:extLst>
              <a:ext uri="{FF2B5EF4-FFF2-40B4-BE49-F238E27FC236}">
                <a16:creationId xmlns:a16="http://schemas.microsoft.com/office/drawing/2014/main" id="{A04C1253-C54C-EB80-EF0A-F7AC3B2360D8}"/>
              </a:ext>
            </a:extLst>
          </p:cNvPr>
          <p:cNvSpPr>
            <a:spLocks noGrp="1"/>
          </p:cNvSpPr>
          <p:nvPr>
            <p:ph idx="1"/>
          </p:nvPr>
        </p:nvSpPr>
        <p:spPr>
          <a:xfrm>
            <a:off x="1257300" y="2193131"/>
            <a:ext cx="15773400" cy="7532996"/>
          </a:xfrm>
        </p:spPr>
        <p:txBody>
          <a:bodyPr>
            <a:normAutofit/>
          </a:bodyPr>
          <a:lstStyle/>
          <a:p>
            <a:r>
              <a:rPr lang="en-US" dirty="0"/>
              <a:t>Many similarities to Wi-Fi</a:t>
            </a:r>
          </a:p>
          <a:p>
            <a:pPr lvl="1"/>
            <a:r>
              <a:rPr lang="en-US" dirty="0"/>
              <a:t>Specific bands allocated for the service </a:t>
            </a:r>
          </a:p>
          <a:p>
            <a:pPr lvl="1"/>
            <a:r>
              <a:rPr lang="en-US" dirty="0"/>
              <a:t>Multiple generations of the technology with each improving performance</a:t>
            </a:r>
          </a:p>
          <a:p>
            <a:pPr lvl="1"/>
            <a:r>
              <a:rPr lang="en-US" dirty="0"/>
              <a:t>Bands vary by country and regulation</a:t>
            </a:r>
          </a:p>
          <a:p>
            <a:pPr lvl="1"/>
            <a:r>
              <a:rPr lang="en-US" dirty="0"/>
              <a:t>Current generations have added new bands to increase capacity</a:t>
            </a:r>
          </a:p>
          <a:p>
            <a:pPr lvl="1"/>
            <a:r>
              <a:rPr lang="en-US" dirty="0"/>
              <a:t>Frequency (channel in Wi-Fi) reuse provides coverage in a wide area</a:t>
            </a:r>
          </a:p>
          <a:p>
            <a:r>
              <a:rPr lang="en-US" dirty="0"/>
              <a:t>Some differences</a:t>
            </a:r>
          </a:p>
          <a:p>
            <a:pPr lvl="1"/>
            <a:r>
              <a:rPr lang="en-US" dirty="0"/>
              <a:t>Original application was voice, data added over time</a:t>
            </a:r>
          </a:p>
          <a:p>
            <a:pPr lvl="1"/>
            <a:r>
              <a:rPr lang="en-US" dirty="0"/>
              <a:t>Handoff between cells creates a WAN</a:t>
            </a:r>
          </a:p>
          <a:p>
            <a:pPr lvl="1"/>
            <a:r>
              <a:rPr lang="en-US" dirty="0"/>
              <a:t>Protocols to interconnect carrier networks part of the standards</a:t>
            </a:r>
          </a:p>
          <a:p>
            <a:pPr lvl="1"/>
            <a:r>
              <a:rPr lang="en-US" dirty="0"/>
              <a:t>Spectrum requires a license from the FCC</a:t>
            </a:r>
          </a:p>
          <a:p>
            <a:endParaRPr lang="en-US" dirty="0"/>
          </a:p>
        </p:txBody>
      </p:sp>
      <p:pic>
        <p:nvPicPr>
          <p:cNvPr id="4" name="Picture 4" descr="180px-DynaTAC8000X">
            <a:hlinkClick r:id="rId3" tooltip="Motorola DynaTAC 8000X AMPS mobile phone"/>
            <a:extLst>
              <a:ext uri="{FF2B5EF4-FFF2-40B4-BE49-F238E27FC236}">
                <a16:creationId xmlns:a16="http://schemas.microsoft.com/office/drawing/2014/main" id="{DD9E72DE-A856-90E8-3DD8-EBA291571D99}"/>
              </a:ext>
            </a:extLst>
          </p:cNvPr>
          <p:cNvPicPr>
            <a:picLocks noChangeAspect="1" noChangeArrowheads="1"/>
          </p:cNvPicPr>
          <p:nvPr/>
        </p:nvPicPr>
        <p:blipFill>
          <a:blip r:embed="rId4" cstate="print"/>
          <a:srcRect/>
          <a:stretch>
            <a:fillRect/>
          </a:stretch>
        </p:blipFill>
        <p:spPr bwMode="auto">
          <a:xfrm>
            <a:off x="16818397" y="6936624"/>
            <a:ext cx="1469603" cy="3264516"/>
          </a:xfrm>
          <a:prstGeom prst="rect">
            <a:avLst/>
          </a:prstGeom>
          <a:noFill/>
          <a:ln w="9525">
            <a:noFill/>
            <a:miter lim="800000"/>
            <a:headEnd/>
            <a:tailEnd/>
          </a:ln>
        </p:spPr>
      </p:pic>
    </p:spTree>
    <p:extLst>
      <p:ext uri="{BB962C8B-B14F-4D97-AF65-F5344CB8AC3E}">
        <p14:creationId xmlns:p14="http://schemas.microsoft.com/office/powerpoint/2010/main" val="4874955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DABFD-8287-740E-87AA-910A920A3399}"/>
              </a:ext>
            </a:extLst>
          </p:cNvPr>
          <p:cNvSpPr>
            <a:spLocks noGrp="1"/>
          </p:cNvSpPr>
          <p:nvPr>
            <p:ph type="title"/>
          </p:nvPr>
        </p:nvSpPr>
        <p:spPr/>
        <p:txBody>
          <a:bodyPr/>
          <a:lstStyle/>
          <a:p>
            <a:r>
              <a:rPr lang="en-US"/>
              <a:t>Cellular Network Evolution</a:t>
            </a:r>
          </a:p>
        </p:txBody>
      </p:sp>
      <p:sp>
        <p:nvSpPr>
          <p:cNvPr id="3" name="Content Placeholder 2">
            <a:extLst>
              <a:ext uri="{FF2B5EF4-FFF2-40B4-BE49-F238E27FC236}">
                <a16:creationId xmlns:a16="http://schemas.microsoft.com/office/drawing/2014/main" id="{979BC6DC-D997-B0E5-1FAB-56FC52CA106D}"/>
              </a:ext>
            </a:extLst>
          </p:cNvPr>
          <p:cNvSpPr>
            <a:spLocks noGrp="1"/>
          </p:cNvSpPr>
          <p:nvPr>
            <p:ph idx="1"/>
          </p:nvPr>
        </p:nvSpPr>
        <p:spPr/>
        <p:txBody>
          <a:bodyPr/>
          <a:lstStyle/>
          <a:p>
            <a:r>
              <a:rPr lang="en-US" dirty="0"/>
              <a:t>Analog to digital</a:t>
            </a:r>
          </a:p>
          <a:p>
            <a:r>
              <a:rPr lang="en-US" dirty="0"/>
              <a:t>Voice to data</a:t>
            </a:r>
          </a:p>
          <a:p>
            <a:pPr lvl="1"/>
            <a:r>
              <a:rPr lang="en-US" dirty="0"/>
              <a:t>Beginning to sound familiar?</a:t>
            </a:r>
          </a:p>
          <a:p>
            <a:r>
              <a:rPr lang="en-US" dirty="0"/>
              <a:t>Single frequency band to multiple bands (varies by country)</a:t>
            </a:r>
          </a:p>
          <a:p>
            <a:r>
              <a:rPr lang="en-US" dirty="0"/>
              <a:t>Multiple technology standards globally to one</a:t>
            </a:r>
          </a:p>
          <a:p>
            <a:r>
              <a:rPr lang="en-US" dirty="0"/>
              <a:t>Increased use of fixed wireless access (FWA) for residential and business internet access</a:t>
            </a:r>
          </a:p>
          <a:p>
            <a:r>
              <a:rPr lang="en-US" dirty="0"/>
              <a:t>Move to edge computing to support low latency applications (industrial controls and self-driving cars being examples)</a:t>
            </a:r>
          </a:p>
        </p:txBody>
      </p:sp>
    </p:spTree>
    <p:extLst>
      <p:ext uri="{BB962C8B-B14F-4D97-AF65-F5344CB8AC3E}">
        <p14:creationId xmlns:p14="http://schemas.microsoft.com/office/powerpoint/2010/main" val="1708313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5F4DD-9DBB-BE7A-32D5-02EC9A438F9F}"/>
              </a:ext>
            </a:extLst>
          </p:cNvPr>
          <p:cNvSpPr>
            <a:spLocks noGrp="1"/>
          </p:cNvSpPr>
          <p:nvPr>
            <p:ph type="title"/>
          </p:nvPr>
        </p:nvSpPr>
        <p:spPr/>
        <p:txBody>
          <a:bodyPr/>
          <a:lstStyle/>
          <a:p>
            <a:r>
              <a:rPr lang="en-US" dirty="0"/>
              <a:t>Why “Cellular”?</a:t>
            </a:r>
          </a:p>
        </p:txBody>
      </p:sp>
      <p:sp>
        <p:nvSpPr>
          <p:cNvPr id="3" name="Content Placeholder 2">
            <a:extLst>
              <a:ext uri="{FF2B5EF4-FFF2-40B4-BE49-F238E27FC236}">
                <a16:creationId xmlns:a16="http://schemas.microsoft.com/office/drawing/2014/main" id="{D49E03FF-434D-0A76-47EE-46399C4EE371}"/>
              </a:ext>
            </a:extLst>
          </p:cNvPr>
          <p:cNvSpPr>
            <a:spLocks noGrp="1"/>
          </p:cNvSpPr>
          <p:nvPr>
            <p:ph idx="1"/>
          </p:nvPr>
        </p:nvSpPr>
        <p:spPr>
          <a:xfrm>
            <a:off x="770605" y="2856808"/>
            <a:ext cx="6906546" cy="6967198"/>
          </a:xfrm>
        </p:spPr>
        <p:txBody>
          <a:bodyPr/>
          <a:lstStyle/>
          <a:p>
            <a:r>
              <a:rPr lang="en-US" dirty="0"/>
              <a:t>Cells defined by antennas and base stations</a:t>
            </a:r>
          </a:p>
          <a:p>
            <a:r>
              <a:rPr lang="en-US" dirty="0"/>
              <a:t>Frequency reuse between base stations</a:t>
            </a:r>
          </a:p>
          <a:p>
            <a:r>
              <a:rPr lang="en-US" dirty="0"/>
              <a:t>Base station to base station handoff</a:t>
            </a:r>
          </a:p>
          <a:p>
            <a:r>
              <a:rPr lang="en-US" dirty="0"/>
              <a:t>Base station connection to voice and internet at Mobile Switching Center</a:t>
            </a:r>
          </a:p>
        </p:txBody>
      </p:sp>
      <p:pic>
        <p:nvPicPr>
          <p:cNvPr id="4" name="Picture 3" descr="G2240_Cell-Concept">
            <a:extLst>
              <a:ext uri="{FF2B5EF4-FFF2-40B4-BE49-F238E27FC236}">
                <a16:creationId xmlns:a16="http://schemas.microsoft.com/office/drawing/2014/main" id="{33639F3E-6D67-477E-8297-1AD387E48213}"/>
              </a:ext>
            </a:extLst>
          </p:cNvPr>
          <p:cNvPicPr>
            <a:picLocks noChangeAspect="1" noChangeArrowheads="1"/>
          </p:cNvPicPr>
          <p:nvPr/>
        </p:nvPicPr>
        <p:blipFill>
          <a:blip r:embed="rId2" cstate="print"/>
          <a:srcRect/>
          <a:stretch>
            <a:fillRect/>
          </a:stretch>
        </p:blipFill>
        <p:spPr bwMode="auto">
          <a:xfrm>
            <a:off x="7924731" y="3087011"/>
            <a:ext cx="10094830" cy="5417126"/>
          </a:xfrm>
          <a:prstGeom prst="rect">
            <a:avLst/>
          </a:prstGeom>
          <a:noFill/>
        </p:spPr>
      </p:pic>
    </p:spTree>
    <p:extLst>
      <p:ext uri="{BB962C8B-B14F-4D97-AF65-F5344CB8AC3E}">
        <p14:creationId xmlns:p14="http://schemas.microsoft.com/office/powerpoint/2010/main" val="38750995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671F4-8AE8-8047-B168-4DC0FDD275D7}"/>
              </a:ext>
            </a:extLst>
          </p:cNvPr>
          <p:cNvSpPr>
            <a:spLocks noGrp="1"/>
          </p:cNvSpPr>
          <p:nvPr>
            <p:ph type="title"/>
          </p:nvPr>
        </p:nvSpPr>
        <p:spPr/>
        <p:txBody>
          <a:bodyPr/>
          <a:lstStyle/>
          <a:p>
            <a:r>
              <a:rPr lang="en-US" dirty="0"/>
              <a:t>5G</a:t>
            </a:r>
          </a:p>
        </p:txBody>
      </p:sp>
      <p:sp>
        <p:nvSpPr>
          <p:cNvPr id="3" name="Content Placeholder 2">
            <a:extLst>
              <a:ext uri="{FF2B5EF4-FFF2-40B4-BE49-F238E27FC236}">
                <a16:creationId xmlns:a16="http://schemas.microsoft.com/office/drawing/2014/main" id="{C7A0CB7A-CD4A-FD4B-B286-51E219B4CAF2}"/>
              </a:ext>
            </a:extLst>
          </p:cNvPr>
          <p:cNvSpPr>
            <a:spLocks noGrp="1"/>
          </p:cNvSpPr>
          <p:nvPr>
            <p:ph idx="1"/>
          </p:nvPr>
        </p:nvSpPr>
        <p:spPr>
          <a:xfrm>
            <a:off x="1257300" y="2193131"/>
            <a:ext cx="16021297" cy="6967198"/>
          </a:xfrm>
        </p:spPr>
        <p:txBody>
          <a:bodyPr>
            <a:normAutofit/>
          </a:bodyPr>
          <a:lstStyle/>
          <a:p>
            <a:r>
              <a:rPr lang="en-US" dirty="0"/>
              <a:t>The current generation of cellular wireless</a:t>
            </a:r>
          </a:p>
          <a:p>
            <a:pPr lvl="1"/>
            <a:r>
              <a:rPr lang="en-US" dirty="0"/>
              <a:t>Widely deployed in urban and suburban environments</a:t>
            </a:r>
          </a:p>
          <a:p>
            <a:pPr lvl="1"/>
            <a:r>
              <a:rPr lang="en-US" dirty="0"/>
              <a:t>Rural areas lagging, as usual (it’s expensive)</a:t>
            </a:r>
          </a:p>
          <a:p>
            <a:pPr lvl="1"/>
            <a:r>
              <a:rPr lang="en-US" dirty="0"/>
              <a:t>Lots of variations in 5G deployments globally</a:t>
            </a:r>
          </a:p>
          <a:p>
            <a:r>
              <a:rPr lang="en-US" dirty="0"/>
              <a:t>Key changes from 4G</a:t>
            </a:r>
          </a:p>
          <a:p>
            <a:pPr lvl="1"/>
            <a:r>
              <a:rPr lang="en-US" dirty="0"/>
              <a:t>New modulation schemes</a:t>
            </a:r>
          </a:p>
          <a:p>
            <a:pPr lvl="1"/>
            <a:r>
              <a:rPr lang="en-US" dirty="0"/>
              <a:t>More frequency bands</a:t>
            </a:r>
          </a:p>
          <a:p>
            <a:pPr lvl="1"/>
            <a:r>
              <a:rPr lang="en-US" dirty="0"/>
              <a:t>Higher speeds</a:t>
            </a:r>
          </a:p>
          <a:p>
            <a:pPr lvl="1"/>
            <a:r>
              <a:rPr lang="en-US" dirty="0"/>
              <a:t>Lower latency</a:t>
            </a:r>
          </a:p>
          <a:p>
            <a:pPr lvl="1"/>
            <a:r>
              <a:rPr lang="en-US" dirty="0"/>
              <a:t>Fixed wireless options</a:t>
            </a:r>
          </a:p>
          <a:p>
            <a:pPr lvl="1"/>
            <a:r>
              <a:rPr lang="en-US" dirty="0"/>
              <a:t>Internet of Things (IoT) support</a:t>
            </a:r>
          </a:p>
        </p:txBody>
      </p:sp>
      <p:pic>
        <p:nvPicPr>
          <p:cNvPr id="5" name="Picture 4" descr="A picture containing text, font&#10;&#10;Description automatically generated">
            <a:extLst>
              <a:ext uri="{FF2B5EF4-FFF2-40B4-BE49-F238E27FC236}">
                <a16:creationId xmlns:a16="http://schemas.microsoft.com/office/drawing/2014/main" id="{BAFD59DF-9387-9CFC-13FF-754FA7123C5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542883" y="2849123"/>
            <a:ext cx="8745117" cy="8745117"/>
          </a:xfrm>
          <a:prstGeom prst="rect">
            <a:avLst/>
          </a:prstGeom>
        </p:spPr>
      </p:pic>
    </p:spTree>
    <p:extLst>
      <p:ext uri="{BB962C8B-B14F-4D97-AF65-F5344CB8AC3E}">
        <p14:creationId xmlns:p14="http://schemas.microsoft.com/office/powerpoint/2010/main" val="21714187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Fixed Wireless Internet</a:t>
            </a:r>
          </a:p>
        </p:txBody>
      </p:sp>
      <p:sp>
        <p:nvSpPr>
          <p:cNvPr id="3" name="Kinds heading"/>
          <p:cNvSpPr txBox="1"/>
          <p:nvPr/>
        </p:nvSpPr>
        <p:spPr>
          <a:xfrm>
            <a:off x="1257300" y="2514600"/>
            <a:ext cx="9235440" cy="45720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Internet delivered by radio to a building that doesn’t move</a:t>
            </a:r>
          </a:p>
        </p:txBody>
      </p:sp>
      <p:sp>
        <p:nvSpPr>
          <p:cNvPr id="4" name="Kind 1 marker"/>
          <p:cNvSpPr/>
          <p:nvPr/>
        </p:nvSpPr>
        <p:spPr>
          <a:xfrm>
            <a:off x="1257300" y="3227832"/>
            <a:ext cx="384048" cy="384048"/>
          </a:xfrm>
          <a:prstGeom prst="ellipse">
            <a:avLst/>
          </a:prstGeom>
          <a:solidFill>
            <a:srgbClr val="000000"/>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1</a:t>
            </a:r>
          </a:p>
        </p:txBody>
      </p:sp>
      <p:sp>
        <p:nvSpPr>
          <p:cNvPr id="5" name="Kind 1"/>
          <p:cNvSpPr txBox="1"/>
          <p:nvPr/>
        </p:nvSpPr>
        <p:spPr>
          <a:xfrm>
            <a:off x="1851660" y="3154680"/>
            <a:ext cx="8641080" cy="569387"/>
          </a:xfrm>
          <a:prstGeom prst="rect">
            <a:avLst/>
          </a:prstGeom>
          <a:noFill/>
        </p:spPr>
        <p:txBody>
          <a:bodyPr wrap="square" lIns="0" tIns="0" rIns="0" bIns="0" anchor="t">
            <a:spAutoFit/>
          </a:bodyPr>
          <a:lstStyle/>
          <a:p>
            <a:pPr algn="l">
              <a:spcAft>
                <a:spcPts val="0"/>
              </a:spcAft>
            </a:pPr>
            <a:r>
              <a:rPr sz="2000" b="1" i="0" dirty="0">
                <a:solidFill>
                  <a:srgbClr val="000000"/>
                </a:solidFill>
                <a:latin typeface="Helvetica Neue"/>
                <a:ea typeface="Helvetica Neue"/>
                <a:cs typeface="Helvetica Neue"/>
              </a:rPr>
              <a:t>Cellular 4G / 5G</a:t>
            </a:r>
          </a:p>
          <a:p>
            <a:pPr algn="l">
              <a:spcAft>
                <a:spcPts val="0"/>
              </a:spcAft>
            </a:pPr>
            <a:r>
              <a:rPr sz="1700" b="0" i="0" dirty="0">
                <a:solidFill>
                  <a:srgbClr val="000000"/>
                </a:solidFill>
                <a:latin typeface="Helvetica Neue"/>
                <a:ea typeface="Helvetica Neue"/>
                <a:cs typeface="Helvetica Neue"/>
              </a:rPr>
              <a:t>A carrier’s box in the window or </a:t>
            </a:r>
            <a:r>
              <a:rPr lang="en-US" sz="1700" dirty="0">
                <a:solidFill>
                  <a:srgbClr val="000000"/>
                </a:solidFill>
                <a:latin typeface="Helvetica Neue"/>
                <a:ea typeface="Helvetica Neue"/>
                <a:cs typeface="Helvetica Neue"/>
              </a:rPr>
              <a:t>outside</a:t>
            </a:r>
            <a:r>
              <a:rPr sz="1700" b="0" i="0" dirty="0">
                <a:solidFill>
                  <a:srgbClr val="000000"/>
                </a:solidFill>
                <a:latin typeface="Helvetica Neue"/>
                <a:ea typeface="Helvetica Neue"/>
                <a:cs typeface="Helvetica Neue"/>
              </a:rPr>
              <a:t>, using the cellular network</a:t>
            </a:r>
          </a:p>
        </p:txBody>
      </p:sp>
      <p:sp>
        <p:nvSpPr>
          <p:cNvPr id="6" name="Kind 2 marker"/>
          <p:cNvSpPr/>
          <p:nvPr/>
        </p:nvSpPr>
        <p:spPr>
          <a:xfrm>
            <a:off x="1257300" y="3941064"/>
            <a:ext cx="384048" cy="384048"/>
          </a:xfrm>
          <a:prstGeom prst="ellipse">
            <a:avLst/>
          </a:prstGeom>
          <a:solidFill>
            <a:srgbClr val="000000"/>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2</a:t>
            </a:r>
          </a:p>
        </p:txBody>
      </p:sp>
      <p:sp>
        <p:nvSpPr>
          <p:cNvPr id="7" name="Kind 2"/>
          <p:cNvSpPr txBox="1"/>
          <p:nvPr/>
        </p:nvSpPr>
        <p:spPr>
          <a:xfrm>
            <a:off x="1851660" y="3867912"/>
            <a:ext cx="8641080" cy="640080"/>
          </a:xfrm>
          <a:prstGeom prst="rect">
            <a:avLst/>
          </a:prstGeom>
          <a:noFill/>
        </p:spPr>
        <p:txBody>
          <a:bodyPr wrap="square" lIns="0" tIns="0" rIns="0" bIns="0" anchor="t">
            <a:spAutoFit/>
          </a:bodyPr>
          <a:lstStyle/>
          <a:p>
            <a:pPr algn="l">
              <a:spcAft>
                <a:spcPts val="0"/>
              </a:spcAft>
            </a:pPr>
            <a:r>
              <a:rPr sz="2000" b="1" i="0">
                <a:solidFill>
                  <a:srgbClr val="000000"/>
                </a:solidFill>
                <a:latin typeface="Helvetica Neue"/>
                <a:ea typeface="Helvetica Neue"/>
                <a:cs typeface="Helvetica Neue"/>
              </a:rPr>
              <a:t>Local wireless ISP</a:t>
            </a:r>
          </a:p>
          <a:p>
            <a:pPr algn="l">
              <a:spcAft>
                <a:spcPts val="0"/>
              </a:spcAft>
            </a:pPr>
            <a:r>
              <a:rPr sz="1700" b="0" i="0">
                <a:solidFill>
                  <a:srgbClr val="000000"/>
                </a:solidFill>
                <a:latin typeface="Helvetica Neue"/>
                <a:ea typeface="Helvetica Neue"/>
                <a:cs typeface="Helvetica Neue"/>
              </a:rPr>
              <a:t>A rooftop antenna aimed at the provider’s tower; common in rural areas</a:t>
            </a:r>
          </a:p>
        </p:txBody>
      </p:sp>
      <p:sp>
        <p:nvSpPr>
          <p:cNvPr id="8" name="Kind 3 marker"/>
          <p:cNvSpPr/>
          <p:nvPr/>
        </p:nvSpPr>
        <p:spPr>
          <a:xfrm>
            <a:off x="1257300" y="4654296"/>
            <a:ext cx="384048" cy="384048"/>
          </a:xfrm>
          <a:prstGeom prst="ellipse">
            <a:avLst/>
          </a:prstGeom>
          <a:solidFill>
            <a:srgbClr val="000000"/>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3</a:t>
            </a:r>
          </a:p>
        </p:txBody>
      </p:sp>
      <p:sp>
        <p:nvSpPr>
          <p:cNvPr id="9" name="Kind 3"/>
          <p:cNvSpPr txBox="1"/>
          <p:nvPr/>
        </p:nvSpPr>
        <p:spPr>
          <a:xfrm>
            <a:off x="1851660" y="4581144"/>
            <a:ext cx="8641080" cy="640080"/>
          </a:xfrm>
          <a:prstGeom prst="rect">
            <a:avLst/>
          </a:prstGeom>
          <a:noFill/>
        </p:spPr>
        <p:txBody>
          <a:bodyPr wrap="square" lIns="0" tIns="0" rIns="0" bIns="0" anchor="t">
            <a:spAutoFit/>
          </a:bodyPr>
          <a:lstStyle/>
          <a:p>
            <a:pPr algn="l">
              <a:spcAft>
                <a:spcPts val="0"/>
              </a:spcAft>
            </a:pPr>
            <a:r>
              <a:rPr sz="2000" b="1" i="0">
                <a:solidFill>
                  <a:srgbClr val="000000"/>
                </a:solidFill>
                <a:latin typeface="Helvetica Neue"/>
                <a:ea typeface="Helvetica Neue"/>
                <a:cs typeface="Helvetica Neue"/>
              </a:rPr>
              <a:t>Point-to-point link</a:t>
            </a:r>
          </a:p>
          <a:p>
            <a:pPr algn="l">
              <a:spcAft>
                <a:spcPts val="0"/>
              </a:spcAft>
            </a:pPr>
            <a:r>
              <a:rPr sz="1700" b="0" i="0">
                <a:solidFill>
                  <a:srgbClr val="000000"/>
                </a:solidFill>
                <a:latin typeface="Helvetica Neue"/>
                <a:ea typeface="Helvetica Neue"/>
                <a:cs typeface="Helvetica Neue"/>
              </a:rPr>
              <a:t>The bank’s own radio link between two buildings in line of sight</a:t>
            </a:r>
          </a:p>
        </p:txBody>
      </p:sp>
      <p:sp>
        <p:nvSpPr>
          <p:cNvPr id="10" name="Why banks use it"/>
          <p:cNvSpPr txBox="1"/>
          <p:nvPr/>
        </p:nvSpPr>
        <p:spPr>
          <a:xfrm>
            <a:off x="1257300" y="5532120"/>
            <a:ext cx="4297680" cy="1703030"/>
          </a:xfrm>
          <a:prstGeom prst="rect">
            <a:avLst/>
          </a:prstGeom>
          <a:noFill/>
        </p:spPr>
        <p:txBody>
          <a:bodyPr wrap="square" lIns="0" tIns="0" rIns="0" bIns="0">
            <a:spAutoFit/>
          </a:bodyPr>
          <a:lstStyle/>
          <a:p>
            <a:pPr>
              <a:spcAft>
                <a:spcPts val="800"/>
              </a:spcAft>
            </a:pPr>
            <a:r>
              <a:rPr sz="2200" b="1" i="0" dirty="0">
                <a:solidFill>
                  <a:srgbClr val="000000"/>
                </a:solidFill>
                <a:latin typeface="Helvetica Neue"/>
                <a:ea typeface="Helvetica Neue"/>
                <a:cs typeface="Helvetica Neue"/>
              </a:rPr>
              <a:t>Why banks </a:t>
            </a:r>
            <a:r>
              <a:rPr lang="en-US" sz="2200" b="1" i="0" dirty="0">
                <a:solidFill>
                  <a:srgbClr val="000000"/>
                </a:solidFill>
                <a:latin typeface="Helvetica Neue"/>
                <a:ea typeface="Helvetica Neue"/>
                <a:cs typeface="Helvetica Neue"/>
              </a:rPr>
              <a:t>might </a:t>
            </a:r>
            <a:r>
              <a:rPr sz="2200" b="1" i="0" dirty="0">
                <a:solidFill>
                  <a:srgbClr val="000000"/>
                </a:solidFill>
                <a:latin typeface="Helvetica Neue"/>
                <a:ea typeface="Helvetica Neue"/>
                <a:cs typeface="Helvetica Neue"/>
              </a:rPr>
              <a:t>use it</a:t>
            </a:r>
          </a:p>
          <a:p>
            <a:pPr marL="274320" indent="-274320">
              <a:spcAft>
                <a:spcPts val="600"/>
              </a:spcAft>
              <a:buFont typeface="Arial"/>
              <a:buChar char="•"/>
            </a:pPr>
            <a:r>
              <a:rPr sz="1800" b="0" i="0" dirty="0">
                <a:solidFill>
                  <a:srgbClr val="000000"/>
                </a:solidFill>
                <a:latin typeface="Helvetica Neue"/>
                <a:ea typeface="Helvetica Neue"/>
                <a:cs typeface="Helvetica Neue"/>
              </a:rPr>
              <a:t>The best option at some rural branches</a:t>
            </a:r>
          </a:p>
          <a:p>
            <a:pPr marL="274320" indent="-274320">
              <a:spcAft>
                <a:spcPts val="600"/>
              </a:spcAft>
              <a:buFont typeface="Arial"/>
              <a:buChar char="•"/>
            </a:pPr>
            <a:r>
              <a:rPr sz="1800" b="0" i="0" dirty="0">
                <a:solidFill>
                  <a:srgbClr val="000000"/>
                </a:solidFill>
                <a:latin typeface="Helvetica Neue"/>
                <a:ea typeface="Helvetica Neue"/>
                <a:cs typeface="Helvetica Neue"/>
              </a:rPr>
              <a:t>Fails differently from wireline, so it makes a natural backup</a:t>
            </a:r>
          </a:p>
          <a:p>
            <a:pPr marL="274320" indent="-274320">
              <a:spcAft>
                <a:spcPts val="600"/>
              </a:spcAft>
              <a:buFont typeface="Arial"/>
              <a:buChar char="•"/>
            </a:pPr>
            <a:r>
              <a:rPr sz="1800" b="0" i="0" dirty="0">
                <a:solidFill>
                  <a:srgbClr val="000000"/>
                </a:solidFill>
                <a:latin typeface="Helvetica Neue"/>
                <a:ea typeface="Helvetica Neue"/>
                <a:cs typeface="Helvetica Neue"/>
              </a:rPr>
              <a:t>Installed in days, not months</a:t>
            </a:r>
          </a:p>
        </p:txBody>
      </p:sp>
      <p:sp>
        <p:nvSpPr>
          <p:cNvPr id="11" name="What to watch"/>
          <p:cNvSpPr txBox="1"/>
          <p:nvPr/>
        </p:nvSpPr>
        <p:spPr>
          <a:xfrm>
            <a:off x="6012180" y="5532120"/>
            <a:ext cx="4480560" cy="3931920"/>
          </a:xfrm>
          <a:prstGeom prst="rect">
            <a:avLst/>
          </a:prstGeom>
          <a:noFill/>
        </p:spPr>
        <p:txBody>
          <a:bodyPr wrap="square" lIns="0" tIns="0" rIns="0" bIns="0">
            <a:spAutoFit/>
          </a:bodyPr>
          <a:lstStyle/>
          <a:p>
            <a:pPr>
              <a:spcAft>
                <a:spcPts val="800"/>
              </a:spcAft>
            </a:pPr>
            <a:r>
              <a:rPr sz="2200" b="1" i="0">
                <a:solidFill>
                  <a:srgbClr val="000000"/>
                </a:solidFill>
                <a:latin typeface="Helvetica Neue"/>
                <a:ea typeface="Helvetica Neue"/>
                <a:cs typeface="Helvetica Neue"/>
              </a:rPr>
              <a:t>What to watch</a:t>
            </a:r>
          </a:p>
          <a:p>
            <a:pPr marL="274320" indent="-274320">
              <a:spcAft>
                <a:spcPts val="600"/>
              </a:spcAft>
              <a:buFont typeface="Arial"/>
              <a:buChar char="•"/>
            </a:pPr>
            <a:r>
              <a:rPr sz="1800" b="0" i="0">
                <a:solidFill>
                  <a:srgbClr val="000000"/>
                </a:solidFill>
                <a:latin typeface="Helvetica Neue"/>
                <a:ea typeface="Helvetica Neue"/>
                <a:cs typeface="Helvetica Neue"/>
              </a:rPr>
              <a:t>Line of sight and weather</a:t>
            </a:r>
          </a:p>
          <a:p>
            <a:pPr marL="274320" indent="-274320">
              <a:spcAft>
                <a:spcPts val="600"/>
              </a:spcAft>
              <a:buFont typeface="Arial"/>
              <a:buChar char="•"/>
            </a:pPr>
            <a:r>
              <a:rPr sz="1800" b="0" i="0">
                <a:solidFill>
                  <a:srgbClr val="000000"/>
                </a:solidFill>
                <a:latin typeface="Helvetica Neue"/>
                <a:ea typeface="Helvetica Neue"/>
                <a:cs typeface="Helvetica Neue"/>
              </a:rPr>
              <a:t>Shared capacity; on cellular it may get lower priority than phones</a:t>
            </a:r>
          </a:p>
          <a:p>
            <a:pPr marL="274320" indent="-274320">
              <a:spcAft>
                <a:spcPts val="600"/>
              </a:spcAft>
              <a:buFont typeface="Arial"/>
              <a:buChar char="•"/>
            </a:pPr>
            <a:r>
              <a:rPr sz="1800" b="0" i="0">
                <a:solidFill>
                  <a:srgbClr val="000000"/>
                </a:solidFill>
                <a:latin typeface="Helvetica Neue"/>
                <a:ea typeface="Helvetica Neue"/>
                <a:cs typeface="Helvetica Neue"/>
              </a:rPr>
              <a:t>Consumer terms: no SLA, no static IP</a:t>
            </a:r>
          </a:p>
          <a:p>
            <a:pPr marL="274320" indent="-274320">
              <a:spcAft>
                <a:spcPts val="600"/>
              </a:spcAft>
              <a:buFont typeface="Arial"/>
              <a:buChar char="•"/>
            </a:pPr>
            <a:r>
              <a:rPr sz="1800" b="0" i="0">
                <a:solidFill>
                  <a:srgbClr val="000000"/>
                </a:solidFill>
                <a:latin typeface="Helvetica Neue"/>
                <a:ea typeface="Helvetica Neue"/>
                <a:cs typeface="Helvetica Neue"/>
              </a:rPr>
              <a:t>The tower may ride the same fiber as the bank’s wireline provider</a:t>
            </a:r>
          </a:p>
        </p:txBody>
      </p:sp>
      <p:sp>
        <p:nvSpPr>
          <p:cNvPr id="12" name="Photo placeholder"/>
          <p:cNvSpPr/>
          <p:nvPr/>
        </p:nvSpPr>
        <p:spPr>
          <a:xfrm>
            <a:off x="10972800" y="2606040"/>
            <a:ext cx="6035040" cy="4206240"/>
          </a:xfrm>
          <a:prstGeom prst="rect">
            <a:avLst/>
          </a:prstGeom>
          <a:solidFill>
            <a:srgbClr val="F2F2F2"/>
          </a:solidFill>
          <a:ln w="1905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4" name="Questions panel"/>
          <p:cNvSpPr/>
          <p:nvPr/>
        </p:nvSpPr>
        <p:spPr>
          <a:xfrm>
            <a:off x="10972800" y="7086600"/>
            <a:ext cx="6035040" cy="237744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Examiner questions"/>
          <p:cNvSpPr txBox="1"/>
          <p:nvPr/>
        </p:nvSpPr>
        <p:spPr>
          <a:xfrm>
            <a:off x="11292840" y="7269480"/>
            <a:ext cx="5394959" cy="2103120"/>
          </a:xfrm>
          <a:prstGeom prst="rect">
            <a:avLst/>
          </a:prstGeom>
          <a:noFill/>
        </p:spPr>
        <p:txBody>
          <a:bodyPr wrap="square" lIns="0" tIns="0" rIns="0" bIns="0">
            <a:spAutoFit/>
          </a:bodyPr>
          <a:lstStyle/>
          <a:p>
            <a:pPr>
              <a:spcAft>
                <a:spcPts val="800"/>
              </a:spcAft>
            </a:pPr>
            <a:r>
              <a:rPr sz="2200" b="1" i="0">
                <a:solidFill>
                  <a:srgbClr val="000000"/>
                </a:solidFill>
                <a:latin typeface="Helvetica Neue"/>
                <a:ea typeface="Helvetica Neue"/>
                <a:cs typeface="Helvetica Neue"/>
              </a:rPr>
              <a:t>Examiner questions</a:t>
            </a:r>
          </a:p>
          <a:p>
            <a:pPr marL="274320" indent="-274320">
              <a:spcAft>
                <a:spcPts val="600"/>
              </a:spcAft>
              <a:buFont typeface="Arial"/>
              <a:buChar char="•"/>
            </a:pPr>
            <a:r>
              <a:rPr sz="1800" b="0" i="0">
                <a:solidFill>
                  <a:srgbClr val="000000"/>
                </a:solidFill>
                <a:latin typeface="Helvetica Neue"/>
                <a:ea typeface="Helvetica Neue"/>
                <a:cs typeface="Helvetica Neue"/>
              </a:rPr>
              <a:t>Is it the primary connection or the backup?</a:t>
            </a:r>
          </a:p>
          <a:p>
            <a:pPr marL="274320" indent="-274320">
              <a:spcAft>
                <a:spcPts val="600"/>
              </a:spcAft>
              <a:buFont typeface="Arial"/>
              <a:buChar char="•"/>
            </a:pPr>
            <a:r>
              <a:rPr sz="1800" b="0" i="0">
                <a:solidFill>
                  <a:srgbClr val="000000"/>
                </a:solidFill>
                <a:latin typeface="Helvetica Neue"/>
                <a:ea typeface="Helvetica Neue"/>
                <a:cs typeface="Helvetica Neue"/>
              </a:rPr>
              <a:t>A business plan with an SLA?</a:t>
            </a:r>
          </a:p>
          <a:p>
            <a:pPr marL="274320" indent="-274320">
              <a:spcAft>
                <a:spcPts val="600"/>
              </a:spcAft>
              <a:buFont typeface="Arial"/>
              <a:buChar char="•"/>
            </a:pPr>
            <a:r>
              <a:rPr sz="1800" b="0" i="0">
                <a:solidFill>
                  <a:srgbClr val="000000"/>
                </a:solidFill>
                <a:latin typeface="Helvetica Neue"/>
                <a:ea typeface="Helvetica Neue"/>
                <a:cs typeface="Helvetica Neue"/>
              </a:rPr>
              <a:t>Can it carry the branch if the wireline fails?</a:t>
            </a:r>
          </a:p>
        </p:txBody>
      </p:sp>
      <p:pic>
        <p:nvPicPr>
          <p:cNvPr id="17" name="Picture 16" descr="A white rectangular object on a metal building&#10;&#10;AI-generated content may be incorrect.">
            <a:extLst>
              <a:ext uri="{FF2B5EF4-FFF2-40B4-BE49-F238E27FC236}">
                <a16:creationId xmlns:a16="http://schemas.microsoft.com/office/drawing/2014/main" id="{854C07CB-8955-FA09-E576-44175DBA0A86}"/>
              </a:ext>
            </a:extLst>
          </p:cNvPr>
          <p:cNvPicPr>
            <a:picLocks noChangeAspect="1"/>
          </p:cNvPicPr>
          <p:nvPr/>
        </p:nvPicPr>
        <p:blipFill>
          <a:blip r:embed="rId3"/>
          <a:stretch>
            <a:fillRect/>
          </a:stretch>
        </p:blipFill>
        <p:spPr>
          <a:xfrm>
            <a:off x="10949940" y="2257903"/>
            <a:ext cx="6080760" cy="4623820"/>
          </a:xfrm>
          <a:prstGeom prst="rect">
            <a:avLst/>
          </a:prstGeom>
        </p:spPr>
      </p:pic>
    </p:spTree>
    <p:extLst>
      <p:ext uri="{BB962C8B-B14F-4D97-AF65-F5344CB8AC3E}">
        <p14:creationId xmlns:p14="http://schemas.microsoft.com/office/powerpoint/2010/main" val="37686158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arth"/>
          <p:cNvSpPr/>
          <p:nvPr/>
        </p:nvSpPr>
        <p:spPr>
          <a:xfrm>
            <a:off x="-3291840" y="8549640"/>
            <a:ext cx="16093440" cy="8229600"/>
          </a:xfrm>
          <a:prstGeom prst="ellipse">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sz="6600" b="1" i="0" dirty="0">
                <a:solidFill>
                  <a:srgbClr val="000000"/>
                </a:solidFill>
                <a:latin typeface="Helvetica Neue Condensed Bold"/>
                <a:ea typeface="Helvetica Neue Condensed Bold"/>
                <a:cs typeface="Helvetica Neue Condensed Bold"/>
              </a:rPr>
              <a:t>Starlink: Satellite Internet</a:t>
            </a:r>
          </a:p>
        </p:txBody>
      </p:sp>
      <p:pic>
        <p:nvPicPr>
          <p:cNvPr id="4" name="Branch"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54480" y="7818120"/>
            <a:ext cx="914400" cy="914400"/>
          </a:xfrm>
          <a:prstGeom prst="rect">
            <a:avLst/>
          </a:prstGeom>
        </p:spPr>
      </p:pic>
      <p:pic>
        <p:nvPicPr>
          <p:cNvPr id="5" name="Branch dish"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20340" y="7932420"/>
            <a:ext cx="685800" cy="685800"/>
          </a:xfrm>
          <a:prstGeom prst="rect">
            <a:avLst/>
          </a:prstGeom>
        </p:spPr>
      </p:pic>
      <p:sp>
        <p:nvSpPr>
          <p:cNvPr id="6" name="Branch label"/>
          <p:cNvSpPr txBox="1"/>
          <p:nvPr/>
        </p:nvSpPr>
        <p:spPr>
          <a:xfrm>
            <a:off x="822960" y="8796528"/>
            <a:ext cx="3291840" cy="640080"/>
          </a:xfrm>
          <a:prstGeom prst="rect">
            <a:avLst/>
          </a:prstGeom>
          <a:noFill/>
        </p:spPr>
        <p:txBody>
          <a:bodyPr wrap="square" lIns="0" tIns="0" rIns="0" bIns="0" anchor="t">
            <a:spAutoFit/>
          </a:bodyPr>
          <a:lstStyle/>
          <a:p>
            <a:pPr algn="ctr">
              <a:spcAft>
                <a:spcPts val="0"/>
              </a:spcAft>
            </a:pPr>
            <a:r>
              <a:rPr sz="1700" b="1" i="0">
                <a:solidFill>
                  <a:srgbClr val="000000"/>
                </a:solidFill>
                <a:latin typeface="Helvetica Neue"/>
                <a:ea typeface="Helvetica Neue"/>
                <a:cs typeface="Helvetica Neue"/>
              </a:rPr>
              <a:t>Bank branch</a:t>
            </a:r>
          </a:p>
          <a:p>
            <a:pPr algn="ctr">
              <a:spcAft>
                <a:spcPts val="0"/>
              </a:spcAft>
            </a:pPr>
            <a:r>
              <a:rPr sz="1500" b="0" i="0">
                <a:solidFill>
                  <a:srgbClr val="000000"/>
                </a:solidFill>
                <a:latin typeface="Helvetica Neue"/>
                <a:ea typeface="Helvetica Neue"/>
                <a:cs typeface="Helvetica Neue"/>
              </a:rPr>
              <a:t>with a user dish</a:t>
            </a:r>
          </a:p>
        </p:txBody>
      </p:sp>
      <p:pic>
        <p:nvPicPr>
          <p:cNvPr id="7" name="Gateway dish"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69580" y="7795260"/>
            <a:ext cx="868680" cy="868680"/>
          </a:xfrm>
          <a:prstGeom prst="rect">
            <a:avLst/>
          </a:prstGeom>
        </p:spPr>
      </p:pic>
      <p:sp>
        <p:nvSpPr>
          <p:cNvPr id="8" name="Gateway label"/>
          <p:cNvSpPr txBox="1"/>
          <p:nvPr/>
        </p:nvSpPr>
        <p:spPr>
          <a:xfrm>
            <a:off x="7223760" y="8796528"/>
            <a:ext cx="2560320" cy="640080"/>
          </a:xfrm>
          <a:prstGeom prst="rect">
            <a:avLst/>
          </a:prstGeom>
          <a:noFill/>
        </p:spPr>
        <p:txBody>
          <a:bodyPr wrap="square" lIns="0" tIns="0" rIns="0" bIns="0" anchor="t">
            <a:spAutoFit/>
          </a:bodyPr>
          <a:lstStyle/>
          <a:p>
            <a:pPr algn="ctr">
              <a:spcAft>
                <a:spcPts val="0"/>
              </a:spcAft>
            </a:pPr>
            <a:r>
              <a:rPr sz="1700" b="1" i="0">
                <a:solidFill>
                  <a:srgbClr val="000000"/>
                </a:solidFill>
                <a:latin typeface="Helvetica Neue"/>
                <a:ea typeface="Helvetica Neue"/>
                <a:cs typeface="Helvetica Neue"/>
              </a:rPr>
              <a:t>Gateway</a:t>
            </a:r>
          </a:p>
          <a:p>
            <a:pPr algn="ctr">
              <a:spcAft>
                <a:spcPts val="0"/>
              </a:spcAft>
            </a:pPr>
            <a:r>
              <a:rPr sz="1500" b="0" i="0">
                <a:solidFill>
                  <a:srgbClr val="000000"/>
                </a:solidFill>
                <a:latin typeface="Helvetica Neue"/>
                <a:ea typeface="Helvetica Neue"/>
                <a:cs typeface="Helvetica Neue"/>
              </a:rPr>
              <a:t>ground station</a:t>
            </a:r>
          </a:p>
        </p:txBody>
      </p:sp>
      <p:pic>
        <p:nvPicPr>
          <p:cNvPr id="9" name="Internet"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52560" y="6126480"/>
            <a:ext cx="1554480" cy="1554480"/>
          </a:xfrm>
          <a:prstGeom prst="rect">
            <a:avLst/>
          </a:prstGeom>
        </p:spPr>
      </p:pic>
      <p:sp>
        <p:nvSpPr>
          <p:cNvPr id="10" name="Internet label"/>
          <p:cNvSpPr txBox="1"/>
          <p:nvPr/>
        </p:nvSpPr>
        <p:spPr>
          <a:xfrm>
            <a:off x="9235440" y="6839712"/>
            <a:ext cx="1188720" cy="365760"/>
          </a:xfrm>
          <a:prstGeom prst="rect">
            <a:avLst/>
          </a:prstGeom>
          <a:noFill/>
        </p:spPr>
        <p:txBody>
          <a:bodyPr wrap="square" lIns="0" tIns="0" rIns="0" bIns="0" anchor="t">
            <a:spAutoFit/>
          </a:bodyPr>
          <a:lstStyle/>
          <a:p>
            <a:pPr algn="ctr">
              <a:spcAft>
                <a:spcPts val="600"/>
              </a:spcAft>
            </a:pPr>
            <a:r>
              <a:rPr sz="1500" b="1" i="0">
                <a:solidFill>
                  <a:srgbClr val="000000"/>
                </a:solidFill>
                <a:latin typeface="Helvetica Neue"/>
                <a:ea typeface="Helvetica Neue"/>
                <a:cs typeface="Helvetica Neue"/>
              </a:rPr>
              <a:t>Internet</a:t>
            </a:r>
          </a:p>
        </p:txBody>
      </p:sp>
      <p:cxnSp>
        <p:nvCxnSpPr>
          <p:cNvPr id="11" name="Gateway to internet"/>
          <p:cNvCxnSpPr/>
          <p:nvPr/>
        </p:nvCxnSpPr>
        <p:spPr>
          <a:xfrm flipV="1">
            <a:off x="8823960" y="7269480"/>
            <a:ext cx="640080" cy="594360"/>
          </a:xfrm>
          <a:prstGeom prst="line">
            <a:avLst/>
          </a:prstGeom>
          <a:ln w="44450">
            <a:solidFill>
              <a:srgbClr val="000000"/>
            </a:solidFill>
          </a:ln>
        </p:spPr>
        <p:style>
          <a:lnRef idx="2">
            <a:schemeClr val="accent1"/>
          </a:lnRef>
          <a:fillRef idx="0">
            <a:schemeClr val="accent1"/>
          </a:fillRef>
          <a:effectRef idx="1">
            <a:schemeClr val="accent1"/>
          </a:effectRef>
          <a:fontRef idx="minor">
            <a:schemeClr val="tx1"/>
          </a:fontRef>
        </p:style>
      </p:cxnSp>
      <p:pic>
        <p:nvPicPr>
          <p:cNvPr id="12" name="LEO satellite 1"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77540" y="4869180"/>
            <a:ext cx="777240" cy="777240"/>
          </a:xfrm>
          <a:prstGeom prst="rect">
            <a:avLst/>
          </a:prstGeom>
        </p:spPr>
      </p:pic>
      <p:pic>
        <p:nvPicPr>
          <p:cNvPr id="13" name="LEO satellite 2"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26380" y="4366260"/>
            <a:ext cx="777240" cy="777240"/>
          </a:xfrm>
          <a:prstGeom prst="rect">
            <a:avLst/>
          </a:prstGeom>
        </p:spPr>
      </p:pic>
      <p:pic>
        <p:nvPicPr>
          <p:cNvPr id="14" name="LEO satellite 3"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75219" y="4869180"/>
            <a:ext cx="777240" cy="777240"/>
          </a:xfrm>
          <a:prstGeom prst="rect">
            <a:avLst/>
          </a:prstGeom>
        </p:spPr>
      </p:pic>
      <p:cxnSp>
        <p:nvCxnSpPr>
          <p:cNvPr id="15" name="Laser link 1"/>
          <p:cNvCxnSpPr/>
          <p:nvPr/>
        </p:nvCxnSpPr>
        <p:spPr>
          <a:xfrm flipV="1">
            <a:off x="3977639" y="4846320"/>
            <a:ext cx="1325881" cy="274320"/>
          </a:xfrm>
          <a:prstGeom prst="line">
            <a:avLst/>
          </a:prstGeom>
          <a:ln w="31750">
            <a:solidFill>
              <a:srgbClr val="C00000"/>
            </a:solidFill>
            <a:prstDash val="dash"/>
          </a:ln>
        </p:spPr>
        <p:style>
          <a:lnRef idx="2">
            <a:schemeClr val="accent1"/>
          </a:lnRef>
          <a:fillRef idx="0">
            <a:schemeClr val="accent1"/>
          </a:fillRef>
          <a:effectRef idx="1">
            <a:schemeClr val="accent1"/>
          </a:effectRef>
          <a:fontRef idx="minor">
            <a:schemeClr val="tx1"/>
          </a:fontRef>
        </p:style>
      </p:cxnSp>
      <p:cxnSp>
        <p:nvCxnSpPr>
          <p:cNvPr id="16" name="Laser link 2"/>
          <p:cNvCxnSpPr/>
          <p:nvPr/>
        </p:nvCxnSpPr>
        <p:spPr>
          <a:xfrm>
            <a:off x="6126480" y="4846320"/>
            <a:ext cx="1325880" cy="274320"/>
          </a:xfrm>
          <a:prstGeom prst="line">
            <a:avLst/>
          </a:prstGeom>
          <a:ln w="31750">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17" name="Laser label"/>
          <p:cNvSpPr txBox="1"/>
          <p:nvPr/>
        </p:nvSpPr>
        <p:spPr>
          <a:xfrm>
            <a:off x="4206240" y="4069080"/>
            <a:ext cx="3108960" cy="365760"/>
          </a:xfrm>
          <a:prstGeom prst="rect">
            <a:avLst/>
          </a:prstGeom>
          <a:noFill/>
        </p:spPr>
        <p:txBody>
          <a:bodyPr wrap="square" lIns="0" tIns="0" rIns="0" bIns="0" anchor="t">
            <a:spAutoFit/>
          </a:bodyPr>
          <a:lstStyle/>
          <a:p>
            <a:pPr algn="ctr">
              <a:spcAft>
                <a:spcPts val="600"/>
              </a:spcAft>
            </a:pPr>
            <a:r>
              <a:rPr sz="1400" b="0" i="0" dirty="0">
                <a:solidFill>
                  <a:srgbClr val="C00000"/>
                </a:solidFill>
                <a:latin typeface="Helvetica Neue"/>
                <a:ea typeface="Helvetica Neue"/>
                <a:cs typeface="Helvetica Neue"/>
              </a:rPr>
              <a:t>laser links between satellites</a:t>
            </a:r>
          </a:p>
        </p:txBody>
      </p:sp>
      <p:cxnSp>
        <p:nvCxnSpPr>
          <p:cNvPr id="18" name="Uplink"/>
          <p:cNvCxnSpPr/>
          <p:nvPr/>
        </p:nvCxnSpPr>
        <p:spPr>
          <a:xfrm flipV="1">
            <a:off x="3154680" y="5669280"/>
            <a:ext cx="365760" cy="2240280"/>
          </a:xfrm>
          <a:prstGeom prst="line">
            <a:avLst/>
          </a:prstGeom>
          <a:ln w="44450">
            <a:solidFill>
              <a:srgbClr val="2F75B5"/>
            </a:solidFill>
          </a:ln>
        </p:spPr>
        <p:style>
          <a:lnRef idx="2">
            <a:schemeClr val="accent1"/>
          </a:lnRef>
          <a:fillRef idx="0">
            <a:schemeClr val="accent1"/>
          </a:fillRef>
          <a:effectRef idx="1">
            <a:schemeClr val="accent1"/>
          </a:effectRef>
          <a:fontRef idx="minor">
            <a:schemeClr val="tx1"/>
          </a:fontRef>
        </p:style>
      </p:cxnSp>
      <p:cxnSp>
        <p:nvCxnSpPr>
          <p:cNvPr id="19" name="Downlink"/>
          <p:cNvCxnSpPr/>
          <p:nvPr/>
        </p:nvCxnSpPr>
        <p:spPr>
          <a:xfrm>
            <a:off x="7909560" y="5669280"/>
            <a:ext cx="502920" cy="2148840"/>
          </a:xfrm>
          <a:prstGeom prst="line">
            <a:avLst/>
          </a:prstGeom>
          <a:ln w="44450">
            <a:solidFill>
              <a:srgbClr val="2F75B5"/>
            </a:solidFill>
          </a:ln>
        </p:spPr>
        <p:style>
          <a:lnRef idx="2">
            <a:schemeClr val="accent1"/>
          </a:lnRef>
          <a:fillRef idx="0">
            <a:schemeClr val="accent1"/>
          </a:fillRef>
          <a:effectRef idx="1">
            <a:schemeClr val="accent1"/>
          </a:effectRef>
          <a:fontRef idx="minor">
            <a:schemeClr val="tx1"/>
          </a:fontRef>
        </p:style>
      </p:cxnSp>
      <p:sp>
        <p:nvSpPr>
          <p:cNvPr id="20" name="LEO label"/>
          <p:cNvSpPr txBox="1"/>
          <p:nvPr/>
        </p:nvSpPr>
        <p:spPr>
          <a:xfrm>
            <a:off x="914400" y="5989320"/>
            <a:ext cx="2468880" cy="822960"/>
          </a:xfrm>
          <a:prstGeom prst="rect">
            <a:avLst/>
          </a:prstGeom>
          <a:noFill/>
        </p:spPr>
        <p:txBody>
          <a:bodyPr wrap="square" lIns="0" tIns="0" rIns="0" bIns="0" anchor="t">
            <a:spAutoFit/>
          </a:bodyPr>
          <a:lstStyle/>
          <a:p>
            <a:pPr algn="l">
              <a:spcAft>
                <a:spcPts val="0"/>
              </a:spcAft>
            </a:pPr>
            <a:r>
              <a:rPr sz="1700" b="1" i="0">
                <a:solidFill>
                  <a:srgbClr val="2F75B5"/>
                </a:solidFill>
                <a:latin typeface="Helvetica Neue"/>
                <a:ea typeface="Helvetica Neue"/>
                <a:cs typeface="Helvetica Neue"/>
              </a:rPr>
              <a:t>Low-earth orbit</a:t>
            </a:r>
          </a:p>
          <a:p>
            <a:pPr algn="l">
              <a:spcAft>
                <a:spcPts val="0"/>
              </a:spcAft>
            </a:pPr>
            <a:r>
              <a:rPr sz="1500" b="0" i="0">
                <a:solidFill>
                  <a:srgbClr val="2F75B5"/>
                </a:solidFill>
                <a:latin typeface="Helvetica Neue"/>
                <a:ea typeface="Helvetica Neue"/>
                <a:cs typeface="Helvetica Neue"/>
              </a:rPr>
              <a:t>about 550 km up</a:t>
            </a:r>
          </a:p>
        </p:txBody>
      </p:sp>
      <p:pic>
        <p:nvPicPr>
          <p:cNvPr id="21" name="GEO satellite"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349740" y="2537460"/>
            <a:ext cx="685800" cy="685800"/>
          </a:xfrm>
          <a:prstGeom prst="rect">
            <a:avLst/>
          </a:prstGeom>
        </p:spPr>
      </p:pic>
      <p:cxnSp>
        <p:nvCxnSpPr>
          <p:cNvPr id="22" name="GEO path"/>
          <p:cNvCxnSpPr/>
          <p:nvPr/>
        </p:nvCxnSpPr>
        <p:spPr>
          <a:xfrm flipV="1">
            <a:off x="3200400" y="3154680"/>
            <a:ext cx="6217920" cy="4754880"/>
          </a:xfrm>
          <a:prstGeom prst="line">
            <a:avLst/>
          </a:prstGeom>
          <a:ln w="25400">
            <a:solidFill>
              <a:srgbClr val="A6A6A6"/>
            </a:solidFill>
            <a:prstDash val="sysDash"/>
          </a:ln>
        </p:spPr>
        <p:style>
          <a:lnRef idx="2">
            <a:schemeClr val="accent1"/>
          </a:lnRef>
          <a:fillRef idx="0">
            <a:schemeClr val="accent1"/>
          </a:fillRef>
          <a:effectRef idx="1">
            <a:schemeClr val="accent1"/>
          </a:effectRef>
          <a:fontRef idx="minor">
            <a:schemeClr val="tx1"/>
          </a:fontRef>
        </p:style>
      </p:cxnSp>
      <p:sp>
        <p:nvSpPr>
          <p:cNvPr id="23" name="GEO label"/>
          <p:cNvSpPr txBox="1"/>
          <p:nvPr/>
        </p:nvSpPr>
        <p:spPr>
          <a:xfrm>
            <a:off x="6766560" y="2514600"/>
            <a:ext cx="2514600" cy="914400"/>
          </a:xfrm>
          <a:prstGeom prst="rect">
            <a:avLst/>
          </a:prstGeom>
          <a:noFill/>
        </p:spPr>
        <p:txBody>
          <a:bodyPr wrap="square" lIns="0" tIns="0" rIns="0" bIns="0" anchor="t">
            <a:spAutoFit/>
          </a:bodyPr>
          <a:lstStyle/>
          <a:p>
            <a:pPr algn="r">
              <a:spcAft>
                <a:spcPts val="0"/>
              </a:spcAft>
            </a:pPr>
            <a:r>
              <a:rPr sz="1500" b="1" i="0">
                <a:solidFill>
                  <a:srgbClr val="7F7F7F"/>
                </a:solidFill>
                <a:latin typeface="Helvetica Neue"/>
                <a:ea typeface="Helvetica Neue"/>
                <a:cs typeface="Helvetica Neue"/>
              </a:rPr>
              <a:t>Traditional satellite</a:t>
            </a:r>
          </a:p>
          <a:p>
            <a:pPr algn="r">
              <a:spcAft>
                <a:spcPts val="0"/>
              </a:spcAft>
            </a:pPr>
            <a:r>
              <a:rPr sz="1400" b="0" i="0">
                <a:solidFill>
                  <a:srgbClr val="7F7F7F"/>
                </a:solidFill>
                <a:latin typeface="Helvetica Neue"/>
                <a:ea typeface="Helvetica Neue"/>
                <a:cs typeface="Helvetica Neue"/>
              </a:rPr>
              <a:t>about 36,000 km up</a:t>
            </a:r>
          </a:p>
        </p:txBody>
      </p:sp>
      <p:sp>
        <p:nvSpPr>
          <p:cNvPr id="24" name="Latency panel"/>
          <p:cNvSpPr/>
          <p:nvPr/>
        </p:nvSpPr>
        <p:spPr>
          <a:xfrm>
            <a:off x="11064240" y="2606040"/>
            <a:ext cx="5943600" cy="1463040"/>
          </a:xfrm>
          <a:prstGeom prst="round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Latency big"/>
          <p:cNvSpPr txBox="1"/>
          <p:nvPr/>
        </p:nvSpPr>
        <p:spPr>
          <a:xfrm>
            <a:off x="11338560" y="2697480"/>
            <a:ext cx="5394960" cy="731520"/>
          </a:xfrm>
          <a:prstGeom prst="rect">
            <a:avLst/>
          </a:prstGeom>
          <a:noFill/>
        </p:spPr>
        <p:txBody>
          <a:bodyPr wrap="square" lIns="0" tIns="0" rIns="0" bIns="0" anchor="t">
            <a:spAutoFit/>
          </a:bodyPr>
          <a:lstStyle/>
          <a:p>
            <a:pPr algn="l">
              <a:spcAft>
                <a:spcPts val="600"/>
              </a:spcAft>
            </a:pPr>
            <a:r>
              <a:rPr sz="4000" b="1" i="0">
                <a:solidFill>
                  <a:srgbClr val="2F75B5"/>
                </a:solidFill>
                <a:latin typeface="Helvetica Neue"/>
                <a:ea typeface="Helvetica Neue"/>
                <a:cs typeface="Helvetica Neue"/>
              </a:rPr>
              <a:t>~20–40 ms</a:t>
            </a:r>
          </a:p>
        </p:txBody>
      </p:sp>
      <p:sp>
        <p:nvSpPr>
          <p:cNvPr id="26" name="Latency small"/>
          <p:cNvSpPr txBox="1"/>
          <p:nvPr/>
        </p:nvSpPr>
        <p:spPr>
          <a:xfrm>
            <a:off x="11338560" y="3429000"/>
            <a:ext cx="5394960" cy="548640"/>
          </a:xfrm>
          <a:prstGeom prst="rect">
            <a:avLst/>
          </a:prstGeom>
          <a:noFill/>
        </p:spPr>
        <p:txBody>
          <a:bodyPr wrap="square" lIns="0" tIns="0" rIns="0" bIns="0" anchor="t">
            <a:spAutoFit/>
          </a:bodyPr>
          <a:lstStyle/>
          <a:p>
            <a:pPr algn="l">
              <a:spcAft>
                <a:spcPts val="600"/>
              </a:spcAft>
            </a:pPr>
            <a:r>
              <a:rPr sz="1600" b="0" i="0">
                <a:solidFill>
                  <a:srgbClr val="000000"/>
                </a:solidFill>
                <a:latin typeface="Helvetica Neue"/>
                <a:ea typeface="Helvetica Neue"/>
                <a:cs typeface="Helvetica Neue"/>
              </a:rPr>
              <a:t>typical delay, vs. ~600 ms for traditional satellite</a:t>
            </a:r>
          </a:p>
        </p:txBody>
      </p:sp>
      <p:sp>
        <p:nvSpPr>
          <p:cNvPr id="27" name="Why banks use it"/>
          <p:cNvSpPr txBox="1"/>
          <p:nvPr/>
        </p:nvSpPr>
        <p:spPr>
          <a:xfrm>
            <a:off x="11064240" y="4389120"/>
            <a:ext cx="5943600" cy="1718419"/>
          </a:xfrm>
          <a:prstGeom prst="rect">
            <a:avLst/>
          </a:prstGeom>
          <a:noFill/>
        </p:spPr>
        <p:txBody>
          <a:bodyPr wrap="square" lIns="0" tIns="0" rIns="0" bIns="0">
            <a:spAutoFit/>
          </a:bodyPr>
          <a:lstStyle/>
          <a:p>
            <a:pPr>
              <a:spcAft>
                <a:spcPts val="800"/>
              </a:spcAft>
            </a:pPr>
            <a:r>
              <a:rPr sz="2200" b="1" i="0" dirty="0">
                <a:solidFill>
                  <a:srgbClr val="000000"/>
                </a:solidFill>
                <a:latin typeface="Helvetica Neue"/>
                <a:ea typeface="Helvetica Neue"/>
                <a:cs typeface="Helvetica Neue"/>
              </a:rPr>
              <a:t>Why banks use it</a:t>
            </a:r>
          </a:p>
          <a:p>
            <a:pPr marL="274320" indent="-274320">
              <a:spcAft>
                <a:spcPts val="600"/>
              </a:spcAft>
              <a:buFont typeface="Arial"/>
              <a:buChar char="•"/>
            </a:pPr>
            <a:r>
              <a:rPr sz="1700" b="0" i="0" dirty="0">
                <a:solidFill>
                  <a:srgbClr val="000000"/>
                </a:solidFill>
                <a:latin typeface="Helvetica Neue"/>
                <a:ea typeface="Helvetica Neue"/>
                <a:cs typeface="Helvetica Neue"/>
              </a:rPr>
              <a:t>Shares nothing with the wires in the street</a:t>
            </a:r>
          </a:p>
          <a:p>
            <a:pPr marL="274320" indent="-274320">
              <a:spcAft>
                <a:spcPts val="600"/>
              </a:spcAft>
              <a:buFont typeface="Arial"/>
              <a:buChar char="•"/>
            </a:pPr>
            <a:r>
              <a:rPr sz="1700" b="0" i="0" dirty="0">
                <a:solidFill>
                  <a:srgbClr val="000000"/>
                </a:solidFill>
                <a:latin typeface="Helvetica Neue"/>
                <a:ea typeface="Helvetica Neue"/>
                <a:cs typeface="Helvetica Neue"/>
              </a:rPr>
              <a:t>Set up in a day, even after a storm</a:t>
            </a:r>
          </a:p>
          <a:p>
            <a:pPr marL="274320" indent="-274320">
              <a:spcAft>
                <a:spcPts val="600"/>
              </a:spcAft>
              <a:buFont typeface="Arial"/>
              <a:buChar char="•"/>
            </a:pPr>
            <a:r>
              <a:rPr sz="1700" b="0" i="0" dirty="0">
                <a:solidFill>
                  <a:srgbClr val="000000"/>
                </a:solidFill>
                <a:latin typeface="Helvetica Neue"/>
                <a:ea typeface="Helvetica Neue"/>
                <a:cs typeface="Helvetica Neue"/>
              </a:rPr>
              <a:t>Works at the most rural branch</a:t>
            </a:r>
            <a:r>
              <a:rPr lang="en-US" sz="1700" b="0" i="0" dirty="0">
                <a:solidFill>
                  <a:srgbClr val="000000"/>
                </a:solidFill>
                <a:latin typeface="Helvetica Neue"/>
                <a:ea typeface="Helvetica Neue"/>
                <a:cs typeface="Helvetica Neue"/>
              </a:rPr>
              <a:t>es</a:t>
            </a:r>
          </a:p>
          <a:p>
            <a:pPr marL="274320" indent="-274320">
              <a:spcAft>
                <a:spcPts val="600"/>
              </a:spcAft>
              <a:buFont typeface="Arial"/>
              <a:buChar char="•"/>
            </a:pPr>
            <a:r>
              <a:rPr lang="en-US" sz="1700" dirty="0">
                <a:solidFill>
                  <a:srgbClr val="000000"/>
                </a:solidFill>
                <a:latin typeface="Helvetica Neue"/>
                <a:ea typeface="Helvetica Neue"/>
                <a:cs typeface="Helvetica Neue"/>
              </a:rPr>
              <a:t>Backup seems obvious, perhaps for main connection too?</a:t>
            </a:r>
            <a:endParaRPr sz="1700" b="0" i="0" dirty="0">
              <a:solidFill>
                <a:srgbClr val="000000"/>
              </a:solidFill>
              <a:latin typeface="Helvetica Neue"/>
              <a:ea typeface="Helvetica Neue"/>
              <a:cs typeface="Helvetica Neue"/>
            </a:endParaRPr>
          </a:p>
        </p:txBody>
      </p:sp>
      <p:sp>
        <p:nvSpPr>
          <p:cNvPr id="28" name="What to watch"/>
          <p:cNvSpPr txBox="1"/>
          <p:nvPr/>
        </p:nvSpPr>
        <p:spPr>
          <a:xfrm>
            <a:off x="11064240" y="6553200"/>
            <a:ext cx="5943600" cy="2657138"/>
          </a:xfrm>
          <a:prstGeom prst="rect">
            <a:avLst/>
          </a:prstGeom>
          <a:noFill/>
        </p:spPr>
        <p:txBody>
          <a:bodyPr wrap="square" lIns="0" tIns="0" rIns="0" bIns="0">
            <a:spAutoFit/>
          </a:bodyPr>
          <a:lstStyle/>
          <a:p>
            <a:pPr>
              <a:spcAft>
                <a:spcPts val="800"/>
              </a:spcAft>
            </a:pPr>
            <a:r>
              <a:rPr sz="2200" b="1" i="0" dirty="0">
                <a:solidFill>
                  <a:srgbClr val="000000"/>
                </a:solidFill>
                <a:latin typeface="Helvetica Neue"/>
                <a:ea typeface="Helvetica Neue"/>
                <a:cs typeface="Helvetica Neue"/>
              </a:rPr>
              <a:t>What to watch</a:t>
            </a:r>
          </a:p>
          <a:p>
            <a:pPr marL="274320" indent="-274320">
              <a:spcAft>
                <a:spcPts val="600"/>
              </a:spcAft>
              <a:buFont typeface="Arial"/>
              <a:buChar char="•"/>
            </a:pPr>
            <a:r>
              <a:rPr sz="1700" b="0" i="0" dirty="0">
                <a:solidFill>
                  <a:srgbClr val="000000"/>
                </a:solidFill>
                <a:latin typeface="Helvetica Neue"/>
                <a:ea typeface="Helvetica Neue"/>
                <a:cs typeface="Helvetica Neue"/>
              </a:rPr>
              <a:t>Needs a clear view of the sky</a:t>
            </a:r>
          </a:p>
          <a:p>
            <a:pPr marL="274320" indent="-274320">
              <a:spcAft>
                <a:spcPts val="600"/>
              </a:spcAft>
              <a:buFont typeface="Arial"/>
              <a:buChar char="•"/>
            </a:pPr>
            <a:r>
              <a:rPr sz="1700" b="0" i="0" dirty="0">
                <a:solidFill>
                  <a:srgbClr val="000000"/>
                </a:solidFill>
                <a:latin typeface="Helvetica Neue"/>
                <a:ea typeface="Helvetica Neue"/>
                <a:cs typeface="Helvetica Neue"/>
              </a:rPr>
              <a:t>One provider, one company</a:t>
            </a:r>
            <a:endParaRPr lang="en-US" sz="1700" b="0" i="0" dirty="0">
              <a:solidFill>
                <a:srgbClr val="000000"/>
              </a:solidFill>
              <a:latin typeface="Helvetica Neue"/>
              <a:ea typeface="Helvetica Neue"/>
              <a:cs typeface="Helvetica Neue"/>
            </a:endParaRPr>
          </a:p>
          <a:p>
            <a:pPr marL="731520" lvl="1" indent="-274320">
              <a:spcAft>
                <a:spcPts val="600"/>
              </a:spcAft>
              <a:buFont typeface="Arial"/>
              <a:buChar char="•"/>
            </a:pPr>
            <a:r>
              <a:rPr lang="en-US" sz="1700" dirty="0">
                <a:solidFill>
                  <a:srgbClr val="000000"/>
                </a:solidFill>
                <a:latin typeface="Helvetica Neue"/>
                <a:ea typeface="Helvetica Neue"/>
                <a:cs typeface="Helvetica Neue"/>
              </a:rPr>
              <a:t>Although competition seems to be coming soon.</a:t>
            </a:r>
            <a:endParaRPr sz="1700" b="0" i="0" dirty="0">
              <a:solidFill>
                <a:srgbClr val="000000"/>
              </a:solidFill>
              <a:latin typeface="Helvetica Neue"/>
              <a:ea typeface="Helvetica Neue"/>
              <a:cs typeface="Helvetica Neue"/>
            </a:endParaRPr>
          </a:p>
          <a:p>
            <a:pPr marL="274320" indent="-274320">
              <a:spcAft>
                <a:spcPts val="600"/>
              </a:spcAft>
              <a:buFont typeface="Arial"/>
              <a:buChar char="•"/>
            </a:pPr>
            <a:r>
              <a:rPr sz="1700" b="0" i="0" dirty="0">
                <a:solidFill>
                  <a:srgbClr val="000000"/>
                </a:solidFill>
                <a:latin typeface="Helvetica Neue"/>
                <a:ea typeface="Helvetica Neue"/>
                <a:cs typeface="Helvetica Neue"/>
              </a:rPr>
              <a:t>Shared capacity; priority plans cost more</a:t>
            </a:r>
          </a:p>
          <a:p>
            <a:pPr marL="274320" indent="-274320">
              <a:spcAft>
                <a:spcPts val="600"/>
              </a:spcAft>
              <a:buFont typeface="Arial"/>
              <a:buChar char="•"/>
            </a:pPr>
            <a:r>
              <a:rPr sz="1700" b="0" i="0" dirty="0">
                <a:solidFill>
                  <a:srgbClr val="000000"/>
                </a:solidFill>
                <a:latin typeface="Helvetica Neue"/>
                <a:ea typeface="Helvetica Neue"/>
                <a:cs typeface="Helvetica Neue"/>
              </a:rPr>
              <a:t>Traffic leaves at a distant gateway, so location-based fraud tools may see the wrong city</a:t>
            </a:r>
            <a:endParaRPr lang="en-US" sz="1700" b="0" i="0" dirty="0">
              <a:solidFill>
                <a:srgbClr val="000000"/>
              </a:solidFill>
              <a:latin typeface="Helvetica Neue"/>
              <a:ea typeface="Helvetica Neue"/>
              <a:cs typeface="Helvetica Neue"/>
            </a:endParaRPr>
          </a:p>
          <a:p>
            <a:pPr marL="274320" indent="-274320">
              <a:spcAft>
                <a:spcPts val="600"/>
              </a:spcAft>
              <a:buFont typeface="Arial"/>
              <a:buChar char="•"/>
            </a:pPr>
            <a:r>
              <a:rPr lang="en-US" sz="1700" dirty="0">
                <a:solidFill>
                  <a:srgbClr val="000000"/>
                </a:solidFill>
                <a:latin typeface="Helvetica Neue"/>
                <a:ea typeface="Helvetica Neue"/>
                <a:cs typeface="Helvetica Neue"/>
              </a:rPr>
              <a:t>Let’s leave politics out of it…</a:t>
            </a:r>
            <a:endParaRPr sz="1700" b="0" i="0" dirty="0">
              <a:solidFill>
                <a:srgbClr val="000000"/>
              </a:solidFill>
              <a:latin typeface="Helvetica Neue"/>
              <a:ea typeface="Helvetica Neue"/>
              <a:cs typeface="Helvetica Neue"/>
            </a:endParaRPr>
          </a:p>
        </p:txBody>
      </p:sp>
    </p:spTree>
    <p:extLst>
      <p:ext uri="{BB962C8B-B14F-4D97-AF65-F5344CB8AC3E}">
        <p14:creationId xmlns:p14="http://schemas.microsoft.com/office/powerpoint/2010/main" val="3320098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dirty="0">
                <a:solidFill>
                  <a:srgbClr val="000000"/>
                </a:solidFill>
                <a:latin typeface="Helvetica Neue Condensed Bold"/>
                <a:ea typeface="Helvetica Neue Condensed Bold"/>
                <a:cs typeface="Helvetica Neue Condensed Bold"/>
              </a:rPr>
              <a:t>Backup Path: Wireless vs. Second Wireline</a:t>
            </a:r>
          </a:p>
        </p:txBody>
      </p:sp>
      <p:sp>
        <p:nvSpPr>
          <p:cNvPr id="3" name="Key message"/>
          <p:cNvSpPr txBox="1"/>
          <p:nvPr/>
        </p:nvSpPr>
        <p:spPr>
          <a:xfrm>
            <a:off x="1257300" y="2560320"/>
            <a:ext cx="15773400" cy="457200"/>
          </a:xfrm>
          <a:prstGeom prst="rect">
            <a:avLst/>
          </a:prstGeom>
          <a:noFill/>
        </p:spPr>
        <p:txBody>
          <a:bodyPr wrap="square" lIns="0" tIns="0" rIns="0" bIns="0" anchor="t">
            <a:spAutoFit/>
          </a:bodyPr>
          <a:lstStyle/>
          <a:p>
            <a:pPr algn="l">
              <a:spcAft>
                <a:spcPts val="600"/>
              </a:spcAft>
            </a:pPr>
            <a:r>
              <a:rPr sz="2600" b="1" i="0">
                <a:solidFill>
                  <a:srgbClr val="000000"/>
                </a:solidFill>
                <a:latin typeface="Helvetica Neue"/>
                <a:ea typeface="Helvetica Neue"/>
                <a:cs typeface="Helvetica Neue"/>
              </a:rPr>
              <a:t>A backup is only as good as what it doesn’t share with the primary.</a:t>
            </a:r>
          </a:p>
        </p:txBody>
      </p:sp>
      <p:sp>
        <p:nvSpPr>
          <p:cNvPr id="4" name="Trap panel"/>
          <p:cNvSpPr/>
          <p:nvPr/>
        </p:nvSpPr>
        <p:spPr>
          <a:xfrm>
            <a:off x="1257300" y="3200400"/>
            <a:ext cx="7635240" cy="2743200"/>
          </a:xfrm>
          <a:prstGeom prst="round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Trap heading"/>
          <p:cNvSpPr txBox="1"/>
          <p:nvPr/>
        </p:nvSpPr>
        <p:spPr>
          <a:xfrm>
            <a:off x="1531620" y="3310128"/>
            <a:ext cx="7132320" cy="411480"/>
          </a:xfrm>
          <a:prstGeom prst="rect">
            <a:avLst/>
          </a:prstGeom>
          <a:noFill/>
        </p:spPr>
        <p:txBody>
          <a:bodyPr wrap="square" lIns="0" tIns="0" rIns="0" bIns="0" anchor="t">
            <a:spAutoFit/>
          </a:bodyPr>
          <a:lstStyle/>
          <a:p>
            <a:pPr algn="l">
              <a:spcAft>
                <a:spcPts val="600"/>
              </a:spcAft>
            </a:pPr>
            <a:r>
              <a:rPr sz="2000" b="1" i="0" dirty="0">
                <a:solidFill>
                  <a:srgbClr val="000000"/>
                </a:solidFill>
                <a:latin typeface="Helvetica Neue"/>
                <a:ea typeface="Helvetica Neue"/>
                <a:cs typeface="Helvetica Neue"/>
              </a:rPr>
              <a:t>The trap: two providers, one trench</a:t>
            </a:r>
          </a:p>
        </p:txBody>
      </p:sp>
      <p:pic>
        <p:nvPicPr>
          <p:cNvPr id="6" name="Trap branch"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14500" y="4251960"/>
            <a:ext cx="914400" cy="914400"/>
          </a:xfrm>
          <a:prstGeom prst="rect">
            <a:avLst/>
          </a:prstGeom>
        </p:spPr>
      </p:pic>
      <p:sp>
        <p:nvSpPr>
          <p:cNvPr id="7" name="Trench"/>
          <p:cNvSpPr/>
          <p:nvPr/>
        </p:nvSpPr>
        <p:spPr>
          <a:xfrm>
            <a:off x="2811780" y="4343400"/>
            <a:ext cx="5486400" cy="731520"/>
          </a:xfrm>
          <a:prstGeom prst="rect">
            <a:avLst/>
          </a:prstGeom>
          <a:solidFill>
            <a:srgbClr val="E7E6E6"/>
          </a:solidFill>
          <a:ln w="6350">
            <a:solidFill>
              <a:srgbClr val="E7E6E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cxnSp>
        <p:nvCxnSpPr>
          <p:cNvPr id="8" name="Trap fiber"/>
          <p:cNvCxnSpPr/>
          <p:nvPr/>
        </p:nvCxnSpPr>
        <p:spPr>
          <a:xfrm>
            <a:off x="2674620" y="4553712"/>
            <a:ext cx="5715000" cy="0"/>
          </a:xfrm>
          <a:prstGeom prst="line">
            <a:avLst/>
          </a:prstGeom>
          <a:ln w="50800">
            <a:solidFill>
              <a:srgbClr val="2F75B5"/>
            </a:solidFill>
          </a:ln>
        </p:spPr>
        <p:style>
          <a:lnRef idx="2">
            <a:schemeClr val="accent1"/>
          </a:lnRef>
          <a:fillRef idx="0">
            <a:schemeClr val="accent1"/>
          </a:fillRef>
          <a:effectRef idx="1">
            <a:schemeClr val="accent1"/>
          </a:effectRef>
          <a:fontRef idx="minor">
            <a:schemeClr val="tx1"/>
          </a:fontRef>
        </p:style>
      </p:cxnSp>
      <p:cxnSp>
        <p:nvCxnSpPr>
          <p:cNvPr id="9" name="Trap cable"/>
          <p:cNvCxnSpPr/>
          <p:nvPr/>
        </p:nvCxnSpPr>
        <p:spPr>
          <a:xfrm>
            <a:off x="2674620" y="4864608"/>
            <a:ext cx="5715000" cy="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0" name="Trap labels"/>
          <p:cNvSpPr txBox="1"/>
          <p:nvPr/>
        </p:nvSpPr>
        <p:spPr>
          <a:xfrm>
            <a:off x="6286500" y="3840480"/>
            <a:ext cx="2377440" cy="411480"/>
          </a:xfrm>
          <a:prstGeom prst="rect">
            <a:avLst/>
          </a:prstGeom>
          <a:noFill/>
        </p:spPr>
        <p:txBody>
          <a:bodyPr wrap="square" lIns="0" tIns="0" rIns="0" bIns="0" anchor="t">
            <a:spAutoFit/>
          </a:bodyPr>
          <a:lstStyle/>
          <a:p>
            <a:pPr algn="r">
              <a:spcAft>
                <a:spcPts val="600"/>
              </a:spcAft>
            </a:pPr>
            <a:r>
              <a:rPr sz="1500" b="0" i="0">
                <a:solidFill>
                  <a:srgbClr val="595959"/>
                </a:solidFill>
                <a:latin typeface="Helvetica Neue"/>
                <a:ea typeface="Helvetica Neue"/>
                <a:cs typeface="Helvetica Neue"/>
              </a:rPr>
              <a:t>fiber + cable</a:t>
            </a:r>
          </a:p>
        </p:txBody>
      </p:sp>
      <p:cxnSp>
        <p:nvCxnSpPr>
          <p:cNvPr id="11" name="Cut 1"/>
          <p:cNvCxnSpPr/>
          <p:nvPr/>
        </p:nvCxnSpPr>
        <p:spPr>
          <a:xfrm>
            <a:off x="5052060" y="4251960"/>
            <a:ext cx="640080" cy="914400"/>
          </a:xfrm>
          <a:prstGeom prst="line">
            <a:avLst/>
          </a:prstGeom>
          <a:ln w="889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2" name="Cut 2"/>
          <p:cNvCxnSpPr/>
          <p:nvPr/>
        </p:nvCxnSpPr>
        <p:spPr>
          <a:xfrm flipV="1">
            <a:off x="5052060" y="4251960"/>
            <a:ext cx="640080" cy="914400"/>
          </a:xfrm>
          <a:prstGeom prst="line">
            <a:avLst/>
          </a:prstGeom>
          <a:ln w="88900">
            <a:solidFill>
              <a:srgbClr val="C00000"/>
            </a:solidFill>
          </a:ln>
        </p:spPr>
        <p:style>
          <a:lnRef idx="2">
            <a:schemeClr val="accent1"/>
          </a:lnRef>
          <a:fillRef idx="0">
            <a:schemeClr val="accent1"/>
          </a:fillRef>
          <a:effectRef idx="1">
            <a:schemeClr val="accent1"/>
          </a:effectRef>
          <a:fontRef idx="minor">
            <a:schemeClr val="tx1"/>
          </a:fontRef>
        </p:style>
      </p:cxnSp>
      <p:sp>
        <p:nvSpPr>
          <p:cNvPr id="13" name="Trap caption"/>
          <p:cNvSpPr txBox="1"/>
          <p:nvPr/>
        </p:nvSpPr>
        <p:spPr>
          <a:xfrm>
            <a:off x="1531620" y="5349240"/>
            <a:ext cx="7132320" cy="457200"/>
          </a:xfrm>
          <a:prstGeom prst="rect">
            <a:avLst/>
          </a:prstGeom>
          <a:noFill/>
        </p:spPr>
        <p:txBody>
          <a:bodyPr wrap="square" lIns="0" tIns="0" rIns="0" bIns="0" anchor="t">
            <a:spAutoFit/>
          </a:bodyPr>
          <a:lstStyle/>
          <a:p>
            <a:pPr algn="ctr">
              <a:spcAft>
                <a:spcPts val="600"/>
              </a:spcAft>
            </a:pPr>
            <a:r>
              <a:rPr sz="1800" b="1" i="0">
                <a:solidFill>
                  <a:srgbClr val="C00000"/>
                </a:solidFill>
                <a:latin typeface="Helvetica Neue"/>
                <a:ea typeface="Helvetica Neue"/>
                <a:cs typeface="Helvetica Neue"/>
              </a:rPr>
              <a:t>One backhoe, two outages</a:t>
            </a:r>
          </a:p>
        </p:txBody>
      </p:sp>
      <p:sp>
        <p:nvSpPr>
          <p:cNvPr id="14" name="Fix panel"/>
          <p:cNvSpPr/>
          <p:nvPr/>
        </p:nvSpPr>
        <p:spPr>
          <a:xfrm>
            <a:off x="9395460" y="3200400"/>
            <a:ext cx="7635240" cy="2743200"/>
          </a:xfrm>
          <a:prstGeom prst="round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Fix heading"/>
          <p:cNvSpPr txBox="1"/>
          <p:nvPr/>
        </p:nvSpPr>
        <p:spPr>
          <a:xfrm>
            <a:off x="9669780" y="3310128"/>
            <a:ext cx="7132320" cy="411480"/>
          </a:xfrm>
          <a:prstGeom prst="rect">
            <a:avLst/>
          </a:prstGeom>
          <a:noFill/>
        </p:spPr>
        <p:txBody>
          <a:bodyPr wrap="square" lIns="0" tIns="0" rIns="0" bIns="0" anchor="t">
            <a:spAutoFit/>
          </a:bodyPr>
          <a:lstStyle/>
          <a:p>
            <a:pPr algn="l">
              <a:spcAft>
                <a:spcPts val="600"/>
              </a:spcAft>
            </a:pPr>
            <a:r>
              <a:rPr sz="2000" b="1" i="0">
                <a:solidFill>
                  <a:srgbClr val="000000"/>
                </a:solidFill>
                <a:latin typeface="Helvetica Neue"/>
                <a:ea typeface="Helvetica Neue"/>
                <a:cs typeface="Helvetica Neue"/>
              </a:rPr>
              <a:t>Better: wireline plus wireless</a:t>
            </a:r>
          </a:p>
        </p:txBody>
      </p:sp>
      <p:pic>
        <p:nvPicPr>
          <p:cNvPr id="16" name="Fix branch"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52660" y="4251960"/>
            <a:ext cx="914400" cy="914400"/>
          </a:xfrm>
          <a:prstGeom prst="rect">
            <a:avLst/>
          </a:prstGeom>
        </p:spPr>
      </p:pic>
      <p:cxnSp>
        <p:nvCxnSpPr>
          <p:cNvPr id="17" name="Fix fiber"/>
          <p:cNvCxnSpPr/>
          <p:nvPr/>
        </p:nvCxnSpPr>
        <p:spPr>
          <a:xfrm>
            <a:off x="10812780" y="4709160"/>
            <a:ext cx="5715000" cy="0"/>
          </a:xfrm>
          <a:prstGeom prst="line">
            <a:avLst/>
          </a:prstGeom>
          <a:ln w="50800">
            <a:solidFill>
              <a:srgbClr val="2F75B5"/>
            </a:solidFill>
          </a:ln>
        </p:spPr>
        <p:style>
          <a:lnRef idx="2">
            <a:schemeClr val="accent1"/>
          </a:lnRef>
          <a:fillRef idx="0">
            <a:schemeClr val="accent1"/>
          </a:fillRef>
          <a:effectRef idx="1">
            <a:schemeClr val="accent1"/>
          </a:effectRef>
          <a:fontRef idx="minor">
            <a:schemeClr val="tx1"/>
          </a:fontRef>
        </p:style>
      </p:cxnSp>
      <p:sp>
        <p:nvSpPr>
          <p:cNvPr id="18" name="Fix fiber label"/>
          <p:cNvSpPr txBox="1"/>
          <p:nvPr/>
        </p:nvSpPr>
        <p:spPr>
          <a:xfrm>
            <a:off x="13601700" y="4800600"/>
            <a:ext cx="2926080" cy="411480"/>
          </a:xfrm>
          <a:prstGeom prst="rect">
            <a:avLst/>
          </a:prstGeom>
          <a:noFill/>
        </p:spPr>
        <p:txBody>
          <a:bodyPr wrap="square" lIns="0" tIns="0" rIns="0" bIns="0" anchor="t">
            <a:spAutoFit/>
          </a:bodyPr>
          <a:lstStyle/>
          <a:p>
            <a:pPr algn="r">
              <a:spcAft>
                <a:spcPts val="600"/>
              </a:spcAft>
            </a:pPr>
            <a:r>
              <a:rPr sz="1500" b="0" i="0">
                <a:solidFill>
                  <a:srgbClr val="595959"/>
                </a:solidFill>
                <a:latin typeface="Helvetica Neue"/>
                <a:ea typeface="Helvetica Neue"/>
                <a:cs typeface="Helvetica Neue"/>
              </a:rPr>
              <a:t>fiber in the street</a:t>
            </a:r>
          </a:p>
        </p:txBody>
      </p:sp>
      <p:pic>
        <p:nvPicPr>
          <p:cNvPr id="19" name="Fix tower"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316200" y="3497580"/>
            <a:ext cx="777240" cy="777240"/>
          </a:xfrm>
          <a:prstGeom prst="rect">
            <a:avLst/>
          </a:prstGeom>
        </p:spPr>
      </p:pic>
      <p:cxnSp>
        <p:nvCxnSpPr>
          <p:cNvPr id="20" name="Fix radio"/>
          <p:cNvCxnSpPr/>
          <p:nvPr/>
        </p:nvCxnSpPr>
        <p:spPr>
          <a:xfrm flipV="1">
            <a:off x="10858500" y="3977639"/>
            <a:ext cx="4434840" cy="457201"/>
          </a:xfrm>
          <a:prstGeom prst="line">
            <a:avLst/>
          </a:prstGeom>
          <a:ln w="38100">
            <a:solidFill>
              <a:srgbClr val="000000"/>
            </a:solidFill>
            <a:prstDash val="dash"/>
          </a:ln>
        </p:spPr>
        <p:style>
          <a:lnRef idx="2">
            <a:schemeClr val="accent1"/>
          </a:lnRef>
          <a:fillRef idx="0">
            <a:schemeClr val="accent1"/>
          </a:fillRef>
          <a:effectRef idx="1">
            <a:schemeClr val="accent1"/>
          </a:effectRef>
          <a:fontRef idx="minor">
            <a:schemeClr val="tx1"/>
          </a:fontRef>
        </p:style>
      </p:cxnSp>
      <p:sp>
        <p:nvSpPr>
          <p:cNvPr id="21" name="Fix caption"/>
          <p:cNvSpPr txBox="1"/>
          <p:nvPr/>
        </p:nvSpPr>
        <p:spPr>
          <a:xfrm>
            <a:off x="9669780" y="5349240"/>
            <a:ext cx="7132320" cy="457200"/>
          </a:xfrm>
          <a:prstGeom prst="rect">
            <a:avLst/>
          </a:prstGeom>
          <a:noFill/>
        </p:spPr>
        <p:txBody>
          <a:bodyPr wrap="square" lIns="0" tIns="0" rIns="0" bIns="0" anchor="t">
            <a:spAutoFit/>
          </a:bodyPr>
          <a:lstStyle/>
          <a:p>
            <a:pPr algn="ctr">
              <a:spcAft>
                <a:spcPts val="600"/>
              </a:spcAft>
            </a:pPr>
            <a:r>
              <a:rPr sz="1800" b="1" i="0">
                <a:solidFill>
                  <a:srgbClr val="2E7D32"/>
                </a:solidFill>
                <a:latin typeface="Helvetica Neue"/>
                <a:ea typeface="Helvetica Neue"/>
                <a:cs typeface="Helvetica Neue"/>
              </a:rPr>
              <a:t>No shared cable, conduit or pole</a:t>
            </a:r>
          </a:p>
        </p:txBody>
      </p:sp>
      <p:graphicFrame>
        <p:nvGraphicFramePr>
          <p:cNvPr id="22" name="Backup options table"/>
          <p:cNvGraphicFramePr>
            <a:graphicFrameLocks noGrp="1"/>
          </p:cNvGraphicFramePr>
          <p:nvPr/>
        </p:nvGraphicFramePr>
        <p:xfrm>
          <a:off x="1257300" y="6217920"/>
          <a:ext cx="15773400" cy="3291840"/>
        </p:xfrm>
        <a:graphic>
          <a:graphicData uri="http://schemas.openxmlformats.org/drawingml/2006/table">
            <a:tbl>
              <a:tblPr>
                <a:tableStyleId>{2D5ABB26-0587-4C30-8999-92F81FD0307C}</a:tableStyleId>
              </a:tblPr>
              <a:tblGrid>
                <a:gridCol w="338328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4709160">
                  <a:extLst>
                    <a:ext uri="{9D8B030D-6E8A-4147-A177-3AD203B41FA5}">
                      <a16:colId xmlns:a16="http://schemas.microsoft.com/office/drawing/2014/main" val="20003"/>
                    </a:ext>
                  </a:extLst>
                </a:gridCol>
              </a:tblGrid>
              <a:tr h="548640">
                <a:tc>
                  <a:txBody>
                    <a:bodyPr/>
                    <a:lstStyle/>
                    <a:p>
                      <a:r>
                        <a:rPr sz="1800" b="1" i="0">
                          <a:solidFill>
                            <a:srgbClr val="000000"/>
                          </a:solidFill>
                          <a:latin typeface="Helvetica Neue"/>
                          <a:ea typeface="Helvetica Neue"/>
                          <a:cs typeface="Helvetica Neue"/>
                        </a:rPr>
                        <a:t>Option</a:t>
                      </a:r>
                    </a:p>
                  </a:txBody>
                  <a:tcPr anchor="ctr">
                    <a:lnB w="31750" cmpd="sng">
                      <a:solidFill>
                        <a:srgbClr val="000000"/>
                      </a:solidFill>
                    </a:lnB>
                  </a:tcPr>
                </a:tc>
                <a:tc>
                  <a:txBody>
                    <a:bodyPr/>
                    <a:lstStyle/>
                    <a:p>
                      <a:r>
                        <a:rPr sz="1800" b="1" i="0">
                          <a:solidFill>
                            <a:srgbClr val="000000"/>
                          </a:solidFill>
                          <a:latin typeface="Helvetica Neue"/>
                          <a:ea typeface="Helvetica Neue"/>
                          <a:cs typeface="Helvetica Neue"/>
                        </a:rPr>
                        <a:t>What it may share with the primary</a:t>
                      </a:r>
                    </a:p>
                  </a:txBody>
                  <a:tcPr anchor="ctr">
                    <a:lnB w="31750" cmpd="sng">
                      <a:solidFill>
                        <a:srgbClr val="000000"/>
                      </a:solidFill>
                    </a:lnB>
                  </a:tcPr>
                </a:tc>
                <a:tc>
                  <a:txBody>
                    <a:bodyPr/>
                    <a:lstStyle/>
                    <a:p>
                      <a:r>
                        <a:rPr sz="1800" b="1" i="0">
                          <a:solidFill>
                            <a:srgbClr val="000000"/>
                          </a:solidFill>
                          <a:latin typeface="Helvetica Neue"/>
                          <a:ea typeface="Helvetica Neue"/>
                          <a:cs typeface="Helvetica Neue"/>
                        </a:rPr>
                        <a:t>Time to install</a:t>
                      </a:r>
                    </a:p>
                  </a:txBody>
                  <a:tcPr anchor="ctr">
                    <a:lnB w="31750" cmpd="sng">
                      <a:solidFill>
                        <a:srgbClr val="000000"/>
                      </a:solidFill>
                    </a:lnB>
                  </a:tcPr>
                </a:tc>
                <a:tc>
                  <a:txBody>
                    <a:bodyPr/>
                    <a:lstStyle/>
                    <a:p>
                      <a:r>
                        <a:rPr sz="1800" b="1" i="0">
                          <a:solidFill>
                            <a:srgbClr val="000000"/>
                          </a:solidFill>
                          <a:latin typeface="Helvetica Neue"/>
                          <a:ea typeface="Helvetica Neue"/>
                          <a:cs typeface="Helvetica Neue"/>
                        </a:rPr>
                        <a:t>Watch for</a:t>
                      </a:r>
                    </a:p>
                  </a:txBody>
                  <a:tcPr anchor="ctr">
                    <a:lnB w="31750" cmpd="sng">
                      <a:solidFill>
                        <a:srgbClr val="000000"/>
                      </a:solidFill>
                    </a:lnB>
                  </a:tcPr>
                </a:tc>
                <a:extLst>
                  <a:ext uri="{0D108BD9-81ED-4DB2-BD59-A6C34878D82A}">
                    <a16:rowId xmlns:a16="http://schemas.microsoft.com/office/drawing/2014/main" val="10000"/>
                  </a:ext>
                </a:extLst>
              </a:tr>
              <a:tr h="685800">
                <a:tc>
                  <a:txBody>
                    <a:bodyPr/>
                    <a:lstStyle/>
                    <a:p>
                      <a:r>
                        <a:rPr sz="1800" b="1" i="0">
                          <a:solidFill>
                            <a:srgbClr val="000000"/>
                          </a:solidFill>
                          <a:latin typeface="Helvetica Neue"/>
                          <a:ea typeface="Helvetica Neue"/>
                          <a:cs typeface="Helvetica Neue"/>
                        </a:rPr>
                        <a:t>Second wireline provider</a:t>
                      </a:r>
                    </a:p>
                  </a:txBody>
                  <a:tcPr anchor="ctr">
                    <a:lnT w="31750" cap="flat" cmpd="sng" algn="ctr">
                      <a:solidFill>
                        <a:srgbClr val="000000"/>
                      </a:solidFill>
                      <a:prstDash val="solid"/>
                      <a:round/>
                      <a:headEnd type="none" w="med" len="med"/>
                      <a:tailEnd type="none" w="med" len="med"/>
                    </a:lnT>
                    <a:lnB w="12700" cmpd="sng">
                      <a:solidFill>
                        <a:srgbClr val="BFBFBF"/>
                      </a:solidFill>
                    </a:lnB>
                  </a:tcPr>
                </a:tc>
                <a:tc>
                  <a:txBody>
                    <a:bodyPr/>
                    <a:lstStyle/>
                    <a:p>
                      <a:r>
                        <a:rPr sz="1600" b="0" i="0">
                          <a:solidFill>
                            <a:srgbClr val="000000"/>
                          </a:solidFill>
                          <a:latin typeface="Helvetica Neue"/>
                          <a:ea typeface="Helvetica Neue"/>
                          <a:cs typeface="Helvetica Neue"/>
                        </a:rPr>
                        <a:t>Poles, conduit, building entry, even the same central office</a:t>
                      </a:r>
                    </a:p>
                  </a:txBody>
                  <a:tcPr anchor="ctr">
                    <a:lnT w="31750" cap="flat" cmpd="sng" algn="ctr">
                      <a:solidFill>
                        <a:srgbClr val="000000"/>
                      </a:solidFill>
                      <a:prstDash val="solid"/>
                      <a:round/>
                      <a:headEnd type="none" w="med" len="med"/>
                      <a:tailEnd type="none" w="med" len="med"/>
                    </a:lnT>
                    <a:lnB w="12700" cmpd="sng">
                      <a:solidFill>
                        <a:srgbClr val="BFBFBF"/>
                      </a:solidFill>
                    </a:lnB>
                  </a:tcPr>
                </a:tc>
                <a:tc>
                  <a:txBody>
                    <a:bodyPr/>
                    <a:lstStyle/>
                    <a:p>
                      <a:r>
                        <a:rPr sz="1600" b="0" i="0">
                          <a:solidFill>
                            <a:srgbClr val="000000"/>
                          </a:solidFill>
                          <a:latin typeface="Helvetica Neue"/>
                          <a:ea typeface="Helvetica Neue"/>
                          <a:cs typeface="Helvetica Neue"/>
                        </a:rPr>
                        <a:t>Weeks to months</a:t>
                      </a:r>
                    </a:p>
                  </a:txBody>
                  <a:tcPr anchor="ctr">
                    <a:lnT w="31750" cap="flat" cmpd="sng" algn="ctr">
                      <a:solidFill>
                        <a:srgbClr val="000000"/>
                      </a:solidFill>
                      <a:prstDash val="solid"/>
                      <a:round/>
                      <a:headEnd type="none" w="med" len="med"/>
                      <a:tailEnd type="none" w="med" len="med"/>
                    </a:lnT>
                    <a:lnB w="12700" cmpd="sng">
                      <a:solidFill>
                        <a:srgbClr val="BFBFBF"/>
                      </a:solidFill>
                    </a:lnB>
                  </a:tcPr>
                </a:tc>
                <a:tc>
                  <a:txBody>
                    <a:bodyPr/>
                    <a:lstStyle/>
                    <a:p>
                      <a:r>
                        <a:rPr sz="1600" b="0" i="0" dirty="0">
                          <a:solidFill>
                            <a:srgbClr val="000000"/>
                          </a:solidFill>
                          <a:latin typeface="Helvetica Neue"/>
                          <a:ea typeface="Helvetica Neue"/>
                          <a:cs typeface="Helvetica Neue"/>
                        </a:rPr>
                        <a:t>Ask for a route map; “diverse” may not be</a:t>
                      </a:r>
                    </a:p>
                  </a:txBody>
                  <a:tcPr anchor="ctr">
                    <a:lnT w="31750" cap="flat" cmpd="sng" algn="ctr">
                      <a:solidFill>
                        <a:srgbClr val="000000"/>
                      </a:solidFill>
                      <a:prstDash val="solid"/>
                      <a:round/>
                      <a:headEnd type="none" w="med" len="med"/>
                      <a:tailEnd type="none" w="med" len="med"/>
                    </a:lnT>
                    <a:lnB w="12700" cmpd="sng">
                      <a:solidFill>
                        <a:srgbClr val="BFBFBF"/>
                      </a:solidFill>
                    </a:lnB>
                  </a:tcPr>
                </a:tc>
                <a:extLst>
                  <a:ext uri="{0D108BD9-81ED-4DB2-BD59-A6C34878D82A}">
                    <a16:rowId xmlns:a16="http://schemas.microsoft.com/office/drawing/2014/main" val="10001"/>
                  </a:ext>
                </a:extLst>
              </a:tr>
              <a:tr h="685800">
                <a:tc>
                  <a:txBody>
                    <a:bodyPr/>
                    <a:lstStyle/>
                    <a:p>
                      <a:r>
                        <a:rPr sz="1800" b="1" i="0">
                          <a:solidFill>
                            <a:srgbClr val="000000"/>
                          </a:solidFill>
                          <a:latin typeface="Helvetica Neue"/>
                          <a:ea typeface="Helvetica Neue"/>
                          <a:cs typeface="Helvetica Neue"/>
                        </a:rPr>
                        <a:t>Cellular 4G / 5G</a:t>
                      </a:r>
                    </a:p>
                  </a:txBody>
                  <a:tcPr anchor="ctr">
                    <a:lnT w="12700" cap="flat" cmpd="sng" algn="ctr">
                      <a:solidFill>
                        <a:srgbClr val="BFBFBF"/>
                      </a:solidFill>
                      <a:prstDash val="solid"/>
                      <a:round/>
                      <a:headEnd type="none" w="med" len="med"/>
                      <a:tailEnd type="none" w="med" len="med"/>
                    </a:lnT>
                    <a:lnB w="12700" cmpd="sng">
                      <a:solidFill>
                        <a:srgbClr val="BFBFBF"/>
                      </a:solidFill>
                    </a:lnB>
                  </a:tcPr>
                </a:tc>
                <a:tc>
                  <a:txBody>
                    <a:bodyPr/>
                    <a:lstStyle/>
                    <a:p>
                      <a:r>
                        <a:rPr sz="1600" b="0" i="0">
                          <a:solidFill>
                            <a:srgbClr val="000000"/>
                          </a:solidFill>
                          <a:latin typeface="Helvetica Neue"/>
                          <a:ea typeface="Helvetica Neue"/>
                          <a:cs typeface="Helvetica Neue"/>
                        </a:rPr>
                        <a:t>Nothing on the street; possibly the tower’s backhaul</a:t>
                      </a:r>
                    </a:p>
                  </a:txBody>
                  <a:tcPr anchor="ctr">
                    <a:lnT w="12700" cap="flat" cmpd="sng" algn="ctr">
                      <a:solidFill>
                        <a:srgbClr val="BFBFBF"/>
                      </a:solidFill>
                      <a:prstDash val="solid"/>
                      <a:round/>
                      <a:headEnd type="none" w="med" len="med"/>
                      <a:tailEnd type="none" w="med" len="med"/>
                    </a:lnT>
                    <a:lnB w="12700" cmpd="sng">
                      <a:solidFill>
                        <a:srgbClr val="BFBFBF"/>
                      </a:solidFill>
                    </a:lnB>
                  </a:tcPr>
                </a:tc>
                <a:tc>
                  <a:txBody>
                    <a:bodyPr/>
                    <a:lstStyle/>
                    <a:p>
                      <a:r>
                        <a:rPr sz="1600" b="0" i="0">
                          <a:solidFill>
                            <a:srgbClr val="000000"/>
                          </a:solidFill>
                          <a:latin typeface="Helvetica Neue"/>
                          <a:ea typeface="Helvetica Neue"/>
                          <a:cs typeface="Helvetica Neue"/>
                        </a:rPr>
                        <a:t>Days</a:t>
                      </a:r>
                    </a:p>
                  </a:txBody>
                  <a:tcPr anchor="ctr">
                    <a:lnT w="12700" cap="flat" cmpd="sng" algn="ctr">
                      <a:solidFill>
                        <a:srgbClr val="BFBFBF"/>
                      </a:solidFill>
                      <a:prstDash val="solid"/>
                      <a:round/>
                      <a:headEnd type="none" w="med" len="med"/>
                      <a:tailEnd type="none" w="med" len="med"/>
                    </a:lnT>
                    <a:lnB w="12700" cmpd="sng">
                      <a:solidFill>
                        <a:srgbClr val="BFBFBF"/>
                      </a:solidFill>
                    </a:lnB>
                  </a:tcPr>
                </a:tc>
                <a:tc>
                  <a:txBody>
                    <a:bodyPr/>
                    <a:lstStyle/>
                    <a:p>
                      <a:r>
                        <a:rPr sz="1600" b="0" i="0">
                          <a:solidFill>
                            <a:srgbClr val="000000"/>
                          </a:solidFill>
                          <a:latin typeface="Helvetica Neue"/>
                          <a:ea typeface="Helvetica Neue"/>
                          <a:cs typeface="Helvetica Neue"/>
                        </a:rPr>
                        <a:t>Capacity, priority, data caps</a:t>
                      </a:r>
                    </a:p>
                  </a:txBody>
                  <a:tcPr anchor="ctr">
                    <a:lnT w="12700" cap="flat" cmpd="sng" algn="ctr">
                      <a:solidFill>
                        <a:srgbClr val="BFBFBF"/>
                      </a:solidFill>
                      <a:prstDash val="solid"/>
                      <a:round/>
                      <a:headEnd type="none" w="med" len="med"/>
                      <a:tailEnd type="none" w="med" len="med"/>
                    </a:lnT>
                    <a:lnB w="12700" cmpd="sng">
                      <a:solidFill>
                        <a:srgbClr val="BFBFBF"/>
                      </a:solidFill>
                    </a:lnB>
                  </a:tcPr>
                </a:tc>
                <a:extLst>
                  <a:ext uri="{0D108BD9-81ED-4DB2-BD59-A6C34878D82A}">
                    <a16:rowId xmlns:a16="http://schemas.microsoft.com/office/drawing/2014/main" val="10002"/>
                  </a:ext>
                </a:extLst>
              </a:tr>
              <a:tr h="685800">
                <a:tc>
                  <a:txBody>
                    <a:bodyPr/>
                    <a:lstStyle/>
                    <a:p>
                      <a:r>
                        <a:rPr sz="1800" b="1" i="0">
                          <a:solidFill>
                            <a:srgbClr val="000000"/>
                          </a:solidFill>
                          <a:latin typeface="Helvetica Neue"/>
                          <a:ea typeface="Helvetica Neue"/>
                          <a:cs typeface="Helvetica Neue"/>
                        </a:rPr>
                        <a:t>Fixed wireless ISP</a:t>
                      </a:r>
                    </a:p>
                  </a:txBody>
                  <a:tcPr anchor="ctr">
                    <a:lnT w="12700" cap="flat" cmpd="sng" algn="ctr">
                      <a:solidFill>
                        <a:srgbClr val="BFBFBF"/>
                      </a:solidFill>
                      <a:prstDash val="solid"/>
                      <a:round/>
                      <a:headEnd type="none" w="med" len="med"/>
                      <a:tailEnd type="none" w="med" len="med"/>
                    </a:lnT>
                    <a:lnB w="12700" cmpd="sng">
                      <a:solidFill>
                        <a:srgbClr val="BFBFBF"/>
                      </a:solidFill>
                    </a:lnB>
                  </a:tcPr>
                </a:tc>
                <a:tc>
                  <a:txBody>
                    <a:bodyPr/>
                    <a:lstStyle/>
                    <a:p>
                      <a:r>
                        <a:rPr sz="1600" b="0" i="0">
                          <a:solidFill>
                            <a:srgbClr val="000000"/>
                          </a:solidFill>
                          <a:latin typeface="Helvetica Neue"/>
                          <a:ea typeface="Helvetica Neue"/>
                          <a:cs typeface="Helvetica Neue"/>
                        </a:rPr>
                        <a:t>The tower’s backhaul</a:t>
                      </a:r>
                    </a:p>
                  </a:txBody>
                  <a:tcPr anchor="ctr">
                    <a:lnT w="12700" cap="flat" cmpd="sng" algn="ctr">
                      <a:solidFill>
                        <a:srgbClr val="BFBFBF"/>
                      </a:solidFill>
                      <a:prstDash val="solid"/>
                      <a:round/>
                      <a:headEnd type="none" w="med" len="med"/>
                      <a:tailEnd type="none" w="med" len="med"/>
                    </a:lnT>
                    <a:lnB w="12700" cmpd="sng">
                      <a:solidFill>
                        <a:srgbClr val="BFBFBF"/>
                      </a:solidFill>
                    </a:lnB>
                  </a:tcPr>
                </a:tc>
                <a:tc>
                  <a:txBody>
                    <a:bodyPr/>
                    <a:lstStyle/>
                    <a:p>
                      <a:r>
                        <a:rPr sz="1600" b="0" i="0">
                          <a:solidFill>
                            <a:srgbClr val="000000"/>
                          </a:solidFill>
                          <a:latin typeface="Helvetica Neue"/>
                          <a:ea typeface="Helvetica Neue"/>
                          <a:cs typeface="Helvetica Neue"/>
                        </a:rPr>
                        <a:t>Days</a:t>
                      </a:r>
                    </a:p>
                  </a:txBody>
                  <a:tcPr anchor="ctr">
                    <a:lnT w="12700" cap="flat" cmpd="sng" algn="ctr">
                      <a:solidFill>
                        <a:srgbClr val="BFBFBF"/>
                      </a:solidFill>
                      <a:prstDash val="solid"/>
                      <a:round/>
                      <a:headEnd type="none" w="med" len="med"/>
                      <a:tailEnd type="none" w="med" len="med"/>
                    </a:lnT>
                    <a:lnB w="12700" cmpd="sng">
                      <a:solidFill>
                        <a:srgbClr val="BFBFBF"/>
                      </a:solidFill>
                    </a:lnB>
                  </a:tcPr>
                </a:tc>
                <a:tc>
                  <a:txBody>
                    <a:bodyPr/>
                    <a:lstStyle/>
                    <a:p>
                      <a:r>
                        <a:rPr sz="1600" b="0" i="0">
                          <a:solidFill>
                            <a:srgbClr val="000000"/>
                          </a:solidFill>
                          <a:latin typeface="Helvetica Neue"/>
                          <a:ea typeface="Helvetica Neue"/>
                          <a:cs typeface="Helvetica Neue"/>
                        </a:rPr>
                        <a:t>Line of sight, weather, consumer terms</a:t>
                      </a:r>
                    </a:p>
                  </a:txBody>
                  <a:tcPr anchor="ctr">
                    <a:lnT w="12700" cap="flat" cmpd="sng" algn="ctr">
                      <a:solidFill>
                        <a:srgbClr val="BFBFBF"/>
                      </a:solidFill>
                      <a:prstDash val="solid"/>
                      <a:round/>
                      <a:headEnd type="none" w="med" len="med"/>
                      <a:tailEnd type="none" w="med" len="med"/>
                    </a:lnT>
                    <a:lnB w="12700" cmpd="sng">
                      <a:solidFill>
                        <a:srgbClr val="BFBFBF"/>
                      </a:solidFill>
                    </a:lnB>
                  </a:tcPr>
                </a:tc>
                <a:extLst>
                  <a:ext uri="{0D108BD9-81ED-4DB2-BD59-A6C34878D82A}">
                    <a16:rowId xmlns:a16="http://schemas.microsoft.com/office/drawing/2014/main" val="10003"/>
                  </a:ext>
                </a:extLst>
              </a:tr>
              <a:tr h="685800">
                <a:tc>
                  <a:txBody>
                    <a:bodyPr/>
                    <a:lstStyle/>
                    <a:p>
                      <a:r>
                        <a:rPr sz="1800" b="1" i="0">
                          <a:solidFill>
                            <a:srgbClr val="000000"/>
                          </a:solidFill>
                          <a:latin typeface="Helvetica Neue"/>
                          <a:ea typeface="Helvetica Neue"/>
                          <a:cs typeface="Helvetica Neue"/>
                        </a:rPr>
                        <a:t>Satellite (Starlink)</a:t>
                      </a:r>
                    </a:p>
                  </a:txBody>
                  <a:tcPr anchor="ctr">
                    <a:lnT w="12700" cap="flat" cmpd="sng" algn="ctr">
                      <a:solidFill>
                        <a:srgbClr val="BFBFBF"/>
                      </a:solidFill>
                      <a:prstDash val="solid"/>
                      <a:round/>
                      <a:headEnd type="none" w="med" len="med"/>
                      <a:tailEnd type="none" w="med" len="med"/>
                    </a:lnT>
                    <a:lnB w="12700" cmpd="sng">
                      <a:solidFill>
                        <a:srgbClr val="BFBFBF"/>
                      </a:solidFill>
                    </a:lnB>
                  </a:tcPr>
                </a:tc>
                <a:tc>
                  <a:txBody>
                    <a:bodyPr/>
                    <a:lstStyle/>
                    <a:p>
                      <a:r>
                        <a:rPr sz="1600" b="0" i="0">
                          <a:solidFill>
                            <a:srgbClr val="000000"/>
                          </a:solidFill>
                          <a:latin typeface="Helvetica Neue"/>
                          <a:ea typeface="Helvetica Neue"/>
                          <a:cs typeface="Helvetica Neue"/>
                        </a:rPr>
                        <a:t>Almost nothing on the ground</a:t>
                      </a:r>
                    </a:p>
                  </a:txBody>
                  <a:tcPr anchor="ctr">
                    <a:lnT w="12700" cap="flat" cmpd="sng" algn="ctr">
                      <a:solidFill>
                        <a:srgbClr val="BFBFBF"/>
                      </a:solidFill>
                      <a:prstDash val="solid"/>
                      <a:round/>
                      <a:headEnd type="none" w="med" len="med"/>
                      <a:tailEnd type="none" w="med" len="med"/>
                    </a:lnT>
                    <a:lnB w="12700" cmpd="sng">
                      <a:solidFill>
                        <a:srgbClr val="BFBFBF"/>
                      </a:solidFill>
                    </a:lnB>
                  </a:tcPr>
                </a:tc>
                <a:tc>
                  <a:txBody>
                    <a:bodyPr/>
                    <a:lstStyle/>
                    <a:p>
                      <a:r>
                        <a:rPr sz="1600" b="0" i="0">
                          <a:solidFill>
                            <a:srgbClr val="000000"/>
                          </a:solidFill>
                          <a:latin typeface="Helvetica Neue"/>
                          <a:ea typeface="Helvetica Neue"/>
                          <a:cs typeface="Helvetica Neue"/>
                        </a:rPr>
                        <a:t>A day</a:t>
                      </a:r>
                    </a:p>
                  </a:txBody>
                  <a:tcPr anchor="ctr">
                    <a:lnT w="12700" cap="flat" cmpd="sng" algn="ctr">
                      <a:solidFill>
                        <a:srgbClr val="BFBFBF"/>
                      </a:solidFill>
                      <a:prstDash val="solid"/>
                      <a:round/>
                      <a:headEnd type="none" w="med" len="med"/>
                      <a:tailEnd type="none" w="med" len="med"/>
                    </a:lnT>
                    <a:lnB w="12700" cmpd="sng">
                      <a:solidFill>
                        <a:srgbClr val="BFBFBF"/>
                      </a:solidFill>
                    </a:lnB>
                  </a:tcPr>
                </a:tc>
                <a:tc>
                  <a:txBody>
                    <a:bodyPr/>
                    <a:lstStyle/>
                    <a:p>
                      <a:r>
                        <a:rPr sz="1600" b="0" i="0" dirty="0">
                          <a:solidFill>
                            <a:srgbClr val="000000"/>
                          </a:solidFill>
                          <a:latin typeface="Helvetica Neue"/>
                          <a:ea typeface="Helvetica Neue"/>
                          <a:cs typeface="Helvetica Neue"/>
                        </a:rPr>
                        <a:t>Sky view, single provider, no static IP</a:t>
                      </a:r>
                    </a:p>
                  </a:txBody>
                  <a:tcPr anchor="ctr">
                    <a:lnT w="12700" cap="flat" cmpd="sng" algn="ctr">
                      <a:solidFill>
                        <a:srgbClr val="BFBFBF"/>
                      </a:solidFill>
                      <a:prstDash val="solid"/>
                      <a:round/>
                      <a:headEnd type="none" w="med" len="med"/>
                      <a:tailEnd type="none" w="med" len="med"/>
                    </a:lnT>
                    <a:lnB w="12700" cmpd="sng">
                      <a:solidFill>
                        <a:srgbClr val="BFBFBF"/>
                      </a:solidFill>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2969320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Exercise 2: Annotate WAN Segments</a:t>
            </a:r>
          </a:p>
        </p:txBody>
      </p:sp>
      <p:sp>
        <p:nvSpPr>
          <p:cNvPr id="3" name="Content Placeholder 2">
            <a:extLst>
              <a:ext uri="{FF2B5EF4-FFF2-40B4-BE49-F238E27FC236}">
                <a16:creationId xmlns:a16="http://schemas.microsoft.com/office/drawing/2014/main" id="{555C3C05-41EF-86B3-8C4C-1D5DFF919730}"/>
              </a:ext>
            </a:extLst>
          </p:cNvPr>
          <p:cNvSpPr>
            <a:spLocks noGrp="1"/>
          </p:cNvSpPr>
          <p:nvPr>
            <p:ph idx="1"/>
          </p:nvPr>
        </p:nvSpPr>
        <p:spPr/>
        <p:txBody>
          <a:bodyPr/>
          <a:lstStyle/>
          <a:p>
            <a:r>
              <a:rPr lang="en-US" dirty="0"/>
              <a:t>As with Exercise 1 yesterday, consider your table’s topology diagram:</a:t>
            </a:r>
          </a:p>
          <a:p>
            <a:pPr lvl="1"/>
            <a:r>
              <a:rPr lang="en-US" dirty="0"/>
              <a:t>What kind of WAN(s) do(es) it show?</a:t>
            </a:r>
          </a:p>
          <a:p>
            <a:pPr lvl="1"/>
            <a:r>
              <a:rPr lang="en-US" dirty="0"/>
              <a:t>How is it integrated with the bank’s LAN(s)?</a:t>
            </a:r>
          </a:p>
          <a:p>
            <a:pPr lvl="1"/>
            <a:r>
              <a:rPr lang="en-US" dirty="0"/>
              <a:t>What’s the relationship between WAN and internet access?</a:t>
            </a:r>
          </a:p>
          <a:p>
            <a:r>
              <a:rPr lang="en-US" dirty="0"/>
              <a:t>Mark it up:</a:t>
            </a:r>
          </a:p>
          <a:p>
            <a:pPr lvl="1"/>
            <a:r>
              <a:rPr lang="en-US" dirty="0"/>
              <a:t>Question marks for things that seem strange</a:t>
            </a:r>
          </a:p>
          <a:p>
            <a:pPr lvl="1"/>
            <a:r>
              <a:rPr lang="en-US" dirty="0"/>
              <a:t>Purple for any backup services or links</a:t>
            </a:r>
          </a:p>
          <a:p>
            <a:pPr lvl="1"/>
            <a:r>
              <a:rPr lang="en-US" dirty="0"/>
              <a:t>What if there’s no purple? Is that risk?</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Chapter 12:</a:t>
            </a:r>
            <a:br>
              <a:rPr lang="en-US" dirty="0"/>
            </a:br>
            <a:r>
              <a:rPr lang="en-US" dirty="0"/>
              <a:t>The internet and applications</a:t>
            </a:r>
            <a:endParaRPr dirty="0"/>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17F34D-9050-DE65-413D-7E2D07A0E3F1}"/>
              </a:ext>
            </a:extLst>
          </p:cNvPr>
          <p:cNvSpPr>
            <a:spLocks noGrp="1"/>
          </p:cNvSpPr>
          <p:nvPr>
            <p:ph type="title"/>
          </p:nvPr>
        </p:nvSpPr>
        <p:spPr/>
        <p:txBody>
          <a:bodyPr/>
          <a:lstStyle/>
          <a:p>
            <a:r>
              <a:rPr lang="en-US"/>
              <a:t>The Internet</a:t>
            </a:r>
          </a:p>
        </p:txBody>
      </p:sp>
      <p:sp>
        <p:nvSpPr>
          <p:cNvPr id="5" name="Content Placeholder 4">
            <a:extLst>
              <a:ext uri="{FF2B5EF4-FFF2-40B4-BE49-F238E27FC236}">
                <a16:creationId xmlns:a16="http://schemas.microsoft.com/office/drawing/2014/main" id="{4BD068F2-EF37-6CBD-2984-636EDE968112}"/>
              </a:ext>
            </a:extLst>
          </p:cNvPr>
          <p:cNvSpPr>
            <a:spLocks noGrp="1"/>
          </p:cNvSpPr>
          <p:nvPr>
            <p:ph idx="1"/>
          </p:nvPr>
        </p:nvSpPr>
        <p:spPr/>
        <p:txBody>
          <a:bodyPr>
            <a:normAutofit lnSpcReduction="10000"/>
          </a:bodyPr>
          <a:lstStyle/>
          <a:p>
            <a:r>
              <a:rPr lang="en-US" dirty="0"/>
              <a:t>Everything we’ve discussed so far is quite “flat” and local</a:t>
            </a:r>
          </a:p>
          <a:p>
            <a:r>
              <a:rPr lang="en-US" dirty="0"/>
              <a:t>LANs and even classic WANs are just “one hop” networks</a:t>
            </a:r>
          </a:p>
          <a:p>
            <a:r>
              <a:rPr lang="en-US" dirty="0"/>
              <a:t>The internet is almost the only network used by most people, banks, and other organizations</a:t>
            </a:r>
          </a:p>
          <a:p>
            <a:pPr lvl="1"/>
            <a:r>
              <a:rPr lang="en-US" dirty="0"/>
              <a:t>Banks formerly built or bought their own private WANs to connect to their own private locations, systems, and database applications</a:t>
            </a:r>
          </a:p>
          <a:p>
            <a:pPr lvl="1"/>
            <a:r>
              <a:rPr lang="en-US" dirty="0"/>
              <a:t>Today we all share the same resources and rent access to them</a:t>
            </a:r>
          </a:p>
          <a:p>
            <a:r>
              <a:rPr lang="en-US" dirty="0"/>
              <a:t>The applications that banks and others use are almost entirely based on internet protocols and infrastructure</a:t>
            </a:r>
          </a:p>
          <a:p>
            <a:r>
              <a:rPr lang="en-US" dirty="0"/>
              <a:t>Understanding how bank networks work beyond their own systems means understanding internet technology</a:t>
            </a:r>
          </a:p>
          <a:p>
            <a:endParaRPr lang="en-US" dirty="0"/>
          </a:p>
        </p:txBody>
      </p:sp>
    </p:spTree>
    <p:extLst>
      <p:ext uri="{BB962C8B-B14F-4D97-AF65-F5344CB8AC3E}">
        <p14:creationId xmlns:p14="http://schemas.microsoft.com/office/powerpoint/2010/main" val="62186530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628900" y="2164558"/>
            <a:ext cx="3057525" cy="1714500"/>
            <a:chOff x="144" y="720"/>
            <a:chExt cx="1284" cy="720"/>
          </a:xfrm>
        </p:grpSpPr>
        <p:sp>
          <p:nvSpPr>
            <p:cNvPr id="1357827" name="Line 3"/>
            <p:cNvSpPr>
              <a:spLocks noChangeShapeType="1"/>
            </p:cNvSpPr>
            <p:nvPr/>
          </p:nvSpPr>
          <p:spPr bwMode="auto">
            <a:xfrm>
              <a:off x="1140" y="1164"/>
              <a:ext cx="288" cy="240"/>
            </a:xfrm>
            <a:prstGeom prst="line">
              <a:avLst/>
            </a:prstGeom>
            <a:noFill/>
            <a:ln w="28575">
              <a:solidFill>
                <a:schemeClr val="tx1"/>
              </a:solidFill>
              <a:round/>
              <a:headEnd/>
              <a:tailEnd/>
            </a:ln>
            <a:effectLst/>
          </p:spPr>
          <p:txBody>
            <a:bodyPr wrap="none">
              <a:spAutoFit/>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28" name="Cloud"/>
            <p:cNvSpPr>
              <a:spLocks noChangeAspect="1" noEditPoints="1" noChangeArrowheads="1"/>
            </p:cNvSpPr>
            <p:nvPr/>
          </p:nvSpPr>
          <p:spPr bwMode="auto">
            <a:xfrm>
              <a:off x="144" y="720"/>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CCCCFF">
                    <a:gamma/>
                    <a:tint val="0"/>
                    <a:invGamma/>
                  </a:srgbClr>
                </a:gs>
                <a:gs pos="100000">
                  <a:srgbClr val="CCCCFF"/>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29" name="Text Box 5"/>
            <p:cNvSpPr txBox="1">
              <a:spLocks noChangeArrowheads="1"/>
            </p:cNvSpPr>
            <p:nvPr/>
          </p:nvSpPr>
          <p:spPr bwMode="auto">
            <a:xfrm>
              <a:off x="352" y="864"/>
              <a:ext cx="748" cy="401"/>
            </a:xfrm>
            <a:prstGeom prst="rect">
              <a:avLst/>
            </a:prstGeom>
            <a:noFill/>
            <a:ln w="28575" algn="ctr">
              <a:noFill/>
              <a:miter lim="800000"/>
              <a:headEnd/>
              <a:tailEnd/>
            </a:ln>
            <a:effectLst/>
          </p:spPr>
          <p:txBody>
            <a:bodyPr wrap="none">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rPr>
                <a:t>Service</a:t>
              </a:r>
            </a:p>
            <a:p>
              <a:pPr algn="ctr" defTabSz="1540670" fontAlgn="base">
                <a:lnSpc>
                  <a:spcPct val="85000"/>
                </a:lnSpc>
                <a:spcBef>
                  <a:spcPct val="0"/>
                </a:spcBef>
                <a:spcAft>
                  <a:spcPct val="0"/>
                </a:spcAft>
              </a:pPr>
              <a:r>
                <a:rPr lang="en-US" sz="3300" b="1">
                  <a:solidFill>
                    <a:srgbClr val="000000"/>
                  </a:solidFill>
                  <a:latin typeface="Arial Narrow" pitchFamily="34" charset="0"/>
                </a:rPr>
                <a:t>Providers</a:t>
              </a:r>
            </a:p>
          </p:txBody>
        </p:sp>
      </p:grpSp>
      <p:grpSp>
        <p:nvGrpSpPr>
          <p:cNvPr id="3" name="Group 6"/>
          <p:cNvGrpSpPr>
            <a:grpSpLocks/>
          </p:cNvGrpSpPr>
          <p:nvPr/>
        </p:nvGrpSpPr>
        <p:grpSpPr bwMode="auto">
          <a:xfrm>
            <a:off x="12915900" y="2171700"/>
            <a:ext cx="2743200" cy="2171700"/>
            <a:chOff x="4368" y="624"/>
            <a:chExt cx="1248" cy="900"/>
          </a:xfrm>
        </p:grpSpPr>
        <p:sp>
          <p:nvSpPr>
            <p:cNvPr id="1357831" name="Line 7"/>
            <p:cNvSpPr>
              <a:spLocks noChangeShapeType="1"/>
            </p:cNvSpPr>
            <p:nvPr/>
          </p:nvSpPr>
          <p:spPr bwMode="auto">
            <a:xfrm flipV="1">
              <a:off x="4380" y="1236"/>
              <a:ext cx="336" cy="288"/>
            </a:xfrm>
            <a:prstGeom prst="line">
              <a:avLst/>
            </a:prstGeom>
            <a:noFill/>
            <a:ln w="28575">
              <a:solidFill>
                <a:schemeClr val="tx1"/>
              </a:solidFill>
              <a:round/>
              <a:headEnd/>
              <a:tailEnd/>
            </a:ln>
            <a:effectLst/>
          </p:spPr>
          <p:txBody>
            <a:bodyPr wrap="none">
              <a:spAutoFit/>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32" name="Cloud"/>
            <p:cNvSpPr>
              <a:spLocks noChangeAspect="1" noEditPoints="1" noChangeArrowheads="1"/>
            </p:cNvSpPr>
            <p:nvPr/>
          </p:nvSpPr>
          <p:spPr bwMode="auto">
            <a:xfrm>
              <a:off x="4368" y="624"/>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CCCCFF">
                    <a:gamma/>
                    <a:tint val="0"/>
                    <a:invGamma/>
                  </a:srgbClr>
                </a:gs>
                <a:gs pos="100000">
                  <a:srgbClr val="CCCCFF"/>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33" name="Text Box 9"/>
            <p:cNvSpPr txBox="1">
              <a:spLocks noChangeArrowheads="1"/>
            </p:cNvSpPr>
            <p:nvPr/>
          </p:nvSpPr>
          <p:spPr bwMode="auto">
            <a:xfrm>
              <a:off x="4545" y="768"/>
              <a:ext cx="810" cy="396"/>
            </a:xfrm>
            <a:prstGeom prst="rect">
              <a:avLst/>
            </a:prstGeom>
            <a:noFill/>
            <a:ln w="28575" algn="ctr">
              <a:noFill/>
              <a:miter lim="800000"/>
              <a:headEnd/>
              <a:tailEnd/>
            </a:ln>
            <a:effectLst/>
          </p:spPr>
          <p:txBody>
            <a:bodyPr wrap="none">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rPr>
                <a:t>Service</a:t>
              </a:r>
            </a:p>
            <a:p>
              <a:pPr algn="ctr" defTabSz="1540670" fontAlgn="base">
                <a:lnSpc>
                  <a:spcPct val="85000"/>
                </a:lnSpc>
                <a:spcBef>
                  <a:spcPct val="0"/>
                </a:spcBef>
                <a:spcAft>
                  <a:spcPct val="0"/>
                </a:spcAft>
              </a:pPr>
              <a:r>
                <a:rPr lang="en-US" sz="3300" b="1">
                  <a:solidFill>
                    <a:srgbClr val="000000"/>
                  </a:solidFill>
                  <a:latin typeface="Arial Narrow" pitchFamily="34" charset="0"/>
                </a:rPr>
                <a:t>Providers</a:t>
              </a:r>
            </a:p>
          </p:txBody>
        </p:sp>
      </p:grpSp>
      <p:grpSp>
        <p:nvGrpSpPr>
          <p:cNvPr id="4" name="Group 10"/>
          <p:cNvGrpSpPr>
            <a:grpSpLocks/>
          </p:cNvGrpSpPr>
          <p:nvPr/>
        </p:nvGrpSpPr>
        <p:grpSpPr bwMode="auto">
          <a:xfrm>
            <a:off x="12687300" y="5286376"/>
            <a:ext cx="2667000" cy="1195388"/>
            <a:chOff x="4368" y="2031"/>
            <a:chExt cx="1120" cy="502"/>
          </a:xfrm>
        </p:grpSpPr>
        <p:sp>
          <p:nvSpPr>
            <p:cNvPr id="1357835" name="Line 11"/>
            <p:cNvSpPr>
              <a:spLocks noChangeShapeType="1"/>
            </p:cNvSpPr>
            <p:nvPr/>
          </p:nvSpPr>
          <p:spPr bwMode="auto">
            <a:xfrm>
              <a:off x="4368" y="2064"/>
              <a:ext cx="624" cy="192"/>
            </a:xfrm>
            <a:prstGeom prst="line">
              <a:avLst/>
            </a:prstGeom>
            <a:noFill/>
            <a:ln w="28575">
              <a:solidFill>
                <a:schemeClr val="tx1"/>
              </a:solidFill>
              <a:round/>
              <a:headEnd/>
              <a:tailEnd/>
            </a:ln>
            <a:effectLst/>
          </p:spPr>
          <p:txBody>
            <a:bodyPr wrap="none">
              <a:spAutoFit/>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pic>
          <p:nvPicPr>
            <p:cNvPr id="1357836" name="Picture 12" descr="2-Floor Office Buildin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898" y="2031"/>
              <a:ext cx="590" cy="502"/>
            </a:xfrm>
            <a:prstGeom prst="rect">
              <a:avLst/>
            </a:prstGeom>
            <a:noFill/>
          </p:spPr>
        </p:pic>
      </p:grpSp>
      <p:grpSp>
        <p:nvGrpSpPr>
          <p:cNvPr id="5" name="Group 13"/>
          <p:cNvGrpSpPr>
            <a:grpSpLocks/>
          </p:cNvGrpSpPr>
          <p:nvPr/>
        </p:nvGrpSpPr>
        <p:grpSpPr bwMode="auto">
          <a:xfrm>
            <a:off x="2743200" y="4221957"/>
            <a:ext cx="2057400" cy="914400"/>
            <a:chOff x="192" y="1584"/>
            <a:chExt cx="864" cy="384"/>
          </a:xfrm>
        </p:grpSpPr>
        <p:sp>
          <p:nvSpPr>
            <p:cNvPr id="1357838" name="Line 14"/>
            <p:cNvSpPr>
              <a:spLocks noChangeShapeType="1"/>
            </p:cNvSpPr>
            <p:nvPr/>
          </p:nvSpPr>
          <p:spPr bwMode="auto">
            <a:xfrm>
              <a:off x="720" y="1824"/>
              <a:ext cx="336" cy="144"/>
            </a:xfrm>
            <a:prstGeom prst="line">
              <a:avLst/>
            </a:prstGeom>
            <a:noFill/>
            <a:ln w="28575">
              <a:solidFill>
                <a:schemeClr val="tx1"/>
              </a:solidFill>
              <a:round/>
              <a:headEnd/>
              <a:tailEnd/>
            </a:ln>
            <a:effectLst/>
          </p:spPr>
          <p:txBody>
            <a:bodyPr wrap="none">
              <a:spAutoFit/>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pic>
          <p:nvPicPr>
            <p:cNvPr id="1357839" name="Picture 15" descr="Basic House"/>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92" y="1584"/>
              <a:ext cx="664" cy="376"/>
            </a:xfrm>
            <a:prstGeom prst="rect">
              <a:avLst/>
            </a:prstGeom>
            <a:noFill/>
          </p:spPr>
        </p:pic>
      </p:grpSp>
      <p:grpSp>
        <p:nvGrpSpPr>
          <p:cNvPr id="6" name="Group 16"/>
          <p:cNvGrpSpPr>
            <a:grpSpLocks/>
          </p:cNvGrpSpPr>
          <p:nvPr/>
        </p:nvGrpSpPr>
        <p:grpSpPr bwMode="auto">
          <a:xfrm>
            <a:off x="2743200" y="6050758"/>
            <a:ext cx="2743200" cy="3043238"/>
            <a:chOff x="192" y="2352"/>
            <a:chExt cx="1152" cy="1278"/>
          </a:xfrm>
        </p:grpSpPr>
        <p:sp>
          <p:nvSpPr>
            <p:cNvPr id="1357841" name="Line 17"/>
            <p:cNvSpPr>
              <a:spLocks noChangeShapeType="1"/>
            </p:cNvSpPr>
            <p:nvPr/>
          </p:nvSpPr>
          <p:spPr bwMode="auto">
            <a:xfrm flipV="1">
              <a:off x="864" y="2640"/>
              <a:ext cx="480" cy="480"/>
            </a:xfrm>
            <a:prstGeom prst="line">
              <a:avLst/>
            </a:prstGeom>
            <a:noFill/>
            <a:ln w="28575">
              <a:solidFill>
                <a:schemeClr val="tx1"/>
              </a:solidFill>
              <a:round/>
              <a:headEnd/>
              <a:tailEnd/>
            </a:ln>
            <a:effectLst/>
          </p:spPr>
          <p:txBody>
            <a:bodyPr wrap="none">
              <a:spAutoFit/>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pic>
          <p:nvPicPr>
            <p:cNvPr id="1357842" name="Picture 18" descr="Large Tall Building"/>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92" y="2352"/>
              <a:ext cx="729" cy="1278"/>
            </a:xfrm>
            <a:prstGeom prst="rect">
              <a:avLst/>
            </a:prstGeom>
            <a:noFill/>
          </p:spPr>
        </p:pic>
      </p:grpSp>
      <p:grpSp>
        <p:nvGrpSpPr>
          <p:cNvPr id="7" name="Group 19"/>
          <p:cNvGrpSpPr>
            <a:grpSpLocks/>
          </p:cNvGrpSpPr>
          <p:nvPr/>
        </p:nvGrpSpPr>
        <p:grpSpPr bwMode="auto">
          <a:xfrm>
            <a:off x="9944100" y="7079458"/>
            <a:ext cx="2085975" cy="2240756"/>
            <a:chOff x="3216" y="2784"/>
            <a:chExt cx="876" cy="941"/>
          </a:xfrm>
        </p:grpSpPr>
        <p:sp>
          <p:nvSpPr>
            <p:cNvPr id="1357844" name="Line 20"/>
            <p:cNvSpPr>
              <a:spLocks noChangeShapeType="1"/>
            </p:cNvSpPr>
            <p:nvPr/>
          </p:nvSpPr>
          <p:spPr bwMode="auto">
            <a:xfrm>
              <a:off x="3456" y="2784"/>
              <a:ext cx="96" cy="624"/>
            </a:xfrm>
            <a:prstGeom prst="line">
              <a:avLst/>
            </a:prstGeom>
            <a:noFill/>
            <a:ln w="28575">
              <a:solidFill>
                <a:schemeClr val="tx1"/>
              </a:solidFill>
              <a:round/>
              <a:headEnd/>
              <a:tailEnd/>
            </a:ln>
            <a:effectLst/>
          </p:spPr>
          <p:txBody>
            <a:bodyPr wrap="none">
              <a:spAutoFit/>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pic>
          <p:nvPicPr>
            <p:cNvPr id="1357845" name="Picture 21" descr="House 3-D"/>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3216" y="3216"/>
              <a:ext cx="876" cy="509"/>
            </a:xfrm>
            <a:prstGeom prst="rect">
              <a:avLst/>
            </a:prstGeom>
            <a:noFill/>
          </p:spPr>
        </p:pic>
      </p:grpSp>
      <p:grpSp>
        <p:nvGrpSpPr>
          <p:cNvPr id="8" name="Group 22"/>
          <p:cNvGrpSpPr>
            <a:grpSpLocks/>
          </p:cNvGrpSpPr>
          <p:nvPr/>
        </p:nvGrpSpPr>
        <p:grpSpPr bwMode="auto">
          <a:xfrm>
            <a:off x="5486401" y="7308057"/>
            <a:ext cx="3157538" cy="2743200"/>
            <a:chOff x="1344" y="2880"/>
            <a:chExt cx="1326" cy="1152"/>
          </a:xfrm>
        </p:grpSpPr>
        <p:sp>
          <p:nvSpPr>
            <p:cNvPr id="1357847" name="Line 23"/>
            <p:cNvSpPr>
              <a:spLocks noChangeShapeType="1"/>
            </p:cNvSpPr>
            <p:nvPr/>
          </p:nvSpPr>
          <p:spPr bwMode="auto">
            <a:xfrm>
              <a:off x="1968" y="2880"/>
              <a:ext cx="48" cy="768"/>
            </a:xfrm>
            <a:prstGeom prst="line">
              <a:avLst/>
            </a:prstGeom>
            <a:noFill/>
            <a:ln w="28575">
              <a:solidFill>
                <a:schemeClr val="tx1"/>
              </a:solidFill>
              <a:round/>
              <a:headEnd/>
              <a:tailEnd/>
            </a:ln>
            <a:effectLst/>
          </p:spPr>
          <p:txBody>
            <a:bodyPr>
              <a:spAutoFit/>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pic>
          <p:nvPicPr>
            <p:cNvPr id="1357848" name="Picture 24" descr="Modern Office Building"/>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344" y="3456"/>
              <a:ext cx="1326" cy="576"/>
            </a:xfrm>
            <a:prstGeom prst="rect">
              <a:avLst/>
            </a:prstGeom>
            <a:noFill/>
          </p:spPr>
        </p:pic>
      </p:grpSp>
      <p:sp>
        <p:nvSpPr>
          <p:cNvPr id="1357849" name="Rectangle 25"/>
          <p:cNvSpPr>
            <a:spLocks noGrp="1" noChangeArrowheads="1"/>
          </p:cNvSpPr>
          <p:nvPr>
            <p:ph type="title"/>
          </p:nvPr>
        </p:nvSpPr>
        <p:spPr/>
        <p:txBody>
          <a:bodyPr>
            <a:normAutofit/>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The Internet: A Global, Public, Packet Network</a:t>
            </a:r>
          </a:p>
        </p:txBody>
      </p:sp>
      <p:sp>
        <p:nvSpPr>
          <p:cNvPr id="57" name="Slide Number Placeholder 56"/>
          <p:cNvSpPr>
            <a:spLocks noGrp="1"/>
          </p:cNvSpPr>
          <p:nvPr>
            <p:ph type="sldNum" sz="quarter" idx="12"/>
          </p:nvPr>
        </p:nvSpPr>
        <p:spPr>
          <a:prstGeom prst="rect">
            <a:avLst/>
          </a:prstGeom>
        </p:spPr>
        <p:txBody>
          <a:bodyPr/>
          <a:lstStyle/>
          <a:p>
            <a:fld id="{52B67DA5-9DD9-4BCA-8370-9CA784C1DE92}" type="slidenum">
              <a:rPr lang="en-US" smtClean="0"/>
              <a:pPr/>
              <a:t>87</a:t>
            </a:fld>
            <a:endParaRPr lang="en-US"/>
          </a:p>
        </p:txBody>
      </p:sp>
      <p:sp>
        <p:nvSpPr>
          <p:cNvPr id="1357850" name="Cloud"/>
          <p:cNvSpPr>
            <a:spLocks noChangeAspect="1" noEditPoints="1" noChangeArrowheads="1"/>
          </p:cNvSpPr>
          <p:nvPr/>
        </p:nvSpPr>
        <p:spPr bwMode="auto">
          <a:xfrm>
            <a:off x="4572000" y="2507458"/>
            <a:ext cx="8963025" cy="6005513"/>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CC66">
                  <a:gamma/>
                  <a:tint val="0"/>
                  <a:invGamma/>
                </a:srgbClr>
              </a:gs>
              <a:gs pos="100000">
                <a:srgbClr val="FFCC66"/>
              </a:gs>
            </a:gsLst>
            <a:path path="rect">
              <a:fillToRect l="50000" t="50000" r="50000" b="50000"/>
            </a:path>
          </a:gradFill>
          <a:ln w="9525">
            <a:solidFill>
              <a:srgbClr val="000000"/>
            </a:solidFill>
            <a:miter lim="800000"/>
            <a:headEnd/>
            <a:tailEnd/>
          </a:ln>
          <a:effectLst/>
        </p:spPr>
        <p:txBody>
          <a:bodyPr wrap="none" anchor="ctr" anchorCtr="1"/>
          <a:lstStyle/>
          <a:p>
            <a:pPr algn="ctr" eaLnBrk="0" fontAlgn="base" hangingPunct="0">
              <a:lnSpc>
                <a:spcPct val="85000"/>
              </a:lnSpc>
              <a:spcBef>
                <a:spcPct val="0"/>
              </a:spcBef>
              <a:spcAft>
                <a:spcPct val="0"/>
              </a:spcAft>
              <a:buClr>
                <a:srgbClr val="FFCC00"/>
              </a:buClr>
              <a:buSzPct val="75000"/>
              <a:buFont typeface="Wingdings" pitchFamily="2" charset="2"/>
              <a:buNone/>
            </a:pPr>
            <a:r>
              <a:rPr lang="en-US" sz="12000" b="1">
                <a:solidFill>
                  <a:srgbClr val="000000"/>
                </a:solidFill>
                <a:latin typeface="Arial Narrow" pitchFamily="34" charset="0"/>
              </a:rPr>
              <a:t>Internet</a:t>
            </a:r>
          </a:p>
        </p:txBody>
      </p:sp>
      <p:grpSp>
        <p:nvGrpSpPr>
          <p:cNvPr id="9" name="Group 27"/>
          <p:cNvGrpSpPr>
            <a:grpSpLocks/>
          </p:cNvGrpSpPr>
          <p:nvPr/>
        </p:nvGrpSpPr>
        <p:grpSpPr bwMode="auto">
          <a:xfrm>
            <a:off x="7650957" y="4702969"/>
            <a:ext cx="2971800" cy="1714500"/>
            <a:chOff x="2640" y="2016"/>
            <a:chExt cx="1248" cy="720"/>
          </a:xfrm>
        </p:grpSpPr>
        <p:sp>
          <p:nvSpPr>
            <p:cNvPr id="1357852"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53" name="Text Box 29"/>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0" name="Group 30"/>
          <p:cNvGrpSpPr>
            <a:grpSpLocks/>
          </p:cNvGrpSpPr>
          <p:nvPr/>
        </p:nvGrpSpPr>
        <p:grpSpPr bwMode="auto">
          <a:xfrm>
            <a:off x="7343775" y="6365082"/>
            <a:ext cx="2971800" cy="1714500"/>
            <a:chOff x="2640" y="2016"/>
            <a:chExt cx="1248" cy="720"/>
          </a:xfrm>
        </p:grpSpPr>
        <p:sp>
          <p:nvSpPr>
            <p:cNvPr id="1357855"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56" name="Text Box 32"/>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1" name="Group 33"/>
          <p:cNvGrpSpPr>
            <a:grpSpLocks/>
          </p:cNvGrpSpPr>
          <p:nvPr/>
        </p:nvGrpSpPr>
        <p:grpSpPr bwMode="auto">
          <a:xfrm>
            <a:off x="7360445" y="3050382"/>
            <a:ext cx="2971800" cy="1714500"/>
            <a:chOff x="2640" y="2016"/>
            <a:chExt cx="1248" cy="720"/>
          </a:xfrm>
        </p:grpSpPr>
        <p:sp>
          <p:nvSpPr>
            <p:cNvPr id="1357858"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59" name="Text Box 35"/>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2" name="Group 36"/>
          <p:cNvGrpSpPr>
            <a:grpSpLocks/>
          </p:cNvGrpSpPr>
          <p:nvPr/>
        </p:nvGrpSpPr>
        <p:grpSpPr bwMode="auto">
          <a:xfrm>
            <a:off x="5400675" y="3278982"/>
            <a:ext cx="2971800" cy="1714500"/>
            <a:chOff x="2640" y="2016"/>
            <a:chExt cx="1248" cy="720"/>
          </a:xfrm>
        </p:grpSpPr>
        <p:sp>
          <p:nvSpPr>
            <p:cNvPr id="1357861"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62" name="Text Box 38"/>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3" name="Group 39"/>
          <p:cNvGrpSpPr>
            <a:grpSpLocks/>
          </p:cNvGrpSpPr>
          <p:nvPr/>
        </p:nvGrpSpPr>
        <p:grpSpPr bwMode="auto">
          <a:xfrm>
            <a:off x="5179220" y="4526757"/>
            <a:ext cx="2971800" cy="1714500"/>
            <a:chOff x="2640" y="2016"/>
            <a:chExt cx="1248" cy="720"/>
          </a:xfrm>
        </p:grpSpPr>
        <p:sp>
          <p:nvSpPr>
            <p:cNvPr id="1357864"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65" name="Text Box 41"/>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4" name="Group 42"/>
          <p:cNvGrpSpPr>
            <a:grpSpLocks/>
          </p:cNvGrpSpPr>
          <p:nvPr/>
        </p:nvGrpSpPr>
        <p:grpSpPr bwMode="auto">
          <a:xfrm>
            <a:off x="9151145" y="2721769"/>
            <a:ext cx="2971800" cy="1714500"/>
            <a:chOff x="2640" y="2016"/>
            <a:chExt cx="1248" cy="720"/>
          </a:xfrm>
        </p:grpSpPr>
        <p:sp>
          <p:nvSpPr>
            <p:cNvPr id="1357867"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68" name="Text Box 44"/>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5" name="Group 45"/>
          <p:cNvGrpSpPr>
            <a:grpSpLocks/>
          </p:cNvGrpSpPr>
          <p:nvPr/>
        </p:nvGrpSpPr>
        <p:grpSpPr bwMode="auto">
          <a:xfrm>
            <a:off x="10096500" y="3700462"/>
            <a:ext cx="2971800" cy="1714500"/>
            <a:chOff x="2640" y="2016"/>
            <a:chExt cx="1248" cy="720"/>
          </a:xfrm>
        </p:grpSpPr>
        <p:sp>
          <p:nvSpPr>
            <p:cNvPr id="1357870"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71" name="Text Box 47"/>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6" name="Group 48"/>
          <p:cNvGrpSpPr>
            <a:grpSpLocks/>
          </p:cNvGrpSpPr>
          <p:nvPr/>
        </p:nvGrpSpPr>
        <p:grpSpPr bwMode="auto">
          <a:xfrm>
            <a:off x="10263188" y="4800600"/>
            <a:ext cx="2971800" cy="1714500"/>
            <a:chOff x="2640" y="2016"/>
            <a:chExt cx="1248" cy="720"/>
          </a:xfrm>
        </p:grpSpPr>
        <p:sp>
          <p:nvSpPr>
            <p:cNvPr id="1357873"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74" name="Text Box 50"/>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7" name="Group 51"/>
          <p:cNvGrpSpPr>
            <a:grpSpLocks/>
          </p:cNvGrpSpPr>
          <p:nvPr/>
        </p:nvGrpSpPr>
        <p:grpSpPr bwMode="auto">
          <a:xfrm>
            <a:off x="9401175" y="5934075"/>
            <a:ext cx="2971800" cy="1714500"/>
            <a:chOff x="2640" y="2016"/>
            <a:chExt cx="1248" cy="720"/>
          </a:xfrm>
        </p:grpSpPr>
        <p:sp>
          <p:nvSpPr>
            <p:cNvPr id="1357876"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77" name="Text Box 53"/>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grpSp>
        <p:nvGrpSpPr>
          <p:cNvPr id="18" name="Group 54"/>
          <p:cNvGrpSpPr>
            <a:grpSpLocks/>
          </p:cNvGrpSpPr>
          <p:nvPr/>
        </p:nvGrpSpPr>
        <p:grpSpPr bwMode="auto">
          <a:xfrm>
            <a:off x="5172075" y="5679282"/>
            <a:ext cx="2971800" cy="1714500"/>
            <a:chOff x="2640" y="2016"/>
            <a:chExt cx="1248" cy="720"/>
          </a:xfrm>
        </p:grpSpPr>
        <p:sp>
          <p:nvSpPr>
            <p:cNvPr id="1357879" name="Cloud"/>
            <p:cNvSpPr>
              <a:spLocks noChangeAspect="1" noEditPoints="1" noChangeArrowheads="1"/>
            </p:cNvSpPr>
            <p:nvPr/>
          </p:nvSpPr>
          <p:spPr bwMode="auto">
            <a:xfrm>
              <a:off x="2640" y="2016"/>
              <a:ext cx="1248" cy="72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chemeClr val="accent1">
                    <a:gamma/>
                    <a:tint val="0"/>
                    <a:invGamma/>
                  </a:schemeClr>
                </a:gs>
                <a:gs pos="100000">
                  <a:schemeClr val="accent1"/>
                </a:gs>
              </a:gsLst>
              <a:path path="rect">
                <a:fillToRect l="50000" t="50000" r="50000" b="50000"/>
              </a:path>
            </a:gradFill>
            <a:ln w="9525">
              <a:solidFill>
                <a:srgbClr val="000000"/>
              </a:solidFill>
              <a:miter lim="800000"/>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357880" name="Text Box 56"/>
            <p:cNvSpPr txBox="1">
              <a:spLocks noChangeArrowheads="1"/>
            </p:cNvSpPr>
            <p:nvPr/>
          </p:nvSpPr>
          <p:spPr bwMode="auto">
            <a:xfrm>
              <a:off x="3024" y="2256"/>
              <a:ext cx="420" cy="220"/>
            </a:xfrm>
            <a:prstGeom prst="rect">
              <a:avLst/>
            </a:prstGeom>
            <a:noFill/>
            <a:ln w="28575" algn="ctr">
              <a:noFill/>
              <a:miter lim="800000"/>
              <a:headEnd/>
              <a:tailEnd/>
            </a:ln>
            <a:effectLst/>
          </p:spPr>
          <p:txBody>
            <a:bodyPr>
              <a:spAutoFit/>
            </a:bodyPr>
            <a:lstStyle/>
            <a:p>
              <a:pPr algn="ctr" defTabSz="1540670" fontAlgn="base">
                <a:lnSpc>
                  <a:spcPct val="85000"/>
                </a:lnSpc>
                <a:spcBef>
                  <a:spcPct val="0"/>
                </a:spcBef>
                <a:spcAft>
                  <a:spcPct val="0"/>
                </a:spcAft>
              </a:pPr>
              <a:r>
                <a:rPr lang="en-US" sz="3300" b="1">
                  <a:solidFill>
                    <a:srgbClr val="000000"/>
                  </a:solidFill>
                  <a:latin typeface="Arial Narrow" pitchFamily="34" charset="0"/>
                  <a:ea typeface="ヒラギノ角ゴ Pro W3" pitchFamily="16" charset="-128"/>
                </a:rPr>
                <a:t>ISP</a:t>
              </a:r>
              <a:endParaRPr lang="en-US" sz="2700" b="1">
                <a:solidFill>
                  <a:srgbClr val="000000"/>
                </a:solidFill>
                <a:latin typeface="Arial Narrow" pitchFamily="34" charset="0"/>
                <a:ea typeface="ヒラギノ角ゴ Pro W3" pitchFamily="16" charset="-128"/>
              </a:endParaRPr>
            </a:p>
          </p:txBody>
        </p:sp>
      </p:grpSp>
    </p:spTree>
    <p:custDataLst>
      <p:tags r:id="rId1"/>
    </p:custDataLst>
    <p:extLst>
      <p:ext uri="{BB962C8B-B14F-4D97-AF65-F5344CB8AC3E}">
        <p14:creationId xmlns:p14="http://schemas.microsoft.com/office/powerpoint/2010/main" val="22990795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1000"/>
                                        <p:tgtEl>
                                          <p:spTgt spid="2"/>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10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1000"/>
                                        <p:tgtEl>
                                          <p:spTgt spid="10"/>
                                        </p:tgtEl>
                                      </p:cBhvr>
                                    </p:animEffect>
                                  </p:childTnLst>
                                </p:cTn>
                              </p:par>
                            </p:childTnLst>
                          </p:cTn>
                        </p:par>
                        <p:par>
                          <p:cTn id="39" fill="hold">
                            <p:stCondLst>
                              <p:cond delay="1000"/>
                            </p:stCondLst>
                            <p:childTnLst>
                              <p:par>
                                <p:cTn id="40" presetID="10" presetClass="entr" presetSubtype="0" fill="hold"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1000"/>
                                        <p:tgtEl>
                                          <p:spTgt spid="12"/>
                                        </p:tgtEl>
                                      </p:cBhvr>
                                    </p:animEffect>
                                  </p:childTnLst>
                                </p:cTn>
                              </p:par>
                            </p:childTnLst>
                          </p:cTn>
                        </p:par>
                        <p:par>
                          <p:cTn id="43" fill="hold">
                            <p:stCondLst>
                              <p:cond delay="2000"/>
                            </p:stCondLst>
                            <p:childTnLst>
                              <p:par>
                                <p:cTn id="44" presetID="10" presetClass="entr" presetSubtype="0" fill="hold"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1000"/>
                                        <p:tgtEl>
                                          <p:spTgt spid="15"/>
                                        </p:tgtEl>
                                      </p:cBhvr>
                                    </p:animEffect>
                                  </p:childTnLst>
                                </p:cTn>
                              </p:par>
                            </p:childTnLst>
                          </p:cTn>
                        </p:par>
                        <p:par>
                          <p:cTn id="47" fill="hold">
                            <p:stCondLst>
                              <p:cond delay="3000"/>
                            </p:stCondLst>
                            <p:childTnLst>
                              <p:par>
                                <p:cTn id="48" presetID="10" presetClass="entr" presetSubtype="0" fill="hold" nodeType="after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1000"/>
                                        <p:tgtEl>
                                          <p:spTgt spid="9"/>
                                        </p:tgtEl>
                                      </p:cBhvr>
                                    </p:animEffect>
                                  </p:childTnLst>
                                </p:cTn>
                              </p:par>
                            </p:childTnLst>
                          </p:cTn>
                        </p:par>
                        <p:par>
                          <p:cTn id="51" fill="hold">
                            <p:stCondLst>
                              <p:cond delay="400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1000"/>
                                        <p:tgtEl>
                                          <p:spTgt spid="14"/>
                                        </p:tgtEl>
                                      </p:cBhvr>
                                    </p:animEffect>
                                  </p:childTnLst>
                                </p:cTn>
                              </p:par>
                            </p:childTnLst>
                          </p:cTn>
                        </p:par>
                        <p:par>
                          <p:cTn id="55" fill="hold">
                            <p:stCondLst>
                              <p:cond delay="5000"/>
                            </p:stCondLst>
                            <p:childTnLst>
                              <p:par>
                                <p:cTn id="56" presetID="10" presetClass="entr" presetSubtype="0" fill="hold"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1000"/>
                                        <p:tgtEl>
                                          <p:spTgt spid="18"/>
                                        </p:tgtEl>
                                      </p:cBhvr>
                                    </p:animEffect>
                                  </p:childTnLst>
                                </p:cTn>
                              </p:par>
                            </p:childTnLst>
                          </p:cTn>
                        </p:par>
                        <p:par>
                          <p:cTn id="59" fill="hold">
                            <p:stCondLst>
                              <p:cond delay="600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1000"/>
                                        <p:tgtEl>
                                          <p:spTgt spid="16"/>
                                        </p:tgtEl>
                                      </p:cBhvr>
                                    </p:animEffect>
                                  </p:childTnLst>
                                </p:cTn>
                              </p:par>
                            </p:childTnLst>
                          </p:cTn>
                        </p:par>
                        <p:par>
                          <p:cTn id="63" fill="hold">
                            <p:stCondLst>
                              <p:cond delay="7000"/>
                            </p:stCondLst>
                            <p:childTnLst>
                              <p:par>
                                <p:cTn id="64" presetID="10" presetClass="entr" presetSubtype="0" fill="hold" nodeType="after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1000"/>
                                        <p:tgtEl>
                                          <p:spTgt spid="11"/>
                                        </p:tgtEl>
                                      </p:cBhvr>
                                    </p:animEffect>
                                  </p:childTnLst>
                                </p:cTn>
                              </p:par>
                            </p:childTnLst>
                          </p:cTn>
                        </p:par>
                        <p:par>
                          <p:cTn id="67" fill="hold">
                            <p:stCondLst>
                              <p:cond delay="8000"/>
                            </p:stCondLst>
                            <p:childTnLst>
                              <p:par>
                                <p:cTn id="68" presetID="10" presetClass="entr" presetSubtype="0" fill="hold" nodeType="after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1000"/>
                                        <p:tgtEl>
                                          <p:spTgt spid="13"/>
                                        </p:tgtEl>
                                      </p:cBhvr>
                                    </p:animEffect>
                                  </p:childTnLst>
                                </p:cTn>
                              </p:par>
                            </p:childTnLst>
                          </p:cTn>
                        </p:par>
                        <p:par>
                          <p:cTn id="71" fill="hold">
                            <p:stCondLst>
                              <p:cond delay="9000"/>
                            </p:stCondLst>
                            <p:childTnLst>
                              <p:par>
                                <p:cTn id="72" presetID="10" presetClass="entr" presetSubtype="0" fill="hold" nodeType="after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6527" name="Rectangle 15"/>
          <p:cNvSpPr>
            <a:spLocks noGrp="1" noChangeArrowheads="1"/>
          </p:cNvSpPr>
          <p:nvPr>
            <p:ph type="ctrTitle"/>
          </p:nvPr>
        </p:nvSpPr>
        <p:spPr/>
        <p:txBody>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Models and Layers</a:t>
            </a:r>
          </a:p>
        </p:txBody>
      </p:sp>
      <p:sp>
        <p:nvSpPr>
          <p:cNvPr id="3776528" name="Rectangle 16"/>
          <p:cNvSpPr>
            <a:spLocks noGrp="1" noChangeArrowheads="1"/>
          </p:cNvSpPr>
          <p:nvPr>
            <p:ph type="subTitle" idx="1"/>
          </p:nvPr>
        </p:nvSpPr>
        <p:spPr/>
        <p:txBody>
          <a:bodyPr/>
          <a:lstStyle/>
          <a:p>
            <a:endParaRPr lang="en-US"/>
          </a:p>
        </p:txBody>
      </p:sp>
    </p:spTree>
    <p:custDataLst>
      <p:tags r:id="rId1"/>
    </p:custDataLst>
    <p:extLst>
      <p:ext uri="{BB962C8B-B14F-4D97-AF65-F5344CB8AC3E}">
        <p14:creationId xmlns:p14="http://schemas.microsoft.com/office/powerpoint/2010/main" val="1995444155"/>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AFF50-BE31-22D5-D980-3E1BFFF5E992}"/>
              </a:ext>
            </a:extLst>
          </p:cNvPr>
          <p:cNvSpPr>
            <a:spLocks noGrp="1"/>
          </p:cNvSpPr>
          <p:nvPr>
            <p:ph type="title"/>
          </p:nvPr>
        </p:nvSpPr>
        <p:spPr/>
        <p:txBody>
          <a:bodyPr/>
          <a:lstStyle/>
          <a:p>
            <a:r>
              <a:rPr lang="en-US"/>
              <a:t>The Language of Networking</a:t>
            </a:r>
          </a:p>
        </p:txBody>
      </p:sp>
      <p:sp>
        <p:nvSpPr>
          <p:cNvPr id="3" name="Content Placeholder 2">
            <a:extLst>
              <a:ext uri="{FF2B5EF4-FFF2-40B4-BE49-F238E27FC236}">
                <a16:creationId xmlns:a16="http://schemas.microsoft.com/office/drawing/2014/main" id="{0ABB8A0D-5FD9-3F33-1058-8EC773554114}"/>
              </a:ext>
            </a:extLst>
          </p:cNvPr>
          <p:cNvSpPr>
            <a:spLocks noGrp="1"/>
          </p:cNvSpPr>
          <p:nvPr>
            <p:ph idx="1"/>
          </p:nvPr>
        </p:nvSpPr>
        <p:spPr/>
        <p:txBody>
          <a:bodyPr>
            <a:normAutofit lnSpcReduction="10000"/>
          </a:bodyPr>
          <a:lstStyle/>
          <a:p>
            <a:r>
              <a:rPr lang="en-US" dirty="0"/>
              <a:t>Networking is complex</a:t>
            </a:r>
          </a:p>
          <a:p>
            <a:pPr lvl="1"/>
            <a:r>
              <a:rPr lang="en-US" dirty="0"/>
              <a:t>Risk is often hidden in that complexity</a:t>
            </a:r>
          </a:p>
          <a:p>
            <a:r>
              <a:rPr lang="en-US" dirty="0"/>
              <a:t>We have developed approaches to describe and build networks, these include</a:t>
            </a:r>
          </a:p>
          <a:p>
            <a:pPr lvl="1"/>
            <a:r>
              <a:rPr lang="en-US" dirty="0"/>
              <a:t>Protocols</a:t>
            </a:r>
          </a:p>
          <a:p>
            <a:pPr lvl="1"/>
            <a:r>
              <a:rPr lang="en-US" dirty="0"/>
              <a:t>Network models</a:t>
            </a:r>
          </a:p>
          <a:p>
            <a:pPr lvl="1"/>
            <a:r>
              <a:rPr lang="en-US" dirty="0"/>
              <a:t>Layers</a:t>
            </a:r>
          </a:p>
          <a:p>
            <a:r>
              <a:rPr lang="en-US" dirty="0"/>
              <a:t>Together these concepts provide the basis for the networkers’ lexicon</a:t>
            </a:r>
          </a:p>
          <a:p>
            <a:r>
              <a:rPr lang="en-US" dirty="0"/>
              <a:t>Familiarity will help in your conversations with a bank’s network team</a:t>
            </a:r>
          </a:p>
          <a:p>
            <a:endParaRPr lang="en-US" dirty="0"/>
          </a:p>
          <a:p>
            <a:endParaRPr lang="en-US" dirty="0"/>
          </a:p>
        </p:txBody>
      </p:sp>
    </p:spTree>
    <p:extLst>
      <p:ext uri="{BB962C8B-B14F-4D97-AF65-F5344CB8AC3E}">
        <p14:creationId xmlns:p14="http://schemas.microsoft.com/office/powerpoint/2010/main" val="144413263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82" name="Rectangle 2"/>
          <p:cNvSpPr>
            <a:spLocks noGrp="1" noChangeArrowheads="1"/>
          </p:cNvSpPr>
          <p:nvPr>
            <p:ph type="title"/>
          </p:nvPr>
        </p:nvSpPr>
        <p:spPr/>
        <p:txBody>
          <a:bodyPr/>
          <a:lstStyle/>
          <a:p>
            <a:r>
              <a:rPr lang="en-US"/>
              <a:t>Protocols </a:t>
            </a:r>
          </a:p>
        </p:txBody>
      </p:sp>
      <p:sp>
        <p:nvSpPr>
          <p:cNvPr id="1351683" name="Rectangle 3"/>
          <p:cNvSpPr>
            <a:spLocks noGrp="1" noChangeArrowheads="1"/>
          </p:cNvSpPr>
          <p:nvPr>
            <p:ph idx="1"/>
          </p:nvPr>
        </p:nvSpPr>
        <p:spPr/>
        <p:txBody>
          <a:bodyPr>
            <a:normAutofit lnSpcReduction="10000"/>
          </a:bodyPr>
          <a:lstStyle/>
          <a:p>
            <a:r>
              <a:rPr lang="en-US"/>
              <a:t>To communicate, we must have agreements</a:t>
            </a:r>
          </a:p>
          <a:p>
            <a:pPr lvl="1"/>
            <a:r>
              <a:rPr lang="en-US"/>
              <a:t>Example: Don’t interrupt</a:t>
            </a:r>
          </a:p>
          <a:p>
            <a:pPr lvl="1"/>
            <a:r>
              <a:rPr lang="en-US"/>
              <a:t>Example: Speak English</a:t>
            </a:r>
          </a:p>
          <a:p>
            <a:pPr lvl="1"/>
            <a:r>
              <a:rPr lang="en-US"/>
              <a:t>Example: Say, “Please”</a:t>
            </a:r>
          </a:p>
          <a:p>
            <a:r>
              <a:rPr lang="en-US"/>
              <a:t>Agreements that facilitate communication are called </a:t>
            </a:r>
            <a:r>
              <a:rPr lang="en-US" i="1">
                <a:solidFill>
                  <a:srgbClr val="CC0000"/>
                </a:solidFill>
              </a:rPr>
              <a:t>protocols</a:t>
            </a:r>
          </a:p>
          <a:p>
            <a:r>
              <a:rPr lang="en-US"/>
              <a:t>The study of communications is the study of protocols</a:t>
            </a:r>
          </a:p>
          <a:p>
            <a:r>
              <a:rPr lang="en-US"/>
              <a:t>The study of data communications is the study of data and network protocols</a:t>
            </a:r>
          </a:p>
          <a:p>
            <a:r>
              <a:rPr lang="en-US"/>
              <a:t>The complete set of protocols used in a particular network environment is known as a </a:t>
            </a:r>
            <a:r>
              <a:rPr lang="en-US" i="1">
                <a:solidFill>
                  <a:srgbClr val="CC0000"/>
                </a:solidFill>
              </a:rPr>
              <a:t>protocol suite</a:t>
            </a:r>
            <a:endParaRPr lang="en-US">
              <a:solidFill>
                <a:srgbClr val="CC0000"/>
              </a:solidFill>
            </a:endParaRPr>
          </a:p>
        </p:txBody>
      </p:sp>
      <p:sp>
        <p:nvSpPr>
          <p:cNvPr id="2" name="Slide Number Placeholder 1"/>
          <p:cNvSpPr>
            <a:spLocks noGrp="1"/>
          </p:cNvSpPr>
          <p:nvPr>
            <p:ph type="sldNum" sz="quarter" idx="10"/>
          </p:nvPr>
        </p:nvSpPr>
        <p:spPr>
          <a:prstGeom prst="rect">
            <a:avLst/>
          </a:prstGeom>
        </p:spPr>
        <p:txBody>
          <a:bodyPr/>
          <a:lstStyle/>
          <a:p>
            <a:fld id="{76E8DCF4-EBDD-4FE1-8465-FD383573D554}" type="slidenum">
              <a:rPr lang="en-US" smtClean="0">
                <a:solidFill>
                  <a:schemeClr val="tx1"/>
                </a:solidFill>
              </a:rPr>
              <a:pPr/>
              <a:t>90</a:t>
            </a:fld>
            <a:endParaRPr lang="en-US">
              <a:solidFill>
                <a:schemeClr val="tx1"/>
              </a:solidFill>
            </a:endParaRPr>
          </a:p>
        </p:txBody>
      </p:sp>
    </p:spTree>
    <p:custDataLst>
      <p:tags r:id="rId1"/>
    </p:custDataLst>
    <p:extLst>
      <p:ext uri="{BB962C8B-B14F-4D97-AF65-F5344CB8AC3E}">
        <p14:creationId xmlns:p14="http://schemas.microsoft.com/office/powerpoint/2010/main" val="2706665570"/>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3730" name="Rectangle 2"/>
          <p:cNvSpPr>
            <a:spLocks noGrp="1" noChangeArrowheads="1"/>
          </p:cNvSpPr>
          <p:nvPr>
            <p:ph type="title"/>
          </p:nvPr>
        </p:nvSpPr>
        <p:spPr/>
        <p:txBody>
          <a:bodyPr/>
          <a:lstStyle/>
          <a:p>
            <a:r>
              <a:rPr lang="en-US"/>
              <a:t>Models</a:t>
            </a:r>
          </a:p>
        </p:txBody>
      </p:sp>
      <p:sp>
        <p:nvSpPr>
          <p:cNvPr id="1353731" name="Rectangle 3"/>
          <p:cNvSpPr>
            <a:spLocks noGrp="1" noChangeArrowheads="1"/>
          </p:cNvSpPr>
          <p:nvPr>
            <p:ph idx="1"/>
          </p:nvPr>
        </p:nvSpPr>
        <p:spPr/>
        <p:txBody>
          <a:bodyPr/>
          <a:lstStyle/>
          <a:p>
            <a:r>
              <a:rPr lang="en-US"/>
              <a:t>A hypothetical description of a complex entity or process</a:t>
            </a:r>
          </a:p>
          <a:p>
            <a:pPr lvl="1"/>
            <a:r>
              <a:rPr lang="en-US"/>
              <a:t>Identifies the major elements and their relationship to one another</a:t>
            </a:r>
          </a:p>
          <a:p>
            <a:pPr lvl="1"/>
            <a:r>
              <a:rPr lang="en-US"/>
              <a:t>Does not provide implementation details</a:t>
            </a:r>
          </a:p>
          <a:p>
            <a:pPr lvl="1"/>
            <a:r>
              <a:rPr lang="en-US"/>
              <a:t>An architecture</a:t>
            </a:r>
          </a:p>
          <a:p>
            <a:r>
              <a:rPr lang="en-US"/>
              <a:t>Model of a home</a:t>
            </a:r>
          </a:p>
          <a:p>
            <a:pPr lvl="1"/>
            <a:r>
              <a:rPr lang="en-US"/>
              <a:t>Walls, roof, floors, doorways, windows, types of room</a:t>
            </a:r>
          </a:p>
          <a:p>
            <a:pPr lvl="1"/>
            <a:r>
              <a:rPr lang="en-US"/>
              <a:t>Does not include specific materials, design, construction</a:t>
            </a:r>
          </a:p>
          <a:p>
            <a:r>
              <a:rPr lang="en-US"/>
              <a:t>Networking model is about the functions </a:t>
            </a:r>
            <a:br>
              <a:rPr lang="en-US"/>
            </a:br>
            <a:r>
              <a:rPr lang="en-US"/>
              <a:t>that must be present in a network and </a:t>
            </a:r>
            <a:br>
              <a:rPr lang="en-US"/>
            </a:br>
            <a:r>
              <a:rPr lang="en-US"/>
              <a:t>their relationship to one another</a:t>
            </a:r>
          </a:p>
          <a:p>
            <a:endParaRPr lang="en-US"/>
          </a:p>
        </p:txBody>
      </p:sp>
      <p:sp>
        <p:nvSpPr>
          <p:cNvPr id="3" name="Slide Number Placeholder 2"/>
          <p:cNvSpPr>
            <a:spLocks noGrp="1"/>
          </p:cNvSpPr>
          <p:nvPr>
            <p:ph type="sldNum" sz="quarter" idx="10"/>
          </p:nvPr>
        </p:nvSpPr>
        <p:spPr>
          <a:prstGeom prst="rect">
            <a:avLst/>
          </a:prstGeom>
        </p:spPr>
        <p:txBody>
          <a:bodyPr/>
          <a:lstStyle/>
          <a:p>
            <a:fld id="{76E8DCF4-EBDD-4FE1-8465-FD383573D554}" type="slidenum">
              <a:rPr lang="en-US" smtClean="0">
                <a:solidFill>
                  <a:schemeClr val="tx1"/>
                </a:solidFill>
              </a:rPr>
              <a:pPr/>
              <a:t>91</a:t>
            </a:fld>
            <a:endParaRPr lang="en-US">
              <a:solidFill>
                <a:schemeClr val="tx1"/>
              </a:solidFill>
            </a:endParaRPr>
          </a:p>
        </p:txBody>
      </p:sp>
      <p:pic>
        <p:nvPicPr>
          <p:cNvPr id="4" name="Graphic 3" descr="House with solid fill">
            <a:extLst>
              <a:ext uri="{FF2B5EF4-FFF2-40B4-BE49-F238E27FC236}">
                <a16:creationId xmlns:a16="http://schemas.microsoft.com/office/drawing/2014/main" id="{2B817391-A7A3-603B-96AA-FE95E84C86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443656" y="6515100"/>
            <a:ext cx="3406462" cy="3406462"/>
          </a:xfrm>
          <a:prstGeom prst="rect">
            <a:avLst/>
          </a:prstGeom>
        </p:spPr>
      </p:pic>
    </p:spTree>
    <p:custDataLst>
      <p:tags r:id="rId1"/>
    </p:custDataLst>
    <p:extLst>
      <p:ext uri="{BB962C8B-B14F-4D97-AF65-F5344CB8AC3E}">
        <p14:creationId xmlns:p14="http://schemas.microsoft.com/office/powerpoint/2010/main" val="4192757648"/>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5778" name="Rectangle 2"/>
          <p:cNvSpPr>
            <a:spLocks noGrp="1" noChangeArrowheads="1"/>
          </p:cNvSpPr>
          <p:nvPr>
            <p:ph type="title"/>
          </p:nvPr>
        </p:nvSpPr>
        <p:spPr/>
        <p:txBody>
          <a:bodyPr/>
          <a:lstStyle/>
          <a:p>
            <a:r>
              <a:rPr lang="en-US"/>
              <a:t>Layering</a:t>
            </a:r>
          </a:p>
        </p:txBody>
      </p:sp>
      <p:sp>
        <p:nvSpPr>
          <p:cNvPr id="1355779" name="Rectangle 3"/>
          <p:cNvSpPr>
            <a:spLocks noGrp="1" noChangeArrowheads="1"/>
          </p:cNvSpPr>
          <p:nvPr>
            <p:ph idx="1"/>
          </p:nvPr>
        </p:nvSpPr>
        <p:spPr/>
        <p:txBody>
          <a:bodyPr>
            <a:normAutofit lnSpcReduction="10000"/>
          </a:bodyPr>
          <a:lstStyle/>
          <a:p>
            <a:r>
              <a:rPr lang="en-US"/>
              <a:t>Layering breaks a big problem into smaller pieces</a:t>
            </a:r>
          </a:p>
          <a:p>
            <a:r>
              <a:rPr lang="en-US"/>
              <a:t>Large number of protocols required for</a:t>
            </a:r>
            <a:br>
              <a:rPr lang="en-US"/>
            </a:br>
            <a:r>
              <a:rPr lang="en-US"/>
              <a:t>interoperability between two applications</a:t>
            </a:r>
          </a:p>
          <a:p>
            <a:r>
              <a:rPr lang="en-US"/>
              <a:t>Break protocols into subsets, each of which</a:t>
            </a:r>
            <a:br>
              <a:rPr lang="en-US"/>
            </a:br>
            <a:r>
              <a:rPr lang="en-US"/>
              <a:t>addresses specific, closely related issues</a:t>
            </a:r>
          </a:p>
          <a:p>
            <a:endParaRPr lang="en-US"/>
          </a:p>
          <a:p>
            <a:r>
              <a:rPr lang="en-US"/>
              <a:t>Each layer</a:t>
            </a:r>
          </a:p>
          <a:p>
            <a:pPr lvl="1"/>
            <a:r>
              <a:rPr lang="en-US"/>
              <a:t>Provides a well-defined set of services to the layers above it</a:t>
            </a:r>
          </a:p>
          <a:p>
            <a:pPr lvl="1"/>
            <a:r>
              <a:rPr lang="en-US"/>
              <a:t>Receives services from the layer below it</a:t>
            </a:r>
          </a:p>
          <a:p>
            <a:pPr lvl="1"/>
            <a:r>
              <a:rPr lang="en-US"/>
              <a:t>Knows the set of services that are provided to it</a:t>
            </a:r>
          </a:p>
          <a:p>
            <a:pPr lvl="1"/>
            <a:r>
              <a:rPr lang="en-US"/>
              <a:t>Does not know how those services are provided</a:t>
            </a:r>
          </a:p>
        </p:txBody>
      </p:sp>
      <p:sp>
        <p:nvSpPr>
          <p:cNvPr id="3" name="Slide Number Placeholder 2"/>
          <p:cNvSpPr>
            <a:spLocks noGrp="1"/>
          </p:cNvSpPr>
          <p:nvPr>
            <p:ph type="sldNum" sz="quarter" idx="10"/>
          </p:nvPr>
        </p:nvSpPr>
        <p:spPr>
          <a:prstGeom prst="rect">
            <a:avLst/>
          </a:prstGeom>
        </p:spPr>
        <p:txBody>
          <a:bodyPr/>
          <a:lstStyle/>
          <a:p>
            <a:fld id="{76E8DCF4-EBDD-4FE1-8465-FD383573D554}" type="slidenum">
              <a:rPr lang="en-US" smtClean="0">
                <a:solidFill>
                  <a:schemeClr val="tx1"/>
                </a:solidFill>
              </a:rPr>
              <a:pPr/>
              <a:t>92</a:t>
            </a:fld>
            <a:endParaRPr lang="en-US">
              <a:solidFill>
                <a:schemeClr val="tx1"/>
              </a:solidFill>
            </a:endParaRPr>
          </a:p>
        </p:txBody>
      </p:sp>
      <p:grpSp>
        <p:nvGrpSpPr>
          <p:cNvPr id="2" name="Group 4"/>
          <p:cNvGrpSpPr>
            <a:grpSpLocks/>
          </p:cNvGrpSpPr>
          <p:nvPr/>
        </p:nvGrpSpPr>
        <p:grpSpPr bwMode="auto">
          <a:xfrm>
            <a:off x="14066045" y="2763440"/>
            <a:ext cx="3383756" cy="3100388"/>
            <a:chOff x="4179" y="682"/>
            <a:chExt cx="1421" cy="1302"/>
          </a:xfrm>
        </p:grpSpPr>
        <p:sp>
          <p:nvSpPr>
            <p:cNvPr id="1355781" name="Line 5"/>
            <p:cNvSpPr>
              <a:spLocks noChangeShapeType="1"/>
            </p:cNvSpPr>
            <p:nvPr/>
          </p:nvSpPr>
          <p:spPr bwMode="auto">
            <a:xfrm flipH="1">
              <a:off x="4889" y="1728"/>
              <a:ext cx="0" cy="256"/>
            </a:xfrm>
            <a:prstGeom prst="line">
              <a:avLst/>
            </a:prstGeom>
            <a:noFill/>
            <a:ln w="57150">
              <a:solidFill>
                <a:schemeClr val="tx1"/>
              </a:solidFill>
              <a:round/>
              <a:headEnd/>
              <a:tailEnd type="triangle" w="med" len="med"/>
            </a:ln>
            <a:effectLst/>
          </p:spPr>
          <p:txBody>
            <a:bodyPr anchor="ctr" anchorCtr="1">
              <a:spAutoFit/>
            </a:bodyPr>
            <a:lstStyle/>
            <a:p>
              <a:endParaRPr lang="en-US" sz="2700"/>
            </a:p>
          </p:txBody>
        </p:sp>
        <p:sp>
          <p:nvSpPr>
            <p:cNvPr id="1355782" name="AutoShape 6"/>
            <p:cNvSpPr>
              <a:spLocks noChangeArrowheads="1"/>
            </p:cNvSpPr>
            <p:nvPr/>
          </p:nvSpPr>
          <p:spPr bwMode="auto">
            <a:xfrm>
              <a:off x="4179" y="1459"/>
              <a:ext cx="1421" cy="347"/>
            </a:xfrm>
            <a:prstGeom prst="parallelogram">
              <a:avLst>
                <a:gd name="adj" fmla="val 102378"/>
              </a:avLst>
            </a:prstGeom>
            <a:solidFill>
              <a:srgbClr val="FFCC00"/>
            </a:solidFill>
            <a:ln w="9525" algn="ctr">
              <a:solidFill>
                <a:schemeClr val="tx1"/>
              </a:solidFill>
              <a:miter lim="800000"/>
              <a:headEnd/>
              <a:tailEnd/>
            </a:ln>
            <a:effectLst/>
          </p:spPr>
          <p:txBody>
            <a:bodyPr anchor="ctr">
              <a:spAutoFit/>
            </a:bodyPr>
            <a:lstStyle/>
            <a:p>
              <a:endParaRPr lang="en-US" sz="2700"/>
            </a:p>
          </p:txBody>
        </p:sp>
        <p:sp>
          <p:nvSpPr>
            <p:cNvPr id="1355783" name="AutoShape 7"/>
            <p:cNvSpPr>
              <a:spLocks noChangeArrowheads="1"/>
            </p:cNvSpPr>
            <p:nvPr/>
          </p:nvSpPr>
          <p:spPr bwMode="auto">
            <a:xfrm>
              <a:off x="4179" y="1288"/>
              <a:ext cx="1421" cy="347"/>
            </a:xfrm>
            <a:prstGeom prst="parallelogram">
              <a:avLst>
                <a:gd name="adj" fmla="val 102378"/>
              </a:avLst>
            </a:prstGeom>
            <a:solidFill>
              <a:srgbClr val="FF6600"/>
            </a:solidFill>
            <a:ln w="9525" algn="ctr">
              <a:solidFill>
                <a:schemeClr val="tx1"/>
              </a:solidFill>
              <a:miter lim="800000"/>
              <a:headEnd/>
              <a:tailEnd/>
            </a:ln>
            <a:effectLst/>
          </p:spPr>
          <p:txBody>
            <a:bodyPr anchor="ctr">
              <a:spAutoFit/>
            </a:bodyPr>
            <a:lstStyle/>
            <a:p>
              <a:endParaRPr lang="en-US" sz="2700"/>
            </a:p>
          </p:txBody>
        </p:sp>
        <p:sp>
          <p:nvSpPr>
            <p:cNvPr id="1355784" name="AutoShape 8"/>
            <p:cNvSpPr>
              <a:spLocks noChangeArrowheads="1"/>
            </p:cNvSpPr>
            <p:nvPr/>
          </p:nvSpPr>
          <p:spPr bwMode="auto">
            <a:xfrm>
              <a:off x="4179" y="1117"/>
              <a:ext cx="1421" cy="347"/>
            </a:xfrm>
            <a:prstGeom prst="parallelogram">
              <a:avLst>
                <a:gd name="adj" fmla="val 102378"/>
              </a:avLst>
            </a:prstGeom>
            <a:solidFill>
              <a:srgbClr val="CC66FF"/>
            </a:solidFill>
            <a:ln w="9525" algn="ctr">
              <a:solidFill>
                <a:schemeClr val="tx1"/>
              </a:solidFill>
              <a:miter lim="800000"/>
              <a:headEnd/>
              <a:tailEnd/>
            </a:ln>
            <a:effectLst/>
          </p:spPr>
          <p:txBody>
            <a:bodyPr anchor="ctr">
              <a:spAutoFit/>
            </a:bodyPr>
            <a:lstStyle/>
            <a:p>
              <a:endParaRPr lang="en-US" sz="2700"/>
            </a:p>
          </p:txBody>
        </p:sp>
        <p:sp>
          <p:nvSpPr>
            <p:cNvPr id="1355785" name="AutoShape 9"/>
            <p:cNvSpPr>
              <a:spLocks noChangeArrowheads="1"/>
            </p:cNvSpPr>
            <p:nvPr/>
          </p:nvSpPr>
          <p:spPr bwMode="auto">
            <a:xfrm>
              <a:off x="4179" y="946"/>
              <a:ext cx="1421" cy="347"/>
            </a:xfrm>
            <a:prstGeom prst="parallelogram">
              <a:avLst>
                <a:gd name="adj" fmla="val 102378"/>
              </a:avLst>
            </a:prstGeom>
            <a:solidFill>
              <a:srgbClr val="339966"/>
            </a:solidFill>
            <a:ln w="9525" algn="ctr">
              <a:solidFill>
                <a:schemeClr val="tx1"/>
              </a:solidFill>
              <a:miter lim="800000"/>
              <a:headEnd/>
              <a:tailEnd/>
            </a:ln>
            <a:effectLst/>
          </p:spPr>
          <p:txBody>
            <a:bodyPr anchor="ctr">
              <a:spAutoFit/>
            </a:bodyPr>
            <a:lstStyle/>
            <a:p>
              <a:endParaRPr lang="en-US" sz="2700"/>
            </a:p>
          </p:txBody>
        </p:sp>
        <p:sp>
          <p:nvSpPr>
            <p:cNvPr id="1355786" name="AutoShape 10"/>
            <p:cNvSpPr>
              <a:spLocks noChangeArrowheads="1"/>
            </p:cNvSpPr>
            <p:nvPr/>
          </p:nvSpPr>
          <p:spPr bwMode="auto">
            <a:xfrm>
              <a:off x="4179" y="775"/>
              <a:ext cx="1421" cy="347"/>
            </a:xfrm>
            <a:prstGeom prst="parallelogram">
              <a:avLst>
                <a:gd name="adj" fmla="val 102378"/>
              </a:avLst>
            </a:prstGeom>
            <a:solidFill>
              <a:srgbClr val="0066FF"/>
            </a:solidFill>
            <a:ln w="9525" algn="ctr">
              <a:solidFill>
                <a:schemeClr val="tx1"/>
              </a:solidFill>
              <a:miter lim="800000"/>
              <a:headEnd/>
              <a:tailEnd/>
            </a:ln>
            <a:effectLst/>
          </p:spPr>
          <p:txBody>
            <a:bodyPr anchor="ctr">
              <a:spAutoFit/>
            </a:bodyPr>
            <a:lstStyle/>
            <a:p>
              <a:endParaRPr lang="en-US" sz="2700"/>
            </a:p>
          </p:txBody>
        </p:sp>
        <p:sp>
          <p:nvSpPr>
            <p:cNvPr id="1355787" name="Line 11"/>
            <p:cNvSpPr>
              <a:spLocks noChangeShapeType="1"/>
            </p:cNvSpPr>
            <p:nvPr/>
          </p:nvSpPr>
          <p:spPr bwMode="auto">
            <a:xfrm flipH="1" flipV="1">
              <a:off x="4889" y="682"/>
              <a:ext cx="0" cy="256"/>
            </a:xfrm>
            <a:prstGeom prst="line">
              <a:avLst/>
            </a:prstGeom>
            <a:noFill/>
            <a:ln w="57150">
              <a:solidFill>
                <a:schemeClr val="tx1"/>
              </a:solidFill>
              <a:round/>
              <a:headEnd/>
              <a:tailEnd type="triangle" w="med" len="med"/>
            </a:ln>
            <a:effectLst/>
          </p:spPr>
          <p:txBody>
            <a:bodyPr anchor="ctr" anchorCtr="1">
              <a:spAutoFit/>
            </a:bodyPr>
            <a:lstStyle/>
            <a:p>
              <a:endParaRPr lang="en-US" sz="2700"/>
            </a:p>
          </p:txBody>
        </p:sp>
      </p:grpSp>
    </p:spTree>
    <p:custDataLst>
      <p:tags r:id="rId1"/>
    </p:custDataLst>
    <p:extLst>
      <p:ext uri="{BB962C8B-B14F-4D97-AF65-F5344CB8AC3E}">
        <p14:creationId xmlns:p14="http://schemas.microsoft.com/office/powerpoint/2010/main" val="4178410442"/>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9875" name="Rectangle 3"/>
          <p:cNvSpPr>
            <a:spLocks noGrp="1" noChangeArrowheads="1"/>
          </p:cNvSpPr>
          <p:nvPr>
            <p:ph type="title"/>
          </p:nvPr>
        </p:nvSpPr>
        <p:spPr/>
        <p:txBody>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Understanding the OSI RM Layers</a:t>
            </a:r>
          </a:p>
        </p:txBody>
      </p:sp>
      <p:sp>
        <p:nvSpPr>
          <p:cNvPr id="2" name="Slide Number Placeholder 1"/>
          <p:cNvSpPr>
            <a:spLocks noGrp="1"/>
          </p:cNvSpPr>
          <p:nvPr>
            <p:ph type="sldNum" sz="quarter" idx="10"/>
          </p:nvPr>
        </p:nvSpPr>
        <p:spPr>
          <a:prstGeom prst="rect">
            <a:avLst/>
          </a:prstGeom>
        </p:spPr>
        <p:txBody>
          <a:bodyPr/>
          <a:lstStyle/>
          <a:p>
            <a:fld id="{52B67DA5-9DD9-4BCA-8370-9CA784C1DE92}" type="slidenum">
              <a:rPr lang="en-US" smtClean="0"/>
              <a:pPr/>
              <a:t>93</a:t>
            </a:fld>
            <a:endParaRPr lang="en-US"/>
          </a:p>
        </p:txBody>
      </p:sp>
      <p:pic>
        <p:nvPicPr>
          <p:cNvPr id="1359874" name="Picture 2" descr="OSI-Reference-Model"/>
          <p:cNvPicPr>
            <a:picLocks noChangeAspect="1" noChangeArrowheads="1"/>
          </p:cNvPicPr>
          <p:nvPr/>
        </p:nvPicPr>
        <p:blipFill>
          <a:blip r:embed="rId4" cstate="print"/>
          <a:srcRect/>
          <a:stretch>
            <a:fillRect/>
          </a:stretch>
        </p:blipFill>
        <p:spPr bwMode="auto">
          <a:xfrm>
            <a:off x="7160420" y="3490913"/>
            <a:ext cx="3936206" cy="5995988"/>
          </a:xfrm>
          <a:prstGeom prst="rect">
            <a:avLst/>
          </a:prstGeom>
          <a:noFill/>
        </p:spPr>
      </p:pic>
      <p:sp>
        <p:nvSpPr>
          <p:cNvPr id="1359876" name="Text Box 4"/>
          <p:cNvSpPr txBox="1">
            <a:spLocks noChangeArrowheads="1"/>
          </p:cNvSpPr>
          <p:nvPr/>
        </p:nvSpPr>
        <p:spPr bwMode="auto">
          <a:xfrm>
            <a:off x="3493295" y="2466976"/>
            <a:ext cx="2516523" cy="507831"/>
          </a:xfrm>
          <a:prstGeom prst="rect">
            <a:avLst/>
          </a:prstGeom>
          <a:solidFill>
            <a:schemeClr val="accent1"/>
          </a:solidFill>
          <a:ln w="12700" algn="ctr">
            <a:solidFill>
              <a:schemeClr val="tx1"/>
            </a:solidFill>
            <a:miter lim="800000"/>
            <a:headEnd/>
            <a:tailEnd/>
          </a:ln>
          <a:effectLst/>
        </p:spPr>
        <p:txBody>
          <a:bodyPr wrap="none">
            <a:spAutoFit/>
          </a:bodyPr>
          <a:lstStyle/>
          <a:p>
            <a:pPr defTabSz="1540670"/>
            <a:r>
              <a:rPr lang="en-US" sz="2700">
                <a:solidFill>
                  <a:schemeClr val="bg1"/>
                </a:solidFill>
              </a:rPr>
              <a:t>Where They Live</a:t>
            </a:r>
          </a:p>
        </p:txBody>
      </p:sp>
      <p:sp>
        <p:nvSpPr>
          <p:cNvPr id="1359877" name="Text Box 5"/>
          <p:cNvSpPr txBox="1">
            <a:spLocks noChangeArrowheads="1"/>
          </p:cNvSpPr>
          <p:nvPr/>
        </p:nvSpPr>
        <p:spPr bwMode="auto">
          <a:xfrm>
            <a:off x="3328006" y="4652963"/>
            <a:ext cx="3278141" cy="1061829"/>
          </a:xfrm>
          <a:prstGeom prst="rect">
            <a:avLst/>
          </a:prstGeom>
          <a:noFill/>
          <a:ln w="28575" algn="ctr">
            <a:noFill/>
            <a:miter lim="800000"/>
            <a:headEnd/>
            <a:tailEnd/>
          </a:ln>
          <a:effectLst/>
        </p:spPr>
        <p:txBody>
          <a:bodyPr wrap="none">
            <a:spAutoFit/>
          </a:bodyPr>
          <a:lstStyle/>
          <a:p>
            <a:pPr defTabSz="1540670"/>
            <a:r>
              <a:rPr lang="en-US" sz="3300"/>
              <a:t>End-to-End Layers</a:t>
            </a:r>
          </a:p>
          <a:p>
            <a:pPr defTabSz="1540670"/>
            <a:r>
              <a:rPr lang="en-US" sz="3000" i="1"/>
              <a:t>(End Systems)</a:t>
            </a:r>
          </a:p>
        </p:txBody>
      </p:sp>
      <p:sp>
        <p:nvSpPr>
          <p:cNvPr id="1359878" name="Text Box 6"/>
          <p:cNvSpPr txBox="1">
            <a:spLocks noChangeArrowheads="1"/>
          </p:cNvSpPr>
          <p:nvPr/>
        </p:nvSpPr>
        <p:spPr bwMode="auto">
          <a:xfrm>
            <a:off x="3578075" y="7762876"/>
            <a:ext cx="2758063" cy="1061829"/>
          </a:xfrm>
          <a:prstGeom prst="rect">
            <a:avLst/>
          </a:prstGeom>
          <a:noFill/>
          <a:ln w="28575" algn="ctr">
            <a:noFill/>
            <a:miter lim="800000"/>
            <a:headEnd/>
            <a:tailEnd/>
          </a:ln>
          <a:effectLst/>
        </p:spPr>
        <p:txBody>
          <a:bodyPr wrap="none">
            <a:spAutoFit/>
          </a:bodyPr>
          <a:lstStyle/>
          <a:p>
            <a:pPr defTabSz="1540670"/>
            <a:r>
              <a:rPr lang="en-US" sz="3300"/>
              <a:t>Chained Layers</a:t>
            </a:r>
          </a:p>
          <a:p>
            <a:pPr defTabSz="1540670"/>
            <a:r>
              <a:rPr lang="en-US" sz="3000" i="1"/>
              <a:t>(All Systems)</a:t>
            </a:r>
          </a:p>
        </p:txBody>
      </p:sp>
      <p:sp>
        <p:nvSpPr>
          <p:cNvPr id="1359879" name="Text Box 7"/>
          <p:cNvSpPr txBox="1">
            <a:spLocks noChangeArrowheads="1"/>
          </p:cNvSpPr>
          <p:nvPr/>
        </p:nvSpPr>
        <p:spPr bwMode="auto">
          <a:xfrm>
            <a:off x="12232482" y="2466976"/>
            <a:ext cx="2179828" cy="507831"/>
          </a:xfrm>
          <a:prstGeom prst="rect">
            <a:avLst/>
          </a:prstGeom>
          <a:solidFill>
            <a:schemeClr val="accent1"/>
          </a:solidFill>
          <a:ln w="12700" algn="ctr">
            <a:solidFill>
              <a:schemeClr val="tx1"/>
            </a:solidFill>
            <a:miter lim="800000"/>
            <a:headEnd/>
            <a:tailEnd/>
          </a:ln>
          <a:effectLst/>
        </p:spPr>
        <p:txBody>
          <a:bodyPr wrap="none">
            <a:spAutoFit/>
          </a:bodyPr>
          <a:lstStyle/>
          <a:p>
            <a:pPr defTabSz="1540670"/>
            <a:r>
              <a:rPr lang="en-US" sz="2700">
                <a:solidFill>
                  <a:schemeClr val="bg1"/>
                </a:solidFill>
              </a:rPr>
              <a:t>What They Do</a:t>
            </a:r>
          </a:p>
        </p:txBody>
      </p:sp>
      <p:sp>
        <p:nvSpPr>
          <p:cNvPr id="1359880" name="Text Box 8"/>
          <p:cNvSpPr txBox="1">
            <a:spLocks noChangeArrowheads="1"/>
          </p:cNvSpPr>
          <p:nvPr/>
        </p:nvSpPr>
        <p:spPr bwMode="auto">
          <a:xfrm>
            <a:off x="12027276" y="3788570"/>
            <a:ext cx="3127844" cy="1061829"/>
          </a:xfrm>
          <a:prstGeom prst="rect">
            <a:avLst/>
          </a:prstGeom>
          <a:noFill/>
          <a:ln w="28575" algn="ctr">
            <a:noFill/>
            <a:miter lim="800000"/>
            <a:headEnd/>
            <a:tailEnd/>
          </a:ln>
          <a:effectLst/>
        </p:spPr>
        <p:txBody>
          <a:bodyPr wrap="none">
            <a:spAutoFit/>
          </a:bodyPr>
          <a:lstStyle/>
          <a:p>
            <a:pPr defTabSz="1540670"/>
            <a:r>
              <a:rPr lang="en-US" sz="3300"/>
              <a:t>Interoperability</a:t>
            </a:r>
          </a:p>
          <a:p>
            <a:pPr defTabSz="1540670"/>
            <a:r>
              <a:rPr lang="en-US" sz="3000" i="1"/>
              <a:t>(Meaningful Work)</a:t>
            </a:r>
          </a:p>
        </p:txBody>
      </p:sp>
      <p:sp>
        <p:nvSpPr>
          <p:cNvPr id="1359881" name="Text Box 9"/>
          <p:cNvSpPr txBox="1">
            <a:spLocks noChangeArrowheads="1"/>
          </p:cNvSpPr>
          <p:nvPr/>
        </p:nvSpPr>
        <p:spPr bwMode="auto">
          <a:xfrm>
            <a:off x="11676209" y="6784183"/>
            <a:ext cx="3555525" cy="1061829"/>
          </a:xfrm>
          <a:prstGeom prst="rect">
            <a:avLst/>
          </a:prstGeom>
          <a:noFill/>
          <a:ln w="28575" algn="ctr">
            <a:noFill/>
            <a:miter lim="800000"/>
            <a:headEnd/>
            <a:tailEnd/>
          </a:ln>
          <a:effectLst/>
        </p:spPr>
        <p:txBody>
          <a:bodyPr wrap="none">
            <a:spAutoFit/>
          </a:bodyPr>
          <a:lstStyle/>
          <a:p>
            <a:pPr defTabSz="1540670"/>
            <a:r>
              <a:rPr lang="en-US" sz="3300"/>
              <a:t>Connectivity</a:t>
            </a:r>
            <a:br>
              <a:rPr lang="en-US" sz="3300"/>
            </a:br>
            <a:r>
              <a:rPr lang="en-US" sz="3000" i="1"/>
              <a:t>(Successful Exchange)</a:t>
            </a:r>
          </a:p>
        </p:txBody>
      </p:sp>
      <p:sp>
        <p:nvSpPr>
          <p:cNvPr id="1359882" name="Line 10"/>
          <p:cNvSpPr>
            <a:spLocks noChangeShapeType="1"/>
          </p:cNvSpPr>
          <p:nvPr/>
        </p:nvSpPr>
        <p:spPr bwMode="auto">
          <a:xfrm flipH="1">
            <a:off x="2864645" y="6853238"/>
            <a:ext cx="4321968" cy="0"/>
          </a:xfrm>
          <a:prstGeom prst="line">
            <a:avLst/>
          </a:prstGeom>
          <a:noFill/>
          <a:ln w="28575">
            <a:solidFill>
              <a:schemeClr val="tx1"/>
            </a:solidFill>
            <a:round/>
            <a:headEnd/>
            <a:tailEnd/>
          </a:ln>
          <a:effectLst/>
        </p:spPr>
        <p:txBody>
          <a:bodyPr wrap="none">
            <a:spAutoFit/>
          </a:bodyPr>
          <a:lstStyle/>
          <a:p>
            <a:endParaRPr lang="en-US" sz="2700"/>
          </a:p>
        </p:txBody>
      </p:sp>
      <p:sp>
        <p:nvSpPr>
          <p:cNvPr id="1359883" name="Line 11"/>
          <p:cNvSpPr>
            <a:spLocks noChangeShapeType="1"/>
          </p:cNvSpPr>
          <p:nvPr/>
        </p:nvSpPr>
        <p:spPr bwMode="auto">
          <a:xfrm flipH="1">
            <a:off x="11063288" y="5181600"/>
            <a:ext cx="4321970" cy="0"/>
          </a:xfrm>
          <a:prstGeom prst="line">
            <a:avLst/>
          </a:prstGeom>
          <a:noFill/>
          <a:ln w="28575">
            <a:solidFill>
              <a:schemeClr val="tx1"/>
            </a:solidFill>
            <a:round/>
            <a:headEnd/>
            <a:tailEnd/>
          </a:ln>
          <a:effectLst/>
        </p:spPr>
        <p:txBody>
          <a:bodyPr wrap="none">
            <a:spAutoFit/>
          </a:bodyPr>
          <a:lstStyle/>
          <a:p>
            <a:endParaRPr lang="en-US" sz="2700"/>
          </a:p>
        </p:txBody>
      </p:sp>
    </p:spTree>
    <p:custDataLst>
      <p:tags r:id="rId1"/>
    </p:custDataLst>
    <p:extLst>
      <p:ext uri="{BB962C8B-B14F-4D97-AF65-F5344CB8AC3E}">
        <p14:creationId xmlns:p14="http://schemas.microsoft.com/office/powerpoint/2010/main" val="21276890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59876"/>
                                        </p:tgtEl>
                                        <p:attrNameLst>
                                          <p:attrName>style.visibility</p:attrName>
                                        </p:attrNameLst>
                                      </p:cBhvr>
                                      <p:to>
                                        <p:strVal val="visible"/>
                                      </p:to>
                                    </p:set>
                                    <p:anim calcmode="lin" valueType="num">
                                      <p:cBhvr additive="base">
                                        <p:cTn id="7" dur="1000" fill="hold"/>
                                        <p:tgtEl>
                                          <p:spTgt spid="1359876"/>
                                        </p:tgtEl>
                                        <p:attrNameLst>
                                          <p:attrName>ppt_x</p:attrName>
                                        </p:attrNameLst>
                                      </p:cBhvr>
                                      <p:tavLst>
                                        <p:tav tm="0">
                                          <p:val>
                                            <p:strVal val="0-#ppt_w/2"/>
                                          </p:val>
                                        </p:tav>
                                        <p:tav tm="100000">
                                          <p:val>
                                            <p:strVal val="#ppt_x"/>
                                          </p:val>
                                        </p:tav>
                                      </p:tavLst>
                                    </p:anim>
                                    <p:anim calcmode="lin" valueType="num">
                                      <p:cBhvr additive="base">
                                        <p:cTn id="8" dur="1000" fill="hold"/>
                                        <p:tgtEl>
                                          <p:spTgt spid="135987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59882"/>
                                        </p:tgtEl>
                                        <p:attrNameLst>
                                          <p:attrName>style.visibility</p:attrName>
                                        </p:attrNameLst>
                                      </p:cBhvr>
                                      <p:to>
                                        <p:strVal val="visible"/>
                                      </p:to>
                                    </p:set>
                                    <p:anim calcmode="lin" valueType="num">
                                      <p:cBhvr additive="base">
                                        <p:cTn id="13" dur="1000" fill="hold"/>
                                        <p:tgtEl>
                                          <p:spTgt spid="1359882"/>
                                        </p:tgtEl>
                                        <p:attrNameLst>
                                          <p:attrName>ppt_x</p:attrName>
                                        </p:attrNameLst>
                                      </p:cBhvr>
                                      <p:tavLst>
                                        <p:tav tm="0">
                                          <p:val>
                                            <p:strVal val="0-#ppt_w/2"/>
                                          </p:val>
                                        </p:tav>
                                        <p:tav tm="100000">
                                          <p:val>
                                            <p:strVal val="#ppt_x"/>
                                          </p:val>
                                        </p:tav>
                                      </p:tavLst>
                                    </p:anim>
                                    <p:anim calcmode="lin" valueType="num">
                                      <p:cBhvr additive="base">
                                        <p:cTn id="14" dur="1000" fill="hold"/>
                                        <p:tgtEl>
                                          <p:spTgt spid="135988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59878"/>
                                        </p:tgtEl>
                                        <p:attrNameLst>
                                          <p:attrName>style.visibility</p:attrName>
                                        </p:attrNameLst>
                                      </p:cBhvr>
                                      <p:to>
                                        <p:strVal val="visible"/>
                                      </p:to>
                                    </p:set>
                                    <p:anim calcmode="lin" valueType="num">
                                      <p:cBhvr additive="base">
                                        <p:cTn id="19" dur="1000" fill="hold"/>
                                        <p:tgtEl>
                                          <p:spTgt spid="1359878"/>
                                        </p:tgtEl>
                                        <p:attrNameLst>
                                          <p:attrName>ppt_x</p:attrName>
                                        </p:attrNameLst>
                                      </p:cBhvr>
                                      <p:tavLst>
                                        <p:tav tm="0">
                                          <p:val>
                                            <p:strVal val="0-#ppt_w/2"/>
                                          </p:val>
                                        </p:tav>
                                        <p:tav tm="100000">
                                          <p:val>
                                            <p:strVal val="#ppt_x"/>
                                          </p:val>
                                        </p:tav>
                                      </p:tavLst>
                                    </p:anim>
                                    <p:anim calcmode="lin" valueType="num">
                                      <p:cBhvr additive="base">
                                        <p:cTn id="20" dur="1000" fill="hold"/>
                                        <p:tgtEl>
                                          <p:spTgt spid="135987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59877"/>
                                        </p:tgtEl>
                                        <p:attrNameLst>
                                          <p:attrName>style.visibility</p:attrName>
                                        </p:attrNameLst>
                                      </p:cBhvr>
                                      <p:to>
                                        <p:strVal val="visible"/>
                                      </p:to>
                                    </p:set>
                                    <p:anim calcmode="lin" valueType="num">
                                      <p:cBhvr additive="base">
                                        <p:cTn id="25" dur="1000" fill="hold"/>
                                        <p:tgtEl>
                                          <p:spTgt spid="1359877"/>
                                        </p:tgtEl>
                                        <p:attrNameLst>
                                          <p:attrName>ppt_x</p:attrName>
                                        </p:attrNameLst>
                                      </p:cBhvr>
                                      <p:tavLst>
                                        <p:tav tm="0">
                                          <p:val>
                                            <p:strVal val="0-#ppt_w/2"/>
                                          </p:val>
                                        </p:tav>
                                        <p:tav tm="100000">
                                          <p:val>
                                            <p:strVal val="#ppt_x"/>
                                          </p:val>
                                        </p:tav>
                                      </p:tavLst>
                                    </p:anim>
                                    <p:anim calcmode="lin" valueType="num">
                                      <p:cBhvr additive="base">
                                        <p:cTn id="26" dur="1000" fill="hold"/>
                                        <p:tgtEl>
                                          <p:spTgt spid="135987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359879"/>
                                        </p:tgtEl>
                                        <p:attrNameLst>
                                          <p:attrName>style.visibility</p:attrName>
                                        </p:attrNameLst>
                                      </p:cBhvr>
                                      <p:to>
                                        <p:strVal val="visible"/>
                                      </p:to>
                                    </p:set>
                                    <p:anim calcmode="lin" valueType="num">
                                      <p:cBhvr additive="base">
                                        <p:cTn id="31" dur="1000" fill="hold"/>
                                        <p:tgtEl>
                                          <p:spTgt spid="1359879"/>
                                        </p:tgtEl>
                                        <p:attrNameLst>
                                          <p:attrName>ppt_x</p:attrName>
                                        </p:attrNameLst>
                                      </p:cBhvr>
                                      <p:tavLst>
                                        <p:tav tm="0">
                                          <p:val>
                                            <p:strVal val="1+#ppt_w/2"/>
                                          </p:val>
                                        </p:tav>
                                        <p:tav tm="100000">
                                          <p:val>
                                            <p:strVal val="#ppt_x"/>
                                          </p:val>
                                        </p:tav>
                                      </p:tavLst>
                                    </p:anim>
                                    <p:anim calcmode="lin" valueType="num">
                                      <p:cBhvr additive="base">
                                        <p:cTn id="32" dur="1000" fill="hold"/>
                                        <p:tgtEl>
                                          <p:spTgt spid="135987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359883"/>
                                        </p:tgtEl>
                                        <p:attrNameLst>
                                          <p:attrName>style.visibility</p:attrName>
                                        </p:attrNameLst>
                                      </p:cBhvr>
                                      <p:to>
                                        <p:strVal val="visible"/>
                                      </p:to>
                                    </p:set>
                                    <p:anim calcmode="lin" valueType="num">
                                      <p:cBhvr additive="base">
                                        <p:cTn id="37" dur="1000" fill="hold"/>
                                        <p:tgtEl>
                                          <p:spTgt spid="1359883"/>
                                        </p:tgtEl>
                                        <p:attrNameLst>
                                          <p:attrName>ppt_x</p:attrName>
                                        </p:attrNameLst>
                                      </p:cBhvr>
                                      <p:tavLst>
                                        <p:tav tm="0">
                                          <p:val>
                                            <p:strVal val="1+#ppt_w/2"/>
                                          </p:val>
                                        </p:tav>
                                        <p:tav tm="100000">
                                          <p:val>
                                            <p:strVal val="#ppt_x"/>
                                          </p:val>
                                        </p:tav>
                                      </p:tavLst>
                                    </p:anim>
                                    <p:anim calcmode="lin" valueType="num">
                                      <p:cBhvr additive="base">
                                        <p:cTn id="38" dur="1000" fill="hold"/>
                                        <p:tgtEl>
                                          <p:spTgt spid="1359883"/>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359881"/>
                                        </p:tgtEl>
                                        <p:attrNameLst>
                                          <p:attrName>style.visibility</p:attrName>
                                        </p:attrNameLst>
                                      </p:cBhvr>
                                      <p:to>
                                        <p:strVal val="visible"/>
                                      </p:to>
                                    </p:set>
                                    <p:anim calcmode="lin" valueType="num">
                                      <p:cBhvr additive="base">
                                        <p:cTn id="43" dur="1000" fill="hold"/>
                                        <p:tgtEl>
                                          <p:spTgt spid="1359881"/>
                                        </p:tgtEl>
                                        <p:attrNameLst>
                                          <p:attrName>ppt_x</p:attrName>
                                        </p:attrNameLst>
                                      </p:cBhvr>
                                      <p:tavLst>
                                        <p:tav tm="0">
                                          <p:val>
                                            <p:strVal val="1+#ppt_w/2"/>
                                          </p:val>
                                        </p:tav>
                                        <p:tav tm="100000">
                                          <p:val>
                                            <p:strVal val="#ppt_x"/>
                                          </p:val>
                                        </p:tav>
                                      </p:tavLst>
                                    </p:anim>
                                    <p:anim calcmode="lin" valueType="num">
                                      <p:cBhvr additive="base">
                                        <p:cTn id="44" dur="1000" fill="hold"/>
                                        <p:tgtEl>
                                          <p:spTgt spid="135988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359880"/>
                                        </p:tgtEl>
                                        <p:attrNameLst>
                                          <p:attrName>style.visibility</p:attrName>
                                        </p:attrNameLst>
                                      </p:cBhvr>
                                      <p:to>
                                        <p:strVal val="visible"/>
                                      </p:to>
                                    </p:set>
                                    <p:anim calcmode="lin" valueType="num">
                                      <p:cBhvr additive="base">
                                        <p:cTn id="49" dur="1000" fill="hold"/>
                                        <p:tgtEl>
                                          <p:spTgt spid="1359880"/>
                                        </p:tgtEl>
                                        <p:attrNameLst>
                                          <p:attrName>ppt_x</p:attrName>
                                        </p:attrNameLst>
                                      </p:cBhvr>
                                      <p:tavLst>
                                        <p:tav tm="0">
                                          <p:val>
                                            <p:strVal val="1+#ppt_w/2"/>
                                          </p:val>
                                        </p:tav>
                                        <p:tav tm="100000">
                                          <p:val>
                                            <p:strVal val="#ppt_x"/>
                                          </p:val>
                                        </p:tav>
                                      </p:tavLst>
                                    </p:anim>
                                    <p:anim calcmode="lin" valueType="num">
                                      <p:cBhvr additive="base">
                                        <p:cTn id="50" dur="1000" fill="hold"/>
                                        <p:tgtEl>
                                          <p:spTgt spid="13598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9876" grpId="0" animBg="1"/>
      <p:bldP spid="1359877" grpId="0"/>
      <p:bldP spid="1359878" grpId="0"/>
      <p:bldP spid="1359879" grpId="0" animBg="1"/>
      <p:bldP spid="1359880" grpId="0"/>
      <p:bldP spid="1359881" grpId="0"/>
      <p:bldP spid="1359882" grpId="0" animBg="1"/>
      <p:bldP spid="1359883"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3970" name="Rectangle 2"/>
          <p:cNvSpPr>
            <a:spLocks noGrp="1" noChangeArrowheads="1"/>
          </p:cNvSpPr>
          <p:nvPr>
            <p:ph type="title"/>
          </p:nvPr>
        </p:nvSpPr>
        <p:spPr>
          <a:xfrm>
            <a:off x="1257300" y="340520"/>
            <a:ext cx="15773400" cy="1988345"/>
          </a:xfrm>
        </p:spPr>
        <p:txBody>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A Closer Look at the Layers</a:t>
            </a:r>
          </a:p>
        </p:txBody>
      </p:sp>
      <p:sp>
        <p:nvSpPr>
          <p:cNvPr id="9" name="Slide Number Placeholder 8"/>
          <p:cNvSpPr>
            <a:spLocks noGrp="1"/>
          </p:cNvSpPr>
          <p:nvPr>
            <p:ph type="sldNum" sz="quarter" idx="10"/>
          </p:nvPr>
        </p:nvSpPr>
        <p:spPr>
          <a:prstGeom prst="rect">
            <a:avLst/>
          </a:prstGeom>
        </p:spPr>
        <p:txBody>
          <a:bodyPr/>
          <a:lstStyle/>
          <a:p>
            <a:fld id="{76E8DCF4-EBDD-4FE1-8465-FD383573D554}" type="slidenum">
              <a:rPr lang="en-US" smtClean="0"/>
              <a:pPr/>
              <a:t>94</a:t>
            </a:fld>
            <a:endParaRPr lang="en-US"/>
          </a:p>
        </p:txBody>
      </p:sp>
      <p:grpSp>
        <p:nvGrpSpPr>
          <p:cNvPr id="2" name="Group 3"/>
          <p:cNvGrpSpPr>
            <a:grpSpLocks/>
          </p:cNvGrpSpPr>
          <p:nvPr/>
        </p:nvGrpSpPr>
        <p:grpSpPr bwMode="auto">
          <a:xfrm>
            <a:off x="3117058" y="7822407"/>
            <a:ext cx="11413331" cy="864393"/>
            <a:chOff x="349" y="3093"/>
            <a:chExt cx="4793" cy="363"/>
          </a:xfrm>
        </p:grpSpPr>
        <p:sp>
          <p:nvSpPr>
            <p:cNvPr id="1363972" name="Rectangle 4"/>
            <p:cNvSpPr>
              <a:spLocks noChangeArrowheads="1"/>
            </p:cNvSpPr>
            <p:nvPr/>
          </p:nvSpPr>
          <p:spPr bwMode="auto">
            <a:xfrm>
              <a:off x="349" y="3093"/>
              <a:ext cx="992" cy="363"/>
            </a:xfrm>
            <a:prstGeom prst="rect">
              <a:avLst/>
            </a:prstGeom>
            <a:solidFill>
              <a:srgbClr val="800080"/>
            </a:solidFill>
            <a:ln w="28575" algn="ctr">
              <a:solidFill>
                <a:schemeClr val="tx1"/>
              </a:solidFill>
              <a:miter lim="800000"/>
              <a:headEnd/>
              <a:tailEnd/>
            </a:ln>
            <a:effectLst/>
          </p:spPr>
          <p:txBody>
            <a:bodyPr wrap="none" anchor="ctr"/>
            <a:lstStyle/>
            <a:p>
              <a:pPr defTabSz="1540670"/>
              <a:r>
                <a:rPr lang="en-US" sz="3000">
                  <a:solidFill>
                    <a:schemeClr val="bg1"/>
                  </a:solidFill>
                </a:rPr>
                <a:t>Physical</a:t>
              </a:r>
            </a:p>
          </p:txBody>
        </p:sp>
        <p:sp>
          <p:nvSpPr>
            <p:cNvPr id="1363973" name="Rectangle 5"/>
            <p:cNvSpPr>
              <a:spLocks noChangeArrowheads="1"/>
            </p:cNvSpPr>
            <p:nvPr/>
          </p:nvSpPr>
          <p:spPr bwMode="auto">
            <a:xfrm>
              <a:off x="1581" y="3093"/>
              <a:ext cx="3561" cy="363"/>
            </a:xfrm>
            <a:prstGeom prst="rect">
              <a:avLst/>
            </a:prstGeom>
            <a:solidFill>
              <a:srgbClr val="800080"/>
            </a:solidFill>
            <a:ln w="28575" algn="ctr">
              <a:solidFill>
                <a:schemeClr val="tx1"/>
              </a:solidFill>
              <a:miter lim="800000"/>
              <a:headEnd/>
              <a:tailEnd/>
            </a:ln>
            <a:effectLst/>
          </p:spPr>
          <p:txBody>
            <a:bodyPr wrap="none" anchor="ctr"/>
            <a:lstStyle/>
            <a:p>
              <a:pPr defTabSz="1540670"/>
              <a:r>
                <a:rPr lang="en-US" sz="3000">
                  <a:solidFill>
                    <a:schemeClr val="bg1"/>
                  </a:solidFill>
                </a:rPr>
                <a:t>Bit transmission (distance, speed, medium)</a:t>
              </a:r>
            </a:p>
          </p:txBody>
        </p:sp>
      </p:grpSp>
      <p:grpSp>
        <p:nvGrpSpPr>
          <p:cNvPr id="3" name="Group 6"/>
          <p:cNvGrpSpPr>
            <a:grpSpLocks/>
          </p:cNvGrpSpPr>
          <p:nvPr/>
        </p:nvGrpSpPr>
        <p:grpSpPr bwMode="auto">
          <a:xfrm>
            <a:off x="3117058" y="6936582"/>
            <a:ext cx="11413331" cy="914400"/>
            <a:chOff x="349" y="2688"/>
            <a:chExt cx="4793" cy="384"/>
          </a:xfrm>
        </p:grpSpPr>
        <p:sp>
          <p:nvSpPr>
            <p:cNvPr id="1363975" name="Rectangle 7"/>
            <p:cNvSpPr>
              <a:spLocks noChangeArrowheads="1"/>
            </p:cNvSpPr>
            <p:nvPr/>
          </p:nvSpPr>
          <p:spPr bwMode="auto">
            <a:xfrm>
              <a:off x="349" y="2688"/>
              <a:ext cx="992" cy="384"/>
            </a:xfrm>
            <a:prstGeom prst="rect">
              <a:avLst/>
            </a:prstGeom>
            <a:solidFill>
              <a:srgbClr val="0000CC"/>
            </a:solidFill>
            <a:ln w="28575" algn="ctr">
              <a:solidFill>
                <a:schemeClr val="tx1"/>
              </a:solidFill>
              <a:miter lim="800000"/>
              <a:headEnd/>
              <a:tailEnd/>
            </a:ln>
            <a:effectLst/>
          </p:spPr>
          <p:txBody>
            <a:bodyPr wrap="none" anchor="ctr"/>
            <a:lstStyle/>
            <a:p>
              <a:pPr defTabSz="1540670"/>
              <a:r>
                <a:rPr lang="en-US" sz="3000">
                  <a:solidFill>
                    <a:schemeClr val="bg1"/>
                  </a:solidFill>
                </a:rPr>
                <a:t>Data Link</a:t>
              </a:r>
            </a:p>
          </p:txBody>
        </p:sp>
        <p:sp>
          <p:nvSpPr>
            <p:cNvPr id="1363976" name="Rectangle 8"/>
            <p:cNvSpPr>
              <a:spLocks noChangeArrowheads="1"/>
            </p:cNvSpPr>
            <p:nvPr/>
          </p:nvSpPr>
          <p:spPr bwMode="auto">
            <a:xfrm>
              <a:off x="1581" y="2699"/>
              <a:ext cx="3561" cy="363"/>
            </a:xfrm>
            <a:prstGeom prst="rect">
              <a:avLst/>
            </a:prstGeom>
            <a:solidFill>
              <a:srgbClr val="0000CC"/>
            </a:solidFill>
            <a:ln w="28575" algn="ctr">
              <a:solidFill>
                <a:schemeClr val="tx1"/>
              </a:solidFill>
              <a:miter lim="800000"/>
              <a:headEnd/>
              <a:tailEnd/>
            </a:ln>
            <a:effectLst/>
          </p:spPr>
          <p:txBody>
            <a:bodyPr wrap="none" anchor="ctr"/>
            <a:lstStyle/>
            <a:p>
              <a:pPr defTabSz="1540670"/>
              <a:r>
                <a:rPr lang="en-US" sz="3000">
                  <a:solidFill>
                    <a:schemeClr val="bg1"/>
                  </a:solidFill>
                </a:rPr>
                <a:t>Node-to-node correctness (access, bit errors)</a:t>
              </a:r>
            </a:p>
          </p:txBody>
        </p:sp>
      </p:grpSp>
      <p:grpSp>
        <p:nvGrpSpPr>
          <p:cNvPr id="4" name="Group 9"/>
          <p:cNvGrpSpPr>
            <a:grpSpLocks/>
          </p:cNvGrpSpPr>
          <p:nvPr/>
        </p:nvGrpSpPr>
        <p:grpSpPr bwMode="auto">
          <a:xfrm>
            <a:off x="3117058" y="6096000"/>
            <a:ext cx="11406188" cy="866775"/>
            <a:chOff x="349" y="2282"/>
            <a:chExt cx="4790" cy="364"/>
          </a:xfrm>
        </p:grpSpPr>
        <p:sp>
          <p:nvSpPr>
            <p:cNvPr id="1363978" name="Rectangle 10"/>
            <p:cNvSpPr>
              <a:spLocks noChangeArrowheads="1"/>
            </p:cNvSpPr>
            <p:nvPr/>
          </p:nvSpPr>
          <p:spPr bwMode="auto">
            <a:xfrm>
              <a:off x="349" y="2282"/>
              <a:ext cx="992" cy="363"/>
            </a:xfrm>
            <a:prstGeom prst="rect">
              <a:avLst/>
            </a:prstGeom>
            <a:solidFill>
              <a:srgbClr val="3366FF"/>
            </a:solidFill>
            <a:ln w="28575" algn="ctr">
              <a:solidFill>
                <a:schemeClr val="tx1"/>
              </a:solidFill>
              <a:miter lim="800000"/>
              <a:headEnd/>
              <a:tailEnd/>
            </a:ln>
            <a:effectLst/>
          </p:spPr>
          <p:txBody>
            <a:bodyPr wrap="none" anchor="ctr"/>
            <a:lstStyle/>
            <a:p>
              <a:pPr defTabSz="1540670"/>
              <a:r>
                <a:rPr lang="en-US" sz="3000">
                  <a:solidFill>
                    <a:schemeClr val="bg1"/>
                  </a:solidFill>
                </a:rPr>
                <a:t>Network</a:t>
              </a:r>
            </a:p>
          </p:txBody>
        </p:sp>
        <p:sp>
          <p:nvSpPr>
            <p:cNvPr id="1363979" name="Rectangle 11"/>
            <p:cNvSpPr>
              <a:spLocks noChangeArrowheads="1"/>
            </p:cNvSpPr>
            <p:nvPr/>
          </p:nvSpPr>
          <p:spPr bwMode="auto">
            <a:xfrm>
              <a:off x="1581" y="2283"/>
              <a:ext cx="3558" cy="363"/>
            </a:xfrm>
            <a:prstGeom prst="rect">
              <a:avLst/>
            </a:prstGeom>
            <a:solidFill>
              <a:srgbClr val="3366FF"/>
            </a:solidFill>
            <a:ln w="28575" algn="ctr">
              <a:solidFill>
                <a:schemeClr val="tx1"/>
              </a:solidFill>
              <a:miter lim="800000"/>
              <a:headEnd/>
              <a:tailEnd/>
            </a:ln>
            <a:effectLst/>
          </p:spPr>
          <p:txBody>
            <a:bodyPr wrap="none" anchor="ctr"/>
            <a:lstStyle/>
            <a:p>
              <a:pPr defTabSz="1540670"/>
              <a:r>
                <a:rPr lang="en-US" sz="3000">
                  <a:solidFill>
                    <a:schemeClr val="bg1"/>
                  </a:solidFill>
                </a:rPr>
                <a:t>Routing (addressing, congestion control)</a:t>
              </a:r>
            </a:p>
          </p:txBody>
        </p:sp>
      </p:grpSp>
      <p:grpSp>
        <p:nvGrpSpPr>
          <p:cNvPr id="5" name="Group 12"/>
          <p:cNvGrpSpPr>
            <a:grpSpLocks/>
          </p:cNvGrpSpPr>
          <p:nvPr/>
        </p:nvGrpSpPr>
        <p:grpSpPr bwMode="auto">
          <a:xfrm>
            <a:off x="3117058" y="5229226"/>
            <a:ext cx="11406188" cy="892970"/>
            <a:chOff x="349" y="1905"/>
            <a:chExt cx="4790" cy="375"/>
          </a:xfrm>
        </p:grpSpPr>
        <p:sp>
          <p:nvSpPr>
            <p:cNvPr id="1363981" name="Rectangle 13"/>
            <p:cNvSpPr>
              <a:spLocks noChangeArrowheads="1"/>
            </p:cNvSpPr>
            <p:nvPr/>
          </p:nvSpPr>
          <p:spPr bwMode="auto">
            <a:xfrm>
              <a:off x="349" y="1905"/>
              <a:ext cx="992" cy="375"/>
            </a:xfrm>
            <a:prstGeom prst="rect">
              <a:avLst/>
            </a:prstGeom>
            <a:solidFill>
              <a:srgbClr val="009900"/>
            </a:solidFill>
            <a:ln w="28575" algn="ctr">
              <a:solidFill>
                <a:schemeClr val="tx1"/>
              </a:solidFill>
              <a:miter lim="800000"/>
              <a:headEnd/>
              <a:tailEnd/>
            </a:ln>
            <a:effectLst/>
          </p:spPr>
          <p:txBody>
            <a:bodyPr wrap="none" anchor="ctr"/>
            <a:lstStyle/>
            <a:p>
              <a:pPr defTabSz="1540670"/>
              <a:r>
                <a:rPr lang="en-US" sz="3000">
                  <a:solidFill>
                    <a:schemeClr val="bg1"/>
                  </a:solidFill>
                </a:rPr>
                <a:t>Transport</a:t>
              </a:r>
            </a:p>
          </p:txBody>
        </p:sp>
        <p:sp>
          <p:nvSpPr>
            <p:cNvPr id="1363982" name="Rectangle 14"/>
            <p:cNvSpPr>
              <a:spLocks noChangeArrowheads="1"/>
            </p:cNvSpPr>
            <p:nvPr/>
          </p:nvSpPr>
          <p:spPr bwMode="auto">
            <a:xfrm>
              <a:off x="1581" y="1911"/>
              <a:ext cx="3558" cy="363"/>
            </a:xfrm>
            <a:prstGeom prst="rect">
              <a:avLst/>
            </a:prstGeom>
            <a:solidFill>
              <a:srgbClr val="009900"/>
            </a:solidFill>
            <a:ln w="28575" algn="ctr">
              <a:solidFill>
                <a:schemeClr val="tx1"/>
              </a:solidFill>
              <a:miter lim="800000"/>
              <a:headEnd/>
              <a:tailEnd/>
            </a:ln>
            <a:effectLst/>
          </p:spPr>
          <p:txBody>
            <a:bodyPr wrap="none" anchor="ctr"/>
            <a:lstStyle/>
            <a:p>
              <a:pPr defTabSz="1540670"/>
              <a:r>
                <a:rPr lang="en-US" sz="3000">
                  <a:solidFill>
                    <a:schemeClr val="bg1"/>
                  </a:solidFill>
                </a:rPr>
                <a:t>End-to-end correctness (sequencing, loss)</a:t>
              </a:r>
            </a:p>
          </p:txBody>
        </p:sp>
      </p:grpSp>
      <p:grpSp>
        <p:nvGrpSpPr>
          <p:cNvPr id="6" name="Group 15"/>
          <p:cNvGrpSpPr>
            <a:grpSpLocks/>
          </p:cNvGrpSpPr>
          <p:nvPr/>
        </p:nvGrpSpPr>
        <p:grpSpPr bwMode="auto">
          <a:xfrm>
            <a:off x="3117058" y="4362451"/>
            <a:ext cx="11406188" cy="892970"/>
            <a:chOff x="349" y="1542"/>
            <a:chExt cx="4790" cy="375"/>
          </a:xfrm>
        </p:grpSpPr>
        <p:sp>
          <p:nvSpPr>
            <p:cNvPr id="1363984" name="Rectangle 16"/>
            <p:cNvSpPr>
              <a:spLocks noChangeArrowheads="1"/>
            </p:cNvSpPr>
            <p:nvPr/>
          </p:nvSpPr>
          <p:spPr bwMode="auto">
            <a:xfrm>
              <a:off x="349" y="1542"/>
              <a:ext cx="992" cy="375"/>
            </a:xfrm>
            <a:prstGeom prst="rect">
              <a:avLst/>
            </a:prstGeom>
            <a:solidFill>
              <a:srgbClr val="CC9900"/>
            </a:solidFill>
            <a:ln w="28575" algn="ctr">
              <a:solidFill>
                <a:schemeClr val="tx1"/>
              </a:solidFill>
              <a:miter lim="800000"/>
              <a:headEnd/>
              <a:tailEnd/>
            </a:ln>
            <a:effectLst/>
          </p:spPr>
          <p:txBody>
            <a:bodyPr wrap="none" anchor="ctr"/>
            <a:lstStyle/>
            <a:p>
              <a:pPr defTabSz="1540670"/>
              <a:r>
                <a:rPr lang="en-US" sz="3000">
                  <a:solidFill>
                    <a:schemeClr val="bg1"/>
                  </a:solidFill>
                </a:rPr>
                <a:t>Session</a:t>
              </a:r>
            </a:p>
          </p:txBody>
        </p:sp>
        <p:sp>
          <p:nvSpPr>
            <p:cNvPr id="1363985" name="Rectangle 17"/>
            <p:cNvSpPr>
              <a:spLocks noChangeArrowheads="1"/>
            </p:cNvSpPr>
            <p:nvPr/>
          </p:nvSpPr>
          <p:spPr bwMode="auto">
            <a:xfrm>
              <a:off x="1581" y="1548"/>
              <a:ext cx="3558" cy="363"/>
            </a:xfrm>
            <a:prstGeom prst="rect">
              <a:avLst/>
            </a:prstGeom>
            <a:solidFill>
              <a:srgbClr val="CC9900"/>
            </a:solidFill>
            <a:ln w="28575" algn="ctr">
              <a:solidFill>
                <a:schemeClr val="tx1"/>
              </a:solidFill>
              <a:miter lim="800000"/>
              <a:headEnd/>
              <a:tailEnd/>
            </a:ln>
            <a:effectLst/>
          </p:spPr>
          <p:txBody>
            <a:bodyPr wrap="none" anchor="ctr"/>
            <a:lstStyle/>
            <a:p>
              <a:pPr defTabSz="1540670"/>
              <a:r>
                <a:rPr lang="en-US" sz="3000">
                  <a:solidFill>
                    <a:schemeClr val="bg1"/>
                  </a:solidFill>
                </a:rPr>
                <a:t>Dialogue/session control (logon, checkpointing)</a:t>
              </a:r>
            </a:p>
          </p:txBody>
        </p:sp>
      </p:grpSp>
      <p:grpSp>
        <p:nvGrpSpPr>
          <p:cNvPr id="7" name="Group 18"/>
          <p:cNvGrpSpPr>
            <a:grpSpLocks/>
          </p:cNvGrpSpPr>
          <p:nvPr/>
        </p:nvGrpSpPr>
        <p:grpSpPr bwMode="auto">
          <a:xfrm>
            <a:off x="3117058" y="3495676"/>
            <a:ext cx="11406188" cy="892970"/>
            <a:chOff x="349" y="1179"/>
            <a:chExt cx="4790" cy="375"/>
          </a:xfrm>
        </p:grpSpPr>
        <p:sp>
          <p:nvSpPr>
            <p:cNvPr id="1363987" name="Rectangle 19"/>
            <p:cNvSpPr>
              <a:spLocks noChangeArrowheads="1"/>
            </p:cNvSpPr>
            <p:nvPr/>
          </p:nvSpPr>
          <p:spPr bwMode="auto">
            <a:xfrm>
              <a:off x="349" y="1179"/>
              <a:ext cx="992" cy="375"/>
            </a:xfrm>
            <a:prstGeom prst="rect">
              <a:avLst/>
            </a:prstGeom>
            <a:solidFill>
              <a:srgbClr val="FF6600"/>
            </a:solidFill>
            <a:ln w="28575" algn="ctr">
              <a:solidFill>
                <a:schemeClr val="tx1"/>
              </a:solidFill>
              <a:miter lim="800000"/>
              <a:headEnd/>
              <a:tailEnd/>
            </a:ln>
            <a:effectLst/>
          </p:spPr>
          <p:txBody>
            <a:bodyPr wrap="none" anchor="ctr"/>
            <a:lstStyle/>
            <a:p>
              <a:pPr defTabSz="1540670"/>
              <a:r>
                <a:rPr lang="en-US" sz="3000">
                  <a:solidFill>
                    <a:schemeClr val="bg1"/>
                  </a:solidFill>
                </a:rPr>
                <a:t>Presentation</a:t>
              </a:r>
            </a:p>
          </p:txBody>
        </p:sp>
        <p:sp>
          <p:nvSpPr>
            <p:cNvPr id="1363988" name="Rectangle 20"/>
            <p:cNvSpPr>
              <a:spLocks noChangeArrowheads="1"/>
            </p:cNvSpPr>
            <p:nvPr/>
          </p:nvSpPr>
          <p:spPr bwMode="auto">
            <a:xfrm>
              <a:off x="1581" y="1185"/>
              <a:ext cx="3558" cy="363"/>
            </a:xfrm>
            <a:prstGeom prst="rect">
              <a:avLst/>
            </a:prstGeom>
            <a:solidFill>
              <a:srgbClr val="FF6600"/>
            </a:solidFill>
            <a:ln w="28575" algn="ctr">
              <a:solidFill>
                <a:schemeClr val="tx1"/>
              </a:solidFill>
              <a:miter lim="800000"/>
              <a:headEnd/>
              <a:tailEnd/>
            </a:ln>
            <a:effectLst/>
          </p:spPr>
          <p:txBody>
            <a:bodyPr wrap="none" anchor="ctr"/>
            <a:lstStyle/>
            <a:p>
              <a:pPr defTabSz="1540670"/>
              <a:r>
                <a:rPr lang="en-US" sz="3000">
                  <a:solidFill>
                    <a:schemeClr val="bg1"/>
                  </a:solidFill>
                </a:rPr>
                <a:t>Information syntax (compression, encryption)</a:t>
              </a:r>
            </a:p>
          </p:txBody>
        </p:sp>
      </p:grpSp>
      <p:grpSp>
        <p:nvGrpSpPr>
          <p:cNvPr id="8" name="Group 21"/>
          <p:cNvGrpSpPr>
            <a:grpSpLocks/>
          </p:cNvGrpSpPr>
          <p:nvPr/>
        </p:nvGrpSpPr>
        <p:grpSpPr bwMode="auto">
          <a:xfrm>
            <a:off x="3117058" y="2628901"/>
            <a:ext cx="11406188" cy="892970"/>
            <a:chOff x="349" y="816"/>
            <a:chExt cx="4790" cy="375"/>
          </a:xfrm>
        </p:grpSpPr>
        <p:sp>
          <p:nvSpPr>
            <p:cNvPr id="1363990" name="Rectangle 22"/>
            <p:cNvSpPr>
              <a:spLocks noChangeArrowheads="1"/>
            </p:cNvSpPr>
            <p:nvPr/>
          </p:nvSpPr>
          <p:spPr bwMode="auto">
            <a:xfrm>
              <a:off x="349" y="816"/>
              <a:ext cx="992" cy="375"/>
            </a:xfrm>
            <a:prstGeom prst="rect">
              <a:avLst/>
            </a:prstGeom>
            <a:solidFill>
              <a:srgbClr val="CC0000"/>
            </a:solidFill>
            <a:ln w="28575" algn="ctr">
              <a:solidFill>
                <a:schemeClr val="tx1"/>
              </a:solidFill>
              <a:miter lim="800000"/>
              <a:headEnd/>
              <a:tailEnd/>
            </a:ln>
            <a:effectLst/>
          </p:spPr>
          <p:txBody>
            <a:bodyPr wrap="none" anchor="ctr"/>
            <a:lstStyle/>
            <a:p>
              <a:pPr defTabSz="1540670"/>
              <a:r>
                <a:rPr lang="en-US" sz="3000">
                  <a:solidFill>
                    <a:schemeClr val="bg1"/>
                  </a:solidFill>
                </a:rPr>
                <a:t>Application</a:t>
              </a:r>
            </a:p>
          </p:txBody>
        </p:sp>
        <p:sp>
          <p:nvSpPr>
            <p:cNvPr id="1363991" name="Rectangle 23"/>
            <p:cNvSpPr>
              <a:spLocks noChangeArrowheads="1"/>
            </p:cNvSpPr>
            <p:nvPr/>
          </p:nvSpPr>
          <p:spPr bwMode="auto">
            <a:xfrm>
              <a:off x="1581" y="822"/>
              <a:ext cx="3558" cy="363"/>
            </a:xfrm>
            <a:prstGeom prst="rect">
              <a:avLst/>
            </a:prstGeom>
            <a:solidFill>
              <a:srgbClr val="CC0000"/>
            </a:solidFill>
            <a:ln w="28575" algn="ctr">
              <a:solidFill>
                <a:schemeClr val="tx1"/>
              </a:solidFill>
              <a:miter lim="800000"/>
              <a:headEnd/>
              <a:tailEnd/>
            </a:ln>
            <a:effectLst/>
          </p:spPr>
          <p:txBody>
            <a:bodyPr wrap="none" anchor="ctr"/>
            <a:lstStyle/>
            <a:p>
              <a:pPr defTabSz="1540670"/>
              <a:r>
                <a:rPr lang="en-US" sz="3000">
                  <a:solidFill>
                    <a:schemeClr val="bg1"/>
                  </a:solidFill>
                </a:rPr>
                <a:t>Information Semantics (email, Web, voice)</a:t>
              </a:r>
            </a:p>
          </p:txBody>
        </p:sp>
      </p:grpSp>
    </p:spTree>
    <p:custDataLst>
      <p:tags r:id="rId1"/>
    </p:custDataLst>
    <p:extLst>
      <p:ext uri="{BB962C8B-B14F-4D97-AF65-F5344CB8AC3E}">
        <p14:creationId xmlns:p14="http://schemas.microsoft.com/office/powerpoint/2010/main" val="1618436121"/>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3" name="Rectangle 13"/>
          <p:cNvSpPr>
            <a:spLocks noGrp="1" noChangeArrowheads="1"/>
          </p:cNvSpPr>
          <p:nvPr>
            <p:ph type="title"/>
          </p:nvPr>
        </p:nvSpPr>
        <p:spPr>
          <a:xfrm>
            <a:off x="1257300" y="275847"/>
            <a:ext cx="15773400" cy="1988345"/>
          </a:xfrm>
        </p:spPr>
        <p:txBody>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OSI Provides a Reference Framework</a:t>
            </a:r>
          </a:p>
        </p:txBody>
      </p:sp>
      <p:sp>
        <p:nvSpPr>
          <p:cNvPr id="13" name="Slide Number Placeholder 12"/>
          <p:cNvSpPr>
            <a:spLocks noGrp="1"/>
          </p:cNvSpPr>
          <p:nvPr>
            <p:ph type="sldNum" sz="quarter" idx="10"/>
          </p:nvPr>
        </p:nvSpPr>
        <p:spPr>
          <a:prstGeom prst="rect">
            <a:avLst/>
          </a:prstGeom>
        </p:spPr>
        <p:txBody>
          <a:bodyPr/>
          <a:lstStyle/>
          <a:p>
            <a:fld id="{52B67DA5-9DD9-4BCA-8370-9CA784C1DE92}" type="slidenum">
              <a:rPr lang="en-US" smtClean="0"/>
              <a:pPr/>
              <a:t>95</a:t>
            </a:fld>
            <a:endParaRPr lang="en-US"/>
          </a:p>
        </p:txBody>
      </p:sp>
      <p:grpSp>
        <p:nvGrpSpPr>
          <p:cNvPr id="2" name="Group 5"/>
          <p:cNvGrpSpPr>
            <a:grpSpLocks/>
          </p:cNvGrpSpPr>
          <p:nvPr/>
        </p:nvGrpSpPr>
        <p:grpSpPr bwMode="auto">
          <a:xfrm>
            <a:off x="2626520" y="2283620"/>
            <a:ext cx="2402681" cy="4826793"/>
            <a:chOff x="412" y="689"/>
            <a:chExt cx="1009" cy="2027"/>
          </a:xfrm>
        </p:grpSpPr>
        <p:sp>
          <p:nvSpPr>
            <p:cNvPr id="1361926" name="Rectangle 6"/>
            <p:cNvSpPr>
              <a:spLocks noChangeArrowheads="1"/>
            </p:cNvSpPr>
            <p:nvPr/>
          </p:nvSpPr>
          <p:spPr bwMode="auto">
            <a:xfrm>
              <a:off x="412" y="2428"/>
              <a:ext cx="1008" cy="288"/>
            </a:xfrm>
            <a:prstGeom prst="rect">
              <a:avLst/>
            </a:prstGeom>
            <a:solidFill>
              <a:srgbClr val="800080"/>
            </a:solidFill>
            <a:ln w="28575" algn="ctr">
              <a:solidFill>
                <a:schemeClr val="tx1"/>
              </a:solidFill>
              <a:miter lim="800000"/>
              <a:headEnd/>
              <a:tailEnd/>
            </a:ln>
            <a:effectLst/>
          </p:spPr>
          <p:txBody>
            <a:bodyPr wrap="none" anchor="ctr" anchorCtr="1"/>
            <a:lstStyle/>
            <a:p>
              <a:pPr defTabSz="1540670"/>
              <a:r>
                <a:rPr lang="en-US" sz="3000">
                  <a:solidFill>
                    <a:schemeClr val="bg1"/>
                  </a:solidFill>
                </a:rPr>
                <a:t>Physical</a:t>
              </a:r>
            </a:p>
          </p:txBody>
        </p:sp>
        <p:sp>
          <p:nvSpPr>
            <p:cNvPr id="1361927" name="Rectangle 7"/>
            <p:cNvSpPr>
              <a:spLocks noChangeArrowheads="1"/>
            </p:cNvSpPr>
            <p:nvPr/>
          </p:nvSpPr>
          <p:spPr bwMode="auto">
            <a:xfrm>
              <a:off x="413" y="2138"/>
              <a:ext cx="1008" cy="288"/>
            </a:xfrm>
            <a:prstGeom prst="rect">
              <a:avLst/>
            </a:prstGeom>
            <a:solidFill>
              <a:srgbClr val="0000CC"/>
            </a:solidFill>
            <a:ln w="28575" algn="ctr">
              <a:solidFill>
                <a:schemeClr val="tx1"/>
              </a:solidFill>
              <a:miter lim="800000"/>
              <a:headEnd/>
              <a:tailEnd/>
            </a:ln>
            <a:effectLst/>
          </p:spPr>
          <p:txBody>
            <a:bodyPr wrap="none" anchor="ctr" anchorCtr="1"/>
            <a:lstStyle/>
            <a:p>
              <a:pPr defTabSz="1540670"/>
              <a:r>
                <a:rPr lang="en-US" sz="3000">
                  <a:solidFill>
                    <a:schemeClr val="bg1"/>
                  </a:solidFill>
                </a:rPr>
                <a:t>Data Link</a:t>
              </a:r>
            </a:p>
          </p:txBody>
        </p:sp>
        <p:sp>
          <p:nvSpPr>
            <p:cNvPr id="1361928" name="Rectangle 8"/>
            <p:cNvSpPr>
              <a:spLocks noChangeArrowheads="1"/>
            </p:cNvSpPr>
            <p:nvPr/>
          </p:nvSpPr>
          <p:spPr bwMode="auto">
            <a:xfrm>
              <a:off x="412" y="1848"/>
              <a:ext cx="1008" cy="288"/>
            </a:xfrm>
            <a:prstGeom prst="rect">
              <a:avLst/>
            </a:prstGeom>
            <a:solidFill>
              <a:srgbClr val="3366FF"/>
            </a:solidFill>
            <a:ln w="28575" algn="ctr">
              <a:solidFill>
                <a:schemeClr val="tx1"/>
              </a:solidFill>
              <a:miter lim="800000"/>
              <a:headEnd/>
              <a:tailEnd/>
            </a:ln>
            <a:effectLst/>
          </p:spPr>
          <p:txBody>
            <a:bodyPr wrap="none" anchor="ctr" anchorCtr="1"/>
            <a:lstStyle/>
            <a:p>
              <a:pPr defTabSz="1540670"/>
              <a:r>
                <a:rPr lang="en-US" sz="3000">
                  <a:solidFill>
                    <a:schemeClr val="bg1"/>
                  </a:solidFill>
                </a:rPr>
                <a:t>Network</a:t>
              </a:r>
            </a:p>
          </p:txBody>
        </p:sp>
        <p:sp>
          <p:nvSpPr>
            <p:cNvPr id="1361929" name="Rectangle 9"/>
            <p:cNvSpPr>
              <a:spLocks noChangeArrowheads="1"/>
            </p:cNvSpPr>
            <p:nvPr/>
          </p:nvSpPr>
          <p:spPr bwMode="auto">
            <a:xfrm>
              <a:off x="412" y="1558"/>
              <a:ext cx="1008" cy="288"/>
            </a:xfrm>
            <a:prstGeom prst="rect">
              <a:avLst/>
            </a:prstGeom>
            <a:solidFill>
              <a:srgbClr val="009900"/>
            </a:solidFill>
            <a:ln w="28575" algn="ctr">
              <a:solidFill>
                <a:schemeClr val="tx1"/>
              </a:solidFill>
              <a:miter lim="800000"/>
              <a:headEnd/>
              <a:tailEnd/>
            </a:ln>
            <a:effectLst/>
          </p:spPr>
          <p:txBody>
            <a:bodyPr wrap="none" anchor="ctr" anchorCtr="1"/>
            <a:lstStyle/>
            <a:p>
              <a:pPr defTabSz="1540670"/>
              <a:r>
                <a:rPr lang="en-US" sz="3000">
                  <a:solidFill>
                    <a:schemeClr val="bg1"/>
                  </a:solidFill>
                </a:rPr>
                <a:t>Transport</a:t>
              </a:r>
            </a:p>
          </p:txBody>
        </p:sp>
        <p:sp>
          <p:nvSpPr>
            <p:cNvPr id="1361930" name="Rectangle 10"/>
            <p:cNvSpPr>
              <a:spLocks noChangeArrowheads="1"/>
            </p:cNvSpPr>
            <p:nvPr/>
          </p:nvSpPr>
          <p:spPr bwMode="auto">
            <a:xfrm>
              <a:off x="413" y="1268"/>
              <a:ext cx="1008" cy="288"/>
            </a:xfrm>
            <a:prstGeom prst="rect">
              <a:avLst/>
            </a:prstGeom>
            <a:solidFill>
              <a:srgbClr val="CC9900"/>
            </a:solidFill>
            <a:ln w="28575" algn="ctr">
              <a:solidFill>
                <a:schemeClr val="tx1"/>
              </a:solidFill>
              <a:miter lim="800000"/>
              <a:headEnd/>
              <a:tailEnd/>
            </a:ln>
            <a:effectLst/>
          </p:spPr>
          <p:txBody>
            <a:bodyPr wrap="none" anchor="ctr" anchorCtr="1"/>
            <a:lstStyle/>
            <a:p>
              <a:pPr defTabSz="1540670"/>
              <a:r>
                <a:rPr lang="en-US" sz="3000">
                  <a:solidFill>
                    <a:schemeClr val="bg1"/>
                  </a:solidFill>
                </a:rPr>
                <a:t>Session</a:t>
              </a:r>
            </a:p>
          </p:txBody>
        </p:sp>
        <p:sp>
          <p:nvSpPr>
            <p:cNvPr id="1361931" name="Rectangle 11"/>
            <p:cNvSpPr>
              <a:spLocks noChangeArrowheads="1"/>
            </p:cNvSpPr>
            <p:nvPr/>
          </p:nvSpPr>
          <p:spPr bwMode="auto">
            <a:xfrm>
              <a:off x="412" y="978"/>
              <a:ext cx="1008" cy="288"/>
            </a:xfrm>
            <a:prstGeom prst="rect">
              <a:avLst/>
            </a:prstGeom>
            <a:solidFill>
              <a:srgbClr val="FF6600"/>
            </a:solidFill>
            <a:ln w="28575" algn="ctr">
              <a:solidFill>
                <a:schemeClr val="tx1"/>
              </a:solidFill>
              <a:miter lim="800000"/>
              <a:headEnd/>
              <a:tailEnd/>
            </a:ln>
            <a:effectLst/>
          </p:spPr>
          <p:txBody>
            <a:bodyPr wrap="none" anchor="ctr" anchorCtr="1"/>
            <a:lstStyle/>
            <a:p>
              <a:pPr defTabSz="1540670"/>
              <a:r>
                <a:rPr lang="en-US" sz="3000">
                  <a:solidFill>
                    <a:schemeClr val="bg1"/>
                  </a:solidFill>
                </a:rPr>
                <a:t>Presentation</a:t>
              </a:r>
            </a:p>
          </p:txBody>
        </p:sp>
        <p:sp>
          <p:nvSpPr>
            <p:cNvPr id="1361932" name="Rectangle 12"/>
            <p:cNvSpPr>
              <a:spLocks noChangeArrowheads="1"/>
            </p:cNvSpPr>
            <p:nvPr/>
          </p:nvSpPr>
          <p:spPr bwMode="auto">
            <a:xfrm>
              <a:off x="412" y="689"/>
              <a:ext cx="1008" cy="288"/>
            </a:xfrm>
            <a:prstGeom prst="rect">
              <a:avLst/>
            </a:prstGeom>
            <a:solidFill>
              <a:srgbClr val="CC0000"/>
            </a:solidFill>
            <a:ln w="28575" algn="ctr">
              <a:solidFill>
                <a:schemeClr val="tx1"/>
              </a:solidFill>
              <a:miter lim="800000"/>
              <a:headEnd/>
              <a:tailEnd/>
            </a:ln>
            <a:effectLst/>
          </p:spPr>
          <p:txBody>
            <a:bodyPr wrap="none" anchor="ctr" anchorCtr="1"/>
            <a:lstStyle/>
            <a:p>
              <a:pPr defTabSz="1540670"/>
              <a:r>
                <a:rPr lang="en-US" sz="3000">
                  <a:solidFill>
                    <a:schemeClr val="bg1"/>
                  </a:solidFill>
                </a:rPr>
                <a:t>Application</a:t>
              </a:r>
            </a:p>
          </p:txBody>
        </p:sp>
      </p:grpSp>
      <p:sp>
        <p:nvSpPr>
          <p:cNvPr id="1361934" name="Text Box 14"/>
          <p:cNvSpPr txBox="1">
            <a:spLocks noChangeArrowheads="1"/>
          </p:cNvSpPr>
          <p:nvPr/>
        </p:nvSpPr>
        <p:spPr bwMode="auto">
          <a:xfrm>
            <a:off x="5824538" y="8872538"/>
            <a:ext cx="6655595" cy="1061829"/>
          </a:xfrm>
          <a:prstGeom prst="rect">
            <a:avLst/>
          </a:prstGeom>
          <a:noFill/>
          <a:ln w="28575" algn="ctr">
            <a:noFill/>
            <a:miter lim="800000"/>
            <a:headEnd/>
            <a:tailEnd/>
          </a:ln>
          <a:effectLst/>
        </p:spPr>
        <p:txBody>
          <a:bodyPr tIns="0" bIns="137160">
            <a:spAutoFit/>
          </a:bodyPr>
          <a:lstStyle/>
          <a:p>
            <a:pPr algn="ctr"/>
            <a:r>
              <a:rPr lang="en-US" sz="3000"/>
              <a:t>Gives us a language to talk about data network technologies</a:t>
            </a:r>
          </a:p>
        </p:txBody>
      </p:sp>
      <p:pic>
        <p:nvPicPr>
          <p:cNvPr id="1361937" name="Picture 17" descr="Router"/>
          <p:cNvPicPr preferRelativeResize="0">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193882" y="7508083"/>
            <a:ext cx="1914525" cy="1164431"/>
          </a:xfrm>
          <a:prstGeom prst="rect">
            <a:avLst/>
          </a:prstGeom>
          <a:noFill/>
        </p:spPr>
      </p:pic>
      <p:grpSp>
        <p:nvGrpSpPr>
          <p:cNvPr id="3" name="Group 19"/>
          <p:cNvGrpSpPr>
            <a:grpSpLocks/>
          </p:cNvGrpSpPr>
          <p:nvPr/>
        </p:nvGrpSpPr>
        <p:grpSpPr bwMode="auto">
          <a:xfrm>
            <a:off x="13275470" y="2283620"/>
            <a:ext cx="2402681" cy="4826793"/>
            <a:chOff x="412" y="689"/>
            <a:chExt cx="1009" cy="2027"/>
          </a:xfrm>
        </p:grpSpPr>
        <p:sp>
          <p:nvSpPr>
            <p:cNvPr id="1361940" name="Rectangle 20"/>
            <p:cNvSpPr>
              <a:spLocks noChangeArrowheads="1"/>
            </p:cNvSpPr>
            <p:nvPr/>
          </p:nvSpPr>
          <p:spPr bwMode="auto">
            <a:xfrm>
              <a:off x="412" y="2428"/>
              <a:ext cx="1008" cy="288"/>
            </a:xfrm>
            <a:prstGeom prst="rect">
              <a:avLst/>
            </a:prstGeom>
            <a:solidFill>
              <a:srgbClr val="800080"/>
            </a:solidFill>
            <a:ln w="28575" algn="ctr">
              <a:solidFill>
                <a:schemeClr val="tx1"/>
              </a:solidFill>
              <a:miter lim="800000"/>
              <a:headEnd/>
              <a:tailEnd/>
            </a:ln>
            <a:effectLst/>
          </p:spPr>
          <p:txBody>
            <a:bodyPr wrap="none" anchor="ctr" anchorCtr="1"/>
            <a:lstStyle/>
            <a:p>
              <a:pPr defTabSz="1540670"/>
              <a:r>
                <a:rPr lang="en-US" sz="3000">
                  <a:solidFill>
                    <a:schemeClr val="bg1"/>
                  </a:solidFill>
                </a:rPr>
                <a:t>Physical</a:t>
              </a:r>
            </a:p>
          </p:txBody>
        </p:sp>
        <p:sp>
          <p:nvSpPr>
            <p:cNvPr id="1361941" name="Rectangle 21"/>
            <p:cNvSpPr>
              <a:spLocks noChangeArrowheads="1"/>
            </p:cNvSpPr>
            <p:nvPr/>
          </p:nvSpPr>
          <p:spPr bwMode="auto">
            <a:xfrm>
              <a:off x="413" y="2138"/>
              <a:ext cx="1008" cy="288"/>
            </a:xfrm>
            <a:prstGeom prst="rect">
              <a:avLst/>
            </a:prstGeom>
            <a:solidFill>
              <a:srgbClr val="0000CC"/>
            </a:solidFill>
            <a:ln w="28575" algn="ctr">
              <a:solidFill>
                <a:schemeClr val="tx1"/>
              </a:solidFill>
              <a:miter lim="800000"/>
              <a:headEnd/>
              <a:tailEnd/>
            </a:ln>
            <a:effectLst/>
          </p:spPr>
          <p:txBody>
            <a:bodyPr wrap="none" anchor="ctr" anchorCtr="1"/>
            <a:lstStyle/>
            <a:p>
              <a:pPr defTabSz="1540670"/>
              <a:r>
                <a:rPr lang="en-US" sz="3000">
                  <a:solidFill>
                    <a:schemeClr val="bg1"/>
                  </a:solidFill>
                </a:rPr>
                <a:t>Data Link</a:t>
              </a:r>
            </a:p>
          </p:txBody>
        </p:sp>
        <p:sp>
          <p:nvSpPr>
            <p:cNvPr id="1361942" name="Rectangle 22"/>
            <p:cNvSpPr>
              <a:spLocks noChangeArrowheads="1"/>
            </p:cNvSpPr>
            <p:nvPr/>
          </p:nvSpPr>
          <p:spPr bwMode="auto">
            <a:xfrm>
              <a:off x="412" y="1848"/>
              <a:ext cx="1008" cy="288"/>
            </a:xfrm>
            <a:prstGeom prst="rect">
              <a:avLst/>
            </a:prstGeom>
            <a:solidFill>
              <a:srgbClr val="3366FF"/>
            </a:solidFill>
            <a:ln w="28575" algn="ctr">
              <a:solidFill>
                <a:schemeClr val="tx1"/>
              </a:solidFill>
              <a:miter lim="800000"/>
              <a:headEnd/>
              <a:tailEnd/>
            </a:ln>
            <a:effectLst/>
          </p:spPr>
          <p:txBody>
            <a:bodyPr wrap="none" anchor="ctr" anchorCtr="1"/>
            <a:lstStyle/>
            <a:p>
              <a:pPr defTabSz="1540670"/>
              <a:r>
                <a:rPr lang="en-US" sz="3000">
                  <a:solidFill>
                    <a:schemeClr val="bg1"/>
                  </a:solidFill>
                </a:rPr>
                <a:t>Network</a:t>
              </a:r>
            </a:p>
          </p:txBody>
        </p:sp>
        <p:sp>
          <p:nvSpPr>
            <p:cNvPr id="1361943" name="Rectangle 23"/>
            <p:cNvSpPr>
              <a:spLocks noChangeArrowheads="1"/>
            </p:cNvSpPr>
            <p:nvPr/>
          </p:nvSpPr>
          <p:spPr bwMode="auto">
            <a:xfrm>
              <a:off x="412" y="1558"/>
              <a:ext cx="1008" cy="288"/>
            </a:xfrm>
            <a:prstGeom prst="rect">
              <a:avLst/>
            </a:prstGeom>
            <a:solidFill>
              <a:srgbClr val="009900"/>
            </a:solidFill>
            <a:ln w="28575" algn="ctr">
              <a:solidFill>
                <a:schemeClr val="tx1"/>
              </a:solidFill>
              <a:miter lim="800000"/>
              <a:headEnd/>
              <a:tailEnd/>
            </a:ln>
            <a:effectLst/>
          </p:spPr>
          <p:txBody>
            <a:bodyPr wrap="none" anchor="ctr" anchorCtr="1"/>
            <a:lstStyle/>
            <a:p>
              <a:pPr defTabSz="1540670"/>
              <a:r>
                <a:rPr lang="en-US" sz="3000">
                  <a:solidFill>
                    <a:schemeClr val="bg1"/>
                  </a:solidFill>
                </a:rPr>
                <a:t>Transport</a:t>
              </a:r>
            </a:p>
          </p:txBody>
        </p:sp>
        <p:sp>
          <p:nvSpPr>
            <p:cNvPr id="1361944" name="Rectangle 24"/>
            <p:cNvSpPr>
              <a:spLocks noChangeArrowheads="1"/>
            </p:cNvSpPr>
            <p:nvPr/>
          </p:nvSpPr>
          <p:spPr bwMode="auto">
            <a:xfrm>
              <a:off x="413" y="1268"/>
              <a:ext cx="1008" cy="288"/>
            </a:xfrm>
            <a:prstGeom prst="rect">
              <a:avLst/>
            </a:prstGeom>
            <a:solidFill>
              <a:srgbClr val="CC9900"/>
            </a:solidFill>
            <a:ln w="28575" algn="ctr">
              <a:solidFill>
                <a:schemeClr val="tx1"/>
              </a:solidFill>
              <a:miter lim="800000"/>
              <a:headEnd/>
              <a:tailEnd/>
            </a:ln>
            <a:effectLst/>
          </p:spPr>
          <p:txBody>
            <a:bodyPr wrap="none" anchor="ctr" anchorCtr="1"/>
            <a:lstStyle/>
            <a:p>
              <a:pPr defTabSz="1540670"/>
              <a:r>
                <a:rPr lang="en-US" sz="3000">
                  <a:solidFill>
                    <a:schemeClr val="bg1"/>
                  </a:solidFill>
                </a:rPr>
                <a:t>Session</a:t>
              </a:r>
            </a:p>
          </p:txBody>
        </p:sp>
        <p:sp>
          <p:nvSpPr>
            <p:cNvPr id="1361945" name="Rectangle 25"/>
            <p:cNvSpPr>
              <a:spLocks noChangeArrowheads="1"/>
            </p:cNvSpPr>
            <p:nvPr/>
          </p:nvSpPr>
          <p:spPr bwMode="auto">
            <a:xfrm>
              <a:off x="412" y="978"/>
              <a:ext cx="1008" cy="288"/>
            </a:xfrm>
            <a:prstGeom prst="rect">
              <a:avLst/>
            </a:prstGeom>
            <a:solidFill>
              <a:srgbClr val="FF6600"/>
            </a:solidFill>
            <a:ln w="28575" algn="ctr">
              <a:solidFill>
                <a:schemeClr val="tx1"/>
              </a:solidFill>
              <a:miter lim="800000"/>
              <a:headEnd/>
              <a:tailEnd/>
            </a:ln>
            <a:effectLst/>
          </p:spPr>
          <p:txBody>
            <a:bodyPr wrap="none" anchor="ctr" anchorCtr="1"/>
            <a:lstStyle/>
            <a:p>
              <a:pPr defTabSz="1540670"/>
              <a:r>
                <a:rPr lang="en-US" sz="3000">
                  <a:solidFill>
                    <a:schemeClr val="bg1"/>
                  </a:solidFill>
                </a:rPr>
                <a:t>Presentation</a:t>
              </a:r>
            </a:p>
          </p:txBody>
        </p:sp>
        <p:sp>
          <p:nvSpPr>
            <p:cNvPr id="1361946" name="Rectangle 26"/>
            <p:cNvSpPr>
              <a:spLocks noChangeArrowheads="1"/>
            </p:cNvSpPr>
            <p:nvPr/>
          </p:nvSpPr>
          <p:spPr bwMode="auto">
            <a:xfrm>
              <a:off x="412" y="689"/>
              <a:ext cx="1008" cy="288"/>
            </a:xfrm>
            <a:prstGeom prst="rect">
              <a:avLst/>
            </a:prstGeom>
            <a:solidFill>
              <a:srgbClr val="CC0000"/>
            </a:solidFill>
            <a:ln w="28575" algn="ctr">
              <a:solidFill>
                <a:schemeClr val="tx1"/>
              </a:solidFill>
              <a:miter lim="800000"/>
              <a:headEnd/>
              <a:tailEnd/>
            </a:ln>
            <a:effectLst/>
          </p:spPr>
          <p:txBody>
            <a:bodyPr wrap="none" anchor="ctr" anchorCtr="1"/>
            <a:lstStyle/>
            <a:p>
              <a:pPr defTabSz="1540670"/>
              <a:r>
                <a:rPr lang="en-US" sz="3000">
                  <a:solidFill>
                    <a:schemeClr val="bg1"/>
                  </a:solidFill>
                </a:rPr>
                <a:t>Application</a:t>
              </a:r>
            </a:p>
          </p:txBody>
        </p:sp>
      </p:grpSp>
      <p:grpSp>
        <p:nvGrpSpPr>
          <p:cNvPr id="4" name="Group 27"/>
          <p:cNvGrpSpPr>
            <a:grpSpLocks/>
          </p:cNvGrpSpPr>
          <p:nvPr/>
        </p:nvGrpSpPr>
        <p:grpSpPr bwMode="auto">
          <a:xfrm>
            <a:off x="5172076" y="2633663"/>
            <a:ext cx="7958138" cy="2071688"/>
            <a:chOff x="1236" y="836"/>
            <a:chExt cx="3342" cy="870"/>
          </a:xfrm>
        </p:grpSpPr>
        <p:grpSp>
          <p:nvGrpSpPr>
            <p:cNvPr id="5" name="Group 28"/>
            <p:cNvGrpSpPr>
              <a:grpSpLocks/>
            </p:cNvGrpSpPr>
            <p:nvPr/>
          </p:nvGrpSpPr>
          <p:grpSpPr bwMode="auto">
            <a:xfrm>
              <a:off x="1236" y="836"/>
              <a:ext cx="3341" cy="286"/>
              <a:chOff x="1105" y="2055"/>
              <a:chExt cx="771" cy="419"/>
            </a:xfrm>
          </p:grpSpPr>
          <p:sp>
            <p:nvSpPr>
              <p:cNvPr id="1361949" name="Line 29"/>
              <p:cNvSpPr>
                <a:spLocks noChangeShapeType="1"/>
              </p:cNvSpPr>
              <p:nvPr/>
            </p:nvSpPr>
            <p:spPr bwMode="auto">
              <a:xfrm>
                <a:off x="1105" y="2055"/>
                <a:ext cx="771" cy="1"/>
              </a:xfrm>
              <a:prstGeom prst="line">
                <a:avLst/>
              </a:prstGeom>
              <a:noFill/>
              <a:ln w="38100">
                <a:solidFill>
                  <a:schemeClr val="tx1"/>
                </a:solidFill>
                <a:round/>
                <a:headEnd type="triangle" w="med" len="med"/>
                <a:tailEnd type="triangle" w="med" len="med"/>
              </a:ln>
              <a:effectLst/>
            </p:spPr>
            <p:txBody>
              <a:bodyPr anchor="ctr" anchorCtr="1">
                <a:spAutoFit/>
              </a:bodyPr>
              <a:lstStyle/>
              <a:p>
                <a:endParaRPr lang="en-US" sz="2700"/>
              </a:p>
            </p:txBody>
          </p:sp>
          <p:sp>
            <p:nvSpPr>
              <p:cNvPr id="1361950" name="Line 30"/>
              <p:cNvSpPr>
                <a:spLocks noChangeShapeType="1"/>
              </p:cNvSpPr>
              <p:nvPr/>
            </p:nvSpPr>
            <p:spPr bwMode="auto">
              <a:xfrm>
                <a:off x="1105" y="2473"/>
                <a:ext cx="771" cy="1"/>
              </a:xfrm>
              <a:prstGeom prst="line">
                <a:avLst/>
              </a:prstGeom>
              <a:noFill/>
              <a:ln w="38100">
                <a:solidFill>
                  <a:schemeClr val="tx1"/>
                </a:solidFill>
                <a:round/>
                <a:headEnd type="triangle" w="med" len="med"/>
                <a:tailEnd type="triangle" w="med" len="med"/>
              </a:ln>
              <a:effectLst/>
            </p:spPr>
            <p:txBody>
              <a:bodyPr anchor="ctr" anchorCtr="1">
                <a:spAutoFit/>
              </a:bodyPr>
              <a:lstStyle/>
              <a:p>
                <a:endParaRPr lang="en-US" sz="2700"/>
              </a:p>
            </p:txBody>
          </p:sp>
        </p:grpSp>
        <p:grpSp>
          <p:nvGrpSpPr>
            <p:cNvPr id="6" name="Group 31"/>
            <p:cNvGrpSpPr>
              <a:grpSpLocks/>
            </p:cNvGrpSpPr>
            <p:nvPr/>
          </p:nvGrpSpPr>
          <p:grpSpPr bwMode="auto">
            <a:xfrm>
              <a:off x="1237" y="1420"/>
              <a:ext cx="3341" cy="286"/>
              <a:chOff x="1105" y="2055"/>
              <a:chExt cx="771" cy="419"/>
            </a:xfrm>
          </p:grpSpPr>
          <p:sp>
            <p:nvSpPr>
              <p:cNvPr id="1361952" name="Line 32"/>
              <p:cNvSpPr>
                <a:spLocks noChangeShapeType="1"/>
              </p:cNvSpPr>
              <p:nvPr/>
            </p:nvSpPr>
            <p:spPr bwMode="auto">
              <a:xfrm>
                <a:off x="1105" y="2055"/>
                <a:ext cx="771" cy="1"/>
              </a:xfrm>
              <a:prstGeom prst="line">
                <a:avLst/>
              </a:prstGeom>
              <a:noFill/>
              <a:ln w="38100">
                <a:solidFill>
                  <a:schemeClr val="tx1"/>
                </a:solidFill>
                <a:round/>
                <a:headEnd type="triangle" w="med" len="med"/>
                <a:tailEnd type="triangle" w="med" len="med"/>
              </a:ln>
              <a:effectLst/>
            </p:spPr>
            <p:txBody>
              <a:bodyPr anchor="ctr" anchorCtr="1">
                <a:spAutoFit/>
              </a:bodyPr>
              <a:lstStyle/>
              <a:p>
                <a:endParaRPr lang="en-US" sz="2700"/>
              </a:p>
            </p:txBody>
          </p:sp>
          <p:sp>
            <p:nvSpPr>
              <p:cNvPr id="1361953" name="Line 33"/>
              <p:cNvSpPr>
                <a:spLocks noChangeShapeType="1"/>
              </p:cNvSpPr>
              <p:nvPr/>
            </p:nvSpPr>
            <p:spPr bwMode="auto">
              <a:xfrm>
                <a:off x="1105" y="2473"/>
                <a:ext cx="771" cy="1"/>
              </a:xfrm>
              <a:prstGeom prst="line">
                <a:avLst/>
              </a:prstGeom>
              <a:noFill/>
              <a:ln w="38100">
                <a:solidFill>
                  <a:schemeClr val="tx1"/>
                </a:solidFill>
                <a:round/>
                <a:headEnd type="triangle" w="med" len="med"/>
                <a:tailEnd type="triangle" w="med" len="med"/>
              </a:ln>
              <a:effectLst/>
            </p:spPr>
            <p:txBody>
              <a:bodyPr anchor="ctr" anchorCtr="1">
                <a:spAutoFit/>
              </a:bodyPr>
              <a:lstStyle/>
              <a:p>
                <a:endParaRPr lang="en-US" sz="2700"/>
              </a:p>
            </p:txBody>
          </p:sp>
        </p:grpSp>
      </p:grpSp>
      <p:grpSp>
        <p:nvGrpSpPr>
          <p:cNvPr id="7" name="Group 34"/>
          <p:cNvGrpSpPr>
            <a:grpSpLocks/>
          </p:cNvGrpSpPr>
          <p:nvPr/>
        </p:nvGrpSpPr>
        <p:grpSpPr bwMode="auto">
          <a:xfrm>
            <a:off x="6753226" y="5043488"/>
            <a:ext cx="4798220" cy="2066925"/>
            <a:chOff x="1790" y="1956"/>
            <a:chExt cx="2015" cy="868"/>
          </a:xfrm>
        </p:grpSpPr>
        <p:grpSp>
          <p:nvGrpSpPr>
            <p:cNvPr id="8" name="Group 35"/>
            <p:cNvGrpSpPr>
              <a:grpSpLocks/>
            </p:cNvGrpSpPr>
            <p:nvPr/>
          </p:nvGrpSpPr>
          <p:grpSpPr bwMode="auto">
            <a:xfrm>
              <a:off x="1790" y="2246"/>
              <a:ext cx="1009" cy="578"/>
              <a:chOff x="1790" y="2246"/>
              <a:chExt cx="1009" cy="578"/>
            </a:xfrm>
          </p:grpSpPr>
          <p:sp>
            <p:nvSpPr>
              <p:cNvPr id="1361956" name="Rectangle 36"/>
              <p:cNvSpPr>
                <a:spLocks noChangeArrowheads="1"/>
              </p:cNvSpPr>
              <p:nvPr/>
            </p:nvSpPr>
            <p:spPr bwMode="auto">
              <a:xfrm>
                <a:off x="1790" y="2536"/>
                <a:ext cx="1008" cy="288"/>
              </a:xfrm>
              <a:prstGeom prst="rect">
                <a:avLst/>
              </a:prstGeom>
              <a:solidFill>
                <a:srgbClr val="800080"/>
              </a:solidFill>
              <a:ln w="28575" algn="ctr">
                <a:solidFill>
                  <a:schemeClr val="tx1"/>
                </a:solidFill>
                <a:miter lim="800000"/>
                <a:headEnd/>
                <a:tailEnd/>
              </a:ln>
              <a:effectLst/>
            </p:spPr>
            <p:txBody>
              <a:bodyPr wrap="none" anchor="ctr" anchorCtr="1"/>
              <a:lstStyle/>
              <a:p>
                <a:pPr defTabSz="1540670"/>
                <a:r>
                  <a:rPr lang="en-US" sz="3000">
                    <a:solidFill>
                      <a:schemeClr val="bg1"/>
                    </a:solidFill>
                  </a:rPr>
                  <a:t>Physical</a:t>
                </a:r>
              </a:p>
            </p:txBody>
          </p:sp>
          <p:sp>
            <p:nvSpPr>
              <p:cNvPr id="1361957" name="Rectangle 37"/>
              <p:cNvSpPr>
                <a:spLocks noChangeArrowheads="1"/>
              </p:cNvSpPr>
              <p:nvPr/>
            </p:nvSpPr>
            <p:spPr bwMode="auto">
              <a:xfrm>
                <a:off x="1791" y="2246"/>
                <a:ext cx="1008" cy="288"/>
              </a:xfrm>
              <a:prstGeom prst="rect">
                <a:avLst/>
              </a:prstGeom>
              <a:solidFill>
                <a:srgbClr val="0000CC"/>
              </a:solidFill>
              <a:ln w="28575" algn="ctr">
                <a:solidFill>
                  <a:schemeClr val="tx1"/>
                </a:solidFill>
                <a:miter lim="800000"/>
                <a:headEnd/>
                <a:tailEnd/>
              </a:ln>
              <a:effectLst/>
            </p:spPr>
            <p:txBody>
              <a:bodyPr wrap="none" anchor="ctr" anchorCtr="1"/>
              <a:lstStyle/>
              <a:p>
                <a:pPr defTabSz="1540670"/>
                <a:r>
                  <a:rPr lang="en-US" sz="3000">
                    <a:solidFill>
                      <a:schemeClr val="bg1"/>
                    </a:solidFill>
                  </a:rPr>
                  <a:t>Data Link</a:t>
                </a:r>
              </a:p>
            </p:txBody>
          </p:sp>
        </p:grpSp>
        <p:sp>
          <p:nvSpPr>
            <p:cNvPr id="1361958" name="Rectangle 38"/>
            <p:cNvSpPr>
              <a:spLocks noChangeArrowheads="1"/>
            </p:cNvSpPr>
            <p:nvPr/>
          </p:nvSpPr>
          <p:spPr bwMode="auto">
            <a:xfrm>
              <a:off x="1790" y="1956"/>
              <a:ext cx="2015" cy="288"/>
            </a:xfrm>
            <a:prstGeom prst="rect">
              <a:avLst/>
            </a:prstGeom>
            <a:solidFill>
              <a:srgbClr val="3366FF"/>
            </a:solidFill>
            <a:ln w="28575" algn="ctr">
              <a:solidFill>
                <a:schemeClr val="tx1"/>
              </a:solidFill>
              <a:miter lim="800000"/>
              <a:headEnd/>
              <a:tailEnd/>
            </a:ln>
            <a:effectLst/>
          </p:spPr>
          <p:txBody>
            <a:bodyPr wrap="none" anchor="ctr" anchorCtr="1"/>
            <a:lstStyle/>
            <a:p>
              <a:pPr defTabSz="1540670"/>
              <a:r>
                <a:rPr lang="en-US" sz="3000">
                  <a:solidFill>
                    <a:schemeClr val="bg1"/>
                  </a:solidFill>
                </a:rPr>
                <a:t>Network</a:t>
              </a:r>
            </a:p>
          </p:txBody>
        </p:sp>
        <p:grpSp>
          <p:nvGrpSpPr>
            <p:cNvPr id="9" name="Group 39"/>
            <p:cNvGrpSpPr>
              <a:grpSpLocks/>
            </p:cNvGrpSpPr>
            <p:nvPr/>
          </p:nvGrpSpPr>
          <p:grpSpPr bwMode="auto">
            <a:xfrm>
              <a:off x="2796" y="2246"/>
              <a:ext cx="1009" cy="578"/>
              <a:chOff x="1790" y="2246"/>
              <a:chExt cx="1009" cy="578"/>
            </a:xfrm>
          </p:grpSpPr>
          <p:sp>
            <p:nvSpPr>
              <p:cNvPr id="1361960" name="Rectangle 40"/>
              <p:cNvSpPr>
                <a:spLocks noChangeArrowheads="1"/>
              </p:cNvSpPr>
              <p:nvPr/>
            </p:nvSpPr>
            <p:spPr bwMode="auto">
              <a:xfrm>
                <a:off x="1790" y="2536"/>
                <a:ext cx="1008" cy="288"/>
              </a:xfrm>
              <a:prstGeom prst="rect">
                <a:avLst/>
              </a:prstGeom>
              <a:solidFill>
                <a:srgbClr val="800080"/>
              </a:solidFill>
              <a:ln w="28575" algn="ctr">
                <a:solidFill>
                  <a:schemeClr val="tx1"/>
                </a:solidFill>
                <a:miter lim="800000"/>
                <a:headEnd/>
                <a:tailEnd/>
              </a:ln>
              <a:effectLst/>
            </p:spPr>
            <p:txBody>
              <a:bodyPr wrap="none" anchor="ctr" anchorCtr="1"/>
              <a:lstStyle/>
              <a:p>
                <a:pPr defTabSz="1540670"/>
                <a:r>
                  <a:rPr lang="en-US" sz="3000">
                    <a:solidFill>
                      <a:schemeClr val="bg1"/>
                    </a:solidFill>
                  </a:rPr>
                  <a:t>Physical</a:t>
                </a:r>
              </a:p>
            </p:txBody>
          </p:sp>
          <p:sp>
            <p:nvSpPr>
              <p:cNvPr id="1361961" name="Rectangle 41"/>
              <p:cNvSpPr>
                <a:spLocks noChangeArrowheads="1"/>
              </p:cNvSpPr>
              <p:nvPr/>
            </p:nvSpPr>
            <p:spPr bwMode="auto">
              <a:xfrm>
                <a:off x="1791" y="2246"/>
                <a:ext cx="1008" cy="288"/>
              </a:xfrm>
              <a:prstGeom prst="rect">
                <a:avLst/>
              </a:prstGeom>
              <a:solidFill>
                <a:srgbClr val="0000CC"/>
              </a:solidFill>
              <a:ln w="28575" algn="ctr">
                <a:solidFill>
                  <a:schemeClr val="tx1"/>
                </a:solidFill>
                <a:miter lim="800000"/>
                <a:headEnd/>
                <a:tailEnd/>
              </a:ln>
              <a:effectLst/>
            </p:spPr>
            <p:txBody>
              <a:bodyPr wrap="none" anchor="ctr" anchorCtr="1"/>
              <a:lstStyle/>
              <a:p>
                <a:pPr defTabSz="1540670"/>
                <a:r>
                  <a:rPr lang="en-US" sz="3000">
                    <a:solidFill>
                      <a:schemeClr val="bg1"/>
                    </a:solidFill>
                  </a:rPr>
                  <a:t>Data Link</a:t>
                </a:r>
              </a:p>
            </p:txBody>
          </p:sp>
        </p:grpSp>
      </p:grpSp>
      <p:grpSp>
        <p:nvGrpSpPr>
          <p:cNvPr id="10" name="Group 42"/>
          <p:cNvGrpSpPr>
            <a:grpSpLocks/>
          </p:cNvGrpSpPr>
          <p:nvPr/>
        </p:nvGrpSpPr>
        <p:grpSpPr bwMode="auto">
          <a:xfrm>
            <a:off x="5172075" y="5388770"/>
            <a:ext cx="1466850" cy="1383506"/>
            <a:chOff x="1212" y="1993"/>
            <a:chExt cx="616" cy="581"/>
          </a:xfrm>
        </p:grpSpPr>
        <p:sp>
          <p:nvSpPr>
            <p:cNvPr id="1361963" name="Line 43"/>
            <p:cNvSpPr>
              <a:spLocks noChangeShapeType="1"/>
            </p:cNvSpPr>
            <p:nvPr/>
          </p:nvSpPr>
          <p:spPr bwMode="auto">
            <a:xfrm>
              <a:off x="1212" y="1993"/>
              <a:ext cx="616" cy="1"/>
            </a:xfrm>
            <a:prstGeom prst="line">
              <a:avLst/>
            </a:prstGeom>
            <a:noFill/>
            <a:ln w="38100">
              <a:solidFill>
                <a:schemeClr val="tx1"/>
              </a:solidFill>
              <a:round/>
              <a:headEnd type="triangle" w="med" len="med"/>
              <a:tailEnd type="triangle" w="med" len="med"/>
            </a:ln>
            <a:effectLst/>
          </p:spPr>
          <p:txBody>
            <a:bodyPr anchor="ctr" anchorCtr="1">
              <a:spAutoFit/>
            </a:bodyPr>
            <a:lstStyle/>
            <a:p>
              <a:endParaRPr lang="en-US" sz="2700"/>
            </a:p>
          </p:txBody>
        </p:sp>
        <p:sp>
          <p:nvSpPr>
            <p:cNvPr id="1361964" name="Line 44"/>
            <p:cNvSpPr>
              <a:spLocks noChangeShapeType="1"/>
            </p:cNvSpPr>
            <p:nvPr/>
          </p:nvSpPr>
          <p:spPr bwMode="auto">
            <a:xfrm>
              <a:off x="1212" y="2289"/>
              <a:ext cx="616" cy="1"/>
            </a:xfrm>
            <a:prstGeom prst="line">
              <a:avLst/>
            </a:prstGeom>
            <a:noFill/>
            <a:ln w="38100">
              <a:solidFill>
                <a:schemeClr val="tx1"/>
              </a:solidFill>
              <a:round/>
              <a:headEnd type="triangle" w="med" len="med"/>
              <a:tailEnd type="triangle" w="med" len="med"/>
            </a:ln>
            <a:effectLst/>
          </p:spPr>
          <p:txBody>
            <a:bodyPr anchor="ctr" anchorCtr="1">
              <a:spAutoFit/>
            </a:bodyPr>
            <a:lstStyle/>
            <a:p>
              <a:endParaRPr lang="en-US" sz="2700"/>
            </a:p>
          </p:txBody>
        </p:sp>
        <p:sp>
          <p:nvSpPr>
            <p:cNvPr id="1361965" name="Line 45"/>
            <p:cNvSpPr>
              <a:spLocks noChangeShapeType="1"/>
            </p:cNvSpPr>
            <p:nvPr/>
          </p:nvSpPr>
          <p:spPr bwMode="auto">
            <a:xfrm>
              <a:off x="1212" y="2573"/>
              <a:ext cx="616" cy="1"/>
            </a:xfrm>
            <a:prstGeom prst="line">
              <a:avLst/>
            </a:prstGeom>
            <a:noFill/>
            <a:ln w="38100">
              <a:solidFill>
                <a:schemeClr val="tx1"/>
              </a:solidFill>
              <a:round/>
              <a:headEnd type="triangle" w="med" len="med"/>
              <a:tailEnd type="triangle" w="med" len="med"/>
            </a:ln>
            <a:effectLst/>
          </p:spPr>
          <p:txBody>
            <a:bodyPr anchor="ctr" anchorCtr="1">
              <a:spAutoFit/>
            </a:bodyPr>
            <a:lstStyle/>
            <a:p>
              <a:endParaRPr lang="en-US" sz="2700"/>
            </a:p>
          </p:txBody>
        </p:sp>
      </p:grpSp>
      <p:grpSp>
        <p:nvGrpSpPr>
          <p:cNvPr id="11" name="Group 46"/>
          <p:cNvGrpSpPr>
            <a:grpSpLocks/>
          </p:cNvGrpSpPr>
          <p:nvPr/>
        </p:nvGrpSpPr>
        <p:grpSpPr bwMode="auto">
          <a:xfrm>
            <a:off x="11663363" y="5384008"/>
            <a:ext cx="1466850" cy="1383506"/>
            <a:chOff x="1212" y="1993"/>
            <a:chExt cx="616" cy="581"/>
          </a:xfrm>
        </p:grpSpPr>
        <p:sp>
          <p:nvSpPr>
            <p:cNvPr id="1361967" name="Line 47"/>
            <p:cNvSpPr>
              <a:spLocks noChangeShapeType="1"/>
            </p:cNvSpPr>
            <p:nvPr/>
          </p:nvSpPr>
          <p:spPr bwMode="auto">
            <a:xfrm>
              <a:off x="1212" y="1993"/>
              <a:ext cx="616" cy="1"/>
            </a:xfrm>
            <a:prstGeom prst="line">
              <a:avLst/>
            </a:prstGeom>
            <a:noFill/>
            <a:ln w="38100">
              <a:solidFill>
                <a:schemeClr val="tx1"/>
              </a:solidFill>
              <a:round/>
              <a:headEnd type="triangle" w="med" len="med"/>
              <a:tailEnd type="triangle" w="med" len="med"/>
            </a:ln>
            <a:effectLst/>
          </p:spPr>
          <p:txBody>
            <a:bodyPr anchor="ctr" anchorCtr="1">
              <a:spAutoFit/>
            </a:bodyPr>
            <a:lstStyle/>
            <a:p>
              <a:endParaRPr lang="en-US" sz="2700"/>
            </a:p>
          </p:txBody>
        </p:sp>
        <p:sp>
          <p:nvSpPr>
            <p:cNvPr id="1361968" name="Line 48"/>
            <p:cNvSpPr>
              <a:spLocks noChangeShapeType="1"/>
            </p:cNvSpPr>
            <p:nvPr/>
          </p:nvSpPr>
          <p:spPr bwMode="auto">
            <a:xfrm>
              <a:off x="1212" y="2289"/>
              <a:ext cx="616" cy="1"/>
            </a:xfrm>
            <a:prstGeom prst="line">
              <a:avLst/>
            </a:prstGeom>
            <a:noFill/>
            <a:ln w="38100">
              <a:solidFill>
                <a:schemeClr val="tx1"/>
              </a:solidFill>
              <a:round/>
              <a:headEnd type="triangle" w="med" len="med"/>
              <a:tailEnd type="triangle" w="med" len="med"/>
            </a:ln>
            <a:effectLst/>
          </p:spPr>
          <p:txBody>
            <a:bodyPr anchor="ctr" anchorCtr="1">
              <a:spAutoFit/>
            </a:bodyPr>
            <a:lstStyle/>
            <a:p>
              <a:endParaRPr lang="en-US" sz="2700"/>
            </a:p>
          </p:txBody>
        </p:sp>
        <p:sp>
          <p:nvSpPr>
            <p:cNvPr id="1361969" name="Line 49"/>
            <p:cNvSpPr>
              <a:spLocks noChangeShapeType="1"/>
            </p:cNvSpPr>
            <p:nvPr/>
          </p:nvSpPr>
          <p:spPr bwMode="auto">
            <a:xfrm>
              <a:off x="1212" y="2573"/>
              <a:ext cx="616" cy="1"/>
            </a:xfrm>
            <a:prstGeom prst="line">
              <a:avLst/>
            </a:prstGeom>
            <a:noFill/>
            <a:ln w="38100">
              <a:solidFill>
                <a:schemeClr val="tx1"/>
              </a:solidFill>
              <a:round/>
              <a:headEnd type="triangle" w="med" len="med"/>
              <a:tailEnd type="triangle" w="med" len="med"/>
            </a:ln>
            <a:effectLst/>
          </p:spPr>
          <p:txBody>
            <a:bodyPr anchor="ctr" anchorCtr="1">
              <a:spAutoFit/>
            </a:bodyPr>
            <a:lstStyle/>
            <a:p>
              <a:endParaRPr lang="en-US" sz="2700"/>
            </a:p>
          </p:txBody>
        </p:sp>
      </p:grpSp>
      <p:pic>
        <p:nvPicPr>
          <p:cNvPr id="12" name="Picture 11"/>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3373101" y="7398842"/>
            <a:ext cx="2043113" cy="2514600"/>
          </a:xfrm>
          <a:prstGeom prst="rect">
            <a:avLst/>
          </a:prstGeom>
        </p:spPr>
      </p:pic>
      <p:pic>
        <p:nvPicPr>
          <p:cNvPr id="47" name="Picture 13"/>
          <p:cNvPicPr>
            <a:picLocks noChangeAspect="1" noChangeArrowheads="1"/>
          </p:cNvPicPr>
          <p:nvPr>
            <p:custDataLst>
              <p:tags r:id="rId2"/>
            </p:custDataLst>
          </p:nvPr>
        </p:nvPicPr>
        <p:blipFill>
          <a:blip r:embed="rId7" cstate="email">
            <a:extLst>
              <a:ext uri="{28A0092B-C50C-407E-A947-70E740481C1C}">
                <a14:useLocalDpi xmlns:a14="http://schemas.microsoft.com/office/drawing/2010/main"/>
              </a:ext>
            </a:extLst>
          </a:blip>
          <a:stretch>
            <a:fillRect/>
          </a:stretch>
        </p:blipFill>
        <p:spPr bwMode="auto">
          <a:xfrm>
            <a:off x="2743200" y="7772400"/>
            <a:ext cx="2160573" cy="1783329"/>
          </a:xfrm>
          <a:prstGeom prst="rect">
            <a:avLst/>
          </a:prstGeom>
          <a:noFill/>
        </p:spPr>
      </p:pic>
    </p:spTree>
    <p:custDataLst>
      <p:tags r:id="rId1"/>
    </p:custDataLst>
    <p:extLst>
      <p:ext uri="{BB962C8B-B14F-4D97-AF65-F5344CB8AC3E}">
        <p14:creationId xmlns:p14="http://schemas.microsoft.com/office/powerpoint/2010/main" val="3002118521"/>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0692" name="Rectangle 20"/>
          <p:cNvSpPr>
            <a:spLocks noGrp="1" noChangeArrowheads="1"/>
          </p:cNvSpPr>
          <p:nvPr>
            <p:ph type="title"/>
          </p:nvPr>
        </p:nvSpPr>
        <p:spPr>
          <a:xfrm>
            <a:off x="1257300" y="292895"/>
            <a:ext cx="15773400" cy="1988345"/>
          </a:xfrm>
        </p:spPr>
        <p:txBody>
          <a:bodyPr/>
          <a:lstStyle/>
          <a:p>
            <a:r>
              <a:rPr lang="en-US" b="1" dirty="0">
                <a:latin typeface="Helvetica Neue Condensed" panose="02000503000000020004" pitchFamily="2" charset="0"/>
                <a:ea typeface="Helvetica Neue Condensed" panose="02000503000000020004" pitchFamily="2" charset="0"/>
                <a:cs typeface="Helvetica Neue Condensed" panose="02000503000000020004" pitchFamily="2" charset="0"/>
              </a:rPr>
              <a:t>Different Look, Same Idea: The TCP/IP Model</a:t>
            </a:r>
          </a:p>
        </p:txBody>
      </p:sp>
      <p:sp>
        <p:nvSpPr>
          <p:cNvPr id="8" name="Slide Number Placeholder 7"/>
          <p:cNvSpPr>
            <a:spLocks noGrp="1"/>
          </p:cNvSpPr>
          <p:nvPr>
            <p:ph type="sldNum" sz="quarter" idx="10"/>
          </p:nvPr>
        </p:nvSpPr>
        <p:spPr>
          <a:prstGeom prst="rect">
            <a:avLst/>
          </a:prstGeom>
        </p:spPr>
        <p:txBody>
          <a:bodyPr/>
          <a:lstStyle/>
          <a:p>
            <a:fld id="{52B67DA5-9DD9-4BCA-8370-9CA784C1DE92}" type="slidenum">
              <a:rPr lang="en-US" smtClean="0"/>
              <a:pPr/>
              <a:t>96</a:t>
            </a:fld>
            <a:endParaRPr lang="en-US"/>
          </a:p>
        </p:txBody>
      </p:sp>
      <p:grpSp>
        <p:nvGrpSpPr>
          <p:cNvPr id="2" name="Group 43"/>
          <p:cNvGrpSpPr>
            <a:grpSpLocks/>
          </p:cNvGrpSpPr>
          <p:nvPr/>
        </p:nvGrpSpPr>
        <p:grpSpPr bwMode="auto">
          <a:xfrm>
            <a:off x="7103270" y="4733925"/>
            <a:ext cx="4112418" cy="2031207"/>
            <a:chOff x="1813" y="1328"/>
            <a:chExt cx="1727" cy="853"/>
          </a:xfrm>
        </p:grpSpPr>
        <p:sp>
          <p:nvSpPr>
            <p:cNvPr id="1180675" name="Rectangle 3"/>
            <p:cNvSpPr>
              <a:spLocks noChangeArrowheads="1"/>
            </p:cNvSpPr>
            <p:nvPr/>
          </p:nvSpPr>
          <p:spPr bwMode="auto">
            <a:xfrm>
              <a:off x="1813" y="1749"/>
              <a:ext cx="864" cy="432"/>
            </a:xfrm>
            <a:prstGeom prst="rect">
              <a:avLst/>
            </a:prstGeom>
            <a:gradFill rotWithShape="1">
              <a:gsLst>
                <a:gs pos="0">
                  <a:srgbClr val="0000CC"/>
                </a:gs>
                <a:gs pos="100000">
                  <a:srgbClr val="800080"/>
                </a:gs>
              </a:gsLst>
              <a:lin ang="5400000" scaled="1"/>
            </a:gradFill>
            <a:ln w="28575" algn="ctr">
              <a:solidFill>
                <a:schemeClr val="tx1"/>
              </a:solidFill>
              <a:miter lim="800000"/>
              <a:headEnd/>
              <a:tailEnd/>
            </a:ln>
            <a:effectLst/>
          </p:spPr>
          <p:txBody>
            <a:bodyPr wrap="none" anchor="ctr"/>
            <a:lstStyle/>
            <a:p>
              <a:pPr algn="ctr" defTabSz="1540670"/>
              <a:r>
                <a:rPr lang="en-US" sz="3000">
                  <a:solidFill>
                    <a:schemeClr val="bg1"/>
                  </a:solidFill>
                </a:rPr>
                <a:t>Network</a:t>
              </a:r>
              <a:br>
                <a:rPr lang="en-US" sz="3000">
                  <a:solidFill>
                    <a:schemeClr val="bg1"/>
                  </a:solidFill>
                </a:rPr>
              </a:br>
              <a:r>
                <a:rPr lang="en-US" sz="3000">
                  <a:solidFill>
                    <a:schemeClr val="bg1"/>
                  </a:solidFill>
                </a:rPr>
                <a:t>Interface</a:t>
              </a:r>
            </a:p>
          </p:txBody>
        </p:sp>
        <p:sp>
          <p:nvSpPr>
            <p:cNvPr id="1180676" name="Rectangle 4"/>
            <p:cNvSpPr>
              <a:spLocks noChangeArrowheads="1"/>
            </p:cNvSpPr>
            <p:nvPr/>
          </p:nvSpPr>
          <p:spPr bwMode="auto">
            <a:xfrm>
              <a:off x="2676" y="1749"/>
              <a:ext cx="864" cy="432"/>
            </a:xfrm>
            <a:prstGeom prst="rect">
              <a:avLst/>
            </a:prstGeom>
            <a:gradFill rotWithShape="1">
              <a:gsLst>
                <a:gs pos="0">
                  <a:srgbClr val="0000CC"/>
                </a:gs>
                <a:gs pos="100000">
                  <a:srgbClr val="800080"/>
                </a:gs>
              </a:gsLst>
              <a:lin ang="5400000" scaled="1"/>
            </a:gradFill>
            <a:ln w="28575" algn="ctr">
              <a:solidFill>
                <a:schemeClr val="tx1"/>
              </a:solidFill>
              <a:miter lim="800000"/>
              <a:headEnd/>
              <a:tailEnd/>
            </a:ln>
            <a:effectLst/>
          </p:spPr>
          <p:txBody>
            <a:bodyPr wrap="none" anchor="ctr"/>
            <a:lstStyle/>
            <a:p>
              <a:pPr algn="ctr" defTabSz="1540670"/>
              <a:r>
                <a:rPr lang="en-US" sz="3000">
                  <a:solidFill>
                    <a:schemeClr val="bg1"/>
                  </a:solidFill>
                </a:rPr>
                <a:t>Network</a:t>
              </a:r>
              <a:br>
                <a:rPr lang="en-US" sz="3000">
                  <a:solidFill>
                    <a:schemeClr val="bg1"/>
                  </a:solidFill>
                </a:rPr>
              </a:br>
              <a:r>
                <a:rPr lang="en-US" sz="3000">
                  <a:solidFill>
                    <a:schemeClr val="bg1"/>
                  </a:solidFill>
                </a:rPr>
                <a:t>Interface</a:t>
              </a:r>
            </a:p>
          </p:txBody>
        </p:sp>
        <p:sp>
          <p:nvSpPr>
            <p:cNvPr id="1180677" name="Rectangle 5"/>
            <p:cNvSpPr>
              <a:spLocks noChangeArrowheads="1"/>
            </p:cNvSpPr>
            <p:nvPr/>
          </p:nvSpPr>
          <p:spPr bwMode="auto">
            <a:xfrm>
              <a:off x="1813" y="1328"/>
              <a:ext cx="1727" cy="432"/>
            </a:xfrm>
            <a:prstGeom prst="rect">
              <a:avLst/>
            </a:prstGeom>
            <a:solidFill>
              <a:srgbClr val="3366FF"/>
            </a:solidFill>
            <a:ln w="28575" algn="ctr">
              <a:solidFill>
                <a:schemeClr val="tx1"/>
              </a:solidFill>
              <a:miter lim="800000"/>
              <a:headEnd/>
              <a:tailEnd/>
            </a:ln>
            <a:effectLst/>
          </p:spPr>
          <p:txBody>
            <a:bodyPr wrap="none" anchor="ctr"/>
            <a:lstStyle/>
            <a:p>
              <a:pPr algn="ctr" defTabSz="1540670"/>
              <a:r>
                <a:rPr lang="en-US" sz="3000">
                  <a:solidFill>
                    <a:schemeClr val="bg1"/>
                  </a:solidFill>
                </a:rPr>
                <a:t>Internet</a:t>
              </a:r>
            </a:p>
          </p:txBody>
        </p:sp>
      </p:grpSp>
      <p:pic>
        <p:nvPicPr>
          <p:cNvPr id="1180693" name="Picture 21" descr="DOS Tower Straight on"/>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3635038" y="2643188"/>
            <a:ext cx="1340645" cy="2383632"/>
          </a:xfrm>
          <a:prstGeom prst="rect">
            <a:avLst/>
          </a:prstGeom>
          <a:noFill/>
        </p:spPr>
      </p:pic>
      <p:grpSp>
        <p:nvGrpSpPr>
          <p:cNvPr id="3" name="Group 37"/>
          <p:cNvGrpSpPr>
            <a:grpSpLocks/>
          </p:cNvGrpSpPr>
          <p:nvPr/>
        </p:nvGrpSpPr>
        <p:grpSpPr bwMode="auto">
          <a:xfrm>
            <a:off x="2702720" y="2643188"/>
            <a:ext cx="2057400" cy="4121945"/>
            <a:chOff x="175" y="1059"/>
            <a:chExt cx="864" cy="1731"/>
          </a:xfrm>
        </p:grpSpPr>
        <p:sp>
          <p:nvSpPr>
            <p:cNvPr id="1180688" name="Rectangle 16"/>
            <p:cNvSpPr>
              <a:spLocks noChangeArrowheads="1"/>
            </p:cNvSpPr>
            <p:nvPr/>
          </p:nvSpPr>
          <p:spPr bwMode="auto">
            <a:xfrm>
              <a:off x="175" y="1059"/>
              <a:ext cx="864" cy="432"/>
            </a:xfrm>
            <a:prstGeom prst="rect">
              <a:avLst/>
            </a:prstGeom>
            <a:solidFill>
              <a:srgbClr val="CC0000"/>
            </a:solidFill>
            <a:ln w="28575" algn="ctr">
              <a:solidFill>
                <a:schemeClr val="tx1"/>
              </a:solidFill>
              <a:miter lim="800000"/>
              <a:headEnd/>
              <a:tailEnd/>
            </a:ln>
            <a:effectLst/>
          </p:spPr>
          <p:txBody>
            <a:bodyPr wrap="none" anchor="ctr" anchorCtr="1"/>
            <a:lstStyle/>
            <a:p>
              <a:pPr defTabSz="1540670"/>
              <a:r>
                <a:rPr lang="en-US" sz="3000">
                  <a:solidFill>
                    <a:schemeClr val="bg1"/>
                  </a:solidFill>
                </a:rPr>
                <a:t>Application</a:t>
              </a:r>
              <a:br>
                <a:rPr lang="en-US" sz="3000">
                  <a:solidFill>
                    <a:schemeClr val="bg1"/>
                  </a:solidFill>
                </a:rPr>
              </a:br>
              <a:r>
                <a:rPr lang="en-US" sz="3000">
                  <a:solidFill>
                    <a:schemeClr val="bg1"/>
                  </a:solidFill>
                </a:rPr>
                <a:t>Services</a:t>
              </a:r>
            </a:p>
          </p:txBody>
        </p:sp>
        <p:sp>
          <p:nvSpPr>
            <p:cNvPr id="1180689" name="Rectangle 17"/>
            <p:cNvSpPr>
              <a:spLocks noChangeArrowheads="1"/>
            </p:cNvSpPr>
            <p:nvPr/>
          </p:nvSpPr>
          <p:spPr bwMode="auto">
            <a:xfrm>
              <a:off x="175" y="1500"/>
              <a:ext cx="864" cy="432"/>
            </a:xfrm>
            <a:prstGeom prst="rect">
              <a:avLst/>
            </a:prstGeom>
            <a:solidFill>
              <a:srgbClr val="009900"/>
            </a:solidFill>
            <a:ln w="28575" algn="ctr">
              <a:solidFill>
                <a:schemeClr val="tx1"/>
              </a:solidFill>
              <a:miter lim="800000"/>
              <a:headEnd/>
              <a:tailEnd/>
            </a:ln>
            <a:effectLst/>
          </p:spPr>
          <p:txBody>
            <a:bodyPr wrap="none" anchor="ctr" anchorCtr="1"/>
            <a:lstStyle/>
            <a:p>
              <a:pPr defTabSz="1540670"/>
              <a:r>
                <a:rPr lang="en-US" sz="3000">
                  <a:solidFill>
                    <a:schemeClr val="bg1"/>
                  </a:solidFill>
                </a:rPr>
                <a:t>Transport</a:t>
              </a:r>
            </a:p>
          </p:txBody>
        </p:sp>
        <p:sp>
          <p:nvSpPr>
            <p:cNvPr id="1180690" name="Rectangle 18"/>
            <p:cNvSpPr>
              <a:spLocks noChangeArrowheads="1"/>
            </p:cNvSpPr>
            <p:nvPr/>
          </p:nvSpPr>
          <p:spPr bwMode="auto">
            <a:xfrm>
              <a:off x="175" y="2358"/>
              <a:ext cx="864" cy="432"/>
            </a:xfrm>
            <a:prstGeom prst="rect">
              <a:avLst/>
            </a:prstGeom>
            <a:gradFill rotWithShape="1">
              <a:gsLst>
                <a:gs pos="0">
                  <a:srgbClr val="0000CC"/>
                </a:gs>
                <a:gs pos="100000">
                  <a:srgbClr val="800080"/>
                </a:gs>
              </a:gsLst>
              <a:lin ang="5400000" scaled="1"/>
            </a:gradFill>
            <a:ln w="28575" algn="ctr">
              <a:solidFill>
                <a:schemeClr val="tx1"/>
              </a:solidFill>
              <a:miter lim="800000"/>
              <a:headEnd/>
              <a:tailEnd/>
            </a:ln>
            <a:effectLst/>
          </p:spPr>
          <p:txBody>
            <a:bodyPr wrap="none" anchor="ctr" anchorCtr="1"/>
            <a:lstStyle/>
            <a:p>
              <a:pPr defTabSz="1540670"/>
              <a:r>
                <a:rPr lang="en-US" sz="3000">
                  <a:solidFill>
                    <a:schemeClr val="bg1"/>
                  </a:solidFill>
                </a:rPr>
                <a:t>Network</a:t>
              </a:r>
              <a:br>
                <a:rPr lang="en-US" sz="3000">
                  <a:solidFill>
                    <a:schemeClr val="bg1"/>
                  </a:solidFill>
                </a:rPr>
              </a:br>
              <a:r>
                <a:rPr lang="en-US" sz="3000">
                  <a:solidFill>
                    <a:schemeClr val="bg1"/>
                  </a:solidFill>
                </a:rPr>
                <a:t>Interface</a:t>
              </a:r>
            </a:p>
          </p:txBody>
        </p:sp>
        <p:sp>
          <p:nvSpPr>
            <p:cNvPr id="1180691" name="Rectangle 19"/>
            <p:cNvSpPr>
              <a:spLocks noChangeArrowheads="1"/>
            </p:cNvSpPr>
            <p:nvPr/>
          </p:nvSpPr>
          <p:spPr bwMode="auto">
            <a:xfrm>
              <a:off x="175" y="1925"/>
              <a:ext cx="864" cy="432"/>
            </a:xfrm>
            <a:prstGeom prst="rect">
              <a:avLst/>
            </a:prstGeom>
            <a:solidFill>
              <a:srgbClr val="3366FF"/>
            </a:solidFill>
            <a:ln w="28575" algn="ctr">
              <a:solidFill>
                <a:schemeClr val="tx1"/>
              </a:solidFill>
              <a:miter lim="800000"/>
              <a:headEnd/>
              <a:tailEnd/>
            </a:ln>
            <a:effectLst/>
          </p:spPr>
          <p:txBody>
            <a:bodyPr wrap="none" anchor="ctr" anchorCtr="1"/>
            <a:lstStyle/>
            <a:p>
              <a:pPr defTabSz="1540670"/>
              <a:r>
                <a:rPr lang="en-US" sz="3000">
                  <a:solidFill>
                    <a:schemeClr val="bg1"/>
                  </a:solidFill>
                </a:rPr>
                <a:t>Internet</a:t>
              </a:r>
            </a:p>
          </p:txBody>
        </p:sp>
      </p:grpSp>
      <p:pic>
        <p:nvPicPr>
          <p:cNvPr id="1180695" name="Picture 23" descr="Router"/>
          <p:cNvPicPr preferRelativeResize="0">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8203407" y="7729538"/>
            <a:ext cx="1914525" cy="1164432"/>
          </a:xfrm>
          <a:prstGeom prst="rect">
            <a:avLst/>
          </a:prstGeom>
          <a:noFill/>
        </p:spPr>
      </p:pic>
      <p:grpSp>
        <p:nvGrpSpPr>
          <p:cNvPr id="4" name="Group 38"/>
          <p:cNvGrpSpPr>
            <a:grpSpLocks/>
          </p:cNvGrpSpPr>
          <p:nvPr/>
        </p:nvGrpSpPr>
        <p:grpSpPr bwMode="auto">
          <a:xfrm>
            <a:off x="13561220" y="2643188"/>
            <a:ext cx="2057400" cy="4121945"/>
            <a:chOff x="175" y="1059"/>
            <a:chExt cx="864" cy="1731"/>
          </a:xfrm>
        </p:grpSpPr>
        <p:sp>
          <p:nvSpPr>
            <p:cNvPr id="1180711" name="Rectangle 39"/>
            <p:cNvSpPr>
              <a:spLocks noChangeArrowheads="1"/>
            </p:cNvSpPr>
            <p:nvPr/>
          </p:nvSpPr>
          <p:spPr bwMode="auto">
            <a:xfrm>
              <a:off x="175" y="1059"/>
              <a:ext cx="864" cy="432"/>
            </a:xfrm>
            <a:prstGeom prst="rect">
              <a:avLst/>
            </a:prstGeom>
            <a:solidFill>
              <a:srgbClr val="CC0000"/>
            </a:solidFill>
            <a:ln w="28575" algn="ctr">
              <a:solidFill>
                <a:schemeClr val="tx1"/>
              </a:solidFill>
              <a:miter lim="800000"/>
              <a:headEnd/>
              <a:tailEnd/>
            </a:ln>
            <a:effectLst/>
          </p:spPr>
          <p:txBody>
            <a:bodyPr wrap="none" anchor="ctr" anchorCtr="1"/>
            <a:lstStyle/>
            <a:p>
              <a:pPr defTabSz="1540670"/>
              <a:r>
                <a:rPr lang="en-US" sz="3000">
                  <a:solidFill>
                    <a:schemeClr val="bg1"/>
                  </a:solidFill>
                </a:rPr>
                <a:t>Application</a:t>
              </a:r>
              <a:br>
                <a:rPr lang="en-US" sz="3000">
                  <a:solidFill>
                    <a:schemeClr val="bg1"/>
                  </a:solidFill>
                </a:rPr>
              </a:br>
              <a:r>
                <a:rPr lang="en-US" sz="3000">
                  <a:solidFill>
                    <a:schemeClr val="bg1"/>
                  </a:solidFill>
                </a:rPr>
                <a:t>Services</a:t>
              </a:r>
            </a:p>
          </p:txBody>
        </p:sp>
        <p:sp>
          <p:nvSpPr>
            <p:cNvPr id="1180712" name="Rectangle 40"/>
            <p:cNvSpPr>
              <a:spLocks noChangeArrowheads="1"/>
            </p:cNvSpPr>
            <p:nvPr/>
          </p:nvSpPr>
          <p:spPr bwMode="auto">
            <a:xfrm>
              <a:off x="175" y="1500"/>
              <a:ext cx="864" cy="432"/>
            </a:xfrm>
            <a:prstGeom prst="rect">
              <a:avLst/>
            </a:prstGeom>
            <a:solidFill>
              <a:srgbClr val="009900"/>
            </a:solidFill>
            <a:ln w="28575" algn="ctr">
              <a:solidFill>
                <a:schemeClr val="tx1"/>
              </a:solidFill>
              <a:miter lim="800000"/>
              <a:headEnd/>
              <a:tailEnd/>
            </a:ln>
            <a:effectLst/>
          </p:spPr>
          <p:txBody>
            <a:bodyPr wrap="none" anchor="ctr" anchorCtr="1"/>
            <a:lstStyle/>
            <a:p>
              <a:pPr defTabSz="1540670"/>
              <a:r>
                <a:rPr lang="en-US" sz="3000">
                  <a:solidFill>
                    <a:schemeClr val="bg1"/>
                  </a:solidFill>
                </a:rPr>
                <a:t>Transport</a:t>
              </a:r>
            </a:p>
          </p:txBody>
        </p:sp>
        <p:sp>
          <p:nvSpPr>
            <p:cNvPr id="1180713" name="Rectangle 41"/>
            <p:cNvSpPr>
              <a:spLocks noChangeArrowheads="1"/>
            </p:cNvSpPr>
            <p:nvPr/>
          </p:nvSpPr>
          <p:spPr bwMode="auto">
            <a:xfrm>
              <a:off x="175" y="2358"/>
              <a:ext cx="864" cy="432"/>
            </a:xfrm>
            <a:prstGeom prst="rect">
              <a:avLst/>
            </a:prstGeom>
            <a:gradFill rotWithShape="1">
              <a:gsLst>
                <a:gs pos="0">
                  <a:srgbClr val="0000CC"/>
                </a:gs>
                <a:gs pos="100000">
                  <a:srgbClr val="800080"/>
                </a:gs>
              </a:gsLst>
              <a:lin ang="5400000" scaled="1"/>
            </a:gradFill>
            <a:ln w="28575" algn="ctr">
              <a:solidFill>
                <a:schemeClr val="tx1"/>
              </a:solidFill>
              <a:miter lim="800000"/>
              <a:headEnd/>
              <a:tailEnd/>
            </a:ln>
            <a:effectLst/>
          </p:spPr>
          <p:txBody>
            <a:bodyPr wrap="none" anchor="ctr" anchorCtr="1"/>
            <a:lstStyle/>
            <a:p>
              <a:pPr defTabSz="1540670"/>
              <a:r>
                <a:rPr lang="en-US" sz="3000">
                  <a:solidFill>
                    <a:schemeClr val="bg1"/>
                  </a:solidFill>
                </a:rPr>
                <a:t>Network</a:t>
              </a:r>
              <a:br>
                <a:rPr lang="en-US" sz="3000">
                  <a:solidFill>
                    <a:schemeClr val="bg1"/>
                  </a:solidFill>
                </a:rPr>
              </a:br>
              <a:r>
                <a:rPr lang="en-US" sz="3000">
                  <a:solidFill>
                    <a:schemeClr val="bg1"/>
                  </a:solidFill>
                </a:rPr>
                <a:t>Interface</a:t>
              </a:r>
            </a:p>
          </p:txBody>
        </p:sp>
        <p:sp>
          <p:nvSpPr>
            <p:cNvPr id="1180714" name="Rectangle 42"/>
            <p:cNvSpPr>
              <a:spLocks noChangeArrowheads="1"/>
            </p:cNvSpPr>
            <p:nvPr/>
          </p:nvSpPr>
          <p:spPr bwMode="auto">
            <a:xfrm>
              <a:off x="175" y="1925"/>
              <a:ext cx="864" cy="432"/>
            </a:xfrm>
            <a:prstGeom prst="rect">
              <a:avLst/>
            </a:prstGeom>
            <a:solidFill>
              <a:srgbClr val="3366FF"/>
            </a:solidFill>
            <a:ln w="28575" algn="ctr">
              <a:solidFill>
                <a:schemeClr val="tx1"/>
              </a:solidFill>
              <a:miter lim="800000"/>
              <a:headEnd/>
              <a:tailEnd/>
            </a:ln>
            <a:effectLst/>
          </p:spPr>
          <p:txBody>
            <a:bodyPr wrap="none" anchor="ctr" anchorCtr="1"/>
            <a:lstStyle/>
            <a:p>
              <a:pPr defTabSz="1540670"/>
              <a:r>
                <a:rPr lang="en-US" sz="3000">
                  <a:solidFill>
                    <a:schemeClr val="bg1"/>
                  </a:solidFill>
                </a:rPr>
                <a:t>Internet</a:t>
              </a:r>
            </a:p>
          </p:txBody>
        </p:sp>
      </p:grpSp>
      <p:grpSp>
        <p:nvGrpSpPr>
          <p:cNvPr id="5" name="Group 48"/>
          <p:cNvGrpSpPr>
            <a:grpSpLocks/>
          </p:cNvGrpSpPr>
          <p:nvPr/>
        </p:nvGrpSpPr>
        <p:grpSpPr bwMode="auto">
          <a:xfrm>
            <a:off x="4981576" y="5269707"/>
            <a:ext cx="1835945" cy="997743"/>
            <a:chOff x="1105" y="2055"/>
            <a:chExt cx="771" cy="419"/>
          </a:xfrm>
        </p:grpSpPr>
        <p:sp>
          <p:nvSpPr>
            <p:cNvPr id="1180700" name="Line 28"/>
            <p:cNvSpPr>
              <a:spLocks noChangeShapeType="1"/>
            </p:cNvSpPr>
            <p:nvPr/>
          </p:nvSpPr>
          <p:spPr bwMode="auto">
            <a:xfrm>
              <a:off x="1105" y="2055"/>
              <a:ext cx="771" cy="1"/>
            </a:xfrm>
            <a:prstGeom prst="line">
              <a:avLst/>
            </a:prstGeom>
            <a:noFill/>
            <a:ln w="38100">
              <a:solidFill>
                <a:schemeClr val="tx1"/>
              </a:solidFill>
              <a:round/>
              <a:headEnd type="triangle" w="med" len="med"/>
              <a:tailEnd type="triangle" w="med" len="med"/>
            </a:ln>
            <a:effectLst/>
          </p:spPr>
          <p:txBody>
            <a:bodyPr anchor="ctr" anchorCtr="1">
              <a:spAutoFit/>
            </a:bodyPr>
            <a:lstStyle/>
            <a:p>
              <a:endParaRPr lang="en-US" sz="2700"/>
            </a:p>
          </p:txBody>
        </p:sp>
        <p:sp>
          <p:nvSpPr>
            <p:cNvPr id="1180719" name="Line 47"/>
            <p:cNvSpPr>
              <a:spLocks noChangeShapeType="1"/>
            </p:cNvSpPr>
            <p:nvPr/>
          </p:nvSpPr>
          <p:spPr bwMode="auto">
            <a:xfrm>
              <a:off x="1105" y="2473"/>
              <a:ext cx="771" cy="1"/>
            </a:xfrm>
            <a:prstGeom prst="line">
              <a:avLst/>
            </a:prstGeom>
            <a:noFill/>
            <a:ln w="38100">
              <a:solidFill>
                <a:schemeClr val="tx1"/>
              </a:solidFill>
              <a:round/>
              <a:headEnd type="triangle" w="med" len="med"/>
              <a:tailEnd type="triangle" w="med" len="med"/>
            </a:ln>
            <a:effectLst/>
          </p:spPr>
          <p:txBody>
            <a:bodyPr anchor="ctr" anchorCtr="1">
              <a:spAutoFit/>
            </a:bodyPr>
            <a:lstStyle/>
            <a:p>
              <a:endParaRPr lang="en-US" sz="2700"/>
            </a:p>
          </p:txBody>
        </p:sp>
      </p:grpSp>
      <p:grpSp>
        <p:nvGrpSpPr>
          <p:cNvPr id="6" name="Group 49"/>
          <p:cNvGrpSpPr>
            <a:grpSpLocks/>
          </p:cNvGrpSpPr>
          <p:nvPr/>
        </p:nvGrpSpPr>
        <p:grpSpPr bwMode="auto">
          <a:xfrm>
            <a:off x="11470482" y="5269707"/>
            <a:ext cx="1835943" cy="997743"/>
            <a:chOff x="1105" y="2055"/>
            <a:chExt cx="771" cy="419"/>
          </a:xfrm>
        </p:grpSpPr>
        <p:sp>
          <p:nvSpPr>
            <p:cNvPr id="1180722" name="Line 50"/>
            <p:cNvSpPr>
              <a:spLocks noChangeShapeType="1"/>
            </p:cNvSpPr>
            <p:nvPr/>
          </p:nvSpPr>
          <p:spPr bwMode="auto">
            <a:xfrm>
              <a:off x="1105" y="2055"/>
              <a:ext cx="771" cy="1"/>
            </a:xfrm>
            <a:prstGeom prst="line">
              <a:avLst/>
            </a:prstGeom>
            <a:noFill/>
            <a:ln w="38100">
              <a:solidFill>
                <a:schemeClr val="tx1"/>
              </a:solidFill>
              <a:round/>
              <a:headEnd type="triangle" w="med" len="med"/>
              <a:tailEnd type="triangle" w="med" len="med"/>
            </a:ln>
            <a:effectLst/>
          </p:spPr>
          <p:txBody>
            <a:bodyPr anchor="ctr" anchorCtr="1">
              <a:spAutoFit/>
            </a:bodyPr>
            <a:lstStyle/>
            <a:p>
              <a:endParaRPr lang="en-US" sz="2700"/>
            </a:p>
          </p:txBody>
        </p:sp>
        <p:sp>
          <p:nvSpPr>
            <p:cNvPr id="1180723" name="Line 51"/>
            <p:cNvSpPr>
              <a:spLocks noChangeShapeType="1"/>
            </p:cNvSpPr>
            <p:nvPr/>
          </p:nvSpPr>
          <p:spPr bwMode="auto">
            <a:xfrm>
              <a:off x="1105" y="2473"/>
              <a:ext cx="771" cy="1"/>
            </a:xfrm>
            <a:prstGeom prst="line">
              <a:avLst/>
            </a:prstGeom>
            <a:noFill/>
            <a:ln w="38100">
              <a:solidFill>
                <a:schemeClr val="tx1"/>
              </a:solidFill>
              <a:round/>
              <a:headEnd type="triangle" w="med" len="med"/>
              <a:tailEnd type="triangle" w="med" len="med"/>
            </a:ln>
            <a:effectLst/>
          </p:spPr>
          <p:txBody>
            <a:bodyPr anchor="ctr" anchorCtr="1">
              <a:spAutoFit/>
            </a:bodyPr>
            <a:lstStyle/>
            <a:p>
              <a:endParaRPr lang="en-US" sz="2700"/>
            </a:p>
          </p:txBody>
        </p:sp>
      </p:grpSp>
      <p:grpSp>
        <p:nvGrpSpPr>
          <p:cNvPr id="7" name="Group 52"/>
          <p:cNvGrpSpPr>
            <a:grpSpLocks/>
          </p:cNvGrpSpPr>
          <p:nvPr/>
        </p:nvGrpSpPr>
        <p:grpSpPr bwMode="auto">
          <a:xfrm>
            <a:off x="4981575" y="3195638"/>
            <a:ext cx="8324850" cy="997745"/>
            <a:chOff x="1105" y="2055"/>
            <a:chExt cx="771" cy="419"/>
          </a:xfrm>
        </p:grpSpPr>
        <p:sp>
          <p:nvSpPr>
            <p:cNvPr id="1180725" name="Line 53"/>
            <p:cNvSpPr>
              <a:spLocks noChangeShapeType="1"/>
            </p:cNvSpPr>
            <p:nvPr/>
          </p:nvSpPr>
          <p:spPr bwMode="auto">
            <a:xfrm>
              <a:off x="1105" y="2055"/>
              <a:ext cx="771" cy="1"/>
            </a:xfrm>
            <a:prstGeom prst="line">
              <a:avLst/>
            </a:prstGeom>
            <a:noFill/>
            <a:ln w="38100">
              <a:solidFill>
                <a:schemeClr val="tx1"/>
              </a:solidFill>
              <a:round/>
              <a:headEnd type="triangle" w="med" len="med"/>
              <a:tailEnd type="triangle" w="med" len="med"/>
            </a:ln>
            <a:effectLst/>
          </p:spPr>
          <p:txBody>
            <a:bodyPr anchor="ctr" anchorCtr="1">
              <a:spAutoFit/>
            </a:bodyPr>
            <a:lstStyle/>
            <a:p>
              <a:endParaRPr lang="en-US" sz="2700"/>
            </a:p>
          </p:txBody>
        </p:sp>
        <p:sp>
          <p:nvSpPr>
            <p:cNvPr id="1180726" name="Line 54"/>
            <p:cNvSpPr>
              <a:spLocks noChangeShapeType="1"/>
            </p:cNvSpPr>
            <p:nvPr/>
          </p:nvSpPr>
          <p:spPr bwMode="auto">
            <a:xfrm>
              <a:off x="1105" y="2473"/>
              <a:ext cx="771" cy="1"/>
            </a:xfrm>
            <a:prstGeom prst="line">
              <a:avLst/>
            </a:prstGeom>
            <a:noFill/>
            <a:ln w="38100">
              <a:solidFill>
                <a:schemeClr val="tx1"/>
              </a:solidFill>
              <a:round/>
              <a:headEnd type="triangle" w="med" len="med"/>
              <a:tailEnd type="triangle" w="med" len="med"/>
            </a:ln>
            <a:effectLst/>
          </p:spPr>
          <p:txBody>
            <a:bodyPr anchor="ctr" anchorCtr="1">
              <a:spAutoFit/>
            </a:bodyPr>
            <a:lstStyle/>
            <a:p>
              <a:endParaRPr lang="en-US" sz="2700"/>
            </a:p>
          </p:txBody>
        </p:sp>
      </p:grpSp>
      <p:pic>
        <p:nvPicPr>
          <p:cNvPr id="31" name="Picture 30"/>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3373101" y="7398842"/>
            <a:ext cx="2043113" cy="2514600"/>
          </a:xfrm>
          <a:prstGeom prst="rect">
            <a:avLst/>
          </a:prstGeom>
        </p:spPr>
      </p:pic>
      <p:pic>
        <p:nvPicPr>
          <p:cNvPr id="33" name="Picture 13"/>
          <p:cNvPicPr>
            <a:picLocks noChangeAspect="1" noChangeArrowheads="1"/>
          </p:cNvPicPr>
          <p:nvPr>
            <p:custDataLst>
              <p:tags r:id="rId2"/>
            </p:custDataLst>
          </p:nvPr>
        </p:nvPicPr>
        <p:blipFill>
          <a:blip r:embed="rId8" cstate="email">
            <a:extLst>
              <a:ext uri="{28A0092B-C50C-407E-A947-70E740481C1C}">
                <a14:useLocalDpi xmlns:a14="http://schemas.microsoft.com/office/drawing/2010/main"/>
              </a:ext>
            </a:extLst>
          </a:blip>
          <a:stretch>
            <a:fillRect/>
          </a:stretch>
        </p:blipFill>
        <p:spPr bwMode="auto">
          <a:xfrm>
            <a:off x="2743200" y="7772400"/>
            <a:ext cx="2160573" cy="1783329"/>
          </a:xfrm>
          <a:prstGeom prst="rect">
            <a:avLst/>
          </a:prstGeom>
          <a:noFill/>
        </p:spPr>
      </p:pic>
    </p:spTree>
    <p:custDataLst>
      <p:tags r:id="rId1"/>
    </p:custDataLst>
    <p:extLst>
      <p:ext uri="{BB962C8B-B14F-4D97-AF65-F5344CB8AC3E}">
        <p14:creationId xmlns:p14="http://schemas.microsoft.com/office/powerpoint/2010/main" val="629517422"/>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FDA0B-42B2-BD77-3742-4F0137A51E5B}"/>
              </a:ext>
            </a:extLst>
          </p:cNvPr>
          <p:cNvSpPr>
            <a:spLocks noGrp="1"/>
          </p:cNvSpPr>
          <p:nvPr>
            <p:ph type="title"/>
          </p:nvPr>
        </p:nvSpPr>
        <p:spPr/>
        <p:txBody>
          <a:bodyPr/>
          <a:lstStyle/>
          <a:p>
            <a:r>
              <a:rPr lang="en-US"/>
              <a:t>Data Link Layer</a:t>
            </a:r>
          </a:p>
        </p:txBody>
      </p:sp>
      <p:sp>
        <p:nvSpPr>
          <p:cNvPr id="3" name="Content Placeholder 2">
            <a:extLst>
              <a:ext uri="{FF2B5EF4-FFF2-40B4-BE49-F238E27FC236}">
                <a16:creationId xmlns:a16="http://schemas.microsoft.com/office/drawing/2014/main" id="{7DE9DDA8-BCB2-4E8E-FAA5-F6C27C1156D6}"/>
              </a:ext>
            </a:extLst>
          </p:cNvPr>
          <p:cNvSpPr>
            <a:spLocks noGrp="1"/>
          </p:cNvSpPr>
          <p:nvPr>
            <p:ph idx="1"/>
          </p:nvPr>
        </p:nvSpPr>
        <p:spPr/>
        <p:txBody>
          <a:bodyPr>
            <a:normAutofit lnSpcReduction="10000"/>
          </a:bodyPr>
          <a:lstStyle/>
          <a:p>
            <a:r>
              <a:rPr lang="en-US" dirty="0"/>
              <a:t>Technically distinct from the physical layer, but usually considered together</a:t>
            </a:r>
          </a:p>
          <a:p>
            <a:r>
              <a:rPr lang="en-US" dirty="0"/>
              <a:t>Connects devices on a shared link</a:t>
            </a:r>
          </a:p>
          <a:p>
            <a:r>
              <a:rPr lang="en-US" dirty="0"/>
              <a:t>Data is sent in a </a:t>
            </a:r>
            <a:r>
              <a:rPr lang="en-US" i="1" dirty="0"/>
              <a:t>frame</a:t>
            </a:r>
          </a:p>
          <a:p>
            <a:r>
              <a:rPr lang="en-US" dirty="0"/>
              <a:t>Common topologies are:</a:t>
            </a:r>
          </a:p>
          <a:p>
            <a:pPr lvl="1"/>
            <a:r>
              <a:rPr lang="en-US" dirty="0"/>
              <a:t>Point-to-Point</a:t>
            </a:r>
          </a:p>
          <a:p>
            <a:pPr lvl="1"/>
            <a:r>
              <a:rPr lang="en-US" dirty="0"/>
              <a:t>Any-to-Any</a:t>
            </a:r>
          </a:p>
          <a:p>
            <a:r>
              <a:rPr lang="en-US" dirty="0"/>
              <a:t>Examples</a:t>
            </a:r>
          </a:p>
          <a:p>
            <a:pPr lvl="1"/>
            <a:r>
              <a:rPr lang="en-US" dirty="0"/>
              <a:t>Ethernet</a:t>
            </a:r>
          </a:p>
          <a:p>
            <a:pPr lvl="1"/>
            <a:r>
              <a:rPr lang="en-US" dirty="0"/>
              <a:t>Wi-Fi</a:t>
            </a:r>
          </a:p>
          <a:p>
            <a:pPr lvl="1"/>
            <a:r>
              <a:rPr lang="en-US" dirty="0"/>
              <a:t>DOCSIS (what cable modems use)</a:t>
            </a:r>
          </a:p>
          <a:p>
            <a:pPr lvl="1"/>
            <a:endParaRPr lang="en-US" dirty="0"/>
          </a:p>
          <a:p>
            <a:endParaRPr lang="en-US" dirty="0"/>
          </a:p>
        </p:txBody>
      </p:sp>
    </p:spTree>
    <p:extLst>
      <p:ext uri="{BB962C8B-B14F-4D97-AF65-F5344CB8AC3E}">
        <p14:creationId xmlns:p14="http://schemas.microsoft.com/office/powerpoint/2010/main" val="129811017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7961E702-A2A3-0D67-3193-6BE48B977DF8}"/>
              </a:ext>
            </a:extLst>
          </p:cNvPr>
          <p:cNvSpPr>
            <a:spLocks noGrp="1"/>
          </p:cNvSpPr>
          <p:nvPr>
            <p:ph type="title"/>
          </p:nvPr>
        </p:nvSpPr>
        <p:spPr/>
        <p:txBody>
          <a:bodyPr/>
          <a:lstStyle/>
          <a:p>
            <a:r>
              <a:rPr lang="en-US"/>
              <a:t>Common Link Topologies</a:t>
            </a:r>
          </a:p>
        </p:txBody>
      </p:sp>
      <p:pic>
        <p:nvPicPr>
          <p:cNvPr id="5" name="Graphic 4" descr="Computer">
            <a:extLst>
              <a:ext uri="{FF2B5EF4-FFF2-40B4-BE49-F238E27FC236}">
                <a16:creationId xmlns:a16="http://schemas.microsoft.com/office/drawing/2014/main" id="{1B7C54D9-E5E0-EC1C-C130-7501EAA484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01453" y="7381703"/>
            <a:ext cx="1634816" cy="1600880"/>
          </a:xfrm>
          <a:prstGeom prst="rect">
            <a:avLst/>
          </a:prstGeom>
        </p:spPr>
      </p:pic>
      <p:pic>
        <p:nvPicPr>
          <p:cNvPr id="6" name="Graphic 5" descr="Computer">
            <a:extLst>
              <a:ext uri="{FF2B5EF4-FFF2-40B4-BE49-F238E27FC236}">
                <a16:creationId xmlns:a16="http://schemas.microsoft.com/office/drawing/2014/main" id="{5860B113-7DED-CFD9-0198-271BB7F672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44973" y="7381703"/>
            <a:ext cx="1634816" cy="1600880"/>
          </a:xfrm>
          <a:prstGeom prst="rect">
            <a:avLst/>
          </a:prstGeom>
        </p:spPr>
      </p:pic>
      <p:pic>
        <p:nvPicPr>
          <p:cNvPr id="7" name="Picture 6" descr="Diagram&#10;&#10;Description automatically generated">
            <a:extLst>
              <a:ext uri="{FF2B5EF4-FFF2-40B4-BE49-F238E27FC236}">
                <a16:creationId xmlns:a16="http://schemas.microsoft.com/office/drawing/2014/main" id="{27B5BC7D-2030-030F-B3AA-CE859301AC2C}"/>
              </a:ext>
            </a:extLst>
          </p:cNvPr>
          <p:cNvPicPr>
            <a:picLocks noChangeAspect="1"/>
          </p:cNvPicPr>
          <p:nvPr/>
        </p:nvPicPr>
        <p:blipFill rotWithShape="1">
          <a:blip r:embed="rId5">
            <a:extLst>
              <a:ext uri="{28A0092B-C50C-407E-A947-70E740481C1C}">
                <a14:useLocalDpi xmlns:a14="http://schemas.microsoft.com/office/drawing/2010/main"/>
              </a:ext>
            </a:extLst>
          </a:blip>
          <a:srcRect/>
          <a:stretch/>
        </p:blipFill>
        <p:spPr>
          <a:xfrm>
            <a:off x="11344973" y="4378162"/>
            <a:ext cx="2350891" cy="709914"/>
          </a:xfrm>
          <a:prstGeom prst="rect">
            <a:avLst/>
          </a:prstGeom>
        </p:spPr>
      </p:pic>
      <p:pic>
        <p:nvPicPr>
          <p:cNvPr id="8" name="Picture 7" descr="Diagram&#10;&#10;Description automatically generated">
            <a:extLst>
              <a:ext uri="{FF2B5EF4-FFF2-40B4-BE49-F238E27FC236}">
                <a16:creationId xmlns:a16="http://schemas.microsoft.com/office/drawing/2014/main" id="{8E94A3CC-8E74-905B-75C0-44B2D55E2C25}"/>
              </a:ext>
            </a:extLst>
          </p:cNvPr>
          <p:cNvPicPr>
            <a:picLocks noChangeAspect="1"/>
          </p:cNvPicPr>
          <p:nvPr/>
        </p:nvPicPr>
        <p:blipFill rotWithShape="1">
          <a:blip r:embed="rId6">
            <a:clrChange>
              <a:clrFrom>
                <a:srgbClr val="FFFFFF"/>
              </a:clrFrom>
              <a:clrTo>
                <a:srgbClr val="FFFFFF">
                  <a:alpha val="0"/>
                </a:srgbClr>
              </a:clrTo>
            </a:clrChange>
            <a:extLst>
              <a:ext uri="{BEBA8EAE-BF5A-486C-A8C5-ECC9F3942E4B}">
                <a14:imgProps xmlns:a14="http://schemas.microsoft.com/office/drawing/2010/main">
                  <a14:imgLayer r:embed="rId7">
                    <a14:imgEffect>
                      <a14:saturation sat="400000"/>
                    </a14:imgEffect>
                  </a14:imgLayer>
                </a14:imgProps>
              </a:ext>
              <a:ext uri="{28A0092B-C50C-407E-A947-70E740481C1C}">
                <a14:useLocalDpi xmlns:a14="http://schemas.microsoft.com/office/drawing/2010/main"/>
              </a:ext>
            </a:extLst>
          </a:blip>
          <a:srcRect/>
          <a:stretch/>
        </p:blipFill>
        <p:spPr>
          <a:xfrm>
            <a:off x="14914887" y="7648516"/>
            <a:ext cx="1442952" cy="1100603"/>
          </a:xfrm>
          <a:prstGeom prst="rect">
            <a:avLst/>
          </a:prstGeom>
        </p:spPr>
      </p:pic>
      <p:cxnSp>
        <p:nvCxnSpPr>
          <p:cNvPr id="9" name="Straight Connector 8">
            <a:extLst>
              <a:ext uri="{FF2B5EF4-FFF2-40B4-BE49-F238E27FC236}">
                <a16:creationId xmlns:a16="http://schemas.microsoft.com/office/drawing/2014/main" id="{8B5D1834-92BA-3EB7-36A0-01EE341F4469}"/>
              </a:ext>
            </a:extLst>
          </p:cNvPr>
          <p:cNvCxnSpPr>
            <a:cxnSpLocks/>
          </p:cNvCxnSpPr>
          <p:nvPr/>
        </p:nvCxnSpPr>
        <p:spPr>
          <a:xfrm flipV="1">
            <a:off x="9958767" y="4813043"/>
            <a:ext cx="1629416" cy="2952204"/>
          </a:xfrm>
          <a:prstGeom prst="line">
            <a:avLst/>
          </a:prstGeom>
          <a:ln w="76200" cap="sq"/>
        </p:spPr>
        <p:style>
          <a:lnRef idx="1">
            <a:schemeClr val="accent1"/>
          </a:lnRef>
          <a:fillRef idx="1">
            <a:schemeClr val="accent1"/>
          </a:fillRef>
          <a:effectRef idx="0">
            <a:schemeClr val="accent1"/>
          </a:effectRef>
          <a:fontRef idx="minor">
            <a:schemeClr val="lt1"/>
          </a:fontRef>
        </p:style>
      </p:cxnSp>
      <p:cxnSp>
        <p:nvCxnSpPr>
          <p:cNvPr id="10" name="Straight Connector 9">
            <a:extLst>
              <a:ext uri="{FF2B5EF4-FFF2-40B4-BE49-F238E27FC236}">
                <a16:creationId xmlns:a16="http://schemas.microsoft.com/office/drawing/2014/main" id="{DF016A14-7C92-951A-A82C-E884ED2ACEBF}"/>
              </a:ext>
            </a:extLst>
          </p:cNvPr>
          <p:cNvCxnSpPr>
            <a:cxnSpLocks/>
          </p:cNvCxnSpPr>
          <p:nvPr/>
        </p:nvCxnSpPr>
        <p:spPr>
          <a:xfrm flipV="1">
            <a:off x="11950613" y="4837485"/>
            <a:ext cx="19346" cy="2859621"/>
          </a:xfrm>
          <a:prstGeom prst="line">
            <a:avLst/>
          </a:prstGeom>
          <a:ln w="76200" cap="sq"/>
        </p:spPr>
        <p:style>
          <a:lnRef idx="1">
            <a:schemeClr val="accent1"/>
          </a:lnRef>
          <a:fillRef idx="1">
            <a:schemeClr val="accent1"/>
          </a:fillRef>
          <a:effectRef idx="0">
            <a:schemeClr val="accent1"/>
          </a:effectRef>
          <a:fontRef idx="minor">
            <a:schemeClr val="lt1"/>
          </a:fontRef>
        </p:style>
      </p:cxnSp>
      <p:cxnSp>
        <p:nvCxnSpPr>
          <p:cNvPr id="11" name="Straight Connector 10">
            <a:extLst>
              <a:ext uri="{FF2B5EF4-FFF2-40B4-BE49-F238E27FC236}">
                <a16:creationId xmlns:a16="http://schemas.microsoft.com/office/drawing/2014/main" id="{AF47461B-10B6-D36C-84F1-98005868960D}"/>
              </a:ext>
            </a:extLst>
          </p:cNvPr>
          <p:cNvCxnSpPr>
            <a:cxnSpLocks/>
            <a:stCxn id="8" idx="0"/>
          </p:cNvCxnSpPr>
          <p:nvPr/>
        </p:nvCxnSpPr>
        <p:spPr>
          <a:xfrm flipH="1" flipV="1">
            <a:off x="12941392" y="4813043"/>
            <a:ext cx="2694971" cy="2835473"/>
          </a:xfrm>
          <a:prstGeom prst="line">
            <a:avLst/>
          </a:prstGeom>
          <a:ln w="76200" cap="sq"/>
        </p:spPr>
        <p:style>
          <a:lnRef idx="1">
            <a:schemeClr val="accent1"/>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CE93ACFF-C971-E36A-DBDC-90F72F030072}"/>
              </a:ext>
            </a:extLst>
          </p:cNvPr>
          <p:cNvCxnSpPr>
            <a:cxnSpLocks/>
          </p:cNvCxnSpPr>
          <p:nvPr/>
        </p:nvCxnSpPr>
        <p:spPr>
          <a:xfrm flipH="1" flipV="1">
            <a:off x="12332388" y="4813043"/>
            <a:ext cx="1640624" cy="2952204"/>
          </a:xfrm>
          <a:prstGeom prst="line">
            <a:avLst/>
          </a:prstGeom>
          <a:ln w="76200" cap="sq"/>
        </p:spPr>
        <p:style>
          <a:lnRef idx="1">
            <a:schemeClr val="accent1"/>
          </a:lnRef>
          <a:fillRef idx="1">
            <a:schemeClr val="accent1"/>
          </a:fillRef>
          <a:effectRef idx="0">
            <a:schemeClr val="accent1"/>
          </a:effectRef>
          <a:fontRef idx="minor">
            <a:schemeClr val="lt1"/>
          </a:fontRef>
        </p:style>
      </p:cxnSp>
      <p:pic>
        <p:nvPicPr>
          <p:cNvPr id="13" name="Graphic 12" descr="Computer">
            <a:extLst>
              <a:ext uri="{FF2B5EF4-FFF2-40B4-BE49-F238E27FC236}">
                <a16:creationId xmlns:a16="http://schemas.microsoft.com/office/drawing/2014/main" id="{78EB7BB8-F38B-7CE6-991C-B8F76BB5F9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336818" y="7381703"/>
            <a:ext cx="1634816" cy="1600880"/>
          </a:xfrm>
          <a:prstGeom prst="rect">
            <a:avLst/>
          </a:prstGeom>
        </p:spPr>
      </p:pic>
      <p:sp>
        <p:nvSpPr>
          <p:cNvPr id="14" name="TextBox 13">
            <a:extLst>
              <a:ext uri="{FF2B5EF4-FFF2-40B4-BE49-F238E27FC236}">
                <a16:creationId xmlns:a16="http://schemas.microsoft.com/office/drawing/2014/main" id="{769AF8AB-28CB-4BAA-4626-AD1E6D29F78A}"/>
              </a:ext>
            </a:extLst>
          </p:cNvPr>
          <p:cNvSpPr txBox="1"/>
          <p:nvPr/>
        </p:nvSpPr>
        <p:spPr>
          <a:xfrm>
            <a:off x="11276652" y="3363670"/>
            <a:ext cx="2111474" cy="523220"/>
          </a:xfrm>
          <a:prstGeom prst="rect">
            <a:avLst/>
          </a:prstGeom>
          <a:noFill/>
        </p:spPr>
        <p:txBody>
          <a:bodyPr wrap="none" rtlCol="0">
            <a:spAutoFit/>
          </a:bodyPr>
          <a:lstStyle/>
          <a:p>
            <a:r>
              <a:rPr lang="en-US" sz="2800" b="1">
                <a:solidFill>
                  <a:schemeClr val="accent2"/>
                </a:solidFill>
                <a:latin typeface="Helvetica Neue" panose="02000503000000020004" pitchFamily="2" charset="0"/>
                <a:ea typeface="Helvetica Neue" panose="02000503000000020004" pitchFamily="2" charset="0"/>
                <a:cs typeface="Helvetica Neue" panose="02000503000000020004" pitchFamily="2" charset="0"/>
              </a:rPr>
              <a:t>Any-to-Any</a:t>
            </a:r>
          </a:p>
        </p:txBody>
      </p:sp>
      <p:grpSp>
        <p:nvGrpSpPr>
          <p:cNvPr id="15" name="Group 14">
            <a:extLst>
              <a:ext uri="{FF2B5EF4-FFF2-40B4-BE49-F238E27FC236}">
                <a16:creationId xmlns:a16="http://schemas.microsoft.com/office/drawing/2014/main" id="{2BF070B2-0ED6-72AC-20AC-B935C2475E00}"/>
              </a:ext>
            </a:extLst>
          </p:cNvPr>
          <p:cNvGrpSpPr/>
          <p:nvPr/>
        </p:nvGrpSpPr>
        <p:grpSpPr>
          <a:xfrm>
            <a:off x="1367659" y="3634771"/>
            <a:ext cx="7497275" cy="2332187"/>
            <a:chOff x="76200" y="1444358"/>
            <a:chExt cx="4890142" cy="1455015"/>
          </a:xfrm>
        </p:grpSpPr>
        <p:cxnSp>
          <p:nvCxnSpPr>
            <p:cNvPr id="16" name="Straight Connector 15">
              <a:extLst>
                <a:ext uri="{FF2B5EF4-FFF2-40B4-BE49-F238E27FC236}">
                  <a16:creationId xmlns:a16="http://schemas.microsoft.com/office/drawing/2014/main" id="{D9EEAB55-ABE9-610B-4457-BFCFC4A98B42}"/>
                </a:ext>
              </a:extLst>
            </p:cNvPr>
            <p:cNvCxnSpPr/>
            <p:nvPr/>
          </p:nvCxnSpPr>
          <p:spPr>
            <a:xfrm flipV="1">
              <a:off x="876298" y="2033366"/>
              <a:ext cx="2154095" cy="26276"/>
            </a:xfrm>
            <a:prstGeom prst="line">
              <a:avLst/>
            </a:prstGeom>
            <a:ln w="76200" cap="sq"/>
          </p:spPr>
          <p:style>
            <a:lnRef idx="1">
              <a:schemeClr val="accent1"/>
            </a:lnRef>
            <a:fillRef idx="1">
              <a:schemeClr val="accent1"/>
            </a:fillRef>
            <a:effectRef idx="0">
              <a:schemeClr val="accent1"/>
            </a:effectRef>
            <a:fontRef idx="minor">
              <a:schemeClr val="lt1"/>
            </a:fontRef>
          </p:style>
        </p:cxnSp>
        <p:pic>
          <p:nvPicPr>
            <p:cNvPr id="17" name="Graphic 16" descr="Laptop">
              <a:extLst>
                <a:ext uri="{FF2B5EF4-FFF2-40B4-BE49-F238E27FC236}">
                  <a16:creationId xmlns:a16="http://schemas.microsoft.com/office/drawing/2014/main" id="{62C62977-DABA-CF13-90C5-F85A088D58F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200" y="1635125"/>
              <a:ext cx="914400" cy="914400"/>
            </a:xfrm>
            <a:prstGeom prst="rect">
              <a:avLst/>
            </a:prstGeom>
          </p:spPr>
        </p:pic>
        <p:pic>
          <p:nvPicPr>
            <p:cNvPr id="18" name="Picture 17">
              <a:extLst>
                <a:ext uri="{FF2B5EF4-FFF2-40B4-BE49-F238E27FC236}">
                  <a16:creationId xmlns:a16="http://schemas.microsoft.com/office/drawing/2014/main" id="{3FC16120-47AA-68BB-8FD1-8F3E1E54C5DA}"/>
                </a:ext>
              </a:extLst>
            </p:cNvPr>
            <p:cNvPicPr>
              <a:picLocks noChangeAspect="1"/>
            </p:cNvPicPr>
            <p:nvPr/>
          </p:nvPicPr>
          <p:blipFill>
            <a:blip r:embed="rId10"/>
            <a:stretch>
              <a:fillRect/>
            </a:stretch>
          </p:blipFill>
          <p:spPr>
            <a:xfrm>
              <a:off x="990600" y="1955966"/>
              <a:ext cx="660400" cy="215900"/>
            </a:xfrm>
            <a:prstGeom prst="rect">
              <a:avLst/>
            </a:prstGeom>
          </p:spPr>
        </p:pic>
        <p:sp>
          <p:nvSpPr>
            <p:cNvPr id="19" name="Cloud 18">
              <a:extLst>
                <a:ext uri="{FF2B5EF4-FFF2-40B4-BE49-F238E27FC236}">
                  <a16:creationId xmlns:a16="http://schemas.microsoft.com/office/drawing/2014/main" id="{53E6F7A2-BAC8-1B42-FEBF-A20E28E43755}"/>
                </a:ext>
              </a:extLst>
            </p:cNvPr>
            <p:cNvSpPr/>
            <p:nvPr/>
          </p:nvSpPr>
          <p:spPr>
            <a:xfrm>
              <a:off x="2995479" y="1444358"/>
              <a:ext cx="1970863" cy="1455015"/>
            </a:xfrm>
            <a:prstGeom prst="cloud">
              <a:avLst/>
            </a:prstGeom>
            <a:solidFill>
              <a:schemeClr val="accent1">
                <a:lumMod val="60000"/>
                <a:lumOff val="40000"/>
              </a:schemeClr>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20" name="Picture 19" descr="Background pattern&#10;&#10;Description automatically generated">
              <a:extLst>
                <a:ext uri="{FF2B5EF4-FFF2-40B4-BE49-F238E27FC236}">
                  <a16:creationId xmlns:a16="http://schemas.microsoft.com/office/drawing/2014/main" id="{FF01B418-85ED-FC73-0D09-A8FBD75B4D7A}"/>
                </a:ext>
              </a:extLst>
            </p:cNvPr>
            <p:cNvPicPr>
              <a:picLocks noChangeAspect="1"/>
            </p:cNvPicPr>
            <p:nvPr/>
          </p:nvPicPr>
          <p:blipFill>
            <a:blip r:embed="rId11"/>
            <a:stretch>
              <a:fillRect/>
            </a:stretch>
          </p:blipFill>
          <p:spPr>
            <a:xfrm>
              <a:off x="2781298" y="1602442"/>
              <a:ext cx="498191" cy="914401"/>
            </a:xfrm>
            <a:prstGeom prst="rect">
              <a:avLst/>
            </a:prstGeom>
          </p:spPr>
        </p:pic>
        <p:sp>
          <p:nvSpPr>
            <p:cNvPr id="21" name="TextBox 20">
              <a:extLst>
                <a:ext uri="{FF2B5EF4-FFF2-40B4-BE49-F238E27FC236}">
                  <a16:creationId xmlns:a16="http://schemas.microsoft.com/office/drawing/2014/main" id="{53D44AB6-4B9F-266D-0E77-E55112BF2F76}"/>
                </a:ext>
              </a:extLst>
            </p:cNvPr>
            <p:cNvSpPr txBox="1"/>
            <p:nvPr/>
          </p:nvSpPr>
          <p:spPr>
            <a:xfrm>
              <a:off x="3539321" y="1920277"/>
              <a:ext cx="989358" cy="326429"/>
            </a:xfrm>
            <a:prstGeom prst="rect">
              <a:avLst/>
            </a:prstGeom>
            <a:noFill/>
          </p:spPr>
          <p:txBody>
            <a:bodyPr wrap="none" rtlCol="0">
              <a:spAutoFit/>
            </a:bodyPr>
            <a:lstStyle/>
            <a:p>
              <a:r>
                <a:rPr lang="en-US" sz="2800" b="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internet</a:t>
              </a:r>
            </a:p>
          </p:txBody>
        </p:sp>
      </p:grpSp>
      <p:sp>
        <p:nvSpPr>
          <p:cNvPr id="22" name="TextBox 21">
            <a:extLst>
              <a:ext uri="{FF2B5EF4-FFF2-40B4-BE49-F238E27FC236}">
                <a16:creationId xmlns:a16="http://schemas.microsoft.com/office/drawing/2014/main" id="{7C79813C-24BD-B932-6D5F-4D4ABA07BD1D}"/>
              </a:ext>
            </a:extLst>
          </p:cNvPr>
          <p:cNvSpPr txBox="1"/>
          <p:nvPr/>
        </p:nvSpPr>
        <p:spPr>
          <a:xfrm>
            <a:off x="2855093" y="2601034"/>
            <a:ext cx="2605200" cy="523220"/>
          </a:xfrm>
          <a:prstGeom prst="rect">
            <a:avLst/>
          </a:prstGeom>
          <a:noFill/>
        </p:spPr>
        <p:txBody>
          <a:bodyPr wrap="none" rtlCol="0">
            <a:spAutoFit/>
          </a:bodyPr>
          <a:lstStyle/>
          <a:p>
            <a:r>
              <a:rPr lang="en-US" sz="2800" b="1">
                <a:solidFill>
                  <a:schemeClr val="accent2"/>
                </a:solidFill>
                <a:latin typeface="Helvetica Neue" panose="02000503000000020004" pitchFamily="2" charset="0"/>
                <a:ea typeface="Helvetica Neue" panose="02000503000000020004" pitchFamily="2" charset="0"/>
                <a:cs typeface="Helvetica Neue" panose="02000503000000020004" pitchFamily="2" charset="0"/>
              </a:rPr>
              <a:t>Point-to-Point</a:t>
            </a:r>
          </a:p>
        </p:txBody>
      </p:sp>
      <p:sp>
        <p:nvSpPr>
          <p:cNvPr id="23" name="TextBox 22">
            <a:extLst>
              <a:ext uri="{FF2B5EF4-FFF2-40B4-BE49-F238E27FC236}">
                <a16:creationId xmlns:a16="http://schemas.microsoft.com/office/drawing/2014/main" id="{5620B9A5-DDE4-70BB-7B7D-2F913B918274}"/>
              </a:ext>
            </a:extLst>
          </p:cNvPr>
          <p:cNvSpPr txBox="1"/>
          <p:nvPr/>
        </p:nvSpPr>
        <p:spPr>
          <a:xfrm>
            <a:off x="3332745" y="4936008"/>
            <a:ext cx="934872" cy="369332"/>
          </a:xfrm>
          <a:prstGeom prst="rect">
            <a:avLst/>
          </a:prstGeom>
          <a:noFill/>
        </p:spPr>
        <p:txBody>
          <a:bodyPr wrap="none" rtlCol="0">
            <a:spAutoFit/>
          </a:bodyPr>
          <a:lstStyle/>
          <a:p>
            <a:r>
              <a:rPr lang="en-US">
                <a:latin typeface="Helvetica Neue" panose="02000503000000020004" pitchFamily="2" charset="0"/>
                <a:ea typeface="Helvetica Neue" panose="02000503000000020004" pitchFamily="2" charset="0"/>
                <a:cs typeface="Helvetica Neue" panose="02000503000000020004" pitchFamily="2" charset="0"/>
              </a:rPr>
              <a:t>Access</a:t>
            </a:r>
          </a:p>
        </p:txBody>
      </p:sp>
      <p:sp>
        <p:nvSpPr>
          <p:cNvPr id="24" name="TextBox 23">
            <a:extLst>
              <a:ext uri="{FF2B5EF4-FFF2-40B4-BE49-F238E27FC236}">
                <a16:creationId xmlns:a16="http://schemas.microsoft.com/office/drawing/2014/main" id="{171B8FCA-55B3-96CA-1A72-12F388D0515A}"/>
              </a:ext>
            </a:extLst>
          </p:cNvPr>
          <p:cNvSpPr txBox="1"/>
          <p:nvPr/>
        </p:nvSpPr>
        <p:spPr>
          <a:xfrm>
            <a:off x="1853214" y="6938752"/>
            <a:ext cx="3607079" cy="1631215"/>
          </a:xfrm>
          <a:prstGeom prst="rect">
            <a:avLst/>
          </a:prstGeom>
          <a:noFill/>
        </p:spPr>
        <p:txBody>
          <a:bodyPr wrap="none" rtlCol="0">
            <a:spAutoFit/>
          </a:bodyPr>
          <a:lstStyle/>
          <a:p>
            <a:r>
              <a:rPr lang="en-US" sz="2800" b="1">
                <a:solidFill>
                  <a:schemeClr val="accent2"/>
                </a:solidFill>
                <a:latin typeface="Helvetica Neue" panose="02000503000000020004" pitchFamily="2" charset="0"/>
                <a:ea typeface="Helvetica Neue" panose="02000503000000020004" pitchFamily="2" charset="0"/>
                <a:cs typeface="Helvetica Neue" panose="02000503000000020004" pitchFamily="2" charset="0"/>
              </a:rPr>
              <a:t>Data Link Functions</a:t>
            </a:r>
          </a:p>
          <a:p>
            <a:pPr marL="285750" indent="-285750">
              <a:buFont typeface="Arial" panose="020B0604020202020204" pitchFamily="34" charset="0"/>
              <a:buChar char="•"/>
            </a:pPr>
            <a:r>
              <a:rPr lang="en-US" sz="2400">
                <a:latin typeface="Helvetica Neue" panose="02000503000000020004" pitchFamily="2" charset="0"/>
                <a:ea typeface="Helvetica Neue" panose="02000503000000020004" pitchFamily="2" charset="0"/>
                <a:cs typeface="Helvetica Neue" panose="02000503000000020004" pitchFamily="2" charset="0"/>
              </a:rPr>
              <a:t>Framing</a:t>
            </a:r>
          </a:p>
          <a:p>
            <a:pPr marL="285750" indent="-285750">
              <a:buFont typeface="Arial" panose="020B0604020202020204" pitchFamily="34" charset="0"/>
              <a:buChar char="•"/>
            </a:pPr>
            <a:r>
              <a:rPr lang="en-US" sz="2400">
                <a:latin typeface="Helvetica Neue" panose="02000503000000020004" pitchFamily="2" charset="0"/>
                <a:ea typeface="Helvetica Neue" panose="02000503000000020004" pitchFamily="2" charset="0"/>
                <a:cs typeface="Helvetica Neue" panose="02000503000000020004" pitchFamily="2" charset="0"/>
              </a:rPr>
              <a:t>Addressing</a:t>
            </a:r>
          </a:p>
          <a:p>
            <a:pPr marL="285750" indent="-285750">
              <a:buFont typeface="Arial" panose="020B0604020202020204" pitchFamily="34" charset="0"/>
              <a:buChar char="•"/>
            </a:pPr>
            <a:r>
              <a:rPr lang="en-US" sz="2400">
                <a:latin typeface="Helvetica Neue" panose="02000503000000020004" pitchFamily="2" charset="0"/>
                <a:ea typeface="Helvetica Neue" panose="02000503000000020004" pitchFamily="2" charset="0"/>
                <a:cs typeface="Helvetica Neue" panose="02000503000000020004" pitchFamily="2" charset="0"/>
              </a:rPr>
              <a:t>Error check </a:t>
            </a:r>
          </a:p>
        </p:txBody>
      </p:sp>
    </p:spTree>
    <p:extLst>
      <p:ext uri="{BB962C8B-B14F-4D97-AF65-F5344CB8AC3E}">
        <p14:creationId xmlns:p14="http://schemas.microsoft.com/office/powerpoint/2010/main" val="381644936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240" name="Rectangle 112"/>
          <p:cNvSpPr>
            <a:spLocks noGrp="1" noChangeArrowheads="1"/>
          </p:cNvSpPr>
          <p:nvPr>
            <p:ph type="title"/>
          </p:nvPr>
        </p:nvSpPr>
        <p:spPr/>
        <p:txBody>
          <a:bodyPr/>
          <a:lstStyle/>
          <a:p>
            <a:r>
              <a:rPr lang="en-US"/>
              <a:t>Point-to-Point Protocol (PPP)</a:t>
            </a:r>
          </a:p>
        </p:txBody>
      </p:sp>
      <p:sp>
        <p:nvSpPr>
          <p:cNvPr id="176241" name="Rectangle 113"/>
          <p:cNvSpPr>
            <a:spLocks noGrp="1" noChangeArrowheads="1"/>
          </p:cNvSpPr>
          <p:nvPr>
            <p:ph idx="1"/>
          </p:nvPr>
        </p:nvSpPr>
        <p:spPr>
          <a:xfrm>
            <a:off x="1257300" y="2193130"/>
            <a:ext cx="15773400" cy="7425431"/>
          </a:xfrm>
        </p:spPr>
        <p:txBody>
          <a:bodyPr>
            <a:normAutofit fontScale="92500" lnSpcReduction="20000"/>
          </a:bodyPr>
          <a:lstStyle/>
          <a:p>
            <a:endParaRPr lang="en-US"/>
          </a:p>
          <a:p>
            <a:endParaRPr lang="en-US"/>
          </a:p>
          <a:p>
            <a:endParaRPr lang="en-US"/>
          </a:p>
          <a:p>
            <a:pPr>
              <a:buNone/>
            </a:pPr>
            <a:endParaRPr lang="en-US"/>
          </a:p>
          <a:p>
            <a:endParaRPr lang="en-US"/>
          </a:p>
          <a:p>
            <a:r>
              <a:rPr lang="en-US"/>
              <a:t>Commonly found on leased (private) lines and dial-access</a:t>
            </a:r>
          </a:p>
          <a:p>
            <a:r>
              <a:rPr lang="en-US"/>
              <a:t>Features</a:t>
            </a:r>
          </a:p>
          <a:p>
            <a:pPr lvl="1"/>
            <a:r>
              <a:rPr lang="en-US"/>
              <a:t>Framing (synchronization, data delimiting, transparency)</a:t>
            </a:r>
          </a:p>
          <a:p>
            <a:pPr lvl="1"/>
            <a:r>
              <a:rPr lang="en-US"/>
              <a:t>Additional capabilities</a:t>
            </a:r>
          </a:p>
          <a:p>
            <a:pPr lvl="2"/>
            <a:r>
              <a:rPr lang="en-US"/>
              <a:t>Authentication</a:t>
            </a:r>
          </a:p>
          <a:p>
            <a:pPr lvl="2"/>
            <a:r>
              <a:rPr lang="en-US"/>
              <a:t>Compression</a:t>
            </a:r>
          </a:p>
          <a:p>
            <a:pPr lvl="2"/>
            <a:r>
              <a:rPr lang="en-US"/>
              <a:t>IP address configuration</a:t>
            </a:r>
          </a:p>
          <a:p>
            <a:pPr lvl="2"/>
            <a:r>
              <a:rPr lang="en-US"/>
              <a:t>Multilink operation (MLPPP required)  enables multiple channels to </a:t>
            </a:r>
            <a:br>
              <a:rPr lang="en-US"/>
            </a:br>
            <a:r>
              <a:rPr lang="en-US"/>
              <a:t>carry single data streams (inverse multiplexing)</a:t>
            </a:r>
          </a:p>
        </p:txBody>
      </p:sp>
      <p:sp>
        <p:nvSpPr>
          <p:cNvPr id="5" name="Slide Number Placeholder 4"/>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99</a:t>
            </a:fld>
            <a:endParaRPr lang="en-US">
              <a:solidFill>
                <a:schemeClr val="tx1">
                  <a:lumMod val="50000"/>
                  <a:lumOff val="50000"/>
                </a:schemeClr>
              </a:solidFill>
            </a:endParaRPr>
          </a:p>
        </p:txBody>
      </p:sp>
      <p:grpSp>
        <p:nvGrpSpPr>
          <p:cNvPr id="2" name="Group 1">
            <a:extLst>
              <a:ext uri="{FF2B5EF4-FFF2-40B4-BE49-F238E27FC236}">
                <a16:creationId xmlns:a16="http://schemas.microsoft.com/office/drawing/2014/main" id="{00E4D486-F4DB-D9AD-1A56-29C53DEBA365}"/>
              </a:ext>
            </a:extLst>
          </p:cNvPr>
          <p:cNvGrpSpPr/>
          <p:nvPr/>
        </p:nvGrpSpPr>
        <p:grpSpPr>
          <a:xfrm>
            <a:off x="4117178" y="1976337"/>
            <a:ext cx="7928694" cy="2205139"/>
            <a:chOff x="76200" y="1387834"/>
            <a:chExt cx="4902370" cy="1455015"/>
          </a:xfrm>
        </p:grpSpPr>
        <p:cxnSp>
          <p:nvCxnSpPr>
            <p:cNvPr id="3" name="Straight Connector 2">
              <a:extLst>
                <a:ext uri="{FF2B5EF4-FFF2-40B4-BE49-F238E27FC236}">
                  <a16:creationId xmlns:a16="http://schemas.microsoft.com/office/drawing/2014/main" id="{A9438B82-6144-9E0E-25AA-E0AA8FDAAE68}"/>
                </a:ext>
              </a:extLst>
            </p:cNvPr>
            <p:cNvCxnSpPr/>
            <p:nvPr/>
          </p:nvCxnSpPr>
          <p:spPr>
            <a:xfrm flipV="1">
              <a:off x="876298" y="2033366"/>
              <a:ext cx="2154095" cy="26276"/>
            </a:xfrm>
            <a:prstGeom prst="line">
              <a:avLst/>
            </a:prstGeom>
            <a:ln w="38100" cap="sq"/>
          </p:spPr>
          <p:style>
            <a:lnRef idx="1">
              <a:schemeClr val="accent1"/>
            </a:lnRef>
            <a:fillRef idx="1">
              <a:schemeClr val="accent1"/>
            </a:fillRef>
            <a:effectRef idx="0">
              <a:schemeClr val="accent1"/>
            </a:effectRef>
            <a:fontRef idx="minor">
              <a:schemeClr val="lt1"/>
            </a:fontRef>
          </p:style>
        </p:cxnSp>
        <p:pic>
          <p:nvPicPr>
            <p:cNvPr id="4" name="Graphic 3" descr="Laptop">
              <a:extLst>
                <a:ext uri="{FF2B5EF4-FFF2-40B4-BE49-F238E27FC236}">
                  <a16:creationId xmlns:a16="http://schemas.microsoft.com/office/drawing/2014/main" id="{2BA2A86A-AB26-6BBB-EE19-85863EDF37D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200" y="1635125"/>
              <a:ext cx="914400" cy="914400"/>
            </a:xfrm>
            <a:prstGeom prst="rect">
              <a:avLst/>
            </a:prstGeom>
          </p:spPr>
        </p:pic>
        <p:pic>
          <p:nvPicPr>
            <p:cNvPr id="6" name="Picture 5">
              <a:extLst>
                <a:ext uri="{FF2B5EF4-FFF2-40B4-BE49-F238E27FC236}">
                  <a16:creationId xmlns:a16="http://schemas.microsoft.com/office/drawing/2014/main" id="{B01D76B4-0726-6ADC-E94C-FB64F46D6206}"/>
                </a:ext>
              </a:extLst>
            </p:cNvPr>
            <p:cNvPicPr>
              <a:picLocks noChangeAspect="1"/>
            </p:cNvPicPr>
            <p:nvPr/>
          </p:nvPicPr>
          <p:blipFill>
            <a:blip r:embed="rId6"/>
            <a:stretch>
              <a:fillRect/>
            </a:stretch>
          </p:blipFill>
          <p:spPr>
            <a:xfrm>
              <a:off x="990600" y="1955966"/>
              <a:ext cx="660400" cy="215900"/>
            </a:xfrm>
            <a:prstGeom prst="rect">
              <a:avLst/>
            </a:prstGeom>
          </p:spPr>
        </p:pic>
        <p:sp>
          <p:nvSpPr>
            <p:cNvPr id="7" name="Cloud 6">
              <a:extLst>
                <a:ext uri="{FF2B5EF4-FFF2-40B4-BE49-F238E27FC236}">
                  <a16:creationId xmlns:a16="http://schemas.microsoft.com/office/drawing/2014/main" id="{27250F54-842D-9218-0A89-CEFE49586A55}"/>
                </a:ext>
              </a:extLst>
            </p:cNvPr>
            <p:cNvSpPr/>
            <p:nvPr/>
          </p:nvSpPr>
          <p:spPr>
            <a:xfrm>
              <a:off x="3007707" y="1387834"/>
              <a:ext cx="1970863" cy="1455015"/>
            </a:xfrm>
            <a:prstGeom prst="cloud">
              <a:avLst/>
            </a:prstGeom>
            <a:solidFill>
              <a:schemeClr val="accent1">
                <a:lumMod val="60000"/>
                <a:lumOff val="40000"/>
              </a:schemeClr>
            </a:solidFill>
            <a:ln>
              <a:noFill/>
            </a:ln>
          </p:spPr>
          <p:style>
            <a:lnRef idx="1">
              <a:schemeClr val="accent1"/>
            </a:lnRef>
            <a:fillRef idx="1">
              <a:schemeClr val="accent1"/>
            </a:fillRef>
            <a:effectRef idx="0">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8" name="Picture 7" descr="Background pattern&#10;&#10;Description automatically generated">
              <a:extLst>
                <a:ext uri="{FF2B5EF4-FFF2-40B4-BE49-F238E27FC236}">
                  <a16:creationId xmlns:a16="http://schemas.microsoft.com/office/drawing/2014/main" id="{67C443D3-F5AA-7B36-4D2D-97B31502D8DD}"/>
                </a:ext>
              </a:extLst>
            </p:cNvPr>
            <p:cNvPicPr>
              <a:picLocks noChangeAspect="1"/>
            </p:cNvPicPr>
            <p:nvPr/>
          </p:nvPicPr>
          <p:blipFill>
            <a:blip r:embed="rId7"/>
            <a:stretch>
              <a:fillRect/>
            </a:stretch>
          </p:blipFill>
          <p:spPr>
            <a:xfrm>
              <a:off x="2781298" y="1602442"/>
              <a:ext cx="498191" cy="914401"/>
            </a:xfrm>
            <a:prstGeom prst="rect">
              <a:avLst/>
            </a:prstGeom>
          </p:spPr>
        </p:pic>
        <p:sp>
          <p:nvSpPr>
            <p:cNvPr id="9" name="TextBox 8">
              <a:extLst>
                <a:ext uri="{FF2B5EF4-FFF2-40B4-BE49-F238E27FC236}">
                  <a16:creationId xmlns:a16="http://schemas.microsoft.com/office/drawing/2014/main" id="{A798812B-6BFF-FB3D-CBBD-E177B2E40D9F}"/>
                </a:ext>
              </a:extLst>
            </p:cNvPr>
            <p:cNvSpPr txBox="1"/>
            <p:nvPr/>
          </p:nvSpPr>
          <p:spPr>
            <a:xfrm>
              <a:off x="3507797" y="1911606"/>
              <a:ext cx="820315" cy="304620"/>
            </a:xfrm>
            <a:prstGeom prst="rect">
              <a:avLst/>
            </a:prstGeom>
            <a:noFill/>
          </p:spPr>
          <p:txBody>
            <a:bodyPr wrap="none" rtlCol="0">
              <a:spAutoFit/>
            </a:bodyPr>
            <a:lstStyle/>
            <a:p>
              <a:r>
                <a:rPr lang="en-US" sz="2400" b="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internet</a:t>
              </a:r>
            </a:p>
          </p:txBody>
        </p:sp>
      </p:grpSp>
      <p:sp>
        <p:nvSpPr>
          <p:cNvPr id="10" name="TextBox 9">
            <a:extLst>
              <a:ext uri="{FF2B5EF4-FFF2-40B4-BE49-F238E27FC236}">
                <a16:creationId xmlns:a16="http://schemas.microsoft.com/office/drawing/2014/main" id="{6A5A9458-0CE0-6CA6-68FB-CF7A1C86E621}"/>
              </a:ext>
            </a:extLst>
          </p:cNvPr>
          <p:cNvSpPr txBox="1"/>
          <p:nvPr/>
        </p:nvSpPr>
        <p:spPr>
          <a:xfrm>
            <a:off x="7153120" y="3534109"/>
            <a:ext cx="1019456" cy="461665"/>
          </a:xfrm>
          <a:prstGeom prst="rect">
            <a:avLst/>
          </a:prstGeom>
          <a:noFill/>
        </p:spPr>
        <p:txBody>
          <a:bodyPr wrap="square" rtlCol="0">
            <a:spAutoFit/>
          </a:bodyPr>
          <a:lstStyle/>
          <a:p>
            <a:r>
              <a:rPr lang="en-US" sz="2400" b="1">
                <a:latin typeface="Helvetica Neue" panose="02000503000000020004" pitchFamily="2" charset="0"/>
                <a:ea typeface="Helvetica Neue" panose="02000503000000020004" pitchFamily="2" charset="0"/>
                <a:cs typeface="Helvetica Neue" panose="02000503000000020004" pitchFamily="2" charset="0"/>
              </a:rPr>
              <a:t>PPP</a:t>
            </a:r>
          </a:p>
        </p:txBody>
      </p:sp>
      <p:cxnSp>
        <p:nvCxnSpPr>
          <p:cNvPr id="11" name="Straight Arrow Connector 10">
            <a:extLst>
              <a:ext uri="{FF2B5EF4-FFF2-40B4-BE49-F238E27FC236}">
                <a16:creationId xmlns:a16="http://schemas.microsoft.com/office/drawing/2014/main" id="{4953E35D-E9C3-0A34-A68E-0CD96A8AFA0B}"/>
              </a:ext>
            </a:extLst>
          </p:cNvPr>
          <p:cNvCxnSpPr>
            <a:cxnSpLocks/>
          </p:cNvCxnSpPr>
          <p:nvPr/>
        </p:nvCxnSpPr>
        <p:spPr>
          <a:xfrm>
            <a:off x="6220835" y="3404525"/>
            <a:ext cx="2271348" cy="0"/>
          </a:xfrm>
          <a:prstGeom prst="straightConnector1">
            <a:avLst/>
          </a:prstGeom>
          <a:ln w="76200" cap="sq">
            <a:solidFill>
              <a:schemeClr val="accent2"/>
            </a:solidFill>
            <a:headEnd type="triangle"/>
            <a:tailEnd type="triangle"/>
          </a:ln>
        </p:spPr>
        <p:style>
          <a:lnRef idx="1">
            <a:schemeClr val="accent1"/>
          </a:lnRef>
          <a:fillRef idx="1">
            <a:schemeClr val="accent1"/>
          </a:fillRef>
          <a:effectRef idx="0">
            <a:schemeClr val="accent1"/>
          </a:effectRef>
          <a:fontRef idx="minor">
            <a:schemeClr val="lt1"/>
          </a:fontRef>
        </p:style>
      </p:cxnSp>
    </p:spTree>
    <p:custDataLst>
      <p:tags r:id="rId1"/>
    </p:custDataLst>
    <p:extLst>
      <p:ext uri="{BB962C8B-B14F-4D97-AF65-F5344CB8AC3E}">
        <p14:creationId xmlns:p14="http://schemas.microsoft.com/office/powerpoint/2010/main" val="9777325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Chapter 13: </a:t>
            </a:r>
            <a:br>
              <a:rPr lang="en-US" dirty="0"/>
            </a:br>
            <a:r>
              <a:rPr lang="en-US" dirty="0"/>
              <a:t>IP </a:t>
            </a:r>
            <a:r>
              <a:rPr dirty="0"/>
              <a:t>Address</a:t>
            </a:r>
            <a:r>
              <a:rPr lang="en-US" dirty="0"/>
              <a:t>es and Operations</a:t>
            </a:r>
            <a:endParaRPr dirty="0"/>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0183" name="Rectangle 7"/>
          <p:cNvSpPr>
            <a:spLocks noGrp="1" noChangeArrowheads="1"/>
          </p:cNvSpPr>
          <p:nvPr>
            <p:ph type="title"/>
          </p:nvPr>
        </p:nvSpPr>
        <p:spPr/>
        <p:txBody>
          <a:bodyPr/>
          <a:lstStyle/>
          <a:p>
            <a:r>
              <a:rPr lang="en-US"/>
              <a:t>The Internet Protocol</a:t>
            </a:r>
          </a:p>
        </p:txBody>
      </p:sp>
      <p:sp>
        <p:nvSpPr>
          <p:cNvPr id="3890184" name="Rectangle 8"/>
          <p:cNvSpPr>
            <a:spLocks noGrp="1" noChangeArrowheads="1"/>
          </p:cNvSpPr>
          <p:nvPr>
            <p:ph idx="1"/>
          </p:nvPr>
        </p:nvSpPr>
        <p:spPr/>
        <p:txBody>
          <a:bodyPr>
            <a:normAutofit/>
          </a:bodyPr>
          <a:lstStyle/>
          <a:p>
            <a:pPr>
              <a:lnSpc>
                <a:spcPct val="90000"/>
              </a:lnSpc>
            </a:pPr>
            <a:r>
              <a:rPr lang="en-US" sz="3000" dirty="0"/>
              <a:t>The Network Layer (Layer 3) protocol used on the internet</a:t>
            </a:r>
          </a:p>
          <a:p>
            <a:pPr lvl="1">
              <a:lnSpc>
                <a:spcPct val="90000"/>
              </a:lnSpc>
            </a:pPr>
            <a:r>
              <a:rPr lang="en-US" sz="3000" dirty="0"/>
              <a:t>Has become the protocol for most networks</a:t>
            </a:r>
          </a:p>
          <a:p>
            <a:pPr lvl="1">
              <a:lnSpc>
                <a:spcPct val="90000"/>
              </a:lnSpc>
            </a:pPr>
            <a:r>
              <a:rPr lang="en-US" sz="3000" dirty="0"/>
              <a:t>Primary responsibility is building routing tables, forwarding and delivering packets</a:t>
            </a:r>
          </a:p>
          <a:p>
            <a:pPr>
              <a:lnSpc>
                <a:spcPct val="90000"/>
              </a:lnSpc>
            </a:pPr>
            <a:r>
              <a:rPr lang="en-US" sz="3000" dirty="0"/>
              <a:t>Current version is IPv4 with IPv6 growing (largely invisibly)</a:t>
            </a:r>
          </a:p>
          <a:p>
            <a:pPr lvl="1">
              <a:lnSpc>
                <a:spcPct val="90000"/>
              </a:lnSpc>
            </a:pPr>
            <a:r>
              <a:rPr lang="en-US" sz="3000" dirty="0"/>
              <a:t>Packet-oriented</a:t>
            </a:r>
          </a:p>
          <a:p>
            <a:pPr lvl="1">
              <a:lnSpc>
                <a:spcPct val="90000"/>
              </a:lnSpc>
            </a:pPr>
            <a:r>
              <a:rPr lang="en-US" sz="3000" dirty="0"/>
              <a:t>Connectionless</a:t>
            </a:r>
          </a:p>
          <a:p>
            <a:pPr>
              <a:lnSpc>
                <a:spcPct val="90000"/>
              </a:lnSpc>
            </a:pPr>
            <a:r>
              <a:rPr lang="en-US" sz="3000" dirty="0"/>
              <a:t>Related protocols include</a:t>
            </a:r>
          </a:p>
          <a:p>
            <a:pPr lvl="1">
              <a:lnSpc>
                <a:spcPct val="90000"/>
              </a:lnSpc>
            </a:pPr>
            <a:r>
              <a:rPr lang="en-US" sz="3000" dirty="0"/>
              <a:t>Routing protocols (RIP, OSPF, EIGRP, BGP)</a:t>
            </a:r>
          </a:p>
          <a:p>
            <a:pPr lvl="1">
              <a:lnSpc>
                <a:spcPct val="90000"/>
              </a:lnSpc>
            </a:pPr>
            <a:r>
              <a:rPr lang="en-US" sz="3000" dirty="0"/>
              <a:t>Address Resolution Protocol (ARP)</a:t>
            </a:r>
          </a:p>
          <a:p>
            <a:pPr lvl="1">
              <a:lnSpc>
                <a:spcPct val="90000"/>
              </a:lnSpc>
            </a:pPr>
            <a:r>
              <a:rPr lang="en-US" sz="3000" dirty="0"/>
              <a:t>Dynamic Host Configuration</a:t>
            </a:r>
            <a:br>
              <a:rPr lang="en-US" sz="3000" dirty="0"/>
            </a:br>
            <a:r>
              <a:rPr lang="en-US" sz="3000" dirty="0"/>
              <a:t>Protocol (DHCP)</a:t>
            </a:r>
          </a:p>
          <a:p>
            <a:pPr lvl="1">
              <a:lnSpc>
                <a:spcPct val="90000"/>
              </a:lnSpc>
            </a:pPr>
            <a:r>
              <a:rPr lang="en-US" sz="3000" dirty="0"/>
              <a:t>Network address translation (NAT)</a:t>
            </a:r>
          </a:p>
        </p:txBody>
      </p:sp>
      <p:sp>
        <p:nvSpPr>
          <p:cNvPr id="5" name="Slide Number Placeholder 4"/>
          <p:cNvSpPr>
            <a:spLocks noGrp="1"/>
          </p:cNvSpPr>
          <p:nvPr>
            <p:ph type="sldNum" sz="quarter" idx="4294967295"/>
          </p:nvPr>
        </p:nvSpPr>
        <p:spPr>
          <a:xfrm>
            <a:off x="0" y="9534525"/>
            <a:ext cx="4114800" cy="547688"/>
          </a:xfrm>
          <a:prstGeom prst="rect">
            <a:avLst/>
          </a:prstGeom>
        </p:spPr>
        <p:txBody>
          <a:bodyPr/>
          <a:lstStyle/>
          <a:p>
            <a:pPr algn="ctr"/>
            <a:fld id="{76E8DCF4-EBDD-4FE1-8465-FD383573D554}" type="slidenum">
              <a:rPr lang="en-US" smtClean="0">
                <a:solidFill>
                  <a:schemeClr val="tx1"/>
                </a:solidFill>
              </a:rPr>
              <a:pPr algn="ctr"/>
              <a:t>101</a:t>
            </a:fld>
            <a:endParaRPr lang="en-US">
              <a:solidFill>
                <a:schemeClr val="tx1"/>
              </a:solidFill>
            </a:endParaRPr>
          </a:p>
        </p:txBody>
      </p:sp>
      <p:pic>
        <p:nvPicPr>
          <p:cNvPr id="2" name="Picture 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804953" y="5372099"/>
            <a:ext cx="6539948" cy="4700588"/>
          </a:xfrm>
          <a:prstGeom prst="rect">
            <a:avLst/>
          </a:prstGeom>
        </p:spPr>
      </p:pic>
    </p:spTree>
    <p:custDataLst>
      <p:tags r:id="rId1"/>
    </p:custDataLst>
    <p:extLst>
      <p:ext uri="{BB962C8B-B14F-4D97-AF65-F5344CB8AC3E}">
        <p14:creationId xmlns:p14="http://schemas.microsoft.com/office/powerpoint/2010/main" val="3213987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3890184">
                                            <p:txEl>
                                              <p:pRg st="0" end="0"/>
                                            </p:txEl>
                                          </p:spTgt>
                                        </p:tgtEl>
                                        <p:attrNameLst>
                                          <p:attrName>style.visibility</p:attrName>
                                        </p:attrNameLst>
                                      </p:cBhvr>
                                      <p:to>
                                        <p:strVal val="visible"/>
                                      </p:to>
                                    </p:set>
                                    <p:anim calcmode="lin" valueType="num">
                                      <p:cBhvr>
                                        <p:cTn id="7" dur="1000" fill="hold"/>
                                        <p:tgtEl>
                                          <p:spTgt spid="3890184">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890184">
                                            <p:txEl>
                                              <p:pRg st="0" end="0"/>
                                            </p:txEl>
                                          </p:spTgt>
                                        </p:tgtEl>
                                        <p:attrNameLst>
                                          <p:attrName>ppt_h</p:attrName>
                                        </p:attrNameLst>
                                      </p:cBhvr>
                                      <p:tavLst>
                                        <p:tav tm="0">
                                          <p:val>
                                            <p:strVal val="#ppt_h"/>
                                          </p:val>
                                        </p:tav>
                                        <p:tav tm="100000">
                                          <p:val>
                                            <p:strVal val="#ppt_h"/>
                                          </p:val>
                                        </p:tav>
                                      </p:tavLst>
                                    </p:anim>
                                  </p:childTnLst>
                                </p:cTn>
                              </p:par>
                              <p:par>
                                <p:cTn id="9" presetID="17" presetClass="entr" presetSubtype="10" fill="hold" grpId="0" nodeType="withEffect">
                                  <p:stCondLst>
                                    <p:cond delay="0"/>
                                  </p:stCondLst>
                                  <p:childTnLst>
                                    <p:set>
                                      <p:cBhvr>
                                        <p:cTn id="10" dur="1" fill="hold">
                                          <p:stCondLst>
                                            <p:cond delay="0"/>
                                          </p:stCondLst>
                                        </p:cTn>
                                        <p:tgtEl>
                                          <p:spTgt spid="3890184">
                                            <p:txEl>
                                              <p:pRg st="1" end="1"/>
                                            </p:txEl>
                                          </p:spTgt>
                                        </p:tgtEl>
                                        <p:attrNameLst>
                                          <p:attrName>style.visibility</p:attrName>
                                        </p:attrNameLst>
                                      </p:cBhvr>
                                      <p:to>
                                        <p:strVal val="visible"/>
                                      </p:to>
                                    </p:set>
                                    <p:anim calcmode="lin" valueType="num">
                                      <p:cBhvr>
                                        <p:cTn id="11" dur="1000" fill="hold"/>
                                        <p:tgtEl>
                                          <p:spTgt spid="3890184">
                                            <p:txEl>
                                              <p:pRg st="1" end="1"/>
                                            </p:txEl>
                                          </p:spTgt>
                                        </p:tgtEl>
                                        <p:attrNameLst>
                                          <p:attrName>ppt_w</p:attrName>
                                        </p:attrNameLst>
                                      </p:cBhvr>
                                      <p:tavLst>
                                        <p:tav tm="0">
                                          <p:val>
                                            <p:fltVal val="0"/>
                                          </p:val>
                                        </p:tav>
                                        <p:tav tm="100000">
                                          <p:val>
                                            <p:strVal val="#ppt_w"/>
                                          </p:val>
                                        </p:tav>
                                      </p:tavLst>
                                    </p:anim>
                                    <p:anim calcmode="lin" valueType="num">
                                      <p:cBhvr>
                                        <p:cTn id="12" dur="1000" fill="hold"/>
                                        <p:tgtEl>
                                          <p:spTgt spid="3890184">
                                            <p:txEl>
                                              <p:pRg st="1" end="1"/>
                                            </p:txEl>
                                          </p:spTgt>
                                        </p:tgtEl>
                                        <p:attrNameLst>
                                          <p:attrName>ppt_h</p:attrName>
                                        </p:attrNameLst>
                                      </p:cBhvr>
                                      <p:tavLst>
                                        <p:tav tm="0">
                                          <p:val>
                                            <p:strVal val="#ppt_h"/>
                                          </p:val>
                                        </p:tav>
                                        <p:tav tm="100000">
                                          <p:val>
                                            <p:strVal val="#ppt_h"/>
                                          </p:val>
                                        </p:tav>
                                      </p:tavLst>
                                    </p:anim>
                                  </p:childTnLst>
                                </p:cTn>
                              </p:par>
                              <p:par>
                                <p:cTn id="13" presetID="17" presetClass="entr" presetSubtype="10" fill="hold" grpId="0" nodeType="withEffect">
                                  <p:stCondLst>
                                    <p:cond delay="0"/>
                                  </p:stCondLst>
                                  <p:childTnLst>
                                    <p:set>
                                      <p:cBhvr>
                                        <p:cTn id="14" dur="1" fill="hold">
                                          <p:stCondLst>
                                            <p:cond delay="0"/>
                                          </p:stCondLst>
                                        </p:cTn>
                                        <p:tgtEl>
                                          <p:spTgt spid="3890184">
                                            <p:txEl>
                                              <p:pRg st="2" end="2"/>
                                            </p:txEl>
                                          </p:spTgt>
                                        </p:tgtEl>
                                        <p:attrNameLst>
                                          <p:attrName>style.visibility</p:attrName>
                                        </p:attrNameLst>
                                      </p:cBhvr>
                                      <p:to>
                                        <p:strVal val="visible"/>
                                      </p:to>
                                    </p:set>
                                    <p:anim calcmode="lin" valueType="num">
                                      <p:cBhvr>
                                        <p:cTn id="15" dur="1000" fill="hold"/>
                                        <p:tgtEl>
                                          <p:spTgt spid="3890184">
                                            <p:txEl>
                                              <p:pRg st="2" end="2"/>
                                            </p:txEl>
                                          </p:spTgt>
                                        </p:tgtEl>
                                        <p:attrNameLst>
                                          <p:attrName>ppt_w</p:attrName>
                                        </p:attrNameLst>
                                      </p:cBhvr>
                                      <p:tavLst>
                                        <p:tav tm="0">
                                          <p:val>
                                            <p:fltVal val="0"/>
                                          </p:val>
                                        </p:tav>
                                        <p:tav tm="100000">
                                          <p:val>
                                            <p:strVal val="#ppt_w"/>
                                          </p:val>
                                        </p:tav>
                                      </p:tavLst>
                                    </p:anim>
                                    <p:anim calcmode="lin" valueType="num">
                                      <p:cBhvr>
                                        <p:cTn id="16" dur="1000" fill="hold"/>
                                        <p:tgtEl>
                                          <p:spTgt spid="3890184">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7" presetClass="entr" presetSubtype="10" fill="hold" grpId="0" nodeType="clickEffect">
                                  <p:stCondLst>
                                    <p:cond delay="0"/>
                                  </p:stCondLst>
                                  <p:childTnLst>
                                    <p:set>
                                      <p:cBhvr>
                                        <p:cTn id="20" dur="1" fill="hold">
                                          <p:stCondLst>
                                            <p:cond delay="0"/>
                                          </p:stCondLst>
                                        </p:cTn>
                                        <p:tgtEl>
                                          <p:spTgt spid="3890184">
                                            <p:txEl>
                                              <p:pRg st="3" end="3"/>
                                            </p:txEl>
                                          </p:spTgt>
                                        </p:tgtEl>
                                        <p:attrNameLst>
                                          <p:attrName>style.visibility</p:attrName>
                                        </p:attrNameLst>
                                      </p:cBhvr>
                                      <p:to>
                                        <p:strVal val="visible"/>
                                      </p:to>
                                    </p:set>
                                    <p:anim calcmode="lin" valueType="num">
                                      <p:cBhvr>
                                        <p:cTn id="21" dur="1000" fill="hold"/>
                                        <p:tgtEl>
                                          <p:spTgt spid="3890184">
                                            <p:txEl>
                                              <p:pRg st="3" end="3"/>
                                            </p:txEl>
                                          </p:spTgt>
                                        </p:tgtEl>
                                        <p:attrNameLst>
                                          <p:attrName>ppt_w</p:attrName>
                                        </p:attrNameLst>
                                      </p:cBhvr>
                                      <p:tavLst>
                                        <p:tav tm="0">
                                          <p:val>
                                            <p:fltVal val="0"/>
                                          </p:val>
                                        </p:tav>
                                        <p:tav tm="100000">
                                          <p:val>
                                            <p:strVal val="#ppt_w"/>
                                          </p:val>
                                        </p:tav>
                                      </p:tavLst>
                                    </p:anim>
                                    <p:anim calcmode="lin" valueType="num">
                                      <p:cBhvr>
                                        <p:cTn id="22" dur="1000" fill="hold"/>
                                        <p:tgtEl>
                                          <p:spTgt spid="3890184">
                                            <p:txEl>
                                              <p:pRg st="3" end="3"/>
                                            </p:txEl>
                                          </p:spTgt>
                                        </p:tgtEl>
                                        <p:attrNameLst>
                                          <p:attrName>ppt_h</p:attrName>
                                        </p:attrNameLst>
                                      </p:cBhvr>
                                      <p:tavLst>
                                        <p:tav tm="0">
                                          <p:val>
                                            <p:strVal val="#ppt_h"/>
                                          </p:val>
                                        </p:tav>
                                        <p:tav tm="100000">
                                          <p:val>
                                            <p:strVal val="#ppt_h"/>
                                          </p:val>
                                        </p:tav>
                                      </p:tavLst>
                                    </p:anim>
                                  </p:childTnLst>
                                </p:cTn>
                              </p:par>
                              <p:par>
                                <p:cTn id="23" presetID="17" presetClass="entr" presetSubtype="10" fill="hold" grpId="0" nodeType="withEffect">
                                  <p:stCondLst>
                                    <p:cond delay="0"/>
                                  </p:stCondLst>
                                  <p:childTnLst>
                                    <p:set>
                                      <p:cBhvr>
                                        <p:cTn id="24" dur="1" fill="hold">
                                          <p:stCondLst>
                                            <p:cond delay="0"/>
                                          </p:stCondLst>
                                        </p:cTn>
                                        <p:tgtEl>
                                          <p:spTgt spid="3890184">
                                            <p:txEl>
                                              <p:pRg st="4" end="4"/>
                                            </p:txEl>
                                          </p:spTgt>
                                        </p:tgtEl>
                                        <p:attrNameLst>
                                          <p:attrName>style.visibility</p:attrName>
                                        </p:attrNameLst>
                                      </p:cBhvr>
                                      <p:to>
                                        <p:strVal val="visible"/>
                                      </p:to>
                                    </p:set>
                                    <p:anim calcmode="lin" valueType="num">
                                      <p:cBhvr>
                                        <p:cTn id="25" dur="1000" fill="hold"/>
                                        <p:tgtEl>
                                          <p:spTgt spid="3890184">
                                            <p:txEl>
                                              <p:pRg st="4" end="4"/>
                                            </p:txEl>
                                          </p:spTgt>
                                        </p:tgtEl>
                                        <p:attrNameLst>
                                          <p:attrName>ppt_w</p:attrName>
                                        </p:attrNameLst>
                                      </p:cBhvr>
                                      <p:tavLst>
                                        <p:tav tm="0">
                                          <p:val>
                                            <p:fltVal val="0"/>
                                          </p:val>
                                        </p:tav>
                                        <p:tav tm="100000">
                                          <p:val>
                                            <p:strVal val="#ppt_w"/>
                                          </p:val>
                                        </p:tav>
                                      </p:tavLst>
                                    </p:anim>
                                    <p:anim calcmode="lin" valueType="num">
                                      <p:cBhvr>
                                        <p:cTn id="26" dur="1000" fill="hold"/>
                                        <p:tgtEl>
                                          <p:spTgt spid="3890184">
                                            <p:txEl>
                                              <p:pRg st="4" end="4"/>
                                            </p:txEl>
                                          </p:spTgt>
                                        </p:tgtEl>
                                        <p:attrNameLst>
                                          <p:attrName>ppt_h</p:attrName>
                                        </p:attrNameLst>
                                      </p:cBhvr>
                                      <p:tavLst>
                                        <p:tav tm="0">
                                          <p:val>
                                            <p:strVal val="#ppt_h"/>
                                          </p:val>
                                        </p:tav>
                                        <p:tav tm="100000">
                                          <p:val>
                                            <p:strVal val="#ppt_h"/>
                                          </p:val>
                                        </p:tav>
                                      </p:tavLst>
                                    </p:anim>
                                  </p:childTnLst>
                                </p:cTn>
                              </p:par>
                              <p:par>
                                <p:cTn id="27" presetID="17" presetClass="entr" presetSubtype="10" fill="hold" grpId="0" nodeType="withEffect">
                                  <p:stCondLst>
                                    <p:cond delay="0"/>
                                  </p:stCondLst>
                                  <p:childTnLst>
                                    <p:set>
                                      <p:cBhvr>
                                        <p:cTn id="28" dur="1" fill="hold">
                                          <p:stCondLst>
                                            <p:cond delay="0"/>
                                          </p:stCondLst>
                                        </p:cTn>
                                        <p:tgtEl>
                                          <p:spTgt spid="3890184">
                                            <p:txEl>
                                              <p:pRg st="5" end="5"/>
                                            </p:txEl>
                                          </p:spTgt>
                                        </p:tgtEl>
                                        <p:attrNameLst>
                                          <p:attrName>style.visibility</p:attrName>
                                        </p:attrNameLst>
                                      </p:cBhvr>
                                      <p:to>
                                        <p:strVal val="visible"/>
                                      </p:to>
                                    </p:set>
                                    <p:anim calcmode="lin" valueType="num">
                                      <p:cBhvr>
                                        <p:cTn id="29" dur="1000" fill="hold"/>
                                        <p:tgtEl>
                                          <p:spTgt spid="3890184">
                                            <p:txEl>
                                              <p:pRg st="5" end="5"/>
                                            </p:txEl>
                                          </p:spTgt>
                                        </p:tgtEl>
                                        <p:attrNameLst>
                                          <p:attrName>ppt_w</p:attrName>
                                        </p:attrNameLst>
                                      </p:cBhvr>
                                      <p:tavLst>
                                        <p:tav tm="0">
                                          <p:val>
                                            <p:fltVal val="0"/>
                                          </p:val>
                                        </p:tav>
                                        <p:tav tm="100000">
                                          <p:val>
                                            <p:strVal val="#ppt_w"/>
                                          </p:val>
                                        </p:tav>
                                      </p:tavLst>
                                    </p:anim>
                                    <p:anim calcmode="lin" valueType="num">
                                      <p:cBhvr>
                                        <p:cTn id="30" dur="1000" fill="hold"/>
                                        <p:tgtEl>
                                          <p:spTgt spid="3890184">
                                            <p:txEl>
                                              <p:pRg st="5" end="5"/>
                                            </p:txEl>
                                          </p:spTgt>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10" fill="hold" grpId="0" nodeType="clickEffect">
                                  <p:stCondLst>
                                    <p:cond delay="0"/>
                                  </p:stCondLst>
                                  <p:childTnLst>
                                    <p:set>
                                      <p:cBhvr>
                                        <p:cTn id="34" dur="1" fill="hold">
                                          <p:stCondLst>
                                            <p:cond delay="0"/>
                                          </p:stCondLst>
                                        </p:cTn>
                                        <p:tgtEl>
                                          <p:spTgt spid="3890184">
                                            <p:txEl>
                                              <p:pRg st="6" end="6"/>
                                            </p:txEl>
                                          </p:spTgt>
                                        </p:tgtEl>
                                        <p:attrNameLst>
                                          <p:attrName>style.visibility</p:attrName>
                                        </p:attrNameLst>
                                      </p:cBhvr>
                                      <p:to>
                                        <p:strVal val="visible"/>
                                      </p:to>
                                    </p:set>
                                    <p:anim calcmode="lin" valueType="num">
                                      <p:cBhvr>
                                        <p:cTn id="35" dur="1000" fill="hold"/>
                                        <p:tgtEl>
                                          <p:spTgt spid="3890184">
                                            <p:txEl>
                                              <p:pRg st="6" end="6"/>
                                            </p:txEl>
                                          </p:spTgt>
                                        </p:tgtEl>
                                        <p:attrNameLst>
                                          <p:attrName>ppt_w</p:attrName>
                                        </p:attrNameLst>
                                      </p:cBhvr>
                                      <p:tavLst>
                                        <p:tav tm="0">
                                          <p:val>
                                            <p:fltVal val="0"/>
                                          </p:val>
                                        </p:tav>
                                        <p:tav tm="100000">
                                          <p:val>
                                            <p:strVal val="#ppt_w"/>
                                          </p:val>
                                        </p:tav>
                                      </p:tavLst>
                                    </p:anim>
                                    <p:anim calcmode="lin" valueType="num">
                                      <p:cBhvr>
                                        <p:cTn id="36" dur="1000" fill="hold"/>
                                        <p:tgtEl>
                                          <p:spTgt spid="3890184">
                                            <p:txEl>
                                              <p:pRg st="6" end="6"/>
                                            </p:txEl>
                                          </p:spTgt>
                                        </p:tgtEl>
                                        <p:attrNameLst>
                                          <p:attrName>ppt_h</p:attrName>
                                        </p:attrNameLst>
                                      </p:cBhvr>
                                      <p:tavLst>
                                        <p:tav tm="0">
                                          <p:val>
                                            <p:strVal val="#ppt_h"/>
                                          </p:val>
                                        </p:tav>
                                        <p:tav tm="100000">
                                          <p:val>
                                            <p:strVal val="#ppt_h"/>
                                          </p:val>
                                        </p:tav>
                                      </p:tavLst>
                                    </p:anim>
                                  </p:childTnLst>
                                </p:cTn>
                              </p:par>
                              <p:par>
                                <p:cTn id="37" presetID="17" presetClass="entr" presetSubtype="10" fill="hold" grpId="0" nodeType="withEffect">
                                  <p:stCondLst>
                                    <p:cond delay="0"/>
                                  </p:stCondLst>
                                  <p:childTnLst>
                                    <p:set>
                                      <p:cBhvr>
                                        <p:cTn id="38" dur="1" fill="hold">
                                          <p:stCondLst>
                                            <p:cond delay="0"/>
                                          </p:stCondLst>
                                        </p:cTn>
                                        <p:tgtEl>
                                          <p:spTgt spid="3890184">
                                            <p:txEl>
                                              <p:pRg st="7" end="7"/>
                                            </p:txEl>
                                          </p:spTgt>
                                        </p:tgtEl>
                                        <p:attrNameLst>
                                          <p:attrName>style.visibility</p:attrName>
                                        </p:attrNameLst>
                                      </p:cBhvr>
                                      <p:to>
                                        <p:strVal val="visible"/>
                                      </p:to>
                                    </p:set>
                                    <p:anim calcmode="lin" valueType="num">
                                      <p:cBhvr>
                                        <p:cTn id="39" dur="1000" fill="hold"/>
                                        <p:tgtEl>
                                          <p:spTgt spid="3890184">
                                            <p:txEl>
                                              <p:pRg st="7" end="7"/>
                                            </p:txEl>
                                          </p:spTgt>
                                        </p:tgtEl>
                                        <p:attrNameLst>
                                          <p:attrName>ppt_w</p:attrName>
                                        </p:attrNameLst>
                                      </p:cBhvr>
                                      <p:tavLst>
                                        <p:tav tm="0">
                                          <p:val>
                                            <p:fltVal val="0"/>
                                          </p:val>
                                        </p:tav>
                                        <p:tav tm="100000">
                                          <p:val>
                                            <p:strVal val="#ppt_w"/>
                                          </p:val>
                                        </p:tav>
                                      </p:tavLst>
                                    </p:anim>
                                    <p:anim calcmode="lin" valueType="num">
                                      <p:cBhvr>
                                        <p:cTn id="40" dur="1000" fill="hold"/>
                                        <p:tgtEl>
                                          <p:spTgt spid="3890184">
                                            <p:txEl>
                                              <p:pRg st="7" end="7"/>
                                            </p:txEl>
                                          </p:spTgt>
                                        </p:tgtEl>
                                        <p:attrNameLst>
                                          <p:attrName>ppt_h</p:attrName>
                                        </p:attrNameLst>
                                      </p:cBhvr>
                                      <p:tavLst>
                                        <p:tav tm="0">
                                          <p:val>
                                            <p:strVal val="#ppt_h"/>
                                          </p:val>
                                        </p:tav>
                                        <p:tav tm="100000">
                                          <p:val>
                                            <p:strVal val="#ppt_h"/>
                                          </p:val>
                                        </p:tav>
                                      </p:tavLst>
                                    </p:anim>
                                  </p:childTnLst>
                                </p:cTn>
                              </p:par>
                              <p:par>
                                <p:cTn id="41" presetID="17" presetClass="entr" presetSubtype="10" fill="hold" grpId="0" nodeType="withEffect">
                                  <p:stCondLst>
                                    <p:cond delay="0"/>
                                  </p:stCondLst>
                                  <p:childTnLst>
                                    <p:set>
                                      <p:cBhvr>
                                        <p:cTn id="42" dur="1" fill="hold">
                                          <p:stCondLst>
                                            <p:cond delay="0"/>
                                          </p:stCondLst>
                                        </p:cTn>
                                        <p:tgtEl>
                                          <p:spTgt spid="3890184">
                                            <p:txEl>
                                              <p:pRg st="8" end="8"/>
                                            </p:txEl>
                                          </p:spTgt>
                                        </p:tgtEl>
                                        <p:attrNameLst>
                                          <p:attrName>style.visibility</p:attrName>
                                        </p:attrNameLst>
                                      </p:cBhvr>
                                      <p:to>
                                        <p:strVal val="visible"/>
                                      </p:to>
                                    </p:set>
                                    <p:anim calcmode="lin" valueType="num">
                                      <p:cBhvr>
                                        <p:cTn id="43" dur="1000" fill="hold"/>
                                        <p:tgtEl>
                                          <p:spTgt spid="3890184">
                                            <p:txEl>
                                              <p:pRg st="8" end="8"/>
                                            </p:txEl>
                                          </p:spTgt>
                                        </p:tgtEl>
                                        <p:attrNameLst>
                                          <p:attrName>ppt_w</p:attrName>
                                        </p:attrNameLst>
                                      </p:cBhvr>
                                      <p:tavLst>
                                        <p:tav tm="0">
                                          <p:val>
                                            <p:fltVal val="0"/>
                                          </p:val>
                                        </p:tav>
                                        <p:tav tm="100000">
                                          <p:val>
                                            <p:strVal val="#ppt_w"/>
                                          </p:val>
                                        </p:tav>
                                      </p:tavLst>
                                    </p:anim>
                                    <p:anim calcmode="lin" valueType="num">
                                      <p:cBhvr>
                                        <p:cTn id="44" dur="1000" fill="hold"/>
                                        <p:tgtEl>
                                          <p:spTgt spid="3890184">
                                            <p:txEl>
                                              <p:pRg st="8" end="8"/>
                                            </p:txEl>
                                          </p:spTgt>
                                        </p:tgtEl>
                                        <p:attrNameLst>
                                          <p:attrName>ppt_h</p:attrName>
                                        </p:attrNameLst>
                                      </p:cBhvr>
                                      <p:tavLst>
                                        <p:tav tm="0">
                                          <p:val>
                                            <p:strVal val="#ppt_h"/>
                                          </p:val>
                                        </p:tav>
                                        <p:tav tm="100000">
                                          <p:val>
                                            <p:strVal val="#ppt_h"/>
                                          </p:val>
                                        </p:tav>
                                      </p:tavLst>
                                    </p:anim>
                                  </p:childTnLst>
                                </p:cTn>
                              </p:par>
                              <p:par>
                                <p:cTn id="45" presetID="17" presetClass="entr" presetSubtype="10" fill="hold" grpId="0" nodeType="withEffect">
                                  <p:stCondLst>
                                    <p:cond delay="0"/>
                                  </p:stCondLst>
                                  <p:childTnLst>
                                    <p:set>
                                      <p:cBhvr>
                                        <p:cTn id="46" dur="1" fill="hold">
                                          <p:stCondLst>
                                            <p:cond delay="0"/>
                                          </p:stCondLst>
                                        </p:cTn>
                                        <p:tgtEl>
                                          <p:spTgt spid="3890184">
                                            <p:txEl>
                                              <p:pRg st="9" end="9"/>
                                            </p:txEl>
                                          </p:spTgt>
                                        </p:tgtEl>
                                        <p:attrNameLst>
                                          <p:attrName>style.visibility</p:attrName>
                                        </p:attrNameLst>
                                      </p:cBhvr>
                                      <p:to>
                                        <p:strVal val="visible"/>
                                      </p:to>
                                    </p:set>
                                    <p:anim calcmode="lin" valueType="num">
                                      <p:cBhvr>
                                        <p:cTn id="47" dur="1000" fill="hold"/>
                                        <p:tgtEl>
                                          <p:spTgt spid="3890184">
                                            <p:txEl>
                                              <p:pRg st="9" end="9"/>
                                            </p:txEl>
                                          </p:spTgt>
                                        </p:tgtEl>
                                        <p:attrNameLst>
                                          <p:attrName>ppt_w</p:attrName>
                                        </p:attrNameLst>
                                      </p:cBhvr>
                                      <p:tavLst>
                                        <p:tav tm="0">
                                          <p:val>
                                            <p:fltVal val="0"/>
                                          </p:val>
                                        </p:tav>
                                        <p:tav tm="100000">
                                          <p:val>
                                            <p:strVal val="#ppt_w"/>
                                          </p:val>
                                        </p:tav>
                                      </p:tavLst>
                                    </p:anim>
                                    <p:anim calcmode="lin" valueType="num">
                                      <p:cBhvr>
                                        <p:cTn id="48" dur="1000" fill="hold"/>
                                        <p:tgtEl>
                                          <p:spTgt spid="3890184">
                                            <p:txEl>
                                              <p:pRg st="9" end="9"/>
                                            </p:txEl>
                                          </p:spTgt>
                                        </p:tgtEl>
                                        <p:attrNameLst>
                                          <p:attrName>ppt_h</p:attrName>
                                        </p:attrNameLst>
                                      </p:cBhvr>
                                      <p:tavLst>
                                        <p:tav tm="0">
                                          <p:val>
                                            <p:strVal val="#ppt_h"/>
                                          </p:val>
                                        </p:tav>
                                        <p:tav tm="100000">
                                          <p:val>
                                            <p:strVal val="#ppt_h"/>
                                          </p:val>
                                        </p:tav>
                                      </p:tavLst>
                                    </p:anim>
                                  </p:childTnLst>
                                </p:cTn>
                              </p:par>
                              <p:par>
                                <p:cTn id="49" presetID="17" presetClass="entr" presetSubtype="10" fill="hold" grpId="0" nodeType="withEffect">
                                  <p:stCondLst>
                                    <p:cond delay="0"/>
                                  </p:stCondLst>
                                  <p:childTnLst>
                                    <p:set>
                                      <p:cBhvr>
                                        <p:cTn id="50" dur="1" fill="hold">
                                          <p:stCondLst>
                                            <p:cond delay="0"/>
                                          </p:stCondLst>
                                        </p:cTn>
                                        <p:tgtEl>
                                          <p:spTgt spid="3890184">
                                            <p:txEl>
                                              <p:pRg st="10" end="10"/>
                                            </p:txEl>
                                          </p:spTgt>
                                        </p:tgtEl>
                                        <p:attrNameLst>
                                          <p:attrName>style.visibility</p:attrName>
                                        </p:attrNameLst>
                                      </p:cBhvr>
                                      <p:to>
                                        <p:strVal val="visible"/>
                                      </p:to>
                                    </p:set>
                                    <p:anim calcmode="lin" valueType="num">
                                      <p:cBhvr>
                                        <p:cTn id="51" dur="1000" fill="hold"/>
                                        <p:tgtEl>
                                          <p:spTgt spid="3890184">
                                            <p:txEl>
                                              <p:pRg st="10" end="10"/>
                                            </p:txEl>
                                          </p:spTgt>
                                        </p:tgtEl>
                                        <p:attrNameLst>
                                          <p:attrName>ppt_w</p:attrName>
                                        </p:attrNameLst>
                                      </p:cBhvr>
                                      <p:tavLst>
                                        <p:tav tm="0">
                                          <p:val>
                                            <p:fltVal val="0"/>
                                          </p:val>
                                        </p:tav>
                                        <p:tav tm="100000">
                                          <p:val>
                                            <p:strVal val="#ppt_w"/>
                                          </p:val>
                                        </p:tav>
                                      </p:tavLst>
                                    </p:anim>
                                    <p:anim calcmode="lin" valueType="num">
                                      <p:cBhvr>
                                        <p:cTn id="52" dur="1000" fill="hold"/>
                                        <p:tgtEl>
                                          <p:spTgt spid="3890184">
                                            <p:txEl>
                                              <p:pRg st="10" end="1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0184"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5475" name="Rectangle 3"/>
          <p:cNvSpPr>
            <a:spLocks noGrp="1" noChangeArrowheads="1"/>
          </p:cNvSpPr>
          <p:nvPr>
            <p:ph type="title"/>
          </p:nvPr>
        </p:nvSpPr>
        <p:spPr/>
        <p:txBody>
          <a:bodyPr/>
          <a:lstStyle/>
          <a:p>
            <a:r>
              <a:rPr lang="en-US"/>
              <a:t>The IPv4 Address</a:t>
            </a:r>
          </a:p>
        </p:txBody>
      </p:sp>
      <p:sp>
        <p:nvSpPr>
          <p:cNvPr id="3945476" name="Rectangle 4"/>
          <p:cNvSpPr>
            <a:spLocks noGrp="1" noChangeArrowheads="1"/>
          </p:cNvSpPr>
          <p:nvPr>
            <p:ph idx="1"/>
          </p:nvPr>
        </p:nvSpPr>
        <p:spPr>
          <a:xfrm>
            <a:off x="1257300" y="2193130"/>
            <a:ext cx="15773400" cy="8093870"/>
          </a:xfrm>
        </p:spPr>
        <p:txBody>
          <a:bodyPr/>
          <a:lstStyle/>
          <a:p>
            <a:r>
              <a:rPr lang="en-US"/>
              <a:t>Binary (base two) representation:</a:t>
            </a:r>
          </a:p>
          <a:p>
            <a:pPr marL="1371600" lvl="2" indent="0">
              <a:buNone/>
            </a:pPr>
            <a:r>
              <a:rPr lang="en-US"/>
              <a:t>   </a:t>
            </a:r>
            <a:r>
              <a:rPr lang="en-US" sz="4200"/>
              <a:t>01000111 00111100 10011000 10100000</a:t>
            </a:r>
          </a:p>
          <a:p>
            <a:r>
              <a:rPr lang="en-US"/>
              <a:t>Better known as:</a:t>
            </a:r>
          </a:p>
          <a:p>
            <a:pPr marL="1371600" lvl="2" indent="0">
              <a:buNone/>
            </a:pPr>
            <a:r>
              <a:rPr lang="en-US" sz="3600"/>
              <a:t>   </a:t>
            </a:r>
            <a:r>
              <a:rPr lang="en-US" sz="4200"/>
              <a:t>71.60.152.160</a:t>
            </a:r>
          </a:p>
          <a:p>
            <a:r>
              <a:rPr lang="en-US"/>
              <a:t>Hierarchical structure</a:t>
            </a:r>
          </a:p>
          <a:p>
            <a:r>
              <a:rPr lang="en-US"/>
              <a:t>Like your phone number (area code, phone number)</a:t>
            </a:r>
          </a:p>
          <a:p>
            <a:r>
              <a:rPr lang="en-US"/>
              <a:t>IP address has the Network Identifier (NETID)</a:t>
            </a:r>
            <a:br>
              <a:rPr lang="en-US"/>
            </a:br>
            <a:r>
              <a:rPr lang="en-US"/>
              <a:t>and Host Identifier (HOSTID)</a:t>
            </a:r>
          </a:p>
          <a:p>
            <a:r>
              <a:rPr lang="en-US"/>
              <a:t>Slash notation indicates where the boundary</a:t>
            </a:r>
            <a:br>
              <a:rPr lang="en-US"/>
            </a:br>
            <a:r>
              <a:rPr lang="en-US"/>
              <a:t>between the NETID and HOSTID is located</a:t>
            </a:r>
          </a:p>
          <a:p>
            <a:pPr lvl="1">
              <a:buNone/>
            </a:pPr>
            <a:endParaRPr lang="en-US"/>
          </a:p>
        </p:txBody>
      </p:sp>
      <p:sp>
        <p:nvSpPr>
          <p:cNvPr id="8" name="Slide Number Placeholder 7"/>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102</a:t>
            </a:fld>
            <a:endParaRPr lang="en-US">
              <a:solidFill>
                <a:schemeClr val="tx1">
                  <a:lumMod val="50000"/>
                  <a:lumOff val="50000"/>
                </a:schemeClr>
              </a:solidFill>
            </a:endParaRPr>
          </a:p>
        </p:txBody>
      </p:sp>
      <p:pic>
        <p:nvPicPr>
          <p:cNvPr id="5" name="Picture 5" descr="G0371_IPv4-Addresses"/>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3325148" y="7319084"/>
            <a:ext cx="4769645" cy="1243013"/>
          </a:xfrm>
          <a:prstGeom prst="rect">
            <a:avLst/>
          </a:prstGeom>
          <a:noFill/>
        </p:spPr>
      </p:pic>
      <p:sp>
        <p:nvSpPr>
          <p:cNvPr id="6" name="Text Box 7"/>
          <p:cNvSpPr txBox="1">
            <a:spLocks noChangeArrowheads="1"/>
          </p:cNvSpPr>
          <p:nvPr/>
        </p:nvSpPr>
        <p:spPr bwMode="auto">
          <a:xfrm>
            <a:off x="13444053" y="8436674"/>
            <a:ext cx="4267515" cy="738664"/>
          </a:xfrm>
          <a:prstGeom prst="rect">
            <a:avLst/>
          </a:prstGeom>
          <a:noFill/>
          <a:ln w="28575" algn="ctr">
            <a:noFill/>
            <a:miter lim="800000"/>
            <a:headEnd/>
            <a:tailEnd/>
          </a:ln>
          <a:effectLst/>
        </p:spPr>
        <p:txBody>
          <a:bodyPr wrap="none" anchorCtr="1">
            <a:spAutoFit/>
          </a:bodyPr>
          <a:lstStyle/>
          <a:p>
            <a:r>
              <a:rPr lang="en-US" sz="4200">
                <a:latin typeface="Helvetica Neue Medium" panose="02000503000000020004" pitchFamily="2" charset="0"/>
                <a:ea typeface="Helvetica Neue Medium" panose="02000503000000020004" pitchFamily="2" charset="0"/>
                <a:cs typeface="Helvetica Neue Medium" panose="02000503000000020004" pitchFamily="2" charset="0"/>
              </a:rPr>
              <a:t>128.67.38.23 /16</a:t>
            </a:r>
          </a:p>
        </p:txBody>
      </p:sp>
      <p:sp>
        <p:nvSpPr>
          <p:cNvPr id="7" name="Freeform 8"/>
          <p:cNvSpPr>
            <a:spLocks/>
          </p:cNvSpPr>
          <p:nvPr/>
        </p:nvSpPr>
        <p:spPr bwMode="auto">
          <a:xfrm>
            <a:off x="13061156" y="7686676"/>
            <a:ext cx="90488" cy="507831"/>
          </a:xfrm>
          <a:custGeom>
            <a:avLst/>
            <a:gdLst/>
            <a:ahLst/>
            <a:cxnLst>
              <a:cxn ang="0">
                <a:pos x="0" y="488"/>
              </a:cxn>
              <a:cxn ang="0">
                <a:pos x="71" y="217"/>
              </a:cxn>
              <a:cxn ang="0">
                <a:pos x="14" y="241"/>
              </a:cxn>
              <a:cxn ang="0">
                <a:pos x="73" y="0"/>
              </a:cxn>
            </a:cxnLst>
            <a:rect l="0" t="0" r="r" b="b"/>
            <a:pathLst>
              <a:path w="74" h="488">
                <a:moveTo>
                  <a:pt x="0" y="488"/>
                </a:moveTo>
                <a:cubicBezTo>
                  <a:pt x="12" y="443"/>
                  <a:pt x="69" y="258"/>
                  <a:pt x="71" y="217"/>
                </a:cubicBezTo>
                <a:cubicBezTo>
                  <a:pt x="74" y="217"/>
                  <a:pt x="14" y="243"/>
                  <a:pt x="14" y="241"/>
                </a:cubicBezTo>
                <a:cubicBezTo>
                  <a:pt x="12" y="243"/>
                  <a:pt x="61" y="50"/>
                  <a:pt x="73" y="0"/>
                </a:cubicBezTo>
              </a:path>
            </a:pathLst>
          </a:custGeom>
          <a:noFill/>
          <a:ln w="19050" cap="flat" cmpd="sng">
            <a:solidFill>
              <a:schemeClr val="bg2"/>
            </a:solidFill>
            <a:prstDash val="solid"/>
            <a:round/>
            <a:headEnd type="none" w="med" len="med"/>
            <a:tailEnd type="none" w="med" len="med"/>
          </a:ln>
          <a:effectLst/>
        </p:spPr>
        <p:txBody>
          <a:bodyPr anchorCtr="1">
            <a:spAutoFit/>
          </a:bodyPr>
          <a:lstStyle/>
          <a:p>
            <a:endParaRPr lang="en-US" sz="2700"/>
          </a:p>
        </p:txBody>
      </p:sp>
    </p:spTree>
    <p:custDataLst>
      <p:tags r:id="rId1"/>
    </p:custDataLst>
    <p:extLst>
      <p:ext uri="{BB962C8B-B14F-4D97-AF65-F5344CB8AC3E}">
        <p14:creationId xmlns:p14="http://schemas.microsoft.com/office/powerpoint/2010/main" val="329931601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9378" name="Rectangle 2"/>
          <p:cNvSpPr>
            <a:spLocks noGrp="1" noChangeArrowheads="1"/>
          </p:cNvSpPr>
          <p:nvPr>
            <p:ph type="title"/>
          </p:nvPr>
        </p:nvSpPr>
        <p:spPr/>
        <p:txBody>
          <a:bodyPr/>
          <a:lstStyle/>
          <a:p>
            <a:r>
              <a:rPr lang="en-US"/>
              <a:t>Role of IP Addressing</a:t>
            </a:r>
          </a:p>
        </p:txBody>
      </p:sp>
      <p:sp>
        <p:nvSpPr>
          <p:cNvPr id="1509379" name="Rectangle 3"/>
          <p:cNvSpPr>
            <a:spLocks noGrp="1" noChangeArrowheads="1"/>
          </p:cNvSpPr>
          <p:nvPr>
            <p:ph idx="1"/>
          </p:nvPr>
        </p:nvSpPr>
        <p:spPr/>
        <p:txBody>
          <a:bodyPr>
            <a:normAutofit fontScale="92500" lnSpcReduction="10000"/>
          </a:bodyPr>
          <a:lstStyle/>
          <a:p>
            <a:r>
              <a:rPr lang="en-US"/>
              <a:t>IP addresses are used to identify the client computer and the server</a:t>
            </a:r>
          </a:p>
          <a:p>
            <a:r>
              <a:rPr lang="en-US"/>
              <a:t>All packets have a destination address (where it is going) and a source address (the sender’s address)</a:t>
            </a:r>
          </a:p>
          <a:p>
            <a:r>
              <a:rPr lang="en-US"/>
              <a:t>IP addresses</a:t>
            </a:r>
          </a:p>
          <a:p>
            <a:pPr lvl="1"/>
            <a:r>
              <a:rPr lang="en-US"/>
              <a:t>Assigned to devices</a:t>
            </a:r>
          </a:p>
          <a:p>
            <a:pPr lvl="2"/>
            <a:r>
              <a:rPr lang="en-US" i="1">
                <a:solidFill>
                  <a:srgbClr val="E23A30"/>
                </a:solidFill>
              </a:rPr>
              <a:t>Static:</a:t>
            </a:r>
            <a:r>
              <a:rPr lang="en-US">
                <a:solidFill>
                  <a:srgbClr val="E23A30"/>
                </a:solidFill>
              </a:rPr>
              <a:t> </a:t>
            </a:r>
            <a:r>
              <a:rPr lang="en-US"/>
              <a:t>Permanently assigned to a device</a:t>
            </a:r>
          </a:p>
          <a:p>
            <a:pPr lvl="2"/>
            <a:r>
              <a:rPr lang="en-US" i="1">
                <a:solidFill>
                  <a:srgbClr val="E23A30"/>
                </a:solidFill>
              </a:rPr>
              <a:t>Dynamic:</a:t>
            </a:r>
            <a:r>
              <a:rPr lang="en-US">
                <a:solidFill>
                  <a:srgbClr val="E23A30"/>
                </a:solidFill>
              </a:rPr>
              <a:t> </a:t>
            </a:r>
            <a:r>
              <a:rPr lang="en-US"/>
              <a:t>Temporarily allocated to a device</a:t>
            </a:r>
          </a:p>
          <a:p>
            <a:pPr lvl="1"/>
            <a:r>
              <a:rPr lang="en-US"/>
              <a:t>Public</a:t>
            </a:r>
          </a:p>
          <a:p>
            <a:pPr lvl="2"/>
            <a:r>
              <a:rPr lang="en-US"/>
              <a:t>Unique and valid over the Internet</a:t>
            </a:r>
          </a:p>
          <a:p>
            <a:pPr lvl="1"/>
            <a:r>
              <a:rPr lang="en-US"/>
              <a:t>Private </a:t>
            </a:r>
          </a:p>
          <a:p>
            <a:pPr lvl="2"/>
            <a:r>
              <a:rPr lang="en-US"/>
              <a:t>May not be sent over the Internet</a:t>
            </a:r>
          </a:p>
          <a:p>
            <a:pPr lvl="2"/>
            <a:r>
              <a:rPr lang="en-US"/>
              <a:t>Translated by network address translation (NAT) for internet transit</a:t>
            </a:r>
          </a:p>
        </p:txBody>
      </p:sp>
      <p:sp>
        <p:nvSpPr>
          <p:cNvPr id="5" name="Slide Number Placeholder 4"/>
          <p:cNvSpPr>
            <a:spLocks noGrp="1"/>
          </p:cNvSpPr>
          <p:nvPr>
            <p:ph type="sldNum" sz="quarter" idx="10"/>
          </p:nvPr>
        </p:nvSpPr>
        <p:spPr>
          <a:prstGeom prst="rect">
            <a:avLst/>
          </a:prstGeom>
        </p:spPr>
        <p:txBody>
          <a:bodyPr/>
          <a:lstStyle/>
          <a:p>
            <a:fld id="{76E8DCF4-EBDD-4FE1-8465-FD383573D554}" type="slidenum">
              <a:rPr lang="en-US" smtClean="0">
                <a:solidFill>
                  <a:schemeClr val="tx1"/>
                </a:solidFill>
              </a:rPr>
              <a:pPr/>
              <a:t>103</a:t>
            </a:fld>
            <a:endParaRPr lang="en-US">
              <a:solidFill>
                <a:schemeClr val="tx1"/>
              </a:solidFill>
            </a:endParaRPr>
          </a:p>
        </p:txBody>
      </p:sp>
    </p:spTree>
    <p:custDataLst>
      <p:tags r:id="rId1"/>
    </p:custDataLst>
    <p:extLst>
      <p:ext uri="{BB962C8B-B14F-4D97-AF65-F5344CB8AC3E}">
        <p14:creationId xmlns:p14="http://schemas.microsoft.com/office/powerpoint/2010/main" val="1450412429"/>
      </p:ext>
    </p:extLst>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1426" name="Line 2"/>
          <p:cNvSpPr>
            <a:spLocks noChangeShapeType="1"/>
          </p:cNvSpPr>
          <p:nvPr/>
        </p:nvSpPr>
        <p:spPr bwMode="auto">
          <a:xfrm flipH="1">
            <a:off x="4400552" y="7620000"/>
            <a:ext cx="2316957" cy="1183482"/>
          </a:xfrm>
          <a:prstGeom prst="line">
            <a:avLst/>
          </a:prstGeom>
          <a:noFill/>
          <a:ln w="76200">
            <a:solidFill>
              <a:schemeClr val="tx1"/>
            </a:solidFill>
            <a:round/>
            <a:headEnd/>
            <a:tailEnd/>
          </a:ln>
          <a:effectLst/>
        </p:spPr>
        <p:txBody>
          <a:bodyPr/>
          <a:lstStyle/>
          <a:p>
            <a:endParaRPr lang="en-US" sz="2700"/>
          </a:p>
        </p:txBody>
      </p:sp>
      <p:sp>
        <p:nvSpPr>
          <p:cNvPr id="1511428" name="Rectangle 4"/>
          <p:cNvSpPr>
            <a:spLocks noGrp="1" noChangeArrowheads="1"/>
          </p:cNvSpPr>
          <p:nvPr>
            <p:ph type="title"/>
          </p:nvPr>
        </p:nvSpPr>
        <p:spPr/>
        <p:txBody>
          <a:bodyPr/>
          <a:lstStyle/>
          <a:p>
            <a:r>
              <a:rPr lang="en-US"/>
              <a:t>Private vs. Public IP Address</a:t>
            </a:r>
          </a:p>
        </p:txBody>
      </p:sp>
      <p:sp>
        <p:nvSpPr>
          <p:cNvPr id="1511429" name="Rectangle 5"/>
          <p:cNvSpPr>
            <a:spLocks noGrp="1" noChangeArrowheads="1"/>
          </p:cNvSpPr>
          <p:nvPr>
            <p:ph idx="1"/>
          </p:nvPr>
        </p:nvSpPr>
        <p:spPr>
          <a:xfrm>
            <a:off x="1178721" y="1896323"/>
            <a:ext cx="15773400" cy="6967198"/>
          </a:xfrm>
        </p:spPr>
        <p:txBody>
          <a:bodyPr/>
          <a:lstStyle/>
          <a:p>
            <a:r>
              <a:rPr lang="en-US"/>
              <a:t>To overcome address exhaustion private address are used</a:t>
            </a:r>
          </a:p>
          <a:p>
            <a:pPr lvl="1"/>
            <a:r>
              <a:rPr lang="en-US"/>
              <a:t>10.0.0.0 /8</a:t>
            </a:r>
          </a:p>
          <a:p>
            <a:pPr lvl="1"/>
            <a:r>
              <a:rPr lang="en-US"/>
              <a:t>172.16.0.0 /12</a:t>
            </a:r>
          </a:p>
          <a:p>
            <a:pPr lvl="1"/>
            <a:r>
              <a:rPr lang="en-US"/>
              <a:t>192.168.0.0 /16</a:t>
            </a:r>
          </a:p>
          <a:p>
            <a:r>
              <a:rPr lang="en-US"/>
              <a:t>Private IP address not to be used on the Internet</a:t>
            </a:r>
          </a:p>
          <a:p>
            <a:pPr lvl="1"/>
            <a:r>
              <a:rPr lang="en-US"/>
              <a:t>Must use NAT/PAT to a public address obtained from ISP</a:t>
            </a:r>
          </a:p>
          <a:p>
            <a:endParaRPr lang="en-US"/>
          </a:p>
        </p:txBody>
      </p:sp>
      <p:sp>
        <p:nvSpPr>
          <p:cNvPr id="24" name="Slide Number Placeholder 23"/>
          <p:cNvSpPr>
            <a:spLocks noGrp="1"/>
          </p:cNvSpPr>
          <p:nvPr>
            <p:ph type="sldNum" sz="quarter" idx="10"/>
          </p:nvPr>
        </p:nvSpPr>
        <p:spPr>
          <a:prstGeom prst="rect">
            <a:avLst/>
          </a:prstGeom>
        </p:spPr>
        <p:txBody>
          <a:bodyPr/>
          <a:lstStyle/>
          <a:p>
            <a:fld id="{76E8DCF4-EBDD-4FE1-8465-FD383573D554}" type="slidenum">
              <a:rPr lang="en-US" smtClean="0">
                <a:solidFill>
                  <a:schemeClr val="tx1"/>
                </a:solidFill>
              </a:rPr>
              <a:pPr/>
              <a:t>104</a:t>
            </a:fld>
            <a:endParaRPr lang="en-US">
              <a:solidFill>
                <a:schemeClr val="tx1"/>
              </a:solidFill>
            </a:endParaRPr>
          </a:p>
        </p:txBody>
      </p:sp>
      <p:sp>
        <p:nvSpPr>
          <p:cNvPr id="1511430" name="Line 6"/>
          <p:cNvSpPr>
            <a:spLocks noChangeShapeType="1"/>
          </p:cNvSpPr>
          <p:nvPr/>
        </p:nvSpPr>
        <p:spPr bwMode="auto">
          <a:xfrm flipH="1">
            <a:off x="4286252" y="7448550"/>
            <a:ext cx="8441532" cy="0"/>
          </a:xfrm>
          <a:prstGeom prst="line">
            <a:avLst/>
          </a:prstGeom>
          <a:noFill/>
          <a:ln w="76200">
            <a:solidFill>
              <a:schemeClr val="tx1"/>
            </a:solidFill>
            <a:round/>
            <a:headEnd/>
            <a:tailEnd/>
          </a:ln>
          <a:effectLst/>
        </p:spPr>
        <p:txBody>
          <a:bodyPr/>
          <a:lstStyle/>
          <a:p>
            <a:endParaRPr lang="en-US" sz="2700"/>
          </a:p>
        </p:txBody>
      </p:sp>
      <p:pic>
        <p:nvPicPr>
          <p:cNvPr id="1511431" name="Picture 7"/>
          <p:cNvPicPr>
            <a:picLocks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812634" y="6634163"/>
            <a:ext cx="2235993" cy="1526382"/>
          </a:xfrm>
          <a:prstGeom prst="rect">
            <a:avLst/>
          </a:prstGeom>
          <a:noFill/>
          <a:ln w="9525">
            <a:noFill/>
            <a:miter lim="800000"/>
            <a:headEnd/>
            <a:tailEnd/>
          </a:ln>
          <a:effectLst/>
        </p:spPr>
      </p:pic>
      <p:sp>
        <p:nvSpPr>
          <p:cNvPr id="1511432" name="Rectangle 8"/>
          <p:cNvSpPr>
            <a:spLocks noChangeArrowheads="1"/>
          </p:cNvSpPr>
          <p:nvPr/>
        </p:nvSpPr>
        <p:spPr bwMode="auto">
          <a:xfrm>
            <a:off x="6422234" y="7119938"/>
            <a:ext cx="1341118" cy="528212"/>
          </a:xfrm>
          <a:prstGeom prst="rect">
            <a:avLst/>
          </a:prstGeom>
          <a:noFill/>
          <a:ln w="12700" cap="sq">
            <a:noFill/>
            <a:miter lim="800000"/>
            <a:headEnd/>
            <a:tailEnd/>
          </a:ln>
          <a:effectLst/>
        </p:spPr>
        <p:txBody>
          <a:bodyPr wrap="none" lIns="111624" tIns="55812" rIns="111624" bIns="55812">
            <a:spAutoFit/>
          </a:bodyPr>
          <a:lstStyle/>
          <a:p>
            <a:pPr defTabSz="1219200"/>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Private</a:t>
            </a:r>
            <a:endParaRPr lang="en-AU"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pic>
        <p:nvPicPr>
          <p:cNvPr id="1511434" name="Picture 10"/>
          <p:cNvPicPr>
            <a:picLocks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065421" y="6634163"/>
            <a:ext cx="2238375" cy="1526382"/>
          </a:xfrm>
          <a:prstGeom prst="rect">
            <a:avLst/>
          </a:prstGeom>
          <a:noFill/>
          <a:ln w="9525">
            <a:noFill/>
            <a:miter lim="800000"/>
            <a:headEnd/>
            <a:tailEnd/>
          </a:ln>
          <a:effectLst/>
        </p:spPr>
      </p:pic>
      <p:sp>
        <p:nvSpPr>
          <p:cNvPr id="1511435" name="Rectangle 11"/>
          <p:cNvSpPr>
            <a:spLocks noChangeArrowheads="1"/>
          </p:cNvSpPr>
          <p:nvPr/>
        </p:nvSpPr>
        <p:spPr bwMode="auto">
          <a:xfrm>
            <a:off x="9677402" y="7119938"/>
            <a:ext cx="1449931" cy="528212"/>
          </a:xfrm>
          <a:prstGeom prst="rect">
            <a:avLst/>
          </a:prstGeom>
          <a:noFill/>
          <a:ln w="12700" cap="sq">
            <a:noFill/>
            <a:miter lim="800000"/>
            <a:headEnd/>
            <a:tailEnd/>
          </a:ln>
          <a:effectLst/>
        </p:spPr>
        <p:txBody>
          <a:bodyPr wrap="none" lIns="111624" tIns="55812" rIns="111624" bIns="55812">
            <a:spAutoFit/>
          </a:bodyPr>
          <a:lstStyle/>
          <a:p>
            <a:pPr defTabSz="1219200"/>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internet</a:t>
            </a:r>
            <a:endParaRPr lang="en-AU"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1511437" name="Text Box 13"/>
          <p:cNvSpPr txBox="1">
            <a:spLocks noChangeArrowheads="1"/>
          </p:cNvSpPr>
          <p:nvPr/>
        </p:nvSpPr>
        <p:spPr bwMode="auto">
          <a:xfrm>
            <a:off x="3369471" y="8027195"/>
            <a:ext cx="1363560" cy="528212"/>
          </a:xfrm>
          <a:prstGeom prst="rect">
            <a:avLst/>
          </a:prstGeom>
          <a:noFill/>
          <a:ln w="12700" cap="sq">
            <a:noFill/>
            <a:miter lim="800000"/>
            <a:headEnd/>
            <a:tailEnd/>
          </a:ln>
          <a:effectLst/>
        </p:spPr>
        <p:txBody>
          <a:bodyPr wrap="none" lIns="111624" tIns="55812" rIns="111624" bIns="55812">
            <a:spAutoFit/>
          </a:bodyPr>
          <a:lstStyle/>
          <a:p>
            <a:pPr defTabSz="1219200"/>
            <a:r>
              <a:rPr lang="en-US" sz="2700">
                <a:solidFill>
                  <a:schemeClr val="bg1"/>
                </a:solidFill>
              </a:rPr>
              <a:t>10.1.1.1</a:t>
            </a:r>
            <a:endParaRPr lang="en-AU" sz="2700">
              <a:solidFill>
                <a:schemeClr val="bg1"/>
              </a:solidFill>
            </a:endParaRPr>
          </a:p>
        </p:txBody>
      </p:sp>
      <p:sp>
        <p:nvSpPr>
          <p:cNvPr id="1511438" name="Text Box 14"/>
          <p:cNvSpPr txBox="1">
            <a:spLocks noChangeArrowheads="1"/>
          </p:cNvSpPr>
          <p:nvPr/>
        </p:nvSpPr>
        <p:spPr bwMode="auto">
          <a:xfrm>
            <a:off x="14461374" y="6599279"/>
            <a:ext cx="2840831" cy="943711"/>
          </a:xfrm>
          <a:prstGeom prst="rect">
            <a:avLst/>
          </a:prstGeom>
          <a:noFill/>
          <a:ln w="12700" cap="sq">
            <a:noFill/>
            <a:miter lim="800000"/>
            <a:headEnd/>
            <a:tailEnd/>
          </a:ln>
          <a:effectLst/>
        </p:spPr>
        <p:txBody>
          <a:bodyPr wrap="square" lIns="111624" tIns="55812" rIns="111624" bIns="55812">
            <a:spAutoFit/>
          </a:bodyPr>
          <a:lstStyle/>
          <a:p>
            <a:pPr defTabSz="1219200"/>
            <a:r>
              <a:rPr lang="en-US" sz="2700" dirty="0" err="1">
                <a:latin typeface="Helvetica Neue Medium" panose="02000503000000020004" pitchFamily="2" charset="0"/>
                <a:ea typeface="Helvetica Neue Medium" panose="02000503000000020004" pitchFamily="2" charset="0"/>
                <a:cs typeface="Helvetica Neue Medium" panose="02000503000000020004" pitchFamily="2" charset="0"/>
              </a:rPr>
              <a:t>class.hillvt.com</a:t>
            </a:r>
            <a:endParaRPr lang="en-US" sz="2700" dirty="0">
              <a:latin typeface="Helvetica Neue Medium" panose="02000503000000020004" pitchFamily="2" charset="0"/>
              <a:ea typeface="Helvetica Neue Medium" panose="02000503000000020004" pitchFamily="2" charset="0"/>
              <a:cs typeface="Helvetica Neue Medium" panose="02000503000000020004" pitchFamily="2" charset="0"/>
            </a:endParaRPr>
          </a:p>
          <a:p>
            <a:pPr defTabSz="1219200"/>
            <a:r>
              <a:rPr lang="en-AU" sz="2700" dirty="0">
                <a:latin typeface="Helvetica Neue Medium" panose="02000503000000020004" pitchFamily="2" charset="0"/>
                <a:ea typeface="Helvetica Neue Medium" panose="02000503000000020004" pitchFamily="2" charset="0"/>
                <a:cs typeface="Helvetica Neue Medium" panose="02000503000000020004" pitchFamily="2" charset="0"/>
              </a:rPr>
              <a:t>66.228.126.195</a:t>
            </a:r>
          </a:p>
        </p:txBody>
      </p:sp>
      <p:sp>
        <p:nvSpPr>
          <p:cNvPr id="1511439" name="Rectangle 15"/>
          <p:cNvSpPr>
            <a:spLocks noChangeArrowheads="1"/>
          </p:cNvSpPr>
          <p:nvPr/>
        </p:nvSpPr>
        <p:spPr bwMode="auto">
          <a:xfrm>
            <a:off x="6010562" y="8337100"/>
            <a:ext cx="2253227" cy="1266876"/>
          </a:xfrm>
          <a:prstGeom prst="rect">
            <a:avLst/>
          </a:prstGeom>
          <a:noFill/>
          <a:ln w="12700" cap="sq">
            <a:noFill/>
            <a:miter lim="800000"/>
            <a:headEnd/>
            <a:tailEnd/>
          </a:ln>
          <a:effectLst/>
        </p:spPr>
        <p:txBody>
          <a:bodyPr wrap="none" lIns="111624" tIns="55812" rIns="111624" bIns="55812">
            <a:spAutoFit/>
          </a:bodyPr>
          <a:lstStyle/>
          <a:p>
            <a:pPr defTabSz="1219200">
              <a:spcBef>
                <a:spcPct val="50000"/>
              </a:spcBef>
            </a:pPr>
            <a:r>
              <a:rPr lang="en-US" sz="3000">
                <a:latin typeface="Helvetica Neue Medium" panose="02000503000000020004" pitchFamily="2" charset="0"/>
                <a:ea typeface="Helvetica Neue Medium" panose="02000503000000020004" pitchFamily="2" charset="0"/>
                <a:cs typeface="Helvetica Neue Medium" panose="02000503000000020004" pitchFamily="2" charset="0"/>
              </a:rPr>
              <a:t>192.168.1.1</a:t>
            </a:r>
          </a:p>
          <a:p>
            <a:pPr defTabSz="1219200">
              <a:spcBef>
                <a:spcPct val="50000"/>
              </a:spcBef>
            </a:pPr>
            <a:r>
              <a:rPr lang="en-US" sz="3000">
                <a:latin typeface="Helvetica Neue Medium" panose="02000503000000020004" pitchFamily="2" charset="0"/>
                <a:ea typeface="Helvetica Neue Medium" panose="02000503000000020004" pitchFamily="2" charset="0"/>
                <a:cs typeface="Helvetica Neue Medium" panose="02000503000000020004" pitchFamily="2" charset="0"/>
              </a:rPr>
              <a:t>192.168.1.2</a:t>
            </a:r>
          </a:p>
        </p:txBody>
      </p:sp>
      <p:sp>
        <p:nvSpPr>
          <p:cNvPr id="1511440" name="Text Box 16"/>
          <p:cNvSpPr txBox="1">
            <a:spLocks noChangeArrowheads="1"/>
          </p:cNvSpPr>
          <p:nvPr/>
        </p:nvSpPr>
        <p:spPr bwMode="auto">
          <a:xfrm>
            <a:off x="9470234" y="8705850"/>
            <a:ext cx="2060412" cy="574379"/>
          </a:xfrm>
          <a:prstGeom prst="rect">
            <a:avLst/>
          </a:prstGeom>
          <a:noFill/>
          <a:ln w="12700" cap="sq">
            <a:noFill/>
            <a:miter lim="800000"/>
            <a:headEnd/>
            <a:tailEnd/>
          </a:ln>
          <a:effectLst/>
        </p:spPr>
        <p:txBody>
          <a:bodyPr wrap="square" lIns="111624" tIns="55812" rIns="111624" bIns="55812">
            <a:spAutoFit/>
          </a:bodyPr>
          <a:lstStyle/>
          <a:p>
            <a:pPr defTabSz="1219200">
              <a:spcBef>
                <a:spcPct val="50000"/>
              </a:spcBef>
            </a:pPr>
            <a:r>
              <a:rPr lang="en-US" sz="3000">
                <a:latin typeface="Helvetica Neue Medium" panose="02000503000000020004" pitchFamily="2" charset="0"/>
                <a:ea typeface="Helvetica Neue Medium" panose="02000503000000020004" pitchFamily="2" charset="0"/>
                <a:cs typeface="Helvetica Neue Medium" panose="02000503000000020004" pitchFamily="2" charset="0"/>
              </a:rPr>
              <a:t>200.1.1.1</a:t>
            </a:r>
          </a:p>
        </p:txBody>
      </p:sp>
      <p:sp>
        <p:nvSpPr>
          <p:cNvPr id="1511441" name="AutoShape 17"/>
          <p:cNvSpPr>
            <a:spLocks noChangeArrowheads="1"/>
          </p:cNvSpPr>
          <p:nvPr/>
        </p:nvSpPr>
        <p:spPr bwMode="auto">
          <a:xfrm>
            <a:off x="8241508" y="8779670"/>
            <a:ext cx="1016795" cy="407193"/>
          </a:xfrm>
          <a:prstGeom prst="leftRightArrow">
            <a:avLst>
              <a:gd name="adj1" fmla="val 50000"/>
              <a:gd name="adj2" fmla="val 49942"/>
            </a:avLst>
          </a:prstGeom>
          <a:solidFill>
            <a:schemeClr val="tx1"/>
          </a:solidFill>
          <a:ln w="12700" cap="sq">
            <a:solidFill>
              <a:schemeClr val="tx1"/>
            </a:solidFill>
            <a:miter lim="800000"/>
            <a:headEnd/>
            <a:tailEnd/>
          </a:ln>
          <a:effectLst/>
        </p:spPr>
        <p:txBody>
          <a:bodyPr wrap="none" lIns="125477" tIns="62739" rIns="125477" bIns="62739" anchor="ctr"/>
          <a:lstStyle/>
          <a:p>
            <a:endParaRPr lang="en-US" sz="2700"/>
          </a:p>
        </p:txBody>
      </p:sp>
      <p:pic>
        <p:nvPicPr>
          <p:cNvPr id="1511442" name="Picture 18" descr="Route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7974809" y="7046120"/>
            <a:ext cx="1257300" cy="769143"/>
          </a:xfrm>
          <a:prstGeom prst="rect">
            <a:avLst/>
          </a:prstGeom>
          <a:noFill/>
        </p:spPr>
      </p:pic>
      <p:sp>
        <p:nvSpPr>
          <p:cNvPr id="23" name="Text Box 16"/>
          <p:cNvSpPr txBox="1">
            <a:spLocks noChangeArrowheads="1"/>
          </p:cNvSpPr>
          <p:nvPr/>
        </p:nvSpPr>
        <p:spPr bwMode="auto">
          <a:xfrm>
            <a:off x="8115302" y="7891463"/>
            <a:ext cx="1202532" cy="528212"/>
          </a:xfrm>
          <a:prstGeom prst="rect">
            <a:avLst/>
          </a:prstGeom>
          <a:solidFill>
            <a:schemeClr val="accent1">
              <a:lumMod val="20000"/>
              <a:lumOff val="80000"/>
            </a:schemeClr>
          </a:solidFill>
          <a:ln>
            <a:headEnd/>
            <a:tailEnd/>
          </a:ln>
        </p:spPr>
        <p:style>
          <a:lnRef idx="1">
            <a:schemeClr val="accent1"/>
          </a:lnRef>
          <a:fillRef idx="3">
            <a:schemeClr val="accent1"/>
          </a:fillRef>
          <a:effectRef idx="2">
            <a:schemeClr val="accent1"/>
          </a:effectRef>
          <a:fontRef idx="minor">
            <a:schemeClr val="lt1"/>
          </a:fontRef>
        </p:style>
        <p:txBody>
          <a:bodyPr lIns="111624" tIns="55812" rIns="111624" bIns="55812">
            <a:spAutoFit/>
          </a:bodyPr>
          <a:lstStyle/>
          <a:p>
            <a:pPr algn="ctr" defTabSz="1219200">
              <a:spcBef>
                <a:spcPct val="50000"/>
              </a:spcBef>
              <a:defRPr/>
            </a:pPr>
            <a:r>
              <a:rPr lang="en-US" sz="2700">
                <a:solidFill>
                  <a:srgbClr val="002060"/>
                </a:solidFill>
                <a:latin typeface="Helvetica Neue Medium" panose="02000503000000020004" pitchFamily="2" charset="0"/>
                <a:ea typeface="Helvetica Neue Medium" panose="02000503000000020004" pitchFamily="2" charset="0"/>
                <a:cs typeface="Helvetica Neue Medium" panose="02000503000000020004" pitchFamily="2" charset="0"/>
              </a:rPr>
              <a:t>NAT</a:t>
            </a:r>
          </a:p>
        </p:txBody>
      </p:sp>
      <p:pic>
        <p:nvPicPr>
          <p:cNvPr id="25" name="Picture 24"/>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880730" y="6857999"/>
            <a:ext cx="2561774" cy="1921331"/>
          </a:xfrm>
          <a:prstGeom prst="rect">
            <a:avLst/>
          </a:prstGeom>
        </p:spPr>
      </p:pic>
      <p:pic>
        <p:nvPicPr>
          <p:cNvPr id="27" name="Picture 26"/>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675537" y="7071135"/>
            <a:ext cx="2389848" cy="1792386"/>
          </a:xfrm>
          <a:prstGeom prst="rect">
            <a:avLst/>
          </a:prstGeom>
        </p:spPr>
      </p:pic>
      <p:pic>
        <p:nvPicPr>
          <p:cNvPr id="28" name="Picture 27"/>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290406" y="8392383"/>
            <a:ext cx="2389848" cy="1792386"/>
          </a:xfrm>
          <a:prstGeom prst="rect">
            <a:avLst/>
          </a:prstGeom>
        </p:spPr>
      </p:pic>
    </p:spTree>
    <p:custDataLst>
      <p:tags r:id="rId1"/>
    </p:custDataLst>
    <p:extLst>
      <p:ext uri="{BB962C8B-B14F-4D97-AF65-F5344CB8AC3E}">
        <p14:creationId xmlns:p14="http://schemas.microsoft.com/office/powerpoint/2010/main" val="1223490644"/>
      </p:ext>
    </p:extLst>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3474" name="Rectangle 2"/>
          <p:cNvSpPr>
            <a:spLocks noGrp="1" noChangeArrowheads="1"/>
          </p:cNvSpPr>
          <p:nvPr>
            <p:ph type="title"/>
          </p:nvPr>
        </p:nvSpPr>
        <p:spPr/>
        <p:txBody>
          <a:bodyPr/>
          <a:lstStyle/>
          <a:p>
            <a:r>
              <a:rPr lang="en-US"/>
              <a:t>Static vs. Dynamic IP Address</a:t>
            </a:r>
          </a:p>
        </p:txBody>
      </p:sp>
      <p:sp>
        <p:nvSpPr>
          <p:cNvPr id="1513475" name="Rectangle 3"/>
          <p:cNvSpPr>
            <a:spLocks noGrp="1" noChangeArrowheads="1"/>
          </p:cNvSpPr>
          <p:nvPr>
            <p:ph idx="1"/>
          </p:nvPr>
        </p:nvSpPr>
        <p:spPr>
          <a:xfrm>
            <a:off x="1257300" y="2193131"/>
            <a:ext cx="15773400" cy="7679532"/>
          </a:xfrm>
        </p:spPr>
        <p:txBody>
          <a:bodyPr>
            <a:normAutofit fontScale="85000" lnSpcReduction="20000"/>
          </a:bodyPr>
          <a:lstStyle/>
          <a:p>
            <a:r>
              <a:rPr lang="en-US"/>
              <a:t>An IP address can be assigned to a system statically or dynamically</a:t>
            </a:r>
          </a:p>
          <a:p>
            <a:r>
              <a:rPr lang="en-US"/>
              <a:t>Static assignment is fixed and permanent</a:t>
            </a:r>
          </a:p>
          <a:p>
            <a:pPr lvl="1"/>
            <a:r>
              <a:rPr lang="en-US"/>
              <a:t>Does not change when a system reboots</a:t>
            </a:r>
          </a:p>
          <a:p>
            <a:pPr lvl="1"/>
            <a:r>
              <a:rPr lang="en-US"/>
              <a:t>Ideal for inbound communication</a:t>
            </a:r>
          </a:p>
          <a:p>
            <a:pPr lvl="2"/>
            <a:r>
              <a:rPr lang="en-US"/>
              <a:t>Web servers</a:t>
            </a:r>
          </a:p>
          <a:p>
            <a:pPr lvl="2"/>
            <a:r>
              <a:rPr lang="en-US"/>
              <a:t>Email servers</a:t>
            </a:r>
          </a:p>
          <a:p>
            <a:pPr lvl="2"/>
            <a:r>
              <a:rPr lang="en-US"/>
              <a:t>FTP servers</a:t>
            </a:r>
          </a:p>
          <a:p>
            <a:pPr lvl="2"/>
            <a:r>
              <a:rPr lang="en-US"/>
              <a:t>DNS servers</a:t>
            </a:r>
          </a:p>
          <a:p>
            <a:pPr lvl="2"/>
            <a:r>
              <a:rPr lang="en-US"/>
              <a:t>VPN access appliances</a:t>
            </a:r>
          </a:p>
          <a:p>
            <a:pPr lvl="2"/>
            <a:r>
              <a:rPr lang="en-US"/>
              <a:t>Routers</a:t>
            </a:r>
          </a:p>
          <a:p>
            <a:r>
              <a:rPr lang="en-US"/>
              <a:t>Dynamic assignment means assignment occurs when a system boots</a:t>
            </a:r>
          </a:p>
          <a:p>
            <a:pPr lvl="1"/>
            <a:r>
              <a:rPr lang="en-US"/>
              <a:t>May change over time</a:t>
            </a:r>
          </a:p>
          <a:p>
            <a:pPr lvl="1"/>
            <a:r>
              <a:rPr lang="en-US"/>
              <a:t>Ideal for outbound communication (e.g., Web, email)</a:t>
            </a:r>
          </a:p>
          <a:p>
            <a:pPr lvl="1"/>
            <a:r>
              <a:rPr lang="en-US"/>
              <a:t>Makes it hard for others to find your IP (not linked to DNS)</a:t>
            </a:r>
          </a:p>
          <a:p>
            <a:r>
              <a:rPr lang="en-US"/>
              <a:t>Dynamic Host Configuration Protocol (DHCP) typically used to assign both static and dynamic IP addresses</a:t>
            </a:r>
          </a:p>
        </p:txBody>
      </p:sp>
      <p:sp>
        <p:nvSpPr>
          <p:cNvPr id="4" name="Slide Number Placeholder 3"/>
          <p:cNvSpPr>
            <a:spLocks noGrp="1"/>
          </p:cNvSpPr>
          <p:nvPr>
            <p:ph type="sldNum" sz="quarter" idx="4294967295"/>
          </p:nvPr>
        </p:nvSpPr>
        <p:spPr>
          <a:xfrm>
            <a:off x="0" y="9534525"/>
            <a:ext cx="4114800" cy="547688"/>
          </a:xfrm>
          <a:prstGeom prst="rect">
            <a:avLst/>
          </a:prstGeom>
        </p:spPr>
        <p:txBody>
          <a:bodyPr/>
          <a:lstStyle/>
          <a:p>
            <a:pPr algn="ctr"/>
            <a:fld id="{76E8DCF4-EBDD-4FE1-8465-FD383573D554}" type="slidenum">
              <a:rPr lang="en-US" smtClean="0">
                <a:solidFill>
                  <a:schemeClr val="tx1"/>
                </a:solidFill>
              </a:rPr>
              <a:pPr algn="ctr"/>
              <a:t>105</a:t>
            </a:fld>
            <a:endParaRPr lang="en-US">
              <a:solidFill>
                <a:schemeClr val="tx1"/>
              </a:solidFill>
            </a:endParaRPr>
          </a:p>
        </p:txBody>
      </p:sp>
    </p:spTree>
    <p:custDataLst>
      <p:tags r:id="rId1"/>
    </p:custDataLst>
    <p:extLst>
      <p:ext uri="{BB962C8B-B14F-4D97-AF65-F5344CB8AC3E}">
        <p14:creationId xmlns:p14="http://schemas.microsoft.com/office/powerpoint/2010/main" val="1083989363"/>
      </p:ext>
    </p:extLst>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740E2-8338-8416-367F-D20866403CC6}"/>
              </a:ext>
            </a:extLst>
          </p:cNvPr>
          <p:cNvSpPr>
            <a:spLocks noGrp="1"/>
          </p:cNvSpPr>
          <p:nvPr>
            <p:ph type="title"/>
          </p:nvPr>
        </p:nvSpPr>
        <p:spPr/>
        <p:txBody>
          <a:bodyPr/>
          <a:lstStyle/>
          <a:p>
            <a:r>
              <a:rPr lang="en-US" dirty="0"/>
              <a:t>Dynamic Host Configuration Protocol (DHCP)</a:t>
            </a:r>
          </a:p>
        </p:txBody>
      </p:sp>
      <p:sp>
        <p:nvSpPr>
          <p:cNvPr id="3" name="Content Placeholder 2">
            <a:extLst>
              <a:ext uri="{FF2B5EF4-FFF2-40B4-BE49-F238E27FC236}">
                <a16:creationId xmlns:a16="http://schemas.microsoft.com/office/drawing/2014/main" id="{7EAA0604-DEF7-24B8-CB6F-EFE34240C40F}"/>
              </a:ext>
            </a:extLst>
          </p:cNvPr>
          <p:cNvSpPr>
            <a:spLocks noGrp="1"/>
          </p:cNvSpPr>
          <p:nvPr>
            <p:ph idx="1"/>
          </p:nvPr>
        </p:nvSpPr>
        <p:spPr>
          <a:xfrm>
            <a:off x="1257300" y="2193131"/>
            <a:ext cx="12708082" cy="6967198"/>
          </a:xfrm>
        </p:spPr>
        <p:txBody>
          <a:bodyPr/>
          <a:lstStyle/>
          <a:p>
            <a:r>
              <a:rPr lang="en-US" dirty="0"/>
              <a:t>Is used to give initial configuration to hosts</a:t>
            </a:r>
          </a:p>
          <a:p>
            <a:r>
              <a:rPr lang="en-US" dirty="0"/>
              <a:t>Comes from a router or other central server</a:t>
            </a:r>
          </a:p>
          <a:p>
            <a:r>
              <a:rPr lang="en-US" dirty="0"/>
              <a:t>Supplies:</a:t>
            </a:r>
          </a:p>
          <a:p>
            <a:pPr lvl="1"/>
            <a:r>
              <a:rPr lang="en-US" dirty="0"/>
              <a:t>IP Address, subnet</a:t>
            </a:r>
          </a:p>
          <a:p>
            <a:pPr lvl="1"/>
            <a:r>
              <a:rPr lang="en-US" dirty="0"/>
              <a:t>Nearest router (default gateway)</a:t>
            </a:r>
          </a:p>
          <a:p>
            <a:pPr lvl="1"/>
            <a:r>
              <a:rPr lang="en-US" dirty="0"/>
              <a:t>DNS server address</a:t>
            </a:r>
          </a:p>
          <a:p>
            <a:pPr lvl="1"/>
            <a:r>
              <a:rPr lang="en-US" dirty="0"/>
              <a:t>Sometimes other information</a:t>
            </a:r>
          </a:p>
          <a:p>
            <a:r>
              <a:rPr lang="en-US" dirty="0"/>
              <a:t>Essential to network operation</a:t>
            </a:r>
          </a:p>
          <a:p>
            <a:r>
              <a:rPr lang="en-US" dirty="0"/>
              <a:t>Key part of “automatic” network</a:t>
            </a:r>
            <a:br>
              <a:rPr lang="en-US" dirty="0"/>
            </a:br>
            <a:r>
              <a:rPr lang="en-US" dirty="0"/>
              <a:t>configuration.</a:t>
            </a:r>
          </a:p>
        </p:txBody>
      </p:sp>
      <p:pic>
        <p:nvPicPr>
          <p:cNvPr id="4" name="Picture 40">
            <a:extLst>
              <a:ext uri="{FF2B5EF4-FFF2-40B4-BE49-F238E27FC236}">
                <a16:creationId xmlns:a16="http://schemas.microsoft.com/office/drawing/2014/main" id="{80E5171C-A1EE-1B62-6D93-C0C5A1EC3BD4}"/>
              </a:ext>
            </a:extLst>
          </p:cNvPr>
          <p:cNvPicPr>
            <a:picLocks noChangeAspect="1" noChangeArrowheads="1"/>
          </p:cNvPicPr>
          <p:nvPr/>
        </p:nvPicPr>
        <p:blipFill>
          <a:blip r:embed="rId2" cstate="email">
            <a:extLst>
              <a:ext uri="{28A0092B-C50C-407E-A947-70E740481C1C}">
                <a14:useLocalDpi xmlns:a14="http://schemas.microsoft.com/office/drawing/2010/main"/>
              </a:ext>
            </a:extLst>
          </a:blip>
          <a:stretch>
            <a:fillRect/>
          </a:stretch>
        </p:blipFill>
        <p:spPr bwMode="auto">
          <a:xfrm>
            <a:off x="14090608" y="3935293"/>
            <a:ext cx="1557723" cy="1277892"/>
          </a:xfrm>
          <a:prstGeom prst="rect">
            <a:avLst/>
          </a:prstGeom>
          <a:noFill/>
        </p:spPr>
      </p:pic>
      <p:sp>
        <p:nvSpPr>
          <p:cNvPr id="5" name="Cloud Callout 4">
            <a:extLst>
              <a:ext uri="{FF2B5EF4-FFF2-40B4-BE49-F238E27FC236}">
                <a16:creationId xmlns:a16="http://schemas.microsoft.com/office/drawing/2014/main" id="{183F4B2E-7965-185D-6AF9-6D84CBAE34BA}"/>
              </a:ext>
            </a:extLst>
          </p:cNvPr>
          <p:cNvSpPr/>
          <p:nvPr/>
        </p:nvSpPr>
        <p:spPr>
          <a:xfrm>
            <a:off x="13017594" y="2193131"/>
            <a:ext cx="2150408" cy="1538289"/>
          </a:xfrm>
          <a:prstGeom prst="cloudCallout">
            <a:avLst>
              <a:gd name="adj1" fmla="val 30861"/>
              <a:gd name="adj2" fmla="val 60169"/>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Wait...</a:t>
            </a:r>
          </a:p>
          <a:p>
            <a:pPr algn="ctr"/>
            <a:r>
              <a:rPr lang="en-US" dirty="0">
                <a:solidFill>
                  <a:sysClr val="windowText" lastClr="000000"/>
                </a:solidFill>
              </a:rPr>
              <a:t>Where am I?</a:t>
            </a:r>
          </a:p>
        </p:txBody>
      </p:sp>
      <p:sp>
        <p:nvSpPr>
          <p:cNvPr id="6" name="Oval Callout 5">
            <a:extLst>
              <a:ext uri="{FF2B5EF4-FFF2-40B4-BE49-F238E27FC236}">
                <a16:creationId xmlns:a16="http://schemas.microsoft.com/office/drawing/2014/main" id="{81185138-F3EB-D6E6-28A7-D9833757F3BA}"/>
              </a:ext>
            </a:extLst>
          </p:cNvPr>
          <p:cNvSpPr/>
          <p:nvPr/>
        </p:nvSpPr>
        <p:spPr>
          <a:xfrm>
            <a:off x="15648331" y="4907586"/>
            <a:ext cx="1557723" cy="1538288"/>
          </a:xfrm>
          <a:prstGeom prst="wedgeEllipseCallout">
            <a:avLst>
              <a:gd name="adj1" fmla="val -49608"/>
              <a:gd name="adj2" fmla="val -71537"/>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Help me wake up!</a:t>
            </a:r>
          </a:p>
        </p:txBody>
      </p:sp>
      <p:sp>
        <p:nvSpPr>
          <p:cNvPr id="8" name="Rectangular Callout 7">
            <a:extLst>
              <a:ext uri="{FF2B5EF4-FFF2-40B4-BE49-F238E27FC236}">
                <a16:creationId xmlns:a16="http://schemas.microsoft.com/office/drawing/2014/main" id="{7B8643E9-6A10-6C1F-F4A5-DBBE4FB0E544}"/>
              </a:ext>
            </a:extLst>
          </p:cNvPr>
          <p:cNvSpPr/>
          <p:nvPr/>
        </p:nvSpPr>
        <p:spPr>
          <a:xfrm>
            <a:off x="10995402" y="6445874"/>
            <a:ext cx="2762759" cy="2034738"/>
          </a:xfrm>
          <a:prstGeom prst="wedgeRectCallout">
            <a:avLst>
              <a:gd name="adj1" fmla="val 59639"/>
              <a:gd name="adj2" fmla="val 7659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Your IP Address is 123.45.67.111</a:t>
            </a:r>
          </a:p>
          <a:p>
            <a:pPr algn="ctr"/>
            <a:r>
              <a:rPr lang="en-US" dirty="0"/>
              <a:t>Your nearest router is 123.45.67.1</a:t>
            </a:r>
          </a:p>
          <a:p>
            <a:pPr algn="ctr"/>
            <a:r>
              <a:rPr lang="en-US" dirty="0"/>
              <a:t>Your DNS server is</a:t>
            </a:r>
          </a:p>
          <a:p>
            <a:pPr algn="ctr"/>
            <a:r>
              <a:rPr lang="en-US" dirty="0"/>
              <a:t>123.45.67.10</a:t>
            </a:r>
          </a:p>
        </p:txBody>
      </p:sp>
      <p:pic>
        <p:nvPicPr>
          <p:cNvPr id="9" name="Picture 8">
            <a:extLst>
              <a:ext uri="{FF2B5EF4-FFF2-40B4-BE49-F238E27FC236}">
                <a16:creationId xmlns:a16="http://schemas.microsoft.com/office/drawing/2014/main" id="{CD2604D2-9984-AB63-7891-3A0F0D5B1FD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906045" y="8587613"/>
            <a:ext cx="1261957" cy="1553177"/>
          </a:xfrm>
          <a:prstGeom prst="rect">
            <a:avLst/>
          </a:prstGeom>
        </p:spPr>
      </p:pic>
      <p:pic>
        <p:nvPicPr>
          <p:cNvPr id="10" name="Picture 9" descr="Diagram&#10;&#10;Description automatically generated">
            <a:extLst>
              <a:ext uri="{FF2B5EF4-FFF2-40B4-BE49-F238E27FC236}">
                <a16:creationId xmlns:a16="http://schemas.microsoft.com/office/drawing/2014/main" id="{2E5F1946-9893-CB0F-DB01-9DFD6484F8F6}"/>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15517053" y="7545313"/>
            <a:ext cx="1456627" cy="439867"/>
          </a:xfrm>
          <a:prstGeom prst="rect">
            <a:avLst/>
          </a:prstGeom>
        </p:spPr>
      </p:pic>
      <p:cxnSp>
        <p:nvCxnSpPr>
          <p:cNvPr id="11" name="Straight Connector 10">
            <a:extLst>
              <a:ext uri="{FF2B5EF4-FFF2-40B4-BE49-F238E27FC236}">
                <a16:creationId xmlns:a16="http://schemas.microsoft.com/office/drawing/2014/main" id="{2228EBF1-D617-E96C-04AE-0E461CC4857B}"/>
              </a:ext>
            </a:extLst>
          </p:cNvPr>
          <p:cNvCxnSpPr>
            <a:cxnSpLocks/>
          </p:cNvCxnSpPr>
          <p:nvPr/>
        </p:nvCxnSpPr>
        <p:spPr>
          <a:xfrm flipH="1" flipV="1">
            <a:off x="15095147" y="4961513"/>
            <a:ext cx="541216" cy="2687003"/>
          </a:xfrm>
          <a:prstGeom prst="line">
            <a:avLst/>
          </a:prstGeom>
          <a:ln w="76200" cap="sq"/>
        </p:spPr>
        <p:style>
          <a:lnRef idx="1">
            <a:schemeClr val="accent1"/>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93B0D0A2-5F05-77B0-2468-6549582B04CA}"/>
              </a:ext>
            </a:extLst>
          </p:cNvPr>
          <p:cNvCxnSpPr>
            <a:cxnSpLocks/>
          </p:cNvCxnSpPr>
          <p:nvPr/>
        </p:nvCxnSpPr>
        <p:spPr>
          <a:xfrm flipV="1">
            <a:off x="14690757" y="7786164"/>
            <a:ext cx="957574" cy="891468"/>
          </a:xfrm>
          <a:prstGeom prst="line">
            <a:avLst/>
          </a:prstGeom>
          <a:ln w="76200" cap="sq"/>
        </p:spPr>
        <p:style>
          <a:lnRef idx="1">
            <a:schemeClr val="accent1"/>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398442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checkerboard(across)">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690F9-1F42-8934-1882-B347A44014C9}"/>
              </a:ext>
            </a:extLst>
          </p:cNvPr>
          <p:cNvSpPr>
            <a:spLocks noGrp="1"/>
          </p:cNvSpPr>
          <p:nvPr>
            <p:ph type="title"/>
          </p:nvPr>
        </p:nvSpPr>
        <p:spPr/>
        <p:txBody>
          <a:bodyPr/>
          <a:lstStyle/>
          <a:p>
            <a:r>
              <a:rPr lang="en-US"/>
              <a:t>IP Address Allocation</a:t>
            </a:r>
          </a:p>
        </p:txBody>
      </p:sp>
      <p:sp>
        <p:nvSpPr>
          <p:cNvPr id="3" name="Content Placeholder 2">
            <a:extLst>
              <a:ext uri="{FF2B5EF4-FFF2-40B4-BE49-F238E27FC236}">
                <a16:creationId xmlns:a16="http://schemas.microsoft.com/office/drawing/2014/main" id="{0DF889FA-C553-02DB-04DB-BF929B64CFBE}"/>
              </a:ext>
            </a:extLst>
          </p:cNvPr>
          <p:cNvSpPr>
            <a:spLocks noGrp="1"/>
          </p:cNvSpPr>
          <p:nvPr>
            <p:ph idx="1"/>
          </p:nvPr>
        </p:nvSpPr>
        <p:spPr>
          <a:xfrm>
            <a:off x="1257300" y="2193131"/>
            <a:ext cx="15773400" cy="4623305"/>
          </a:xfrm>
        </p:spPr>
        <p:txBody>
          <a:bodyPr>
            <a:normAutofit fontScale="92500" lnSpcReduction="10000"/>
          </a:bodyPr>
          <a:lstStyle/>
          <a:p>
            <a:r>
              <a:rPr lang="en-US"/>
              <a:t>Public addresses are managed by the Internet Assigned Number Authority (IANA) </a:t>
            </a:r>
          </a:p>
          <a:p>
            <a:pPr lvl="1"/>
            <a:r>
              <a:rPr lang="en-US"/>
              <a:t>Addresses allocated by geographic region</a:t>
            </a:r>
          </a:p>
          <a:p>
            <a:pPr lvl="1"/>
            <a:r>
              <a:rPr lang="en-US"/>
              <a:t>Regional Registries assign to Internet Service Providers (ISP) and large businesses</a:t>
            </a:r>
          </a:p>
          <a:p>
            <a:r>
              <a:rPr lang="en-US"/>
              <a:t>Private IP blocks allow businesses to allocate addresses internally without regard to the public addresses</a:t>
            </a:r>
          </a:p>
          <a:p>
            <a:pPr lvl="1"/>
            <a:r>
              <a:rPr lang="en-US"/>
              <a:t>Network Address Translation (NAT) at the edge converts from private addresses to public addresses</a:t>
            </a:r>
          </a:p>
          <a:p>
            <a:endParaRPr lang="en-US"/>
          </a:p>
        </p:txBody>
      </p:sp>
      <p:pic>
        <p:nvPicPr>
          <p:cNvPr id="4" name="Picture 3">
            <a:extLst>
              <a:ext uri="{FF2B5EF4-FFF2-40B4-BE49-F238E27FC236}">
                <a16:creationId xmlns:a16="http://schemas.microsoft.com/office/drawing/2014/main" id="{36816F80-A6D4-B08E-FC87-D34695914C02}"/>
              </a:ext>
            </a:extLst>
          </p:cNvPr>
          <p:cNvPicPr>
            <a:picLocks noChangeAspect="1"/>
          </p:cNvPicPr>
          <p:nvPr/>
        </p:nvPicPr>
        <p:blipFill>
          <a:blip r:embed="rId3"/>
          <a:stretch>
            <a:fillRect/>
          </a:stretch>
        </p:blipFill>
        <p:spPr>
          <a:xfrm>
            <a:off x="5656006" y="6816436"/>
            <a:ext cx="6975987" cy="3433260"/>
          </a:xfrm>
          <a:prstGeom prst="rect">
            <a:avLst/>
          </a:prstGeom>
        </p:spPr>
      </p:pic>
    </p:spTree>
    <p:extLst>
      <p:ext uri="{BB962C8B-B14F-4D97-AF65-F5344CB8AC3E}">
        <p14:creationId xmlns:p14="http://schemas.microsoft.com/office/powerpoint/2010/main" val="230266600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5954" name="Rectangle 2"/>
          <p:cNvSpPr>
            <a:spLocks noGrp="1" noChangeArrowheads="1"/>
          </p:cNvSpPr>
          <p:nvPr>
            <p:ph type="title"/>
          </p:nvPr>
        </p:nvSpPr>
        <p:spPr/>
        <p:txBody>
          <a:bodyPr/>
          <a:lstStyle/>
          <a:p>
            <a:r>
              <a:rPr lang="en-US" dirty="0"/>
              <a:t>IPv6: What, Where, When, How?</a:t>
            </a:r>
          </a:p>
        </p:txBody>
      </p:sp>
      <p:sp>
        <p:nvSpPr>
          <p:cNvPr id="3965955" name="Rectangle 3"/>
          <p:cNvSpPr>
            <a:spLocks noGrp="1" noChangeArrowheads="1"/>
          </p:cNvSpPr>
          <p:nvPr>
            <p:ph idx="1"/>
          </p:nvPr>
        </p:nvSpPr>
        <p:spPr/>
        <p:txBody>
          <a:bodyPr>
            <a:normAutofit/>
          </a:bodyPr>
          <a:lstStyle/>
          <a:p>
            <a:pPr>
              <a:lnSpc>
                <a:spcPct val="90000"/>
              </a:lnSpc>
            </a:pPr>
            <a:r>
              <a:rPr lang="en-US" dirty="0"/>
              <a:t>The next generation of IP motivated by the anticipated exhaustions of IP addresses</a:t>
            </a:r>
          </a:p>
          <a:p>
            <a:pPr>
              <a:lnSpc>
                <a:spcPct val="90000"/>
              </a:lnSpc>
            </a:pPr>
            <a:r>
              <a:rPr lang="en-US" dirty="0"/>
              <a:t>Developed in the 1990s</a:t>
            </a:r>
          </a:p>
          <a:p>
            <a:pPr>
              <a:lnSpc>
                <a:spcPct val="90000"/>
              </a:lnSpc>
            </a:pPr>
            <a:r>
              <a:rPr lang="en-US" dirty="0"/>
              <a:t>New packet header structure</a:t>
            </a:r>
          </a:p>
          <a:p>
            <a:pPr>
              <a:lnSpc>
                <a:spcPct val="90000"/>
              </a:lnSpc>
            </a:pPr>
            <a:r>
              <a:rPr lang="en-US" dirty="0"/>
              <a:t>Expanded address range, 128 bits!</a:t>
            </a:r>
          </a:p>
          <a:p>
            <a:pPr>
              <a:lnSpc>
                <a:spcPct val="90000"/>
              </a:lnSpc>
            </a:pPr>
            <a:r>
              <a:rPr lang="en-US" dirty="0"/>
              <a:t>Improved security?</a:t>
            </a:r>
          </a:p>
          <a:p>
            <a:pPr>
              <a:lnSpc>
                <a:spcPct val="90000"/>
              </a:lnSpc>
            </a:pPr>
            <a:r>
              <a:rPr lang="en-US" dirty="0"/>
              <a:t>Flow definition</a:t>
            </a:r>
          </a:p>
          <a:p>
            <a:pPr>
              <a:lnSpc>
                <a:spcPct val="90000"/>
              </a:lnSpc>
            </a:pPr>
            <a:r>
              <a:rPr lang="en-US" dirty="0"/>
              <a:t>Auto configuration built-in</a:t>
            </a:r>
          </a:p>
          <a:p>
            <a:pPr>
              <a:lnSpc>
                <a:spcPct val="90000"/>
              </a:lnSpc>
            </a:pPr>
            <a:r>
              <a:rPr lang="en-US" dirty="0"/>
              <a:t>Anycast</a:t>
            </a:r>
          </a:p>
        </p:txBody>
      </p:sp>
      <p:sp>
        <p:nvSpPr>
          <p:cNvPr id="6" name="Slide Number Placeholder 5"/>
          <p:cNvSpPr>
            <a:spLocks noGrp="1"/>
          </p:cNvSpPr>
          <p:nvPr>
            <p:ph type="sldNum" sz="quarter" idx="10"/>
          </p:nvPr>
        </p:nvSpPr>
        <p:spPr>
          <a:prstGeom prst="rect">
            <a:avLst/>
          </a:prstGeom>
        </p:spPr>
        <p:txBody>
          <a:bodyPr/>
          <a:lstStyle/>
          <a:p>
            <a:fld id="{76E8DCF4-EBDD-4FE1-8465-FD383573D554}" type="slidenum">
              <a:rPr lang="en-US" smtClean="0">
                <a:solidFill>
                  <a:schemeClr val="tx1"/>
                </a:solidFill>
              </a:rPr>
              <a:pPr/>
              <a:t>108</a:t>
            </a:fld>
            <a:endParaRPr lang="en-US">
              <a:solidFill>
                <a:schemeClr val="tx1"/>
              </a:solidFill>
            </a:endParaRPr>
          </a:p>
        </p:txBody>
      </p:sp>
      <p:sp>
        <p:nvSpPr>
          <p:cNvPr id="3965956" name="Text Box 4"/>
          <p:cNvSpPr txBox="1">
            <a:spLocks noChangeArrowheads="1"/>
          </p:cNvSpPr>
          <p:nvPr/>
        </p:nvSpPr>
        <p:spPr bwMode="auto">
          <a:xfrm>
            <a:off x="3143250" y="9115897"/>
            <a:ext cx="9772652" cy="692473"/>
          </a:xfrm>
          <a:prstGeom prst="rect">
            <a:avLst/>
          </a:prstGeom>
          <a:solidFill>
            <a:schemeClr val="accent1">
              <a:lumMod val="20000"/>
              <a:lumOff val="80000"/>
            </a:schemeClr>
          </a:solidFill>
          <a:ln w="12700">
            <a:solidFill>
              <a:schemeClr val="tx1"/>
            </a:solidFill>
            <a:headEnd/>
            <a:tailEnd/>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square" lIns="137136" tIns="68568" rIns="137136" bIns="68568">
            <a:spAutoFit/>
          </a:bodyPr>
          <a:lstStyle/>
          <a:p>
            <a:pPr algn="ctr" defTabSz="1369220"/>
            <a:r>
              <a:rPr lang="en-US" sz="3600" dirty="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rPr>
              <a:t>Significant effort required to fully migrate</a:t>
            </a:r>
          </a:p>
        </p:txBody>
      </p:sp>
      <p:pic>
        <p:nvPicPr>
          <p:cNvPr id="3965957" name="Picture 5"/>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3941903" y="4807339"/>
            <a:ext cx="3486150" cy="4886325"/>
          </a:xfrm>
          <a:prstGeom prst="roundRect">
            <a:avLst>
              <a:gd name="adj" fmla="val 5360"/>
            </a:avLst>
          </a:prstGeom>
          <a:solidFill>
            <a:srgbClr val="FFFFFF">
              <a:shade val="85000"/>
            </a:srgbClr>
          </a:solidFill>
          <a:ln>
            <a:noFill/>
          </a:ln>
          <a:effectLst/>
        </p:spPr>
      </p:pic>
    </p:spTree>
    <p:custDataLst>
      <p:tags r:id="rId1"/>
    </p:custDataLst>
    <p:extLst>
      <p:ext uri="{BB962C8B-B14F-4D97-AF65-F5344CB8AC3E}">
        <p14:creationId xmlns:p14="http://schemas.microsoft.com/office/powerpoint/2010/main" val="301366999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Chapter 14: </a:t>
            </a:r>
            <a:r>
              <a:rPr lang="en-US" dirty="0"/>
              <a:t>IP </a:t>
            </a:r>
            <a:r>
              <a:rPr dirty="0"/>
              <a:t>Routing</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5954" name="Rectangle 2"/>
          <p:cNvSpPr>
            <a:spLocks noGrp="1" noChangeArrowheads="1"/>
          </p:cNvSpPr>
          <p:nvPr>
            <p:ph type="title"/>
          </p:nvPr>
        </p:nvSpPr>
        <p:spPr/>
        <p:txBody>
          <a:bodyPr/>
          <a:lstStyle/>
          <a:p>
            <a:r>
              <a:rPr lang="en-US"/>
              <a:t>Routing and Forwarding</a:t>
            </a:r>
          </a:p>
        </p:txBody>
      </p:sp>
      <p:sp>
        <p:nvSpPr>
          <p:cNvPr id="3965955" name="Rectangle 3"/>
          <p:cNvSpPr>
            <a:spLocks noGrp="1" noChangeArrowheads="1"/>
          </p:cNvSpPr>
          <p:nvPr>
            <p:ph idx="1"/>
          </p:nvPr>
        </p:nvSpPr>
        <p:spPr>
          <a:xfrm>
            <a:off x="1257299" y="2193131"/>
            <a:ext cx="13319173" cy="6967198"/>
          </a:xfrm>
        </p:spPr>
        <p:txBody>
          <a:bodyPr>
            <a:normAutofit/>
          </a:bodyPr>
          <a:lstStyle/>
          <a:p>
            <a:r>
              <a:rPr lang="en-US" dirty="0"/>
              <a:t>These are what routers do to make the internet work.</a:t>
            </a:r>
          </a:p>
          <a:p>
            <a:pPr lvl="1"/>
            <a:r>
              <a:rPr lang="en-US" dirty="0">
                <a:solidFill>
                  <a:srgbClr val="FF0000"/>
                </a:solidFill>
              </a:rPr>
              <a:t>Forwarding</a:t>
            </a:r>
            <a:r>
              <a:rPr lang="en-US" dirty="0"/>
              <a:t> packets from the source to the destination.</a:t>
            </a:r>
          </a:p>
          <a:p>
            <a:pPr lvl="1"/>
            <a:r>
              <a:rPr lang="en-US" dirty="0"/>
              <a:t>Building tables of destination networks and the neighbors who can get them one “hop” closer to them. This is called </a:t>
            </a:r>
            <a:r>
              <a:rPr lang="en-US" dirty="0">
                <a:solidFill>
                  <a:srgbClr val="FF0000"/>
                </a:solidFill>
              </a:rPr>
              <a:t>Routing</a:t>
            </a:r>
            <a:r>
              <a:rPr lang="en-US" dirty="0"/>
              <a:t>.</a:t>
            </a:r>
          </a:p>
          <a:p>
            <a:r>
              <a:rPr lang="en-US" dirty="0"/>
              <a:t>Annoyingly, </a:t>
            </a:r>
            <a:r>
              <a:rPr lang="en-US" dirty="0">
                <a:solidFill>
                  <a:srgbClr val="FF0000"/>
                </a:solidFill>
              </a:rPr>
              <a:t>forwarding</a:t>
            </a:r>
            <a:r>
              <a:rPr lang="en-US" dirty="0"/>
              <a:t> is based on the </a:t>
            </a:r>
            <a:r>
              <a:rPr lang="en-US" dirty="0">
                <a:solidFill>
                  <a:srgbClr val="FF0000"/>
                </a:solidFill>
              </a:rPr>
              <a:t>routing table</a:t>
            </a:r>
          </a:p>
          <a:p>
            <a:r>
              <a:rPr lang="en-US" dirty="0"/>
              <a:t>Routing information is shared between routers using routing protocols</a:t>
            </a:r>
          </a:p>
          <a:p>
            <a:pPr lvl="1"/>
            <a:r>
              <a:rPr lang="en-US" dirty="0"/>
              <a:t>Routers can contain rules that determine behavior</a:t>
            </a:r>
          </a:p>
          <a:p>
            <a:endParaRPr lang="en-US" dirty="0"/>
          </a:p>
          <a:p>
            <a:endParaRPr lang="en-US" dirty="0"/>
          </a:p>
          <a:p>
            <a:endParaRPr lang="en-US" dirty="0"/>
          </a:p>
          <a:p>
            <a:endParaRPr lang="en-US" dirty="0"/>
          </a:p>
        </p:txBody>
      </p:sp>
      <p:sp>
        <p:nvSpPr>
          <p:cNvPr id="5" name="Slide Number Placeholder 4"/>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110</a:t>
            </a:fld>
            <a:endParaRPr lang="en-US">
              <a:solidFill>
                <a:schemeClr val="tx1">
                  <a:lumMod val="50000"/>
                  <a:lumOff val="50000"/>
                </a:schemeClr>
              </a:solidFill>
            </a:endParaRPr>
          </a:p>
        </p:txBody>
      </p:sp>
      <p:pic>
        <p:nvPicPr>
          <p:cNvPr id="2" name="Picture 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4576473" y="6124011"/>
            <a:ext cx="3562731" cy="4313234"/>
          </a:xfrm>
          <a:prstGeom prst="rect">
            <a:avLst/>
          </a:prstGeom>
        </p:spPr>
      </p:pic>
    </p:spTree>
    <p:custDataLst>
      <p:tags r:id="rId1"/>
    </p:custDataLst>
    <p:extLst>
      <p:ext uri="{BB962C8B-B14F-4D97-AF65-F5344CB8AC3E}">
        <p14:creationId xmlns:p14="http://schemas.microsoft.com/office/powerpoint/2010/main" val="5095925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6322220" y="5193507"/>
            <a:ext cx="7989092" cy="4636293"/>
            <a:chOff x="1695" y="2233"/>
            <a:chExt cx="3355" cy="1947"/>
          </a:xfrm>
        </p:grpSpPr>
        <p:sp>
          <p:nvSpPr>
            <p:cNvPr id="3892227" name="Line 3"/>
            <p:cNvSpPr>
              <a:spLocks noChangeShapeType="1"/>
            </p:cNvSpPr>
            <p:nvPr/>
          </p:nvSpPr>
          <p:spPr bwMode="auto">
            <a:xfrm>
              <a:off x="1695" y="3708"/>
              <a:ext cx="702" cy="0"/>
            </a:xfrm>
            <a:prstGeom prst="line">
              <a:avLst/>
            </a:prstGeom>
            <a:noFill/>
            <a:ln w="28575">
              <a:solidFill>
                <a:schemeClr val="tx1"/>
              </a:solidFill>
              <a:round/>
              <a:headEnd/>
              <a:tailEnd/>
            </a:ln>
            <a:effectLst/>
          </p:spPr>
          <p:txBody>
            <a:bodyPr wrap="none" anchor="ctr"/>
            <a:lstStyle/>
            <a:p>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3892228" name="Line 4"/>
            <p:cNvSpPr>
              <a:spLocks noChangeShapeType="1"/>
            </p:cNvSpPr>
            <p:nvPr/>
          </p:nvSpPr>
          <p:spPr bwMode="auto">
            <a:xfrm>
              <a:off x="2396" y="3636"/>
              <a:ext cx="702" cy="0"/>
            </a:xfrm>
            <a:prstGeom prst="line">
              <a:avLst/>
            </a:prstGeom>
            <a:noFill/>
            <a:ln w="28575">
              <a:solidFill>
                <a:schemeClr val="tx1"/>
              </a:solidFill>
              <a:round/>
              <a:headEnd/>
              <a:tailEnd/>
            </a:ln>
            <a:effectLst/>
          </p:spPr>
          <p:txBody>
            <a:bodyPr wrap="none" anchor="ctr"/>
            <a:lstStyle/>
            <a:p>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3892229" name="Line 5"/>
            <p:cNvSpPr>
              <a:spLocks noChangeShapeType="1"/>
            </p:cNvSpPr>
            <p:nvPr/>
          </p:nvSpPr>
          <p:spPr bwMode="auto">
            <a:xfrm>
              <a:off x="2493" y="2595"/>
              <a:ext cx="702" cy="0"/>
            </a:xfrm>
            <a:prstGeom prst="line">
              <a:avLst/>
            </a:prstGeom>
            <a:noFill/>
            <a:ln w="28575">
              <a:solidFill>
                <a:schemeClr val="tx1"/>
              </a:solidFill>
              <a:round/>
              <a:headEnd/>
              <a:tailEnd/>
            </a:ln>
            <a:effectLst/>
          </p:spPr>
          <p:txBody>
            <a:bodyPr wrap="none" anchor="ctr"/>
            <a:lstStyle/>
            <a:p>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3892230" name="Cloud"/>
            <p:cNvSpPr>
              <a:spLocks noChangeAspect="1" noEditPoints="1" noChangeArrowheads="1"/>
            </p:cNvSpPr>
            <p:nvPr/>
          </p:nvSpPr>
          <p:spPr bwMode="auto">
            <a:xfrm rot="17040710">
              <a:off x="1768" y="2740"/>
              <a:ext cx="1317" cy="883"/>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outerShdw blurRad="50800" dist="38100" dir="2700000" algn="tl" rotWithShape="0">
                <a:prstClr val="black">
                  <a:alpha val="40000"/>
                </a:prstClr>
              </a:outerShdw>
            </a:effectLst>
          </p:spPr>
          <p:txBody>
            <a:bodyPr vert="eaVert" lIns="0" tIns="0" rIns="0" bIns="0" anchor="ctr" anchorCtr="1"/>
            <a:lstStyle/>
            <a:p>
              <a:pPr eaLnBrk="0" hangingPunct="0"/>
              <a:endParaRPr lang="en-US" sz="30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3892231" name="Line 7"/>
            <p:cNvSpPr>
              <a:spLocks noChangeShapeType="1"/>
            </p:cNvSpPr>
            <p:nvPr/>
          </p:nvSpPr>
          <p:spPr bwMode="auto">
            <a:xfrm>
              <a:off x="3314" y="2571"/>
              <a:ext cx="702" cy="0"/>
            </a:xfrm>
            <a:prstGeom prst="line">
              <a:avLst/>
            </a:prstGeom>
            <a:noFill/>
            <a:ln w="28575">
              <a:solidFill>
                <a:schemeClr val="tx1"/>
              </a:solidFill>
              <a:round/>
              <a:headEnd/>
              <a:tailEnd/>
            </a:ln>
            <a:effectLst/>
          </p:spPr>
          <p:txBody>
            <a:bodyPr wrap="none" anchor="ctr"/>
            <a:lstStyle/>
            <a:p>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grpSp>
          <p:nvGrpSpPr>
            <p:cNvPr id="3" name="Group 8"/>
            <p:cNvGrpSpPr>
              <a:grpSpLocks/>
            </p:cNvGrpSpPr>
            <p:nvPr/>
          </p:nvGrpSpPr>
          <p:grpSpPr bwMode="auto">
            <a:xfrm>
              <a:off x="2862" y="2369"/>
              <a:ext cx="673" cy="620"/>
              <a:chOff x="4861" y="2475"/>
              <a:chExt cx="673" cy="620"/>
            </a:xfrm>
          </p:grpSpPr>
          <p:sp>
            <p:nvSpPr>
              <p:cNvPr id="3892233" name="Text Box 9"/>
              <p:cNvSpPr txBox="1">
                <a:spLocks noChangeArrowheads="1"/>
              </p:cNvSpPr>
              <p:nvPr/>
            </p:nvSpPr>
            <p:spPr bwMode="auto">
              <a:xfrm>
                <a:off x="4883" y="2882"/>
                <a:ext cx="651" cy="213"/>
              </a:xfrm>
              <a:prstGeom prst="rect">
                <a:avLst/>
              </a:prstGeom>
              <a:noFill/>
              <a:ln w="28575" algn="ctr">
                <a:noFill/>
                <a:miter lim="800000"/>
                <a:headEnd/>
                <a:tailEnd/>
              </a:ln>
              <a:effectLst/>
            </p:spPr>
            <p:txBody>
              <a:bodyPr wrap="none">
                <a:spAutoFit/>
              </a:bodyPr>
              <a:lstStyle/>
              <a:p>
                <a:pPr eaLnBrk="0" hangingPunct="0"/>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Router 1</a:t>
                </a:r>
              </a:p>
            </p:txBody>
          </p:sp>
          <p:pic>
            <p:nvPicPr>
              <p:cNvPr id="3892234" name="Picture 10" descr="Route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861" y="2475"/>
                <a:ext cx="640" cy="391"/>
              </a:xfrm>
              <a:prstGeom prst="rect">
                <a:avLst/>
              </a:prstGeom>
              <a:noFill/>
            </p:spPr>
          </p:pic>
        </p:grpSp>
        <p:sp>
          <p:nvSpPr>
            <p:cNvPr id="3892235" name="Cloud"/>
            <p:cNvSpPr>
              <a:spLocks noChangeAspect="1" noEditPoints="1" noChangeArrowheads="1"/>
            </p:cNvSpPr>
            <p:nvPr/>
          </p:nvSpPr>
          <p:spPr bwMode="auto">
            <a:xfrm>
              <a:off x="3733" y="2233"/>
              <a:ext cx="1317" cy="883"/>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outerShdw blurRad="50800" dist="38100" dir="2700000" algn="tl" rotWithShape="0">
                <a:prstClr val="black">
                  <a:alpha val="40000"/>
                </a:prstClr>
              </a:outerShdw>
            </a:effectLst>
          </p:spPr>
          <p:txBody>
            <a:bodyPr lIns="0" tIns="0" rIns="0" bIns="0" anchor="ctr" anchorCtr="1"/>
            <a:lstStyle/>
            <a:p>
              <a:pPr eaLnBrk="0" hangingPunct="0"/>
              <a:endParaRPr lang="en-US" sz="30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3892236" name="Line 12"/>
            <p:cNvSpPr>
              <a:spLocks noChangeShapeType="1"/>
            </p:cNvSpPr>
            <p:nvPr/>
          </p:nvSpPr>
          <p:spPr bwMode="auto">
            <a:xfrm>
              <a:off x="3362" y="3648"/>
              <a:ext cx="702" cy="0"/>
            </a:xfrm>
            <a:prstGeom prst="line">
              <a:avLst/>
            </a:prstGeom>
            <a:noFill/>
            <a:ln w="28575">
              <a:solidFill>
                <a:schemeClr val="tx1"/>
              </a:solidFill>
              <a:round/>
              <a:headEnd/>
              <a:tailEnd/>
            </a:ln>
            <a:effectLst/>
          </p:spPr>
          <p:txBody>
            <a:bodyPr wrap="none" anchor="ctr"/>
            <a:lstStyle/>
            <a:p>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grpSp>
          <p:nvGrpSpPr>
            <p:cNvPr id="4" name="Group 13"/>
            <p:cNvGrpSpPr>
              <a:grpSpLocks/>
            </p:cNvGrpSpPr>
            <p:nvPr/>
          </p:nvGrpSpPr>
          <p:grpSpPr bwMode="auto">
            <a:xfrm>
              <a:off x="2862" y="3432"/>
              <a:ext cx="673" cy="620"/>
              <a:chOff x="4861" y="2475"/>
              <a:chExt cx="673" cy="620"/>
            </a:xfrm>
          </p:grpSpPr>
          <p:sp>
            <p:nvSpPr>
              <p:cNvPr id="3892238" name="Text Box 14"/>
              <p:cNvSpPr txBox="1">
                <a:spLocks noChangeArrowheads="1"/>
              </p:cNvSpPr>
              <p:nvPr/>
            </p:nvSpPr>
            <p:spPr bwMode="auto">
              <a:xfrm>
                <a:off x="4883" y="2882"/>
                <a:ext cx="651" cy="213"/>
              </a:xfrm>
              <a:prstGeom prst="rect">
                <a:avLst/>
              </a:prstGeom>
              <a:noFill/>
              <a:ln w="28575" algn="ctr">
                <a:noFill/>
                <a:miter lim="800000"/>
                <a:headEnd/>
                <a:tailEnd/>
              </a:ln>
              <a:effectLst/>
            </p:spPr>
            <p:txBody>
              <a:bodyPr wrap="none">
                <a:spAutoFit/>
              </a:bodyPr>
              <a:lstStyle/>
              <a:p>
                <a:pPr eaLnBrk="0" hangingPunct="0"/>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Router 2</a:t>
                </a:r>
              </a:p>
            </p:txBody>
          </p:sp>
          <p:pic>
            <p:nvPicPr>
              <p:cNvPr id="3892239" name="Picture 15" descr="Route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861" y="2475"/>
                <a:ext cx="640" cy="391"/>
              </a:xfrm>
              <a:prstGeom prst="rect">
                <a:avLst/>
              </a:prstGeom>
              <a:noFill/>
            </p:spPr>
          </p:pic>
        </p:grpSp>
        <p:sp>
          <p:nvSpPr>
            <p:cNvPr id="3892240" name="Cloud"/>
            <p:cNvSpPr>
              <a:spLocks noChangeAspect="1" noEditPoints="1" noChangeArrowheads="1"/>
            </p:cNvSpPr>
            <p:nvPr/>
          </p:nvSpPr>
          <p:spPr bwMode="auto">
            <a:xfrm>
              <a:off x="3733" y="3297"/>
              <a:ext cx="1317" cy="883"/>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outerShdw blurRad="50800" dist="38100" dir="2700000" algn="tl" rotWithShape="0">
                <a:prstClr val="black">
                  <a:alpha val="40000"/>
                </a:prstClr>
              </a:outerShdw>
            </a:effectLst>
          </p:spPr>
          <p:txBody>
            <a:bodyPr lIns="0" tIns="0" rIns="0" bIns="0" anchor="ctr" anchorCtr="1"/>
            <a:lstStyle/>
            <a:p>
              <a:pPr eaLnBrk="0" hangingPunct="0"/>
              <a:endParaRPr lang="en-US" sz="30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3892241" name="Text Box 17"/>
            <p:cNvSpPr txBox="1">
              <a:spLocks noChangeArrowheads="1"/>
            </p:cNvSpPr>
            <p:nvPr/>
          </p:nvSpPr>
          <p:spPr bwMode="auto">
            <a:xfrm>
              <a:off x="3967" y="3587"/>
              <a:ext cx="861" cy="233"/>
            </a:xfrm>
            <a:prstGeom prst="rect">
              <a:avLst/>
            </a:prstGeom>
            <a:noFill/>
            <a:ln w="28575" algn="ctr">
              <a:noFill/>
              <a:miter lim="800000"/>
              <a:headEnd/>
              <a:tailEnd/>
            </a:ln>
            <a:effectLst/>
          </p:spPr>
          <p:txBody>
            <a:bodyPr wrap="none">
              <a:spAutoFit/>
            </a:bodyPr>
            <a:lstStyle/>
            <a:p>
              <a:pPr eaLnBrk="0" hangingPunct="0"/>
              <a:r>
                <a:rPr lang="en-US" sz="3000">
                  <a:latin typeface="Helvetica Neue Medium" panose="02000503000000020004" pitchFamily="2" charset="0"/>
                  <a:ea typeface="Helvetica Neue Medium" panose="02000503000000020004" pitchFamily="2" charset="0"/>
                  <a:cs typeface="Helvetica Neue Medium" panose="02000503000000020004" pitchFamily="2" charset="0"/>
                </a:rPr>
                <a:t>Network B</a:t>
              </a:r>
            </a:p>
          </p:txBody>
        </p:sp>
        <p:sp>
          <p:nvSpPr>
            <p:cNvPr id="3892242" name="Text Box 18"/>
            <p:cNvSpPr txBox="1">
              <a:spLocks noChangeArrowheads="1"/>
            </p:cNvSpPr>
            <p:nvPr/>
          </p:nvSpPr>
          <p:spPr bwMode="auto">
            <a:xfrm>
              <a:off x="4040" y="2499"/>
              <a:ext cx="855" cy="233"/>
            </a:xfrm>
            <a:prstGeom prst="rect">
              <a:avLst/>
            </a:prstGeom>
            <a:noFill/>
            <a:ln w="28575" algn="ctr">
              <a:noFill/>
              <a:miter lim="800000"/>
              <a:headEnd/>
              <a:tailEnd/>
            </a:ln>
            <a:effectLst/>
          </p:spPr>
          <p:txBody>
            <a:bodyPr wrap="none">
              <a:spAutoFit/>
            </a:bodyPr>
            <a:lstStyle/>
            <a:p>
              <a:pPr eaLnBrk="0" hangingPunct="0"/>
              <a:r>
                <a:rPr lang="en-US" sz="3000">
                  <a:latin typeface="Helvetica Neue Medium" panose="02000503000000020004" pitchFamily="2" charset="0"/>
                  <a:ea typeface="Helvetica Neue Medium" panose="02000503000000020004" pitchFamily="2" charset="0"/>
                  <a:cs typeface="Helvetica Neue Medium" panose="02000503000000020004" pitchFamily="2" charset="0"/>
                </a:rPr>
                <a:t>Network A</a:t>
              </a:r>
            </a:p>
          </p:txBody>
        </p:sp>
      </p:grpSp>
      <p:sp>
        <p:nvSpPr>
          <p:cNvPr id="3892243" name="Rectangle 19"/>
          <p:cNvSpPr>
            <a:spLocks noGrp="1" noChangeArrowheads="1"/>
          </p:cNvSpPr>
          <p:nvPr>
            <p:ph type="title"/>
          </p:nvPr>
        </p:nvSpPr>
        <p:spPr/>
        <p:txBody>
          <a:bodyPr/>
          <a:lstStyle/>
          <a:p>
            <a:r>
              <a:rPr lang="en-US"/>
              <a:t>IP Routing</a:t>
            </a:r>
          </a:p>
        </p:txBody>
      </p:sp>
      <p:sp>
        <p:nvSpPr>
          <p:cNvPr id="3892244" name="Rectangle 20"/>
          <p:cNvSpPr>
            <a:spLocks noGrp="1" noChangeArrowheads="1"/>
          </p:cNvSpPr>
          <p:nvPr>
            <p:ph idx="1"/>
          </p:nvPr>
        </p:nvSpPr>
        <p:spPr/>
        <p:txBody>
          <a:bodyPr/>
          <a:lstStyle/>
          <a:p>
            <a:r>
              <a:rPr lang="en-US" sz="3600"/>
              <a:t>The forwarding of IP packets to the destination</a:t>
            </a:r>
          </a:p>
          <a:p>
            <a:r>
              <a:rPr lang="en-US" sz="3600"/>
              <a:t>End-to-end path is not predetermined</a:t>
            </a:r>
          </a:p>
          <a:p>
            <a:pPr lvl="1"/>
            <a:r>
              <a:rPr lang="en-US" sz="2800"/>
              <a:t>Hop-by-hop routing</a:t>
            </a:r>
          </a:p>
          <a:p>
            <a:pPr lvl="1"/>
            <a:r>
              <a:rPr lang="en-US" sz="2800"/>
              <a:t>Router selects next router based on destination address</a:t>
            </a:r>
          </a:p>
          <a:p>
            <a:r>
              <a:rPr lang="en-US" sz="3600"/>
              <a:t>Often described as best-effort service</a:t>
            </a:r>
          </a:p>
        </p:txBody>
      </p:sp>
      <p:sp>
        <p:nvSpPr>
          <p:cNvPr id="3892245" name="AutoShape 21"/>
          <p:cNvSpPr>
            <a:spLocks noChangeArrowheads="1"/>
          </p:cNvSpPr>
          <p:nvPr/>
        </p:nvSpPr>
        <p:spPr bwMode="auto">
          <a:xfrm>
            <a:off x="3098007" y="8280054"/>
            <a:ext cx="2265080" cy="863501"/>
          </a:xfrm>
          <a:prstGeom prst="rightArrow">
            <a:avLst>
              <a:gd name="adj1" fmla="val 52972"/>
              <a:gd name="adj2" fmla="val 42421"/>
            </a:avLst>
          </a:prstGeom>
          <a:solidFill>
            <a:schemeClr val="accent1">
              <a:lumMod val="20000"/>
              <a:lumOff val="80000"/>
            </a:schemeClr>
          </a:solidFill>
          <a:ln w="28575" algn="ctr">
            <a:solidFill>
              <a:schemeClr val="tx1"/>
            </a:solidFill>
            <a:miter lim="800000"/>
            <a:headEnd/>
            <a:tailEnd/>
          </a:ln>
          <a:effectLst/>
        </p:spPr>
        <p:txBody>
          <a:bodyPr wrap="none" anchor="ctr">
            <a:spAutoFit/>
          </a:bodyPr>
          <a:lstStyle/>
          <a:p>
            <a:pPr eaLnBrk="0" hangingPunct="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To Network A</a:t>
            </a:r>
          </a:p>
        </p:txBody>
      </p:sp>
      <p:grpSp>
        <p:nvGrpSpPr>
          <p:cNvPr id="5" name="Group 34"/>
          <p:cNvGrpSpPr/>
          <p:nvPr/>
        </p:nvGrpSpPr>
        <p:grpSpPr>
          <a:xfrm>
            <a:off x="3208584" y="5417343"/>
            <a:ext cx="3405144" cy="2964426"/>
            <a:chOff x="813494" y="3276600"/>
            <a:chExt cx="2270096" cy="1976284"/>
          </a:xfrm>
        </p:grpSpPr>
        <p:sp>
          <p:nvSpPr>
            <p:cNvPr id="3892247" name="AutoShape 23"/>
            <p:cNvSpPr>
              <a:spLocks noChangeArrowheads="1"/>
            </p:cNvSpPr>
            <p:nvPr/>
          </p:nvSpPr>
          <p:spPr bwMode="auto">
            <a:xfrm flipV="1">
              <a:off x="2419350" y="4724400"/>
              <a:ext cx="344487" cy="460375"/>
            </a:xfrm>
            <a:prstGeom prst="triangle">
              <a:avLst>
                <a:gd name="adj" fmla="val 50000"/>
              </a:avLst>
            </a:prstGeom>
            <a:solidFill>
              <a:srgbClr val="CCCCFF"/>
            </a:solidFill>
            <a:ln w="28575" algn="ctr">
              <a:solidFill>
                <a:schemeClr val="tx1"/>
              </a:solidFill>
              <a:miter lim="800000"/>
              <a:headEnd/>
              <a:tailEnd/>
            </a:ln>
            <a:effectLst/>
          </p:spPr>
          <p:txBody>
            <a:bodyPr wrap="none" anchor="ctr"/>
            <a:lstStyle/>
            <a:p>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3892250" name="Line 26"/>
            <p:cNvSpPr>
              <a:spLocks noChangeShapeType="1"/>
            </p:cNvSpPr>
            <p:nvPr/>
          </p:nvSpPr>
          <p:spPr bwMode="auto">
            <a:xfrm>
              <a:off x="1959019" y="3276600"/>
              <a:ext cx="0" cy="1447800"/>
            </a:xfrm>
            <a:prstGeom prst="line">
              <a:avLst/>
            </a:prstGeom>
            <a:noFill/>
            <a:ln w="38100">
              <a:solidFill>
                <a:schemeClr val="tx1"/>
              </a:solidFill>
              <a:round/>
              <a:headEnd/>
              <a:tailEnd/>
            </a:ln>
            <a:effectLst/>
          </p:spPr>
          <p:txBody>
            <a:bodyPr wrap="square">
              <a:spAutoFit/>
            </a:bodyPr>
            <a:lstStyle/>
            <a:p>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3892251" name="Line 27"/>
            <p:cNvSpPr>
              <a:spLocks noChangeShapeType="1"/>
            </p:cNvSpPr>
            <p:nvPr/>
          </p:nvSpPr>
          <p:spPr bwMode="auto">
            <a:xfrm>
              <a:off x="838868" y="3790590"/>
              <a:ext cx="2140595" cy="0"/>
            </a:xfrm>
            <a:prstGeom prst="line">
              <a:avLst/>
            </a:prstGeom>
            <a:noFill/>
            <a:ln w="38100">
              <a:solidFill>
                <a:schemeClr val="tx1"/>
              </a:solidFill>
              <a:round/>
              <a:headEnd/>
              <a:tailEnd/>
            </a:ln>
            <a:effectLst/>
          </p:spPr>
          <p:txBody>
            <a:bodyPr>
              <a:spAutoFit/>
            </a:bodyPr>
            <a:lstStyle/>
            <a:p>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3892252" name="Text Box 28"/>
            <p:cNvSpPr txBox="1">
              <a:spLocks noChangeArrowheads="1"/>
            </p:cNvSpPr>
            <p:nvPr/>
          </p:nvSpPr>
          <p:spPr bwMode="auto">
            <a:xfrm>
              <a:off x="828165" y="3276600"/>
              <a:ext cx="991479" cy="596217"/>
            </a:xfrm>
            <a:prstGeom prst="rect">
              <a:avLst/>
            </a:prstGeom>
            <a:noFill/>
            <a:ln w="28575" algn="ctr">
              <a:noFill/>
              <a:miter lim="800000"/>
              <a:headEnd/>
              <a:tailEnd/>
            </a:ln>
            <a:effectLst/>
          </p:spPr>
          <p:txBody>
            <a:bodyPr wrap="none" lIns="154154" tIns="77078" rIns="154154" bIns="77078">
              <a:spAutoFit/>
            </a:bodyPr>
            <a:lstStyle/>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Net</a:t>
              </a:r>
            </a:p>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Address</a:t>
              </a:r>
            </a:p>
          </p:txBody>
        </p:sp>
        <p:sp>
          <p:nvSpPr>
            <p:cNvPr id="3892253" name="Text Box 29"/>
            <p:cNvSpPr txBox="1">
              <a:spLocks noChangeArrowheads="1"/>
            </p:cNvSpPr>
            <p:nvPr/>
          </p:nvSpPr>
          <p:spPr bwMode="auto">
            <a:xfrm>
              <a:off x="2876001" y="4872111"/>
              <a:ext cx="207589" cy="380773"/>
            </a:xfrm>
            <a:prstGeom prst="rect">
              <a:avLst/>
            </a:prstGeom>
            <a:noFill/>
            <a:ln w="28575" algn="ctr">
              <a:noFill/>
              <a:miter lim="800000"/>
              <a:headEnd/>
              <a:tailEnd/>
            </a:ln>
            <a:effectLst/>
          </p:spPr>
          <p:txBody>
            <a:bodyPr wrap="none" lIns="154154" tIns="77078" rIns="154154" bIns="77078">
              <a:spAutoFit/>
            </a:bodyPr>
            <a:lstStyle/>
            <a:p>
              <a:pPr defTabSz="1540670"/>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3892254" name="Text Box 30"/>
            <p:cNvSpPr txBox="1">
              <a:spLocks noChangeArrowheads="1"/>
            </p:cNvSpPr>
            <p:nvPr/>
          </p:nvSpPr>
          <p:spPr bwMode="auto">
            <a:xfrm>
              <a:off x="2112521" y="3280169"/>
              <a:ext cx="971069" cy="596217"/>
            </a:xfrm>
            <a:prstGeom prst="rect">
              <a:avLst/>
            </a:prstGeom>
            <a:noFill/>
            <a:ln w="28575" algn="ctr">
              <a:noFill/>
              <a:miter lim="800000"/>
              <a:headEnd/>
              <a:tailEnd/>
            </a:ln>
            <a:effectLst/>
          </p:spPr>
          <p:txBody>
            <a:bodyPr wrap="square" lIns="154154" tIns="77078" rIns="154154" bIns="77078">
              <a:spAutoFit/>
            </a:bodyPr>
            <a:lstStyle/>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Next Hop</a:t>
              </a:r>
            </a:p>
          </p:txBody>
        </p:sp>
        <p:sp>
          <p:nvSpPr>
            <p:cNvPr id="3892255" name="Text Box 31"/>
            <p:cNvSpPr txBox="1">
              <a:spLocks noChangeArrowheads="1"/>
            </p:cNvSpPr>
            <p:nvPr/>
          </p:nvSpPr>
          <p:spPr bwMode="auto">
            <a:xfrm>
              <a:off x="813494" y="3727817"/>
              <a:ext cx="1203545" cy="1088659"/>
            </a:xfrm>
            <a:prstGeom prst="rect">
              <a:avLst/>
            </a:prstGeom>
            <a:noFill/>
            <a:ln w="28575" algn="ctr">
              <a:noFill/>
              <a:miter lim="800000"/>
              <a:headEnd/>
              <a:tailEnd/>
            </a:ln>
            <a:effectLst/>
          </p:spPr>
          <p:txBody>
            <a:bodyPr wrap="none" lIns="154154" tIns="77078" rIns="154154" bIns="77078">
              <a:spAutoFit/>
            </a:bodyPr>
            <a:lstStyle/>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a:t>
              </a:r>
            </a:p>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Network A</a:t>
              </a:r>
            </a:p>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Network B</a:t>
              </a:r>
            </a:p>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a:t>
              </a:r>
            </a:p>
          </p:txBody>
        </p:sp>
        <p:sp>
          <p:nvSpPr>
            <p:cNvPr id="3892256" name="Text Box 32"/>
            <p:cNvSpPr txBox="1">
              <a:spLocks noChangeArrowheads="1"/>
            </p:cNvSpPr>
            <p:nvPr/>
          </p:nvSpPr>
          <p:spPr bwMode="auto">
            <a:xfrm>
              <a:off x="1998357" y="3733800"/>
              <a:ext cx="1017597" cy="1088659"/>
            </a:xfrm>
            <a:prstGeom prst="rect">
              <a:avLst/>
            </a:prstGeom>
            <a:noFill/>
            <a:ln w="28575" algn="ctr">
              <a:noFill/>
              <a:miter lim="800000"/>
              <a:headEnd/>
              <a:tailEnd/>
            </a:ln>
            <a:effectLst/>
          </p:spPr>
          <p:txBody>
            <a:bodyPr wrap="none" lIns="154154" tIns="77078" rIns="154154" bIns="77078">
              <a:spAutoFit/>
            </a:bodyPr>
            <a:lstStyle/>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a:t>
              </a:r>
            </a:p>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Router 1</a:t>
              </a:r>
            </a:p>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Router 2</a:t>
              </a:r>
            </a:p>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a:t>
              </a:r>
            </a:p>
          </p:txBody>
        </p:sp>
      </p:grpSp>
      <p:sp>
        <p:nvSpPr>
          <p:cNvPr id="3892257" name="AutoShape 33"/>
          <p:cNvSpPr>
            <a:spLocks noChangeArrowheads="1"/>
          </p:cNvSpPr>
          <p:nvPr/>
        </p:nvSpPr>
        <p:spPr bwMode="auto">
          <a:xfrm rot="-2764507">
            <a:off x="6810121" y="7041803"/>
            <a:ext cx="2265080" cy="863501"/>
          </a:xfrm>
          <a:prstGeom prst="rightArrow">
            <a:avLst>
              <a:gd name="adj1" fmla="val 52972"/>
              <a:gd name="adj2" fmla="val 42421"/>
            </a:avLst>
          </a:prstGeom>
          <a:solidFill>
            <a:schemeClr val="accent1">
              <a:lumMod val="20000"/>
              <a:lumOff val="80000"/>
            </a:schemeClr>
          </a:solidFill>
          <a:ln w="28575" algn="ctr">
            <a:solidFill>
              <a:schemeClr val="tx1"/>
            </a:solidFill>
            <a:miter lim="800000"/>
            <a:headEnd/>
            <a:tailEnd/>
          </a:ln>
          <a:effectLst/>
        </p:spPr>
        <p:txBody>
          <a:bodyPr wrap="none" anchor="ctr">
            <a:spAutoFit/>
          </a:bodyPr>
          <a:lstStyle/>
          <a:p>
            <a:pPr eaLnBrk="0" hangingPunct="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To Network A</a:t>
            </a:r>
          </a:p>
        </p:txBody>
      </p:sp>
      <p:pic>
        <p:nvPicPr>
          <p:cNvPr id="3892258" name="Picture 34" descr="Route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572125" y="8246270"/>
            <a:ext cx="1524000" cy="931068"/>
          </a:xfrm>
          <a:prstGeom prst="rect">
            <a:avLst/>
          </a:prstGeom>
          <a:noFill/>
        </p:spPr>
      </p:pic>
    </p:spTree>
    <p:custDataLst>
      <p:tags r:id="rId1"/>
    </p:custDataLst>
    <p:extLst>
      <p:ext uri="{BB962C8B-B14F-4D97-AF65-F5344CB8AC3E}">
        <p14:creationId xmlns:p14="http://schemas.microsoft.com/office/powerpoint/2010/main" val="2273736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92245"/>
                                        </p:tgtEl>
                                        <p:attrNameLst>
                                          <p:attrName>style.visibility</p:attrName>
                                        </p:attrNameLst>
                                      </p:cBhvr>
                                      <p:to>
                                        <p:strVal val="visible"/>
                                      </p:to>
                                    </p:set>
                                    <p:anim calcmode="lin" valueType="num">
                                      <p:cBhvr additive="base">
                                        <p:cTn id="7" dur="1000" fill="hold"/>
                                        <p:tgtEl>
                                          <p:spTgt spid="3892245"/>
                                        </p:tgtEl>
                                        <p:attrNameLst>
                                          <p:attrName>ppt_x</p:attrName>
                                        </p:attrNameLst>
                                      </p:cBhvr>
                                      <p:tavLst>
                                        <p:tav tm="0">
                                          <p:val>
                                            <p:strVal val="0-#ppt_w/2"/>
                                          </p:val>
                                        </p:tav>
                                        <p:tav tm="100000">
                                          <p:val>
                                            <p:strVal val="#ppt_x"/>
                                          </p:val>
                                        </p:tav>
                                      </p:tavLst>
                                    </p:anim>
                                    <p:anim calcmode="lin" valueType="num">
                                      <p:cBhvr additive="base">
                                        <p:cTn id="8" dur="1000" fill="hold"/>
                                        <p:tgtEl>
                                          <p:spTgt spid="389224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892257"/>
                                        </p:tgtEl>
                                        <p:attrNameLst>
                                          <p:attrName>style.visibility</p:attrName>
                                        </p:attrNameLst>
                                      </p:cBhvr>
                                      <p:to>
                                        <p:strVal val="visible"/>
                                      </p:to>
                                    </p:set>
                                    <p:animEffect transition="in" filter="wipe(down)">
                                      <p:cBhvr>
                                        <p:cTn id="18" dur="1000"/>
                                        <p:tgtEl>
                                          <p:spTgt spid="3892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245" grpId="0" animBg="1"/>
      <p:bldP spid="3892257"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0418" name="Line 2"/>
          <p:cNvSpPr>
            <a:spLocks noChangeShapeType="1"/>
          </p:cNvSpPr>
          <p:nvPr/>
        </p:nvSpPr>
        <p:spPr bwMode="auto">
          <a:xfrm flipV="1">
            <a:off x="4036220" y="8274845"/>
            <a:ext cx="4864893" cy="2381"/>
          </a:xfrm>
          <a:prstGeom prst="line">
            <a:avLst/>
          </a:prstGeom>
          <a:noFill/>
          <a:ln w="28575">
            <a:solidFill>
              <a:schemeClr val="tx1"/>
            </a:solidFill>
            <a:round/>
            <a:headEnd/>
            <a:tailEnd/>
          </a:ln>
          <a:effectLst/>
        </p:spPr>
        <p:txBody>
          <a:bodyPr>
            <a:spAutoFit/>
          </a:bodyPr>
          <a:lstStyle/>
          <a:p>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3900419" name="Rectangle 3"/>
          <p:cNvSpPr>
            <a:spLocks noGrp="1" noChangeArrowheads="1"/>
          </p:cNvSpPr>
          <p:nvPr>
            <p:ph type="title"/>
          </p:nvPr>
        </p:nvSpPr>
        <p:spPr>
          <a:xfrm>
            <a:off x="1014413" y="333173"/>
            <a:ext cx="15773400" cy="1988345"/>
          </a:xfrm>
        </p:spPr>
        <p:txBody>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Following a Packet</a:t>
            </a:r>
          </a:p>
        </p:txBody>
      </p:sp>
      <p:sp>
        <p:nvSpPr>
          <p:cNvPr id="34" name="Slide Number Placeholder 33"/>
          <p:cNvSpPr>
            <a:spLocks noGrp="1"/>
          </p:cNvSpPr>
          <p:nvPr>
            <p:ph type="sldNum" sz="quarter" idx="10"/>
          </p:nvPr>
        </p:nvSpPr>
        <p:spPr>
          <a:prstGeom prst="rect">
            <a:avLst/>
          </a:prstGeom>
        </p:spPr>
        <p:txBody>
          <a:bodyPr/>
          <a:lstStyle/>
          <a:p>
            <a:fld id="{52B67DA5-9DD9-4BCA-8370-9CA784C1DE92}" type="slidenum">
              <a:rPr lang="en-US" smtClean="0"/>
              <a:pPr/>
              <a:t>112</a:t>
            </a:fld>
            <a:endParaRPr lang="en-US"/>
          </a:p>
        </p:txBody>
      </p:sp>
      <p:pic>
        <p:nvPicPr>
          <p:cNvPr id="3900420" name="Picture 4"/>
          <p:cNvPicPr>
            <a:picLocks noChangeAspect="1" noChangeArrowheads="1"/>
          </p:cNvPicPr>
          <p:nvPr>
            <p:custDataLst>
              <p:tags r:id="rId2"/>
            </p:custDataLst>
          </p:nvPr>
        </p:nvPicPr>
        <p:blipFill>
          <a:blip r:embed="rId7" cstate="email">
            <a:extLst>
              <a:ext uri="{28A0092B-C50C-407E-A947-70E740481C1C}">
                <a14:useLocalDpi xmlns:a14="http://schemas.microsoft.com/office/drawing/2010/main"/>
              </a:ext>
            </a:extLst>
          </a:blip>
          <a:stretch>
            <a:fillRect/>
          </a:stretch>
        </p:blipFill>
        <p:spPr bwMode="auto">
          <a:xfrm>
            <a:off x="2809875" y="7255486"/>
            <a:ext cx="1762125" cy="2168768"/>
          </a:xfrm>
          <a:prstGeom prst="rect">
            <a:avLst/>
          </a:prstGeom>
          <a:noFill/>
        </p:spPr>
      </p:pic>
      <p:sp>
        <p:nvSpPr>
          <p:cNvPr id="3900421" name="Line 5"/>
          <p:cNvSpPr>
            <a:spLocks noChangeShapeType="1"/>
          </p:cNvSpPr>
          <p:nvPr/>
        </p:nvSpPr>
        <p:spPr bwMode="auto">
          <a:xfrm flipV="1">
            <a:off x="4848225" y="3078958"/>
            <a:ext cx="4583907" cy="2381"/>
          </a:xfrm>
          <a:prstGeom prst="line">
            <a:avLst/>
          </a:prstGeom>
          <a:noFill/>
          <a:ln w="28575">
            <a:solidFill>
              <a:schemeClr val="tx1"/>
            </a:solidFill>
            <a:round/>
            <a:headEnd/>
            <a:tailEnd/>
          </a:ln>
          <a:effectLst/>
        </p:spPr>
        <p:txBody>
          <a:bodyPr>
            <a:spAutoFit/>
          </a:bodyPr>
          <a:lstStyle/>
          <a:p>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3900422" name="Line 6"/>
          <p:cNvSpPr>
            <a:spLocks noChangeShapeType="1"/>
          </p:cNvSpPr>
          <p:nvPr/>
        </p:nvSpPr>
        <p:spPr bwMode="auto">
          <a:xfrm>
            <a:off x="10044113" y="2988470"/>
            <a:ext cx="3945732" cy="2540793"/>
          </a:xfrm>
          <a:prstGeom prst="line">
            <a:avLst/>
          </a:prstGeom>
          <a:noFill/>
          <a:ln w="28575">
            <a:solidFill>
              <a:schemeClr val="tx1"/>
            </a:solidFill>
            <a:round/>
            <a:headEnd/>
            <a:tailEnd/>
          </a:ln>
          <a:effectLst/>
        </p:spPr>
        <p:txBody>
          <a:bodyPr>
            <a:spAutoFit/>
          </a:bodyPr>
          <a:lstStyle/>
          <a:p>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3900423" name="Line 7"/>
          <p:cNvSpPr>
            <a:spLocks noChangeShapeType="1"/>
          </p:cNvSpPr>
          <p:nvPr/>
        </p:nvSpPr>
        <p:spPr bwMode="auto">
          <a:xfrm flipV="1">
            <a:off x="9603583" y="5695950"/>
            <a:ext cx="4317206" cy="2762250"/>
          </a:xfrm>
          <a:prstGeom prst="line">
            <a:avLst/>
          </a:prstGeom>
          <a:noFill/>
          <a:ln w="28575">
            <a:solidFill>
              <a:schemeClr val="tx1"/>
            </a:solidFill>
            <a:round/>
            <a:headEnd/>
            <a:tailEnd/>
          </a:ln>
          <a:effectLst/>
        </p:spPr>
        <p:txBody>
          <a:bodyPr>
            <a:spAutoFit/>
          </a:bodyPr>
          <a:lstStyle/>
          <a:p>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pic>
        <p:nvPicPr>
          <p:cNvPr id="3900425" name="Picture 9" descr="Router"/>
          <p:cNvPicPr>
            <a:picLocks noChangeAspect="1" noChangeArrowheads="1"/>
          </p:cNvPicPr>
          <p:nvPr>
            <p:custDataLst>
              <p:tags r:id="rId3"/>
            </p:custDataLst>
          </p:nvPr>
        </p:nvPicPr>
        <p:blipFill>
          <a:blip r:embed="rId8" cstate="email">
            <a:extLst>
              <a:ext uri="{28A0092B-C50C-407E-A947-70E740481C1C}">
                <a14:useLocalDpi xmlns:a14="http://schemas.microsoft.com/office/drawing/2010/main"/>
              </a:ext>
            </a:extLst>
          </a:blip>
          <a:srcRect/>
          <a:stretch>
            <a:fillRect/>
          </a:stretch>
        </p:blipFill>
        <p:spPr bwMode="auto">
          <a:xfrm>
            <a:off x="13004007" y="5124450"/>
            <a:ext cx="2105025" cy="1285875"/>
          </a:xfrm>
          <a:prstGeom prst="rect">
            <a:avLst/>
          </a:prstGeom>
          <a:noFill/>
        </p:spPr>
      </p:pic>
      <p:pic>
        <p:nvPicPr>
          <p:cNvPr id="3900426" name="Picture 10"/>
          <p:cNvPicPr>
            <a:picLocks noChangeAspect="1" noChangeArrowheads="1"/>
          </p:cNvPicPr>
          <p:nvPr>
            <p:custDataLst>
              <p:tags r:id="rId4"/>
            </p:custDataLst>
          </p:nvPr>
        </p:nvPicPr>
        <p:blipFill>
          <a:blip r:embed="rId9" cstate="email">
            <a:extLst>
              <a:ext uri="{28A0092B-C50C-407E-A947-70E740481C1C}">
                <a14:useLocalDpi xmlns:a14="http://schemas.microsoft.com/office/drawing/2010/main"/>
              </a:ext>
            </a:extLst>
          </a:blip>
          <a:stretch>
            <a:fillRect/>
          </a:stretch>
        </p:blipFill>
        <p:spPr bwMode="auto">
          <a:xfrm>
            <a:off x="3431381" y="2207418"/>
            <a:ext cx="2390777" cy="1793082"/>
          </a:xfrm>
          <a:prstGeom prst="rect">
            <a:avLst/>
          </a:prstGeom>
          <a:noFill/>
        </p:spPr>
      </p:pic>
      <p:grpSp>
        <p:nvGrpSpPr>
          <p:cNvPr id="2" name="Group 12"/>
          <p:cNvGrpSpPr>
            <a:grpSpLocks/>
          </p:cNvGrpSpPr>
          <p:nvPr/>
        </p:nvGrpSpPr>
        <p:grpSpPr bwMode="auto">
          <a:xfrm>
            <a:off x="2864645" y="2743205"/>
            <a:ext cx="3271838" cy="509588"/>
            <a:chOff x="139" y="1131"/>
            <a:chExt cx="1374" cy="214"/>
          </a:xfrm>
        </p:grpSpPr>
        <p:sp>
          <p:nvSpPr>
            <p:cNvPr id="3900429" name="Text Box 13"/>
            <p:cNvSpPr txBox="1">
              <a:spLocks noChangeArrowheads="1"/>
            </p:cNvSpPr>
            <p:nvPr/>
          </p:nvSpPr>
          <p:spPr bwMode="auto">
            <a:xfrm>
              <a:off x="139" y="1132"/>
              <a:ext cx="350" cy="213"/>
            </a:xfrm>
            <a:prstGeom prst="rect">
              <a:avLst/>
            </a:prstGeom>
            <a:solidFill>
              <a:srgbClr val="9BCD00"/>
            </a:solidFill>
            <a:ln w="28575" algn="ctr">
              <a:solidFill>
                <a:schemeClr val="tx1"/>
              </a:solidFill>
              <a:miter lim="800000"/>
              <a:headEnd/>
              <a:tailEnd/>
            </a:ln>
            <a:effectLst/>
          </p:spPr>
          <p:txBody>
            <a:bodyPr wrap="none">
              <a:spAutoFit/>
            </a:bodyPr>
            <a:lstStyle/>
            <a:p>
              <a:pPr defTabSz="1540670"/>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TRL</a:t>
              </a:r>
            </a:p>
          </p:txBody>
        </p:sp>
        <p:sp>
          <p:nvSpPr>
            <p:cNvPr id="3900430" name="Text Box 14"/>
            <p:cNvSpPr txBox="1">
              <a:spLocks noChangeArrowheads="1"/>
            </p:cNvSpPr>
            <p:nvPr/>
          </p:nvSpPr>
          <p:spPr bwMode="auto">
            <a:xfrm>
              <a:off x="1123" y="1131"/>
              <a:ext cx="390" cy="213"/>
            </a:xfrm>
            <a:prstGeom prst="rect">
              <a:avLst/>
            </a:prstGeom>
            <a:solidFill>
              <a:srgbClr val="9BCD00"/>
            </a:solidFill>
            <a:ln w="28575" algn="ctr">
              <a:solidFill>
                <a:schemeClr val="tx1"/>
              </a:solidFill>
              <a:miter lim="800000"/>
              <a:headEnd/>
              <a:tailEnd/>
            </a:ln>
            <a:effectLst/>
          </p:spPr>
          <p:txBody>
            <a:bodyPr wrap="none">
              <a:spAutoFit/>
            </a:bodyPr>
            <a:lstStyle/>
            <a:p>
              <a:pPr defTabSz="1540670"/>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HDR</a:t>
              </a:r>
            </a:p>
          </p:txBody>
        </p:sp>
        <p:sp>
          <p:nvSpPr>
            <p:cNvPr id="3900431" name="Text Box 15"/>
            <p:cNvSpPr txBox="1">
              <a:spLocks noChangeArrowheads="1"/>
            </p:cNvSpPr>
            <p:nvPr/>
          </p:nvSpPr>
          <p:spPr bwMode="auto">
            <a:xfrm>
              <a:off x="558" y="1132"/>
              <a:ext cx="543" cy="213"/>
            </a:xfrm>
            <a:prstGeom prst="rect">
              <a:avLst/>
            </a:prstGeom>
            <a:solidFill>
              <a:srgbClr val="FFFF99"/>
            </a:solidFill>
            <a:ln w="28575" algn="ctr">
              <a:solidFill>
                <a:schemeClr val="tx1"/>
              </a:solidFill>
              <a:miter lim="800000"/>
              <a:headEnd/>
              <a:tailEnd/>
            </a:ln>
            <a:effectLst/>
          </p:spPr>
          <p:txBody>
            <a:bodyPr wrap="none">
              <a:spAutoFit/>
            </a:bodyPr>
            <a:lstStyle/>
            <a:p>
              <a:pPr defTabSz="1540670"/>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Packet</a:t>
              </a:r>
            </a:p>
          </p:txBody>
        </p:sp>
      </p:grpSp>
      <p:sp>
        <p:nvSpPr>
          <p:cNvPr id="3900432" name="Text Box 16"/>
          <p:cNvSpPr txBox="1">
            <a:spLocks noChangeArrowheads="1"/>
          </p:cNvSpPr>
          <p:nvPr/>
        </p:nvSpPr>
        <p:spPr bwMode="auto">
          <a:xfrm>
            <a:off x="3848100" y="2707483"/>
            <a:ext cx="1293944" cy="507831"/>
          </a:xfrm>
          <a:prstGeom prst="rect">
            <a:avLst/>
          </a:prstGeom>
          <a:solidFill>
            <a:schemeClr val="accent1">
              <a:lumMod val="20000"/>
              <a:lumOff val="80000"/>
            </a:schemeClr>
          </a:solidFill>
          <a:ln w="28575" algn="ctr">
            <a:solidFill>
              <a:schemeClr val="tx1"/>
            </a:solidFill>
            <a:miter lim="800000"/>
            <a:headEnd/>
            <a:tailEnd/>
          </a:ln>
          <a:effectLst/>
        </p:spPr>
        <p:txBody>
          <a:bodyPr wrap="none">
            <a:spAutoFit/>
          </a:bodyPr>
          <a:lstStyle/>
          <a:p>
            <a:pPr defTabSz="1540670"/>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Packet</a:t>
            </a:r>
          </a:p>
        </p:txBody>
      </p:sp>
      <p:grpSp>
        <p:nvGrpSpPr>
          <p:cNvPr id="3" name="Group 17"/>
          <p:cNvGrpSpPr>
            <a:grpSpLocks/>
          </p:cNvGrpSpPr>
          <p:nvPr/>
        </p:nvGrpSpPr>
        <p:grpSpPr bwMode="auto">
          <a:xfrm>
            <a:off x="12351545" y="5372103"/>
            <a:ext cx="3252788" cy="509588"/>
            <a:chOff x="123" y="1131"/>
            <a:chExt cx="1366" cy="214"/>
          </a:xfrm>
        </p:grpSpPr>
        <p:sp>
          <p:nvSpPr>
            <p:cNvPr id="3900434" name="Text Box 18"/>
            <p:cNvSpPr txBox="1">
              <a:spLocks noChangeArrowheads="1"/>
            </p:cNvSpPr>
            <p:nvPr/>
          </p:nvSpPr>
          <p:spPr bwMode="auto">
            <a:xfrm>
              <a:off x="123" y="1132"/>
              <a:ext cx="390" cy="213"/>
            </a:xfrm>
            <a:prstGeom prst="rect">
              <a:avLst/>
            </a:prstGeom>
            <a:solidFill>
              <a:srgbClr val="00B0F0"/>
            </a:solidFill>
            <a:ln w="28575" algn="ctr">
              <a:solidFill>
                <a:schemeClr val="tx1"/>
              </a:solidFill>
              <a:miter lim="800000"/>
              <a:headEnd/>
              <a:tailEnd/>
            </a:ln>
            <a:effectLst/>
          </p:spPr>
          <p:txBody>
            <a:bodyPr wrap="none">
              <a:spAutoFit/>
            </a:bodyPr>
            <a:lstStyle/>
            <a:p>
              <a:pPr defTabSz="1540670"/>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HDR</a:t>
              </a:r>
            </a:p>
          </p:txBody>
        </p:sp>
        <p:sp>
          <p:nvSpPr>
            <p:cNvPr id="3900435" name="Text Box 19"/>
            <p:cNvSpPr txBox="1">
              <a:spLocks noChangeArrowheads="1"/>
            </p:cNvSpPr>
            <p:nvPr/>
          </p:nvSpPr>
          <p:spPr bwMode="auto">
            <a:xfrm>
              <a:off x="1139" y="1131"/>
              <a:ext cx="350" cy="213"/>
            </a:xfrm>
            <a:prstGeom prst="rect">
              <a:avLst/>
            </a:prstGeom>
            <a:solidFill>
              <a:srgbClr val="00B0F0"/>
            </a:solidFill>
            <a:ln w="28575" algn="ctr">
              <a:solidFill>
                <a:schemeClr val="tx1"/>
              </a:solidFill>
              <a:miter lim="800000"/>
              <a:headEnd/>
              <a:tailEnd/>
            </a:ln>
            <a:effectLst/>
          </p:spPr>
          <p:txBody>
            <a:bodyPr wrap="none">
              <a:spAutoFit/>
            </a:bodyPr>
            <a:lstStyle/>
            <a:p>
              <a:pPr defTabSz="1540670"/>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TRL</a:t>
              </a:r>
            </a:p>
          </p:txBody>
        </p:sp>
        <p:sp>
          <p:nvSpPr>
            <p:cNvPr id="3900436" name="Text Box 20"/>
            <p:cNvSpPr txBox="1">
              <a:spLocks noChangeArrowheads="1"/>
            </p:cNvSpPr>
            <p:nvPr/>
          </p:nvSpPr>
          <p:spPr bwMode="auto">
            <a:xfrm>
              <a:off x="558" y="1132"/>
              <a:ext cx="543" cy="213"/>
            </a:xfrm>
            <a:prstGeom prst="rect">
              <a:avLst/>
            </a:prstGeom>
            <a:solidFill>
              <a:schemeClr val="accent1"/>
            </a:solidFill>
            <a:ln w="28575" algn="ctr">
              <a:solidFill>
                <a:schemeClr val="tx1"/>
              </a:solidFill>
              <a:miter lim="800000"/>
              <a:headEnd/>
              <a:tailEnd/>
            </a:ln>
            <a:effectLst/>
          </p:spPr>
          <p:txBody>
            <a:bodyPr wrap="none">
              <a:spAutoFit/>
            </a:bodyPr>
            <a:lstStyle/>
            <a:p>
              <a:pPr defTabSz="1540670"/>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Packet</a:t>
              </a:r>
            </a:p>
          </p:txBody>
        </p:sp>
      </p:grpSp>
      <p:sp>
        <p:nvSpPr>
          <p:cNvPr id="3900437" name="Text Box 21"/>
          <p:cNvSpPr txBox="1">
            <a:spLocks noChangeArrowheads="1"/>
          </p:cNvSpPr>
          <p:nvPr/>
        </p:nvSpPr>
        <p:spPr bwMode="auto">
          <a:xfrm>
            <a:off x="3574257" y="8024813"/>
            <a:ext cx="1293944" cy="507831"/>
          </a:xfrm>
          <a:prstGeom prst="rect">
            <a:avLst/>
          </a:prstGeom>
          <a:solidFill>
            <a:schemeClr val="accent1">
              <a:lumMod val="20000"/>
              <a:lumOff val="80000"/>
            </a:schemeClr>
          </a:solidFill>
          <a:ln w="28575" algn="ctr">
            <a:solidFill>
              <a:schemeClr val="tx1"/>
            </a:solidFill>
            <a:miter lim="800000"/>
            <a:headEnd/>
            <a:tailEnd/>
          </a:ln>
          <a:effectLst/>
        </p:spPr>
        <p:txBody>
          <a:bodyPr wrap="none">
            <a:spAutoFit/>
          </a:bodyPr>
          <a:lstStyle/>
          <a:p>
            <a:pPr defTabSz="1540670"/>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Packet</a:t>
            </a:r>
          </a:p>
        </p:txBody>
      </p:sp>
      <p:sp>
        <p:nvSpPr>
          <p:cNvPr id="3900438" name="Text Box 22"/>
          <p:cNvSpPr txBox="1">
            <a:spLocks noChangeArrowheads="1"/>
          </p:cNvSpPr>
          <p:nvPr/>
        </p:nvSpPr>
        <p:spPr bwMode="auto">
          <a:xfrm>
            <a:off x="13385007" y="5336383"/>
            <a:ext cx="1293944" cy="507831"/>
          </a:xfrm>
          <a:prstGeom prst="rect">
            <a:avLst/>
          </a:prstGeom>
          <a:solidFill>
            <a:schemeClr val="accent1">
              <a:lumMod val="20000"/>
              <a:lumOff val="80000"/>
            </a:schemeClr>
          </a:solidFill>
          <a:ln w="28575" algn="ctr">
            <a:solidFill>
              <a:schemeClr val="tx1"/>
            </a:solidFill>
            <a:miter lim="800000"/>
            <a:headEnd/>
            <a:tailEnd/>
          </a:ln>
          <a:effectLst/>
        </p:spPr>
        <p:txBody>
          <a:bodyPr wrap="none">
            <a:spAutoFit/>
          </a:bodyPr>
          <a:lstStyle/>
          <a:p>
            <a:pPr defTabSz="1540670"/>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Packet</a:t>
            </a:r>
          </a:p>
        </p:txBody>
      </p:sp>
      <p:grpSp>
        <p:nvGrpSpPr>
          <p:cNvPr id="4" name="Group 34"/>
          <p:cNvGrpSpPr/>
          <p:nvPr/>
        </p:nvGrpSpPr>
        <p:grpSpPr>
          <a:xfrm>
            <a:off x="12305684" y="2307433"/>
            <a:ext cx="3739174" cy="2862263"/>
            <a:chOff x="823952" y="3276600"/>
            <a:chExt cx="2492782" cy="1908175"/>
          </a:xfrm>
        </p:grpSpPr>
        <p:sp>
          <p:nvSpPr>
            <p:cNvPr id="25" name="AutoShape 23"/>
            <p:cNvSpPr>
              <a:spLocks noChangeArrowheads="1"/>
            </p:cNvSpPr>
            <p:nvPr/>
          </p:nvSpPr>
          <p:spPr bwMode="auto">
            <a:xfrm flipV="1">
              <a:off x="2419350" y="4724400"/>
              <a:ext cx="344487" cy="460375"/>
            </a:xfrm>
            <a:prstGeom prst="triangle">
              <a:avLst>
                <a:gd name="adj" fmla="val 50000"/>
              </a:avLst>
            </a:prstGeom>
            <a:solidFill>
              <a:srgbClr val="CCCCFF"/>
            </a:solidFill>
            <a:ln w="28575" algn="ctr">
              <a:solidFill>
                <a:schemeClr val="tx1"/>
              </a:solidFill>
              <a:miter lim="800000"/>
              <a:headEnd/>
              <a:tailEnd/>
            </a:ln>
            <a:effectLst/>
          </p:spPr>
          <p:txBody>
            <a:bodyPr wrap="none" anchor="ctr"/>
            <a:lstStyle/>
            <a:p>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27" name="Line 26"/>
            <p:cNvSpPr>
              <a:spLocks noChangeShapeType="1"/>
            </p:cNvSpPr>
            <p:nvPr/>
          </p:nvSpPr>
          <p:spPr bwMode="auto">
            <a:xfrm>
              <a:off x="1959012" y="3276600"/>
              <a:ext cx="0" cy="1447800"/>
            </a:xfrm>
            <a:prstGeom prst="line">
              <a:avLst/>
            </a:prstGeom>
            <a:noFill/>
            <a:ln w="38100">
              <a:solidFill>
                <a:schemeClr val="tx1"/>
              </a:solidFill>
              <a:round/>
              <a:headEnd/>
              <a:tailEnd/>
            </a:ln>
            <a:effectLst/>
          </p:spPr>
          <p:txBody>
            <a:bodyPr wrap="square">
              <a:spAutoFit/>
            </a:bodyPr>
            <a:lstStyle/>
            <a:p>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28" name="Line 27"/>
            <p:cNvSpPr>
              <a:spLocks noChangeShapeType="1"/>
            </p:cNvSpPr>
            <p:nvPr/>
          </p:nvSpPr>
          <p:spPr bwMode="auto">
            <a:xfrm>
              <a:off x="838868" y="3790590"/>
              <a:ext cx="2140595" cy="0"/>
            </a:xfrm>
            <a:prstGeom prst="line">
              <a:avLst/>
            </a:prstGeom>
            <a:noFill/>
            <a:ln w="38100">
              <a:solidFill>
                <a:schemeClr val="tx1"/>
              </a:solidFill>
              <a:round/>
              <a:headEnd/>
              <a:tailEnd/>
            </a:ln>
            <a:effectLst/>
          </p:spPr>
          <p:txBody>
            <a:bodyPr>
              <a:spAutoFit/>
            </a:bodyPr>
            <a:lstStyle/>
            <a:p>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29" name="Text Box 28"/>
            <p:cNvSpPr txBox="1">
              <a:spLocks noChangeArrowheads="1"/>
            </p:cNvSpPr>
            <p:nvPr/>
          </p:nvSpPr>
          <p:spPr bwMode="auto">
            <a:xfrm>
              <a:off x="828165" y="3276600"/>
              <a:ext cx="991479" cy="596217"/>
            </a:xfrm>
            <a:prstGeom prst="rect">
              <a:avLst/>
            </a:prstGeom>
            <a:noFill/>
            <a:ln w="28575" algn="ctr">
              <a:noFill/>
              <a:miter lim="800000"/>
              <a:headEnd/>
              <a:tailEnd/>
            </a:ln>
            <a:effectLst/>
          </p:spPr>
          <p:txBody>
            <a:bodyPr wrap="none" lIns="154154" tIns="77078" rIns="154154" bIns="77078">
              <a:spAutoFit/>
            </a:bodyPr>
            <a:lstStyle/>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Net</a:t>
              </a:r>
            </a:p>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Address</a:t>
              </a:r>
            </a:p>
          </p:txBody>
        </p:sp>
        <p:sp>
          <p:nvSpPr>
            <p:cNvPr id="31" name="Text Box 30"/>
            <p:cNvSpPr txBox="1">
              <a:spLocks noChangeArrowheads="1"/>
            </p:cNvSpPr>
            <p:nvPr/>
          </p:nvSpPr>
          <p:spPr bwMode="auto">
            <a:xfrm>
              <a:off x="2112522" y="3280169"/>
              <a:ext cx="705545" cy="596217"/>
            </a:xfrm>
            <a:prstGeom prst="rect">
              <a:avLst/>
            </a:prstGeom>
            <a:noFill/>
            <a:ln w="28575" algn="ctr">
              <a:noFill/>
              <a:miter lim="800000"/>
              <a:headEnd/>
              <a:tailEnd/>
            </a:ln>
            <a:effectLst/>
          </p:spPr>
          <p:txBody>
            <a:bodyPr wrap="none" lIns="154154" tIns="77078" rIns="154154" bIns="77078">
              <a:spAutoFit/>
            </a:bodyPr>
            <a:lstStyle/>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Next </a:t>
              </a:r>
            </a:p>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Hop</a:t>
              </a:r>
            </a:p>
          </p:txBody>
        </p:sp>
        <p:sp>
          <p:nvSpPr>
            <p:cNvPr id="32" name="Text Box 31"/>
            <p:cNvSpPr txBox="1">
              <a:spLocks noChangeArrowheads="1"/>
            </p:cNvSpPr>
            <p:nvPr/>
          </p:nvSpPr>
          <p:spPr bwMode="auto">
            <a:xfrm>
              <a:off x="823952" y="3733799"/>
              <a:ext cx="1203545" cy="1088659"/>
            </a:xfrm>
            <a:prstGeom prst="rect">
              <a:avLst/>
            </a:prstGeom>
            <a:noFill/>
            <a:ln w="28575" algn="ctr">
              <a:noFill/>
              <a:miter lim="800000"/>
              <a:headEnd/>
              <a:tailEnd/>
            </a:ln>
            <a:effectLst/>
          </p:spPr>
          <p:txBody>
            <a:bodyPr wrap="none" lIns="154154" tIns="77078" rIns="154154" bIns="77078">
              <a:spAutoFit/>
            </a:bodyPr>
            <a:lstStyle/>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a:t>
              </a:r>
            </a:p>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Network A</a:t>
              </a:r>
            </a:p>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Network B</a:t>
              </a:r>
            </a:p>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a:t>
              </a:r>
            </a:p>
          </p:txBody>
        </p:sp>
        <p:sp>
          <p:nvSpPr>
            <p:cNvPr id="33" name="Text Box 32"/>
            <p:cNvSpPr txBox="1">
              <a:spLocks noChangeArrowheads="1"/>
            </p:cNvSpPr>
            <p:nvPr/>
          </p:nvSpPr>
          <p:spPr bwMode="auto">
            <a:xfrm>
              <a:off x="1998355" y="3733800"/>
              <a:ext cx="1318379" cy="1088659"/>
            </a:xfrm>
            <a:prstGeom prst="rect">
              <a:avLst/>
            </a:prstGeom>
            <a:noFill/>
            <a:ln w="28575" algn="ctr">
              <a:noFill/>
              <a:miter lim="800000"/>
              <a:headEnd/>
              <a:tailEnd/>
            </a:ln>
            <a:effectLst/>
          </p:spPr>
          <p:txBody>
            <a:bodyPr wrap="square" lIns="154154" tIns="77078" rIns="154154" bIns="77078">
              <a:spAutoFit/>
            </a:bodyPr>
            <a:lstStyle/>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a:t>
              </a:r>
            </a:p>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Router 1</a:t>
              </a:r>
            </a:p>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Router 2</a:t>
              </a:r>
            </a:p>
            <a:p>
              <a:pPr defTabSz="154067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a:t>
              </a:r>
            </a:p>
          </p:txBody>
        </p:sp>
      </p:grpSp>
      <p:pic>
        <p:nvPicPr>
          <p:cNvPr id="35" name="Picture 17" descr="ATM Switch"/>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8465345" y="7455694"/>
            <a:ext cx="2059781" cy="1745456"/>
          </a:xfrm>
          <a:prstGeom prst="rect">
            <a:avLst/>
          </a:prstGeom>
          <a:noFill/>
        </p:spPr>
      </p:pic>
      <p:pic>
        <p:nvPicPr>
          <p:cNvPr id="36" name="Picture 17" descr="ATM Switch"/>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8811818" y="2298557"/>
            <a:ext cx="2059781" cy="1745456"/>
          </a:xfrm>
          <a:prstGeom prst="rect">
            <a:avLst/>
          </a:prstGeom>
          <a:noFill/>
        </p:spPr>
      </p:pic>
    </p:spTree>
    <p:custDataLst>
      <p:tags r:id="rId1"/>
    </p:custDataLst>
    <p:extLst>
      <p:ext uri="{BB962C8B-B14F-4D97-AF65-F5344CB8AC3E}">
        <p14:creationId xmlns:p14="http://schemas.microsoft.com/office/powerpoint/2010/main" val="3502971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3" presetClass="path" presetSubtype="0" accel="50000" decel="50000" fill="hold" nodeType="clickEffect">
                                  <p:stCondLst>
                                    <p:cond delay="0"/>
                                  </p:stCondLst>
                                  <p:childTnLst>
                                    <p:animMotion origin="layout" path="M -3.75E-6 -0.00371 L 0.41702 -0.00371 " pathEditMode="relative" rAng="0" ptsTypes="AA">
                                      <p:cBhvr>
                                        <p:cTn id="11" dur="2000" fill="hold"/>
                                        <p:tgtEl>
                                          <p:spTgt spid="2"/>
                                        </p:tgtEl>
                                        <p:attrNameLst>
                                          <p:attrName>ppt_x</p:attrName>
                                          <p:attrName>ppt_y</p:attrName>
                                        </p:attrNameLst>
                                      </p:cBhvr>
                                      <p:rCtr x="20851" y="0"/>
                                    </p:animMotion>
                                  </p:childTnLst>
                                </p:cTn>
                              </p:par>
                              <p:par>
                                <p:cTn id="12" presetID="1" presetClass="exit" presetSubtype="0" fill="hold" grpId="0" nodeType="withEffect">
                                  <p:stCondLst>
                                    <p:cond delay="0"/>
                                  </p:stCondLst>
                                  <p:childTnLst>
                                    <p:set>
                                      <p:cBhvr>
                                        <p:cTn id="13" dur="1" fill="hold">
                                          <p:stCondLst>
                                            <p:cond delay="0"/>
                                          </p:stCondLst>
                                        </p:cTn>
                                        <p:tgtEl>
                                          <p:spTgt spid="3900432"/>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49" presetClass="path" presetSubtype="0" accel="50000" decel="50000" fill="hold" nodeType="clickEffect">
                                  <p:stCondLst>
                                    <p:cond delay="0"/>
                                  </p:stCondLst>
                                  <p:childTnLst>
                                    <p:animMotion origin="layout" path="M 0.41702 -0.00371 L 0.69202 0.25555 " pathEditMode="relative" rAng="0" ptsTypes="AA">
                                      <p:cBhvr>
                                        <p:cTn id="17" dur="2000" fill="hold"/>
                                        <p:tgtEl>
                                          <p:spTgt spid="2"/>
                                        </p:tgtEl>
                                        <p:attrNameLst>
                                          <p:attrName>ppt_x</p:attrName>
                                          <p:attrName>ppt_y</p:attrName>
                                        </p:attrNameLst>
                                      </p:cBhvr>
                                      <p:rCtr x="13750" y="12963"/>
                                    </p:animMotion>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2000"/>
                                        <p:tgtEl>
                                          <p:spTgt spid="2"/>
                                        </p:tgtEl>
                                      </p:cBhvr>
                                    </p:animEffect>
                                    <p:set>
                                      <p:cBhvr>
                                        <p:cTn id="22" dur="1" fill="hold">
                                          <p:stCondLst>
                                            <p:cond delay="1999"/>
                                          </p:stCondLst>
                                        </p:cTn>
                                        <p:tgtEl>
                                          <p:spTgt spid="2"/>
                                        </p:tgtEl>
                                        <p:attrNameLst>
                                          <p:attrName>style.visibility</p:attrName>
                                        </p:attrNameLst>
                                      </p:cBhvr>
                                      <p:to>
                                        <p:strVal val="hidden"/>
                                      </p:to>
                                    </p:set>
                                  </p:childTnLst>
                                </p:cTn>
                              </p:par>
                              <p:par>
                                <p:cTn id="23" presetID="9" presetClass="entr" presetSubtype="0" fill="hold" grpId="0" nodeType="withEffect">
                                  <p:stCondLst>
                                    <p:cond delay="0"/>
                                  </p:stCondLst>
                                  <p:childTnLst>
                                    <p:set>
                                      <p:cBhvr>
                                        <p:cTn id="24" dur="1" fill="hold">
                                          <p:stCondLst>
                                            <p:cond delay="0"/>
                                          </p:stCondLst>
                                        </p:cTn>
                                        <p:tgtEl>
                                          <p:spTgt spid="3900438"/>
                                        </p:tgtEl>
                                        <p:attrNameLst>
                                          <p:attrName>style.visibility</p:attrName>
                                        </p:attrNameLst>
                                      </p:cBhvr>
                                      <p:to>
                                        <p:strVal val="visible"/>
                                      </p:to>
                                    </p:set>
                                    <p:animEffect transition="in" filter="dissolve">
                                      <p:cBhvr>
                                        <p:cTn id="25" dur="500"/>
                                        <p:tgtEl>
                                          <p:spTgt spid="3900438"/>
                                        </p:tgtEl>
                                      </p:cBhvr>
                                    </p:animEffect>
                                  </p:childTnLst>
                                </p:cTn>
                              </p:par>
                            </p:childTnLst>
                          </p:cTn>
                        </p:par>
                        <p:par>
                          <p:cTn id="26" fill="hold">
                            <p:stCondLst>
                              <p:cond delay="2000"/>
                            </p:stCondLst>
                            <p:childTnLst>
                              <p:par>
                                <p:cTn id="27" presetID="9" presetClass="entr" presetSubtype="0"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dissolve">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dissolve">
                                      <p:cBhvr>
                                        <p:cTn id="34" dur="500"/>
                                        <p:tgtEl>
                                          <p:spTgt spid="3"/>
                                        </p:tgtEl>
                                      </p:cBhvr>
                                    </p:animEffect>
                                  </p:childTnLst>
                                </p:cTn>
                              </p:par>
                              <p:par>
                                <p:cTn id="35" presetID="1" presetClass="exit" presetSubtype="0" fill="hold" grpId="1" nodeType="withEffect">
                                  <p:stCondLst>
                                    <p:cond delay="0"/>
                                  </p:stCondLst>
                                  <p:childTnLst>
                                    <p:set>
                                      <p:cBhvr>
                                        <p:cTn id="36" dur="1" fill="hold">
                                          <p:stCondLst>
                                            <p:cond delay="0"/>
                                          </p:stCondLst>
                                        </p:cTn>
                                        <p:tgtEl>
                                          <p:spTgt spid="3900438"/>
                                        </p:tgtEl>
                                        <p:attrNameLst>
                                          <p:attrName>style.visibility</p:attrName>
                                        </p:attrNameLst>
                                      </p:cBhvr>
                                      <p:to>
                                        <p:strVal val="hidden"/>
                                      </p:to>
                                    </p:set>
                                  </p:childTnLst>
                                </p:cTn>
                              </p:par>
                              <p:par>
                                <p:cTn id="37" presetID="10" presetClass="exit" presetSubtype="0" fill="hold" nodeType="withEffect">
                                  <p:stCondLst>
                                    <p:cond delay="0"/>
                                  </p:stCondLst>
                                  <p:childTnLst>
                                    <p:animEffect transition="out" filter="fade">
                                      <p:cBhvr>
                                        <p:cTn id="38" dur="2000"/>
                                        <p:tgtEl>
                                          <p:spTgt spid="4"/>
                                        </p:tgtEl>
                                      </p:cBhvr>
                                    </p:animEffect>
                                    <p:set>
                                      <p:cBhvr>
                                        <p:cTn id="39" dur="1" fill="hold">
                                          <p:stCondLst>
                                            <p:cond delay="1999"/>
                                          </p:stCondLst>
                                        </p:cTn>
                                        <p:tgtEl>
                                          <p:spTgt spid="4"/>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42" presetClass="path" presetSubtype="0" accel="50000" decel="50000" fill="hold" nodeType="clickEffect">
                                  <p:stCondLst>
                                    <p:cond delay="0"/>
                                  </p:stCondLst>
                                  <p:childTnLst>
                                    <p:animMotion origin="layout" path="M -2.91667E-6 -3.58025E-6 L -0.34166 0.25926 " pathEditMode="relative" rAng="0" ptsTypes="AA">
                                      <p:cBhvr>
                                        <p:cTn id="43" dur="2000" fill="hold"/>
                                        <p:tgtEl>
                                          <p:spTgt spid="3"/>
                                        </p:tgtEl>
                                        <p:attrNameLst>
                                          <p:attrName>ppt_x</p:attrName>
                                          <p:attrName>ppt_y</p:attrName>
                                        </p:attrNameLst>
                                      </p:cBhvr>
                                      <p:rCtr x="-17083" y="12963"/>
                                    </p:animMotion>
                                  </p:childTnLst>
                                </p:cTn>
                              </p:par>
                            </p:childTnLst>
                          </p:cTn>
                        </p:par>
                      </p:childTnLst>
                    </p:cTn>
                  </p:par>
                  <p:par>
                    <p:cTn id="44" fill="hold">
                      <p:stCondLst>
                        <p:cond delay="indefinite"/>
                      </p:stCondLst>
                      <p:childTnLst>
                        <p:par>
                          <p:cTn id="45" fill="hold">
                            <p:stCondLst>
                              <p:cond delay="0"/>
                            </p:stCondLst>
                            <p:childTnLst>
                              <p:par>
                                <p:cTn id="46" presetID="35" presetClass="path" presetSubtype="0" accel="50000" decel="50000" fill="hold" nodeType="clickEffect">
                                  <p:stCondLst>
                                    <p:cond delay="0"/>
                                  </p:stCondLst>
                                  <p:childTnLst>
                                    <p:animMotion origin="layout" path="M -0.34166 0.25926 L -0.71632 0.25926 " pathEditMode="relative" rAng="0" ptsTypes="AA">
                                      <p:cBhvr>
                                        <p:cTn id="47" dur="2000" fill="hold"/>
                                        <p:tgtEl>
                                          <p:spTgt spid="3"/>
                                        </p:tgtEl>
                                        <p:attrNameLst>
                                          <p:attrName>ppt_x</p:attrName>
                                          <p:attrName>ppt_y</p:attrName>
                                        </p:attrNameLst>
                                      </p:cBhvr>
                                      <p:rCtr x="-18733" y="0"/>
                                    </p:animMotion>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nodeType="clickEffect">
                                  <p:stCondLst>
                                    <p:cond delay="0"/>
                                  </p:stCondLst>
                                  <p:childTnLst>
                                    <p:animEffect transition="out" filter="fade">
                                      <p:cBhvr>
                                        <p:cTn id="51" dur="2000"/>
                                        <p:tgtEl>
                                          <p:spTgt spid="3"/>
                                        </p:tgtEl>
                                      </p:cBhvr>
                                    </p:animEffect>
                                    <p:set>
                                      <p:cBhvr>
                                        <p:cTn id="52" dur="1" fill="hold">
                                          <p:stCondLst>
                                            <p:cond delay="1999"/>
                                          </p:stCondLst>
                                        </p:cTn>
                                        <p:tgtEl>
                                          <p:spTgt spid="3"/>
                                        </p:tgtEl>
                                        <p:attrNameLst>
                                          <p:attrName>style.visibility</p:attrName>
                                        </p:attrNameLst>
                                      </p:cBhvr>
                                      <p:to>
                                        <p:strVal val="hidden"/>
                                      </p:to>
                                    </p:set>
                                  </p:childTnLst>
                                </p:cTn>
                              </p:par>
                              <p:par>
                                <p:cTn id="53" presetID="9" presetClass="entr" presetSubtype="0" fill="hold" nodeType="withEffect">
                                  <p:stCondLst>
                                    <p:cond delay="0"/>
                                  </p:stCondLst>
                                  <p:childTnLst>
                                    <p:set>
                                      <p:cBhvr>
                                        <p:cTn id="54" dur="1" fill="hold">
                                          <p:stCondLst>
                                            <p:cond delay="0"/>
                                          </p:stCondLst>
                                        </p:cTn>
                                        <p:tgtEl>
                                          <p:spTgt spid="3900437"/>
                                        </p:tgtEl>
                                        <p:attrNameLst>
                                          <p:attrName>style.visibility</p:attrName>
                                        </p:attrNameLst>
                                      </p:cBhvr>
                                      <p:to>
                                        <p:strVal val="visible"/>
                                      </p:to>
                                    </p:set>
                                    <p:animEffect transition="in" filter="dissolve">
                                      <p:cBhvr>
                                        <p:cTn id="55" dur="500"/>
                                        <p:tgtEl>
                                          <p:spTgt spid="3900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0432" grpId="0" animBg="1"/>
      <p:bldP spid="3900438" grpId="0" animBg="1"/>
      <p:bldP spid="3900438" grpId="1"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Chapter 15</a:t>
            </a:r>
            <a:br>
              <a:rPr lang="en-US" dirty="0"/>
            </a:br>
            <a:r>
              <a:rPr lang="en-US" dirty="0"/>
              <a:t>The </a:t>
            </a:r>
            <a:r>
              <a:rPr dirty="0"/>
              <a:t>Transport Layer: </a:t>
            </a:r>
            <a:br>
              <a:rPr lang="en-US" dirty="0"/>
            </a:br>
            <a:r>
              <a:rPr lang="en-US" dirty="0"/>
              <a:t>Network </a:t>
            </a:r>
            <a:r>
              <a:rPr dirty="0"/>
              <a:t>Confidentiality and Integrity</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C0F19FB-EFD2-0CA3-5B66-C5F3AB8F22EF}"/>
              </a:ext>
            </a:extLst>
          </p:cNvPr>
          <p:cNvSpPr txBox="1">
            <a:spLocks/>
          </p:cNvSpPr>
          <p:nvPr/>
        </p:nvSpPr>
        <p:spPr>
          <a:xfrm>
            <a:off x="8152327" y="1183553"/>
            <a:ext cx="9005015" cy="8655906"/>
          </a:xfrm>
          <a:prstGeom prst="rect">
            <a:avLst/>
          </a:prstGeom>
        </p:spPr>
        <p:txBody>
          <a:bodyPr vert="horz" lIns="91440" tIns="45720" rIns="91440" bIns="45720" rtlCol="0">
            <a:norm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1pPr>
            <a:lvl2pPr marL="1028700" indent="-342900" algn="l" defTabSz="1371600" rtl="0" eaLnBrk="1" latinLnBrk="0" hangingPunct="1">
              <a:lnSpc>
                <a:spcPct val="90000"/>
              </a:lnSpc>
              <a:spcBef>
                <a:spcPts val="750"/>
              </a:spcBef>
              <a:buFont typeface="Arial" panose="020B0604020202020204" pitchFamily="34" charset="0"/>
              <a:buChar char="•"/>
              <a:defRPr sz="36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2pPr>
            <a:lvl3pPr marL="1714500" indent="-342900" algn="l" defTabSz="1371600" rtl="0" eaLnBrk="1" latinLnBrk="0" hangingPunct="1">
              <a:lnSpc>
                <a:spcPct val="90000"/>
              </a:lnSpc>
              <a:spcBef>
                <a:spcPts val="750"/>
              </a:spcBef>
              <a:buFont typeface="Arial" panose="020B0604020202020204" pitchFamily="34" charset="0"/>
              <a:buChar char="•"/>
              <a:defRPr sz="30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3pPr>
            <a:lvl4pPr marL="24003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4pPr>
            <a:lvl5pPr marL="3086100" indent="-342900" algn="l" defTabSz="1371600" rtl="0" eaLnBrk="1" latinLnBrk="0" hangingPunct="1">
              <a:lnSpc>
                <a:spcPct val="90000"/>
              </a:lnSpc>
              <a:spcBef>
                <a:spcPts val="750"/>
              </a:spcBef>
              <a:buFont typeface="Arial" panose="020B0604020202020204" pitchFamily="34" charset="0"/>
              <a:buChar char="•"/>
              <a:defRPr sz="27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r>
              <a:rPr lang="en-US" dirty="0"/>
              <a:t>Transmission Control Protocol</a:t>
            </a:r>
          </a:p>
          <a:p>
            <a:pPr lvl="1"/>
            <a:r>
              <a:rPr lang="en-US" dirty="0"/>
              <a:t>Manages connection to the destination server</a:t>
            </a:r>
          </a:p>
          <a:p>
            <a:pPr lvl="2"/>
            <a:r>
              <a:rPr lang="en-US" dirty="0"/>
              <a:t>Addressing</a:t>
            </a:r>
          </a:p>
          <a:p>
            <a:pPr lvl="2"/>
            <a:r>
              <a:rPr lang="en-US" dirty="0"/>
              <a:t>Data transfer</a:t>
            </a:r>
          </a:p>
          <a:p>
            <a:pPr lvl="2"/>
            <a:r>
              <a:rPr lang="en-US" dirty="0"/>
              <a:t>Receipt acknowledgement</a:t>
            </a:r>
          </a:p>
          <a:p>
            <a:pPr lvl="2"/>
            <a:r>
              <a:rPr lang="en-US" dirty="0"/>
              <a:t>Disconnects from the server</a:t>
            </a:r>
          </a:p>
          <a:p>
            <a:endParaRPr lang="en-US" dirty="0"/>
          </a:p>
          <a:p>
            <a:r>
              <a:rPr lang="en-US" dirty="0"/>
              <a:t>Messages need to get to the destination server using SMTP</a:t>
            </a:r>
          </a:p>
          <a:p>
            <a:pPr lvl="2"/>
            <a:endParaRPr lang="en-US" dirty="0"/>
          </a:p>
          <a:p>
            <a:pPr lvl="1"/>
            <a:endParaRPr lang="en-US" dirty="0"/>
          </a:p>
          <a:p>
            <a:pPr lvl="2"/>
            <a:endParaRPr lang="en-US" dirty="0"/>
          </a:p>
          <a:p>
            <a:pPr lvl="3"/>
            <a:endParaRPr lang="en-US" dirty="0"/>
          </a:p>
        </p:txBody>
      </p:sp>
      <p:sp>
        <p:nvSpPr>
          <p:cNvPr id="11" name="Rectangle 10">
            <a:extLst>
              <a:ext uri="{FF2B5EF4-FFF2-40B4-BE49-F238E27FC236}">
                <a16:creationId xmlns:a16="http://schemas.microsoft.com/office/drawing/2014/main" id="{A4A66D8D-9A39-DB49-EEE1-51E9AFE52EC9}"/>
              </a:ext>
            </a:extLst>
          </p:cNvPr>
          <p:cNvSpPr/>
          <p:nvPr/>
        </p:nvSpPr>
        <p:spPr>
          <a:xfrm>
            <a:off x="7769185" y="5924282"/>
            <a:ext cx="8889640" cy="121061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ounded Rectangle 1">
            <a:extLst>
              <a:ext uri="{FF2B5EF4-FFF2-40B4-BE49-F238E27FC236}">
                <a16:creationId xmlns:a16="http://schemas.microsoft.com/office/drawing/2014/main" id="{16563B5B-BA7B-2EFC-9FB3-EF7D06284C69}"/>
              </a:ext>
            </a:extLst>
          </p:cNvPr>
          <p:cNvSpPr/>
          <p:nvPr/>
        </p:nvSpPr>
        <p:spPr>
          <a:xfrm>
            <a:off x="679938" y="2754923"/>
            <a:ext cx="2192215" cy="506436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F8186C4D-7CB9-7BCE-534C-D44BFBF77442}"/>
              </a:ext>
            </a:extLst>
          </p:cNvPr>
          <p:cNvSpPr/>
          <p:nvPr/>
        </p:nvSpPr>
        <p:spPr>
          <a:xfrm>
            <a:off x="5023339" y="2754923"/>
            <a:ext cx="2192215" cy="506436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7E6EF16B-E6CE-B49D-AC21-ECF1CEB67025}"/>
              </a:ext>
            </a:extLst>
          </p:cNvPr>
          <p:cNvGrpSpPr/>
          <p:nvPr/>
        </p:nvGrpSpPr>
        <p:grpSpPr>
          <a:xfrm>
            <a:off x="879231" y="3039079"/>
            <a:ext cx="6166339" cy="1549106"/>
            <a:chOff x="609600" y="3962400"/>
            <a:chExt cx="6166339" cy="1549106"/>
          </a:xfrm>
        </p:grpSpPr>
        <p:sp>
          <p:nvSpPr>
            <p:cNvPr id="5" name="Rounded Rectangle 4">
              <a:extLst>
                <a:ext uri="{FF2B5EF4-FFF2-40B4-BE49-F238E27FC236}">
                  <a16:creationId xmlns:a16="http://schemas.microsoft.com/office/drawing/2014/main" id="{DD6ECFE7-5616-C299-B82B-9A85D3F01436}"/>
                </a:ext>
              </a:extLst>
            </p:cNvPr>
            <p:cNvSpPr/>
            <p:nvPr/>
          </p:nvSpPr>
          <p:spPr>
            <a:xfrm>
              <a:off x="609600" y="3962400"/>
              <a:ext cx="1852246" cy="1500554"/>
            </a:xfrm>
            <a:prstGeom prst="roundRect">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latin typeface="Helvetica Neue" panose="02000503000000020004" pitchFamily="2" charset="0"/>
                  <a:ea typeface="Helvetica Neue" panose="02000503000000020004" pitchFamily="2" charset="0"/>
                  <a:cs typeface="Helvetica Neue" panose="02000503000000020004" pitchFamily="2" charset="0"/>
                </a:rPr>
                <a:t>Email</a:t>
              </a:r>
            </a:p>
            <a:p>
              <a:pPr algn="ctr"/>
              <a:r>
                <a:rPr lang="en-US" sz="2400" b="1">
                  <a:latin typeface="Helvetica Neue" panose="02000503000000020004" pitchFamily="2" charset="0"/>
                  <a:ea typeface="Helvetica Neue" panose="02000503000000020004" pitchFamily="2" charset="0"/>
                  <a:cs typeface="Helvetica Neue" panose="02000503000000020004" pitchFamily="2" charset="0"/>
                </a:rPr>
                <a:t>Server</a:t>
              </a:r>
            </a:p>
          </p:txBody>
        </p:sp>
        <p:sp>
          <p:nvSpPr>
            <p:cNvPr id="6" name="Rounded Rectangle 5">
              <a:extLst>
                <a:ext uri="{FF2B5EF4-FFF2-40B4-BE49-F238E27FC236}">
                  <a16:creationId xmlns:a16="http://schemas.microsoft.com/office/drawing/2014/main" id="{62F90E42-6637-819F-1CE9-5611C092CAB4}"/>
                </a:ext>
              </a:extLst>
            </p:cNvPr>
            <p:cNvSpPr/>
            <p:nvPr/>
          </p:nvSpPr>
          <p:spPr>
            <a:xfrm>
              <a:off x="4923693" y="4010952"/>
              <a:ext cx="1852246" cy="1500554"/>
            </a:xfrm>
            <a:prstGeom prst="round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latin typeface="Helvetica Neue" panose="02000503000000020004" pitchFamily="2" charset="0"/>
                  <a:ea typeface="Helvetica Neue" panose="02000503000000020004" pitchFamily="2" charset="0"/>
                  <a:cs typeface="Helvetica Neue" panose="02000503000000020004" pitchFamily="2" charset="0"/>
                </a:rPr>
                <a:t>Email</a:t>
              </a:r>
            </a:p>
            <a:p>
              <a:pPr algn="ctr"/>
              <a:r>
                <a:rPr lang="en-US" sz="2400" b="1">
                  <a:latin typeface="Helvetica Neue" panose="02000503000000020004" pitchFamily="2" charset="0"/>
                  <a:ea typeface="Helvetica Neue" panose="02000503000000020004" pitchFamily="2" charset="0"/>
                  <a:cs typeface="Helvetica Neue" panose="02000503000000020004" pitchFamily="2" charset="0"/>
                </a:rPr>
                <a:t>Server</a:t>
              </a:r>
            </a:p>
          </p:txBody>
        </p:sp>
        <p:sp>
          <p:nvSpPr>
            <p:cNvPr id="9" name="Right Arrow 8">
              <a:extLst>
                <a:ext uri="{FF2B5EF4-FFF2-40B4-BE49-F238E27FC236}">
                  <a16:creationId xmlns:a16="http://schemas.microsoft.com/office/drawing/2014/main" id="{6A28612E-A2AC-C259-CFE3-708F0342743E}"/>
                </a:ext>
              </a:extLst>
            </p:cNvPr>
            <p:cNvSpPr/>
            <p:nvPr/>
          </p:nvSpPr>
          <p:spPr>
            <a:xfrm>
              <a:off x="3383964" y="4507523"/>
              <a:ext cx="1369744" cy="410308"/>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D6CA70C-5EC8-46B2-9AA3-A4C8C31CDF4D}"/>
                </a:ext>
              </a:extLst>
            </p:cNvPr>
            <p:cNvSpPr txBox="1"/>
            <p:nvPr/>
          </p:nvSpPr>
          <p:spPr>
            <a:xfrm>
              <a:off x="3088062" y="4025917"/>
              <a:ext cx="1056700" cy="461665"/>
            </a:xfrm>
            <a:prstGeom prst="rect">
              <a:avLst/>
            </a:prstGeom>
            <a:noFill/>
          </p:spPr>
          <p:txBody>
            <a:bodyPr wrap="none" rtlCol="0">
              <a:spAutoFit/>
            </a:bodyPr>
            <a:lstStyle/>
            <a:p>
              <a:r>
                <a:rPr lang="en-US" sz="2400" b="1">
                  <a:latin typeface="Helvetica Neue" panose="02000503000000020004" pitchFamily="2" charset="0"/>
                  <a:ea typeface="Helvetica Neue" panose="02000503000000020004" pitchFamily="2" charset="0"/>
                  <a:cs typeface="Helvetica Neue" panose="02000503000000020004" pitchFamily="2" charset="0"/>
                </a:rPr>
                <a:t>SMTP</a:t>
              </a:r>
            </a:p>
          </p:txBody>
        </p:sp>
      </p:grpSp>
      <p:sp>
        <p:nvSpPr>
          <p:cNvPr id="14" name="Rounded Rectangle 13">
            <a:extLst>
              <a:ext uri="{FF2B5EF4-FFF2-40B4-BE49-F238E27FC236}">
                <a16:creationId xmlns:a16="http://schemas.microsoft.com/office/drawing/2014/main" id="{AFE200DA-77A3-9744-744E-2F3DFAD98239}"/>
              </a:ext>
            </a:extLst>
          </p:cNvPr>
          <p:cNvSpPr/>
          <p:nvPr/>
        </p:nvSpPr>
        <p:spPr>
          <a:xfrm>
            <a:off x="849922" y="5174005"/>
            <a:ext cx="1852246" cy="1500554"/>
          </a:xfrm>
          <a:prstGeom prst="roundRect">
            <a:avLst/>
          </a:prstGeom>
          <a:solidFill>
            <a:srgbClr val="008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latin typeface="Helvetica Neue" panose="02000503000000020004" pitchFamily="2" charset="0"/>
                <a:ea typeface="Helvetica Neue" panose="02000503000000020004" pitchFamily="2" charset="0"/>
                <a:cs typeface="Helvetica Neue" panose="02000503000000020004" pitchFamily="2" charset="0"/>
              </a:rPr>
              <a:t>Sender</a:t>
            </a:r>
          </a:p>
        </p:txBody>
      </p:sp>
      <p:sp>
        <p:nvSpPr>
          <p:cNvPr id="15" name="Right Arrow 14">
            <a:extLst>
              <a:ext uri="{FF2B5EF4-FFF2-40B4-BE49-F238E27FC236}">
                <a16:creationId xmlns:a16="http://schemas.microsoft.com/office/drawing/2014/main" id="{02C84921-0962-A585-240D-6F8DABE069A8}"/>
              </a:ext>
            </a:extLst>
          </p:cNvPr>
          <p:cNvSpPr/>
          <p:nvPr/>
        </p:nvSpPr>
        <p:spPr>
          <a:xfrm rot="10800000">
            <a:off x="2876015" y="3581143"/>
            <a:ext cx="1369744" cy="410308"/>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B1CAA004-6FCF-B4B1-B8D2-E5C6B29D0241}"/>
              </a:ext>
            </a:extLst>
          </p:cNvPr>
          <p:cNvSpPr/>
          <p:nvPr/>
        </p:nvSpPr>
        <p:spPr>
          <a:xfrm>
            <a:off x="5193324" y="5143500"/>
            <a:ext cx="1852246" cy="1500554"/>
          </a:xfrm>
          <a:prstGeom prst="roundRect">
            <a:avLst/>
          </a:prstGeom>
          <a:solidFill>
            <a:srgbClr val="008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latin typeface="Helvetica Neue" panose="02000503000000020004" pitchFamily="2" charset="0"/>
                <a:ea typeface="Helvetica Neue" panose="02000503000000020004" pitchFamily="2" charset="0"/>
                <a:cs typeface="Helvetica Neue" panose="02000503000000020004" pitchFamily="2" charset="0"/>
              </a:rPr>
              <a:t>Receiver</a:t>
            </a:r>
          </a:p>
        </p:txBody>
      </p:sp>
      <p:sp>
        <p:nvSpPr>
          <p:cNvPr id="17" name="Right Arrow 16">
            <a:extLst>
              <a:ext uri="{FF2B5EF4-FFF2-40B4-BE49-F238E27FC236}">
                <a16:creationId xmlns:a16="http://schemas.microsoft.com/office/drawing/2014/main" id="{7204719A-D95A-8898-ED4F-B02144216C3C}"/>
              </a:ext>
            </a:extLst>
          </p:cNvPr>
          <p:cNvSpPr/>
          <p:nvPr/>
        </p:nvSpPr>
        <p:spPr>
          <a:xfrm rot="10800000">
            <a:off x="2861893" y="5762910"/>
            <a:ext cx="1369744" cy="410308"/>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C957CC43-0595-9A28-C848-907ECE161B79}"/>
              </a:ext>
            </a:extLst>
          </p:cNvPr>
          <p:cNvSpPr/>
          <p:nvPr/>
        </p:nvSpPr>
        <p:spPr>
          <a:xfrm>
            <a:off x="3658527" y="5762911"/>
            <a:ext cx="1369744" cy="410308"/>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DBE7CC4-9331-E284-21BD-2FF06E350ADB}"/>
              </a:ext>
            </a:extLst>
          </p:cNvPr>
          <p:cNvSpPr txBox="1"/>
          <p:nvPr/>
        </p:nvSpPr>
        <p:spPr>
          <a:xfrm>
            <a:off x="3436868" y="5332661"/>
            <a:ext cx="805029" cy="461665"/>
          </a:xfrm>
          <a:prstGeom prst="rect">
            <a:avLst/>
          </a:prstGeom>
          <a:noFill/>
        </p:spPr>
        <p:txBody>
          <a:bodyPr wrap="none" rtlCol="0">
            <a:spAutoFit/>
          </a:bodyPr>
          <a:lstStyle/>
          <a:p>
            <a:r>
              <a:rPr lang="en-US" sz="2400" b="1">
                <a:latin typeface="Helvetica Neue" panose="02000503000000020004" pitchFamily="2" charset="0"/>
                <a:ea typeface="Helvetica Neue" panose="02000503000000020004" pitchFamily="2" charset="0"/>
                <a:cs typeface="Helvetica Neue" panose="02000503000000020004" pitchFamily="2" charset="0"/>
              </a:rPr>
              <a:t>TCP</a:t>
            </a:r>
          </a:p>
        </p:txBody>
      </p:sp>
    </p:spTree>
    <p:extLst>
      <p:ext uri="{BB962C8B-B14F-4D97-AF65-F5344CB8AC3E}">
        <p14:creationId xmlns:p14="http://schemas.microsoft.com/office/powerpoint/2010/main" val="3229947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6494AE-C598-91B8-29C8-A8452E623B6C}"/>
              </a:ext>
            </a:extLst>
          </p:cNvPr>
          <p:cNvSpPr>
            <a:spLocks noGrp="1"/>
          </p:cNvSpPr>
          <p:nvPr>
            <p:ph type="title"/>
          </p:nvPr>
        </p:nvSpPr>
        <p:spPr/>
        <p:txBody>
          <a:bodyPr/>
          <a:lstStyle/>
          <a:p>
            <a:r>
              <a:rPr lang="en-US"/>
              <a:t>Transport Layer Connections</a:t>
            </a:r>
          </a:p>
        </p:txBody>
      </p:sp>
      <p:sp>
        <p:nvSpPr>
          <p:cNvPr id="5" name="Content Placeholder 4">
            <a:extLst>
              <a:ext uri="{FF2B5EF4-FFF2-40B4-BE49-F238E27FC236}">
                <a16:creationId xmlns:a16="http://schemas.microsoft.com/office/drawing/2014/main" id="{CD71D597-ABBF-17BA-D1D6-E25AF5430A09}"/>
              </a:ext>
            </a:extLst>
          </p:cNvPr>
          <p:cNvSpPr>
            <a:spLocks noGrp="1"/>
          </p:cNvSpPr>
          <p:nvPr>
            <p:ph idx="1"/>
          </p:nvPr>
        </p:nvSpPr>
        <p:spPr/>
        <p:txBody>
          <a:bodyPr/>
          <a:lstStyle/>
          <a:p>
            <a:r>
              <a:rPr lang="en-US"/>
              <a:t>Connects client to server</a:t>
            </a:r>
          </a:p>
          <a:p>
            <a:r>
              <a:rPr lang="en-US"/>
              <a:t>Internet Protocol Suite offers two options</a:t>
            </a:r>
          </a:p>
          <a:p>
            <a:pPr lvl="1"/>
            <a:r>
              <a:rPr lang="en-US"/>
              <a:t>Transmission Control Protocol (TCP)</a:t>
            </a:r>
          </a:p>
          <a:p>
            <a:pPr lvl="1"/>
            <a:r>
              <a:rPr lang="en-US"/>
              <a:t>User Datagram Protocol (UDP)</a:t>
            </a:r>
          </a:p>
          <a:p>
            <a:endParaRPr lang="en-US"/>
          </a:p>
        </p:txBody>
      </p:sp>
      <p:grpSp>
        <p:nvGrpSpPr>
          <p:cNvPr id="19" name="Group 18">
            <a:extLst>
              <a:ext uri="{FF2B5EF4-FFF2-40B4-BE49-F238E27FC236}">
                <a16:creationId xmlns:a16="http://schemas.microsoft.com/office/drawing/2014/main" id="{6C07066A-D38D-665C-CD90-114A1278200C}"/>
              </a:ext>
            </a:extLst>
          </p:cNvPr>
          <p:cNvGrpSpPr/>
          <p:nvPr/>
        </p:nvGrpSpPr>
        <p:grpSpPr>
          <a:xfrm>
            <a:off x="5111261" y="5444640"/>
            <a:ext cx="7488115" cy="5298457"/>
            <a:chOff x="6858000" y="5193697"/>
            <a:chExt cx="7488115" cy="5298457"/>
          </a:xfrm>
        </p:grpSpPr>
        <p:pic>
          <p:nvPicPr>
            <p:cNvPr id="6" name="Graphic 5" descr="Cloud outline">
              <a:extLst>
                <a:ext uri="{FF2B5EF4-FFF2-40B4-BE49-F238E27FC236}">
                  <a16:creationId xmlns:a16="http://schemas.microsoft.com/office/drawing/2014/main" id="{D36A2BD6-65EE-C4BE-AB88-D36A28E422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0183" y="5193697"/>
              <a:ext cx="4815941" cy="5298457"/>
            </a:xfrm>
            <a:prstGeom prst="rect">
              <a:avLst/>
            </a:prstGeom>
          </p:spPr>
        </p:pic>
        <p:sp>
          <p:nvSpPr>
            <p:cNvPr id="7" name="TextBox 6">
              <a:extLst>
                <a:ext uri="{FF2B5EF4-FFF2-40B4-BE49-F238E27FC236}">
                  <a16:creationId xmlns:a16="http://schemas.microsoft.com/office/drawing/2014/main" id="{CBE66294-9A7A-0296-D2A6-B9EC5BCD88DA}"/>
                </a:ext>
              </a:extLst>
            </p:cNvPr>
            <p:cNvSpPr txBox="1"/>
            <p:nvPr/>
          </p:nvSpPr>
          <p:spPr>
            <a:xfrm>
              <a:off x="9832854" y="7703877"/>
              <a:ext cx="1576072" cy="523220"/>
            </a:xfrm>
            <a:prstGeom prst="rect">
              <a:avLst/>
            </a:prstGeom>
            <a:noFill/>
          </p:spPr>
          <p:txBody>
            <a:bodyPr wrap="none" rtlCol="0">
              <a:spAutoFit/>
            </a:bodyPr>
            <a:lstStyle/>
            <a:p>
              <a: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t>Network</a:t>
              </a:r>
            </a:p>
          </p:txBody>
        </p:sp>
        <p:sp>
          <p:nvSpPr>
            <p:cNvPr id="8" name="Rounded Rectangle 7">
              <a:extLst>
                <a:ext uri="{FF2B5EF4-FFF2-40B4-BE49-F238E27FC236}">
                  <a16:creationId xmlns:a16="http://schemas.microsoft.com/office/drawing/2014/main" id="{BC488DA2-BE27-9078-31C2-0E95ACD01715}"/>
                </a:ext>
              </a:extLst>
            </p:cNvPr>
            <p:cNvSpPr/>
            <p:nvPr/>
          </p:nvSpPr>
          <p:spPr>
            <a:xfrm>
              <a:off x="6858000" y="5676730"/>
              <a:ext cx="1887415" cy="1043354"/>
            </a:xfrm>
            <a:prstGeom prst="roundRect">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D498F63C-3A4A-10E9-8EF4-88976585F87A}"/>
                </a:ext>
              </a:extLst>
            </p:cNvPr>
            <p:cNvSpPr/>
            <p:nvPr/>
          </p:nvSpPr>
          <p:spPr>
            <a:xfrm>
              <a:off x="12458700" y="5676730"/>
              <a:ext cx="1887415" cy="1043354"/>
            </a:xfrm>
            <a:prstGeom prst="roundRect">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820CFA8-F6A0-5609-6EF1-13F9252C5080}"/>
                </a:ext>
              </a:extLst>
            </p:cNvPr>
            <p:cNvSpPr txBox="1"/>
            <p:nvPr/>
          </p:nvSpPr>
          <p:spPr>
            <a:xfrm>
              <a:off x="7229274" y="5936797"/>
              <a:ext cx="1144865" cy="523220"/>
            </a:xfrm>
            <a:prstGeom prst="rect">
              <a:avLst/>
            </a:prstGeom>
            <a:noFill/>
          </p:spPr>
          <p:txBody>
            <a:bodyPr wrap="none" rtlCol="0">
              <a:spAutoFit/>
            </a:bodyPr>
            <a:lstStyle/>
            <a:p>
              <a:r>
                <a:rPr lang="en-US" sz="2800">
                  <a:solidFill>
                    <a:schemeClr val="accent1"/>
                  </a:solidFill>
                  <a:latin typeface="Helvetica Neue Medium" panose="02000503000000020004" pitchFamily="2" charset="0"/>
                  <a:ea typeface="Helvetica Neue Medium" panose="02000503000000020004" pitchFamily="2" charset="0"/>
                  <a:cs typeface="Helvetica Neue Medium" panose="02000503000000020004" pitchFamily="2" charset="0"/>
                </a:rPr>
                <a:t>Client</a:t>
              </a:r>
            </a:p>
          </p:txBody>
        </p:sp>
        <p:sp>
          <p:nvSpPr>
            <p:cNvPr id="11" name="TextBox 10">
              <a:extLst>
                <a:ext uri="{FF2B5EF4-FFF2-40B4-BE49-F238E27FC236}">
                  <a16:creationId xmlns:a16="http://schemas.microsoft.com/office/drawing/2014/main" id="{0CE948DB-3AE7-1A37-CE98-1A1E199C7C82}"/>
                </a:ext>
              </a:extLst>
            </p:cNvPr>
            <p:cNvSpPr txBox="1"/>
            <p:nvPr/>
          </p:nvSpPr>
          <p:spPr>
            <a:xfrm>
              <a:off x="12773869" y="5936797"/>
              <a:ext cx="1257075" cy="523220"/>
            </a:xfrm>
            <a:prstGeom prst="rect">
              <a:avLst/>
            </a:prstGeom>
            <a:noFill/>
          </p:spPr>
          <p:txBody>
            <a:bodyPr wrap="none" rtlCol="0">
              <a:spAutoFit/>
            </a:bodyPr>
            <a:lstStyle/>
            <a:p>
              <a:r>
                <a:rPr lang="en-US" sz="2800">
                  <a:solidFill>
                    <a:schemeClr val="accent1"/>
                  </a:solidFill>
                  <a:latin typeface="Helvetica Neue Medium" panose="02000503000000020004" pitchFamily="2" charset="0"/>
                  <a:ea typeface="Helvetica Neue Medium" panose="02000503000000020004" pitchFamily="2" charset="0"/>
                  <a:cs typeface="Helvetica Neue Medium" panose="02000503000000020004" pitchFamily="2" charset="0"/>
                </a:rPr>
                <a:t>Server</a:t>
              </a:r>
            </a:p>
          </p:txBody>
        </p:sp>
        <p:cxnSp>
          <p:nvCxnSpPr>
            <p:cNvPr id="13" name="Straight Arrow Connector 12">
              <a:extLst>
                <a:ext uri="{FF2B5EF4-FFF2-40B4-BE49-F238E27FC236}">
                  <a16:creationId xmlns:a16="http://schemas.microsoft.com/office/drawing/2014/main" id="{70359C09-5BA1-DBC9-BEDB-E123A7491A8C}"/>
                </a:ext>
              </a:extLst>
            </p:cNvPr>
            <p:cNvCxnSpPr>
              <a:endCxn id="9" idx="1"/>
            </p:cNvCxnSpPr>
            <p:nvPr/>
          </p:nvCxnSpPr>
          <p:spPr>
            <a:xfrm>
              <a:off x="8745415" y="6198407"/>
              <a:ext cx="3713285" cy="0"/>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0A0C67F-6E0C-8EA9-CB2A-AB59719290A6}"/>
                </a:ext>
              </a:extLst>
            </p:cNvPr>
            <p:cNvSpPr txBox="1"/>
            <p:nvPr/>
          </p:nvSpPr>
          <p:spPr>
            <a:xfrm>
              <a:off x="9168640" y="5511097"/>
              <a:ext cx="2988126" cy="461665"/>
            </a:xfrm>
            <a:prstGeom prst="rect">
              <a:avLst/>
            </a:prstGeom>
            <a:noFill/>
          </p:spPr>
          <p:txBody>
            <a:bodyPr wrap="none" rtlCol="0">
              <a:spAutoFit/>
            </a:bodyPr>
            <a:lstStyle/>
            <a:p>
              <a:r>
                <a:rPr lang="en-US" sz="2400">
                  <a:solidFill>
                    <a:schemeClr val="accent1"/>
                  </a:solidFill>
                  <a:latin typeface="Helvetica Neue Medium" panose="02000503000000020004" pitchFamily="2" charset="0"/>
                  <a:ea typeface="Helvetica Neue Medium" panose="02000503000000020004" pitchFamily="2" charset="0"/>
                  <a:cs typeface="Helvetica Neue Medium" panose="02000503000000020004" pitchFamily="2" charset="0"/>
                </a:rPr>
                <a:t>Transport Protocols</a:t>
              </a:r>
            </a:p>
          </p:txBody>
        </p:sp>
        <p:cxnSp>
          <p:nvCxnSpPr>
            <p:cNvPr id="16" name="Straight Connector 15">
              <a:extLst>
                <a:ext uri="{FF2B5EF4-FFF2-40B4-BE49-F238E27FC236}">
                  <a16:creationId xmlns:a16="http://schemas.microsoft.com/office/drawing/2014/main" id="{6F0E5343-C9AA-4CC8-445C-B0FE793CE466}"/>
                </a:ext>
              </a:extLst>
            </p:cNvPr>
            <p:cNvCxnSpPr>
              <a:stCxn id="8" idx="2"/>
            </p:cNvCxnSpPr>
            <p:nvPr/>
          </p:nvCxnSpPr>
          <p:spPr>
            <a:xfrm>
              <a:off x="7801708" y="6720084"/>
              <a:ext cx="1131277" cy="112265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17D4009-FCDE-22B6-28F9-6FCF12C08DD4}"/>
                </a:ext>
              </a:extLst>
            </p:cNvPr>
            <p:cNvCxnSpPr>
              <a:cxnSpLocks/>
            </p:cNvCxnSpPr>
            <p:nvPr/>
          </p:nvCxnSpPr>
          <p:spPr>
            <a:xfrm flipH="1">
              <a:off x="12156766" y="6720084"/>
              <a:ext cx="1259730" cy="112265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5197977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335448" y="4458658"/>
            <a:ext cx="2561774" cy="1921331"/>
          </a:xfrm>
          <a:prstGeom prst="rect">
            <a:avLst/>
          </a:prstGeom>
        </p:spPr>
      </p:pic>
      <p:sp>
        <p:nvSpPr>
          <p:cNvPr id="3898372" name="Text Box 4"/>
          <p:cNvSpPr txBox="1">
            <a:spLocks noChangeArrowheads="1"/>
          </p:cNvSpPr>
          <p:nvPr/>
        </p:nvSpPr>
        <p:spPr bwMode="auto">
          <a:xfrm>
            <a:off x="2557369" y="5971774"/>
            <a:ext cx="1514662" cy="969472"/>
          </a:xfrm>
          <a:prstGeom prst="rect">
            <a:avLst/>
          </a:prstGeom>
          <a:noFill/>
          <a:ln w="28575" algn="ctr">
            <a:noFill/>
            <a:miter lim="800000"/>
            <a:headEnd/>
            <a:tailEnd/>
          </a:ln>
          <a:effectLst/>
        </p:spPr>
        <p:txBody>
          <a:bodyPr wrap="none" lIns="137136" tIns="68568" rIns="137136" bIns="68568">
            <a:spAutoFit/>
          </a:bodyPr>
          <a:lstStyle/>
          <a:p>
            <a:pPr algn="ctr" defTabSz="1369220" eaLnBrk="0" hangingPunct="0">
              <a:buClr>
                <a:srgbClr val="FF0000"/>
              </a:buClr>
            </a:pPr>
            <a:r>
              <a:rPr lang="en-US" sz="2700">
                <a:latin typeface="Helvetica Neue" panose="02000503000000020004" pitchFamily="2" charset="0"/>
                <a:ea typeface="Helvetica Neue" panose="02000503000000020004" pitchFamily="2" charset="0"/>
                <a:cs typeface="Helvetica Neue" panose="02000503000000020004" pitchFamily="2" charset="0"/>
              </a:rPr>
              <a:t>Data</a:t>
            </a:r>
            <a:br>
              <a:rPr lang="en-US" sz="2700">
                <a:latin typeface="Helvetica Neue" panose="02000503000000020004" pitchFamily="2" charset="0"/>
                <a:ea typeface="Helvetica Neue" panose="02000503000000020004" pitchFamily="2" charset="0"/>
                <a:cs typeface="Helvetica Neue" panose="02000503000000020004" pitchFamily="2" charset="0"/>
              </a:rPr>
            </a:br>
            <a:r>
              <a:rPr lang="en-US" sz="2700">
                <a:latin typeface="Helvetica Neue" panose="02000503000000020004" pitchFamily="2" charset="0"/>
                <a:ea typeface="Helvetica Neue" panose="02000503000000020004" pitchFamily="2" charset="0"/>
                <a:cs typeface="Helvetica Neue" panose="02000503000000020004" pitchFamily="2" charset="0"/>
              </a:rPr>
              <a:t>Transfer</a:t>
            </a:r>
          </a:p>
        </p:txBody>
      </p:sp>
      <p:sp>
        <p:nvSpPr>
          <p:cNvPr id="3898373" name="Rectangle 5"/>
          <p:cNvSpPr>
            <a:spLocks noGrp="1" noChangeArrowheads="1"/>
          </p:cNvSpPr>
          <p:nvPr>
            <p:ph type="title"/>
          </p:nvPr>
        </p:nvSpPr>
        <p:spPr>
          <a:xfrm>
            <a:off x="1091045" y="289957"/>
            <a:ext cx="15773400" cy="1988345"/>
          </a:xfrm>
        </p:spPr>
        <p:txBody>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Connectionless Communication</a:t>
            </a:r>
          </a:p>
        </p:txBody>
      </p:sp>
      <p:sp>
        <p:nvSpPr>
          <p:cNvPr id="9" name="Slide Number Placeholder 8"/>
          <p:cNvSpPr>
            <a:spLocks noGrp="1"/>
          </p:cNvSpPr>
          <p:nvPr>
            <p:ph type="sldNum" sz="quarter" idx="10"/>
          </p:nvPr>
        </p:nvSpPr>
        <p:spPr>
          <a:prstGeom prst="rect">
            <a:avLst/>
          </a:prstGeom>
        </p:spPr>
        <p:txBody>
          <a:bodyPr/>
          <a:lstStyle/>
          <a:p>
            <a:fld id="{52B67DA5-9DD9-4BCA-8370-9CA784C1DE92}" type="slidenum">
              <a:rPr lang="en-US" smtClean="0"/>
              <a:pPr/>
              <a:t>116</a:t>
            </a:fld>
            <a:endParaRPr lang="en-US"/>
          </a:p>
        </p:txBody>
      </p:sp>
      <p:grpSp>
        <p:nvGrpSpPr>
          <p:cNvPr id="2" name="Group 6"/>
          <p:cNvGrpSpPr>
            <a:grpSpLocks/>
          </p:cNvGrpSpPr>
          <p:nvPr/>
        </p:nvGrpSpPr>
        <p:grpSpPr bwMode="auto">
          <a:xfrm>
            <a:off x="4591747" y="4667103"/>
            <a:ext cx="2850357" cy="1247267"/>
            <a:chOff x="2586" y="2040"/>
            <a:chExt cx="1197" cy="523"/>
          </a:xfrm>
        </p:grpSpPr>
        <p:sp>
          <p:nvSpPr>
            <p:cNvPr id="3898375" name="AutoShape 7"/>
            <p:cNvSpPr>
              <a:spLocks noChangeArrowheads="1"/>
            </p:cNvSpPr>
            <p:nvPr/>
          </p:nvSpPr>
          <p:spPr bwMode="auto">
            <a:xfrm>
              <a:off x="3676" y="2099"/>
              <a:ext cx="107" cy="407"/>
            </a:xfrm>
            <a:prstGeom prst="rightArrow">
              <a:avLst>
                <a:gd name="adj1" fmla="val 51880"/>
                <a:gd name="adj2" fmla="val 53306"/>
              </a:avLst>
            </a:prstGeom>
            <a:solidFill>
              <a:srgbClr val="FFCC66"/>
            </a:solidFill>
            <a:ln w="28575" algn="ctr">
              <a:solidFill>
                <a:schemeClr val="tx1"/>
              </a:solidFill>
              <a:miter lim="800000"/>
              <a:headEnd/>
              <a:tailEnd/>
            </a:ln>
            <a:effectLst/>
          </p:spPr>
          <p:txBody>
            <a:bodyPr wrap="none" anchor="ctr">
              <a:spAutoFit/>
            </a:bodyPr>
            <a:lstStyle/>
            <a:p>
              <a:endParaRPr lang="en-US" sz="2700"/>
            </a:p>
          </p:txBody>
        </p:sp>
        <p:sp>
          <p:nvSpPr>
            <p:cNvPr id="3898376" name="Letter"/>
            <p:cNvSpPr>
              <a:spLocks noEditPoints="1" noChangeArrowheads="1"/>
            </p:cNvSpPr>
            <p:nvPr/>
          </p:nvSpPr>
          <p:spPr bwMode="auto">
            <a:xfrm>
              <a:off x="2586" y="2040"/>
              <a:ext cx="1131" cy="523"/>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5304 w 21600"/>
                <a:gd name="T17" fmla="*/ 9216 h 21600"/>
                <a:gd name="T18" fmla="*/ 17504 w 21600"/>
                <a:gd name="T19" fmla="*/ 1837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14" y="0"/>
                  </a:moveTo>
                  <a:lnTo>
                    <a:pt x="21600" y="0"/>
                  </a:lnTo>
                  <a:lnTo>
                    <a:pt x="21600" y="21628"/>
                  </a:lnTo>
                  <a:lnTo>
                    <a:pt x="14" y="21628"/>
                  </a:lnTo>
                  <a:lnTo>
                    <a:pt x="14" y="0"/>
                  </a:lnTo>
                  <a:close/>
                </a:path>
                <a:path w="21600" h="21600" extrusionOk="0">
                  <a:moveTo>
                    <a:pt x="18476" y="2035"/>
                  </a:moveTo>
                  <a:lnTo>
                    <a:pt x="20539" y="2035"/>
                  </a:lnTo>
                  <a:lnTo>
                    <a:pt x="20539" y="6559"/>
                  </a:lnTo>
                  <a:lnTo>
                    <a:pt x="18476" y="6559"/>
                  </a:lnTo>
                  <a:lnTo>
                    <a:pt x="18476" y="2035"/>
                  </a:lnTo>
                  <a:close/>
                </a:path>
                <a:path w="21600" h="21600" extrusionOk="0">
                  <a:moveTo>
                    <a:pt x="884" y="2092"/>
                  </a:moveTo>
                  <a:lnTo>
                    <a:pt x="7425" y="2092"/>
                  </a:lnTo>
                  <a:lnTo>
                    <a:pt x="7425" y="2770"/>
                  </a:lnTo>
                  <a:lnTo>
                    <a:pt x="884" y="2770"/>
                  </a:lnTo>
                  <a:lnTo>
                    <a:pt x="884" y="2092"/>
                  </a:lnTo>
                  <a:close/>
                </a:path>
                <a:path w="21600" h="21600" extrusionOk="0">
                  <a:moveTo>
                    <a:pt x="884" y="3109"/>
                  </a:moveTo>
                  <a:lnTo>
                    <a:pt x="7425" y="3109"/>
                  </a:lnTo>
                  <a:lnTo>
                    <a:pt x="7425" y="3788"/>
                  </a:lnTo>
                  <a:lnTo>
                    <a:pt x="884" y="3788"/>
                  </a:lnTo>
                  <a:lnTo>
                    <a:pt x="884" y="3109"/>
                  </a:lnTo>
                  <a:close/>
                </a:path>
                <a:path w="21600" h="21600" extrusionOk="0">
                  <a:moveTo>
                    <a:pt x="884" y="4127"/>
                  </a:moveTo>
                  <a:lnTo>
                    <a:pt x="7425" y="4127"/>
                  </a:lnTo>
                  <a:lnTo>
                    <a:pt x="7425" y="4806"/>
                  </a:lnTo>
                  <a:lnTo>
                    <a:pt x="884" y="4806"/>
                  </a:lnTo>
                  <a:lnTo>
                    <a:pt x="884" y="4127"/>
                  </a:lnTo>
                  <a:close/>
                </a:path>
                <a:path w="21600" h="21600" extrusionOk="0">
                  <a:moveTo>
                    <a:pt x="5127" y="5145"/>
                  </a:moveTo>
                  <a:lnTo>
                    <a:pt x="7425" y="5145"/>
                  </a:lnTo>
                  <a:lnTo>
                    <a:pt x="7425" y="5824"/>
                  </a:lnTo>
                  <a:lnTo>
                    <a:pt x="5127" y="5824"/>
                  </a:lnTo>
                  <a:lnTo>
                    <a:pt x="5127" y="5145"/>
                  </a:lnTo>
                  <a:close/>
                </a:path>
              </a:pathLst>
            </a:custGeom>
            <a:solidFill>
              <a:srgbClr val="FFFFFF"/>
            </a:solidFill>
            <a:ln w="9525">
              <a:solidFill>
                <a:srgbClr val="000000"/>
              </a:solidFill>
              <a:miter lim="800000"/>
              <a:headEnd/>
              <a:tailEnd/>
            </a:ln>
            <a:effectLst>
              <a:outerShdw dist="107763" dir="2700000" algn="ctr" rotWithShape="0">
                <a:srgbClr val="808080"/>
              </a:outerShdw>
            </a:effectLst>
          </p:spPr>
          <p:txBody>
            <a:bodyPr lIns="137136" tIns="68568" rIns="137136" bIns="68568"/>
            <a:lstStyle/>
            <a:p>
              <a:pPr marL="504825" indent="-504825" defTabSz="1369220" eaLnBrk="0" hangingPunct="0">
                <a:buClr>
                  <a:srgbClr val="FF0000"/>
                </a:buClr>
              </a:pPr>
              <a:r>
                <a:rPr lang="en-US" sz="2700">
                  <a:latin typeface="Helvetica Neue" panose="02000503000000020004" pitchFamily="2" charset="0"/>
                  <a:ea typeface="Helvetica Neue" panose="02000503000000020004" pitchFamily="2" charset="0"/>
                  <a:cs typeface="Helvetica Neue" panose="02000503000000020004" pitchFamily="2" charset="0"/>
                </a:rPr>
                <a:t>Stuff</a:t>
              </a:r>
            </a:p>
          </p:txBody>
        </p:sp>
      </p:grpSp>
      <p:pic>
        <p:nvPicPr>
          <p:cNvPr id="11" name="Picture 10"/>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608642" y="5760520"/>
            <a:ext cx="2561774" cy="1921331"/>
          </a:xfrm>
          <a:prstGeom prst="rect">
            <a:avLst/>
          </a:prstGeom>
        </p:spPr>
      </p:pic>
    </p:spTree>
    <p:custDataLst>
      <p:tags r:id="rId1"/>
    </p:custDataLst>
    <p:extLst>
      <p:ext uri="{BB962C8B-B14F-4D97-AF65-F5344CB8AC3E}">
        <p14:creationId xmlns:p14="http://schemas.microsoft.com/office/powerpoint/2010/main" val="1950007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3.61111E-6 3.33333E-6 L 0.35642 0.00069 " pathEditMode="relative" rAng="0" ptsTypes="AA">
                                      <p:cBhvr>
                                        <p:cTn id="6" dur="2000" fill="hold"/>
                                        <p:tgtEl>
                                          <p:spTgt spid="2"/>
                                        </p:tgtEl>
                                        <p:attrNameLst>
                                          <p:attrName>ppt_x</p:attrName>
                                          <p:attrName>ppt_y</p:attrName>
                                        </p:attrNameLst>
                                      </p:cBhvr>
                                      <p:rCtr x="17812"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49"/>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529844" y="8053294"/>
            <a:ext cx="2561774" cy="1921331"/>
          </a:xfrm>
          <a:prstGeom prst="rect">
            <a:avLst/>
          </a:prstGeom>
        </p:spPr>
      </p:pic>
      <p:pic>
        <p:nvPicPr>
          <p:cNvPr id="49" name="Picture 48"/>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572060" y="4914901"/>
            <a:ext cx="2561774" cy="1921331"/>
          </a:xfrm>
          <a:prstGeom prst="rect">
            <a:avLst/>
          </a:prstGeom>
        </p:spPr>
      </p:pic>
      <p:pic>
        <p:nvPicPr>
          <p:cNvPr id="48" name="Picture 47"/>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972656" y="7399904"/>
            <a:ext cx="2561774" cy="1921331"/>
          </a:xfrm>
          <a:prstGeom prst="rect">
            <a:avLst/>
          </a:prstGeom>
        </p:spPr>
      </p:pic>
      <p:pic>
        <p:nvPicPr>
          <p:cNvPr id="47" name="Picture 4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097268" y="4851968"/>
            <a:ext cx="2561774" cy="1921331"/>
          </a:xfrm>
          <a:prstGeom prst="rect">
            <a:avLst/>
          </a:prstGeom>
        </p:spPr>
      </p:pic>
      <p:pic>
        <p:nvPicPr>
          <p:cNvPr id="46" name="Picture 45"/>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187255" y="2259955"/>
            <a:ext cx="2561774" cy="1921331"/>
          </a:xfrm>
          <a:prstGeom prst="rect">
            <a:avLst/>
          </a:prstGeom>
        </p:spPr>
      </p:pic>
      <p:pic>
        <p:nvPicPr>
          <p:cNvPr id="45" name="Picture 44"/>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780054" y="2331415"/>
            <a:ext cx="2561774" cy="1921331"/>
          </a:xfrm>
          <a:prstGeom prst="rect">
            <a:avLst/>
          </a:prstGeom>
        </p:spPr>
      </p:pic>
      <p:sp>
        <p:nvSpPr>
          <p:cNvPr id="3900421" name="Rectangle 5"/>
          <p:cNvSpPr>
            <a:spLocks noGrp="1" noChangeArrowheads="1"/>
          </p:cNvSpPr>
          <p:nvPr>
            <p:ph type="title"/>
          </p:nvPr>
        </p:nvSpPr>
        <p:spPr>
          <a:xfrm>
            <a:off x="1190501" y="309554"/>
            <a:ext cx="15773400" cy="1988345"/>
          </a:xfrm>
        </p:spPr>
        <p:txBody>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Connection-Oriented Communication</a:t>
            </a:r>
          </a:p>
        </p:txBody>
      </p:sp>
      <p:sp>
        <p:nvSpPr>
          <p:cNvPr id="44" name="Slide Number Placeholder 43"/>
          <p:cNvSpPr>
            <a:spLocks noGrp="1"/>
          </p:cNvSpPr>
          <p:nvPr>
            <p:ph type="sldNum" sz="quarter" idx="10"/>
          </p:nvPr>
        </p:nvSpPr>
        <p:spPr>
          <a:prstGeom prst="rect">
            <a:avLst/>
          </a:prstGeom>
        </p:spPr>
        <p:txBody>
          <a:bodyPr/>
          <a:lstStyle/>
          <a:p>
            <a:fld id="{52B67DA5-9DD9-4BCA-8370-9CA784C1DE92}" type="slidenum">
              <a:rPr lang="en-US" smtClean="0"/>
              <a:pPr/>
              <a:t>117</a:t>
            </a:fld>
            <a:endParaRPr lang="en-US"/>
          </a:p>
        </p:txBody>
      </p:sp>
      <p:grpSp>
        <p:nvGrpSpPr>
          <p:cNvPr id="2" name="Group 7"/>
          <p:cNvGrpSpPr>
            <a:grpSpLocks/>
          </p:cNvGrpSpPr>
          <p:nvPr/>
        </p:nvGrpSpPr>
        <p:grpSpPr bwMode="auto">
          <a:xfrm>
            <a:off x="7750987" y="2202660"/>
            <a:ext cx="2790798" cy="959644"/>
            <a:chOff x="2268" y="790"/>
            <a:chExt cx="1043" cy="358"/>
          </a:xfrm>
        </p:grpSpPr>
        <p:sp>
          <p:nvSpPr>
            <p:cNvPr id="3900424" name="AutoShape 8"/>
            <p:cNvSpPr>
              <a:spLocks noChangeArrowheads="1"/>
            </p:cNvSpPr>
            <p:nvPr/>
          </p:nvSpPr>
          <p:spPr bwMode="auto">
            <a:xfrm>
              <a:off x="2996" y="793"/>
              <a:ext cx="315" cy="353"/>
            </a:xfrm>
            <a:prstGeom prst="rightArrow">
              <a:avLst>
                <a:gd name="adj1" fmla="val 53380"/>
                <a:gd name="adj2" fmla="val 42940"/>
              </a:avLst>
            </a:prstGeom>
            <a:solidFill>
              <a:srgbClr val="FFCC66"/>
            </a:solidFill>
            <a:ln w="28575" algn="ctr">
              <a:solidFill>
                <a:schemeClr val="tx1"/>
              </a:solidFill>
              <a:miter lim="800000"/>
              <a:headEnd/>
              <a:tailEnd/>
            </a:ln>
            <a:effectLst/>
          </p:spPr>
          <p:txBody>
            <a:bodyPr anchor="ctr">
              <a:spAutoFit/>
            </a:bodyPr>
            <a:lstStyle/>
            <a:p>
              <a:endParaRPr lang="en-US" sz="2700"/>
            </a:p>
          </p:txBody>
        </p:sp>
        <p:grpSp>
          <p:nvGrpSpPr>
            <p:cNvPr id="3" name="Group 9"/>
            <p:cNvGrpSpPr>
              <a:grpSpLocks/>
            </p:cNvGrpSpPr>
            <p:nvPr/>
          </p:nvGrpSpPr>
          <p:grpSpPr bwMode="auto">
            <a:xfrm>
              <a:off x="2268" y="790"/>
              <a:ext cx="858" cy="358"/>
              <a:chOff x="1856" y="688"/>
              <a:chExt cx="961" cy="403"/>
            </a:xfrm>
          </p:grpSpPr>
          <p:sp>
            <p:nvSpPr>
              <p:cNvPr id="3900426" name="Letter"/>
              <p:cNvSpPr>
                <a:spLocks noEditPoints="1" noChangeArrowheads="1"/>
              </p:cNvSpPr>
              <p:nvPr/>
            </p:nvSpPr>
            <p:spPr bwMode="auto">
              <a:xfrm>
                <a:off x="1873" y="688"/>
                <a:ext cx="884" cy="403"/>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5304 w 21600"/>
                  <a:gd name="T17" fmla="*/ 9216 h 21600"/>
                  <a:gd name="T18" fmla="*/ 17504 w 21600"/>
                  <a:gd name="T19" fmla="*/ 1837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14" y="0"/>
                    </a:moveTo>
                    <a:lnTo>
                      <a:pt x="21600" y="0"/>
                    </a:lnTo>
                    <a:lnTo>
                      <a:pt x="21600" y="21628"/>
                    </a:lnTo>
                    <a:lnTo>
                      <a:pt x="14" y="21628"/>
                    </a:lnTo>
                    <a:lnTo>
                      <a:pt x="14" y="0"/>
                    </a:lnTo>
                    <a:close/>
                  </a:path>
                  <a:path w="21600" h="21600" extrusionOk="0">
                    <a:moveTo>
                      <a:pt x="18476" y="2035"/>
                    </a:moveTo>
                    <a:lnTo>
                      <a:pt x="20539" y="2035"/>
                    </a:lnTo>
                    <a:lnTo>
                      <a:pt x="20539" y="6559"/>
                    </a:lnTo>
                    <a:lnTo>
                      <a:pt x="18476" y="6559"/>
                    </a:lnTo>
                    <a:lnTo>
                      <a:pt x="18476" y="2035"/>
                    </a:lnTo>
                    <a:close/>
                  </a:path>
                  <a:path w="21600" h="21600" extrusionOk="0">
                    <a:moveTo>
                      <a:pt x="884" y="2092"/>
                    </a:moveTo>
                    <a:lnTo>
                      <a:pt x="7425" y="2092"/>
                    </a:lnTo>
                    <a:lnTo>
                      <a:pt x="7425" y="2770"/>
                    </a:lnTo>
                    <a:lnTo>
                      <a:pt x="884" y="2770"/>
                    </a:lnTo>
                    <a:lnTo>
                      <a:pt x="884" y="2092"/>
                    </a:lnTo>
                    <a:close/>
                  </a:path>
                  <a:path w="21600" h="21600" extrusionOk="0">
                    <a:moveTo>
                      <a:pt x="884" y="3109"/>
                    </a:moveTo>
                    <a:lnTo>
                      <a:pt x="7425" y="3109"/>
                    </a:lnTo>
                    <a:lnTo>
                      <a:pt x="7425" y="3788"/>
                    </a:lnTo>
                    <a:lnTo>
                      <a:pt x="884" y="3788"/>
                    </a:lnTo>
                    <a:lnTo>
                      <a:pt x="884" y="3109"/>
                    </a:lnTo>
                    <a:close/>
                  </a:path>
                  <a:path w="21600" h="21600" extrusionOk="0">
                    <a:moveTo>
                      <a:pt x="884" y="4127"/>
                    </a:moveTo>
                    <a:lnTo>
                      <a:pt x="7425" y="4127"/>
                    </a:lnTo>
                    <a:lnTo>
                      <a:pt x="7425" y="4806"/>
                    </a:lnTo>
                    <a:lnTo>
                      <a:pt x="884" y="4806"/>
                    </a:lnTo>
                    <a:lnTo>
                      <a:pt x="884" y="4127"/>
                    </a:lnTo>
                    <a:close/>
                  </a:path>
                  <a:path w="21600" h="21600" extrusionOk="0">
                    <a:moveTo>
                      <a:pt x="5127" y="5145"/>
                    </a:moveTo>
                    <a:lnTo>
                      <a:pt x="7425" y="5145"/>
                    </a:lnTo>
                    <a:lnTo>
                      <a:pt x="7425" y="5824"/>
                    </a:lnTo>
                    <a:lnTo>
                      <a:pt x="5127" y="5824"/>
                    </a:lnTo>
                    <a:lnTo>
                      <a:pt x="5127" y="5145"/>
                    </a:lnTo>
                    <a:close/>
                  </a:path>
                </a:pathLst>
              </a:custGeom>
              <a:solidFill>
                <a:srgbClr val="FFFFFF"/>
              </a:solidFill>
              <a:ln w="9525">
                <a:solidFill>
                  <a:srgbClr val="000000"/>
                </a:solidFill>
                <a:miter lim="800000"/>
                <a:headEnd/>
                <a:tailEnd/>
              </a:ln>
              <a:effectLst>
                <a:outerShdw dist="107763" dir="2700000" algn="ctr" rotWithShape="0">
                  <a:srgbClr val="808080"/>
                </a:outerShdw>
              </a:effectLst>
            </p:spPr>
            <p:txBody>
              <a:bodyPr lIns="137136" tIns="68568" rIns="137136" bIns="68568"/>
              <a:lstStyle/>
              <a:p>
                <a:pPr defTabSz="1369220" eaLnBrk="0" hangingPunct="0">
                  <a:buClr>
                    <a:srgbClr val="FF0000"/>
                  </a:buClr>
                </a:pPr>
                <a:endParaRPr lang="en-US" sz="2700">
                  <a:ea typeface="ヒラギノ角ゴ Pro W3" pitchFamily="16" charset="-128"/>
                </a:endParaRPr>
              </a:p>
            </p:txBody>
          </p:sp>
          <p:sp>
            <p:nvSpPr>
              <p:cNvPr id="3900427" name="Text Box 11"/>
              <p:cNvSpPr txBox="1">
                <a:spLocks noChangeArrowheads="1"/>
              </p:cNvSpPr>
              <p:nvPr/>
            </p:nvSpPr>
            <p:spPr bwMode="auto">
              <a:xfrm>
                <a:off x="1856" y="844"/>
                <a:ext cx="961" cy="233"/>
              </a:xfrm>
              <a:prstGeom prst="rect">
                <a:avLst/>
              </a:prstGeom>
              <a:noFill/>
              <a:ln w="28575" algn="ctr">
                <a:noFill/>
                <a:miter lim="800000"/>
                <a:headEnd/>
                <a:tailEnd/>
              </a:ln>
              <a:effectLst/>
            </p:spPr>
            <p:txBody>
              <a:bodyPr wrap="none" lIns="137136" tIns="68568" rIns="137136" bIns="68568">
                <a:spAutoFit/>
              </a:bodyPr>
              <a:lstStyle/>
              <a:p>
                <a:pPr marL="504825" indent="-504825" defTabSz="1369220" eaLnBrk="0" hangingPunct="0">
                  <a:buClr>
                    <a:srgbClr val="FF0000"/>
                  </a:buClr>
                </a:pPr>
                <a:r>
                  <a:rPr lang="en-US" sz="2700">
                    <a:latin typeface="Helvetica Neue" panose="02000503000000020004" pitchFamily="2" charset="0"/>
                    <a:ea typeface="Helvetica Neue" panose="02000503000000020004" pitchFamily="2" charset="0"/>
                    <a:cs typeface="Helvetica Neue" panose="02000503000000020004" pitchFamily="2" charset="0"/>
                  </a:rPr>
                  <a:t>Can we talk?</a:t>
                </a:r>
              </a:p>
            </p:txBody>
          </p:sp>
        </p:grpSp>
      </p:grpSp>
      <p:grpSp>
        <p:nvGrpSpPr>
          <p:cNvPr id="4" name="Group 12"/>
          <p:cNvGrpSpPr>
            <a:grpSpLocks/>
          </p:cNvGrpSpPr>
          <p:nvPr/>
        </p:nvGrpSpPr>
        <p:grpSpPr bwMode="auto">
          <a:xfrm>
            <a:off x="9489281" y="3333748"/>
            <a:ext cx="2855120" cy="957262"/>
            <a:chOff x="2597" y="1212"/>
            <a:chExt cx="1067" cy="358"/>
          </a:xfrm>
        </p:grpSpPr>
        <p:sp>
          <p:nvSpPr>
            <p:cNvPr id="3900429" name="AutoShape 13"/>
            <p:cNvSpPr>
              <a:spLocks noChangeArrowheads="1"/>
            </p:cNvSpPr>
            <p:nvPr/>
          </p:nvSpPr>
          <p:spPr bwMode="auto">
            <a:xfrm flipH="1">
              <a:off x="2597" y="1213"/>
              <a:ext cx="315" cy="353"/>
            </a:xfrm>
            <a:prstGeom prst="rightArrow">
              <a:avLst>
                <a:gd name="adj1" fmla="val 53380"/>
                <a:gd name="adj2" fmla="val 42940"/>
              </a:avLst>
            </a:prstGeom>
            <a:solidFill>
              <a:srgbClr val="FFCC66"/>
            </a:solidFill>
            <a:ln w="28575" algn="ctr">
              <a:solidFill>
                <a:schemeClr val="tx1"/>
              </a:solidFill>
              <a:miter lim="800000"/>
              <a:headEnd/>
              <a:tailEnd/>
            </a:ln>
            <a:effectLst/>
          </p:spPr>
          <p:txBody>
            <a:bodyPr anchor="ctr">
              <a:spAutoFit/>
            </a:bodyPr>
            <a:lstStyle/>
            <a:p>
              <a:endParaRPr lang="en-US" sz="2700"/>
            </a:p>
          </p:txBody>
        </p:sp>
        <p:grpSp>
          <p:nvGrpSpPr>
            <p:cNvPr id="5" name="Group 14"/>
            <p:cNvGrpSpPr>
              <a:grpSpLocks/>
            </p:cNvGrpSpPr>
            <p:nvPr/>
          </p:nvGrpSpPr>
          <p:grpSpPr bwMode="auto">
            <a:xfrm>
              <a:off x="2877" y="1212"/>
              <a:ext cx="787" cy="358"/>
              <a:chOff x="2425" y="1156"/>
              <a:chExt cx="884" cy="403"/>
            </a:xfrm>
          </p:grpSpPr>
          <p:sp>
            <p:nvSpPr>
              <p:cNvPr id="3900431" name="Letter"/>
              <p:cNvSpPr>
                <a:spLocks noEditPoints="1" noChangeArrowheads="1"/>
              </p:cNvSpPr>
              <p:nvPr/>
            </p:nvSpPr>
            <p:spPr bwMode="auto">
              <a:xfrm>
                <a:off x="2425" y="1156"/>
                <a:ext cx="884" cy="403"/>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5304 w 21600"/>
                  <a:gd name="T17" fmla="*/ 9216 h 21600"/>
                  <a:gd name="T18" fmla="*/ 17504 w 21600"/>
                  <a:gd name="T19" fmla="*/ 1837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14" y="0"/>
                    </a:moveTo>
                    <a:lnTo>
                      <a:pt x="21600" y="0"/>
                    </a:lnTo>
                    <a:lnTo>
                      <a:pt x="21600" y="21628"/>
                    </a:lnTo>
                    <a:lnTo>
                      <a:pt x="14" y="21628"/>
                    </a:lnTo>
                    <a:lnTo>
                      <a:pt x="14" y="0"/>
                    </a:lnTo>
                    <a:close/>
                  </a:path>
                  <a:path w="21600" h="21600" extrusionOk="0">
                    <a:moveTo>
                      <a:pt x="18476" y="2035"/>
                    </a:moveTo>
                    <a:lnTo>
                      <a:pt x="20539" y="2035"/>
                    </a:lnTo>
                    <a:lnTo>
                      <a:pt x="20539" y="6559"/>
                    </a:lnTo>
                    <a:lnTo>
                      <a:pt x="18476" y="6559"/>
                    </a:lnTo>
                    <a:lnTo>
                      <a:pt x="18476" y="2035"/>
                    </a:lnTo>
                    <a:close/>
                  </a:path>
                  <a:path w="21600" h="21600" extrusionOk="0">
                    <a:moveTo>
                      <a:pt x="884" y="2092"/>
                    </a:moveTo>
                    <a:lnTo>
                      <a:pt x="7425" y="2092"/>
                    </a:lnTo>
                    <a:lnTo>
                      <a:pt x="7425" y="2770"/>
                    </a:lnTo>
                    <a:lnTo>
                      <a:pt x="884" y="2770"/>
                    </a:lnTo>
                    <a:lnTo>
                      <a:pt x="884" y="2092"/>
                    </a:lnTo>
                    <a:close/>
                  </a:path>
                  <a:path w="21600" h="21600" extrusionOk="0">
                    <a:moveTo>
                      <a:pt x="884" y="3109"/>
                    </a:moveTo>
                    <a:lnTo>
                      <a:pt x="7425" y="3109"/>
                    </a:lnTo>
                    <a:lnTo>
                      <a:pt x="7425" y="3788"/>
                    </a:lnTo>
                    <a:lnTo>
                      <a:pt x="884" y="3788"/>
                    </a:lnTo>
                    <a:lnTo>
                      <a:pt x="884" y="3109"/>
                    </a:lnTo>
                    <a:close/>
                  </a:path>
                  <a:path w="21600" h="21600" extrusionOk="0">
                    <a:moveTo>
                      <a:pt x="884" y="4127"/>
                    </a:moveTo>
                    <a:lnTo>
                      <a:pt x="7425" y="4127"/>
                    </a:lnTo>
                    <a:lnTo>
                      <a:pt x="7425" y="4806"/>
                    </a:lnTo>
                    <a:lnTo>
                      <a:pt x="884" y="4806"/>
                    </a:lnTo>
                    <a:lnTo>
                      <a:pt x="884" y="4127"/>
                    </a:lnTo>
                    <a:close/>
                  </a:path>
                  <a:path w="21600" h="21600" extrusionOk="0">
                    <a:moveTo>
                      <a:pt x="5127" y="5145"/>
                    </a:moveTo>
                    <a:lnTo>
                      <a:pt x="7425" y="5145"/>
                    </a:lnTo>
                    <a:lnTo>
                      <a:pt x="7425" y="5824"/>
                    </a:lnTo>
                    <a:lnTo>
                      <a:pt x="5127" y="5824"/>
                    </a:lnTo>
                    <a:lnTo>
                      <a:pt x="5127" y="5145"/>
                    </a:lnTo>
                    <a:close/>
                  </a:path>
                </a:pathLst>
              </a:custGeom>
              <a:solidFill>
                <a:srgbClr val="FFFFFF"/>
              </a:solidFill>
              <a:ln w="9525">
                <a:solidFill>
                  <a:srgbClr val="000000"/>
                </a:solidFill>
                <a:miter lim="800000"/>
                <a:headEnd/>
                <a:tailEnd/>
              </a:ln>
              <a:effectLst>
                <a:outerShdw dist="107763" dir="2700000" algn="ctr" rotWithShape="0">
                  <a:srgbClr val="808080"/>
                </a:outerShdw>
              </a:effectLst>
            </p:spPr>
            <p:txBody>
              <a:bodyPr lIns="137136" tIns="68568" rIns="137136" bIns="68568"/>
              <a:lstStyle/>
              <a:p>
                <a:pPr defTabSz="1369220" eaLnBrk="0" hangingPunct="0">
                  <a:buClr>
                    <a:srgbClr val="FF0000"/>
                  </a:buClr>
                </a:pPr>
                <a:endParaRPr lang="en-US" sz="2700">
                  <a:ea typeface="ヒラギノ角ゴ Pro W3" pitchFamily="16" charset="-128"/>
                </a:endParaRPr>
              </a:p>
            </p:txBody>
          </p:sp>
          <p:sp>
            <p:nvSpPr>
              <p:cNvPr id="3900432" name="Text Box 16"/>
              <p:cNvSpPr txBox="1">
                <a:spLocks noChangeArrowheads="1"/>
              </p:cNvSpPr>
              <p:nvPr/>
            </p:nvSpPr>
            <p:spPr bwMode="auto">
              <a:xfrm>
                <a:off x="2658" y="1312"/>
                <a:ext cx="453" cy="233"/>
              </a:xfrm>
              <a:prstGeom prst="rect">
                <a:avLst/>
              </a:prstGeom>
              <a:noFill/>
              <a:ln w="28575" algn="ctr">
                <a:noFill/>
                <a:miter lim="800000"/>
                <a:headEnd/>
                <a:tailEnd/>
              </a:ln>
              <a:effectLst/>
            </p:spPr>
            <p:txBody>
              <a:bodyPr wrap="none" lIns="137136" tIns="68568" rIns="137136" bIns="68568">
                <a:spAutoFit/>
              </a:bodyPr>
              <a:lstStyle/>
              <a:p>
                <a:pPr marL="504825" indent="-504825" defTabSz="1369220" eaLnBrk="0" hangingPunct="0">
                  <a:buClr>
                    <a:srgbClr val="FF0000"/>
                  </a:buClr>
                </a:pPr>
                <a:r>
                  <a:rPr lang="en-US" sz="2700">
                    <a:latin typeface="Helvetica Neue" panose="02000503000000020004" pitchFamily="2" charset="0"/>
                    <a:ea typeface="Helvetica Neue" panose="02000503000000020004" pitchFamily="2" charset="0"/>
                    <a:cs typeface="Helvetica Neue" panose="02000503000000020004" pitchFamily="2" charset="0"/>
                  </a:rPr>
                  <a:t>Sure!</a:t>
                </a:r>
              </a:p>
            </p:txBody>
          </p:sp>
        </p:grpSp>
      </p:grpSp>
      <p:grpSp>
        <p:nvGrpSpPr>
          <p:cNvPr id="6" name="Group 18"/>
          <p:cNvGrpSpPr>
            <a:grpSpLocks/>
          </p:cNvGrpSpPr>
          <p:nvPr/>
        </p:nvGrpSpPr>
        <p:grpSpPr bwMode="auto">
          <a:xfrm>
            <a:off x="7772401" y="4841085"/>
            <a:ext cx="2769395" cy="957263"/>
            <a:chOff x="2259" y="1775"/>
            <a:chExt cx="1035" cy="358"/>
          </a:xfrm>
        </p:grpSpPr>
        <p:sp>
          <p:nvSpPr>
            <p:cNvPr id="3900435" name="AutoShape 19"/>
            <p:cNvSpPr>
              <a:spLocks noChangeArrowheads="1"/>
            </p:cNvSpPr>
            <p:nvPr/>
          </p:nvSpPr>
          <p:spPr bwMode="auto">
            <a:xfrm>
              <a:off x="2980" y="1777"/>
              <a:ext cx="314" cy="353"/>
            </a:xfrm>
            <a:prstGeom prst="rightArrow">
              <a:avLst>
                <a:gd name="adj1" fmla="val 53380"/>
                <a:gd name="adj2" fmla="val 42940"/>
              </a:avLst>
            </a:prstGeom>
            <a:solidFill>
              <a:srgbClr val="FFCC66"/>
            </a:solidFill>
            <a:ln w="28575" algn="ctr">
              <a:solidFill>
                <a:schemeClr val="tx1"/>
              </a:solidFill>
              <a:miter lim="800000"/>
              <a:headEnd/>
              <a:tailEnd/>
            </a:ln>
            <a:effectLst/>
          </p:spPr>
          <p:txBody>
            <a:bodyPr anchor="ctr">
              <a:spAutoFit/>
            </a:bodyPr>
            <a:lstStyle/>
            <a:p>
              <a:endParaRPr lang="en-US" sz="2700"/>
            </a:p>
          </p:txBody>
        </p:sp>
        <p:grpSp>
          <p:nvGrpSpPr>
            <p:cNvPr id="7" name="Group 20"/>
            <p:cNvGrpSpPr>
              <a:grpSpLocks/>
            </p:cNvGrpSpPr>
            <p:nvPr/>
          </p:nvGrpSpPr>
          <p:grpSpPr bwMode="auto">
            <a:xfrm>
              <a:off x="2259" y="1775"/>
              <a:ext cx="786" cy="358"/>
              <a:chOff x="1873" y="688"/>
              <a:chExt cx="884" cy="403"/>
            </a:xfrm>
          </p:grpSpPr>
          <p:sp>
            <p:nvSpPr>
              <p:cNvPr id="3900437" name="Letter"/>
              <p:cNvSpPr>
                <a:spLocks noEditPoints="1" noChangeArrowheads="1"/>
              </p:cNvSpPr>
              <p:nvPr/>
            </p:nvSpPr>
            <p:spPr bwMode="auto">
              <a:xfrm>
                <a:off x="1873" y="688"/>
                <a:ext cx="884" cy="403"/>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5304 w 21600"/>
                  <a:gd name="T17" fmla="*/ 9216 h 21600"/>
                  <a:gd name="T18" fmla="*/ 17504 w 21600"/>
                  <a:gd name="T19" fmla="*/ 1837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14" y="0"/>
                    </a:moveTo>
                    <a:lnTo>
                      <a:pt x="21600" y="0"/>
                    </a:lnTo>
                    <a:lnTo>
                      <a:pt x="21600" y="21628"/>
                    </a:lnTo>
                    <a:lnTo>
                      <a:pt x="14" y="21628"/>
                    </a:lnTo>
                    <a:lnTo>
                      <a:pt x="14" y="0"/>
                    </a:lnTo>
                    <a:close/>
                  </a:path>
                  <a:path w="21600" h="21600" extrusionOk="0">
                    <a:moveTo>
                      <a:pt x="18476" y="2035"/>
                    </a:moveTo>
                    <a:lnTo>
                      <a:pt x="20539" y="2035"/>
                    </a:lnTo>
                    <a:lnTo>
                      <a:pt x="20539" y="6559"/>
                    </a:lnTo>
                    <a:lnTo>
                      <a:pt x="18476" y="6559"/>
                    </a:lnTo>
                    <a:lnTo>
                      <a:pt x="18476" y="2035"/>
                    </a:lnTo>
                    <a:close/>
                  </a:path>
                  <a:path w="21600" h="21600" extrusionOk="0">
                    <a:moveTo>
                      <a:pt x="884" y="2092"/>
                    </a:moveTo>
                    <a:lnTo>
                      <a:pt x="7425" y="2092"/>
                    </a:lnTo>
                    <a:lnTo>
                      <a:pt x="7425" y="2770"/>
                    </a:lnTo>
                    <a:lnTo>
                      <a:pt x="884" y="2770"/>
                    </a:lnTo>
                    <a:lnTo>
                      <a:pt x="884" y="2092"/>
                    </a:lnTo>
                    <a:close/>
                  </a:path>
                  <a:path w="21600" h="21600" extrusionOk="0">
                    <a:moveTo>
                      <a:pt x="884" y="3109"/>
                    </a:moveTo>
                    <a:lnTo>
                      <a:pt x="7425" y="3109"/>
                    </a:lnTo>
                    <a:lnTo>
                      <a:pt x="7425" y="3788"/>
                    </a:lnTo>
                    <a:lnTo>
                      <a:pt x="884" y="3788"/>
                    </a:lnTo>
                    <a:lnTo>
                      <a:pt x="884" y="3109"/>
                    </a:lnTo>
                    <a:close/>
                  </a:path>
                  <a:path w="21600" h="21600" extrusionOk="0">
                    <a:moveTo>
                      <a:pt x="884" y="4127"/>
                    </a:moveTo>
                    <a:lnTo>
                      <a:pt x="7425" y="4127"/>
                    </a:lnTo>
                    <a:lnTo>
                      <a:pt x="7425" y="4806"/>
                    </a:lnTo>
                    <a:lnTo>
                      <a:pt x="884" y="4806"/>
                    </a:lnTo>
                    <a:lnTo>
                      <a:pt x="884" y="4127"/>
                    </a:lnTo>
                    <a:close/>
                  </a:path>
                  <a:path w="21600" h="21600" extrusionOk="0">
                    <a:moveTo>
                      <a:pt x="5127" y="5145"/>
                    </a:moveTo>
                    <a:lnTo>
                      <a:pt x="7425" y="5145"/>
                    </a:lnTo>
                    <a:lnTo>
                      <a:pt x="7425" y="5824"/>
                    </a:lnTo>
                    <a:lnTo>
                      <a:pt x="5127" y="5824"/>
                    </a:lnTo>
                    <a:lnTo>
                      <a:pt x="5127" y="5145"/>
                    </a:lnTo>
                    <a:close/>
                  </a:path>
                </a:pathLst>
              </a:custGeom>
              <a:solidFill>
                <a:srgbClr val="FFFFFF"/>
              </a:solidFill>
              <a:ln w="9525">
                <a:solidFill>
                  <a:srgbClr val="000000"/>
                </a:solidFill>
                <a:miter lim="800000"/>
                <a:headEnd/>
                <a:tailEnd/>
              </a:ln>
              <a:effectLst>
                <a:outerShdw dist="107763" dir="2700000" algn="ctr" rotWithShape="0">
                  <a:srgbClr val="808080"/>
                </a:outerShdw>
              </a:effectLst>
            </p:spPr>
            <p:txBody>
              <a:bodyPr lIns="137136" tIns="68568" rIns="137136" bIns="68568"/>
              <a:lstStyle/>
              <a:p>
                <a:pPr defTabSz="1369220" eaLnBrk="0" hangingPunct="0">
                  <a:buClr>
                    <a:srgbClr val="FF0000"/>
                  </a:buClr>
                </a:pPr>
                <a:endParaRPr lang="en-US" sz="2700">
                  <a:ea typeface="ヒラギノ角ゴ Pro W3" pitchFamily="16" charset="-128"/>
                </a:endParaRPr>
              </a:p>
            </p:txBody>
          </p:sp>
          <p:sp>
            <p:nvSpPr>
              <p:cNvPr id="3900438" name="Text Box 22"/>
              <p:cNvSpPr txBox="1">
                <a:spLocks noChangeArrowheads="1"/>
              </p:cNvSpPr>
              <p:nvPr/>
            </p:nvSpPr>
            <p:spPr bwMode="auto">
              <a:xfrm>
                <a:off x="2124" y="845"/>
                <a:ext cx="421" cy="233"/>
              </a:xfrm>
              <a:prstGeom prst="rect">
                <a:avLst/>
              </a:prstGeom>
              <a:noFill/>
              <a:ln w="28575" algn="ctr">
                <a:noFill/>
                <a:miter lim="800000"/>
                <a:headEnd/>
                <a:tailEnd/>
              </a:ln>
              <a:effectLst/>
            </p:spPr>
            <p:txBody>
              <a:bodyPr wrap="none" lIns="137136" tIns="68568" rIns="137136" bIns="68568">
                <a:spAutoFit/>
              </a:bodyPr>
              <a:lstStyle/>
              <a:p>
                <a:pPr marL="504825" indent="-504825" defTabSz="1369220" eaLnBrk="0" hangingPunct="0">
                  <a:buClr>
                    <a:srgbClr val="FF0000"/>
                  </a:buClr>
                </a:pPr>
                <a:r>
                  <a:rPr lang="en-US" sz="2700">
                    <a:latin typeface="Helvetica Neue" panose="02000503000000020004" pitchFamily="2" charset="0"/>
                    <a:ea typeface="Helvetica Neue" panose="02000503000000020004" pitchFamily="2" charset="0"/>
                    <a:cs typeface="Helvetica Neue" panose="02000503000000020004" pitchFamily="2" charset="0"/>
                  </a:rPr>
                  <a:t>Stuff</a:t>
                </a:r>
              </a:p>
            </p:txBody>
          </p:sp>
        </p:grpSp>
      </p:grpSp>
      <p:grpSp>
        <p:nvGrpSpPr>
          <p:cNvPr id="8" name="Group 23"/>
          <p:cNvGrpSpPr>
            <a:grpSpLocks/>
          </p:cNvGrpSpPr>
          <p:nvPr/>
        </p:nvGrpSpPr>
        <p:grpSpPr bwMode="auto">
          <a:xfrm>
            <a:off x="9544048" y="5991221"/>
            <a:ext cx="2863795" cy="959644"/>
            <a:chOff x="2581" y="2205"/>
            <a:chExt cx="1070" cy="358"/>
          </a:xfrm>
        </p:grpSpPr>
        <p:sp>
          <p:nvSpPr>
            <p:cNvPr id="3900440" name="AutoShape 24"/>
            <p:cNvSpPr>
              <a:spLocks noChangeArrowheads="1"/>
            </p:cNvSpPr>
            <p:nvPr/>
          </p:nvSpPr>
          <p:spPr bwMode="auto">
            <a:xfrm flipH="1">
              <a:off x="2581" y="2207"/>
              <a:ext cx="315" cy="353"/>
            </a:xfrm>
            <a:prstGeom prst="rightArrow">
              <a:avLst>
                <a:gd name="adj1" fmla="val 53380"/>
                <a:gd name="adj2" fmla="val 42940"/>
              </a:avLst>
            </a:prstGeom>
            <a:solidFill>
              <a:srgbClr val="FFCC66"/>
            </a:solidFill>
            <a:ln w="28575" algn="ctr">
              <a:solidFill>
                <a:schemeClr val="tx1"/>
              </a:solidFill>
              <a:miter lim="800000"/>
              <a:headEnd/>
              <a:tailEnd/>
            </a:ln>
            <a:effectLst/>
          </p:spPr>
          <p:txBody>
            <a:bodyPr anchor="ctr">
              <a:spAutoFit/>
            </a:bodyPr>
            <a:lstStyle/>
            <a:p>
              <a:endParaRPr lang="en-US" sz="2700"/>
            </a:p>
          </p:txBody>
        </p:sp>
        <p:grpSp>
          <p:nvGrpSpPr>
            <p:cNvPr id="9" name="Group 25"/>
            <p:cNvGrpSpPr>
              <a:grpSpLocks/>
            </p:cNvGrpSpPr>
            <p:nvPr/>
          </p:nvGrpSpPr>
          <p:grpSpPr bwMode="auto">
            <a:xfrm>
              <a:off x="2864" y="2205"/>
              <a:ext cx="787" cy="358"/>
              <a:chOff x="2425" y="1156"/>
              <a:chExt cx="884" cy="403"/>
            </a:xfrm>
          </p:grpSpPr>
          <p:sp>
            <p:nvSpPr>
              <p:cNvPr id="3900442" name="Letter"/>
              <p:cNvSpPr>
                <a:spLocks noEditPoints="1" noChangeArrowheads="1"/>
              </p:cNvSpPr>
              <p:nvPr/>
            </p:nvSpPr>
            <p:spPr bwMode="auto">
              <a:xfrm>
                <a:off x="2425" y="1156"/>
                <a:ext cx="884" cy="403"/>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5304 w 21600"/>
                  <a:gd name="T17" fmla="*/ 9216 h 21600"/>
                  <a:gd name="T18" fmla="*/ 17504 w 21600"/>
                  <a:gd name="T19" fmla="*/ 1837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14" y="0"/>
                    </a:moveTo>
                    <a:lnTo>
                      <a:pt x="21600" y="0"/>
                    </a:lnTo>
                    <a:lnTo>
                      <a:pt x="21600" y="21628"/>
                    </a:lnTo>
                    <a:lnTo>
                      <a:pt x="14" y="21628"/>
                    </a:lnTo>
                    <a:lnTo>
                      <a:pt x="14" y="0"/>
                    </a:lnTo>
                    <a:close/>
                  </a:path>
                  <a:path w="21600" h="21600" extrusionOk="0">
                    <a:moveTo>
                      <a:pt x="18476" y="2035"/>
                    </a:moveTo>
                    <a:lnTo>
                      <a:pt x="20539" y="2035"/>
                    </a:lnTo>
                    <a:lnTo>
                      <a:pt x="20539" y="6559"/>
                    </a:lnTo>
                    <a:lnTo>
                      <a:pt x="18476" y="6559"/>
                    </a:lnTo>
                    <a:lnTo>
                      <a:pt x="18476" y="2035"/>
                    </a:lnTo>
                    <a:close/>
                  </a:path>
                  <a:path w="21600" h="21600" extrusionOk="0">
                    <a:moveTo>
                      <a:pt x="884" y="2092"/>
                    </a:moveTo>
                    <a:lnTo>
                      <a:pt x="7425" y="2092"/>
                    </a:lnTo>
                    <a:lnTo>
                      <a:pt x="7425" y="2770"/>
                    </a:lnTo>
                    <a:lnTo>
                      <a:pt x="884" y="2770"/>
                    </a:lnTo>
                    <a:lnTo>
                      <a:pt x="884" y="2092"/>
                    </a:lnTo>
                    <a:close/>
                  </a:path>
                  <a:path w="21600" h="21600" extrusionOk="0">
                    <a:moveTo>
                      <a:pt x="884" y="3109"/>
                    </a:moveTo>
                    <a:lnTo>
                      <a:pt x="7425" y="3109"/>
                    </a:lnTo>
                    <a:lnTo>
                      <a:pt x="7425" y="3788"/>
                    </a:lnTo>
                    <a:lnTo>
                      <a:pt x="884" y="3788"/>
                    </a:lnTo>
                    <a:lnTo>
                      <a:pt x="884" y="3109"/>
                    </a:lnTo>
                    <a:close/>
                  </a:path>
                  <a:path w="21600" h="21600" extrusionOk="0">
                    <a:moveTo>
                      <a:pt x="884" y="4127"/>
                    </a:moveTo>
                    <a:lnTo>
                      <a:pt x="7425" y="4127"/>
                    </a:lnTo>
                    <a:lnTo>
                      <a:pt x="7425" y="4806"/>
                    </a:lnTo>
                    <a:lnTo>
                      <a:pt x="884" y="4806"/>
                    </a:lnTo>
                    <a:lnTo>
                      <a:pt x="884" y="4127"/>
                    </a:lnTo>
                    <a:close/>
                  </a:path>
                  <a:path w="21600" h="21600" extrusionOk="0">
                    <a:moveTo>
                      <a:pt x="5127" y="5145"/>
                    </a:moveTo>
                    <a:lnTo>
                      <a:pt x="7425" y="5145"/>
                    </a:lnTo>
                    <a:lnTo>
                      <a:pt x="7425" y="5824"/>
                    </a:lnTo>
                    <a:lnTo>
                      <a:pt x="5127" y="5824"/>
                    </a:lnTo>
                    <a:lnTo>
                      <a:pt x="5127" y="5145"/>
                    </a:lnTo>
                    <a:close/>
                  </a:path>
                </a:pathLst>
              </a:custGeom>
              <a:solidFill>
                <a:srgbClr val="FFFFFF"/>
              </a:solidFill>
              <a:ln w="9525">
                <a:solidFill>
                  <a:srgbClr val="000000"/>
                </a:solidFill>
                <a:miter lim="800000"/>
                <a:headEnd/>
                <a:tailEnd/>
              </a:ln>
              <a:effectLst>
                <a:outerShdw dist="107763" dir="2700000" algn="ctr" rotWithShape="0">
                  <a:srgbClr val="808080"/>
                </a:outerShdw>
              </a:effectLst>
            </p:spPr>
            <p:txBody>
              <a:bodyPr lIns="137136" tIns="68568" rIns="137136" bIns="68568"/>
              <a:lstStyle/>
              <a:p>
                <a:pPr defTabSz="1369220" eaLnBrk="0" hangingPunct="0">
                  <a:buClr>
                    <a:srgbClr val="FF0000"/>
                  </a:buClr>
                </a:pPr>
                <a:endParaRPr lang="en-US" sz="2700">
                  <a:ea typeface="ヒラギノ角ゴ Pro W3" pitchFamily="16" charset="-128"/>
                </a:endParaRPr>
              </a:p>
            </p:txBody>
          </p:sp>
          <p:sp>
            <p:nvSpPr>
              <p:cNvPr id="3900443" name="Text Box 27"/>
              <p:cNvSpPr txBox="1">
                <a:spLocks noChangeArrowheads="1"/>
              </p:cNvSpPr>
              <p:nvPr/>
            </p:nvSpPr>
            <p:spPr bwMode="auto">
              <a:xfrm>
                <a:off x="2528" y="1317"/>
                <a:ext cx="512" cy="233"/>
              </a:xfrm>
              <a:prstGeom prst="rect">
                <a:avLst/>
              </a:prstGeom>
              <a:noFill/>
              <a:ln w="28575" algn="ctr">
                <a:noFill/>
                <a:miter lim="800000"/>
                <a:headEnd/>
                <a:tailEnd/>
              </a:ln>
              <a:effectLst/>
            </p:spPr>
            <p:txBody>
              <a:bodyPr wrap="none" lIns="137136" tIns="68568" rIns="137136" bIns="68568">
                <a:spAutoFit/>
              </a:bodyPr>
              <a:lstStyle/>
              <a:p>
                <a:pPr marL="504825" indent="-504825" defTabSz="1369220" eaLnBrk="0" hangingPunct="0">
                  <a:buClr>
                    <a:srgbClr val="FF0000"/>
                  </a:buClr>
                </a:pPr>
                <a:r>
                  <a:rPr lang="en-US" sz="2700">
                    <a:latin typeface="Helvetica Neue" panose="02000503000000020004" pitchFamily="2" charset="0"/>
                    <a:ea typeface="Helvetica Neue" panose="02000503000000020004" pitchFamily="2" charset="0"/>
                    <a:cs typeface="Helvetica Neue" panose="02000503000000020004" pitchFamily="2" charset="0"/>
                  </a:rPr>
                  <a:t>Got it!</a:t>
                </a:r>
              </a:p>
            </p:txBody>
          </p:sp>
        </p:grpSp>
      </p:grpSp>
      <p:grpSp>
        <p:nvGrpSpPr>
          <p:cNvPr id="10" name="Group 29"/>
          <p:cNvGrpSpPr>
            <a:grpSpLocks/>
          </p:cNvGrpSpPr>
          <p:nvPr/>
        </p:nvGrpSpPr>
        <p:grpSpPr bwMode="auto">
          <a:xfrm>
            <a:off x="7886699" y="7498556"/>
            <a:ext cx="2771774" cy="962025"/>
            <a:chOff x="2263" y="2768"/>
            <a:chExt cx="1036" cy="359"/>
          </a:xfrm>
        </p:grpSpPr>
        <p:sp>
          <p:nvSpPr>
            <p:cNvPr id="3900446" name="AutoShape 30"/>
            <p:cNvSpPr>
              <a:spLocks noChangeArrowheads="1"/>
            </p:cNvSpPr>
            <p:nvPr/>
          </p:nvSpPr>
          <p:spPr bwMode="auto">
            <a:xfrm>
              <a:off x="2983" y="2771"/>
              <a:ext cx="316" cy="353"/>
            </a:xfrm>
            <a:prstGeom prst="rightArrow">
              <a:avLst>
                <a:gd name="adj1" fmla="val 53380"/>
                <a:gd name="adj2" fmla="val 42940"/>
              </a:avLst>
            </a:prstGeom>
            <a:solidFill>
              <a:srgbClr val="FFCC66"/>
            </a:solidFill>
            <a:ln w="28575" algn="ctr">
              <a:solidFill>
                <a:schemeClr val="tx1"/>
              </a:solidFill>
              <a:miter lim="800000"/>
              <a:headEnd/>
              <a:tailEnd/>
            </a:ln>
            <a:effectLst/>
          </p:spPr>
          <p:txBody>
            <a:bodyPr anchor="ctr">
              <a:spAutoFit/>
            </a:bodyPr>
            <a:lstStyle/>
            <a:p>
              <a:endParaRPr lang="en-US" sz="2700"/>
            </a:p>
          </p:txBody>
        </p:sp>
        <p:grpSp>
          <p:nvGrpSpPr>
            <p:cNvPr id="11" name="Group 31"/>
            <p:cNvGrpSpPr>
              <a:grpSpLocks/>
            </p:cNvGrpSpPr>
            <p:nvPr/>
          </p:nvGrpSpPr>
          <p:grpSpPr bwMode="auto">
            <a:xfrm>
              <a:off x="2263" y="2768"/>
              <a:ext cx="787" cy="359"/>
              <a:chOff x="1873" y="688"/>
              <a:chExt cx="884" cy="403"/>
            </a:xfrm>
          </p:grpSpPr>
          <p:sp>
            <p:nvSpPr>
              <p:cNvPr id="3900448" name="Letter"/>
              <p:cNvSpPr>
                <a:spLocks noEditPoints="1" noChangeArrowheads="1"/>
              </p:cNvSpPr>
              <p:nvPr/>
            </p:nvSpPr>
            <p:spPr bwMode="auto">
              <a:xfrm>
                <a:off x="1873" y="688"/>
                <a:ext cx="884" cy="403"/>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5304 w 21600"/>
                  <a:gd name="T17" fmla="*/ 9216 h 21600"/>
                  <a:gd name="T18" fmla="*/ 17504 w 21600"/>
                  <a:gd name="T19" fmla="*/ 1837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14" y="0"/>
                    </a:moveTo>
                    <a:lnTo>
                      <a:pt x="21600" y="0"/>
                    </a:lnTo>
                    <a:lnTo>
                      <a:pt x="21600" y="21628"/>
                    </a:lnTo>
                    <a:lnTo>
                      <a:pt x="14" y="21628"/>
                    </a:lnTo>
                    <a:lnTo>
                      <a:pt x="14" y="0"/>
                    </a:lnTo>
                    <a:close/>
                  </a:path>
                  <a:path w="21600" h="21600" extrusionOk="0">
                    <a:moveTo>
                      <a:pt x="18476" y="2035"/>
                    </a:moveTo>
                    <a:lnTo>
                      <a:pt x="20539" y="2035"/>
                    </a:lnTo>
                    <a:lnTo>
                      <a:pt x="20539" y="6559"/>
                    </a:lnTo>
                    <a:lnTo>
                      <a:pt x="18476" y="6559"/>
                    </a:lnTo>
                    <a:lnTo>
                      <a:pt x="18476" y="2035"/>
                    </a:lnTo>
                    <a:close/>
                  </a:path>
                  <a:path w="21600" h="21600" extrusionOk="0">
                    <a:moveTo>
                      <a:pt x="884" y="2092"/>
                    </a:moveTo>
                    <a:lnTo>
                      <a:pt x="7425" y="2092"/>
                    </a:lnTo>
                    <a:lnTo>
                      <a:pt x="7425" y="2770"/>
                    </a:lnTo>
                    <a:lnTo>
                      <a:pt x="884" y="2770"/>
                    </a:lnTo>
                    <a:lnTo>
                      <a:pt x="884" y="2092"/>
                    </a:lnTo>
                    <a:close/>
                  </a:path>
                  <a:path w="21600" h="21600" extrusionOk="0">
                    <a:moveTo>
                      <a:pt x="884" y="3109"/>
                    </a:moveTo>
                    <a:lnTo>
                      <a:pt x="7425" y="3109"/>
                    </a:lnTo>
                    <a:lnTo>
                      <a:pt x="7425" y="3788"/>
                    </a:lnTo>
                    <a:lnTo>
                      <a:pt x="884" y="3788"/>
                    </a:lnTo>
                    <a:lnTo>
                      <a:pt x="884" y="3109"/>
                    </a:lnTo>
                    <a:close/>
                  </a:path>
                  <a:path w="21600" h="21600" extrusionOk="0">
                    <a:moveTo>
                      <a:pt x="884" y="4127"/>
                    </a:moveTo>
                    <a:lnTo>
                      <a:pt x="7425" y="4127"/>
                    </a:lnTo>
                    <a:lnTo>
                      <a:pt x="7425" y="4806"/>
                    </a:lnTo>
                    <a:lnTo>
                      <a:pt x="884" y="4806"/>
                    </a:lnTo>
                    <a:lnTo>
                      <a:pt x="884" y="4127"/>
                    </a:lnTo>
                    <a:close/>
                  </a:path>
                  <a:path w="21600" h="21600" extrusionOk="0">
                    <a:moveTo>
                      <a:pt x="5127" y="5145"/>
                    </a:moveTo>
                    <a:lnTo>
                      <a:pt x="7425" y="5145"/>
                    </a:lnTo>
                    <a:lnTo>
                      <a:pt x="7425" y="5824"/>
                    </a:lnTo>
                    <a:lnTo>
                      <a:pt x="5127" y="5824"/>
                    </a:lnTo>
                    <a:lnTo>
                      <a:pt x="5127" y="5145"/>
                    </a:lnTo>
                    <a:close/>
                  </a:path>
                </a:pathLst>
              </a:custGeom>
              <a:solidFill>
                <a:srgbClr val="FFFFFF"/>
              </a:solidFill>
              <a:ln w="9525">
                <a:solidFill>
                  <a:srgbClr val="000000"/>
                </a:solidFill>
                <a:miter lim="800000"/>
                <a:headEnd/>
                <a:tailEnd/>
              </a:ln>
              <a:effectLst>
                <a:outerShdw dist="107763" dir="2700000" algn="ctr" rotWithShape="0">
                  <a:srgbClr val="808080"/>
                </a:outerShdw>
              </a:effectLst>
            </p:spPr>
            <p:txBody>
              <a:bodyPr lIns="137136" tIns="68568" rIns="137136" bIns="68568"/>
              <a:lstStyle/>
              <a:p>
                <a:pPr defTabSz="1369220" eaLnBrk="0" hangingPunct="0">
                  <a:buClr>
                    <a:srgbClr val="FF0000"/>
                  </a:buClr>
                </a:pPr>
                <a:endParaRPr lang="en-US" sz="270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900449" name="Text Box 33"/>
              <p:cNvSpPr txBox="1">
                <a:spLocks noChangeArrowheads="1"/>
              </p:cNvSpPr>
              <p:nvPr/>
            </p:nvSpPr>
            <p:spPr bwMode="auto">
              <a:xfrm>
                <a:off x="2009" y="845"/>
                <a:ext cx="703" cy="232"/>
              </a:xfrm>
              <a:prstGeom prst="rect">
                <a:avLst/>
              </a:prstGeom>
              <a:noFill/>
              <a:ln w="28575" algn="ctr">
                <a:noFill/>
                <a:miter lim="800000"/>
                <a:headEnd/>
                <a:tailEnd/>
              </a:ln>
              <a:effectLst/>
            </p:spPr>
            <p:txBody>
              <a:bodyPr wrap="none" lIns="137136" tIns="68568" rIns="137136" bIns="68568">
                <a:spAutoFit/>
              </a:bodyPr>
              <a:lstStyle/>
              <a:p>
                <a:pPr marL="504825" indent="-504825" defTabSz="1369220" eaLnBrk="0" hangingPunct="0">
                  <a:buClr>
                    <a:srgbClr val="FF0000"/>
                  </a:buClr>
                </a:pPr>
                <a:r>
                  <a:rPr lang="en-US" sz="2700">
                    <a:latin typeface="Helvetica Neue" panose="02000503000000020004" pitchFamily="2" charset="0"/>
                    <a:ea typeface="Helvetica Neue" panose="02000503000000020004" pitchFamily="2" charset="0"/>
                    <a:cs typeface="Helvetica Neue" panose="02000503000000020004" pitchFamily="2" charset="0"/>
                  </a:rPr>
                  <a:t>I’m Done</a:t>
                </a:r>
              </a:p>
            </p:txBody>
          </p:sp>
        </p:grpSp>
      </p:grpSp>
      <p:grpSp>
        <p:nvGrpSpPr>
          <p:cNvPr id="12" name="Group 34"/>
          <p:cNvGrpSpPr>
            <a:grpSpLocks/>
          </p:cNvGrpSpPr>
          <p:nvPr/>
        </p:nvGrpSpPr>
        <p:grpSpPr bwMode="auto">
          <a:xfrm>
            <a:off x="9486894" y="8639172"/>
            <a:ext cx="2948467" cy="962025"/>
            <a:chOff x="2584" y="3194"/>
            <a:chExt cx="1102" cy="359"/>
          </a:xfrm>
        </p:grpSpPr>
        <p:sp>
          <p:nvSpPr>
            <p:cNvPr id="3900451" name="AutoShape 35"/>
            <p:cNvSpPr>
              <a:spLocks noChangeArrowheads="1"/>
            </p:cNvSpPr>
            <p:nvPr/>
          </p:nvSpPr>
          <p:spPr bwMode="auto">
            <a:xfrm flipH="1">
              <a:off x="2584" y="3198"/>
              <a:ext cx="316" cy="353"/>
            </a:xfrm>
            <a:prstGeom prst="rightArrow">
              <a:avLst>
                <a:gd name="adj1" fmla="val 53380"/>
                <a:gd name="adj2" fmla="val 42940"/>
              </a:avLst>
            </a:prstGeom>
            <a:solidFill>
              <a:srgbClr val="FFCC66"/>
            </a:solidFill>
            <a:ln w="28575" algn="ctr">
              <a:solidFill>
                <a:schemeClr val="tx1"/>
              </a:solidFill>
              <a:miter lim="800000"/>
              <a:headEnd/>
              <a:tailEnd/>
            </a:ln>
            <a:effectLst/>
          </p:spPr>
          <p:txBody>
            <a:bodyPr anchor="ctr">
              <a:spAutoFit/>
            </a:bodyPr>
            <a:lstStyle/>
            <a:p>
              <a:endParaRPr lang="en-US" sz="2700"/>
            </a:p>
          </p:txBody>
        </p:sp>
        <p:grpSp>
          <p:nvGrpSpPr>
            <p:cNvPr id="13" name="Group 36"/>
            <p:cNvGrpSpPr>
              <a:grpSpLocks/>
            </p:cNvGrpSpPr>
            <p:nvPr/>
          </p:nvGrpSpPr>
          <p:grpSpPr bwMode="auto">
            <a:xfrm>
              <a:off x="2872" y="3194"/>
              <a:ext cx="814" cy="359"/>
              <a:chOff x="2425" y="1156"/>
              <a:chExt cx="911" cy="403"/>
            </a:xfrm>
          </p:grpSpPr>
          <p:sp>
            <p:nvSpPr>
              <p:cNvPr id="3900453" name="Letter"/>
              <p:cNvSpPr>
                <a:spLocks noEditPoints="1" noChangeArrowheads="1"/>
              </p:cNvSpPr>
              <p:nvPr/>
            </p:nvSpPr>
            <p:spPr bwMode="auto">
              <a:xfrm>
                <a:off x="2425" y="1156"/>
                <a:ext cx="884" cy="403"/>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5304 w 21600"/>
                  <a:gd name="T17" fmla="*/ 9216 h 21600"/>
                  <a:gd name="T18" fmla="*/ 17504 w 21600"/>
                  <a:gd name="T19" fmla="*/ 1837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14" y="0"/>
                    </a:moveTo>
                    <a:lnTo>
                      <a:pt x="21600" y="0"/>
                    </a:lnTo>
                    <a:lnTo>
                      <a:pt x="21600" y="21628"/>
                    </a:lnTo>
                    <a:lnTo>
                      <a:pt x="14" y="21628"/>
                    </a:lnTo>
                    <a:lnTo>
                      <a:pt x="14" y="0"/>
                    </a:lnTo>
                    <a:close/>
                  </a:path>
                  <a:path w="21600" h="21600" extrusionOk="0">
                    <a:moveTo>
                      <a:pt x="18476" y="2035"/>
                    </a:moveTo>
                    <a:lnTo>
                      <a:pt x="20539" y="2035"/>
                    </a:lnTo>
                    <a:lnTo>
                      <a:pt x="20539" y="6559"/>
                    </a:lnTo>
                    <a:lnTo>
                      <a:pt x="18476" y="6559"/>
                    </a:lnTo>
                    <a:lnTo>
                      <a:pt x="18476" y="2035"/>
                    </a:lnTo>
                    <a:close/>
                  </a:path>
                  <a:path w="21600" h="21600" extrusionOk="0">
                    <a:moveTo>
                      <a:pt x="884" y="2092"/>
                    </a:moveTo>
                    <a:lnTo>
                      <a:pt x="7425" y="2092"/>
                    </a:lnTo>
                    <a:lnTo>
                      <a:pt x="7425" y="2770"/>
                    </a:lnTo>
                    <a:lnTo>
                      <a:pt x="884" y="2770"/>
                    </a:lnTo>
                    <a:lnTo>
                      <a:pt x="884" y="2092"/>
                    </a:lnTo>
                    <a:close/>
                  </a:path>
                  <a:path w="21600" h="21600" extrusionOk="0">
                    <a:moveTo>
                      <a:pt x="884" y="3109"/>
                    </a:moveTo>
                    <a:lnTo>
                      <a:pt x="7425" y="3109"/>
                    </a:lnTo>
                    <a:lnTo>
                      <a:pt x="7425" y="3788"/>
                    </a:lnTo>
                    <a:lnTo>
                      <a:pt x="884" y="3788"/>
                    </a:lnTo>
                    <a:lnTo>
                      <a:pt x="884" y="3109"/>
                    </a:lnTo>
                    <a:close/>
                  </a:path>
                  <a:path w="21600" h="21600" extrusionOk="0">
                    <a:moveTo>
                      <a:pt x="884" y="4127"/>
                    </a:moveTo>
                    <a:lnTo>
                      <a:pt x="7425" y="4127"/>
                    </a:lnTo>
                    <a:lnTo>
                      <a:pt x="7425" y="4806"/>
                    </a:lnTo>
                    <a:lnTo>
                      <a:pt x="884" y="4806"/>
                    </a:lnTo>
                    <a:lnTo>
                      <a:pt x="884" y="4127"/>
                    </a:lnTo>
                    <a:close/>
                  </a:path>
                  <a:path w="21600" h="21600" extrusionOk="0">
                    <a:moveTo>
                      <a:pt x="5127" y="5145"/>
                    </a:moveTo>
                    <a:lnTo>
                      <a:pt x="7425" y="5145"/>
                    </a:lnTo>
                    <a:lnTo>
                      <a:pt x="7425" y="5824"/>
                    </a:lnTo>
                    <a:lnTo>
                      <a:pt x="5127" y="5824"/>
                    </a:lnTo>
                    <a:lnTo>
                      <a:pt x="5127" y="5145"/>
                    </a:lnTo>
                    <a:close/>
                  </a:path>
                </a:pathLst>
              </a:custGeom>
              <a:solidFill>
                <a:srgbClr val="FFFFFF"/>
              </a:solidFill>
              <a:ln w="9525">
                <a:solidFill>
                  <a:srgbClr val="000000"/>
                </a:solidFill>
                <a:miter lim="800000"/>
                <a:headEnd/>
                <a:tailEnd/>
              </a:ln>
              <a:effectLst>
                <a:outerShdw dist="107763" dir="2700000" algn="ctr" rotWithShape="0">
                  <a:srgbClr val="808080"/>
                </a:outerShdw>
              </a:effectLst>
            </p:spPr>
            <p:txBody>
              <a:bodyPr lIns="137136" tIns="68568" rIns="137136" bIns="68568"/>
              <a:lstStyle/>
              <a:p>
                <a:pPr defTabSz="1369220" eaLnBrk="0" hangingPunct="0">
                  <a:buClr>
                    <a:srgbClr val="FF0000"/>
                  </a:buClr>
                </a:pPr>
                <a:endParaRPr lang="en-US" sz="2700">
                  <a:ea typeface="ヒラギノ角ゴ Pro W3" pitchFamily="16" charset="-128"/>
                </a:endParaRPr>
              </a:p>
            </p:txBody>
          </p:sp>
          <p:sp>
            <p:nvSpPr>
              <p:cNvPr id="3900454" name="Text Box 38"/>
              <p:cNvSpPr txBox="1">
                <a:spLocks noChangeArrowheads="1"/>
              </p:cNvSpPr>
              <p:nvPr/>
            </p:nvSpPr>
            <p:spPr bwMode="auto">
              <a:xfrm>
                <a:off x="2521" y="1313"/>
                <a:ext cx="815" cy="232"/>
              </a:xfrm>
              <a:prstGeom prst="rect">
                <a:avLst/>
              </a:prstGeom>
              <a:noFill/>
              <a:ln w="28575" algn="ctr">
                <a:noFill/>
                <a:miter lim="800000"/>
                <a:headEnd/>
                <a:tailEnd/>
              </a:ln>
              <a:effectLst/>
            </p:spPr>
            <p:txBody>
              <a:bodyPr wrap="square" lIns="137136" tIns="68568" rIns="137136" bIns="68568">
                <a:spAutoFit/>
              </a:bodyPr>
              <a:lstStyle/>
              <a:p>
                <a:pPr marL="504825" indent="-504825" defTabSz="1369220" eaLnBrk="0" hangingPunct="0">
                  <a:buClr>
                    <a:srgbClr val="FF0000"/>
                  </a:buClr>
                </a:pPr>
                <a:r>
                  <a:rPr lang="en-US" sz="2700">
                    <a:latin typeface="Helvetica Neue" panose="02000503000000020004" pitchFamily="2" charset="0"/>
                    <a:ea typeface="Helvetica Neue" panose="02000503000000020004" pitchFamily="2" charset="0"/>
                    <a:cs typeface="Helvetica Neue" panose="02000503000000020004" pitchFamily="2" charset="0"/>
                  </a:rPr>
                  <a:t>K thx bye!</a:t>
                </a:r>
              </a:p>
            </p:txBody>
          </p:sp>
        </p:grpSp>
      </p:grpSp>
      <p:sp>
        <p:nvSpPr>
          <p:cNvPr id="3900455" name="Line 39"/>
          <p:cNvSpPr>
            <a:spLocks noChangeShapeType="1"/>
          </p:cNvSpPr>
          <p:nvPr/>
        </p:nvSpPr>
        <p:spPr bwMode="auto">
          <a:xfrm flipV="1">
            <a:off x="2726532" y="4550570"/>
            <a:ext cx="12418218" cy="30956"/>
          </a:xfrm>
          <a:prstGeom prst="line">
            <a:avLst/>
          </a:prstGeom>
          <a:noFill/>
          <a:ln w="28575">
            <a:solidFill>
              <a:schemeClr val="folHlink"/>
            </a:solidFill>
            <a:round/>
            <a:headEnd/>
            <a:tailEnd/>
          </a:ln>
          <a:effectLst/>
        </p:spPr>
        <p:txBody>
          <a:bodyPr wrap="none" anchor="ctr">
            <a:spAutoFit/>
          </a:bodyPr>
          <a:lstStyle/>
          <a:p>
            <a:endParaRPr lang="en-US" sz="2700"/>
          </a:p>
        </p:txBody>
      </p:sp>
      <p:sp>
        <p:nvSpPr>
          <p:cNvPr id="3900456" name="Line 40"/>
          <p:cNvSpPr>
            <a:spLocks noChangeShapeType="1"/>
          </p:cNvSpPr>
          <p:nvPr/>
        </p:nvSpPr>
        <p:spPr bwMode="auto">
          <a:xfrm flipV="1">
            <a:off x="2726532" y="7210425"/>
            <a:ext cx="12418218" cy="28575"/>
          </a:xfrm>
          <a:prstGeom prst="line">
            <a:avLst/>
          </a:prstGeom>
          <a:noFill/>
          <a:ln w="28575">
            <a:solidFill>
              <a:schemeClr val="folHlink"/>
            </a:solidFill>
            <a:round/>
            <a:headEnd/>
            <a:tailEnd/>
          </a:ln>
          <a:effectLst/>
        </p:spPr>
        <p:txBody>
          <a:bodyPr wrap="none" anchor="ctr">
            <a:spAutoFit/>
          </a:bodyPr>
          <a:lstStyle/>
          <a:p>
            <a:endParaRPr lang="en-US" sz="2700"/>
          </a:p>
        </p:txBody>
      </p:sp>
      <p:sp>
        <p:nvSpPr>
          <p:cNvPr id="3900457" name="Text Box 41"/>
          <p:cNvSpPr txBox="1">
            <a:spLocks noChangeArrowheads="1"/>
          </p:cNvSpPr>
          <p:nvPr/>
        </p:nvSpPr>
        <p:spPr bwMode="auto">
          <a:xfrm>
            <a:off x="2762251" y="2831307"/>
            <a:ext cx="2463446" cy="969472"/>
          </a:xfrm>
          <a:prstGeom prst="rect">
            <a:avLst/>
          </a:prstGeom>
          <a:noFill/>
          <a:ln w="28575" algn="ctr">
            <a:noFill/>
            <a:miter lim="800000"/>
            <a:headEnd/>
            <a:tailEnd/>
          </a:ln>
          <a:effectLst/>
        </p:spPr>
        <p:txBody>
          <a:bodyPr wrap="none" lIns="137136" tIns="68568" rIns="137136" bIns="68568">
            <a:spAutoFit/>
          </a:bodyPr>
          <a:lstStyle/>
          <a:p>
            <a:pPr algn="ctr" defTabSz="1369220" eaLnBrk="0" hangingPunct="0">
              <a:buClr>
                <a:srgbClr val="FF0000"/>
              </a:buClr>
            </a:pPr>
            <a:r>
              <a:rPr lang="en-US" sz="2700">
                <a:latin typeface="Helvetica Neue" panose="02000503000000020004" pitchFamily="2" charset="0"/>
                <a:ea typeface="Helvetica Neue" panose="02000503000000020004" pitchFamily="2" charset="0"/>
                <a:cs typeface="Helvetica Neue" panose="02000503000000020004" pitchFamily="2" charset="0"/>
              </a:rPr>
              <a:t>Connection</a:t>
            </a:r>
            <a:br>
              <a:rPr lang="en-US" sz="2700">
                <a:latin typeface="Helvetica Neue" panose="02000503000000020004" pitchFamily="2" charset="0"/>
                <a:ea typeface="Helvetica Neue" panose="02000503000000020004" pitchFamily="2" charset="0"/>
                <a:cs typeface="Helvetica Neue" panose="02000503000000020004" pitchFamily="2" charset="0"/>
              </a:rPr>
            </a:br>
            <a:r>
              <a:rPr lang="en-US" sz="2700">
                <a:latin typeface="Helvetica Neue" panose="02000503000000020004" pitchFamily="2" charset="0"/>
                <a:ea typeface="Helvetica Neue" panose="02000503000000020004" pitchFamily="2" charset="0"/>
                <a:cs typeface="Helvetica Neue" panose="02000503000000020004" pitchFamily="2" charset="0"/>
              </a:rPr>
              <a:t>Establishment</a:t>
            </a:r>
          </a:p>
        </p:txBody>
      </p:sp>
      <p:sp>
        <p:nvSpPr>
          <p:cNvPr id="3900458" name="Text Box 42"/>
          <p:cNvSpPr txBox="1">
            <a:spLocks noChangeArrowheads="1"/>
          </p:cNvSpPr>
          <p:nvPr/>
        </p:nvSpPr>
        <p:spPr bwMode="auto">
          <a:xfrm>
            <a:off x="2952751" y="8089107"/>
            <a:ext cx="1883159" cy="969472"/>
          </a:xfrm>
          <a:prstGeom prst="rect">
            <a:avLst/>
          </a:prstGeom>
          <a:noFill/>
          <a:ln w="28575" algn="ctr">
            <a:noFill/>
            <a:miter lim="800000"/>
            <a:headEnd/>
            <a:tailEnd/>
          </a:ln>
          <a:effectLst/>
        </p:spPr>
        <p:txBody>
          <a:bodyPr wrap="none" lIns="137136" tIns="68568" rIns="137136" bIns="68568">
            <a:spAutoFit/>
          </a:bodyPr>
          <a:lstStyle/>
          <a:p>
            <a:pPr algn="ctr" defTabSz="1369220" eaLnBrk="0" hangingPunct="0">
              <a:buClr>
                <a:srgbClr val="FF0000"/>
              </a:buClr>
            </a:pPr>
            <a:r>
              <a:rPr lang="en-US" sz="2700">
                <a:ea typeface="ヒラギノ角ゴ Pro W3" pitchFamily="16" charset="-128"/>
              </a:rPr>
              <a:t>Connection</a:t>
            </a:r>
            <a:br>
              <a:rPr lang="en-US" sz="2700">
                <a:ea typeface="ヒラギノ角ゴ Pro W3" pitchFamily="16" charset="-128"/>
              </a:rPr>
            </a:br>
            <a:r>
              <a:rPr lang="en-US" sz="2700">
                <a:latin typeface="Helvetica Neue" panose="02000503000000020004" pitchFamily="2" charset="0"/>
                <a:ea typeface="Helvetica Neue" panose="02000503000000020004" pitchFamily="2" charset="0"/>
                <a:cs typeface="Helvetica Neue" panose="02000503000000020004" pitchFamily="2" charset="0"/>
              </a:rPr>
              <a:t>Release</a:t>
            </a:r>
          </a:p>
        </p:txBody>
      </p:sp>
      <p:sp>
        <p:nvSpPr>
          <p:cNvPr id="3900459" name="Text Box 43"/>
          <p:cNvSpPr txBox="1">
            <a:spLocks noChangeArrowheads="1"/>
          </p:cNvSpPr>
          <p:nvPr/>
        </p:nvSpPr>
        <p:spPr bwMode="auto">
          <a:xfrm>
            <a:off x="3164682" y="5460207"/>
            <a:ext cx="1514662" cy="969472"/>
          </a:xfrm>
          <a:prstGeom prst="rect">
            <a:avLst/>
          </a:prstGeom>
          <a:noFill/>
          <a:ln w="28575" algn="ctr">
            <a:noFill/>
            <a:miter lim="800000"/>
            <a:headEnd/>
            <a:tailEnd/>
          </a:ln>
          <a:effectLst/>
        </p:spPr>
        <p:txBody>
          <a:bodyPr wrap="none" lIns="137136" tIns="68568" rIns="137136" bIns="68568">
            <a:spAutoFit/>
          </a:bodyPr>
          <a:lstStyle/>
          <a:p>
            <a:pPr algn="ctr" defTabSz="1369220" eaLnBrk="0" hangingPunct="0">
              <a:buClr>
                <a:srgbClr val="FF0000"/>
              </a:buClr>
            </a:pPr>
            <a:r>
              <a:rPr lang="en-US" sz="2700">
                <a:latin typeface="Helvetica Neue" panose="02000503000000020004" pitchFamily="2" charset="0"/>
                <a:ea typeface="Helvetica Neue" panose="02000503000000020004" pitchFamily="2" charset="0"/>
                <a:cs typeface="Helvetica Neue" panose="02000503000000020004" pitchFamily="2" charset="0"/>
              </a:rPr>
              <a:t>Data</a:t>
            </a:r>
            <a:br>
              <a:rPr lang="en-US" sz="2700">
                <a:latin typeface="Helvetica Neue" panose="02000503000000020004" pitchFamily="2" charset="0"/>
                <a:ea typeface="Helvetica Neue" panose="02000503000000020004" pitchFamily="2" charset="0"/>
                <a:cs typeface="Helvetica Neue" panose="02000503000000020004" pitchFamily="2" charset="0"/>
              </a:rPr>
            </a:br>
            <a:r>
              <a:rPr lang="en-US" sz="2700">
                <a:latin typeface="Helvetica Neue" panose="02000503000000020004" pitchFamily="2" charset="0"/>
                <a:ea typeface="Helvetica Neue" panose="02000503000000020004" pitchFamily="2" charset="0"/>
                <a:cs typeface="Helvetica Neue" panose="02000503000000020004" pitchFamily="2" charset="0"/>
              </a:rPr>
              <a:t>Transfer</a:t>
            </a:r>
          </a:p>
        </p:txBody>
      </p:sp>
    </p:spTree>
    <p:custDataLst>
      <p:tags r:id="rId1"/>
    </p:custDataLst>
    <p:extLst>
      <p:ext uri="{BB962C8B-B14F-4D97-AF65-F5344CB8AC3E}">
        <p14:creationId xmlns:p14="http://schemas.microsoft.com/office/powerpoint/2010/main" val="2150258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63" presetClass="path" presetSubtype="0" accel="50000" decel="50000" fill="hold" nodeType="afterEffect">
                                  <p:stCondLst>
                                    <p:cond delay="0"/>
                                  </p:stCondLst>
                                  <p:childTnLst>
                                    <p:animMotion origin="layout" path="M 3.19444E-6 -2.46914E-6 L 0.25 -2.46914E-6 " pathEditMode="relative" rAng="0" ptsTypes="AA">
                                      <p:cBhvr>
                                        <p:cTn id="10" dur="2000" fill="hold"/>
                                        <p:tgtEl>
                                          <p:spTgt spid="2"/>
                                        </p:tgtEl>
                                        <p:attrNameLst>
                                          <p:attrName>ppt_x</p:attrName>
                                          <p:attrName>ppt_y</p:attrName>
                                        </p:attrNameLst>
                                      </p:cBhvr>
                                      <p:rCtr x="12500" y="0"/>
                                    </p:animMotion>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childTnLst>
                          </p:cTn>
                        </p:par>
                        <p:par>
                          <p:cTn id="16" fill="hold">
                            <p:stCondLst>
                              <p:cond delay="500"/>
                            </p:stCondLst>
                            <p:childTnLst>
                              <p:par>
                                <p:cTn id="17" presetID="35" presetClass="path" presetSubtype="0" accel="50000" decel="50000" fill="hold" nodeType="afterEffect">
                                  <p:stCondLst>
                                    <p:cond delay="0"/>
                                  </p:stCondLst>
                                  <p:childTnLst>
                                    <p:animMotion origin="layout" path="M 0 0  L -0.25 0  E" pathEditMode="relative" ptsTypes="">
                                      <p:cBhvr>
                                        <p:cTn id="18" dur="2000" fill="hold"/>
                                        <p:tgtEl>
                                          <p:spTgt spid="4"/>
                                        </p:tgtEl>
                                        <p:attrNameLst>
                                          <p:attrName>ppt_x</p:attrName>
                                          <p:attrName>ppt_y</p:attrName>
                                        </p:attrNameLst>
                                      </p:cBhvr>
                                    </p:animMotion>
                                  </p:childTnLst>
                                </p:cTn>
                              </p:par>
                              <p:par>
                                <p:cTn id="19" presetID="1" presetClass="exit" presetSubtype="0" fill="hold" nodeType="withEffect">
                                  <p:stCondLst>
                                    <p:cond delay="0"/>
                                  </p:stCondLst>
                                  <p:childTnLst>
                                    <p:set>
                                      <p:cBhvr>
                                        <p:cTn id="20" dur="1" fill="hold">
                                          <p:stCondLst>
                                            <p:cond delay="0"/>
                                          </p:stCondLst>
                                        </p:cTn>
                                        <p:tgtEl>
                                          <p:spTgt spid="2"/>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900455"/>
                                        </p:tgtEl>
                                        <p:attrNameLst>
                                          <p:attrName>style.visibility</p:attrName>
                                        </p:attrNameLst>
                                      </p:cBhvr>
                                      <p:to>
                                        <p:strVal val="visible"/>
                                      </p:to>
                                    </p:set>
                                    <p:animEffect transition="in" filter="dissolve">
                                      <p:cBhvr>
                                        <p:cTn id="25" dur="500"/>
                                        <p:tgtEl>
                                          <p:spTgt spid="3900455"/>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3900459"/>
                                        </p:tgtEl>
                                        <p:attrNameLst>
                                          <p:attrName>style.visibility</p:attrName>
                                        </p:attrNameLst>
                                      </p:cBhvr>
                                      <p:to>
                                        <p:strVal val="visible"/>
                                      </p:to>
                                    </p:set>
                                    <p:animEffect transition="in" filter="dissolve">
                                      <p:cBhvr>
                                        <p:cTn id="28" dur="500"/>
                                        <p:tgtEl>
                                          <p:spTgt spid="3900459"/>
                                        </p:tgtEl>
                                      </p:cBhvr>
                                    </p:animEffect>
                                  </p:childTnLst>
                                </p:cTn>
                              </p:par>
                            </p:childTnLst>
                          </p:cTn>
                        </p:par>
                        <p:par>
                          <p:cTn id="29" fill="hold">
                            <p:stCondLst>
                              <p:cond delay="500"/>
                            </p:stCondLst>
                            <p:childTnLst>
                              <p:par>
                                <p:cTn id="30" presetID="10" presetClass="exit" presetSubtype="0" fill="hold" nodeType="afterEffect">
                                  <p:stCondLst>
                                    <p:cond delay="0"/>
                                  </p:stCondLst>
                                  <p:childTnLst>
                                    <p:animEffect transition="out" filter="fade">
                                      <p:cBhvr>
                                        <p:cTn id="31" dur="1000"/>
                                        <p:tgtEl>
                                          <p:spTgt spid="4"/>
                                        </p:tgtEl>
                                      </p:cBhvr>
                                    </p:animEffect>
                                    <p:set>
                                      <p:cBhvr>
                                        <p:cTn id="32" dur="1" fill="hold">
                                          <p:stCondLst>
                                            <p:cond delay="999"/>
                                          </p:stCondLst>
                                        </p:cTn>
                                        <p:tgtEl>
                                          <p:spTgt spid="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dissolve">
                                      <p:cBhvr>
                                        <p:cTn id="37" dur="500"/>
                                        <p:tgtEl>
                                          <p:spTgt spid="6"/>
                                        </p:tgtEl>
                                      </p:cBhvr>
                                    </p:animEffect>
                                  </p:childTnLst>
                                </p:cTn>
                              </p:par>
                            </p:childTnLst>
                          </p:cTn>
                        </p:par>
                        <p:par>
                          <p:cTn id="38" fill="hold">
                            <p:stCondLst>
                              <p:cond delay="500"/>
                            </p:stCondLst>
                            <p:childTnLst>
                              <p:par>
                                <p:cTn id="39" presetID="63" presetClass="path" presetSubtype="0" accel="50000" decel="50000" fill="hold" nodeType="afterEffect">
                                  <p:stCondLst>
                                    <p:cond delay="0"/>
                                  </p:stCondLst>
                                  <p:childTnLst>
                                    <p:animMotion origin="layout" path="M 0 0  L 0.25 0  E" pathEditMode="relative" ptsTypes="">
                                      <p:cBhvr>
                                        <p:cTn id="40" dur="2000" fill="hold"/>
                                        <p:tgtEl>
                                          <p:spTgt spid="6"/>
                                        </p:tgtEl>
                                        <p:attrNameLst>
                                          <p:attrName>ppt_x</p:attrName>
                                          <p:attrName>ppt_y</p:attrName>
                                        </p:attrNameLst>
                                      </p:cBhvr>
                                    </p:animMotion>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dissolve">
                                      <p:cBhvr>
                                        <p:cTn id="45" dur="500"/>
                                        <p:tgtEl>
                                          <p:spTgt spid="8"/>
                                        </p:tgtEl>
                                      </p:cBhvr>
                                    </p:animEffect>
                                  </p:childTnLst>
                                </p:cTn>
                              </p:par>
                            </p:childTnLst>
                          </p:cTn>
                        </p:par>
                        <p:par>
                          <p:cTn id="46" fill="hold">
                            <p:stCondLst>
                              <p:cond delay="500"/>
                            </p:stCondLst>
                            <p:childTnLst>
                              <p:par>
                                <p:cTn id="47" presetID="35" presetClass="path" presetSubtype="0" accel="50000" decel="50000" fill="hold" nodeType="afterEffect">
                                  <p:stCondLst>
                                    <p:cond delay="0"/>
                                  </p:stCondLst>
                                  <p:childTnLst>
                                    <p:animMotion origin="layout" path="M -3.61111E-6 -2.34568E-6 L -0.25 -2.34568E-6 " pathEditMode="relative" rAng="0" ptsTypes="AA">
                                      <p:cBhvr>
                                        <p:cTn id="48" dur="2000" fill="hold"/>
                                        <p:tgtEl>
                                          <p:spTgt spid="8"/>
                                        </p:tgtEl>
                                        <p:attrNameLst>
                                          <p:attrName>ppt_x</p:attrName>
                                          <p:attrName>ppt_y</p:attrName>
                                        </p:attrNameLst>
                                      </p:cBhvr>
                                      <p:rCtr x="-12500" y="0"/>
                                    </p:animMotion>
                                  </p:childTnLst>
                                </p:cTn>
                              </p:par>
                              <p:par>
                                <p:cTn id="49" presetID="1" presetClass="exit" presetSubtype="0" fill="hold" nodeType="withEffect">
                                  <p:stCondLst>
                                    <p:cond delay="0"/>
                                  </p:stCondLst>
                                  <p:childTnLst>
                                    <p:set>
                                      <p:cBhvr>
                                        <p:cTn id="50" dur="1" fill="hold">
                                          <p:stCondLst>
                                            <p:cond delay="0"/>
                                          </p:stCondLst>
                                        </p:cTn>
                                        <p:tgtEl>
                                          <p:spTgt spid="6"/>
                                        </p:tgtEl>
                                        <p:attrNameLst>
                                          <p:attrName>style.visibility</p:attrName>
                                        </p:attrNameLst>
                                      </p:cBhvr>
                                      <p:to>
                                        <p:strVal val="hidden"/>
                                      </p:to>
                                    </p:set>
                                  </p:childTnLst>
                                </p:cTn>
                              </p:par>
                            </p:childTnLst>
                          </p:cTn>
                        </p:par>
                        <p:par>
                          <p:cTn id="51" fill="hold">
                            <p:stCondLst>
                              <p:cond delay="2500"/>
                            </p:stCondLst>
                            <p:childTnLst>
                              <p:par>
                                <p:cTn id="52" presetID="10" presetClass="exit" presetSubtype="0" fill="hold" nodeType="afterEffect">
                                  <p:stCondLst>
                                    <p:cond delay="0"/>
                                  </p:stCondLst>
                                  <p:childTnLst>
                                    <p:animEffect transition="out" filter="fade">
                                      <p:cBhvr>
                                        <p:cTn id="53" dur="1000"/>
                                        <p:tgtEl>
                                          <p:spTgt spid="8"/>
                                        </p:tgtEl>
                                      </p:cBhvr>
                                    </p:animEffect>
                                    <p:set>
                                      <p:cBhvr>
                                        <p:cTn id="54" dur="1" fill="hold">
                                          <p:stCondLst>
                                            <p:cond delay="999"/>
                                          </p:stCondLst>
                                        </p:cTn>
                                        <p:tgtEl>
                                          <p:spTgt spid="8"/>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3900456"/>
                                        </p:tgtEl>
                                        <p:attrNameLst>
                                          <p:attrName>style.visibility</p:attrName>
                                        </p:attrNameLst>
                                      </p:cBhvr>
                                      <p:to>
                                        <p:strVal val="visible"/>
                                      </p:to>
                                    </p:set>
                                    <p:animEffect transition="in" filter="dissolve">
                                      <p:cBhvr>
                                        <p:cTn id="59" dur="500"/>
                                        <p:tgtEl>
                                          <p:spTgt spid="3900456"/>
                                        </p:tgtEl>
                                      </p:cBhvr>
                                    </p:animEffect>
                                  </p:childTnLst>
                                </p:cTn>
                              </p:par>
                              <p:par>
                                <p:cTn id="60" presetID="9" presetClass="entr" presetSubtype="0" fill="hold" grpId="0" nodeType="withEffect">
                                  <p:stCondLst>
                                    <p:cond delay="0"/>
                                  </p:stCondLst>
                                  <p:childTnLst>
                                    <p:set>
                                      <p:cBhvr>
                                        <p:cTn id="61" dur="1" fill="hold">
                                          <p:stCondLst>
                                            <p:cond delay="0"/>
                                          </p:stCondLst>
                                        </p:cTn>
                                        <p:tgtEl>
                                          <p:spTgt spid="3900458"/>
                                        </p:tgtEl>
                                        <p:attrNameLst>
                                          <p:attrName>style.visibility</p:attrName>
                                        </p:attrNameLst>
                                      </p:cBhvr>
                                      <p:to>
                                        <p:strVal val="visible"/>
                                      </p:to>
                                    </p:set>
                                    <p:animEffect transition="in" filter="dissolve">
                                      <p:cBhvr>
                                        <p:cTn id="62" dur="500"/>
                                        <p:tgtEl>
                                          <p:spTgt spid="3900458"/>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dissolve">
                                      <p:cBhvr>
                                        <p:cTn id="67" dur="500"/>
                                        <p:tgtEl>
                                          <p:spTgt spid="10"/>
                                        </p:tgtEl>
                                      </p:cBhvr>
                                    </p:animEffect>
                                  </p:childTnLst>
                                </p:cTn>
                              </p:par>
                            </p:childTnLst>
                          </p:cTn>
                        </p:par>
                        <p:par>
                          <p:cTn id="68" fill="hold">
                            <p:stCondLst>
                              <p:cond delay="500"/>
                            </p:stCondLst>
                            <p:childTnLst>
                              <p:par>
                                <p:cTn id="69" presetID="63" presetClass="path" presetSubtype="0" accel="50000" decel="50000" fill="hold" nodeType="afterEffect">
                                  <p:stCondLst>
                                    <p:cond delay="0"/>
                                  </p:stCondLst>
                                  <p:childTnLst>
                                    <p:animMotion origin="layout" path="M 0 0  L 0.25 0  E" pathEditMode="relative" ptsTypes="">
                                      <p:cBhvr>
                                        <p:cTn id="70" dur="2000" fill="hold"/>
                                        <p:tgtEl>
                                          <p:spTgt spid="10"/>
                                        </p:tgtEl>
                                        <p:attrNameLst>
                                          <p:attrName>ppt_x</p:attrName>
                                          <p:attrName>ppt_y</p:attrName>
                                        </p:attrNameLst>
                                      </p:cBhvr>
                                    </p:animMotion>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nodeType="click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dissolve">
                                      <p:cBhvr>
                                        <p:cTn id="75" dur="500"/>
                                        <p:tgtEl>
                                          <p:spTgt spid="12"/>
                                        </p:tgtEl>
                                      </p:cBhvr>
                                    </p:animEffect>
                                  </p:childTnLst>
                                </p:cTn>
                              </p:par>
                            </p:childTnLst>
                          </p:cTn>
                        </p:par>
                        <p:par>
                          <p:cTn id="76" fill="hold">
                            <p:stCondLst>
                              <p:cond delay="500"/>
                            </p:stCondLst>
                            <p:childTnLst>
                              <p:par>
                                <p:cTn id="77" presetID="35" presetClass="path" presetSubtype="0" accel="50000" decel="50000" fill="hold" nodeType="afterEffect">
                                  <p:stCondLst>
                                    <p:cond delay="0"/>
                                  </p:stCondLst>
                                  <p:childTnLst>
                                    <p:animMotion origin="layout" path="M 4.44444E-6 -4.07407E-6 L -0.25 -4.07407E-6 " pathEditMode="relative" rAng="0" ptsTypes="AA">
                                      <p:cBhvr>
                                        <p:cTn id="78" dur="2000" fill="hold"/>
                                        <p:tgtEl>
                                          <p:spTgt spid="12"/>
                                        </p:tgtEl>
                                        <p:attrNameLst>
                                          <p:attrName>ppt_x</p:attrName>
                                          <p:attrName>ppt_y</p:attrName>
                                        </p:attrNameLst>
                                      </p:cBhvr>
                                      <p:rCtr x="-12500" y="0"/>
                                    </p:animMotion>
                                  </p:childTnLst>
                                </p:cTn>
                              </p:par>
                              <p:par>
                                <p:cTn id="79" presetID="1" presetClass="exit" presetSubtype="0" fill="hold" nodeType="withEffect">
                                  <p:stCondLst>
                                    <p:cond delay="0"/>
                                  </p:stCondLst>
                                  <p:childTnLst>
                                    <p:set>
                                      <p:cBhvr>
                                        <p:cTn id="80" dur="1" fill="hold">
                                          <p:stCondLst>
                                            <p:cond delay="0"/>
                                          </p:stCondLst>
                                        </p:cTn>
                                        <p:tgtEl>
                                          <p:spTgt spid="10"/>
                                        </p:tgtEl>
                                        <p:attrNameLst>
                                          <p:attrName>style.visibility</p:attrName>
                                        </p:attrNameLst>
                                      </p:cBhvr>
                                      <p:to>
                                        <p:strVal val="hidden"/>
                                      </p:to>
                                    </p:set>
                                  </p:childTnLst>
                                </p:cTn>
                              </p:par>
                            </p:childTnLst>
                          </p:cTn>
                        </p:par>
                        <p:par>
                          <p:cTn id="81" fill="hold">
                            <p:stCondLst>
                              <p:cond delay="2500"/>
                            </p:stCondLst>
                            <p:childTnLst>
                              <p:par>
                                <p:cTn id="82" presetID="10" presetClass="exit" presetSubtype="0" fill="hold" nodeType="afterEffect">
                                  <p:stCondLst>
                                    <p:cond delay="0"/>
                                  </p:stCondLst>
                                  <p:childTnLst>
                                    <p:animEffect transition="out" filter="fade">
                                      <p:cBhvr>
                                        <p:cTn id="83" dur="1000"/>
                                        <p:tgtEl>
                                          <p:spTgt spid="12"/>
                                        </p:tgtEl>
                                      </p:cBhvr>
                                    </p:animEffect>
                                    <p:set>
                                      <p:cBhvr>
                                        <p:cTn id="84" dur="1" fill="hold">
                                          <p:stCondLst>
                                            <p:cond delay="9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0455" grpId="0" animBg="1"/>
      <p:bldP spid="3900456" grpId="0" animBg="1"/>
      <p:bldP spid="3900458" grpId="0"/>
      <p:bldP spid="3900459"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6322" name="Rectangle 2"/>
          <p:cNvSpPr>
            <a:spLocks noGrp="1" noChangeArrowheads="1"/>
          </p:cNvSpPr>
          <p:nvPr>
            <p:ph type="title"/>
          </p:nvPr>
        </p:nvSpPr>
        <p:spPr/>
        <p:txBody>
          <a:bodyPr/>
          <a:lstStyle/>
          <a:p>
            <a:r>
              <a:rPr lang="en-US"/>
              <a:t>Other Transport Layer Functions</a:t>
            </a:r>
          </a:p>
        </p:txBody>
      </p:sp>
      <p:sp>
        <p:nvSpPr>
          <p:cNvPr id="3896323" name="Rectangle 3"/>
          <p:cNvSpPr>
            <a:spLocks noGrp="1" noChangeArrowheads="1"/>
          </p:cNvSpPr>
          <p:nvPr>
            <p:ph idx="1"/>
          </p:nvPr>
        </p:nvSpPr>
        <p:spPr/>
        <p:txBody>
          <a:bodyPr>
            <a:normAutofit fontScale="85000" lnSpcReduction="20000"/>
          </a:bodyPr>
          <a:lstStyle/>
          <a:p>
            <a:pPr>
              <a:lnSpc>
                <a:spcPct val="90000"/>
              </a:lnSpc>
            </a:pPr>
            <a:r>
              <a:rPr lang="en-US"/>
              <a:t>Connectionless and connection-oriented operation</a:t>
            </a:r>
          </a:p>
          <a:p>
            <a:pPr>
              <a:lnSpc>
                <a:spcPct val="90000"/>
              </a:lnSpc>
            </a:pPr>
            <a:r>
              <a:rPr lang="en-US"/>
              <a:t>Error detection</a:t>
            </a:r>
          </a:p>
          <a:p>
            <a:pPr lvl="1">
              <a:lnSpc>
                <a:spcPct val="90000"/>
              </a:lnSpc>
            </a:pPr>
            <a:r>
              <a:rPr lang="en-US"/>
              <a:t>Bit errors</a:t>
            </a:r>
          </a:p>
          <a:p>
            <a:pPr lvl="1">
              <a:lnSpc>
                <a:spcPct val="90000"/>
              </a:lnSpc>
            </a:pPr>
            <a:r>
              <a:rPr lang="en-US"/>
              <a:t>Packet loss</a:t>
            </a:r>
          </a:p>
          <a:p>
            <a:pPr lvl="1">
              <a:lnSpc>
                <a:spcPct val="90000"/>
              </a:lnSpc>
            </a:pPr>
            <a:r>
              <a:rPr lang="en-US"/>
              <a:t>Out-of-sequence delivery</a:t>
            </a:r>
          </a:p>
          <a:p>
            <a:pPr>
              <a:lnSpc>
                <a:spcPct val="90000"/>
              </a:lnSpc>
            </a:pPr>
            <a:r>
              <a:rPr lang="en-US"/>
              <a:t>Error correction</a:t>
            </a:r>
          </a:p>
          <a:p>
            <a:pPr lvl="1">
              <a:lnSpc>
                <a:spcPct val="90000"/>
              </a:lnSpc>
            </a:pPr>
            <a:r>
              <a:rPr lang="en-US"/>
              <a:t>Bit errors</a:t>
            </a:r>
          </a:p>
          <a:p>
            <a:pPr lvl="1">
              <a:lnSpc>
                <a:spcPct val="90000"/>
              </a:lnSpc>
            </a:pPr>
            <a:r>
              <a:rPr lang="en-US"/>
              <a:t>Packet loss</a:t>
            </a:r>
          </a:p>
          <a:p>
            <a:pPr lvl="1">
              <a:lnSpc>
                <a:spcPct val="90000"/>
              </a:lnSpc>
            </a:pPr>
            <a:r>
              <a:rPr lang="en-US"/>
              <a:t>Out-of-sequence delivery</a:t>
            </a:r>
          </a:p>
          <a:p>
            <a:pPr>
              <a:lnSpc>
                <a:spcPct val="90000"/>
              </a:lnSpc>
            </a:pPr>
            <a:r>
              <a:rPr lang="en-US"/>
              <a:t>Application addressing</a:t>
            </a:r>
          </a:p>
          <a:p>
            <a:pPr>
              <a:lnSpc>
                <a:spcPct val="90000"/>
              </a:lnSpc>
            </a:pPr>
            <a:r>
              <a:rPr lang="en-US"/>
              <a:t>Flow control</a:t>
            </a:r>
          </a:p>
          <a:p>
            <a:pPr>
              <a:lnSpc>
                <a:spcPct val="90000"/>
              </a:lnSpc>
            </a:pPr>
            <a:r>
              <a:rPr lang="en-US"/>
              <a:t>Enhanced capabilities</a:t>
            </a:r>
          </a:p>
          <a:p>
            <a:pPr lvl="1">
              <a:lnSpc>
                <a:spcPct val="90000"/>
              </a:lnSpc>
            </a:pPr>
            <a:r>
              <a:rPr lang="en-US"/>
              <a:t>Security</a:t>
            </a:r>
          </a:p>
          <a:p>
            <a:pPr lvl="1">
              <a:lnSpc>
                <a:spcPct val="90000"/>
              </a:lnSpc>
            </a:pPr>
            <a:r>
              <a:rPr lang="en-US"/>
              <a:t>Timing </a:t>
            </a:r>
          </a:p>
        </p:txBody>
      </p:sp>
      <p:sp>
        <p:nvSpPr>
          <p:cNvPr id="5" name="Slide Number Placeholder 4"/>
          <p:cNvSpPr>
            <a:spLocks noGrp="1"/>
          </p:cNvSpPr>
          <p:nvPr>
            <p:ph type="sldNum" sz="quarter" idx="10"/>
          </p:nvPr>
        </p:nvSpPr>
        <p:spPr>
          <a:prstGeom prst="rect">
            <a:avLst/>
          </a:prstGeom>
        </p:spPr>
        <p:txBody>
          <a:bodyPr/>
          <a:lstStyle/>
          <a:p>
            <a:fld id="{76E8DCF4-EBDD-4FE1-8465-FD383573D554}" type="slidenum">
              <a:rPr lang="en-US" smtClean="0">
                <a:solidFill>
                  <a:schemeClr val="tx1"/>
                </a:solidFill>
              </a:rPr>
              <a:pPr/>
              <a:t>118</a:t>
            </a:fld>
            <a:endParaRPr lang="en-US">
              <a:solidFill>
                <a:schemeClr val="tx1"/>
              </a:solidFill>
            </a:endParaRPr>
          </a:p>
        </p:txBody>
      </p:sp>
    </p:spTree>
    <p:custDataLst>
      <p:tags r:id="rId1"/>
    </p:custDataLst>
    <p:extLst>
      <p:ext uri="{BB962C8B-B14F-4D97-AF65-F5344CB8AC3E}">
        <p14:creationId xmlns:p14="http://schemas.microsoft.com/office/powerpoint/2010/main" val="301938292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Certificates: Proving Who You’re Talking To</a:t>
            </a:r>
          </a:p>
        </p:txBody>
      </p:sp>
      <p:sp>
        <p:nvSpPr>
          <p:cNvPr id="3" name="Chain heading"/>
          <p:cNvSpPr txBox="1"/>
          <p:nvPr/>
        </p:nvSpPr>
        <p:spPr>
          <a:xfrm>
            <a:off x="1257300" y="2606040"/>
            <a:ext cx="6035040" cy="45720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The chain of trust</a:t>
            </a:r>
          </a:p>
        </p:txBody>
      </p:sp>
      <p:sp>
        <p:nvSpPr>
          <p:cNvPr id="4" name="Chain card 1"/>
          <p:cNvSpPr/>
          <p:nvPr/>
        </p:nvSpPr>
        <p:spPr>
          <a:xfrm>
            <a:off x="1257300" y="3200400"/>
            <a:ext cx="6035040" cy="1325880"/>
          </a:xfrm>
          <a:prstGeom prst="roundRect">
            <a:avLst/>
          </a:prstGeom>
          <a:solidFill>
            <a:srgbClr val="D9E2F3"/>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Chain text 1"/>
          <p:cNvSpPr txBox="1"/>
          <p:nvPr/>
        </p:nvSpPr>
        <p:spPr>
          <a:xfrm>
            <a:off x="1577340" y="3401568"/>
            <a:ext cx="4663440" cy="1005840"/>
          </a:xfrm>
          <a:prstGeom prst="rect">
            <a:avLst/>
          </a:prstGeom>
          <a:noFill/>
        </p:spPr>
        <p:txBody>
          <a:bodyPr wrap="square" lIns="0" tIns="0" rIns="0" bIns="0" anchor="t">
            <a:spAutoFit/>
          </a:bodyPr>
          <a:lstStyle/>
          <a:p>
            <a:pPr algn="l">
              <a:spcAft>
                <a:spcPts val="400"/>
              </a:spcAft>
            </a:pPr>
            <a:r>
              <a:rPr sz="2100" b="1" i="0">
                <a:solidFill>
                  <a:srgbClr val="000000"/>
                </a:solidFill>
                <a:latin typeface="Helvetica Neue"/>
                <a:ea typeface="Helvetica Neue"/>
                <a:cs typeface="Helvetica Neue"/>
              </a:rPr>
              <a:t>Root certificate authority</a:t>
            </a:r>
          </a:p>
          <a:p>
            <a:pPr algn="l">
              <a:spcAft>
                <a:spcPts val="400"/>
              </a:spcAft>
            </a:pPr>
            <a:r>
              <a:rPr sz="1600" b="0" i="0">
                <a:solidFill>
                  <a:srgbClr val="000000"/>
                </a:solidFill>
                <a:latin typeface="Helvetica Neue"/>
                <a:ea typeface="Helvetica Neue"/>
                <a:cs typeface="Helvetica Neue"/>
              </a:rPr>
              <a:t>Built into every browser, phone and computer</a:t>
            </a:r>
          </a:p>
        </p:txBody>
      </p:sp>
      <p:pic>
        <p:nvPicPr>
          <p:cNvPr id="6" name="Chain icon 1"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09359" y="3515868"/>
            <a:ext cx="685800" cy="685800"/>
          </a:xfrm>
          <a:prstGeom prst="rect">
            <a:avLst/>
          </a:prstGeom>
        </p:spPr>
      </p:pic>
      <p:sp>
        <p:nvSpPr>
          <p:cNvPr id="7" name="Chain arrow 1"/>
          <p:cNvSpPr/>
          <p:nvPr/>
        </p:nvSpPr>
        <p:spPr>
          <a:xfrm>
            <a:off x="1805940" y="4572000"/>
            <a:ext cx="457200" cy="457200"/>
          </a:xfrm>
          <a:prstGeom prst="downArrow">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Vouches 1"/>
          <p:cNvSpPr txBox="1"/>
          <p:nvPr/>
        </p:nvSpPr>
        <p:spPr>
          <a:xfrm>
            <a:off x="2400300" y="4617720"/>
            <a:ext cx="2743200" cy="365760"/>
          </a:xfrm>
          <a:prstGeom prst="rect">
            <a:avLst/>
          </a:prstGeom>
          <a:noFill/>
        </p:spPr>
        <p:txBody>
          <a:bodyPr wrap="square" lIns="0" tIns="0" rIns="0" bIns="0" anchor="t">
            <a:spAutoFit/>
          </a:bodyPr>
          <a:lstStyle/>
          <a:p>
            <a:pPr algn="l">
              <a:spcAft>
                <a:spcPts val="600"/>
              </a:spcAft>
            </a:pPr>
            <a:r>
              <a:rPr sz="1500" b="0" i="0">
                <a:solidFill>
                  <a:srgbClr val="2F75B5"/>
                </a:solidFill>
                <a:latin typeface="Helvetica Neue"/>
                <a:ea typeface="Helvetica Neue"/>
                <a:cs typeface="Helvetica Neue"/>
              </a:rPr>
              <a:t>vouches for</a:t>
            </a:r>
          </a:p>
        </p:txBody>
      </p:sp>
      <p:sp>
        <p:nvSpPr>
          <p:cNvPr id="9" name="Chain card 2"/>
          <p:cNvSpPr/>
          <p:nvPr/>
        </p:nvSpPr>
        <p:spPr>
          <a:xfrm>
            <a:off x="1257300" y="5074920"/>
            <a:ext cx="6035040" cy="1325880"/>
          </a:xfrm>
          <a:prstGeom prst="roundRect">
            <a:avLst/>
          </a:prstGeom>
          <a:solidFill>
            <a:srgbClr val="EEF2F8"/>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Chain text 2"/>
          <p:cNvSpPr txBox="1"/>
          <p:nvPr/>
        </p:nvSpPr>
        <p:spPr>
          <a:xfrm>
            <a:off x="1577340" y="5276088"/>
            <a:ext cx="4663440" cy="1005840"/>
          </a:xfrm>
          <a:prstGeom prst="rect">
            <a:avLst/>
          </a:prstGeom>
          <a:noFill/>
        </p:spPr>
        <p:txBody>
          <a:bodyPr wrap="square" lIns="0" tIns="0" rIns="0" bIns="0" anchor="t">
            <a:spAutoFit/>
          </a:bodyPr>
          <a:lstStyle/>
          <a:p>
            <a:pPr algn="l">
              <a:spcAft>
                <a:spcPts val="400"/>
              </a:spcAft>
            </a:pPr>
            <a:r>
              <a:rPr sz="2100" b="1" i="0">
                <a:solidFill>
                  <a:srgbClr val="000000"/>
                </a:solidFill>
                <a:latin typeface="Helvetica Neue"/>
                <a:ea typeface="Helvetica Neue"/>
                <a:cs typeface="Helvetica Neue"/>
              </a:rPr>
              <a:t>Intermediate authority</a:t>
            </a:r>
          </a:p>
          <a:p>
            <a:pPr algn="l">
              <a:spcAft>
                <a:spcPts val="400"/>
              </a:spcAft>
            </a:pPr>
            <a:r>
              <a:rPr sz="1600" b="0" i="0">
                <a:solidFill>
                  <a:srgbClr val="000000"/>
                </a:solidFill>
                <a:latin typeface="Helvetica Neue"/>
                <a:ea typeface="Helvetica Neue"/>
                <a:cs typeface="Helvetica Neue"/>
              </a:rPr>
              <a:t>Issued and vouched for by the root</a:t>
            </a:r>
          </a:p>
        </p:txBody>
      </p:sp>
      <p:pic>
        <p:nvPicPr>
          <p:cNvPr id="11" name="Chain icon 2"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09359" y="5390388"/>
            <a:ext cx="685800" cy="685800"/>
          </a:xfrm>
          <a:prstGeom prst="rect">
            <a:avLst/>
          </a:prstGeom>
        </p:spPr>
      </p:pic>
      <p:sp>
        <p:nvSpPr>
          <p:cNvPr id="12" name="Chain arrow 2"/>
          <p:cNvSpPr/>
          <p:nvPr/>
        </p:nvSpPr>
        <p:spPr>
          <a:xfrm>
            <a:off x="1805940" y="6446520"/>
            <a:ext cx="457200" cy="457200"/>
          </a:xfrm>
          <a:prstGeom prst="downArrow">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Vouches 2"/>
          <p:cNvSpPr txBox="1"/>
          <p:nvPr/>
        </p:nvSpPr>
        <p:spPr>
          <a:xfrm>
            <a:off x="2400300" y="6492240"/>
            <a:ext cx="2743200" cy="365760"/>
          </a:xfrm>
          <a:prstGeom prst="rect">
            <a:avLst/>
          </a:prstGeom>
          <a:noFill/>
        </p:spPr>
        <p:txBody>
          <a:bodyPr wrap="square" lIns="0" tIns="0" rIns="0" bIns="0" anchor="t">
            <a:spAutoFit/>
          </a:bodyPr>
          <a:lstStyle/>
          <a:p>
            <a:pPr algn="l">
              <a:spcAft>
                <a:spcPts val="600"/>
              </a:spcAft>
            </a:pPr>
            <a:r>
              <a:rPr sz="1500" b="0" i="0">
                <a:solidFill>
                  <a:srgbClr val="2F75B5"/>
                </a:solidFill>
                <a:latin typeface="Helvetica Neue"/>
                <a:ea typeface="Helvetica Neue"/>
                <a:cs typeface="Helvetica Neue"/>
              </a:rPr>
              <a:t>vouches for</a:t>
            </a:r>
          </a:p>
        </p:txBody>
      </p:sp>
      <p:sp>
        <p:nvSpPr>
          <p:cNvPr id="14" name="Chain card 3"/>
          <p:cNvSpPr/>
          <p:nvPr/>
        </p:nvSpPr>
        <p:spPr>
          <a:xfrm>
            <a:off x="1257300" y="6949440"/>
            <a:ext cx="6035040" cy="1325880"/>
          </a:xfrm>
          <a:prstGeom prst="roundRect">
            <a:avLst/>
          </a:prstGeom>
          <a:solidFill>
            <a:srgbClr val="FFFFFF"/>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Chain text 3"/>
          <p:cNvSpPr txBox="1"/>
          <p:nvPr/>
        </p:nvSpPr>
        <p:spPr>
          <a:xfrm>
            <a:off x="1577340" y="7150607"/>
            <a:ext cx="4663440" cy="1005840"/>
          </a:xfrm>
          <a:prstGeom prst="rect">
            <a:avLst/>
          </a:prstGeom>
          <a:noFill/>
        </p:spPr>
        <p:txBody>
          <a:bodyPr wrap="square" lIns="0" tIns="0" rIns="0" bIns="0" anchor="t">
            <a:spAutoFit/>
          </a:bodyPr>
          <a:lstStyle/>
          <a:p>
            <a:pPr algn="l">
              <a:spcAft>
                <a:spcPts val="400"/>
              </a:spcAft>
            </a:pPr>
            <a:r>
              <a:rPr sz="2100" b="1" i="0">
                <a:solidFill>
                  <a:srgbClr val="000000"/>
                </a:solidFill>
                <a:latin typeface="Helvetica Neue"/>
                <a:ea typeface="Helvetica Neue"/>
                <a:cs typeface="Helvetica Neue"/>
              </a:rPr>
              <a:t>www.examplebank.com</a:t>
            </a:r>
          </a:p>
          <a:p>
            <a:pPr algn="l">
              <a:spcAft>
                <a:spcPts val="400"/>
              </a:spcAft>
            </a:pPr>
            <a:r>
              <a:rPr sz="1600" b="0" i="0">
                <a:solidFill>
                  <a:srgbClr val="000000"/>
                </a:solidFill>
                <a:latin typeface="Helvetica Neue"/>
                <a:ea typeface="Helvetica Neue"/>
                <a:cs typeface="Helvetica Neue"/>
              </a:rPr>
              <a:t>The bank’s own certificate, with its name and an expiry date</a:t>
            </a:r>
          </a:p>
        </p:txBody>
      </p:sp>
      <p:pic>
        <p:nvPicPr>
          <p:cNvPr id="16" name="Chain icon 3"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09359" y="7264908"/>
            <a:ext cx="685800" cy="685800"/>
          </a:xfrm>
          <a:prstGeom prst="rect">
            <a:avLst/>
          </a:prstGeom>
        </p:spPr>
      </p:pic>
      <p:sp>
        <p:nvSpPr>
          <p:cNvPr id="17" name="Checks heading"/>
          <p:cNvSpPr txBox="1"/>
          <p:nvPr/>
        </p:nvSpPr>
        <p:spPr>
          <a:xfrm>
            <a:off x="8001000" y="2606040"/>
            <a:ext cx="9006840" cy="45720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Before the padlock appears, the browser checks:</a:t>
            </a:r>
          </a:p>
        </p:txBody>
      </p:sp>
      <p:sp>
        <p:nvSpPr>
          <p:cNvPr id="18" name="Check 1 marker"/>
          <p:cNvSpPr/>
          <p:nvPr/>
        </p:nvSpPr>
        <p:spPr>
          <a:xfrm>
            <a:off x="8001000" y="3246120"/>
            <a:ext cx="411480" cy="411480"/>
          </a:xfrm>
          <a:prstGeom prst="ellipse">
            <a:avLst/>
          </a:prstGeom>
          <a:solidFill>
            <a:srgbClr val="000000"/>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1</a:t>
            </a:r>
          </a:p>
        </p:txBody>
      </p:sp>
      <p:sp>
        <p:nvSpPr>
          <p:cNvPr id="19" name="Check 1"/>
          <p:cNvSpPr txBox="1"/>
          <p:nvPr/>
        </p:nvSpPr>
        <p:spPr>
          <a:xfrm>
            <a:off x="8641080" y="3200400"/>
            <a:ext cx="8366760" cy="777240"/>
          </a:xfrm>
          <a:prstGeom prst="rect">
            <a:avLst/>
          </a:prstGeom>
          <a:noFill/>
        </p:spPr>
        <p:txBody>
          <a:bodyPr wrap="square" lIns="0" tIns="0" rIns="0" bIns="0" anchor="t">
            <a:spAutoFit/>
          </a:bodyPr>
          <a:lstStyle/>
          <a:p>
            <a:pPr algn="l">
              <a:spcAft>
                <a:spcPts val="0"/>
              </a:spcAft>
            </a:pPr>
            <a:r>
              <a:rPr sz="2000" b="1" i="0">
                <a:solidFill>
                  <a:srgbClr val="000000"/>
                </a:solidFill>
                <a:latin typeface="Helvetica Neue"/>
                <a:ea typeface="Helvetica Neue"/>
                <a:cs typeface="Helvetica Neue"/>
              </a:rPr>
              <a:t>Signed by an authority it trusts</a:t>
            </a:r>
          </a:p>
          <a:p>
            <a:pPr algn="l">
              <a:spcAft>
                <a:spcPts val="0"/>
              </a:spcAft>
            </a:pPr>
            <a:r>
              <a:rPr sz="1600" b="0" i="0">
                <a:solidFill>
                  <a:srgbClr val="000000"/>
                </a:solidFill>
                <a:latin typeface="Helvetica Neue"/>
                <a:ea typeface="Helvetica Neue"/>
                <a:cs typeface="Helvetica Neue"/>
              </a:rPr>
              <a:t>Follows the chain back to a root it already knows</a:t>
            </a:r>
          </a:p>
        </p:txBody>
      </p:sp>
      <p:sp>
        <p:nvSpPr>
          <p:cNvPr id="20" name="Check 2 marker"/>
          <p:cNvSpPr/>
          <p:nvPr/>
        </p:nvSpPr>
        <p:spPr>
          <a:xfrm>
            <a:off x="8001000" y="4114800"/>
            <a:ext cx="411480" cy="411480"/>
          </a:xfrm>
          <a:prstGeom prst="ellipse">
            <a:avLst/>
          </a:prstGeom>
          <a:solidFill>
            <a:srgbClr val="000000"/>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2</a:t>
            </a:r>
          </a:p>
        </p:txBody>
      </p:sp>
      <p:sp>
        <p:nvSpPr>
          <p:cNvPr id="21" name="Check 2"/>
          <p:cNvSpPr txBox="1"/>
          <p:nvPr/>
        </p:nvSpPr>
        <p:spPr>
          <a:xfrm>
            <a:off x="8641080" y="4069080"/>
            <a:ext cx="8366760" cy="777240"/>
          </a:xfrm>
          <a:prstGeom prst="rect">
            <a:avLst/>
          </a:prstGeom>
          <a:noFill/>
        </p:spPr>
        <p:txBody>
          <a:bodyPr wrap="square" lIns="0" tIns="0" rIns="0" bIns="0" anchor="t">
            <a:spAutoFit/>
          </a:bodyPr>
          <a:lstStyle/>
          <a:p>
            <a:pPr algn="l">
              <a:spcAft>
                <a:spcPts val="0"/>
              </a:spcAft>
            </a:pPr>
            <a:r>
              <a:rPr sz="2000" b="1" i="0">
                <a:solidFill>
                  <a:srgbClr val="000000"/>
                </a:solidFill>
                <a:latin typeface="Helvetica Neue"/>
                <a:ea typeface="Helvetica Neue"/>
                <a:cs typeface="Helvetica Neue"/>
              </a:rPr>
              <a:t>The name matches</a:t>
            </a:r>
          </a:p>
          <a:p>
            <a:pPr algn="l">
              <a:spcAft>
                <a:spcPts val="0"/>
              </a:spcAft>
            </a:pPr>
            <a:r>
              <a:rPr sz="1600" b="0" i="0">
                <a:solidFill>
                  <a:srgbClr val="000000"/>
                </a:solidFill>
                <a:latin typeface="Helvetica Neue"/>
                <a:ea typeface="Helvetica Neue"/>
                <a:cs typeface="Helvetica Neue"/>
              </a:rPr>
              <a:t>The certificate says examplebank.com, and that is where you are</a:t>
            </a:r>
          </a:p>
        </p:txBody>
      </p:sp>
      <p:sp>
        <p:nvSpPr>
          <p:cNvPr id="22" name="Check 3 marker"/>
          <p:cNvSpPr/>
          <p:nvPr/>
        </p:nvSpPr>
        <p:spPr>
          <a:xfrm>
            <a:off x="8001000" y="4983480"/>
            <a:ext cx="411480" cy="411480"/>
          </a:xfrm>
          <a:prstGeom prst="ellipse">
            <a:avLst/>
          </a:prstGeom>
          <a:solidFill>
            <a:srgbClr val="000000"/>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3</a:t>
            </a:r>
          </a:p>
        </p:txBody>
      </p:sp>
      <p:sp>
        <p:nvSpPr>
          <p:cNvPr id="23" name="Check 3"/>
          <p:cNvSpPr txBox="1"/>
          <p:nvPr/>
        </p:nvSpPr>
        <p:spPr>
          <a:xfrm>
            <a:off x="8641080" y="4937760"/>
            <a:ext cx="8366760" cy="777240"/>
          </a:xfrm>
          <a:prstGeom prst="rect">
            <a:avLst/>
          </a:prstGeom>
          <a:noFill/>
        </p:spPr>
        <p:txBody>
          <a:bodyPr wrap="square" lIns="0" tIns="0" rIns="0" bIns="0" anchor="t">
            <a:spAutoFit/>
          </a:bodyPr>
          <a:lstStyle/>
          <a:p>
            <a:pPr algn="l">
              <a:spcAft>
                <a:spcPts val="0"/>
              </a:spcAft>
            </a:pPr>
            <a:r>
              <a:rPr sz="2000" b="1" i="0">
                <a:solidFill>
                  <a:srgbClr val="000000"/>
                </a:solidFill>
                <a:latin typeface="Helvetica Neue"/>
                <a:ea typeface="Helvetica Neue"/>
                <a:cs typeface="Helvetica Neue"/>
              </a:rPr>
              <a:t>Still valid</a:t>
            </a:r>
          </a:p>
          <a:p>
            <a:pPr algn="l">
              <a:spcAft>
                <a:spcPts val="0"/>
              </a:spcAft>
            </a:pPr>
            <a:r>
              <a:rPr sz="1600" b="0" i="0">
                <a:solidFill>
                  <a:srgbClr val="000000"/>
                </a:solidFill>
                <a:latin typeface="Helvetica Neue"/>
                <a:ea typeface="Helvetica Neue"/>
                <a:cs typeface="Helvetica Neue"/>
              </a:rPr>
              <a:t>Not expired, not revoked</a:t>
            </a:r>
          </a:p>
        </p:txBody>
      </p:sp>
      <p:sp>
        <p:nvSpPr>
          <p:cNvPr id="24" name="Check 4 marker"/>
          <p:cNvSpPr/>
          <p:nvPr/>
        </p:nvSpPr>
        <p:spPr>
          <a:xfrm>
            <a:off x="8001000" y="5852159"/>
            <a:ext cx="411480" cy="411480"/>
          </a:xfrm>
          <a:prstGeom prst="ellipse">
            <a:avLst/>
          </a:prstGeom>
          <a:solidFill>
            <a:srgbClr val="000000"/>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4</a:t>
            </a:r>
          </a:p>
        </p:txBody>
      </p:sp>
      <p:sp>
        <p:nvSpPr>
          <p:cNvPr id="25" name="Check 4"/>
          <p:cNvSpPr txBox="1"/>
          <p:nvPr/>
        </p:nvSpPr>
        <p:spPr>
          <a:xfrm>
            <a:off x="8641080" y="5806440"/>
            <a:ext cx="8366760" cy="777240"/>
          </a:xfrm>
          <a:prstGeom prst="rect">
            <a:avLst/>
          </a:prstGeom>
          <a:noFill/>
        </p:spPr>
        <p:txBody>
          <a:bodyPr wrap="square" lIns="0" tIns="0" rIns="0" bIns="0" anchor="t">
            <a:spAutoFit/>
          </a:bodyPr>
          <a:lstStyle/>
          <a:p>
            <a:pPr algn="l">
              <a:spcAft>
                <a:spcPts val="0"/>
              </a:spcAft>
            </a:pPr>
            <a:r>
              <a:rPr sz="2000" b="1" i="0">
                <a:solidFill>
                  <a:srgbClr val="000000"/>
                </a:solidFill>
                <a:latin typeface="Helvetica Neue"/>
                <a:ea typeface="Helvetica Neue"/>
                <a:cs typeface="Helvetica Neue"/>
              </a:rPr>
              <a:t>Then: encryption starts</a:t>
            </a:r>
          </a:p>
          <a:p>
            <a:pPr algn="l">
              <a:spcAft>
                <a:spcPts val="0"/>
              </a:spcAft>
            </a:pPr>
            <a:r>
              <a:rPr sz="1600" b="0" i="0">
                <a:solidFill>
                  <a:srgbClr val="000000"/>
                </a:solidFill>
                <a:latin typeface="Helvetica Neue"/>
                <a:ea typeface="Helvetica Neue"/>
                <a:cs typeface="Helvetica Neue"/>
              </a:rPr>
              <a:t>Only after these checks does TLS set up the encrypted session</a:t>
            </a:r>
          </a:p>
        </p:txBody>
      </p:sp>
      <p:sp>
        <p:nvSpPr>
          <p:cNvPr id="26" name="Analogy panel"/>
          <p:cNvSpPr/>
          <p:nvPr/>
        </p:nvSpPr>
        <p:spPr>
          <a:xfrm>
            <a:off x="8001000" y="6812280"/>
            <a:ext cx="9006840" cy="96012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Analogy"/>
          <p:cNvSpPr txBox="1"/>
          <p:nvPr/>
        </p:nvSpPr>
        <p:spPr>
          <a:xfrm>
            <a:off x="8275320" y="6903720"/>
            <a:ext cx="8458200" cy="822960"/>
          </a:xfrm>
          <a:prstGeom prst="rect">
            <a:avLst/>
          </a:prstGeom>
          <a:noFill/>
        </p:spPr>
        <p:txBody>
          <a:bodyPr wrap="square" lIns="0" tIns="0" rIns="0" bIns="0" anchor="ctr">
            <a:spAutoFit/>
          </a:bodyPr>
          <a:lstStyle/>
          <a:p>
            <a:pPr algn="l">
              <a:spcAft>
                <a:spcPts val="600"/>
              </a:spcAft>
            </a:pPr>
            <a:r>
              <a:rPr sz="1700" b="0" i="0">
                <a:solidFill>
                  <a:srgbClr val="000000"/>
                </a:solidFill>
                <a:latin typeface="Helvetica Neue"/>
                <a:ea typeface="Helvetica Neue"/>
                <a:cs typeface="Helvetica Neue"/>
              </a:rPr>
              <a:t>Like a passport: issued by an authority everyone trusts, with a name and an expiry date — and worthless if anyone could print one.</a:t>
            </a:r>
          </a:p>
        </p:txBody>
      </p:sp>
      <p:sp>
        <p:nvSpPr>
          <p:cNvPr id="28" name="Where it goes wrong"/>
          <p:cNvSpPr txBox="1"/>
          <p:nvPr/>
        </p:nvSpPr>
        <p:spPr>
          <a:xfrm>
            <a:off x="8001000" y="8001000"/>
            <a:ext cx="9006840" cy="1256754"/>
          </a:xfrm>
          <a:prstGeom prst="rect">
            <a:avLst/>
          </a:prstGeom>
          <a:noFill/>
        </p:spPr>
        <p:txBody>
          <a:bodyPr wrap="square" lIns="0" tIns="0" rIns="0" bIns="0">
            <a:spAutoFit/>
          </a:bodyPr>
          <a:lstStyle/>
          <a:p>
            <a:pPr>
              <a:spcAft>
                <a:spcPts val="800"/>
              </a:spcAft>
            </a:pPr>
            <a:r>
              <a:rPr sz="2200" b="1" i="0" dirty="0">
                <a:solidFill>
                  <a:srgbClr val="000000"/>
                </a:solidFill>
                <a:latin typeface="Helvetica Neue"/>
                <a:ea typeface="Helvetica Neue"/>
                <a:cs typeface="Helvetica Neue"/>
              </a:rPr>
              <a:t>Where it </a:t>
            </a:r>
            <a:r>
              <a:rPr lang="en-US" sz="2200" b="1" i="0" dirty="0">
                <a:solidFill>
                  <a:srgbClr val="000000"/>
                </a:solidFill>
                <a:latin typeface="Helvetica Neue"/>
                <a:ea typeface="Helvetica Neue"/>
                <a:cs typeface="Helvetica Neue"/>
              </a:rPr>
              <a:t>can go</a:t>
            </a:r>
            <a:r>
              <a:rPr sz="2200" b="1" i="0" dirty="0">
                <a:solidFill>
                  <a:srgbClr val="000000"/>
                </a:solidFill>
                <a:latin typeface="Helvetica Neue"/>
                <a:ea typeface="Helvetica Neue"/>
                <a:cs typeface="Helvetica Neue"/>
              </a:rPr>
              <a:t> wrong</a:t>
            </a:r>
          </a:p>
          <a:p>
            <a:pPr marL="274320" indent="-274320">
              <a:spcAft>
                <a:spcPts val="600"/>
              </a:spcAft>
              <a:buFont typeface="Arial"/>
              <a:buChar char="•"/>
            </a:pPr>
            <a:r>
              <a:rPr sz="1600" b="0" i="0" dirty="0">
                <a:solidFill>
                  <a:srgbClr val="000000"/>
                </a:solidFill>
                <a:latin typeface="Helvetica Neue"/>
                <a:ea typeface="Helvetica Neue"/>
                <a:cs typeface="Helvetica Neue"/>
              </a:rPr>
              <a:t>An expired certificate can take a website, app or VPN down overnight</a:t>
            </a:r>
          </a:p>
          <a:p>
            <a:pPr marL="274320" indent="-274320">
              <a:spcAft>
                <a:spcPts val="600"/>
              </a:spcAft>
              <a:buFont typeface="Arial"/>
              <a:buChar char="•"/>
            </a:pPr>
            <a:r>
              <a:rPr sz="1600" b="0" i="0" dirty="0">
                <a:solidFill>
                  <a:srgbClr val="000000"/>
                </a:solidFill>
                <a:latin typeface="Helvetica Neue"/>
                <a:ea typeface="Helvetica Neue"/>
                <a:cs typeface="Helvetica Neue"/>
              </a:rPr>
              <a:t>Maximum lifetimes are shrinking: 200 days now, 47 days by 2029 — renewal has to be automated</a:t>
            </a:r>
          </a:p>
        </p:txBody>
      </p:sp>
    </p:spTree>
    <p:extLst>
      <p:ext uri="{BB962C8B-B14F-4D97-AF65-F5344CB8AC3E}">
        <p14:creationId xmlns:p14="http://schemas.microsoft.com/office/powerpoint/2010/main" val="144416607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Transport Layer Security</a:t>
            </a:r>
          </a:p>
        </p:txBody>
      </p:sp>
      <p:sp>
        <p:nvSpPr>
          <p:cNvPr id="3" name="Content Placeholder 2"/>
          <p:cNvSpPr>
            <a:spLocks noGrp="1"/>
          </p:cNvSpPr>
          <p:nvPr>
            <p:ph idx="1"/>
          </p:nvPr>
        </p:nvSpPr>
        <p:spPr/>
        <p:txBody>
          <a:bodyPr/>
          <a:lstStyle/>
          <a:p>
            <a:r>
              <a:rPr lang="en-US" dirty="0"/>
              <a:t>Provides secure encrypted connection between client and server</a:t>
            </a:r>
          </a:p>
          <a:p>
            <a:r>
              <a:rPr lang="en-US" dirty="0"/>
              <a:t>Replaced Secure Socket Layer (SSL) although the terminology of SSL continues to be used</a:t>
            </a:r>
          </a:p>
          <a:p>
            <a:r>
              <a:rPr lang="en-US" dirty="0"/>
              <a:t>Part of HTTPS (port 443) for secure web traffic</a:t>
            </a:r>
          </a:p>
          <a:p>
            <a:r>
              <a:rPr lang="en-US" dirty="0"/>
              <a:t>Combines authentication and encryption</a:t>
            </a:r>
          </a:p>
          <a:p>
            <a:r>
              <a:rPr lang="en-US" dirty="0"/>
              <a:t>Current version 1.3</a:t>
            </a:r>
          </a:p>
          <a:p>
            <a:r>
              <a:rPr lang="en-US" dirty="0"/>
              <a:t>Some systems may still use v1.2</a:t>
            </a:r>
          </a:p>
          <a:p>
            <a:pPr lvl="1"/>
            <a:r>
              <a:rPr lang="en-US" dirty="0"/>
              <a:t>Would you be okay with that?</a:t>
            </a:r>
          </a:p>
        </p:txBody>
      </p:sp>
      <p:sp>
        <p:nvSpPr>
          <p:cNvPr id="6" name="Slide Number Placeholder 5"/>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120</a:t>
            </a:fld>
            <a:endParaRPr lang="en-US">
              <a:solidFill>
                <a:schemeClr val="tx1">
                  <a:lumMod val="50000"/>
                  <a:lumOff val="50000"/>
                </a:schemeClr>
              </a:solidFill>
            </a:endParaRPr>
          </a:p>
        </p:txBody>
      </p:sp>
      <p:pic>
        <p:nvPicPr>
          <p:cNvPr id="5" name="Graphic 4" descr="Lock with solid fill">
            <a:extLst>
              <a:ext uri="{FF2B5EF4-FFF2-40B4-BE49-F238E27FC236}">
                <a16:creationId xmlns:a16="http://schemas.microsoft.com/office/drawing/2014/main" id="{8A7DDC01-97CD-A94B-78BB-B303FD3BB3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430509" y="6042437"/>
            <a:ext cx="2414422" cy="2414422"/>
          </a:xfrm>
          <a:prstGeom prst="rect">
            <a:avLst/>
          </a:prstGeom>
        </p:spPr>
      </p:pic>
    </p:spTree>
    <p:custDataLst>
      <p:tags r:id="rId1"/>
    </p:custDataLst>
    <p:extLst>
      <p:ext uri="{BB962C8B-B14F-4D97-AF65-F5344CB8AC3E}">
        <p14:creationId xmlns:p14="http://schemas.microsoft.com/office/powerpoint/2010/main" val="322775157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QUIC: TLS’s Faster Cousin</a:t>
            </a:r>
          </a:p>
        </p:txBody>
      </p:sp>
      <p:sp>
        <p:nvSpPr>
          <p:cNvPr id="3" name="TCP panel"/>
          <p:cNvSpPr/>
          <p:nvPr/>
        </p:nvSpPr>
        <p:spPr>
          <a:xfrm>
            <a:off x="1257300" y="2606040"/>
            <a:ext cx="7635240" cy="4069080"/>
          </a:xfrm>
          <a:prstGeom prst="round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TCP heading"/>
          <p:cNvSpPr txBox="1"/>
          <p:nvPr/>
        </p:nvSpPr>
        <p:spPr>
          <a:xfrm>
            <a:off x="1531620" y="2715768"/>
            <a:ext cx="7132320" cy="411480"/>
          </a:xfrm>
          <a:prstGeom prst="rect">
            <a:avLst/>
          </a:prstGeom>
          <a:noFill/>
        </p:spPr>
        <p:txBody>
          <a:bodyPr wrap="square" lIns="0" tIns="0" rIns="0" bIns="0" anchor="t">
            <a:spAutoFit/>
          </a:bodyPr>
          <a:lstStyle/>
          <a:p>
            <a:pPr algn="l">
              <a:spcAft>
                <a:spcPts val="600"/>
              </a:spcAft>
            </a:pPr>
            <a:r>
              <a:rPr sz="2000" b="1" i="0">
                <a:solidFill>
                  <a:srgbClr val="000000"/>
                </a:solidFill>
                <a:latin typeface="Helvetica Neue"/>
                <a:ea typeface="Helvetica Neue"/>
                <a:cs typeface="Helvetica Neue"/>
              </a:rPr>
              <a:t>TCP + TLS: the classic way</a:t>
            </a:r>
          </a:p>
        </p:txBody>
      </p:sp>
      <p:sp>
        <p:nvSpPr>
          <p:cNvPr id="5" name="TCP client"/>
          <p:cNvSpPr txBox="1"/>
          <p:nvPr/>
        </p:nvSpPr>
        <p:spPr>
          <a:xfrm>
            <a:off x="1623060" y="3154680"/>
            <a:ext cx="1645920" cy="365760"/>
          </a:xfrm>
          <a:prstGeom prst="rect">
            <a:avLst/>
          </a:prstGeom>
          <a:noFill/>
        </p:spPr>
        <p:txBody>
          <a:bodyPr wrap="square" lIns="0" tIns="0" rIns="0" bIns="0" anchor="t">
            <a:spAutoFit/>
          </a:bodyPr>
          <a:lstStyle/>
          <a:p>
            <a:pPr algn="ctr">
              <a:spcAft>
                <a:spcPts val="600"/>
              </a:spcAft>
            </a:pPr>
            <a:r>
              <a:rPr sz="1500" b="1" i="0">
                <a:solidFill>
                  <a:srgbClr val="595959"/>
                </a:solidFill>
                <a:latin typeface="Helvetica Neue"/>
                <a:ea typeface="Helvetica Neue"/>
                <a:cs typeface="Helvetica Neue"/>
              </a:rPr>
              <a:t>Client</a:t>
            </a:r>
          </a:p>
        </p:txBody>
      </p:sp>
      <p:sp>
        <p:nvSpPr>
          <p:cNvPr id="6" name="TCP server"/>
          <p:cNvSpPr txBox="1"/>
          <p:nvPr/>
        </p:nvSpPr>
        <p:spPr>
          <a:xfrm>
            <a:off x="6880860" y="3154680"/>
            <a:ext cx="1645920" cy="365760"/>
          </a:xfrm>
          <a:prstGeom prst="rect">
            <a:avLst/>
          </a:prstGeom>
          <a:noFill/>
        </p:spPr>
        <p:txBody>
          <a:bodyPr wrap="square" lIns="0" tIns="0" rIns="0" bIns="0" anchor="t">
            <a:spAutoFit/>
          </a:bodyPr>
          <a:lstStyle/>
          <a:p>
            <a:pPr algn="ctr">
              <a:spcAft>
                <a:spcPts val="600"/>
              </a:spcAft>
            </a:pPr>
            <a:r>
              <a:rPr sz="1500" b="1" i="0">
                <a:solidFill>
                  <a:srgbClr val="595959"/>
                </a:solidFill>
                <a:latin typeface="Helvetica Neue"/>
                <a:ea typeface="Helvetica Neue"/>
                <a:cs typeface="Helvetica Neue"/>
              </a:rPr>
              <a:t>Bank server</a:t>
            </a:r>
          </a:p>
        </p:txBody>
      </p:sp>
      <p:cxnSp>
        <p:nvCxnSpPr>
          <p:cNvPr id="7" name="TCP client line"/>
          <p:cNvCxnSpPr/>
          <p:nvPr/>
        </p:nvCxnSpPr>
        <p:spPr>
          <a:xfrm>
            <a:off x="2446020" y="3611880"/>
            <a:ext cx="0" cy="2514600"/>
          </a:xfrm>
          <a:prstGeom prst="line">
            <a:avLst/>
          </a:prstGeom>
          <a:ln w="254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8" name="TCP server line"/>
          <p:cNvCxnSpPr/>
          <p:nvPr/>
        </p:nvCxnSpPr>
        <p:spPr>
          <a:xfrm>
            <a:off x="7703820" y="3611880"/>
            <a:ext cx="0" cy="2514600"/>
          </a:xfrm>
          <a:prstGeom prst="line">
            <a:avLst/>
          </a:prstGeom>
          <a:ln w="254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9" name="TCP msg 1"/>
          <p:cNvCxnSpPr/>
          <p:nvPr/>
        </p:nvCxnSpPr>
        <p:spPr>
          <a:xfrm>
            <a:off x="2446020" y="3703320"/>
            <a:ext cx="5257800" cy="41148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CP label 1"/>
          <p:cNvSpPr txBox="1"/>
          <p:nvPr/>
        </p:nvSpPr>
        <p:spPr>
          <a:xfrm>
            <a:off x="2994660" y="3607308"/>
            <a:ext cx="4160520" cy="274320"/>
          </a:xfrm>
          <a:prstGeom prst="rect">
            <a:avLst/>
          </a:prstGeom>
          <a:noFill/>
        </p:spPr>
        <p:txBody>
          <a:bodyPr wrap="square" lIns="0" tIns="0" rIns="0" bIns="0" anchor="t">
            <a:spAutoFit/>
          </a:bodyPr>
          <a:lstStyle/>
          <a:p>
            <a:pPr algn="ctr">
              <a:spcAft>
                <a:spcPts val="600"/>
              </a:spcAft>
            </a:pPr>
            <a:r>
              <a:rPr sz="1300" b="0" i="0">
                <a:solidFill>
                  <a:srgbClr val="000000"/>
                </a:solidFill>
                <a:latin typeface="Helvetica Neue"/>
                <a:ea typeface="Helvetica Neue"/>
                <a:cs typeface="Helvetica Neue"/>
              </a:rPr>
              <a:t>TCP: hello</a:t>
            </a:r>
          </a:p>
        </p:txBody>
      </p:sp>
      <p:cxnSp>
        <p:nvCxnSpPr>
          <p:cNvPr id="11" name="TCP msg 2"/>
          <p:cNvCxnSpPr/>
          <p:nvPr/>
        </p:nvCxnSpPr>
        <p:spPr>
          <a:xfrm flipH="1">
            <a:off x="2446020" y="4160520"/>
            <a:ext cx="5257800" cy="41148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CP label 2"/>
          <p:cNvSpPr txBox="1"/>
          <p:nvPr/>
        </p:nvSpPr>
        <p:spPr>
          <a:xfrm>
            <a:off x="2994660" y="4064508"/>
            <a:ext cx="4160520" cy="274320"/>
          </a:xfrm>
          <a:prstGeom prst="rect">
            <a:avLst/>
          </a:prstGeom>
          <a:noFill/>
        </p:spPr>
        <p:txBody>
          <a:bodyPr wrap="square" lIns="0" tIns="0" rIns="0" bIns="0" anchor="t">
            <a:spAutoFit/>
          </a:bodyPr>
          <a:lstStyle/>
          <a:p>
            <a:pPr algn="ctr">
              <a:spcAft>
                <a:spcPts val="600"/>
              </a:spcAft>
            </a:pPr>
            <a:r>
              <a:rPr sz="1300" b="0" i="0">
                <a:solidFill>
                  <a:srgbClr val="000000"/>
                </a:solidFill>
                <a:latin typeface="Helvetica Neue"/>
                <a:ea typeface="Helvetica Neue"/>
                <a:cs typeface="Helvetica Neue"/>
              </a:rPr>
              <a:t>TCP: hello back</a:t>
            </a:r>
          </a:p>
        </p:txBody>
      </p:sp>
      <p:cxnSp>
        <p:nvCxnSpPr>
          <p:cNvPr id="13" name="TCP msg 3"/>
          <p:cNvCxnSpPr/>
          <p:nvPr/>
        </p:nvCxnSpPr>
        <p:spPr>
          <a:xfrm>
            <a:off x="2446020" y="4617720"/>
            <a:ext cx="5257800" cy="41148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CP label 3"/>
          <p:cNvSpPr txBox="1"/>
          <p:nvPr/>
        </p:nvSpPr>
        <p:spPr>
          <a:xfrm>
            <a:off x="2994660" y="4521708"/>
            <a:ext cx="4160520" cy="274320"/>
          </a:xfrm>
          <a:prstGeom prst="rect">
            <a:avLst/>
          </a:prstGeom>
          <a:noFill/>
        </p:spPr>
        <p:txBody>
          <a:bodyPr wrap="square" lIns="0" tIns="0" rIns="0" bIns="0" anchor="t">
            <a:spAutoFit/>
          </a:bodyPr>
          <a:lstStyle/>
          <a:p>
            <a:pPr algn="ctr">
              <a:spcAft>
                <a:spcPts val="600"/>
              </a:spcAft>
            </a:pPr>
            <a:r>
              <a:rPr sz="1300" b="0" i="0">
                <a:solidFill>
                  <a:srgbClr val="000000"/>
                </a:solidFill>
                <a:latin typeface="Helvetica Neue"/>
                <a:ea typeface="Helvetica Neue"/>
                <a:cs typeface="Helvetica Neue"/>
              </a:rPr>
              <a:t>TLS: hello, here are my keys</a:t>
            </a:r>
          </a:p>
        </p:txBody>
      </p:sp>
      <p:cxnSp>
        <p:nvCxnSpPr>
          <p:cNvPr id="15" name="TCP msg 4"/>
          <p:cNvCxnSpPr/>
          <p:nvPr/>
        </p:nvCxnSpPr>
        <p:spPr>
          <a:xfrm flipH="1">
            <a:off x="2446020" y="5074920"/>
            <a:ext cx="5257800" cy="41148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CP label 4"/>
          <p:cNvSpPr txBox="1"/>
          <p:nvPr/>
        </p:nvSpPr>
        <p:spPr>
          <a:xfrm>
            <a:off x="2994660" y="4978908"/>
            <a:ext cx="4160520" cy="274320"/>
          </a:xfrm>
          <a:prstGeom prst="rect">
            <a:avLst/>
          </a:prstGeom>
          <a:noFill/>
        </p:spPr>
        <p:txBody>
          <a:bodyPr wrap="square" lIns="0" tIns="0" rIns="0" bIns="0" anchor="t">
            <a:spAutoFit/>
          </a:bodyPr>
          <a:lstStyle/>
          <a:p>
            <a:pPr algn="ctr">
              <a:spcAft>
                <a:spcPts val="600"/>
              </a:spcAft>
            </a:pPr>
            <a:r>
              <a:rPr sz="1300" b="0" i="0">
                <a:solidFill>
                  <a:srgbClr val="000000"/>
                </a:solidFill>
                <a:latin typeface="Helvetica Neue"/>
                <a:ea typeface="Helvetica Neue"/>
                <a:cs typeface="Helvetica Neue"/>
              </a:rPr>
              <a:t>TLS: certificate, keys, done</a:t>
            </a:r>
          </a:p>
        </p:txBody>
      </p:sp>
      <p:cxnSp>
        <p:nvCxnSpPr>
          <p:cNvPr id="17" name="TCP msg 5"/>
          <p:cNvCxnSpPr/>
          <p:nvPr/>
        </p:nvCxnSpPr>
        <p:spPr>
          <a:xfrm>
            <a:off x="2446020" y="5532120"/>
            <a:ext cx="5257800" cy="411480"/>
          </a:xfrm>
          <a:prstGeom prst="line">
            <a:avLst/>
          </a:prstGeom>
          <a:ln w="4445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CP label 5"/>
          <p:cNvSpPr txBox="1"/>
          <p:nvPr/>
        </p:nvSpPr>
        <p:spPr>
          <a:xfrm>
            <a:off x="2994660" y="5436108"/>
            <a:ext cx="4160520" cy="274320"/>
          </a:xfrm>
          <a:prstGeom prst="rect">
            <a:avLst/>
          </a:prstGeom>
          <a:noFill/>
        </p:spPr>
        <p:txBody>
          <a:bodyPr wrap="square" lIns="0" tIns="0" rIns="0" bIns="0" anchor="t">
            <a:spAutoFit/>
          </a:bodyPr>
          <a:lstStyle/>
          <a:p>
            <a:pPr algn="ctr">
              <a:spcAft>
                <a:spcPts val="600"/>
              </a:spcAft>
            </a:pPr>
            <a:r>
              <a:rPr sz="1300" b="1" i="0">
                <a:solidFill>
                  <a:srgbClr val="C00000"/>
                </a:solidFill>
                <a:latin typeface="Helvetica Neue"/>
                <a:ea typeface="Helvetica Neue"/>
                <a:cs typeface="Helvetica Neue"/>
              </a:rPr>
              <a:t>Data</a:t>
            </a:r>
          </a:p>
        </p:txBody>
      </p:sp>
      <p:sp>
        <p:nvSpPr>
          <p:cNvPr id="19" name="TCP summary"/>
          <p:cNvSpPr txBox="1"/>
          <p:nvPr/>
        </p:nvSpPr>
        <p:spPr>
          <a:xfrm>
            <a:off x="1531620" y="6053328"/>
            <a:ext cx="7132320" cy="457200"/>
          </a:xfrm>
          <a:prstGeom prst="rect">
            <a:avLst/>
          </a:prstGeom>
          <a:noFill/>
        </p:spPr>
        <p:txBody>
          <a:bodyPr wrap="square" lIns="0" tIns="0" rIns="0" bIns="0" anchor="t">
            <a:spAutoFit/>
          </a:bodyPr>
          <a:lstStyle/>
          <a:p>
            <a:pPr algn="ctr">
              <a:spcAft>
                <a:spcPts val="600"/>
              </a:spcAft>
            </a:pPr>
            <a:r>
              <a:rPr sz="1800" b="1" i="0">
                <a:solidFill>
                  <a:srgbClr val="C00000"/>
                </a:solidFill>
                <a:latin typeface="Helvetica Neue"/>
                <a:ea typeface="Helvetica Neue"/>
                <a:cs typeface="Helvetica Neue"/>
              </a:rPr>
              <a:t>Two round trips before any data</a:t>
            </a:r>
          </a:p>
        </p:txBody>
      </p:sp>
      <p:sp>
        <p:nvSpPr>
          <p:cNvPr id="20" name="QUIC panel"/>
          <p:cNvSpPr/>
          <p:nvPr/>
        </p:nvSpPr>
        <p:spPr>
          <a:xfrm>
            <a:off x="9395460" y="2606040"/>
            <a:ext cx="7635240" cy="4069080"/>
          </a:xfrm>
          <a:prstGeom prst="round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QUIC heading"/>
          <p:cNvSpPr txBox="1"/>
          <p:nvPr/>
        </p:nvSpPr>
        <p:spPr>
          <a:xfrm>
            <a:off x="9669780" y="2715768"/>
            <a:ext cx="7132320" cy="411480"/>
          </a:xfrm>
          <a:prstGeom prst="rect">
            <a:avLst/>
          </a:prstGeom>
          <a:noFill/>
        </p:spPr>
        <p:txBody>
          <a:bodyPr wrap="square" lIns="0" tIns="0" rIns="0" bIns="0" anchor="t">
            <a:spAutoFit/>
          </a:bodyPr>
          <a:lstStyle/>
          <a:p>
            <a:pPr algn="l">
              <a:spcAft>
                <a:spcPts val="600"/>
              </a:spcAft>
            </a:pPr>
            <a:r>
              <a:rPr sz="2000" b="1" i="0">
                <a:solidFill>
                  <a:srgbClr val="000000"/>
                </a:solidFill>
                <a:latin typeface="Helvetica Neue"/>
                <a:ea typeface="Helvetica Neue"/>
                <a:cs typeface="Helvetica Neue"/>
              </a:rPr>
              <a:t>QUIC: connection and TLS in one step</a:t>
            </a:r>
          </a:p>
        </p:txBody>
      </p:sp>
      <p:sp>
        <p:nvSpPr>
          <p:cNvPr id="22" name="QUIC client"/>
          <p:cNvSpPr txBox="1"/>
          <p:nvPr/>
        </p:nvSpPr>
        <p:spPr>
          <a:xfrm>
            <a:off x="9761220" y="3154680"/>
            <a:ext cx="1645920" cy="365760"/>
          </a:xfrm>
          <a:prstGeom prst="rect">
            <a:avLst/>
          </a:prstGeom>
          <a:noFill/>
        </p:spPr>
        <p:txBody>
          <a:bodyPr wrap="square" lIns="0" tIns="0" rIns="0" bIns="0" anchor="t">
            <a:spAutoFit/>
          </a:bodyPr>
          <a:lstStyle/>
          <a:p>
            <a:pPr algn="ctr">
              <a:spcAft>
                <a:spcPts val="600"/>
              </a:spcAft>
            </a:pPr>
            <a:r>
              <a:rPr sz="1500" b="1" i="0">
                <a:solidFill>
                  <a:srgbClr val="595959"/>
                </a:solidFill>
                <a:latin typeface="Helvetica Neue"/>
                <a:ea typeface="Helvetica Neue"/>
                <a:cs typeface="Helvetica Neue"/>
              </a:rPr>
              <a:t>Client</a:t>
            </a:r>
          </a:p>
        </p:txBody>
      </p:sp>
      <p:sp>
        <p:nvSpPr>
          <p:cNvPr id="23" name="QUIC server"/>
          <p:cNvSpPr txBox="1"/>
          <p:nvPr/>
        </p:nvSpPr>
        <p:spPr>
          <a:xfrm>
            <a:off x="15019020" y="3154680"/>
            <a:ext cx="1645920" cy="365760"/>
          </a:xfrm>
          <a:prstGeom prst="rect">
            <a:avLst/>
          </a:prstGeom>
          <a:noFill/>
        </p:spPr>
        <p:txBody>
          <a:bodyPr wrap="square" lIns="0" tIns="0" rIns="0" bIns="0" anchor="t">
            <a:spAutoFit/>
          </a:bodyPr>
          <a:lstStyle/>
          <a:p>
            <a:pPr algn="ctr">
              <a:spcAft>
                <a:spcPts val="600"/>
              </a:spcAft>
            </a:pPr>
            <a:r>
              <a:rPr sz="1500" b="1" i="0">
                <a:solidFill>
                  <a:srgbClr val="595959"/>
                </a:solidFill>
                <a:latin typeface="Helvetica Neue"/>
                <a:ea typeface="Helvetica Neue"/>
                <a:cs typeface="Helvetica Neue"/>
              </a:rPr>
              <a:t>Bank server</a:t>
            </a:r>
          </a:p>
        </p:txBody>
      </p:sp>
      <p:cxnSp>
        <p:nvCxnSpPr>
          <p:cNvPr id="24" name="QUIC client line"/>
          <p:cNvCxnSpPr/>
          <p:nvPr/>
        </p:nvCxnSpPr>
        <p:spPr>
          <a:xfrm>
            <a:off x="10584180" y="3611880"/>
            <a:ext cx="0" cy="1600200"/>
          </a:xfrm>
          <a:prstGeom prst="line">
            <a:avLst/>
          </a:prstGeom>
          <a:ln w="254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5" name="QUIC server line"/>
          <p:cNvCxnSpPr/>
          <p:nvPr/>
        </p:nvCxnSpPr>
        <p:spPr>
          <a:xfrm>
            <a:off x="15841980" y="3611880"/>
            <a:ext cx="0" cy="1600200"/>
          </a:xfrm>
          <a:prstGeom prst="line">
            <a:avLst/>
          </a:prstGeom>
          <a:ln w="254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26" name="QUIC msg 1"/>
          <p:cNvCxnSpPr/>
          <p:nvPr/>
        </p:nvCxnSpPr>
        <p:spPr>
          <a:xfrm>
            <a:off x="10584180" y="3703320"/>
            <a:ext cx="5257800" cy="41148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QUIC label 1"/>
          <p:cNvSpPr txBox="1"/>
          <p:nvPr/>
        </p:nvSpPr>
        <p:spPr>
          <a:xfrm>
            <a:off x="11132820" y="3607308"/>
            <a:ext cx="4160519" cy="274320"/>
          </a:xfrm>
          <a:prstGeom prst="rect">
            <a:avLst/>
          </a:prstGeom>
          <a:noFill/>
        </p:spPr>
        <p:txBody>
          <a:bodyPr wrap="square" lIns="0" tIns="0" rIns="0" bIns="0" anchor="t">
            <a:spAutoFit/>
          </a:bodyPr>
          <a:lstStyle/>
          <a:p>
            <a:pPr algn="ctr">
              <a:spcAft>
                <a:spcPts val="600"/>
              </a:spcAft>
            </a:pPr>
            <a:r>
              <a:rPr sz="1300" b="0" i="0">
                <a:solidFill>
                  <a:srgbClr val="000000"/>
                </a:solidFill>
                <a:latin typeface="Helvetica Neue"/>
                <a:ea typeface="Helvetica Neue"/>
                <a:cs typeface="Helvetica Neue"/>
              </a:rPr>
              <a:t>QUIC + TLS: hello, here are my keys</a:t>
            </a:r>
          </a:p>
        </p:txBody>
      </p:sp>
      <p:cxnSp>
        <p:nvCxnSpPr>
          <p:cNvPr id="28" name="QUIC msg 2"/>
          <p:cNvCxnSpPr/>
          <p:nvPr/>
        </p:nvCxnSpPr>
        <p:spPr>
          <a:xfrm flipH="1">
            <a:off x="10584180" y="4160520"/>
            <a:ext cx="5257800" cy="41148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QUIC label 2"/>
          <p:cNvSpPr txBox="1"/>
          <p:nvPr/>
        </p:nvSpPr>
        <p:spPr>
          <a:xfrm>
            <a:off x="11132820" y="4064508"/>
            <a:ext cx="4160519" cy="274320"/>
          </a:xfrm>
          <a:prstGeom prst="rect">
            <a:avLst/>
          </a:prstGeom>
          <a:noFill/>
        </p:spPr>
        <p:txBody>
          <a:bodyPr wrap="square" lIns="0" tIns="0" rIns="0" bIns="0" anchor="t">
            <a:spAutoFit/>
          </a:bodyPr>
          <a:lstStyle/>
          <a:p>
            <a:pPr algn="ctr">
              <a:spcAft>
                <a:spcPts val="600"/>
              </a:spcAft>
            </a:pPr>
            <a:r>
              <a:rPr sz="1300" b="0" i="0">
                <a:solidFill>
                  <a:srgbClr val="000000"/>
                </a:solidFill>
                <a:latin typeface="Helvetica Neue"/>
                <a:ea typeface="Helvetica Neue"/>
                <a:cs typeface="Helvetica Neue"/>
              </a:rPr>
              <a:t>certificate, keys, done</a:t>
            </a:r>
          </a:p>
        </p:txBody>
      </p:sp>
      <p:cxnSp>
        <p:nvCxnSpPr>
          <p:cNvPr id="30" name="QUIC msg 3"/>
          <p:cNvCxnSpPr/>
          <p:nvPr/>
        </p:nvCxnSpPr>
        <p:spPr>
          <a:xfrm>
            <a:off x="10584180" y="4617720"/>
            <a:ext cx="5257800" cy="411480"/>
          </a:xfrm>
          <a:prstGeom prst="line">
            <a:avLst/>
          </a:prstGeom>
          <a:ln w="4445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QUIC label 3"/>
          <p:cNvSpPr txBox="1"/>
          <p:nvPr/>
        </p:nvSpPr>
        <p:spPr>
          <a:xfrm>
            <a:off x="11132820" y="4521708"/>
            <a:ext cx="4160519" cy="274320"/>
          </a:xfrm>
          <a:prstGeom prst="rect">
            <a:avLst/>
          </a:prstGeom>
          <a:noFill/>
        </p:spPr>
        <p:txBody>
          <a:bodyPr wrap="square" lIns="0" tIns="0" rIns="0" bIns="0" anchor="t">
            <a:spAutoFit/>
          </a:bodyPr>
          <a:lstStyle/>
          <a:p>
            <a:pPr algn="ctr">
              <a:spcAft>
                <a:spcPts val="600"/>
              </a:spcAft>
            </a:pPr>
            <a:r>
              <a:rPr sz="1300" b="1" i="0">
                <a:solidFill>
                  <a:srgbClr val="2E7D32"/>
                </a:solidFill>
                <a:latin typeface="Helvetica Neue"/>
                <a:ea typeface="Helvetica Neue"/>
                <a:cs typeface="Helvetica Neue"/>
              </a:rPr>
              <a:t>Data</a:t>
            </a:r>
          </a:p>
        </p:txBody>
      </p:sp>
      <p:sp>
        <p:nvSpPr>
          <p:cNvPr id="32" name="QUIC summary"/>
          <p:cNvSpPr txBox="1"/>
          <p:nvPr/>
        </p:nvSpPr>
        <p:spPr>
          <a:xfrm>
            <a:off x="9669780" y="6053328"/>
            <a:ext cx="7132320" cy="457200"/>
          </a:xfrm>
          <a:prstGeom prst="rect">
            <a:avLst/>
          </a:prstGeom>
          <a:noFill/>
        </p:spPr>
        <p:txBody>
          <a:bodyPr wrap="square" lIns="0" tIns="0" rIns="0" bIns="0" anchor="t">
            <a:spAutoFit/>
          </a:bodyPr>
          <a:lstStyle/>
          <a:p>
            <a:pPr algn="ctr">
              <a:spcAft>
                <a:spcPts val="600"/>
              </a:spcAft>
            </a:pPr>
            <a:r>
              <a:rPr sz="1800" b="1" i="0">
                <a:solidFill>
                  <a:srgbClr val="2E7D32"/>
                </a:solidFill>
                <a:latin typeface="Helvetica Neue"/>
                <a:ea typeface="Helvetica Neue"/>
                <a:cs typeface="Helvetica Neue"/>
              </a:rPr>
              <a:t>One round trip — zero when reconnecting</a:t>
            </a:r>
          </a:p>
        </p:txBody>
      </p:sp>
      <p:sp>
        <p:nvSpPr>
          <p:cNvPr id="33" name="Card 1"/>
          <p:cNvSpPr/>
          <p:nvPr/>
        </p:nvSpPr>
        <p:spPr>
          <a:xfrm>
            <a:off x="1257300" y="6949440"/>
            <a:ext cx="5029200" cy="25146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Card 1 text"/>
          <p:cNvSpPr txBox="1"/>
          <p:nvPr/>
        </p:nvSpPr>
        <p:spPr>
          <a:xfrm>
            <a:off x="1531620" y="7178040"/>
            <a:ext cx="4480560" cy="2103120"/>
          </a:xfrm>
          <a:prstGeom prst="rect">
            <a:avLst/>
          </a:prstGeom>
          <a:noFill/>
        </p:spPr>
        <p:txBody>
          <a:bodyPr wrap="square" lIns="0" tIns="0" rIns="0" bIns="0" anchor="t">
            <a:spAutoFit/>
          </a:bodyPr>
          <a:lstStyle/>
          <a:p>
            <a:pPr algn="l">
              <a:spcAft>
                <a:spcPts val="800"/>
              </a:spcAft>
            </a:pPr>
            <a:r>
              <a:rPr sz="2100" b="1" i="0">
                <a:solidFill>
                  <a:srgbClr val="000000"/>
                </a:solidFill>
                <a:latin typeface="Helvetica Neue"/>
                <a:ea typeface="Helvetica Neue"/>
                <a:cs typeface="Helvetica Neue"/>
              </a:rPr>
              <a:t>Faster</a:t>
            </a:r>
          </a:p>
          <a:p>
            <a:pPr algn="l">
              <a:spcAft>
                <a:spcPts val="800"/>
              </a:spcAft>
            </a:pPr>
            <a:r>
              <a:rPr sz="1700" b="0" i="0">
                <a:solidFill>
                  <a:srgbClr val="000000"/>
                </a:solidFill>
                <a:latin typeface="Helvetica Neue"/>
                <a:ea typeface="Helvetica Neue"/>
                <a:cs typeface="Helvetica Neue"/>
              </a:rPr>
              <a:t>Sets up the connection and the encryption together. It’s the engine under HTTP/3, used by many of the biggest websites and apps.</a:t>
            </a:r>
          </a:p>
        </p:txBody>
      </p:sp>
      <p:sp>
        <p:nvSpPr>
          <p:cNvPr id="35" name="Card 2"/>
          <p:cNvSpPr/>
          <p:nvPr/>
        </p:nvSpPr>
        <p:spPr>
          <a:xfrm>
            <a:off x="6633972" y="6949440"/>
            <a:ext cx="5029200" cy="25146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Card 2 text"/>
          <p:cNvSpPr txBox="1"/>
          <p:nvPr/>
        </p:nvSpPr>
        <p:spPr>
          <a:xfrm>
            <a:off x="6908292" y="7178040"/>
            <a:ext cx="4480560" cy="2103120"/>
          </a:xfrm>
          <a:prstGeom prst="rect">
            <a:avLst/>
          </a:prstGeom>
          <a:noFill/>
        </p:spPr>
        <p:txBody>
          <a:bodyPr wrap="square" lIns="0" tIns="0" rIns="0" bIns="0" anchor="t">
            <a:spAutoFit/>
          </a:bodyPr>
          <a:lstStyle/>
          <a:p>
            <a:pPr algn="l">
              <a:spcAft>
                <a:spcPts val="800"/>
              </a:spcAft>
            </a:pPr>
            <a:r>
              <a:rPr sz="2100" b="1" i="0">
                <a:solidFill>
                  <a:srgbClr val="000000"/>
                </a:solidFill>
                <a:latin typeface="Helvetica Neue"/>
                <a:ea typeface="Helvetica Neue"/>
                <a:cs typeface="Helvetica Neue"/>
              </a:rPr>
              <a:t>Survives a network change</a:t>
            </a:r>
          </a:p>
          <a:p>
            <a:pPr algn="l">
              <a:spcAft>
                <a:spcPts val="800"/>
              </a:spcAft>
            </a:pPr>
            <a:r>
              <a:rPr sz="1700" b="0" i="0">
                <a:solidFill>
                  <a:srgbClr val="000000"/>
                </a:solidFill>
                <a:latin typeface="Helvetica Neue"/>
                <a:ea typeface="Helvetica Neue"/>
                <a:cs typeface="Helvetica Neue"/>
              </a:rPr>
              <a:t>A phone moving from branch Wi-Fi to cellular keeps its session instead of starting over.</a:t>
            </a:r>
          </a:p>
        </p:txBody>
      </p:sp>
      <p:sp>
        <p:nvSpPr>
          <p:cNvPr id="37" name="Card 3"/>
          <p:cNvSpPr/>
          <p:nvPr/>
        </p:nvSpPr>
        <p:spPr>
          <a:xfrm>
            <a:off x="12010644" y="6949440"/>
            <a:ext cx="5029200" cy="2514600"/>
          </a:xfrm>
          <a:prstGeom prst="roundRect">
            <a:avLst/>
          </a:prstGeom>
          <a:solidFill>
            <a:srgbClr val="EEF2F8"/>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8" name="Card 3 text"/>
          <p:cNvSpPr txBox="1"/>
          <p:nvPr/>
        </p:nvSpPr>
        <p:spPr>
          <a:xfrm>
            <a:off x="12284964" y="7178040"/>
            <a:ext cx="4480560" cy="2103120"/>
          </a:xfrm>
          <a:prstGeom prst="rect">
            <a:avLst/>
          </a:prstGeom>
          <a:noFill/>
        </p:spPr>
        <p:txBody>
          <a:bodyPr wrap="square" lIns="0" tIns="0" rIns="0" bIns="0" anchor="t">
            <a:spAutoFit/>
          </a:bodyPr>
          <a:lstStyle/>
          <a:p>
            <a:pPr algn="l">
              <a:spcAft>
                <a:spcPts val="800"/>
              </a:spcAft>
            </a:pPr>
            <a:r>
              <a:rPr sz="2100" b="1" i="0">
                <a:solidFill>
                  <a:srgbClr val="000000"/>
                </a:solidFill>
                <a:latin typeface="Helvetica Neue"/>
                <a:ea typeface="Helvetica Neue"/>
                <a:cs typeface="Helvetica Neue"/>
              </a:rPr>
              <a:t>Harder to see into</a:t>
            </a:r>
          </a:p>
          <a:p>
            <a:pPr algn="l">
              <a:spcAft>
                <a:spcPts val="800"/>
              </a:spcAft>
            </a:pPr>
            <a:r>
              <a:rPr sz="1700" b="0" i="0">
                <a:solidFill>
                  <a:srgbClr val="000000"/>
                </a:solidFill>
                <a:latin typeface="Helvetica Neue"/>
                <a:ea typeface="Helvetica Neue"/>
                <a:cs typeface="Helvetica Neue"/>
              </a:rPr>
              <a:t>Runs over UDP and encrypts almost all of its own control information. Firewalls that inspect TLS may not inspect QUIC.</a:t>
            </a:r>
          </a:p>
          <a:p>
            <a:pPr algn="l">
              <a:spcAft>
                <a:spcPts val="800"/>
              </a:spcAft>
            </a:pPr>
            <a:r>
              <a:rPr sz="1700" b="1" i="0">
                <a:solidFill>
                  <a:srgbClr val="000000"/>
                </a:solidFill>
                <a:latin typeface="Helvetica Neue"/>
                <a:ea typeface="Helvetica Neue"/>
                <a:cs typeface="Helvetica Neue"/>
              </a:rPr>
              <a:t>Ask: does the bank inspect QUIC, block it, or let it through?</a:t>
            </a:r>
          </a:p>
        </p:txBody>
      </p:sp>
    </p:spTree>
    <p:extLst>
      <p:ext uri="{BB962C8B-B14F-4D97-AF65-F5344CB8AC3E}">
        <p14:creationId xmlns:p14="http://schemas.microsoft.com/office/powerpoint/2010/main" val="135845067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Real-Time Payments (FedNow/RTP): What Always-On Means for the Network</a:t>
            </a:r>
          </a:p>
        </p:txBody>
      </p:sp>
      <p:pic>
        <p:nvPicPr>
          <p:cNvPr id="3" name="Flow icon 1"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48739" y="3223260"/>
            <a:ext cx="777240" cy="777240"/>
          </a:xfrm>
          <a:prstGeom prst="rect">
            <a:avLst/>
          </a:prstGeom>
        </p:spPr>
      </p:pic>
      <p:sp>
        <p:nvSpPr>
          <p:cNvPr id="4" name="Flow label 1"/>
          <p:cNvSpPr txBox="1"/>
          <p:nvPr/>
        </p:nvSpPr>
        <p:spPr>
          <a:xfrm>
            <a:off x="548639" y="4069080"/>
            <a:ext cx="2377440" cy="365760"/>
          </a:xfrm>
          <a:prstGeom prst="rect">
            <a:avLst/>
          </a:prstGeom>
          <a:noFill/>
        </p:spPr>
        <p:txBody>
          <a:bodyPr wrap="square" lIns="0" tIns="0" rIns="0" bIns="0" anchor="t">
            <a:spAutoFit/>
          </a:bodyPr>
          <a:lstStyle/>
          <a:p>
            <a:pPr algn="ctr">
              <a:spcAft>
                <a:spcPts val="600"/>
              </a:spcAft>
            </a:pPr>
            <a:r>
              <a:rPr sz="1600" b="1" i="0">
                <a:solidFill>
                  <a:srgbClr val="000000"/>
                </a:solidFill>
                <a:latin typeface="Helvetica Neue"/>
                <a:ea typeface="Helvetica Neue"/>
                <a:cs typeface="Helvetica Neue"/>
              </a:rPr>
              <a:t>Customer</a:t>
            </a:r>
          </a:p>
        </p:txBody>
      </p:sp>
      <p:cxnSp>
        <p:nvCxnSpPr>
          <p:cNvPr id="5" name="Flow arrow 1"/>
          <p:cNvCxnSpPr/>
          <p:nvPr/>
        </p:nvCxnSpPr>
        <p:spPr>
          <a:xfrm>
            <a:off x="2286000" y="3611880"/>
            <a:ext cx="1920240" cy="0"/>
          </a:xfrm>
          <a:prstGeom prst="line">
            <a:avLst/>
          </a:prstGeom>
          <a:ln w="3810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6" name="Flow icon 2"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66259" y="3223260"/>
            <a:ext cx="777240" cy="777240"/>
          </a:xfrm>
          <a:prstGeom prst="rect">
            <a:avLst/>
          </a:prstGeom>
        </p:spPr>
      </p:pic>
      <p:sp>
        <p:nvSpPr>
          <p:cNvPr id="7" name="Flow label 2"/>
          <p:cNvSpPr txBox="1"/>
          <p:nvPr/>
        </p:nvSpPr>
        <p:spPr>
          <a:xfrm>
            <a:off x="3566159" y="4069080"/>
            <a:ext cx="2377440" cy="365760"/>
          </a:xfrm>
          <a:prstGeom prst="rect">
            <a:avLst/>
          </a:prstGeom>
          <a:noFill/>
        </p:spPr>
        <p:txBody>
          <a:bodyPr wrap="square" lIns="0" tIns="0" rIns="0" bIns="0" anchor="t">
            <a:spAutoFit/>
          </a:bodyPr>
          <a:lstStyle/>
          <a:p>
            <a:pPr algn="ctr">
              <a:spcAft>
                <a:spcPts val="600"/>
              </a:spcAft>
            </a:pPr>
            <a:r>
              <a:rPr sz="1600" b="1" i="0">
                <a:solidFill>
                  <a:srgbClr val="000000"/>
                </a:solidFill>
                <a:latin typeface="Helvetica Neue"/>
                <a:ea typeface="Helvetica Neue"/>
                <a:cs typeface="Helvetica Neue"/>
              </a:rPr>
              <a:t>Sending bank</a:t>
            </a:r>
          </a:p>
        </p:txBody>
      </p:sp>
      <p:cxnSp>
        <p:nvCxnSpPr>
          <p:cNvPr id="8" name="Flow arrow 2"/>
          <p:cNvCxnSpPr/>
          <p:nvPr/>
        </p:nvCxnSpPr>
        <p:spPr>
          <a:xfrm>
            <a:off x="5303519" y="3611880"/>
            <a:ext cx="1920241" cy="0"/>
          </a:xfrm>
          <a:prstGeom prst="line">
            <a:avLst/>
          </a:prstGeom>
          <a:ln w="3810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9" name="Flow icon 3"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83779" y="3223260"/>
            <a:ext cx="777240" cy="777240"/>
          </a:xfrm>
          <a:prstGeom prst="rect">
            <a:avLst/>
          </a:prstGeom>
        </p:spPr>
      </p:pic>
      <p:sp>
        <p:nvSpPr>
          <p:cNvPr id="10" name="Flow label 3"/>
          <p:cNvSpPr txBox="1"/>
          <p:nvPr/>
        </p:nvSpPr>
        <p:spPr>
          <a:xfrm>
            <a:off x="6583680" y="4069080"/>
            <a:ext cx="2377440" cy="365760"/>
          </a:xfrm>
          <a:prstGeom prst="rect">
            <a:avLst/>
          </a:prstGeom>
          <a:noFill/>
        </p:spPr>
        <p:txBody>
          <a:bodyPr wrap="square" lIns="0" tIns="0" rIns="0" bIns="0" anchor="t">
            <a:spAutoFit/>
          </a:bodyPr>
          <a:lstStyle/>
          <a:p>
            <a:pPr algn="ctr">
              <a:spcAft>
                <a:spcPts val="600"/>
              </a:spcAft>
            </a:pPr>
            <a:r>
              <a:rPr sz="1600" b="1" i="0">
                <a:solidFill>
                  <a:srgbClr val="000000"/>
                </a:solidFill>
                <a:latin typeface="Helvetica Neue"/>
                <a:ea typeface="Helvetica Neue"/>
                <a:cs typeface="Helvetica Neue"/>
              </a:rPr>
              <a:t>Core processor</a:t>
            </a:r>
          </a:p>
        </p:txBody>
      </p:sp>
      <p:cxnSp>
        <p:nvCxnSpPr>
          <p:cNvPr id="11" name="Flow arrow 3"/>
          <p:cNvCxnSpPr/>
          <p:nvPr/>
        </p:nvCxnSpPr>
        <p:spPr>
          <a:xfrm>
            <a:off x="8321040" y="3611880"/>
            <a:ext cx="1920240" cy="0"/>
          </a:xfrm>
          <a:prstGeom prst="line">
            <a:avLst/>
          </a:prstGeom>
          <a:ln w="3810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2" name="Flow icon 4"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01299" y="3223260"/>
            <a:ext cx="777240" cy="777240"/>
          </a:xfrm>
          <a:prstGeom prst="rect">
            <a:avLst/>
          </a:prstGeom>
        </p:spPr>
      </p:pic>
      <p:sp>
        <p:nvSpPr>
          <p:cNvPr id="13" name="Flow label 4"/>
          <p:cNvSpPr txBox="1"/>
          <p:nvPr/>
        </p:nvSpPr>
        <p:spPr>
          <a:xfrm>
            <a:off x="9601199" y="4069080"/>
            <a:ext cx="2377440" cy="365760"/>
          </a:xfrm>
          <a:prstGeom prst="rect">
            <a:avLst/>
          </a:prstGeom>
          <a:noFill/>
        </p:spPr>
        <p:txBody>
          <a:bodyPr wrap="square" lIns="0" tIns="0" rIns="0" bIns="0" anchor="t">
            <a:spAutoFit/>
          </a:bodyPr>
          <a:lstStyle/>
          <a:p>
            <a:pPr algn="ctr">
              <a:spcAft>
                <a:spcPts val="600"/>
              </a:spcAft>
            </a:pPr>
            <a:r>
              <a:rPr sz="1600" b="1" i="0">
                <a:solidFill>
                  <a:srgbClr val="000000"/>
                </a:solidFill>
                <a:latin typeface="Helvetica Neue"/>
                <a:ea typeface="Helvetica Neue"/>
                <a:cs typeface="Helvetica Neue"/>
              </a:rPr>
              <a:t>FedNow or RTP</a:t>
            </a:r>
          </a:p>
        </p:txBody>
      </p:sp>
      <p:cxnSp>
        <p:nvCxnSpPr>
          <p:cNvPr id="14" name="Flow arrow 4"/>
          <p:cNvCxnSpPr/>
          <p:nvPr/>
        </p:nvCxnSpPr>
        <p:spPr>
          <a:xfrm>
            <a:off x="11338559" y="3611880"/>
            <a:ext cx="1920241" cy="0"/>
          </a:xfrm>
          <a:prstGeom prst="line">
            <a:avLst/>
          </a:prstGeom>
          <a:ln w="3810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5" name="Flow icon 5"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18819" y="3223260"/>
            <a:ext cx="777240" cy="777240"/>
          </a:xfrm>
          <a:prstGeom prst="rect">
            <a:avLst/>
          </a:prstGeom>
        </p:spPr>
      </p:pic>
      <p:sp>
        <p:nvSpPr>
          <p:cNvPr id="16" name="Flow label 5"/>
          <p:cNvSpPr txBox="1"/>
          <p:nvPr/>
        </p:nvSpPr>
        <p:spPr>
          <a:xfrm>
            <a:off x="12618719" y="4069080"/>
            <a:ext cx="2377440" cy="365760"/>
          </a:xfrm>
          <a:prstGeom prst="rect">
            <a:avLst/>
          </a:prstGeom>
          <a:noFill/>
        </p:spPr>
        <p:txBody>
          <a:bodyPr wrap="square" lIns="0" tIns="0" rIns="0" bIns="0" anchor="t">
            <a:spAutoFit/>
          </a:bodyPr>
          <a:lstStyle/>
          <a:p>
            <a:pPr algn="ctr">
              <a:spcAft>
                <a:spcPts val="600"/>
              </a:spcAft>
            </a:pPr>
            <a:r>
              <a:rPr sz="1600" b="1" i="0">
                <a:solidFill>
                  <a:srgbClr val="000000"/>
                </a:solidFill>
                <a:latin typeface="Helvetica Neue"/>
                <a:ea typeface="Helvetica Neue"/>
                <a:cs typeface="Helvetica Neue"/>
              </a:rPr>
              <a:t>Receiving bank</a:t>
            </a:r>
          </a:p>
        </p:txBody>
      </p:sp>
      <p:cxnSp>
        <p:nvCxnSpPr>
          <p:cNvPr id="17" name="Flow arrow 5"/>
          <p:cNvCxnSpPr/>
          <p:nvPr/>
        </p:nvCxnSpPr>
        <p:spPr>
          <a:xfrm>
            <a:off x="14356080" y="3611880"/>
            <a:ext cx="1920239" cy="0"/>
          </a:xfrm>
          <a:prstGeom prst="line">
            <a:avLst/>
          </a:prstGeom>
          <a:ln w="3810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8" name="Flow icon 6"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436339" y="3223260"/>
            <a:ext cx="777240" cy="777240"/>
          </a:xfrm>
          <a:prstGeom prst="rect">
            <a:avLst/>
          </a:prstGeom>
        </p:spPr>
      </p:pic>
      <p:sp>
        <p:nvSpPr>
          <p:cNvPr id="19" name="Flow label 6"/>
          <p:cNvSpPr txBox="1"/>
          <p:nvPr/>
        </p:nvSpPr>
        <p:spPr>
          <a:xfrm>
            <a:off x="15636239" y="4069080"/>
            <a:ext cx="2377440" cy="365760"/>
          </a:xfrm>
          <a:prstGeom prst="rect">
            <a:avLst/>
          </a:prstGeom>
          <a:noFill/>
        </p:spPr>
        <p:txBody>
          <a:bodyPr wrap="square" lIns="0" tIns="0" rIns="0" bIns="0" anchor="t">
            <a:spAutoFit/>
          </a:bodyPr>
          <a:lstStyle/>
          <a:p>
            <a:pPr algn="ctr">
              <a:spcAft>
                <a:spcPts val="600"/>
              </a:spcAft>
            </a:pPr>
            <a:r>
              <a:rPr sz="1600" b="1" i="0">
                <a:solidFill>
                  <a:srgbClr val="000000"/>
                </a:solidFill>
                <a:latin typeface="Helvetica Neue"/>
                <a:ea typeface="Helvetica Neue"/>
                <a:cs typeface="Helvetica Neue"/>
              </a:rPr>
              <a:t>Recipient</a:t>
            </a:r>
          </a:p>
        </p:txBody>
      </p:sp>
      <p:sp>
        <p:nvSpPr>
          <p:cNvPr id="20" name="Flow tag"/>
          <p:cNvSpPr txBox="1"/>
          <p:nvPr/>
        </p:nvSpPr>
        <p:spPr>
          <a:xfrm>
            <a:off x="1257300" y="4526280"/>
            <a:ext cx="15773400" cy="457200"/>
          </a:xfrm>
          <a:prstGeom prst="rect">
            <a:avLst/>
          </a:prstGeom>
          <a:noFill/>
        </p:spPr>
        <p:txBody>
          <a:bodyPr wrap="square" lIns="0" tIns="0" rIns="0" bIns="0" anchor="t">
            <a:spAutoFit/>
          </a:bodyPr>
          <a:lstStyle/>
          <a:p>
            <a:pPr algn="ctr">
              <a:spcAft>
                <a:spcPts val="600"/>
              </a:spcAft>
            </a:pPr>
            <a:r>
              <a:rPr sz="2000" b="1" i="0">
                <a:solidFill>
                  <a:srgbClr val="2F75B5"/>
                </a:solidFill>
                <a:latin typeface="Helvetica Neue"/>
                <a:ea typeface="Helvetica Neue"/>
                <a:cs typeface="Helvetica Neue"/>
              </a:rPr>
              <a:t>Seconds end to end · any hour, any day · final once settled</a:t>
            </a:r>
          </a:p>
        </p:txBody>
      </p:sp>
      <p:sp>
        <p:nvSpPr>
          <p:cNvPr id="21" name="Tile 1"/>
          <p:cNvSpPr/>
          <p:nvPr/>
        </p:nvSpPr>
        <p:spPr>
          <a:xfrm>
            <a:off x="1257300" y="5120640"/>
            <a:ext cx="7726679" cy="1051560"/>
          </a:xfrm>
          <a:prstGeom prst="round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Tile 1 text"/>
          <p:cNvSpPr txBox="1"/>
          <p:nvPr/>
        </p:nvSpPr>
        <p:spPr>
          <a:xfrm>
            <a:off x="1531620" y="5212080"/>
            <a:ext cx="7223760" cy="868680"/>
          </a:xfrm>
          <a:prstGeom prst="rect">
            <a:avLst/>
          </a:prstGeom>
          <a:noFill/>
        </p:spPr>
        <p:txBody>
          <a:bodyPr wrap="square" lIns="0" tIns="0" rIns="0" bIns="0" anchor="ctr">
            <a:spAutoFit/>
          </a:bodyPr>
          <a:lstStyle/>
          <a:p>
            <a:pPr algn="l">
              <a:spcAft>
                <a:spcPts val="200"/>
              </a:spcAft>
            </a:pPr>
            <a:r>
              <a:rPr sz="2000" b="1" i="0">
                <a:solidFill>
                  <a:srgbClr val="000000"/>
                </a:solidFill>
                <a:latin typeface="Helvetica Neue"/>
                <a:ea typeface="Helvetica Neue"/>
                <a:cs typeface="Helvetica Neue"/>
              </a:rPr>
              <a:t>FedNow</a:t>
            </a:r>
          </a:p>
          <a:p>
            <a:pPr algn="l">
              <a:spcAft>
                <a:spcPts val="200"/>
              </a:spcAft>
            </a:pPr>
            <a:r>
              <a:rPr sz="1600" b="0" i="0">
                <a:solidFill>
                  <a:srgbClr val="000000"/>
                </a:solidFill>
                <a:latin typeface="Helvetica Neue"/>
                <a:ea typeface="Helvetica Neue"/>
                <a:cs typeface="Helvetica Neue"/>
              </a:rPr>
              <a:t>Run by the Federal Reserve since July 2023 · 1,800+ banks and credit unions · $10 million cap</a:t>
            </a:r>
          </a:p>
        </p:txBody>
      </p:sp>
      <p:sp>
        <p:nvSpPr>
          <p:cNvPr id="23" name="Tile 2"/>
          <p:cNvSpPr/>
          <p:nvPr/>
        </p:nvSpPr>
        <p:spPr>
          <a:xfrm>
            <a:off x="9304020" y="5120640"/>
            <a:ext cx="7726679" cy="1051560"/>
          </a:xfrm>
          <a:prstGeom prst="round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Tile 2 text"/>
          <p:cNvSpPr txBox="1"/>
          <p:nvPr/>
        </p:nvSpPr>
        <p:spPr>
          <a:xfrm>
            <a:off x="9578340" y="5212080"/>
            <a:ext cx="7223760" cy="868680"/>
          </a:xfrm>
          <a:prstGeom prst="rect">
            <a:avLst/>
          </a:prstGeom>
          <a:noFill/>
        </p:spPr>
        <p:txBody>
          <a:bodyPr wrap="square" lIns="0" tIns="0" rIns="0" bIns="0" anchor="ctr">
            <a:spAutoFit/>
          </a:bodyPr>
          <a:lstStyle/>
          <a:p>
            <a:pPr algn="l">
              <a:spcAft>
                <a:spcPts val="200"/>
              </a:spcAft>
            </a:pPr>
            <a:r>
              <a:rPr sz="2000" b="1" i="0">
                <a:solidFill>
                  <a:srgbClr val="000000"/>
                </a:solidFill>
                <a:latin typeface="Helvetica Neue"/>
                <a:ea typeface="Helvetica Neue"/>
                <a:cs typeface="Helvetica Neue"/>
              </a:rPr>
              <a:t>RTP</a:t>
            </a:r>
          </a:p>
          <a:p>
            <a:pPr algn="l">
              <a:spcAft>
                <a:spcPts val="200"/>
              </a:spcAft>
            </a:pPr>
            <a:r>
              <a:rPr sz="1600" b="0" i="0">
                <a:solidFill>
                  <a:srgbClr val="000000"/>
                </a:solidFill>
                <a:latin typeface="Helvetica Neue"/>
                <a:ea typeface="Helvetica Neue"/>
                <a:cs typeface="Helvetica Neue"/>
              </a:rPr>
              <a:t>Run by The Clearing House since 2017 · 1,200+ institutions · $10 million cap</a:t>
            </a:r>
          </a:p>
        </p:txBody>
      </p:sp>
      <p:sp>
        <p:nvSpPr>
          <p:cNvPr id="25" name="Implications heading"/>
          <p:cNvSpPr txBox="1"/>
          <p:nvPr/>
        </p:nvSpPr>
        <p:spPr>
          <a:xfrm>
            <a:off x="1257300" y="6400800"/>
            <a:ext cx="15773400" cy="45720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What always-on means for the network</a:t>
            </a:r>
          </a:p>
        </p:txBody>
      </p:sp>
      <p:sp>
        <p:nvSpPr>
          <p:cNvPr id="26" name="Card 1"/>
          <p:cNvSpPr/>
          <p:nvPr/>
        </p:nvSpPr>
        <p:spPr>
          <a:xfrm>
            <a:off x="1257300" y="6949440"/>
            <a:ext cx="3703320" cy="21945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Card 1 text"/>
          <p:cNvSpPr txBox="1"/>
          <p:nvPr/>
        </p:nvSpPr>
        <p:spPr>
          <a:xfrm>
            <a:off x="1485900" y="7150607"/>
            <a:ext cx="3246120" cy="1828800"/>
          </a:xfrm>
          <a:prstGeom prst="rect">
            <a:avLst/>
          </a:prstGeom>
          <a:noFill/>
        </p:spPr>
        <p:txBody>
          <a:bodyPr wrap="square" lIns="0" tIns="0" rIns="0" bIns="0" anchor="t">
            <a:spAutoFit/>
          </a:bodyPr>
          <a:lstStyle/>
          <a:p>
            <a:pPr algn="l">
              <a:spcAft>
                <a:spcPts val="800"/>
              </a:spcAft>
            </a:pPr>
            <a:r>
              <a:rPr sz="1900" b="1" i="0">
                <a:solidFill>
                  <a:srgbClr val="000000"/>
                </a:solidFill>
                <a:latin typeface="Helvetica Neue"/>
                <a:ea typeface="Helvetica Neue"/>
                <a:cs typeface="Helvetica Neue"/>
              </a:rPr>
              <a:t>No quiet hours</a:t>
            </a:r>
          </a:p>
          <a:p>
            <a:pPr algn="l">
              <a:spcAft>
                <a:spcPts val="800"/>
              </a:spcAft>
            </a:pPr>
            <a:r>
              <a:rPr sz="1600" b="0" i="0">
                <a:solidFill>
                  <a:srgbClr val="000000"/>
                </a:solidFill>
                <a:latin typeface="Helvetica Neue"/>
                <a:ea typeface="Helvetica Neue"/>
                <a:cs typeface="Helvetica Neue"/>
              </a:rPr>
              <a:t>Maintenance windows and weekend changes now land on live payments.</a:t>
            </a:r>
          </a:p>
        </p:txBody>
      </p:sp>
      <p:sp>
        <p:nvSpPr>
          <p:cNvPr id="28" name="Card 2"/>
          <p:cNvSpPr/>
          <p:nvPr/>
        </p:nvSpPr>
        <p:spPr>
          <a:xfrm>
            <a:off x="5280659" y="6949440"/>
            <a:ext cx="3703320" cy="21945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Card 2 text"/>
          <p:cNvSpPr txBox="1"/>
          <p:nvPr/>
        </p:nvSpPr>
        <p:spPr>
          <a:xfrm>
            <a:off x="5509259" y="7150607"/>
            <a:ext cx="3246120" cy="1828800"/>
          </a:xfrm>
          <a:prstGeom prst="rect">
            <a:avLst/>
          </a:prstGeom>
          <a:noFill/>
        </p:spPr>
        <p:txBody>
          <a:bodyPr wrap="square" lIns="0" tIns="0" rIns="0" bIns="0" anchor="t">
            <a:spAutoFit/>
          </a:bodyPr>
          <a:lstStyle/>
          <a:p>
            <a:pPr algn="l">
              <a:spcAft>
                <a:spcPts val="800"/>
              </a:spcAft>
            </a:pPr>
            <a:r>
              <a:rPr sz="1900" b="1" i="0">
                <a:solidFill>
                  <a:srgbClr val="000000"/>
                </a:solidFill>
                <a:latin typeface="Helvetica Neue"/>
                <a:ea typeface="Helvetica Neue"/>
                <a:cs typeface="Helvetica Neue"/>
              </a:rPr>
              <a:t>Every link is in the path</a:t>
            </a:r>
          </a:p>
          <a:p>
            <a:pPr algn="l">
              <a:spcAft>
                <a:spcPts val="800"/>
              </a:spcAft>
            </a:pPr>
            <a:r>
              <a:rPr sz="1600" b="0" i="0">
                <a:solidFill>
                  <a:srgbClr val="000000"/>
                </a:solidFill>
                <a:latin typeface="Helvetica Neue"/>
                <a:ea typeface="Helvetica Neue"/>
                <a:cs typeface="Helvetica Neue"/>
              </a:rPr>
              <a:t>Branch, core processor and the connection to the Fed or TCH all need redundancy and tested failover.</a:t>
            </a:r>
          </a:p>
        </p:txBody>
      </p:sp>
      <p:sp>
        <p:nvSpPr>
          <p:cNvPr id="30" name="Card 3"/>
          <p:cNvSpPr/>
          <p:nvPr/>
        </p:nvSpPr>
        <p:spPr>
          <a:xfrm>
            <a:off x="9304019" y="6949440"/>
            <a:ext cx="3703320" cy="21945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Card 3 text"/>
          <p:cNvSpPr txBox="1"/>
          <p:nvPr/>
        </p:nvSpPr>
        <p:spPr>
          <a:xfrm>
            <a:off x="9532619" y="7150607"/>
            <a:ext cx="3246120" cy="1828800"/>
          </a:xfrm>
          <a:prstGeom prst="rect">
            <a:avLst/>
          </a:prstGeom>
          <a:noFill/>
        </p:spPr>
        <p:txBody>
          <a:bodyPr wrap="square" lIns="0" tIns="0" rIns="0" bIns="0" anchor="t">
            <a:spAutoFit/>
          </a:bodyPr>
          <a:lstStyle/>
          <a:p>
            <a:pPr algn="l">
              <a:spcAft>
                <a:spcPts val="800"/>
              </a:spcAft>
            </a:pPr>
            <a:r>
              <a:rPr sz="1900" b="1" i="0">
                <a:solidFill>
                  <a:srgbClr val="000000"/>
                </a:solidFill>
                <a:latin typeface="Helvetica Neue"/>
                <a:ea typeface="Helvetica Neue"/>
                <a:cs typeface="Helvetica Neue"/>
              </a:rPr>
              <a:t>Someone has to be watching</a:t>
            </a:r>
          </a:p>
          <a:p>
            <a:pPr algn="l">
              <a:spcAft>
                <a:spcPts val="800"/>
              </a:spcAft>
            </a:pPr>
            <a:r>
              <a:rPr sz="1600" b="0" i="0">
                <a:solidFill>
                  <a:srgbClr val="000000"/>
                </a:solidFill>
                <a:latin typeface="Helvetica Neue"/>
                <a:ea typeface="Helvetica Neue"/>
                <a:cs typeface="Helvetica Neue"/>
              </a:rPr>
              <a:t>Monitoring and incident response at 3 a.m. on a Sunday, by the bank or its provider.</a:t>
            </a:r>
          </a:p>
        </p:txBody>
      </p:sp>
      <p:sp>
        <p:nvSpPr>
          <p:cNvPr id="32" name="Card 4"/>
          <p:cNvSpPr/>
          <p:nvPr/>
        </p:nvSpPr>
        <p:spPr>
          <a:xfrm>
            <a:off x="13327380" y="6949440"/>
            <a:ext cx="3703320" cy="21945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Card 4 text"/>
          <p:cNvSpPr txBox="1"/>
          <p:nvPr/>
        </p:nvSpPr>
        <p:spPr>
          <a:xfrm>
            <a:off x="13555980" y="7150607"/>
            <a:ext cx="3246120" cy="1828800"/>
          </a:xfrm>
          <a:prstGeom prst="rect">
            <a:avLst/>
          </a:prstGeom>
          <a:noFill/>
        </p:spPr>
        <p:txBody>
          <a:bodyPr wrap="square" lIns="0" tIns="0" rIns="0" bIns="0" anchor="t">
            <a:spAutoFit/>
          </a:bodyPr>
          <a:lstStyle/>
          <a:p>
            <a:pPr algn="l">
              <a:spcAft>
                <a:spcPts val="800"/>
              </a:spcAft>
            </a:pPr>
            <a:r>
              <a:rPr sz="1900" b="1" i="0">
                <a:solidFill>
                  <a:srgbClr val="000000"/>
                </a:solidFill>
                <a:latin typeface="Helvetica Neue"/>
                <a:ea typeface="Helvetica Neue"/>
                <a:cs typeface="Helvetica Neue"/>
              </a:rPr>
              <a:t>Final means fast fraud</a:t>
            </a:r>
          </a:p>
          <a:p>
            <a:pPr algn="l">
              <a:spcAft>
                <a:spcPts val="800"/>
              </a:spcAft>
            </a:pPr>
            <a:r>
              <a:rPr sz="1600" b="0" i="0">
                <a:solidFill>
                  <a:srgbClr val="000000"/>
                </a:solidFill>
                <a:latin typeface="Helvetica Neue"/>
                <a:ea typeface="Helvetica Neue"/>
                <a:cs typeface="Helvetica Neue"/>
              </a:rPr>
              <a:t>No take-backs: authentication and fraud checks have to work in real time too.</a:t>
            </a:r>
          </a:p>
        </p:txBody>
      </p:sp>
    </p:spTree>
    <p:extLst>
      <p:ext uri="{BB962C8B-B14F-4D97-AF65-F5344CB8AC3E}">
        <p14:creationId xmlns:p14="http://schemas.microsoft.com/office/powerpoint/2010/main" val="410324216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Where Customer Data Lives and Travels on the Bank Network</a:t>
            </a:r>
          </a:p>
        </p:txBody>
      </p:sp>
      <p:sp>
        <p:nvSpPr>
          <p:cNvPr id="3" name="Zone 1"/>
          <p:cNvSpPr/>
          <p:nvPr/>
        </p:nvSpPr>
        <p:spPr>
          <a:xfrm>
            <a:off x="1257300" y="2788920"/>
            <a:ext cx="2286000" cy="3520440"/>
          </a:xfrm>
          <a:prstGeom prst="roundRect">
            <a:avLst/>
          </a:prstGeom>
          <a:solidFill>
            <a:srgbClr val="F2F2F2"/>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4" name="Zone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34540" y="2971800"/>
            <a:ext cx="731520" cy="731520"/>
          </a:xfrm>
          <a:prstGeom prst="rect">
            <a:avLst/>
          </a:prstGeom>
        </p:spPr>
      </p:pic>
      <p:sp>
        <p:nvSpPr>
          <p:cNvPr id="5" name="Zone 1 title"/>
          <p:cNvSpPr txBox="1"/>
          <p:nvPr/>
        </p:nvSpPr>
        <p:spPr>
          <a:xfrm>
            <a:off x="1348740" y="3776472"/>
            <a:ext cx="2103120" cy="411480"/>
          </a:xfrm>
          <a:prstGeom prst="rect">
            <a:avLst/>
          </a:prstGeom>
          <a:noFill/>
        </p:spPr>
        <p:txBody>
          <a:bodyPr wrap="square" lIns="0" tIns="0" rIns="0" bIns="0" anchor="t">
            <a:spAutoFit/>
          </a:bodyPr>
          <a:lstStyle/>
          <a:p>
            <a:pPr algn="ctr">
              <a:spcAft>
                <a:spcPts val="600"/>
              </a:spcAft>
            </a:pPr>
            <a:r>
              <a:rPr sz="1700" b="1" i="0">
                <a:solidFill>
                  <a:srgbClr val="000000"/>
                </a:solidFill>
                <a:latin typeface="Helvetica Neue"/>
                <a:ea typeface="Helvetica Neue"/>
                <a:cs typeface="Helvetica Neue"/>
              </a:rPr>
              <a:t>Customers</a:t>
            </a:r>
          </a:p>
        </p:txBody>
      </p:sp>
      <p:sp>
        <p:nvSpPr>
          <p:cNvPr id="6" name="Zone 1 items"/>
          <p:cNvSpPr txBox="1"/>
          <p:nvPr/>
        </p:nvSpPr>
        <p:spPr>
          <a:xfrm>
            <a:off x="1421892" y="4251960"/>
            <a:ext cx="1956816" cy="1920240"/>
          </a:xfrm>
          <a:prstGeom prst="rect">
            <a:avLst/>
          </a:prstGeom>
          <a:noFill/>
        </p:spPr>
        <p:txBody>
          <a:bodyPr wrap="square" lIns="0" tIns="0" rIns="0" bIns="0" anchor="t">
            <a:spAutoFit/>
          </a:bodyPr>
          <a:lstStyle/>
          <a:p>
            <a:pPr algn="ctr">
              <a:spcAft>
                <a:spcPts val="600"/>
              </a:spcAft>
            </a:pPr>
            <a:r>
              <a:rPr sz="1400" b="0" i="0">
                <a:solidFill>
                  <a:srgbClr val="000000"/>
                </a:solidFill>
                <a:latin typeface="Helvetica Neue"/>
                <a:ea typeface="Helvetica Neue"/>
                <a:cs typeface="Helvetica Neue"/>
              </a:rPr>
              <a:t>Phones and home computers</a:t>
            </a:r>
          </a:p>
          <a:p>
            <a:pPr algn="ctr">
              <a:spcAft>
                <a:spcPts val="600"/>
              </a:spcAft>
            </a:pPr>
            <a:r>
              <a:rPr sz="1400" b="0" i="0">
                <a:solidFill>
                  <a:srgbClr val="000000"/>
                </a:solidFill>
                <a:latin typeface="Helvetica Neue"/>
                <a:ea typeface="Helvetica Neue"/>
                <a:cs typeface="Helvetica Neue"/>
              </a:rPr>
              <a:t>Online and mobile banking sessions</a:t>
            </a:r>
          </a:p>
        </p:txBody>
      </p:sp>
      <p:cxnSp>
        <p:nvCxnSpPr>
          <p:cNvPr id="7" name="Transit 1"/>
          <p:cNvCxnSpPr/>
          <p:nvPr/>
        </p:nvCxnSpPr>
        <p:spPr>
          <a:xfrm>
            <a:off x="3579876" y="4549140"/>
            <a:ext cx="338328" cy="0"/>
          </a:xfrm>
          <a:prstGeom prst="line">
            <a:avLst/>
          </a:prstGeom>
          <a:ln w="3810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Zone 2"/>
          <p:cNvSpPr/>
          <p:nvPr/>
        </p:nvSpPr>
        <p:spPr>
          <a:xfrm>
            <a:off x="3954780" y="2788920"/>
            <a:ext cx="2286000" cy="3520440"/>
          </a:xfrm>
          <a:prstGeom prst="roundRect">
            <a:avLst/>
          </a:prstGeom>
          <a:solidFill>
            <a:srgbClr val="F2F2F2"/>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9" name="Zone 2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32020" y="2971800"/>
            <a:ext cx="731520" cy="731520"/>
          </a:xfrm>
          <a:prstGeom prst="rect">
            <a:avLst/>
          </a:prstGeom>
        </p:spPr>
      </p:pic>
      <p:sp>
        <p:nvSpPr>
          <p:cNvPr id="10" name="Zone 2 title"/>
          <p:cNvSpPr txBox="1"/>
          <p:nvPr/>
        </p:nvSpPr>
        <p:spPr>
          <a:xfrm>
            <a:off x="4046220" y="3776472"/>
            <a:ext cx="2103120" cy="411480"/>
          </a:xfrm>
          <a:prstGeom prst="rect">
            <a:avLst/>
          </a:prstGeom>
          <a:noFill/>
        </p:spPr>
        <p:txBody>
          <a:bodyPr wrap="square" lIns="0" tIns="0" rIns="0" bIns="0" anchor="t">
            <a:spAutoFit/>
          </a:bodyPr>
          <a:lstStyle/>
          <a:p>
            <a:pPr algn="ctr">
              <a:spcAft>
                <a:spcPts val="600"/>
              </a:spcAft>
            </a:pPr>
            <a:r>
              <a:rPr sz="1700" b="1" i="0">
                <a:solidFill>
                  <a:srgbClr val="000000"/>
                </a:solidFill>
                <a:latin typeface="Helvetica Neue"/>
                <a:ea typeface="Helvetica Neue"/>
                <a:cs typeface="Helvetica Neue"/>
              </a:rPr>
              <a:t>Branch</a:t>
            </a:r>
          </a:p>
        </p:txBody>
      </p:sp>
      <p:sp>
        <p:nvSpPr>
          <p:cNvPr id="11" name="Zone 2 items"/>
          <p:cNvSpPr txBox="1"/>
          <p:nvPr/>
        </p:nvSpPr>
        <p:spPr>
          <a:xfrm>
            <a:off x="4119372" y="4251960"/>
            <a:ext cx="1956816" cy="1920240"/>
          </a:xfrm>
          <a:prstGeom prst="rect">
            <a:avLst/>
          </a:prstGeom>
          <a:noFill/>
        </p:spPr>
        <p:txBody>
          <a:bodyPr wrap="square" lIns="0" tIns="0" rIns="0" bIns="0" anchor="t">
            <a:spAutoFit/>
          </a:bodyPr>
          <a:lstStyle/>
          <a:p>
            <a:pPr algn="ctr">
              <a:spcAft>
                <a:spcPts val="600"/>
              </a:spcAft>
            </a:pPr>
            <a:r>
              <a:rPr sz="1400" b="0" i="0">
                <a:solidFill>
                  <a:srgbClr val="000000"/>
                </a:solidFill>
                <a:latin typeface="Helvetica Neue"/>
                <a:ea typeface="Helvetica Neue"/>
                <a:cs typeface="Helvetica Neue"/>
              </a:rPr>
              <a:t>Teller PCs and printers</a:t>
            </a:r>
          </a:p>
          <a:p>
            <a:pPr algn="ctr">
              <a:spcAft>
                <a:spcPts val="600"/>
              </a:spcAft>
            </a:pPr>
            <a:r>
              <a:rPr sz="1400" b="0" i="0">
                <a:solidFill>
                  <a:srgbClr val="000000"/>
                </a:solidFill>
                <a:latin typeface="Helvetica Neue"/>
                <a:ea typeface="Helvetica Neue"/>
                <a:cs typeface="Helvetica Neue"/>
              </a:rPr>
              <a:t>Scanned checks and IDs</a:t>
            </a:r>
          </a:p>
          <a:p>
            <a:pPr algn="ctr">
              <a:spcAft>
                <a:spcPts val="600"/>
              </a:spcAft>
            </a:pPr>
            <a:r>
              <a:rPr sz="1400" b="0" i="0">
                <a:solidFill>
                  <a:srgbClr val="000000"/>
                </a:solidFill>
                <a:latin typeface="Helvetica Neue"/>
                <a:ea typeface="Helvetica Neue"/>
                <a:cs typeface="Helvetica Neue"/>
              </a:rPr>
              <a:t>Paper files</a:t>
            </a:r>
          </a:p>
        </p:txBody>
      </p:sp>
      <p:cxnSp>
        <p:nvCxnSpPr>
          <p:cNvPr id="12" name="Transit 2"/>
          <p:cNvCxnSpPr/>
          <p:nvPr/>
        </p:nvCxnSpPr>
        <p:spPr>
          <a:xfrm>
            <a:off x="6277356" y="4549140"/>
            <a:ext cx="338328" cy="0"/>
          </a:xfrm>
          <a:prstGeom prst="line">
            <a:avLst/>
          </a:prstGeom>
          <a:ln w="3810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Zone 3"/>
          <p:cNvSpPr/>
          <p:nvPr/>
        </p:nvSpPr>
        <p:spPr>
          <a:xfrm>
            <a:off x="6652260" y="2788920"/>
            <a:ext cx="2286000" cy="3520440"/>
          </a:xfrm>
          <a:prstGeom prst="roundRect">
            <a:avLst/>
          </a:prstGeom>
          <a:solidFill>
            <a:srgbClr val="F2F2F2"/>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4" name="Zone 3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29500" y="2971800"/>
            <a:ext cx="731520" cy="731520"/>
          </a:xfrm>
          <a:prstGeom prst="rect">
            <a:avLst/>
          </a:prstGeom>
        </p:spPr>
      </p:pic>
      <p:sp>
        <p:nvSpPr>
          <p:cNvPr id="15" name="Zone 3 title"/>
          <p:cNvSpPr txBox="1"/>
          <p:nvPr/>
        </p:nvSpPr>
        <p:spPr>
          <a:xfrm>
            <a:off x="6743700" y="3776472"/>
            <a:ext cx="2103120" cy="411480"/>
          </a:xfrm>
          <a:prstGeom prst="rect">
            <a:avLst/>
          </a:prstGeom>
          <a:noFill/>
        </p:spPr>
        <p:txBody>
          <a:bodyPr wrap="square" lIns="0" tIns="0" rIns="0" bIns="0" anchor="t">
            <a:spAutoFit/>
          </a:bodyPr>
          <a:lstStyle/>
          <a:p>
            <a:pPr algn="ctr">
              <a:spcAft>
                <a:spcPts val="600"/>
              </a:spcAft>
            </a:pPr>
            <a:r>
              <a:rPr sz="1700" b="1" i="0">
                <a:solidFill>
                  <a:srgbClr val="000000"/>
                </a:solidFill>
                <a:latin typeface="Helvetica Neue"/>
                <a:ea typeface="Helvetica Neue"/>
                <a:cs typeface="Helvetica Neue"/>
              </a:rPr>
              <a:t>HQ &amp; datacenter</a:t>
            </a:r>
          </a:p>
        </p:txBody>
      </p:sp>
      <p:sp>
        <p:nvSpPr>
          <p:cNvPr id="16" name="Zone 3 items"/>
          <p:cNvSpPr txBox="1"/>
          <p:nvPr/>
        </p:nvSpPr>
        <p:spPr>
          <a:xfrm>
            <a:off x="6816852" y="4251960"/>
            <a:ext cx="1956816" cy="1920240"/>
          </a:xfrm>
          <a:prstGeom prst="rect">
            <a:avLst/>
          </a:prstGeom>
          <a:noFill/>
        </p:spPr>
        <p:txBody>
          <a:bodyPr wrap="square" lIns="0" tIns="0" rIns="0" bIns="0" anchor="t">
            <a:spAutoFit/>
          </a:bodyPr>
          <a:lstStyle/>
          <a:p>
            <a:pPr algn="ctr">
              <a:spcAft>
                <a:spcPts val="600"/>
              </a:spcAft>
            </a:pPr>
            <a:r>
              <a:rPr sz="1400" b="0" i="0">
                <a:solidFill>
                  <a:srgbClr val="000000"/>
                </a:solidFill>
                <a:latin typeface="Helvetica Neue"/>
                <a:ea typeface="Helvetica Neue"/>
                <a:cs typeface="Helvetica Neue"/>
              </a:rPr>
              <a:t>File shares and servers</a:t>
            </a:r>
          </a:p>
          <a:p>
            <a:pPr algn="ctr">
              <a:spcAft>
                <a:spcPts val="600"/>
              </a:spcAft>
            </a:pPr>
            <a:r>
              <a:rPr sz="1400" b="0" i="0">
                <a:solidFill>
                  <a:srgbClr val="000000"/>
                </a:solidFill>
                <a:latin typeface="Helvetica Neue"/>
                <a:ea typeface="Helvetica Neue"/>
                <a:cs typeface="Helvetica Neue"/>
              </a:rPr>
              <a:t>Backups</a:t>
            </a:r>
          </a:p>
          <a:p>
            <a:pPr algn="ctr">
              <a:spcAft>
                <a:spcPts val="600"/>
              </a:spcAft>
            </a:pPr>
            <a:r>
              <a:rPr sz="1400" b="0" i="0">
                <a:solidFill>
                  <a:srgbClr val="000000"/>
                </a:solidFill>
                <a:latin typeface="Helvetica Neue"/>
                <a:ea typeface="Helvetica Neue"/>
                <a:cs typeface="Helvetica Neue"/>
              </a:rPr>
              <a:t>Staff laptops</a:t>
            </a:r>
          </a:p>
        </p:txBody>
      </p:sp>
      <p:cxnSp>
        <p:nvCxnSpPr>
          <p:cNvPr id="17" name="Transit 3"/>
          <p:cNvCxnSpPr/>
          <p:nvPr/>
        </p:nvCxnSpPr>
        <p:spPr>
          <a:xfrm>
            <a:off x="8974836" y="4549140"/>
            <a:ext cx="338328" cy="0"/>
          </a:xfrm>
          <a:prstGeom prst="line">
            <a:avLst/>
          </a:prstGeom>
          <a:ln w="3810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Zone 4"/>
          <p:cNvSpPr/>
          <p:nvPr/>
        </p:nvSpPr>
        <p:spPr>
          <a:xfrm>
            <a:off x="9349740" y="2788920"/>
            <a:ext cx="2286000" cy="3520440"/>
          </a:xfrm>
          <a:prstGeom prst="roundRect">
            <a:avLst/>
          </a:prstGeom>
          <a:solidFill>
            <a:srgbClr val="F2F2F2"/>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9" name="Zone 4 icon"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26980" y="2971800"/>
            <a:ext cx="731520" cy="731520"/>
          </a:xfrm>
          <a:prstGeom prst="rect">
            <a:avLst/>
          </a:prstGeom>
        </p:spPr>
      </p:pic>
      <p:sp>
        <p:nvSpPr>
          <p:cNvPr id="20" name="Zone 4 title"/>
          <p:cNvSpPr txBox="1"/>
          <p:nvPr/>
        </p:nvSpPr>
        <p:spPr>
          <a:xfrm>
            <a:off x="9441180" y="3776472"/>
            <a:ext cx="2103120" cy="411480"/>
          </a:xfrm>
          <a:prstGeom prst="rect">
            <a:avLst/>
          </a:prstGeom>
          <a:noFill/>
        </p:spPr>
        <p:txBody>
          <a:bodyPr wrap="square" lIns="0" tIns="0" rIns="0" bIns="0" anchor="t">
            <a:spAutoFit/>
          </a:bodyPr>
          <a:lstStyle/>
          <a:p>
            <a:pPr algn="ctr">
              <a:spcAft>
                <a:spcPts val="600"/>
              </a:spcAft>
            </a:pPr>
            <a:r>
              <a:rPr sz="1700" b="1" i="0">
                <a:solidFill>
                  <a:srgbClr val="000000"/>
                </a:solidFill>
                <a:latin typeface="Helvetica Neue"/>
                <a:ea typeface="Helvetica Neue"/>
                <a:cs typeface="Helvetica Neue"/>
              </a:rPr>
              <a:t>Cloud &amp; SaaS</a:t>
            </a:r>
          </a:p>
        </p:txBody>
      </p:sp>
      <p:sp>
        <p:nvSpPr>
          <p:cNvPr id="21" name="Zone 4 items"/>
          <p:cNvSpPr txBox="1"/>
          <p:nvPr/>
        </p:nvSpPr>
        <p:spPr>
          <a:xfrm>
            <a:off x="9514332" y="4251960"/>
            <a:ext cx="1956816" cy="1920240"/>
          </a:xfrm>
          <a:prstGeom prst="rect">
            <a:avLst/>
          </a:prstGeom>
          <a:noFill/>
        </p:spPr>
        <p:txBody>
          <a:bodyPr wrap="square" lIns="0" tIns="0" rIns="0" bIns="0" anchor="t">
            <a:spAutoFit/>
          </a:bodyPr>
          <a:lstStyle/>
          <a:p>
            <a:pPr algn="ctr">
              <a:spcAft>
                <a:spcPts val="600"/>
              </a:spcAft>
            </a:pPr>
            <a:r>
              <a:rPr sz="1400" b="0" i="0">
                <a:solidFill>
                  <a:srgbClr val="000000"/>
                </a:solidFill>
                <a:latin typeface="Helvetica Neue"/>
                <a:ea typeface="Helvetica Neue"/>
                <a:cs typeface="Helvetica Neue"/>
              </a:rPr>
              <a:t>Email and documents</a:t>
            </a:r>
          </a:p>
          <a:p>
            <a:pPr algn="ctr">
              <a:spcAft>
                <a:spcPts val="600"/>
              </a:spcAft>
            </a:pPr>
            <a:r>
              <a:rPr sz="1400" b="0" i="0">
                <a:solidFill>
                  <a:srgbClr val="000000"/>
                </a:solidFill>
                <a:latin typeface="Helvetica Neue"/>
                <a:ea typeface="Helvetica Neue"/>
                <a:cs typeface="Helvetica Neue"/>
              </a:rPr>
              <a:t>CRM, HR and loan apps</a:t>
            </a:r>
          </a:p>
        </p:txBody>
      </p:sp>
      <p:cxnSp>
        <p:nvCxnSpPr>
          <p:cNvPr id="22" name="Transit 4"/>
          <p:cNvCxnSpPr/>
          <p:nvPr/>
        </p:nvCxnSpPr>
        <p:spPr>
          <a:xfrm>
            <a:off x="11672316" y="4549140"/>
            <a:ext cx="338328" cy="0"/>
          </a:xfrm>
          <a:prstGeom prst="line">
            <a:avLst/>
          </a:prstGeom>
          <a:ln w="3810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Zone 5"/>
          <p:cNvSpPr/>
          <p:nvPr/>
        </p:nvSpPr>
        <p:spPr>
          <a:xfrm>
            <a:off x="12047220" y="2788920"/>
            <a:ext cx="2286000" cy="3520440"/>
          </a:xfrm>
          <a:prstGeom prst="roundRect">
            <a:avLst/>
          </a:prstGeom>
          <a:solidFill>
            <a:srgbClr val="EEF2F8"/>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4" name="Zone 5 icon"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824460" y="2971800"/>
            <a:ext cx="731520" cy="731520"/>
          </a:xfrm>
          <a:prstGeom prst="rect">
            <a:avLst/>
          </a:prstGeom>
        </p:spPr>
      </p:pic>
      <p:sp>
        <p:nvSpPr>
          <p:cNvPr id="25" name="Zone 5 title"/>
          <p:cNvSpPr txBox="1"/>
          <p:nvPr/>
        </p:nvSpPr>
        <p:spPr>
          <a:xfrm>
            <a:off x="12138660" y="3776472"/>
            <a:ext cx="2103120" cy="411480"/>
          </a:xfrm>
          <a:prstGeom prst="rect">
            <a:avLst/>
          </a:prstGeom>
          <a:noFill/>
        </p:spPr>
        <p:txBody>
          <a:bodyPr wrap="square" lIns="0" tIns="0" rIns="0" bIns="0" anchor="t">
            <a:spAutoFit/>
          </a:bodyPr>
          <a:lstStyle/>
          <a:p>
            <a:pPr algn="ctr">
              <a:spcAft>
                <a:spcPts val="600"/>
              </a:spcAft>
            </a:pPr>
            <a:r>
              <a:rPr sz="1700" b="1" i="0">
                <a:solidFill>
                  <a:srgbClr val="000000"/>
                </a:solidFill>
                <a:latin typeface="Helvetica Neue"/>
                <a:ea typeface="Helvetica Neue"/>
                <a:cs typeface="Helvetica Neue"/>
              </a:rPr>
              <a:t>Core processor</a:t>
            </a:r>
          </a:p>
        </p:txBody>
      </p:sp>
      <p:sp>
        <p:nvSpPr>
          <p:cNvPr id="26" name="Zone 5 items"/>
          <p:cNvSpPr txBox="1"/>
          <p:nvPr/>
        </p:nvSpPr>
        <p:spPr>
          <a:xfrm>
            <a:off x="12211812" y="4251960"/>
            <a:ext cx="1956816" cy="1920240"/>
          </a:xfrm>
          <a:prstGeom prst="rect">
            <a:avLst/>
          </a:prstGeom>
          <a:noFill/>
        </p:spPr>
        <p:txBody>
          <a:bodyPr wrap="square" lIns="0" tIns="0" rIns="0" bIns="0" anchor="t">
            <a:spAutoFit/>
          </a:bodyPr>
          <a:lstStyle/>
          <a:p>
            <a:pPr algn="ctr">
              <a:spcAft>
                <a:spcPts val="600"/>
              </a:spcAft>
            </a:pPr>
            <a:r>
              <a:rPr sz="1400" b="0" i="0">
                <a:solidFill>
                  <a:srgbClr val="000000"/>
                </a:solidFill>
                <a:latin typeface="Helvetica Neue"/>
                <a:ea typeface="Helvetica Neue"/>
                <a:cs typeface="Helvetica Neue"/>
              </a:rPr>
              <a:t>The system of record: accounts, balances, history</a:t>
            </a:r>
          </a:p>
        </p:txBody>
      </p:sp>
      <p:cxnSp>
        <p:nvCxnSpPr>
          <p:cNvPr id="27" name="Transit 5"/>
          <p:cNvCxnSpPr/>
          <p:nvPr/>
        </p:nvCxnSpPr>
        <p:spPr>
          <a:xfrm>
            <a:off x="14369796" y="4549140"/>
            <a:ext cx="338328" cy="0"/>
          </a:xfrm>
          <a:prstGeom prst="line">
            <a:avLst/>
          </a:prstGeom>
          <a:ln w="3810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Zone 6"/>
          <p:cNvSpPr/>
          <p:nvPr/>
        </p:nvSpPr>
        <p:spPr>
          <a:xfrm>
            <a:off x="14744700" y="2788920"/>
            <a:ext cx="2286000" cy="3520440"/>
          </a:xfrm>
          <a:prstGeom prst="roundRect">
            <a:avLst/>
          </a:prstGeom>
          <a:solidFill>
            <a:srgbClr val="F2F2F2"/>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9" name="Zone 6 icon" descr="image.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521940" y="2971800"/>
            <a:ext cx="731520" cy="731520"/>
          </a:xfrm>
          <a:prstGeom prst="rect">
            <a:avLst/>
          </a:prstGeom>
        </p:spPr>
      </p:pic>
      <p:sp>
        <p:nvSpPr>
          <p:cNvPr id="30" name="Zone 6 title"/>
          <p:cNvSpPr txBox="1"/>
          <p:nvPr/>
        </p:nvSpPr>
        <p:spPr>
          <a:xfrm>
            <a:off x="14836140" y="3776472"/>
            <a:ext cx="2103120" cy="411480"/>
          </a:xfrm>
          <a:prstGeom prst="rect">
            <a:avLst/>
          </a:prstGeom>
          <a:noFill/>
        </p:spPr>
        <p:txBody>
          <a:bodyPr wrap="square" lIns="0" tIns="0" rIns="0" bIns="0" anchor="t">
            <a:spAutoFit/>
          </a:bodyPr>
          <a:lstStyle/>
          <a:p>
            <a:pPr algn="ctr">
              <a:spcAft>
                <a:spcPts val="600"/>
              </a:spcAft>
            </a:pPr>
            <a:r>
              <a:rPr sz="1700" b="1" i="0">
                <a:solidFill>
                  <a:srgbClr val="000000"/>
                </a:solidFill>
                <a:latin typeface="Helvetica Neue"/>
                <a:ea typeface="Helvetica Neue"/>
                <a:cs typeface="Helvetica Neue"/>
              </a:rPr>
              <a:t>Other vendors</a:t>
            </a:r>
          </a:p>
        </p:txBody>
      </p:sp>
      <p:sp>
        <p:nvSpPr>
          <p:cNvPr id="31" name="Zone 6 items"/>
          <p:cNvSpPr txBox="1"/>
          <p:nvPr/>
        </p:nvSpPr>
        <p:spPr>
          <a:xfrm>
            <a:off x="14909292" y="4251960"/>
            <a:ext cx="1956816" cy="1920240"/>
          </a:xfrm>
          <a:prstGeom prst="rect">
            <a:avLst/>
          </a:prstGeom>
          <a:noFill/>
        </p:spPr>
        <p:txBody>
          <a:bodyPr wrap="square" lIns="0" tIns="0" rIns="0" bIns="0" anchor="t">
            <a:spAutoFit/>
          </a:bodyPr>
          <a:lstStyle/>
          <a:p>
            <a:pPr algn="ctr">
              <a:spcAft>
                <a:spcPts val="600"/>
              </a:spcAft>
            </a:pPr>
            <a:r>
              <a:rPr sz="1400" b="0" i="0">
                <a:solidFill>
                  <a:srgbClr val="000000"/>
                </a:solidFill>
                <a:latin typeface="Helvetica Neue"/>
                <a:ea typeface="Helvetica Neue"/>
                <a:cs typeface="Helvetica Neue"/>
              </a:rPr>
              <a:t>Card processor</a:t>
            </a:r>
          </a:p>
          <a:p>
            <a:pPr algn="ctr">
              <a:spcAft>
                <a:spcPts val="600"/>
              </a:spcAft>
            </a:pPr>
            <a:r>
              <a:rPr sz="1400" b="0" i="0">
                <a:solidFill>
                  <a:srgbClr val="000000"/>
                </a:solidFill>
                <a:latin typeface="Helvetica Neue"/>
                <a:ea typeface="Helvetica Neue"/>
                <a:cs typeface="Helvetica Neue"/>
              </a:rPr>
              <a:t>Fintech partners</a:t>
            </a:r>
          </a:p>
          <a:p>
            <a:pPr algn="ctr">
              <a:spcAft>
                <a:spcPts val="600"/>
              </a:spcAft>
            </a:pPr>
            <a:r>
              <a:rPr sz="1400" b="0" i="0">
                <a:solidFill>
                  <a:srgbClr val="000000"/>
                </a:solidFill>
                <a:latin typeface="Helvetica Neue"/>
                <a:ea typeface="Helvetica Neue"/>
                <a:cs typeface="Helvetica Neue"/>
              </a:rPr>
              <a:t>Statement printing</a:t>
            </a:r>
          </a:p>
        </p:txBody>
      </p:sp>
      <p:sp>
        <p:nvSpPr>
          <p:cNvPr id="32" name="Transit legend"/>
          <p:cNvSpPr txBox="1"/>
          <p:nvPr/>
        </p:nvSpPr>
        <p:spPr>
          <a:xfrm>
            <a:off x="1257300" y="6419088"/>
            <a:ext cx="15773400" cy="365760"/>
          </a:xfrm>
          <a:prstGeom prst="rect">
            <a:avLst/>
          </a:prstGeom>
          <a:noFill/>
        </p:spPr>
        <p:txBody>
          <a:bodyPr wrap="square" lIns="0" tIns="0" rIns="0" bIns="0" anchor="t">
            <a:spAutoFit/>
          </a:bodyPr>
          <a:lstStyle/>
          <a:p>
            <a:pPr algn="ctr">
              <a:spcAft>
                <a:spcPts val="600"/>
              </a:spcAft>
            </a:pPr>
            <a:r>
              <a:rPr sz="1600" b="1" i="0">
                <a:solidFill>
                  <a:srgbClr val="2F75B5"/>
                </a:solidFill>
                <a:latin typeface="Helvetica Neue"/>
                <a:ea typeface="Helvetica Neue"/>
                <a:cs typeface="Helvetica Neue"/>
              </a:rPr>
              <a:t>Every box stores customer data (at rest)  ·  every arrow is a network link it crosses (in transit)</a:t>
            </a:r>
          </a:p>
        </p:txBody>
      </p:sp>
      <p:sp>
        <p:nvSpPr>
          <p:cNvPr id="33" name="Card 1"/>
          <p:cNvSpPr/>
          <p:nvPr/>
        </p:nvSpPr>
        <p:spPr>
          <a:xfrm>
            <a:off x="1257300" y="6903720"/>
            <a:ext cx="5029200" cy="26974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Card 1 text"/>
          <p:cNvSpPr txBox="1"/>
          <p:nvPr/>
        </p:nvSpPr>
        <p:spPr>
          <a:xfrm>
            <a:off x="1531620" y="7104888"/>
            <a:ext cx="4480560" cy="233172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At rest</a:t>
            </a:r>
          </a:p>
          <a:p>
            <a:pPr algn="l">
              <a:spcAft>
                <a:spcPts val="700"/>
              </a:spcAft>
            </a:pPr>
            <a:r>
              <a:rPr sz="1600" b="0" i="0">
                <a:solidFill>
                  <a:srgbClr val="000000"/>
                </a:solidFill>
                <a:latin typeface="Helvetica Neue"/>
                <a:ea typeface="Helvetica Neue"/>
                <a:cs typeface="Helvetica Neue"/>
              </a:rPr>
              <a:t>Every box above holds customer data — including laptops, backups and paper.</a:t>
            </a:r>
          </a:p>
          <a:p>
            <a:pPr algn="l">
              <a:spcAft>
                <a:spcPts val="700"/>
              </a:spcAft>
            </a:pPr>
            <a:r>
              <a:rPr sz="1600" b="1" i="0">
                <a:solidFill>
                  <a:srgbClr val="000000"/>
                </a:solidFill>
                <a:latin typeface="Helvetica Neue"/>
                <a:ea typeface="Helvetica Neue"/>
                <a:cs typeface="Helvetica Neue"/>
              </a:rPr>
              <a:t>Is it encrypted where it sits?</a:t>
            </a:r>
          </a:p>
        </p:txBody>
      </p:sp>
      <p:sp>
        <p:nvSpPr>
          <p:cNvPr id="35" name="Card 2"/>
          <p:cNvSpPr/>
          <p:nvPr/>
        </p:nvSpPr>
        <p:spPr>
          <a:xfrm>
            <a:off x="6633972" y="6903720"/>
            <a:ext cx="5029200" cy="26974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Card 2 text"/>
          <p:cNvSpPr txBox="1"/>
          <p:nvPr/>
        </p:nvSpPr>
        <p:spPr>
          <a:xfrm>
            <a:off x="6908292" y="7104888"/>
            <a:ext cx="4480560" cy="233172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In transit</a:t>
            </a:r>
          </a:p>
          <a:p>
            <a:pPr algn="l">
              <a:spcAft>
                <a:spcPts val="700"/>
              </a:spcAft>
            </a:pPr>
            <a:r>
              <a:rPr sz="1600" b="0" i="0">
                <a:solidFill>
                  <a:srgbClr val="000000"/>
                </a:solidFill>
                <a:latin typeface="Helvetica Neue"/>
                <a:ea typeface="Helvetica Neue"/>
                <a:cs typeface="Helvetica Neue"/>
              </a:rPr>
              <a:t>Every arrow is a network link: branch to HQ, HQ to cloud, everything to the core and vendors.</a:t>
            </a:r>
          </a:p>
          <a:p>
            <a:pPr algn="l">
              <a:spcAft>
                <a:spcPts val="700"/>
              </a:spcAft>
            </a:pPr>
            <a:r>
              <a:rPr sz="1600" b="1" i="0">
                <a:solidFill>
                  <a:srgbClr val="000000"/>
                </a:solidFill>
                <a:latin typeface="Helvetica Neue"/>
                <a:ea typeface="Helvetica Neue"/>
                <a:cs typeface="Helvetica Neue"/>
              </a:rPr>
              <a:t>Is it encrypted on the way?</a:t>
            </a:r>
          </a:p>
        </p:txBody>
      </p:sp>
      <p:sp>
        <p:nvSpPr>
          <p:cNvPr id="37" name="Card 3"/>
          <p:cNvSpPr/>
          <p:nvPr/>
        </p:nvSpPr>
        <p:spPr>
          <a:xfrm>
            <a:off x="12010644" y="6903720"/>
            <a:ext cx="5029200" cy="2697480"/>
          </a:xfrm>
          <a:prstGeom prst="roundRect">
            <a:avLst/>
          </a:prstGeom>
          <a:solidFill>
            <a:srgbClr val="EEF2F8"/>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8" name="Card 3 text"/>
          <p:cNvSpPr txBox="1"/>
          <p:nvPr/>
        </p:nvSpPr>
        <p:spPr>
          <a:xfrm>
            <a:off x="12284964" y="7104888"/>
            <a:ext cx="4480560" cy="233172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The examiner’s question</a:t>
            </a:r>
          </a:p>
          <a:p>
            <a:pPr algn="l">
              <a:spcAft>
                <a:spcPts val="700"/>
              </a:spcAft>
            </a:pPr>
            <a:r>
              <a:rPr sz="1600" b="0" i="0">
                <a:solidFill>
                  <a:srgbClr val="000000"/>
                </a:solidFill>
                <a:latin typeface="Helvetica Neue"/>
                <a:ea typeface="Helvetica Neue"/>
                <a:cs typeface="Helvetica Neue"/>
              </a:rPr>
              <a:t>Can the bank draw this map for its own data, vendors included?</a:t>
            </a:r>
          </a:p>
          <a:p>
            <a:pPr algn="l">
              <a:spcAft>
                <a:spcPts val="700"/>
              </a:spcAft>
            </a:pPr>
            <a:r>
              <a:rPr sz="1400" b="0" i="0">
                <a:solidFill>
                  <a:srgbClr val="404040"/>
                </a:solidFill>
                <a:latin typeface="Helvetica Neue"/>
                <a:ea typeface="Helvetica Neue"/>
                <a:cs typeface="Helvetica Neue"/>
              </a:rPr>
              <a:t>InTREx expects the risk assessment to identify “all information assets and systems, including cloud-based, virtualized, and paper-based systems.”</a:t>
            </a:r>
          </a:p>
        </p:txBody>
      </p:sp>
    </p:spTree>
    <p:extLst>
      <p:ext uri="{BB962C8B-B14F-4D97-AF65-F5344CB8AC3E}">
        <p14:creationId xmlns:p14="http://schemas.microsoft.com/office/powerpoint/2010/main" val="174660530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Data at Rest, Data in Transit</a:t>
            </a:r>
          </a:p>
        </p:txBody>
      </p:sp>
      <p:sp>
        <p:nvSpPr>
          <p:cNvPr id="3" name="Rest panel"/>
          <p:cNvSpPr/>
          <p:nvPr/>
        </p:nvSpPr>
        <p:spPr>
          <a:xfrm>
            <a:off x="1257300" y="2606040"/>
            <a:ext cx="7726679" cy="5852160"/>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Rest band"/>
          <p:cNvSpPr/>
          <p:nvPr/>
        </p:nvSpPr>
        <p:spPr>
          <a:xfrm>
            <a:off x="1284732" y="2633472"/>
            <a:ext cx="7671815" cy="173736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Rest heading"/>
          <p:cNvSpPr txBox="1"/>
          <p:nvPr/>
        </p:nvSpPr>
        <p:spPr>
          <a:xfrm>
            <a:off x="1577340" y="2788920"/>
            <a:ext cx="4206240" cy="548640"/>
          </a:xfrm>
          <a:prstGeom prst="rect">
            <a:avLst/>
          </a:prstGeom>
          <a:noFill/>
        </p:spPr>
        <p:txBody>
          <a:bodyPr wrap="square" lIns="0" tIns="0" rIns="0" bIns="0" anchor="t">
            <a:spAutoFit/>
          </a:bodyPr>
          <a:lstStyle/>
          <a:p>
            <a:pPr algn="l">
              <a:spcAft>
                <a:spcPts val="600"/>
              </a:spcAft>
            </a:pPr>
            <a:r>
              <a:rPr sz="3000" b="1" i="0">
                <a:solidFill>
                  <a:srgbClr val="000000"/>
                </a:solidFill>
                <a:latin typeface="Helvetica Neue"/>
                <a:ea typeface="Helvetica Neue"/>
                <a:cs typeface="Helvetica Neue"/>
              </a:rPr>
              <a:t>At rest</a:t>
            </a:r>
          </a:p>
        </p:txBody>
      </p:sp>
      <p:sp>
        <p:nvSpPr>
          <p:cNvPr id="6" name="Rest sub"/>
          <p:cNvSpPr txBox="1"/>
          <p:nvPr/>
        </p:nvSpPr>
        <p:spPr>
          <a:xfrm>
            <a:off x="1577340" y="3383280"/>
            <a:ext cx="4023360" cy="822960"/>
          </a:xfrm>
          <a:prstGeom prst="rect">
            <a:avLst/>
          </a:prstGeom>
          <a:noFill/>
        </p:spPr>
        <p:txBody>
          <a:bodyPr wrap="square" lIns="0" tIns="0" rIns="0" bIns="0" anchor="t">
            <a:spAutoFit/>
          </a:bodyPr>
          <a:lstStyle/>
          <a:p>
            <a:pPr algn="l">
              <a:spcAft>
                <a:spcPts val="600"/>
              </a:spcAft>
            </a:pPr>
            <a:r>
              <a:rPr sz="1700" b="0" i="0">
                <a:solidFill>
                  <a:srgbClr val="000000"/>
                </a:solidFill>
                <a:latin typeface="Helvetica Neue"/>
                <a:ea typeface="Helvetica Neue"/>
                <a:cs typeface="Helvetica Neue"/>
              </a:rPr>
              <a:t>Stored somewhere: a disk, a database, a backup, a phone</a:t>
            </a:r>
          </a:p>
        </p:txBody>
      </p:sp>
      <p:pic>
        <p:nvPicPr>
          <p:cNvPr id="7" name="Rest database"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66460" y="3017520"/>
            <a:ext cx="914400" cy="914400"/>
          </a:xfrm>
          <a:prstGeom prst="rect">
            <a:avLst/>
          </a:prstGeom>
        </p:spPr>
      </p:pic>
      <p:pic>
        <p:nvPicPr>
          <p:cNvPr id="8" name="Rest laptop"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55179" y="3108960"/>
            <a:ext cx="914400" cy="914400"/>
          </a:xfrm>
          <a:prstGeom prst="rect">
            <a:avLst/>
          </a:prstGeom>
        </p:spPr>
      </p:pic>
      <p:pic>
        <p:nvPicPr>
          <p:cNvPr id="9" name="Rest lock"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92440" y="2857500"/>
            <a:ext cx="502920" cy="502920"/>
          </a:xfrm>
          <a:prstGeom prst="rect">
            <a:avLst/>
          </a:prstGeom>
        </p:spPr>
      </p:pic>
      <p:sp>
        <p:nvSpPr>
          <p:cNvPr id="10" name="Rest Where"/>
          <p:cNvSpPr txBox="1"/>
          <p:nvPr/>
        </p:nvSpPr>
        <p:spPr>
          <a:xfrm>
            <a:off x="1577340" y="4572000"/>
            <a:ext cx="7086599" cy="1234440"/>
          </a:xfrm>
          <a:prstGeom prst="rect">
            <a:avLst/>
          </a:prstGeom>
          <a:noFill/>
        </p:spPr>
        <p:txBody>
          <a:bodyPr wrap="square" lIns="0" tIns="0" rIns="0" bIns="0" anchor="t">
            <a:spAutoFit/>
          </a:bodyPr>
          <a:lstStyle/>
          <a:p>
            <a:pPr algn="l">
              <a:spcAft>
                <a:spcPts val="300"/>
              </a:spcAft>
            </a:pPr>
            <a:r>
              <a:rPr sz="1800" b="1" i="0">
                <a:solidFill>
                  <a:srgbClr val="2F75B5"/>
                </a:solidFill>
                <a:latin typeface="Helvetica Neue"/>
                <a:ea typeface="Helvetica Neue"/>
                <a:cs typeface="Helvetica Neue"/>
              </a:rPr>
              <a:t>Where</a:t>
            </a:r>
          </a:p>
          <a:p>
            <a:pPr algn="l">
              <a:spcAft>
                <a:spcPts val="300"/>
              </a:spcAft>
            </a:pPr>
            <a:r>
              <a:rPr sz="1600" b="0" i="0">
                <a:solidFill>
                  <a:srgbClr val="000000"/>
                </a:solidFill>
                <a:latin typeface="Helvetica Neue"/>
                <a:ea typeface="Helvetica Neue"/>
                <a:cs typeface="Helvetica Neue"/>
              </a:rPr>
              <a:t>Servers and databases, laptops and phones, backups, cloud storage, USB drives</a:t>
            </a:r>
          </a:p>
        </p:txBody>
      </p:sp>
      <p:sp>
        <p:nvSpPr>
          <p:cNvPr id="11" name="Rest How it’s protected"/>
          <p:cNvSpPr txBox="1"/>
          <p:nvPr/>
        </p:nvSpPr>
        <p:spPr>
          <a:xfrm>
            <a:off x="1577340" y="5833872"/>
            <a:ext cx="7086599" cy="1234440"/>
          </a:xfrm>
          <a:prstGeom prst="rect">
            <a:avLst/>
          </a:prstGeom>
          <a:noFill/>
        </p:spPr>
        <p:txBody>
          <a:bodyPr wrap="square" lIns="0" tIns="0" rIns="0" bIns="0" anchor="t">
            <a:spAutoFit/>
          </a:bodyPr>
          <a:lstStyle/>
          <a:p>
            <a:pPr algn="l">
              <a:spcAft>
                <a:spcPts val="300"/>
              </a:spcAft>
            </a:pPr>
            <a:r>
              <a:rPr sz="1800" b="1" i="0">
                <a:solidFill>
                  <a:srgbClr val="2F75B5"/>
                </a:solidFill>
                <a:latin typeface="Helvetica Neue"/>
                <a:ea typeface="Helvetica Neue"/>
                <a:cs typeface="Helvetica Neue"/>
              </a:rPr>
              <a:t>How it’s protected</a:t>
            </a:r>
          </a:p>
          <a:p>
            <a:pPr algn="l">
              <a:spcAft>
                <a:spcPts val="300"/>
              </a:spcAft>
            </a:pPr>
            <a:r>
              <a:rPr sz="1600" b="0" i="0">
                <a:solidFill>
                  <a:srgbClr val="000000"/>
                </a:solidFill>
                <a:latin typeface="Helvetica Neue"/>
                <a:ea typeface="Helvetica Neue"/>
                <a:cs typeface="Helvetica Neue"/>
              </a:rPr>
              <a:t>Disk and database encryption, encrypted backups, access controls</a:t>
            </a:r>
          </a:p>
        </p:txBody>
      </p:sp>
      <p:sp>
        <p:nvSpPr>
          <p:cNvPr id="12" name="Rest What goes wrong"/>
          <p:cNvSpPr txBox="1"/>
          <p:nvPr/>
        </p:nvSpPr>
        <p:spPr>
          <a:xfrm>
            <a:off x="1577340" y="7095744"/>
            <a:ext cx="7086599" cy="1234440"/>
          </a:xfrm>
          <a:prstGeom prst="rect">
            <a:avLst/>
          </a:prstGeom>
          <a:noFill/>
        </p:spPr>
        <p:txBody>
          <a:bodyPr wrap="square" lIns="0" tIns="0" rIns="0" bIns="0" anchor="t">
            <a:spAutoFit/>
          </a:bodyPr>
          <a:lstStyle/>
          <a:p>
            <a:pPr algn="l">
              <a:spcAft>
                <a:spcPts val="300"/>
              </a:spcAft>
            </a:pPr>
            <a:r>
              <a:rPr sz="1800" b="1" i="0">
                <a:solidFill>
                  <a:srgbClr val="2F75B5"/>
                </a:solidFill>
                <a:latin typeface="Helvetica Neue"/>
                <a:ea typeface="Helvetica Neue"/>
                <a:cs typeface="Helvetica Neue"/>
              </a:rPr>
              <a:t>What goes wrong</a:t>
            </a:r>
          </a:p>
          <a:p>
            <a:pPr algn="l">
              <a:spcAft>
                <a:spcPts val="300"/>
              </a:spcAft>
            </a:pPr>
            <a:r>
              <a:rPr sz="1600" b="0" i="0">
                <a:solidFill>
                  <a:srgbClr val="000000"/>
                </a:solidFill>
                <a:latin typeface="Helvetica Neue"/>
                <a:ea typeface="Helvetica Neue"/>
                <a:cs typeface="Helvetica Neue"/>
              </a:rPr>
              <a:t>A lost laptop or backup drive that wasn’t encrypted</a:t>
            </a:r>
          </a:p>
        </p:txBody>
      </p:sp>
      <p:sp>
        <p:nvSpPr>
          <p:cNvPr id="13" name="Transit panel"/>
          <p:cNvSpPr/>
          <p:nvPr/>
        </p:nvSpPr>
        <p:spPr>
          <a:xfrm>
            <a:off x="9304020" y="2606040"/>
            <a:ext cx="7726679" cy="5852160"/>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4" name="Transit band"/>
          <p:cNvSpPr/>
          <p:nvPr/>
        </p:nvSpPr>
        <p:spPr>
          <a:xfrm>
            <a:off x="9331452" y="2633472"/>
            <a:ext cx="7671815" cy="173736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Transit heading"/>
          <p:cNvSpPr txBox="1"/>
          <p:nvPr/>
        </p:nvSpPr>
        <p:spPr>
          <a:xfrm>
            <a:off x="9624060" y="2788920"/>
            <a:ext cx="4206240" cy="548640"/>
          </a:xfrm>
          <a:prstGeom prst="rect">
            <a:avLst/>
          </a:prstGeom>
          <a:noFill/>
        </p:spPr>
        <p:txBody>
          <a:bodyPr wrap="square" lIns="0" tIns="0" rIns="0" bIns="0" anchor="t">
            <a:spAutoFit/>
          </a:bodyPr>
          <a:lstStyle/>
          <a:p>
            <a:pPr algn="l">
              <a:spcAft>
                <a:spcPts val="600"/>
              </a:spcAft>
            </a:pPr>
            <a:r>
              <a:rPr sz="3000" b="1" i="0">
                <a:solidFill>
                  <a:srgbClr val="000000"/>
                </a:solidFill>
                <a:latin typeface="Helvetica Neue"/>
                <a:ea typeface="Helvetica Neue"/>
                <a:cs typeface="Helvetica Neue"/>
              </a:rPr>
              <a:t>In transit</a:t>
            </a:r>
          </a:p>
        </p:txBody>
      </p:sp>
      <p:sp>
        <p:nvSpPr>
          <p:cNvPr id="16" name="Transit sub"/>
          <p:cNvSpPr txBox="1"/>
          <p:nvPr/>
        </p:nvSpPr>
        <p:spPr>
          <a:xfrm>
            <a:off x="9624060" y="3383280"/>
            <a:ext cx="4023360" cy="822960"/>
          </a:xfrm>
          <a:prstGeom prst="rect">
            <a:avLst/>
          </a:prstGeom>
          <a:noFill/>
        </p:spPr>
        <p:txBody>
          <a:bodyPr wrap="square" lIns="0" tIns="0" rIns="0" bIns="0" anchor="t">
            <a:spAutoFit/>
          </a:bodyPr>
          <a:lstStyle/>
          <a:p>
            <a:pPr algn="l">
              <a:spcAft>
                <a:spcPts val="600"/>
              </a:spcAft>
            </a:pPr>
            <a:r>
              <a:rPr sz="1700" b="0" i="0">
                <a:solidFill>
                  <a:srgbClr val="000000"/>
                </a:solidFill>
                <a:latin typeface="Helvetica Neue"/>
                <a:ea typeface="Helvetica Neue"/>
                <a:cs typeface="Helvetica Neue"/>
              </a:rPr>
              <a:t>Moving across a network: inside the bank or out to the world</a:t>
            </a:r>
          </a:p>
        </p:txBody>
      </p:sp>
      <p:pic>
        <p:nvPicPr>
          <p:cNvPr id="17" name="Transit bank"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647420" y="3063239"/>
            <a:ext cx="822960" cy="822960"/>
          </a:xfrm>
          <a:prstGeom prst="rect">
            <a:avLst/>
          </a:prstGeom>
        </p:spPr>
      </p:pic>
      <p:pic>
        <p:nvPicPr>
          <p:cNvPr id="18" name="Transit cloud"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659100" y="2926079"/>
            <a:ext cx="1097280" cy="1097280"/>
          </a:xfrm>
          <a:prstGeom prst="rect">
            <a:avLst/>
          </a:prstGeom>
        </p:spPr>
      </p:pic>
      <p:cxnSp>
        <p:nvCxnSpPr>
          <p:cNvPr id="19" name="Transit line"/>
          <p:cNvCxnSpPr/>
          <p:nvPr/>
        </p:nvCxnSpPr>
        <p:spPr>
          <a:xfrm>
            <a:off x="14561820" y="3474720"/>
            <a:ext cx="1097280" cy="0"/>
          </a:xfrm>
          <a:prstGeom prst="line">
            <a:avLst/>
          </a:prstGeom>
          <a:ln w="50800">
            <a:solidFill>
              <a:srgbClr val="2F75B5"/>
            </a:solidFill>
          </a:ln>
        </p:spPr>
        <p:style>
          <a:lnRef idx="2">
            <a:schemeClr val="accent1"/>
          </a:lnRef>
          <a:fillRef idx="0">
            <a:schemeClr val="accent1"/>
          </a:fillRef>
          <a:effectRef idx="1">
            <a:schemeClr val="accent1"/>
          </a:effectRef>
          <a:fontRef idx="minor">
            <a:schemeClr val="tx1"/>
          </a:fontRef>
        </p:style>
      </p:cxnSp>
      <p:pic>
        <p:nvPicPr>
          <p:cNvPr id="20" name="Transit lock"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881859" y="2880360"/>
            <a:ext cx="457200" cy="457200"/>
          </a:xfrm>
          <a:prstGeom prst="rect">
            <a:avLst/>
          </a:prstGeom>
        </p:spPr>
      </p:pic>
      <p:sp>
        <p:nvSpPr>
          <p:cNvPr id="21" name="Transit Where"/>
          <p:cNvSpPr txBox="1"/>
          <p:nvPr/>
        </p:nvSpPr>
        <p:spPr>
          <a:xfrm>
            <a:off x="9624060" y="4572000"/>
            <a:ext cx="7086599" cy="1234440"/>
          </a:xfrm>
          <a:prstGeom prst="rect">
            <a:avLst/>
          </a:prstGeom>
          <a:noFill/>
        </p:spPr>
        <p:txBody>
          <a:bodyPr wrap="square" lIns="0" tIns="0" rIns="0" bIns="0" anchor="t">
            <a:spAutoFit/>
          </a:bodyPr>
          <a:lstStyle/>
          <a:p>
            <a:pPr algn="l">
              <a:spcAft>
                <a:spcPts val="300"/>
              </a:spcAft>
            </a:pPr>
            <a:r>
              <a:rPr sz="1800" b="1" i="0">
                <a:solidFill>
                  <a:srgbClr val="2F75B5"/>
                </a:solidFill>
                <a:latin typeface="Helvetica Neue"/>
                <a:ea typeface="Helvetica Neue"/>
                <a:cs typeface="Helvetica Neue"/>
              </a:rPr>
              <a:t>Where</a:t>
            </a:r>
          </a:p>
          <a:p>
            <a:pPr algn="l">
              <a:spcAft>
                <a:spcPts val="300"/>
              </a:spcAft>
            </a:pPr>
            <a:r>
              <a:rPr sz="1600" b="0" i="0">
                <a:solidFill>
                  <a:srgbClr val="000000"/>
                </a:solidFill>
                <a:latin typeface="Helvetica Neue"/>
                <a:ea typeface="Helvetica Neue"/>
                <a:cs typeface="Helvetica Neue"/>
              </a:rPr>
              <a:t>Branch to HQ, HQ to cloud, everything to the core and vendors, customer to app</a:t>
            </a:r>
          </a:p>
        </p:txBody>
      </p:sp>
      <p:sp>
        <p:nvSpPr>
          <p:cNvPr id="22" name="Transit How it’s protected"/>
          <p:cNvSpPr txBox="1"/>
          <p:nvPr/>
        </p:nvSpPr>
        <p:spPr>
          <a:xfrm>
            <a:off x="9624060" y="5833872"/>
            <a:ext cx="7086599" cy="1234440"/>
          </a:xfrm>
          <a:prstGeom prst="rect">
            <a:avLst/>
          </a:prstGeom>
          <a:noFill/>
        </p:spPr>
        <p:txBody>
          <a:bodyPr wrap="square" lIns="0" tIns="0" rIns="0" bIns="0" anchor="t">
            <a:spAutoFit/>
          </a:bodyPr>
          <a:lstStyle/>
          <a:p>
            <a:pPr algn="l">
              <a:spcAft>
                <a:spcPts val="300"/>
              </a:spcAft>
            </a:pPr>
            <a:r>
              <a:rPr sz="1800" b="1" i="0">
                <a:solidFill>
                  <a:srgbClr val="2F75B5"/>
                </a:solidFill>
                <a:latin typeface="Helvetica Neue"/>
                <a:ea typeface="Helvetica Neue"/>
                <a:cs typeface="Helvetica Neue"/>
              </a:rPr>
              <a:t>How it’s protected</a:t>
            </a:r>
          </a:p>
          <a:p>
            <a:pPr algn="l">
              <a:spcAft>
                <a:spcPts val="300"/>
              </a:spcAft>
            </a:pPr>
            <a:r>
              <a:rPr sz="1600" b="0" i="0">
                <a:solidFill>
                  <a:srgbClr val="000000"/>
                </a:solidFill>
                <a:latin typeface="Helvetica Neue"/>
                <a:ea typeface="Helvetica Neue"/>
                <a:cs typeface="Helvetica Neue"/>
              </a:rPr>
              <a:t>TLS for web and apps, VPN and SD-WAN tunnels between sites, encrypted email</a:t>
            </a:r>
          </a:p>
        </p:txBody>
      </p:sp>
      <p:sp>
        <p:nvSpPr>
          <p:cNvPr id="23" name="Transit What goes wrong"/>
          <p:cNvSpPr txBox="1"/>
          <p:nvPr/>
        </p:nvSpPr>
        <p:spPr>
          <a:xfrm>
            <a:off x="9624060" y="7095744"/>
            <a:ext cx="7086599" cy="1234440"/>
          </a:xfrm>
          <a:prstGeom prst="rect">
            <a:avLst/>
          </a:prstGeom>
          <a:noFill/>
        </p:spPr>
        <p:txBody>
          <a:bodyPr wrap="square" lIns="0" tIns="0" rIns="0" bIns="0" anchor="t">
            <a:spAutoFit/>
          </a:bodyPr>
          <a:lstStyle/>
          <a:p>
            <a:pPr algn="l">
              <a:spcAft>
                <a:spcPts val="300"/>
              </a:spcAft>
            </a:pPr>
            <a:r>
              <a:rPr sz="1800" b="1" i="0">
                <a:solidFill>
                  <a:srgbClr val="2F75B5"/>
                </a:solidFill>
                <a:latin typeface="Helvetica Neue"/>
                <a:ea typeface="Helvetica Neue"/>
                <a:cs typeface="Helvetica Neue"/>
              </a:rPr>
              <a:t>What goes wrong</a:t>
            </a:r>
          </a:p>
          <a:p>
            <a:pPr algn="l">
              <a:spcAft>
                <a:spcPts val="300"/>
              </a:spcAft>
            </a:pPr>
            <a:r>
              <a:rPr sz="1600" b="0" i="0">
                <a:solidFill>
                  <a:srgbClr val="000000"/>
                </a:solidFill>
                <a:latin typeface="Helvetica Neue"/>
                <a:ea typeface="Helvetica Neue"/>
                <a:cs typeface="Helvetica Neue"/>
              </a:rPr>
              <a:t>Old unencrypted protocols, or internal traffic assumed to be safe</a:t>
            </a:r>
          </a:p>
        </p:txBody>
      </p:sp>
      <p:sp>
        <p:nvSpPr>
          <p:cNvPr id="24" name="Baseline panel"/>
          <p:cNvSpPr/>
          <p:nvPr/>
        </p:nvSpPr>
        <p:spPr>
          <a:xfrm>
            <a:off x="1257300" y="8686800"/>
            <a:ext cx="15773400" cy="91440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Baseline"/>
          <p:cNvSpPr txBox="1"/>
          <p:nvPr/>
        </p:nvSpPr>
        <p:spPr>
          <a:xfrm>
            <a:off x="1554480" y="8732520"/>
            <a:ext cx="15179040" cy="822960"/>
          </a:xfrm>
          <a:prstGeom prst="rect">
            <a:avLst/>
          </a:prstGeom>
          <a:noFill/>
        </p:spPr>
        <p:txBody>
          <a:bodyPr wrap="square" lIns="0" tIns="0" rIns="0" bIns="0" anchor="ctr">
            <a:spAutoFit/>
          </a:bodyPr>
          <a:lstStyle/>
          <a:p>
            <a:pPr algn="l">
              <a:spcAft>
                <a:spcPts val="600"/>
              </a:spcAft>
            </a:pPr>
            <a:r>
              <a:rPr sz="1600" b="0" i="0">
                <a:solidFill>
                  <a:srgbClr val="000000"/>
                </a:solidFill>
                <a:latin typeface="Helvetica Neue"/>
                <a:ea typeface="Helvetica Neue"/>
                <a:cs typeface="Helvetica Neue"/>
              </a:rPr>
              <a:t>InTREx baseline: “Confidential data are encrypted when transmitted across public or untrusted networks” and mobile devices are encrypted if they store it. Both depend on the cryptography coming next.</a:t>
            </a:r>
          </a:p>
        </p:txBody>
      </p:sp>
    </p:spTree>
    <p:extLst>
      <p:ext uri="{BB962C8B-B14F-4D97-AF65-F5344CB8AC3E}">
        <p14:creationId xmlns:p14="http://schemas.microsoft.com/office/powerpoint/2010/main" val="80571822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Chapter 18: </a:t>
            </a:r>
            <a:br>
              <a:rPr lang="en-US" dirty="0"/>
            </a:br>
            <a:r>
              <a:rPr dirty="0"/>
              <a:t>Cryptography In </a:t>
            </a:r>
            <a:r>
              <a:rPr lang="en-US" dirty="0"/>
              <a:t>(some) </a:t>
            </a:r>
            <a:r>
              <a:rPr dirty="0"/>
              <a:t>Depth</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02" name="Rectangle 2"/>
          <p:cNvSpPr>
            <a:spLocks noGrp="1" noChangeArrowheads="1"/>
          </p:cNvSpPr>
          <p:nvPr>
            <p:ph type="title"/>
          </p:nvPr>
        </p:nvSpPr>
        <p:spPr/>
        <p:txBody>
          <a:bodyPr/>
          <a:lstStyle/>
          <a:p>
            <a:r>
              <a:rPr lang="en-US" altLang="en-US"/>
              <a:t>Cryptography</a:t>
            </a:r>
          </a:p>
        </p:txBody>
      </p:sp>
      <p:sp>
        <p:nvSpPr>
          <p:cNvPr id="4403203" name="Rectangle 3"/>
          <p:cNvSpPr>
            <a:spLocks noGrp="1" noChangeArrowheads="1"/>
          </p:cNvSpPr>
          <p:nvPr>
            <p:ph idx="1"/>
          </p:nvPr>
        </p:nvSpPr>
        <p:spPr/>
        <p:txBody>
          <a:bodyPr/>
          <a:lstStyle/>
          <a:p>
            <a:r>
              <a:rPr lang="en-US" altLang="en-US"/>
              <a:t>The science of writing in secret codes</a:t>
            </a:r>
          </a:p>
          <a:p>
            <a:pPr lvl="1"/>
            <a:r>
              <a:rPr lang="en-US" altLang="en-US"/>
              <a:t>Dates back to 1900 BC in Egypt (nonstandard hieroglyphics); probably appeared spontaneously soon after writing was developed</a:t>
            </a:r>
          </a:p>
          <a:p>
            <a:r>
              <a:rPr lang="en-US" altLang="en-US"/>
              <a:t>Necessary in telecommunications when communicating over any untrusted medium or storing sensitive information </a:t>
            </a:r>
          </a:p>
          <a:p>
            <a:r>
              <a:rPr lang="en-US" altLang="en-US"/>
              <a:t>Three types </a:t>
            </a:r>
          </a:p>
          <a:p>
            <a:pPr lvl="1"/>
            <a:r>
              <a:rPr lang="en-US" altLang="en-US"/>
              <a:t>Hash functions</a:t>
            </a:r>
          </a:p>
          <a:p>
            <a:pPr lvl="1"/>
            <a:r>
              <a:rPr lang="en-US" altLang="en-US"/>
              <a:t>Secret key</a:t>
            </a:r>
          </a:p>
          <a:p>
            <a:pPr lvl="1"/>
            <a:r>
              <a:rPr lang="en-US" altLang="en-US"/>
              <a:t>Public key</a:t>
            </a:r>
          </a:p>
        </p:txBody>
      </p:sp>
      <p:sp>
        <p:nvSpPr>
          <p:cNvPr id="3" name="Slide Number Placeholder 2"/>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126</a:t>
            </a:fld>
            <a:endParaRPr lang="en-US">
              <a:solidFill>
                <a:schemeClr val="tx1">
                  <a:lumMod val="50000"/>
                  <a:lumOff val="50000"/>
                </a:schemeClr>
              </a:solidFill>
            </a:endParaRPr>
          </a:p>
        </p:txBody>
      </p:sp>
    </p:spTree>
    <p:custDataLst>
      <p:tags r:id="rId1"/>
    </p:custDataLst>
    <p:extLst>
      <p:ext uri="{BB962C8B-B14F-4D97-AF65-F5344CB8AC3E}">
        <p14:creationId xmlns:p14="http://schemas.microsoft.com/office/powerpoint/2010/main" val="307650060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5250" name="Rectangle 2"/>
          <p:cNvSpPr>
            <a:spLocks noGrp="1" noChangeArrowheads="1"/>
          </p:cNvSpPr>
          <p:nvPr>
            <p:ph type="title"/>
          </p:nvPr>
        </p:nvSpPr>
        <p:spPr/>
        <p:txBody>
          <a:bodyPr/>
          <a:lstStyle/>
          <a:p>
            <a:r>
              <a:rPr lang="en-US" altLang="en-US"/>
              <a:t>Hash Functions</a:t>
            </a:r>
          </a:p>
        </p:txBody>
      </p:sp>
      <p:sp>
        <p:nvSpPr>
          <p:cNvPr id="4405251" name="Rectangle 3"/>
          <p:cNvSpPr>
            <a:spLocks noGrp="1" noChangeArrowheads="1"/>
          </p:cNvSpPr>
          <p:nvPr>
            <p:ph idx="1"/>
          </p:nvPr>
        </p:nvSpPr>
        <p:spPr/>
        <p:txBody>
          <a:bodyPr/>
          <a:lstStyle/>
          <a:p>
            <a:endParaRPr lang="en-US" altLang="en-US"/>
          </a:p>
          <a:p>
            <a:endParaRPr lang="en-US" altLang="en-US"/>
          </a:p>
          <a:p>
            <a:endParaRPr lang="en-US" altLang="en-US"/>
          </a:p>
          <a:p>
            <a:r>
              <a:rPr lang="en-US" altLang="en-US"/>
              <a:t>No key</a:t>
            </a:r>
          </a:p>
          <a:p>
            <a:pPr lvl="1"/>
            <a:r>
              <a:rPr lang="en-US" altLang="en-US"/>
              <a:t>Plaintext is not recoverable from the ciphertext</a:t>
            </a:r>
          </a:p>
          <a:p>
            <a:pPr lvl="1"/>
            <a:r>
              <a:rPr lang="en-US" altLang="en-US"/>
              <a:t>Examples: MD2, MD4, MD5, SHA-1, SHA-256</a:t>
            </a:r>
          </a:p>
          <a:p>
            <a:pPr lvl="1"/>
            <a:r>
              <a:rPr lang="en-US" altLang="en-US"/>
              <a:t>Also called message digests or one-way encryption</a:t>
            </a:r>
          </a:p>
          <a:p>
            <a:r>
              <a:rPr lang="en-US" altLang="en-US"/>
              <a:t>Primary uses: digital signatures and password storage</a:t>
            </a:r>
          </a:p>
        </p:txBody>
      </p:sp>
      <p:sp>
        <p:nvSpPr>
          <p:cNvPr id="2" name="Slide Number Placeholder 1"/>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127</a:t>
            </a:fld>
            <a:endParaRPr lang="en-US">
              <a:solidFill>
                <a:schemeClr val="tx1">
                  <a:lumMod val="50000"/>
                  <a:lumOff val="50000"/>
                </a:schemeClr>
              </a:solidFill>
            </a:endParaRPr>
          </a:p>
        </p:txBody>
      </p:sp>
      <p:pic>
        <p:nvPicPr>
          <p:cNvPr id="4405252" name="Picture 4" descr="G1646_Hash-Functions"/>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991225" y="2524125"/>
            <a:ext cx="6238875" cy="124777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73564134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7298" name="Rectangle 2"/>
          <p:cNvSpPr>
            <a:spLocks noGrp="1" noChangeArrowheads="1"/>
          </p:cNvSpPr>
          <p:nvPr>
            <p:ph type="title"/>
          </p:nvPr>
        </p:nvSpPr>
        <p:spPr/>
        <p:txBody>
          <a:bodyPr/>
          <a:lstStyle/>
          <a:p>
            <a:r>
              <a:rPr lang="en-US" altLang="en-US"/>
              <a:t>Secret Key Cryptography</a:t>
            </a:r>
          </a:p>
        </p:txBody>
      </p:sp>
      <p:sp>
        <p:nvSpPr>
          <p:cNvPr id="4407299" name="Rectangle 3"/>
          <p:cNvSpPr>
            <a:spLocks noGrp="1" noChangeArrowheads="1"/>
          </p:cNvSpPr>
          <p:nvPr>
            <p:ph idx="1"/>
          </p:nvPr>
        </p:nvSpPr>
        <p:spPr/>
        <p:txBody>
          <a:bodyPr/>
          <a:lstStyle/>
          <a:p>
            <a:endParaRPr lang="en-US" altLang="en-US"/>
          </a:p>
          <a:p>
            <a:endParaRPr lang="en-US" altLang="en-US"/>
          </a:p>
          <a:p>
            <a:endParaRPr lang="en-US" altLang="en-US"/>
          </a:p>
          <a:p>
            <a:r>
              <a:rPr lang="en-US" altLang="en-US"/>
              <a:t>Single key</a:t>
            </a:r>
          </a:p>
          <a:p>
            <a:pPr lvl="1"/>
            <a:r>
              <a:rPr lang="en-US" altLang="en-US"/>
              <a:t>Same key is used for encryption and decryption</a:t>
            </a:r>
          </a:p>
          <a:p>
            <a:pPr lvl="1"/>
            <a:r>
              <a:rPr lang="en-US" altLang="en-US"/>
              <a:t>Examples: DES, Triple-DES, IDEA, RC4, RC5, AES</a:t>
            </a:r>
          </a:p>
          <a:p>
            <a:pPr lvl="1"/>
            <a:r>
              <a:rPr lang="en-US" altLang="en-US"/>
              <a:t>Also called symmetric cryptography </a:t>
            </a:r>
          </a:p>
          <a:p>
            <a:r>
              <a:rPr lang="en-US" altLang="en-US"/>
              <a:t>Primary use: Privacy</a:t>
            </a:r>
          </a:p>
        </p:txBody>
      </p:sp>
      <p:sp>
        <p:nvSpPr>
          <p:cNvPr id="2" name="Slide Number Placeholder 1"/>
          <p:cNvSpPr>
            <a:spLocks noGrp="1"/>
          </p:cNvSpPr>
          <p:nvPr>
            <p:ph type="sldNum" sz="quarter" idx="4294967295"/>
          </p:nvPr>
        </p:nvSpPr>
        <p:spPr>
          <a:xfrm>
            <a:off x="12915900" y="9534526"/>
            <a:ext cx="3086100" cy="547688"/>
          </a:xfrm>
          <a:prstGeom prst="rect">
            <a:avLst/>
          </a:prstGeom>
        </p:spPr>
        <p:txBody>
          <a:bodyPr/>
          <a:lstStyle/>
          <a:p>
            <a:fld id="{76E8DCF4-EBDD-4FE1-8465-FD383573D554}" type="slidenum">
              <a:rPr lang="en-US" smtClean="0"/>
              <a:pPr/>
              <a:t>128</a:t>
            </a:fld>
            <a:endParaRPr lang="en-US"/>
          </a:p>
        </p:txBody>
      </p:sp>
      <p:pic>
        <p:nvPicPr>
          <p:cNvPr id="4407300" name="Picture 4" descr="G1647_Secret-Key-Cryptograp"/>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945857" y="2514600"/>
            <a:ext cx="8541543" cy="125968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97018664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Advanced Encryption Standard (AES)</a:t>
            </a:r>
          </a:p>
        </p:txBody>
      </p:sp>
      <p:sp>
        <p:nvSpPr>
          <p:cNvPr id="3" name="Content Placeholder 2"/>
          <p:cNvSpPr>
            <a:spLocks noGrp="1"/>
          </p:cNvSpPr>
          <p:nvPr>
            <p:ph idx="1"/>
          </p:nvPr>
        </p:nvSpPr>
        <p:spPr>
          <a:xfrm>
            <a:off x="1257299" y="2193131"/>
            <a:ext cx="16144875" cy="6967198"/>
          </a:xfrm>
        </p:spPr>
        <p:txBody>
          <a:bodyPr/>
          <a:lstStyle/>
          <a:p>
            <a:r>
              <a:rPr lang="en-US"/>
              <a:t>Symmetric key cypher with key sizes of 128, 192, and 256 bits</a:t>
            </a:r>
          </a:p>
          <a:p>
            <a:r>
              <a:rPr lang="en-US"/>
              <a:t>Block substitution-permutation cypher based on 128-bit block</a:t>
            </a:r>
          </a:p>
          <a:p>
            <a:r>
              <a:rPr lang="en-US"/>
              <a:t>Number of cycles based on key size</a:t>
            </a:r>
          </a:p>
          <a:p>
            <a:r>
              <a:rPr lang="en-US"/>
              <a:t>Each cycle performs multiple block substitutions, permutations, and mixing to encrypt the data</a:t>
            </a:r>
          </a:p>
          <a:p>
            <a:pPr marL="0" indent="0">
              <a:buNone/>
            </a:pPr>
            <a:r>
              <a:rPr lang="en-US">
                <a:hlinkClick r:id="rId4"/>
              </a:rPr>
              <a:t>ation of the algorithm</a:t>
            </a:r>
            <a:endParaRPr lang="en-US"/>
          </a:p>
          <a:p>
            <a:endParaRPr lang="en-US"/>
          </a:p>
        </p:txBody>
      </p:sp>
      <p:sp>
        <p:nvSpPr>
          <p:cNvPr id="4" name="Slide Number Placeholder 3"/>
          <p:cNvSpPr>
            <a:spLocks noGrp="1"/>
          </p:cNvSpPr>
          <p:nvPr>
            <p:ph type="sldNum" sz="quarter" idx="4294967295"/>
          </p:nvPr>
        </p:nvSpPr>
        <p:spPr>
          <a:xfrm>
            <a:off x="2286001" y="9913145"/>
            <a:ext cx="750095" cy="516731"/>
          </a:xfrm>
          <a:prstGeom prst="rect">
            <a:avLst/>
          </a:prstGeom>
        </p:spPr>
        <p:txBody>
          <a:bodyPr/>
          <a:lstStyle/>
          <a:p>
            <a:fld id="{76E8DCF4-EBDD-4FE1-8465-FD383573D554}" type="slidenum">
              <a:rPr lang="en-US" smtClean="0"/>
              <a:pPr/>
              <a:t>129</a:t>
            </a:fld>
            <a:endParaRPr lang="en-US"/>
          </a:p>
        </p:txBody>
      </p:sp>
      <p:sp>
        <p:nvSpPr>
          <p:cNvPr id="5" name="teal key puzzle piece"/>
          <p:cNvSpPr>
            <a:spLocks/>
          </p:cNvSpPr>
          <p:nvPr/>
        </p:nvSpPr>
        <p:spPr bwMode="auto">
          <a:xfrm>
            <a:off x="9019449" y="6365628"/>
            <a:ext cx="1839051" cy="3578472"/>
          </a:xfrm>
          <a:custGeom>
            <a:avLst/>
            <a:gdLst>
              <a:gd name="T0" fmla="*/ 540 w 647"/>
              <a:gd name="T1" fmla="*/ 509 h 973"/>
              <a:gd name="T2" fmla="*/ 593 w 647"/>
              <a:gd name="T3" fmla="*/ 540 h 973"/>
              <a:gd name="T4" fmla="*/ 647 w 647"/>
              <a:gd name="T5" fmla="*/ 486 h 973"/>
              <a:gd name="T6" fmla="*/ 593 w 647"/>
              <a:gd name="T7" fmla="*/ 433 h 973"/>
              <a:gd name="T8" fmla="*/ 540 w 647"/>
              <a:gd name="T9" fmla="*/ 463 h 973"/>
              <a:gd name="T10" fmla="*/ 523 w 647"/>
              <a:gd name="T11" fmla="*/ 425 h 973"/>
              <a:gd name="T12" fmla="*/ 523 w 647"/>
              <a:gd name="T13" fmla="*/ 1 h 973"/>
              <a:gd name="T14" fmla="*/ 487 w 647"/>
              <a:gd name="T15" fmla="*/ 0 h 973"/>
              <a:gd name="T16" fmla="*/ 0 w 647"/>
              <a:gd name="T17" fmla="*/ 486 h 973"/>
              <a:gd name="T18" fmla="*/ 487 w 647"/>
              <a:gd name="T19" fmla="*/ 973 h 973"/>
              <a:gd name="T20" fmla="*/ 523 w 647"/>
              <a:gd name="T21" fmla="*/ 972 h 973"/>
              <a:gd name="T22" fmla="*/ 523 w 647"/>
              <a:gd name="T23" fmla="*/ 548 h 973"/>
              <a:gd name="T24" fmla="*/ 540 w 647"/>
              <a:gd name="T25" fmla="*/ 509 h 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7" h="973">
                <a:moveTo>
                  <a:pt x="540" y="509"/>
                </a:moveTo>
                <a:cubicBezTo>
                  <a:pt x="557" y="509"/>
                  <a:pt x="555" y="540"/>
                  <a:pt x="593" y="540"/>
                </a:cubicBezTo>
                <a:cubicBezTo>
                  <a:pt x="623" y="540"/>
                  <a:pt x="647" y="516"/>
                  <a:pt x="647" y="486"/>
                </a:cubicBezTo>
                <a:cubicBezTo>
                  <a:pt x="647" y="457"/>
                  <a:pt x="623" y="433"/>
                  <a:pt x="593" y="433"/>
                </a:cubicBezTo>
                <a:cubicBezTo>
                  <a:pt x="555" y="433"/>
                  <a:pt x="557" y="463"/>
                  <a:pt x="540" y="463"/>
                </a:cubicBezTo>
                <a:cubicBezTo>
                  <a:pt x="521" y="463"/>
                  <a:pt x="523" y="425"/>
                  <a:pt x="523" y="425"/>
                </a:cubicBezTo>
                <a:cubicBezTo>
                  <a:pt x="523" y="1"/>
                  <a:pt x="523" y="1"/>
                  <a:pt x="523" y="1"/>
                </a:cubicBezTo>
                <a:cubicBezTo>
                  <a:pt x="511" y="0"/>
                  <a:pt x="499" y="0"/>
                  <a:pt x="487" y="0"/>
                </a:cubicBezTo>
                <a:cubicBezTo>
                  <a:pt x="218" y="0"/>
                  <a:pt x="0" y="218"/>
                  <a:pt x="0" y="486"/>
                </a:cubicBezTo>
                <a:cubicBezTo>
                  <a:pt x="0" y="755"/>
                  <a:pt x="218" y="973"/>
                  <a:pt x="487" y="973"/>
                </a:cubicBezTo>
                <a:cubicBezTo>
                  <a:pt x="499" y="973"/>
                  <a:pt x="511" y="973"/>
                  <a:pt x="523" y="972"/>
                </a:cubicBezTo>
                <a:cubicBezTo>
                  <a:pt x="523" y="548"/>
                  <a:pt x="523" y="548"/>
                  <a:pt x="523" y="548"/>
                </a:cubicBezTo>
                <a:cubicBezTo>
                  <a:pt x="523" y="548"/>
                  <a:pt x="521" y="509"/>
                  <a:pt x="540" y="509"/>
                </a:cubicBezTo>
                <a:close/>
              </a:path>
            </a:pathLst>
          </a:custGeom>
          <a:solidFill>
            <a:srgbClr val="0432FF"/>
          </a:solidFill>
          <a:ln>
            <a:solidFill>
              <a:schemeClr val="tx1"/>
            </a:solidFill>
          </a:ln>
        </p:spPr>
        <p:txBody>
          <a:bodyPr vert="horz" wrap="square" lIns="137160" tIns="68580" rIns="137160" bIns="68580" numCol="1" anchor="t" anchorCtr="0" compatLnSpc="1">
            <a:prstTxWarp prst="textNoShape">
              <a:avLst/>
            </a:prstTxWarp>
          </a:bodyPr>
          <a:lstStyle/>
          <a:p>
            <a:endParaRPr lang="en-US" sz="2700"/>
          </a:p>
        </p:txBody>
      </p:sp>
      <p:sp>
        <p:nvSpPr>
          <p:cNvPr id="6" name="red key puzzle piece"/>
          <p:cNvSpPr>
            <a:spLocks/>
          </p:cNvSpPr>
          <p:nvPr/>
        </p:nvSpPr>
        <p:spPr bwMode="auto">
          <a:xfrm>
            <a:off x="10515600" y="6374940"/>
            <a:ext cx="2018148" cy="3569160"/>
          </a:xfrm>
          <a:custGeom>
            <a:avLst/>
            <a:gdLst>
              <a:gd name="T0" fmla="*/ 603 w 710"/>
              <a:gd name="T1" fmla="*/ 508 h 971"/>
              <a:gd name="T2" fmla="*/ 657 w 710"/>
              <a:gd name="T3" fmla="*/ 539 h 971"/>
              <a:gd name="T4" fmla="*/ 710 w 710"/>
              <a:gd name="T5" fmla="*/ 485 h 971"/>
              <a:gd name="T6" fmla="*/ 657 w 710"/>
              <a:gd name="T7" fmla="*/ 432 h 971"/>
              <a:gd name="T8" fmla="*/ 603 w 710"/>
              <a:gd name="T9" fmla="*/ 462 h 971"/>
              <a:gd name="T10" fmla="*/ 587 w 710"/>
              <a:gd name="T11" fmla="*/ 424 h 971"/>
              <a:gd name="T12" fmla="*/ 587 w 710"/>
              <a:gd name="T13" fmla="*/ 258 h 971"/>
              <a:gd name="T14" fmla="*/ 396 w 710"/>
              <a:gd name="T15" fmla="*/ 258 h 971"/>
              <a:gd name="T16" fmla="*/ 2 w 710"/>
              <a:gd name="T17" fmla="*/ 0 h 971"/>
              <a:gd name="T18" fmla="*/ 2 w 710"/>
              <a:gd name="T19" fmla="*/ 424 h 971"/>
              <a:gd name="T20" fmla="*/ 19 w 710"/>
              <a:gd name="T21" fmla="*/ 462 h 971"/>
              <a:gd name="T22" fmla="*/ 72 w 710"/>
              <a:gd name="T23" fmla="*/ 432 h 971"/>
              <a:gd name="T24" fmla="*/ 126 w 710"/>
              <a:gd name="T25" fmla="*/ 485 h 971"/>
              <a:gd name="T26" fmla="*/ 72 w 710"/>
              <a:gd name="T27" fmla="*/ 539 h 971"/>
              <a:gd name="T28" fmla="*/ 19 w 710"/>
              <a:gd name="T29" fmla="*/ 508 h 971"/>
              <a:gd name="T30" fmla="*/ 2 w 710"/>
              <a:gd name="T31" fmla="*/ 547 h 971"/>
              <a:gd name="T32" fmla="*/ 2 w 710"/>
              <a:gd name="T33" fmla="*/ 971 h 971"/>
              <a:gd name="T34" fmla="*/ 396 w 710"/>
              <a:gd name="T35" fmla="*/ 713 h 971"/>
              <a:gd name="T36" fmla="*/ 443 w 710"/>
              <a:gd name="T37" fmla="*/ 713 h 971"/>
              <a:gd name="T38" fmla="*/ 467 w 710"/>
              <a:gd name="T39" fmla="*/ 703 h 971"/>
              <a:gd name="T40" fmla="*/ 517 w 710"/>
              <a:gd name="T41" fmla="*/ 650 h 971"/>
              <a:gd name="T42" fmla="*/ 563 w 710"/>
              <a:gd name="T43" fmla="*/ 703 h 971"/>
              <a:gd name="T44" fmla="*/ 587 w 710"/>
              <a:gd name="T45" fmla="*/ 713 h 971"/>
              <a:gd name="T46" fmla="*/ 587 w 710"/>
              <a:gd name="T47" fmla="*/ 547 h 971"/>
              <a:gd name="T48" fmla="*/ 603 w 710"/>
              <a:gd name="T49" fmla="*/ 508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10" h="971">
                <a:moveTo>
                  <a:pt x="603" y="508"/>
                </a:moveTo>
                <a:cubicBezTo>
                  <a:pt x="621" y="508"/>
                  <a:pt x="619" y="539"/>
                  <a:pt x="657" y="539"/>
                </a:cubicBezTo>
                <a:cubicBezTo>
                  <a:pt x="686" y="539"/>
                  <a:pt x="710" y="515"/>
                  <a:pt x="710" y="485"/>
                </a:cubicBezTo>
                <a:cubicBezTo>
                  <a:pt x="710" y="456"/>
                  <a:pt x="686" y="432"/>
                  <a:pt x="657" y="432"/>
                </a:cubicBezTo>
                <a:cubicBezTo>
                  <a:pt x="619" y="432"/>
                  <a:pt x="621" y="462"/>
                  <a:pt x="603" y="462"/>
                </a:cubicBezTo>
                <a:cubicBezTo>
                  <a:pt x="585" y="462"/>
                  <a:pt x="587" y="424"/>
                  <a:pt x="587" y="424"/>
                </a:cubicBezTo>
                <a:cubicBezTo>
                  <a:pt x="587" y="258"/>
                  <a:pt x="587" y="258"/>
                  <a:pt x="587" y="258"/>
                </a:cubicBezTo>
                <a:cubicBezTo>
                  <a:pt x="396" y="258"/>
                  <a:pt x="396" y="258"/>
                  <a:pt x="396" y="258"/>
                </a:cubicBezTo>
                <a:cubicBezTo>
                  <a:pt x="320" y="114"/>
                  <a:pt x="173" y="13"/>
                  <a:pt x="2" y="0"/>
                </a:cubicBezTo>
                <a:cubicBezTo>
                  <a:pt x="2" y="424"/>
                  <a:pt x="2" y="424"/>
                  <a:pt x="2" y="424"/>
                </a:cubicBezTo>
                <a:cubicBezTo>
                  <a:pt x="2" y="424"/>
                  <a:pt x="0" y="462"/>
                  <a:pt x="19" y="462"/>
                </a:cubicBezTo>
                <a:cubicBezTo>
                  <a:pt x="36" y="462"/>
                  <a:pt x="34" y="432"/>
                  <a:pt x="72" y="432"/>
                </a:cubicBezTo>
                <a:cubicBezTo>
                  <a:pt x="102" y="432"/>
                  <a:pt x="126" y="456"/>
                  <a:pt x="126" y="485"/>
                </a:cubicBezTo>
                <a:cubicBezTo>
                  <a:pt x="126" y="515"/>
                  <a:pt x="102" y="539"/>
                  <a:pt x="72" y="539"/>
                </a:cubicBezTo>
                <a:cubicBezTo>
                  <a:pt x="34" y="539"/>
                  <a:pt x="36" y="508"/>
                  <a:pt x="19" y="508"/>
                </a:cubicBezTo>
                <a:cubicBezTo>
                  <a:pt x="0" y="508"/>
                  <a:pt x="2" y="547"/>
                  <a:pt x="2" y="547"/>
                </a:cubicBezTo>
                <a:cubicBezTo>
                  <a:pt x="2" y="971"/>
                  <a:pt x="2" y="971"/>
                  <a:pt x="2" y="971"/>
                </a:cubicBezTo>
                <a:cubicBezTo>
                  <a:pt x="173" y="958"/>
                  <a:pt x="320" y="857"/>
                  <a:pt x="396" y="713"/>
                </a:cubicBezTo>
                <a:cubicBezTo>
                  <a:pt x="443" y="713"/>
                  <a:pt x="443" y="713"/>
                  <a:pt x="443" y="713"/>
                </a:cubicBezTo>
                <a:cubicBezTo>
                  <a:pt x="452" y="713"/>
                  <a:pt x="461" y="710"/>
                  <a:pt x="467" y="703"/>
                </a:cubicBezTo>
                <a:cubicBezTo>
                  <a:pt x="517" y="650"/>
                  <a:pt x="517" y="650"/>
                  <a:pt x="517" y="650"/>
                </a:cubicBezTo>
                <a:cubicBezTo>
                  <a:pt x="563" y="703"/>
                  <a:pt x="563" y="703"/>
                  <a:pt x="563" y="703"/>
                </a:cubicBezTo>
                <a:cubicBezTo>
                  <a:pt x="569" y="709"/>
                  <a:pt x="578" y="713"/>
                  <a:pt x="587" y="713"/>
                </a:cubicBezTo>
                <a:cubicBezTo>
                  <a:pt x="587" y="547"/>
                  <a:pt x="587" y="547"/>
                  <a:pt x="587" y="547"/>
                </a:cubicBezTo>
                <a:cubicBezTo>
                  <a:pt x="587" y="547"/>
                  <a:pt x="585" y="508"/>
                  <a:pt x="603" y="508"/>
                </a:cubicBezTo>
                <a:close/>
              </a:path>
            </a:pathLst>
          </a:custGeom>
          <a:solidFill>
            <a:srgbClr val="00B050"/>
          </a:solidFill>
          <a:ln>
            <a:solidFill>
              <a:schemeClr val="tx1"/>
            </a:solidFill>
          </a:ln>
        </p:spPr>
        <p:txBody>
          <a:bodyPr vert="horz" wrap="square" lIns="137160" tIns="68580" rIns="137160" bIns="68580" numCol="1" anchor="t" anchorCtr="0" compatLnSpc="1">
            <a:prstTxWarp prst="textNoShape">
              <a:avLst/>
            </a:prstTxWarp>
          </a:bodyPr>
          <a:lstStyle/>
          <a:p>
            <a:endParaRPr lang="en-US" sz="2700"/>
          </a:p>
        </p:txBody>
      </p:sp>
      <p:sp>
        <p:nvSpPr>
          <p:cNvPr id="7" name="green key puzzle piece"/>
          <p:cNvSpPr>
            <a:spLocks/>
          </p:cNvSpPr>
          <p:nvPr/>
        </p:nvSpPr>
        <p:spPr bwMode="auto">
          <a:xfrm>
            <a:off x="12155052" y="7315742"/>
            <a:ext cx="2018148" cy="1672851"/>
          </a:xfrm>
          <a:custGeom>
            <a:avLst/>
            <a:gdLst>
              <a:gd name="T0" fmla="*/ 603 w 710"/>
              <a:gd name="T1" fmla="*/ 250 h 455"/>
              <a:gd name="T2" fmla="*/ 656 w 710"/>
              <a:gd name="T3" fmla="*/ 281 h 455"/>
              <a:gd name="T4" fmla="*/ 710 w 710"/>
              <a:gd name="T5" fmla="*/ 227 h 455"/>
              <a:gd name="T6" fmla="*/ 656 w 710"/>
              <a:gd name="T7" fmla="*/ 174 h 455"/>
              <a:gd name="T8" fmla="*/ 603 w 710"/>
              <a:gd name="T9" fmla="*/ 204 h 455"/>
              <a:gd name="T10" fmla="*/ 586 w 710"/>
              <a:gd name="T11" fmla="*/ 166 h 455"/>
              <a:gd name="T12" fmla="*/ 586 w 710"/>
              <a:gd name="T13" fmla="*/ 0 h 455"/>
              <a:gd name="T14" fmla="*/ 2 w 710"/>
              <a:gd name="T15" fmla="*/ 0 h 455"/>
              <a:gd name="T16" fmla="*/ 2 w 710"/>
              <a:gd name="T17" fmla="*/ 166 h 455"/>
              <a:gd name="T18" fmla="*/ 18 w 710"/>
              <a:gd name="T19" fmla="*/ 204 h 455"/>
              <a:gd name="T20" fmla="*/ 72 w 710"/>
              <a:gd name="T21" fmla="*/ 174 h 455"/>
              <a:gd name="T22" fmla="*/ 125 w 710"/>
              <a:gd name="T23" fmla="*/ 227 h 455"/>
              <a:gd name="T24" fmla="*/ 72 w 710"/>
              <a:gd name="T25" fmla="*/ 281 h 455"/>
              <a:gd name="T26" fmla="*/ 18 w 710"/>
              <a:gd name="T27" fmla="*/ 250 h 455"/>
              <a:gd name="T28" fmla="*/ 2 w 710"/>
              <a:gd name="T29" fmla="*/ 289 h 455"/>
              <a:gd name="T30" fmla="*/ 2 w 710"/>
              <a:gd name="T31" fmla="*/ 455 h 455"/>
              <a:gd name="T32" fmla="*/ 3 w 710"/>
              <a:gd name="T33" fmla="*/ 455 h 455"/>
              <a:gd name="T34" fmla="*/ 89 w 710"/>
              <a:gd name="T35" fmla="*/ 455 h 455"/>
              <a:gd name="T36" fmla="*/ 112 w 710"/>
              <a:gd name="T37" fmla="*/ 446 h 455"/>
              <a:gd name="T38" fmla="*/ 143 w 710"/>
              <a:gd name="T39" fmla="*/ 416 h 455"/>
              <a:gd name="T40" fmla="*/ 184 w 710"/>
              <a:gd name="T41" fmla="*/ 448 h 455"/>
              <a:gd name="T42" fmla="*/ 205 w 710"/>
              <a:gd name="T43" fmla="*/ 455 h 455"/>
              <a:gd name="T44" fmla="*/ 370 w 710"/>
              <a:gd name="T45" fmla="*/ 455 h 455"/>
              <a:gd name="T46" fmla="*/ 391 w 710"/>
              <a:gd name="T47" fmla="*/ 449 h 455"/>
              <a:gd name="T48" fmla="*/ 476 w 710"/>
              <a:gd name="T49" fmla="*/ 385 h 455"/>
              <a:gd name="T50" fmla="*/ 562 w 710"/>
              <a:gd name="T51" fmla="*/ 449 h 455"/>
              <a:gd name="T52" fmla="*/ 582 w 710"/>
              <a:gd name="T53" fmla="*/ 455 h 455"/>
              <a:gd name="T54" fmla="*/ 586 w 710"/>
              <a:gd name="T55" fmla="*/ 455 h 455"/>
              <a:gd name="T56" fmla="*/ 586 w 710"/>
              <a:gd name="T57" fmla="*/ 289 h 455"/>
              <a:gd name="T58" fmla="*/ 603 w 710"/>
              <a:gd name="T59" fmla="*/ 250 h 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10" h="455">
                <a:moveTo>
                  <a:pt x="603" y="250"/>
                </a:moveTo>
                <a:cubicBezTo>
                  <a:pt x="620" y="250"/>
                  <a:pt x="618" y="281"/>
                  <a:pt x="656" y="281"/>
                </a:cubicBezTo>
                <a:cubicBezTo>
                  <a:pt x="686" y="281"/>
                  <a:pt x="710" y="257"/>
                  <a:pt x="710" y="227"/>
                </a:cubicBezTo>
                <a:cubicBezTo>
                  <a:pt x="710" y="198"/>
                  <a:pt x="686" y="174"/>
                  <a:pt x="656" y="174"/>
                </a:cubicBezTo>
                <a:cubicBezTo>
                  <a:pt x="618" y="174"/>
                  <a:pt x="620" y="204"/>
                  <a:pt x="603" y="204"/>
                </a:cubicBezTo>
                <a:cubicBezTo>
                  <a:pt x="585" y="204"/>
                  <a:pt x="586" y="166"/>
                  <a:pt x="586" y="166"/>
                </a:cubicBezTo>
                <a:cubicBezTo>
                  <a:pt x="586" y="0"/>
                  <a:pt x="586" y="0"/>
                  <a:pt x="586" y="0"/>
                </a:cubicBezTo>
                <a:cubicBezTo>
                  <a:pt x="2" y="0"/>
                  <a:pt x="2" y="0"/>
                  <a:pt x="2" y="0"/>
                </a:cubicBezTo>
                <a:cubicBezTo>
                  <a:pt x="2" y="166"/>
                  <a:pt x="2" y="166"/>
                  <a:pt x="2" y="166"/>
                </a:cubicBezTo>
                <a:cubicBezTo>
                  <a:pt x="2" y="166"/>
                  <a:pt x="0" y="204"/>
                  <a:pt x="18" y="204"/>
                </a:cubicBezTo>
                <a:cubicBezTo>
                  <a:pt x="36" y="204"/>
                  <a:pt x="34" y="174"/>
                  <a:pt x="72" y="174"/>
                </a:cubicBezTo>
                <a:cubicBezTo>
                  <a:pt x="101" y="174"/>
                  <a:pt x="125" y="198"/>
                  <a:pt x="125" y="227"/>
                </a:cubicBezTo>
                <a:cubicBezTo>
                  <a:pt x="125" y="257"/>
                  <a:pt x="101" y="281"/>
                  <a:pt x="72" y="281"/>
                </a:cubicBezTo>
                <a:cubicBezTo>
                  <a:pt x="34" y="281"/>
                  <a:pt x="36" y="250"/>
                  <a:pt x="18" y="250"/>
                </a:cubicBezTo>
                <a:cubicBezTo>
                  <a:pt x="0" y="250"/>
                  <a:pt x="2" y="289"/>
                  <a:pt x="2" y="289"/>
                </a:cubicBezTo>
                <a:cubicBezTo>
                  <a:pt x="2" y="455"/>
                  <a:pt x="2" y="455"/>
                  <a:pt x="2" y="455"/>
                </a:cubicBezTo>
                <a:cubicBezTo>
                  <a:pt x="2" y="455"/>
                  <a:pt x="2" y="455"/>
                  <a:pt x="3" y="455"/>
                </a:cubicBezTo>
                <a:cubicBezTo>
                  <a:pt x="89" y="455"/>
                  <a:pt x="89" y="455"/>
                  <a:pt x="89" y="455"/>
                </a:cubicBezTo>
                <a:cubicBezTo>
                  <a:pt x="98" y="455"/>
                  <a:pt x="106" y="452"/>
                  <a:pt x="112" y="446"/>
                </a:cubicBezTo>
                <a:cubicBezTo>
                  <a:pt x="143" y="416"/>
                  <a:pt x="143" y="416"/>
                  <a:pt x="143" y="416"/>
                </a:cubicBezTo>
                <a:cubicBezTo>
                  <a:pt x="184" y="448"/>
                  <a:pt x="184" y="448"/>
                  <a:pt x="184" y="448"/>
                </a:cubicBezTo>
                <a:cubicBezTo>
                  <a:pt x="189" y="453"/>
                  <a:pt x="197" y="455"/>
                  <a:pt x="205" y="455"/>
                </a:cubicBezTo>
                <a:cubicBezTo>
                  <a:pt x="370" y="455"/>
                  <a:pt x="370" y="455"/>
                  <a:pt x="370" y="455"/>
                </a:cubicBezTo>
                <a:cubicBezTo>
                  <a:pt x="378" y="455"/>
                  <a:pt x="385" y="453"/>
                  <a:pt x="391" y="449"/>
                </a:cubicBezTo>
                <a:cubicBezTo>
                  <a:pt x="476" y="385"/>
                  <a:pt x="476" y="385"/>
                  <a:pt x="476" y="385"/>
                </a:cubicBezTo>
                <a:cubicBezTo>
                  <a:pt x="562" y="449"/>
                  <a:pt x="562" y="449"/>
                  <a:pt x="562" y="449"/>
                </a:cubicBezTo>
                <a:cubicBezTo>
                  <a:pt x="568" y="453"/>
                  <a:pt x="575" y="455"/>
                  <a:pt x="582" y="455"/>
                </a:cubicBezTo>
                <a:cubicBezTo>
                  <a:pt x="586" y="455"/>
                  <a:pt x="586" y="455"/>
                  <a:pt x="586" y="455"/>
                </a:cubicBezTo>
                <a:cubicBezTo>
                  <a:pt x="586" y="289"/>
                  <a:pt x="586" y="289"/>
                  <a:pt x="586" y="289"/>
                </a:cubicBezTo>
                <a:cubicBezTo>
                  <a:pt x="586" y="289"/>
                  <a:pt x="585" y="250"/>
                  <a:pt x="603" y="250"/>
                </a:cubicBezTo>
                <a:close/>
              </a:path>
            </a:pathLst>
          </a:custGeom>
          <a:solidFill>
            <a:srgbClr val="FFFF00"/>
          </a:solidFill>
          <a:ln>
            <a:solidFill>
              <a:schemeClr val="bg2"/>
            </a:solidFill>
          </a:ln>
        </p:spPr>
        <p:txBody>
          <a:bodyPr vert="horz" wrap="square" lIns="137160" tIns="68580" rIns="137160" bIns="68580" numCol="1" anchor="t" anchorCtr="0" compatLnSpc="1">
            <a:prstTxWarp prst="textNoShape">
              <a:avLst/>
            </a:prstTxWarp>
          </a:bodyPr>
          <a:lstStyle/>
          <a:p>
            <a:endParaRPr lang="en-US" sz="2700"/>
          </a:p>
        </p:txBody>
      </p:sp>
      <p:sp>
        <p:nvSpPr>
          <p:cNvPr id="8" name="blue key piece"/>
          <p:cNvSpPr>
            <a:spLocks/>
          </p:cNvSpPr>
          <p:nvPr/>
        </p:nvSpPr>
        <p:spPr bwMode="auto">
          <a:xfrm>
            <a:off x="13817646" y="7315742"/>
            <a:ext cx="1841454" cy="1672851"/>
          </a:xfrm>
          <a:custGeom>
            <a:avLst/>
            <a:gdLst>
              <a:gd name="T0" fmla="*/ 636 w 648"/>
              <a:gd name="T1" fmla="*/ 208 h 455"/>
              <a:gd name="T2" fmla="*/ 355 w 648"/>
              <a:gd name="T3" fmla="*/ 6 h 455"/>
              <a:gd name="T4" fmla="*/ 335 w 648"/>
              <a:gd name="T5" fmla="*/ 0 h 455"/>
              <a:gd name="T6" fmla="*/ 1 w 648"/>
              <a:gd name="T7" fmla="*/ 0 h 455"/>
              <a:gd name="T8" fmla="*/ 1 w 648"/>
              <a:gd name="T9" fmla="*/ 166 h 455"/>
              <a:gd name="T10" fmla="*/ 18 w 648"/>
              <a:gd name="T11" fmla="*/ 204 h 455"/>
              <a:gd name="T12" fmla="*/ 71 w 648"/>
              <a:gd name="T13" fmla="*/ 174 h 455"/>
              <a:gd name="T14" fmla="*/ 125 w 648"/>
              <a:gd name="T15" fmla="*/ 227 h 455"/>
              <a:gd name="T16" fmla="*/ 71 w 648"/>
              <a:gd name="T17" fmla="*/ 281 h 455"/>
              <a:gd name="T18" fmla="*/ 18 w 648"/>
              <a:gd name="T19" fmla="*/ 250 h 455"/>
              <a:gd name="T20" fmla="*/ 1 w 648"/>
              <a:gd name="T21" fmla="*/ 289 h 455"/>
              <a:gd name="T22" fmla="*/ 1 w 648"/>
              <a:gd name="T23" fmla="*/ 455 h 455"/>
              <a:gd name="T24" fmla="*/ 82 w 648"/>
              <a:gd name="T25" fmla="*/ 455 h 455"/>
              <a:gd name="T26" fmla="*/ 103 w 648"/>
              <a:gd name="T27" fmla="*/ 448 h 455"/>
              <a:gd name="T28" fmla="*/ 147 w 648"/>
              <a:gd name="T29" fmla="*/ 414 h 455"/>
              <a:gd name="T30" fmla="*/ 204 w 648"/>
              <a:gd name="T31" fmla="*/ 450 h 455"/>
              <a:gd name="T32" fmla="*/ 223 w 648"/>
              <a:gd name="T33" fmla="*/ 455 h 455"/>
              <a:gd name="T34" fmla="*/ 273 w 648"/>
              <a:gd name="T35" fmla="*/ 455 h 455"/>
              <a:gd name="T36" fmla="*/ 299 w 648"/>
              <a:gd name="T37" fmla="*/ 443 h 455"/>
              <a:gd name="T38" fmla="*/ 346 w 648"/>
              <a:gd name="T39" fmla="*/ 378 h 455"/>
              <a:gd name="T40" fmla="*/ 398 w 648"/>
              <a:gd name="T41" fmla="*/ 399 h 455"/>
              <a:gd name="T42" fmla="*/ 431 w 648"/>
              <a:gd name="T43" fmla="*/ 395 h 455"/>
              <a:gd name="T44" fmla="*/ 636 w 648"/>
              <a:gd name="T45" fmla="*/ 250 h 455"/>
              <a:gd name="T46" fmla="*/ 648 w 648"/>
              <a:gd name="T47" fmla="*/ 229 h 455"/>
              <a:gd name="T48" fmla="*/ 636 w 648"/>
              <a:gd name="T49" fmla="*/ 208 h 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48" h="455">
                <a:moveTo>
                  <a:pt x="636" y="208"/>
                </a:moveTo>
                <a:cubicBezTo>
                  <a:pt x="355" y="6"/>
                  <a:pt x="355" y="6"/>
                  <a:pt x="355" y="6"/>
                </a:cubicBezTo>
                <a:cubicBezTo>
                  <a:pt x="349" y="2"/>
                  <a:pt x="342" y="0"/>
                  <a:pt x="335" y="0"/>
                </a:cubicBezTo>
                <a:cubicBezTo>
                  <a:pt x="1" y="0"/>
                  <a:pt x="1" y="0"/>
                  <a:pt x="1" y="0"/>
                </a:cubicBezTo>
                <a:cubicBezTo>
                  <a:pt x="1" y="166"/>
                  <a:pt x="1" y="166"/>
                  <a:pt x="1" y="166"/>
                </a:cubicBezTo>
                <a:cubicBezTo>
                  <a:pt x="1" y="166"/>
                  <a:pt x="0" y="204"/>
                  <a:pt x="18" y="204"/>
                </a:cubicBezTo>
                <a:cubicBezTo>
                  <a:pt x="35" y="204"/>
                  <a:pt x="33" y="174"/>
                  <a:pt x="71" y="174"/>
                </a:cubicBezTo>
                <a:cubicBezTo>
                  <a:pt x="101" y="174"/>
                  <a:pt x="125" y="198"/>
                  <a:pt x="125" y="227"/>
                </a:cubicBezTo>
                <a:cubicBezTo>
                  <a:pt x="125" y="257"/>
                  <a:pt x="101" y="281"/>
                  <a:pt x="71" y="281"/>
                </a:cubicBezTo>
                <a:cubicBezTo>
                  <a:pt x="33" y="281"/>
                  <a:pt x="35" y="250"/>
                  <a:pt x="18" y="250"/>
                </a:cubicBezTo>
                <a:cubicBezTo>
                  <a:pt x="0" y="250"/>
                  <a:pt x="1" y="289"/>
                  <a:pt x="1" y="289"/>
                </a:cubicBezTo>
                <a:cubicBezTo>
                  <a:pt x="1" y="455"/>
                  <a:pt x="1" y="455"/>
                  <a:pt x="1" y="455"/>
                </a:cubicBezTo>
                <a:cubicBezTo>
                  <a:pt x="82" y="455"/>
                  <a:pt x="82" y="455"/>
                  <a:pt x="82" y="455"/>
                </a:cubicBezTo>
                <a:cubicBezTo>
                  <a:pt x="90" y="455"/>
                  <a:pt x="97" y="453"/>
                  <a:pt x="103" y="448"/>
                </a:cubicBezTo>
                <a:cubicBezTo>
                  <a:pt x="147" y="414"/>
                  <a:pt x="147" y="414"/>
                  <a:pt x="147" y="414"/>
                </a:cubicBezTo>
                <a:cubicBezTo>
                  <a:pt x="204" y="450"/>
                  <a:pt x="204" y="450"/>
                  <a:pt x="204" y="450"/>
                </a:cubicBezTo>
                <a:cubicBezTo>
                  <a:pt x="210" y="453"/>
                  <a:pt x="216" y="455"/>
                  <a:pt x="223" y="455"/>
                </a:cubicBezTo>
                <a:cubicBezTo>
                  <a:pt x="273" y="455"/>
                  <a:pt x="273" y="455"/>
                  <a:pt x="273" y="455"/>
                </a:cubicBezTo>
                <a:cubicBezTo>
                  <a:pt x="283" y="455"/>
                  <a:pt x="293" y="450"/>
                  <a:pt x="299" y="443"/>
                </a:cubicBezTo>
                <a:cubicBezTo>
                  <a:pt x="346" y="378"/>
                  <a:pt x="346" y="378"/>
                  <a:pt x="346" y="378"/>
                </a:cubicBezTo>
                <a:cubicBezTo>
                  <a:pt x="398" y="399"/>
                  <a:pt x="398" y="399"/>
                  <a:pt x="398" y="399"/>
                </a:cubicBezTo>
                <a:cubicBezTo>
                  <a:pt x="409" y="403"/>
                  <a:pt x="422" y="402"/>
                  <a:pt x="431" y="395"/>
                </a:cubicBezTo>
                <a:cubicBezTo>
                  <a:pt x="636" y="250"/>
                  <a:pt x="636" y="250"/>
                  <a:pt x="636" y="250"/>
                </a:cubicBezTo>
                <a:cubicBezTo>
                  <a:pt x="643" y="245"/>
                  <a:pt x="648" y="237"/>
                  <a:pt x="648" y="229"/>
                </a:cubicBezTo>
                <a:cubicBezTo>
                  <a:pt x="648" y="221"/>
                  <a:pt x="643" y="213"/>
                  <a:pt x="636" y="208"/>
                </a:cubicBezTo>
                <a:close/>
              </a:path>
            </a:pathLst>
          </a:custGeom>
          <a:solidFill>
            <a:srgbClr val="FF0000"/>
          </a:solidFill>
          <a:ln>
            <a:solidFill>
              <a:schemeClr val="accent6">
                <a:lumMod val="50000"/>
              </a:schemeClr>
            </a:solidFill>
          </a:ln>
        </p:spPr>
        <p:txBody>
          <a:bodyPr vert="horz" wrap="square" lIns="137160" tIns="68580" rIns="137160" bIns="68580" numCol="1" anchor="t" anchorCtr="0" compatLnSpc="1">
            <a:prstTxWarp prst="textNoShape">
              <a:avLst/>
            </a:prstTxWarp>
          </a:bodyPr>
          <a:lstStyle/>
          <a:p>
            <a:endParaRPr lang="en-US" sz="2700"/>
          </a:p>
        </p:txBody>
      </p:sp>
    </p:spTree>
    <p:custDataLst>
      <p:tags r:id="rId1"/>
    </p:custDataLst>
    <p:extLst>
      <p:ext uri="{BB962C8B-B14F-4D97-AF65-F5344CB8AC3E}">
        <p14:creationId xmlns:p14="http://schemas.microsoft.com/office/powerpoint/2010/main" val="28189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par>
                                <p:cTn id="11" presetID="31" presetClass="entr" presetSubtype="0" fill="hold" grpId="0" nodeType="withEffect">
                                  <p:stCondLst>
                                    <p:cond delay="500"/>
                                  </p:stCondLst>
                                  <p:childTnLst>
                                    <p:set>
                                      <p:cBhvr>
                                        <p:cTn id="12" dur="1" fill="hold">
                                          <p:stCondLst>
                                            <p:cond delay="0"/>
                                          </p:stCondLst>
                                        </p:cTn>
                                        <p:tgtEl>
                                          <p:spTgt spid="6"/>
                                        </p:tgtEl>
                                        <p:attrNameLst>
                                          <p:attrName>style.visibility</p:attrName>
                                        </p:attrNameLst>
                                      </p:cBhvr>
                                      <p:to>
                                        <p:strVal val="visible"/>
                                      </p:to>
                                    </p:set>
                                    <p:anim calcmode="lin" valueType="num">
                                      <p:cBhvr>
                                        <p:cTn id="13" dur="1000" fill="hold"/>
                                        <p:tgtEl>
                                          <p:spTgt spid="6"/>
                                        </p:tgtEl>
                                        <p:attrNameLst>
                                          <p:attrName>ppt_w</p:attrName>
                                        </p:attrNameLst>
                                      </p:cBhvr>
                                      <p:tavLst>
                                        <p:tav tm="0">
                                          <p:val>
                                            <p:fltVal val="0"/>
                                          </p:val>
                                        </p:tav>
                                        <p:tav tm="100000">
                                          <p:val>
                                            <p:strVal val="#ppt_w"/>
                                          </p:val>
                                        </p:tav>
                                      </p:tavLst>
                                    </p:anim>
                                    <p:anim calcmode="lin" valueType="num">
                                      <p:cBhvr>
                                        <p:cTn id="14" dur="1000" fill="hold"/>
                                        <p:tgtEl>
                                          <p:spTgt spid="6"/>
                                        </p:tgtEl>
                                        <p:attrNameLst>
                                          <p:attrName>ppt_h</p:attrName>
                                        </p:attrNameLst>
                                      </p:cBhvr>
                                      <p:tavLst>
                                        <p:tav tm="0">
                                          <p:val>
                                            <p:fltVal val="0"/>
                                          </p:val>
                                        </p:tav>
                                        <p:tav tm="100000">
                                          <p:val>
                                            <p:strVal val="#ppt_h"/>
                                          </p:val>
                                        </p:tav>
                                      </p:tavLst>
                                    </p:anim>
                                    <p:anim calcmode="lin" valueType="num">
                                      <p:cBhvr>
                                        <p:cTn id="15" dur="1000" fill="hold"/>
                                        <p:tgtEl>
                                          <p:spTgt spid="6"/>
                                        </p:tgtEl>
                                        <p:attrNameLst>
                                          <p:attrName>style.rotation</p:attrName>
                                        </p:attrNameLst>
                                      </p:cBhvr>
                                      <p:tavLst>
                                        <p:tav tm="0">
                                          <p:val>
                                            <p:fltVal val="90"/>
                                          </p:val>
                                        </p:tav>
                                        <p:tav tm="100000">
                                          <p:val>
                                            <p:fltVal val="0"/>
                                          </p:val>
                                        </p:tav>
                                      </p:tavLst>
                                    </p:anim>
                                    <p:animEffect transition="in" filter="fade">
                                      <p:cBhvr>
                                        <p:cTn id="16" dur="1000"/>
                                        <p:tgtEl>
                                          <p:spTgt spid="6"/>
                                        </p:tgtEl>
                                      </p:cBhvr>
                                    </p:animEffect>
                                  </p:childTnLst>
                                </p:cTn>
                              </p:par>
                              <p:par>
                                <p:cTn id="17" presetID="31" presetClass="entr" presetSubtype="0" fill="hold" grpId="0" nodeType="withEffect">
                                  <p:stCondLst>
                                    <p:cond delay="500"/>
                                  </p:stCondLst>
                                  <p:childTnLst>
                                    <p:set>
                                      <p:cBhvr>
                                        <p:cTn id="18" dur="1" fill="hold">
                                          <p:stCondLst>
                                            <p:cond delay="0"/>
                                          </p:stCondLst>
                                        </p:cTn>
                                        <p:tgtEl>
                                          <p:spTgt spid="7"/>
                                        </p:tgtEl>
                                        <p:attrNameLst>
                                          <p:attrName>style.visibility</p:attrName>
                                        </p:attrNameLst>
                                      </p:cBhvr>
                                      <p:to>
                                        <p:strVal val="visible"/>
                                      </p:to>
                                    </p:set>
                                    <p:anim calcmode="lin" valueType="num">
                                      <p:cBhvr>
                                        <p:cTn id="19" dur="1000" fill="hold"/>
                                        <p:tgtEl>
                                          <p:spTgt spid="7"/>
                                        </p:tgtEl>
                                        <p:attrNameLst>
                                          <p:attrName>ppt_w</p:attrName>
                                        </p:attrNameLst>
                                      </p:cBhvr>
                                      <p:tavLst>
                                        <p:tav tm="0">
                                          <p:val>
                                            <p:fltVal val="0"/>
                                          </p:val>
                                        </p:tav>
                                        <p:tav tm="100000">
                                          <p:val>
                                            <p:strVal val="#ppt_w"/>
                                          </p:val>
                                        </p:tav>
                                      </p:tavLst>
                                    </p:anim>
                                    <p:anim calcmode="lin" valueType="num">
                                      <p:cBhvr>
                                        <p:cTn id="20" dur="1000" fill="hold"/>
                                        <p:tgtEl>
                                          <p:spTgt spid="7"/>
                                        </p:tgtEl>
                                        <p:attrNameLst>
                                          <p:attrName>ppt_h</p:attrName>
                                        </p:attrNameLst>
                                      </p:cBhvr>
                                      <p:tavLst>
                                        <p:tav tm="0">
                                          <p:val>
                                            <p:fltVal val="0"/>
                                          </p:val>
                                        </p:tav>
                                        <p:tav tm="100000">
                                          <p:val>
                                            <p:strVal val="#ppt_h"/>
                                          </p:val>
                                        </p:tav>
                                      </p:tavLst>
                                    </p:anim>
                                    <p:anim calcmode="lin" valueType="num">
                                      <p:cBhvr>
                                        <p:cTn id="21" dur="1000" fill="hold"/>
                                        <p:tgtEl>
                                          <p:spTgt spid="7"/>
                                        </p:tgtEl>
                                        <p:attrNameLst>
                                          <p:attrName>style.rotation</p:attrName>
                                        </p:attrNameLst>
                                      </p:cBhvr>
                                      <p:tavLst>
                                        <p:tav tm="0">
                                          <p:val>
                                            <p:fltVal val="90"/>
                                          </p:val>
                                        </p:tav>
                                        <p:tav tm="100000">
                                          <p:val>
                                            <p:fltVal val="0"/>
                                          </p:val>
                                        </p:tav>
                                      </p:tavLst>
                                    </p:anim>
                                    <p:animEffect transition="in" filter="fade">
                                      <p:cBhvr>
                                        <p:cTn id="22" dur="1000"/>
                                        <p:tgtEl>
                                          <p:spTgt spid="7"/>
                                        </p:tgtEl>
                                      </p:cBhvr>
                                    </p:animEffect>
                                  </p:childTnLst>
                                </p:cTn>
                              </p:par>
                              <p:par>
                                <p:cTn id="23" presetID="31" presetClass="entr" presetSubtype="0" fill="hold" grpId="0" nodeType="withEffect">
                                  <p:stCondLst>
                                    <p:cond delay="500"/>
                                  </p:stCondLst>
                                  <p:childTnLst>
                                    <p:set>
                                      <p:cBhvr>
                                        <p:cTn id="24" dur="1" fill="hold">
                                          <p:stCondLst>
                                            <p:cond delay="0"/>
                                          </p:stCondLst>
                                        </p:cTn>
                                        <p:tgtEl>
                                          <p:spTgt spid="8"/>
                                        </p:tgtEl>
                                        <p:attrNameLst>
                                          <p:attrName>style.visibility</p:attrName>
                                        </p:attrNameLst>
                                      </p:cBhvr>
                                      <p:to>
                                        <p:strVal val="visible"/>
                                      </p:to>
                                    </p:set>
                                    <p:anim calcmode="lin" valueType="num">
                                      <p:cBhvr>
                                        <p:cTn id="25" dur="1000" fill="hold"/>
                                        <p:tgtEl>
                                          <p:spTgt spid="8"/>
                                        </p:tgtEl>
                                        <p:attrNameLst>
                                          <p:attrName>ppt_w</p:attrName>
                                        </p:attrNameLst>
                                      </p:cBhvr>
                                      <p:tavLst>
                                        <p:tav tm="0">
                                          <p:val>
                                            <p:fltVal val="0"/>
                                          </p:val>
                                        </p:tav>
                                        <p:tav tm="100000">
                                          <p:val>
                                            <p:strVal val="#ppt_w"/>
                                          </p:val>
                                        </p:tav>
                                      </p:tavLst>
                                    </p:anim>
                                    <p:anim calcmode="lin" valueType="num">
                                      <p:cBhvr>
                                        <p:cTn id="26" dur="1000" fill="hold"/>
                                        <p:tgtEl>
                                          <p:spTgt spid="8"/>
                                        </p:tgtEl>
                                        <p:attrNameLst>
                                          <p:attrName>ppt_h</p:attrName>
                                        </p:attrNameLst>
                                      </p:cBhvr>
                                      <p:tavLst>
                                        <p:tav tm="0">
                                          <p:val>
                                            <p:fltVal val="0"/>
                                          </p:val>
                                        </p:tav>
                                        <p:tav tm="100000">
                                          <p:val>
                                            <p:strVal val="#ppt_h"/>
                                          </p:val>
                                        </p:tav>
                                      </p:tavLst>
                                    </p:anim>
                                    <p:anim calcmode="lin" valueType="num">
                                      <p:cBhvr>
                                        <p:cTn id="27" dur="1000" fill="hold"/>
                                        <p:tgtEl>
                                          <p:spTgt spid="8"/>
                                        </p:tgtEl>
                                        <p:attrNameLst>
                                          <p:attrName>style.rotation</p:attrName>
                                        </p:attrNameLst>
                                      </p:cBhvr>
                                      <p:tavLst>
                                        <p:tav tm="0">
                                          <p:val>
                                            <p:fltVal val="90"/>
                                          </p:val>
                                        </p:tav>
                                        <p:tav tm="100000">
                                          <p:val>
                                            <p:fltVal val="0"/>
                                          </p:val>
                                        </p:tav>
                                      </p:tavLst>
                                    </p:anim>
                                    <p:animEffect transition="in" filter="fade">
                                      <p:cBhvr>
                                        <p:cTn id="28"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9346" name="Rectangle 2"/>
          <p:cNvSpPr>
            <a:spLocks noGrp="1" noChangeArrowheads="1"/>
          </p:cNvSpPr>
          <p:nvPr>
            <p:ph type="title"/>
          </p:nvPr>
        </p:nvSpPr>
        <p:spPr/>
        <p:txBody>
          <a:bodyPr/>
          <a:lstStyle/>
          <a:p>
            <a:r>
              <a:rPr lang="en-US" altLang="en-US"/>
              <a:t>Public Key Cryptography</a:t>
            </a:r>
          </a:p>
        </p:txBody>
      </p:sp>
      <p:sp>
        <p:nvSpPr>
          <p:cNvPr id="4409347" name="Rectangle 3"/>
          <p:cNvSpPr>
            <a:spLocks noGrp="1" noChangeArrowheads="1"/>
          </p:cNvSpPr>
          <p:nvPr>
            <p:ph idx="1"/>
          </p:nvPr>
        </p:nvSpPr>
        <p:spPr/>
        <p:txBody>
          <a:bodyPr>
            <a:normAutofit lnSpcReduction="10000"/>
          </a:bodyPr>
          <a:lstStyle/>
          <a:p>
            <a:endParaRPr lang="en-US" altLang="en-US"/>
          </a:p>
          <a:p>
            <a:endParaRPr lang="en-US" altLang="en-US"/>
          </a:p>
          <a:p>
            <a:endParaRPr lang="en-US" altLang="en-US"/>
          </a:p>
          <a:p>
            <a:endParaRPr lang="en-US" altLang="en-US"/>
          </a:p>
          <a:p>
            <a:r>
              <a:rPr lang="en-US" altLang="en-US"/>
              <a:t>Two keys based on the prime factors of a large number</a:t>
            </a:r>
          </a:p>
          <a:p>
            <a:pPr lvl="1"/>
            <a:r>
              <a:rPr lang="en-US" altLang="en-US"/>
              <a:t>One key is used for encryption and the other for decryption</a:t>
            </a:r>
          </a:p>
          <a:p>
            <a:pPr lvl="1"/>
            <a:r>
              <a:rPr lang="en-US" altLang="en-US"/>
              <a:t>Examples: RSA, </a:t>
            </a:r>
            <a:r>
              <a:rPr lang="en-US" altLang="en-US" err="1"/>
              <a:t>Diffie</a:t>
            </a:r>
            <a:r>
              <a:rPr lang="en-US" altLang="en-US"/>
              <a:t>-Hellman</a:t>
            </a:r>
          </a:p>
          <a:p>
            <a:pPr lvl="1"/>
            <a:r>
              <a:rPr lang="en-US" altLang="en-US"/>
              <a:t>Also called asymmetric cryptography</a:t>
            </a:r>
          </a:p>
          <a:p>
            <a:r>
              <a:rPr lang="en-US" altLang="en-US"/>
              <a:t>VPN functions </a:t>
            </a:r>
          </a:p>
          <a:p>
            <a:pPr lvl="1"/>
            <a:r>
              <a:rPr lang="en-US" altLang="en-US"/>
              <a:t>Identity verification</a:t>
            </a:r>
          </a:p>
          <a:p>
            <a:pPr lvl="1"/>
            <a:r>
              <a:rPr lang="en-US" altLang="en-US"/>
              <a:t>Secret key exchange</a:t>
            </a:r>
          </a:p>
        </p:txBody>
      </p:sp>
      <p:sp>
        <p:nvSpPr>
          <p:cNvPr id="2" name="Slide Number Placeholder 1"/>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130</a:t>
            </a:fld>
            <a:endParaRPr lang="en-US">
              <a:solidFill>
                <a:schemeClr val="tx1">
                  <a:lumMod val="50000"/>
                  <a:lumOff val="50000"/>
                </a:schemeClr>
              </a:solidFill>
            </a:endParaRPr>
          </a:p>
        </p:txBody>
      </p:sp>
      <p:pic>
        <p:nvPicPr>
          <p:cNvPr id="4409348" name="Picture 4" descr="G1648_Public-Key-Cryptograp"/>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914900" y="2743201"/>
            <a:ext cx="8555832" cy="129063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50912904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RSA</a:t>
            </a:r>
          </a:p>
        </p:txBody>
      </p:sp>
      <p:sp>
        <p:nvSpPr>
          <p:cNvPr id="4" name="Content Placeholder 3"/>
          <p:cNvSpPr>
            <a:spLocks noGrp="1"/>
          </p:cNvSpPr>
          <p:nvPr>
            <p:ph idx="1"/>
          </p:nvPr>
        </p:nvSpPr>
        <p:spPr/>
        <p:txBody>
          <a:bodyPr>
            <a:normAutofit/>
          </a:bodyPr>
          <a:lstStyle/>
          <a:p>
            <a:r>
              <a:rPr lang="en-US" err="1"/>
              <a:t>Diffie</a:t>
            </a:r>
            <a:r>
              <a:rPr lang="en-US"/>
              <a:t>-Hellman started the path to public key cryptography</a:t>
            </a:r>
          </a:p>
          <a:p>
            <a:r>
              <a:rPr lang="en-US"/>
              <a:t>RSA was the first approach to public key systems</a:t>
            </a:r>
          </a:p>
          <a:p>
            <a:r>
              <a:rPr lang="en-US"/>
              <a:t>Developed at MIT in 1977</a:t>
            </a:r>
          </a:p>
          <a:p>
            <a:r>
              <a:rPr lang="en-US"/>
              <a:t>Based on creating a public key from the product of two large prime numbers</a:t>
            </a:r>
          </a:p>
          <a:p>
            <a:r>
              <a:rPr lang="en-US"/>
              <a:t>Key length today is 2048 bits</a:t>
            </a:r>
          </a:p>
          <a:p>
            <a:r>
              <a:rPr lang="en-US"/>
              <a:t>Used in certificates </a:t>
            </a:r>
          </a:p>
          <a:p>
            <a:r>
              <a:rPr lang="en-US"/>
              <a:t>Being replaced by Elliptic-curve cryptography using 256-bit keys</a:t>
            </a:r>
          </a:p>
          <a:p>
            <a:endParaRPr lang="en-US"/>
          </a:p>
        </p:txBody>
      </p:sp>
      <p:sp>
        <p:nvSpPr>
          <p:cNvPr id="3" name="Slide Number Placeholder 2"/>
          <p:cNvSpPr>
            <a:spLocks noGrp="1"/>
          </p:cNvSpPr>
          <p:nvPr>
            <p:ph type="sldNum" sz="quarter" idx="4294967295"/>
          </p:nvPr>
        </p:nvSpPr>
        <p:spPr>
          <a:xfrm>
            <a:off x="0" y="9534525"/>
            <a:ext cx="4114800" cy="547688"/>
          </a:xfrm>
          <a:prstGeom prst="rect">
            <a:avLst/>
          </a:prstGeom>
        </p:spPr>
        <p:txBody>
          <a:bodyPr/>
          <a:lstStyle/>
          <a:p>
            <a:fld id="{52B67DA5-9DD9-4BCA-8370-9CA784C1DE92}" type="slidenum">
              <a:rPr lang="en-US" smtClean="0">
                <a:solidFill>
                  <a:schemeClr val="tx1">
                    <a:lumMod val="50000"/>
                    <a:lumOff val="50000"/>
                  </a:schemeClr>
                </a:solidFill>
              </a:rPr>
              <a:pPr/>
              <a:t>131</a:t>
            </a:fld>
            <a:endParaRPr lang="en-US">
              <a:solidFill>
                <a:schemeClr val="tx1">
                  <a:lumMod val="50000"/>
                  <a:lumOff val="50000"/>
                </a:schemeClr>
              </a:solidFill>
            </a:endParaRPr>
          </a:p>
        </p:txBody>
      </p:sp>
    </p:spTree>
    <p:custDataLst>
      <p:tags r:id="rId1"/>
    </p:custDataLst>
    <p:extLst>
      <p:ext uri="{BB962C8B-B14F-4D97-AF65-F5344CB8AC3E}">
        <p14:creationId xmlns:p14="http://schemas.microsoft.com/office/powerpoint/2010/main" val="397851222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Back to TLS: The Same Three Tools in Every Web Session</a:t>
            </a:r>
          </a:p>
        </p:txBody>
      </p:sp>
      <p:sp>
        <p:nvSpPr>
          <p:cNvPr id="3" name="Tool 1"/>
          <p:cNvSpPr/>
          <p:nvPr/>
        </p:nvSpPr>
        <p:spPr>
          <a:xfrm>
            <a:off x="1257300" y="2697480"/>
            <a:ext cx="5029200" cy="3291840"/>
          </a:xfrm>
          <a:prstGeom prst="roundRect">
            <a:avLst/>
          </a:prstGeom>
          <a:solidFill>
            <a:srgbClr val="D9E2F3"/>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Tool 1 name"/>
          <p:cNvSpPr txBox="1"/>
          <p:nvPr/>
        </p:nvSpPr>
        <p:spPr>
          <a:xfrm>
            <a:off x="1531620" y="2880360"/>
            <a:ext cx="4480560" cy="502920"/>
          </a:xfrm>
          <a:prstGeom prst="rect">
            <a:avLst/>
          </a:prstGeom>
          <a:noFill/>
        </p:spPr>
        <p:txBody>
          <a:bodyPr wrap="square" lIns="0" tIns="0" rIns="0" bIns="0" anchor="t">
            <a:spAutoFit/>
          </a:bodyPr>
          <a:lstStyle/>
          <a:p>
            <a:pPr algn="l">
              <a:spcAft>
                <a:spcPts val="600"/>
              </a:spcAft>
            </a:pPr>
            <a:r>
              <a:rPr sz="2800" b="1" i="0">
                <a:solidFill>
                  <a:srgbClr val="000000"/>
                </a:solidFill>
                <a:latin typeface="Helvetica Neue"/>
                <a:ea typeface="Helvetica Neue"/>
                <a:cs typeface="Helvetica Neue"/>
              </a:rPr>
              <a:t>Public key</a:t>
            </a:r>
          </a:p>
        </p:txBody>
      </p:sp>
      <p:sp>
        <p:nvSpPr>
          <p:cNvPr id="5" name="Tool 1 role"/>
          <p:cNvSpPr txBox="1"/>
          <p:nvPr/>
        </p:nvSpPr>
        <p:spPr>
          <a:xfrm>
            <a:off x="1531620" y="3474720"/>
            <a:ext cx="4480560" cy="411480"/>
          </a:xfrm>
          <a:prstGeom prst="rect">
            <a:avLst/>
          </a:prstGeom>
          <a:noFill/>
        </p:spPr>
        <p:txBody>
          <a:bodyPr wrap="square" lIns="0" tIns="0" rIns="0" bIns="0" anchor="t">
            <a:spAutoFit/>
          </a:bodyPr>
          <a:lstStyle/>
          <a:p>
            <a:pPr algn="l">
              <a:spcAft>
                <a:spcPts val="600"/>
              </a:spcAft>
            </a:pPr>
            <a:r>
              <a:rPr sz="1900" b="1" i="0">
                <a:solidFill>
                  <a:srgbClr val="2F75B5"/>
                </a:solidFill>
                <a:latin typeface="Helvetica Neue"/>
                <a:ea typeface="Helvetica Neue"/>
                <a:cs typeface="Helvetica Neue"/>
              </a:rPr>
              <a:t>The introduction</a:t>
            </a:r>
          </a:p>
        </p:txBody>
      </p:sp>
      <p:sp>
        <p:nvSpPr>
          <p:cNvPr id="6" name="Tool 1 desc"/>
          <p:cNvSpPr txBox="1"/>
          <p:nvPr/>
        </p:nvSpPr>
        <p:spPr>
          <a:xfrm>
            <a:off x="1531620" y="3977639"/>
            <a:ext cx="4480560" cy="1828800"/>
          </a:xfrm>
          <a:prstGeom prst="rect">
            <a:avLst/>
          </a:prstGeom>
          <a:noFill/>
        </p:spPr>
        <p:txBody>
          <a:bodyPr wrap="square" lIns="0" tIns="0" rIns="0" bIns="0" anchor="t">
            <a:spAutoFit/>
          </a:bodyPr>
          <a:lstStyle/>
          <a:p>
            <a:pPr algn="l">
              <a:spcAft>
                <a:spcPts val="600"/>
              </a:spcAft>
            </a:pPr>
            <a:r>
              <a:rPr sz="1700" b="0" i="0">
                <a:solidFill>
                  <a:srgbClr val="000000"/>
                </a:solidFill>
                <a:latin typeface="Helvetica Neue"/>
                <a:ea typeface="Helvetica Neue"/>
                <a:cs typeface="Helvetica Neue"/>
              </a:rPr>
              <a:t>Proves the server is who it claims (certificate) and lets both sides agree on a secret key without sending it</a:t>
            </a:r>
          </a:p>
        </p:txBody>
      </p:sp>
      <p:sp>
        <p:nvSpPr>
          <p:cNvPr id="7" name="Tool 2"/>
          <p:cNvSpPr/>
          <p:nvPr/>
        </p:nvSpPr>
        <p:spPr>
          <a:xfrm>
            <a:off x="6633972" y="2697480"/>
            <a:ext cx="5029200" cy="3291840"/>
          </a:xfrm>
          <a:prstGeom prst="roundRect">
            <a:avLst/>
          </a:prstGeom>
          <a:solidFill>
            <a:srgbClr val="EEF2F8"/>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Tool 2 name"/>
          <p:cNvSpPr txBox="1"/>
          <p:nvPr/>
        </p:nvSpPr>
        <p:spPr>
          <a:xfrm>
            <a:off x="6908292" y="2880360"/>
            <a:ext cx="4480560" cy="502920"/>
          </a:xfrm>
          <a:prstGeom prst="rect">
            <a:avLst/>
          </a:prstGeom>
          <a:noFill/>
        </p:spPr>
        <p:txBody>
          <a:bodyPr wrap="square" lIns="0" tIns="0" rIns="0" bIns="0" anchor="t">
            <a:spAutoFit/>
          </a:bodyPr>
          <a:lstStyle/>
          <a:p>
            <a:pPr algn="l">
              <a:spcAft>
                <a:spcPts val="600"/>
              </a:spcAft>
            </a:pPr>
            <a:r>
              <a:rPr sz="2800" b="1" i="0">
                <a:solidFill>
                  <a:srgbClr val="000000"/>
                </a:solidFill>
                <a:latin typeface="Helvetica Neue"/>
                <a:ea typeface="Helvetica Neue"/>
                <a:cs typeface="Helvetica Neue"/>
              </a:rPr>
              <a:t>Secret key</a:t>
            </a:r>
          </a:p>
        </p:txBody>
      </p:sp>
      <p:sp>
        <p:nvSpPr>
          <p:cNvPr id="9" name="Tool 2 role"/>
          <p:cNvSpPr txBox="1"/>
          <p:nvPr/>
        </p:nvSpPr>
        <p:spPr>
          <a:xfrm>
            <a:off x="6908292" y="3474720"/>
            <a:ext cx="4480560" cy="411480"/>
          </a:xfrm>
          <a:prstGeom prst="rect">
            <a:avLst/>
          </a:prstGeom>
          <a:noFill/>
        </p:spPr>
        <p:txBody>
          <a:bodyPr wrap="square" lIns="0" tIns="0" rIns="0" bIns="0" anchor="t">
            <a:spAutoFit/>
          </a:bodyPr>
          <a:lstStyle/>
          <a:p>
            <a:pPr algn="l">
              <a:spcAft>
                <a:spcPts val="600"/>
              </a:spcAft>
            </a:pPr>
            <a:r>
              <a:rPr sz="1900" b="1" i="0">
                <a:solidFill>
                  <a:srgbClr val="2F75B5"/>
                </a:solidFill>
                <a:latin typeface="Helvetica Neue"/>
                <a:ea typeface="Helvetica Neue"/>
                <a:cs typeface="Helvetica Neue"/>
              </a:rPr>
              <a:t>The conversation</a:t>
            </a:r>
          </a:p>
        </p:txBody>
      </p:sp>
      <p:sp>
        <p:nvSpPr>
          <p:cNvPr id="10" name="Tool 2 desc"/>
          <p:cNvSpPr txBox="1"/>
          <p:nvPr/>
        </p:nvSpPr>
        <p:spPr>
          <a:xfrm>
            <a:off x="6908292" y="3977639"/>
            <a:ext cx="4480560" cy="1828800"/>
          </a:xfrm>
          <a:prstGeom prst="rect">
            <a:avLst/>
          </a:prstGeom>
          <a:noFill/>
        </p:spPr>
        <p:txBody>
          <a:bodyPr wrap="square" lIns="0" tIns="0" rIns="0" bIns="0" anchor="t">
            <a:spAutoFit/>
          </a:bodyPr>
          <a:lstStyle/>
          <a:p>
            <a:pPr algn="l">
              <a:spcAft>
                <a:spcPts val="600"/>
              </a:spcAft>
            </a:pPr>
            <a:r>
              <a:rPr sz="1700" b="0" i="0">
                <a:solidFill>
                  <a:srgbClr val="000000"/>
                </a:solidFill>
                <a:latin typeface="Helvetica Neue"/>
                <a:ea typeface="Helvetica Neue"/>
                <a:cs typeface="Helvetica Neue"/>
              </a:rPr>
              <a:t>Encrypts every byte of the session with that shared key — fast enough for video and file transfers</a:t>
            </a:r>
          </a:p>
        </p:txBody>
      </p:sp>
      <p:sp>
        <p:nvSpPr>
          <p:cNvPr id="11" name="Tool 3"/>
          <p:cNvSpPr/>
          <p:nvPr/>
        </p:nvSpPr>
        <p:spPr>
          <a:xfrm>
            <a:off x="12010644" y="2697480"/>
            <a:ext cx="5029200" cy="3291840"/>
          </a:xfrm>
          <a:prstGeom prst="roundRect">
            <a:avLst/>
          </a:prstGeom>
          <a:solidFill>
            <a:srgbClr val="F2F2F2"/>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2" name="Tool 3 name"/>
          <p:cNvSpPr txBox="1"/>
          <p:nvPr/>
        </p:nvSpPr>
        <p:spPr>
          <a:xfrm>
            <a:off x="12284964" y="2880360"/>
            <a:ext cx="4480560" cy="502920"/>
          </a:xfrm>
          <a:prstGeom prst="rect">
            <a:avLst/>
          </a:prstGeom>
          <a:noFill/>
        </p:spPr>
        <p:txBody>
          <a:bodyPr wrap="square" lIns="0" tIns="0" rIns="0" bIns="0" anchor="t">
            <a:spAutoFit/>
          </a:bodyPr>
          <a:lstStyle/>
          <a:p>
            <a:pPr algn="l">
              <a:spcAft>
                <a:spcPts val="600"/>
              </a:spcAft>
            </a:pPr>
            <a:r>
              <a:rPr sz="2800" b="1" i="0">
                <a:solidFill>
                  <a:srgbClr val="000000"/>
                </a:solidFill>
                <a:latin typeface="Helvetica Neue"/>
                <a:ea typeface="Helvetica Neue"/>
                <a:cs typeface="Helvetica Neue"/>
              </a:rPr>
              <a:t>Hash</a:t>
            </a:r>
          </a:p>
        </p:txBody>
      </p:sp>
      <p:sp>
        <p:nvSpPr>
          <p:cNvPr id="13" name="Tool 3 role"/>
          <p:cNvSpPr txBox="1"/>
          <p:nvPr/>
        </p:nvSpPr>
        <p:spPr>
          <a:xfrm>
            <a:off x="12284964" y="3474720"/>
            <a:ext cx="4480560" cy="411480"/>
          </a:xfrm>
          <a:prstGeom prst="rect">
            <a:avLst/>
          </a:prstGeom>
          <a:noFill/>
        </p:spPr>
        <p:txBody>
          <a:bodyPr wrap="square" lIns="0" tIns="0" rIns="0" bIns="0" anchor="t">
            <a:spAutoFit/>
          </a:bodyPr>
          <a:lstStyle/>
          <a:p>
            <a:pPr algn="l">
              <a:spcAft>
                <a:spcPts val="600"/>
              </a:spcAft>
            </a:pPr>
            <a:r>
              <a:rPr sz="1900" b="1" i="0">
                <a:solidFill>
                  <a:srgbClr val="2F75B5"/>
                </a:solidFill>
                <a:latin typeface="Helvetica Neue"/>
                <a:ea typeface="Helvetica Neue"/>
                <a:cs typeface="Helvetica Neue"/>
              </a:rPr>
              <a:t>The seal</a:t>
            </a:r>
          </a:p>
        </p:txBody>
      </p:sp>
      <p:sp>
        <p:nvSpPr>
          <p:cNvPr id="14" name="Tool 3 desc"/>
          <p:cNvSpPr txBox="1"/>
          <p:nvPr/>
        </p:nvSpPr>
        <p:spPr>
          <a:xfrm>
            <a:off x="12284964" y="3977639"/>
            <a:ext cx="4480560" cy="1828800"/>
          </a:xfrm>
          <a:prstGeom prst="rect">
            <a:avLst/>
          </a:prstGeom>
          <a:noFill/>
        </p:spPr>
        <p:txBody>
          <a:bodyPr wrap="square" lIns="0" tIns="0" rIns="0" bIns="0" anchor="t">
            <a:spAutoFit/>
          </a:bodyPr>
          <a:lstStyle/>
          <a:p>
            <a:pPr algn="l">
              <a:spcAft>
                <a:spcPts val="600"/>
              </a:spcAft>
            </a:pPr>
            <a:r>
              <a:rPr sz="1700" b="0" i="0">
                <a:solidFill>
                  <a:srgbClr val="000000"/>
                </a:solidFill>
                <a:latin typeface="Helvetica Neue"/>
                <a:ea typeface="Helvetica Neue"/>
                <a:cs typeface="Helvetica Neue"/>
              </a:rPr>
              <a:t>Fingerprints that reveal any tampering, and a part of every signature</a:t>
            </a:r>
          </a:p>
        </p:txBody>
      </p:sp>
      <p:sp>
        <p:nvSpPr>
          <p:cNvPr id="15" name="Timeline heading"/>
          <p:cNvSpPr txBox="1"/>
          <p:nvPr/>
        </p:nvSpPr>
        <p:spPr>
          <a:xfrm>
            <a:off x="1257300" y="6355080"/>
            <a:ext cx="15773400" cy="411480"/>
          </a:xfrm>
          <a:prstGeom prst="rect">
            <a:avLst/>
          </a:prstGeom>
          <a:noFill/>
        </p:spPr>
        <p:txBody>
          <a:bodyPr wrap="square" lIns="0" tIns="0" rIns="0" bIns="0" anchor="t">
            <a:spAutoFit/>
          </a:bodyPr>
          <a:lstStyle/>
          <a:p>
            <a:pPr algn="l">
              <a:spcAft>
                <a:spcPts val="600"/>
              </a:spcAft>
            </a:pPr>
            <a:r>
              <a:rPr sz="2000" b="1" i="0">
                <a:solidFill>
                  <a:srgbClr val="000000"/>
                </a:solidFill>
                <a:latin typeface="Helvetica Neue"/>
                <a:ea typeface="Helvetica Neue"/>
                <a:cs typeface="Helvetica Neue"/>
              </a:rPr>
              <a:t>One web session, start to finish</a:t>
            </a:r>
          </a:p>
        </p:txBody>
      </p:sp>
      <p:sp>
        <p:nvSpPr>
          <p:cNvPr id="16" name="Handshake bar"/>
          <p:cNvSpPr/>
          <p:nvPr/>
        </p:nvSpPr>
        <p:spPr>
          <a:xfrm>
            <a:off x="1257300" y="6903720"/>
            <a:ext cx="2926080" cy="685800"/>
          </a:xfrm>
          <a:prstGeom prst="rect">
            <a:avLst/>
          </a:prstGeom>
          <a:solidFill>
            <a:srgbClr val="D9E2F3"/>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000000"/>
                </a:solidFill>
                <a:latin typeface="Helvetica Neue"/>
                <a:ea typeface="Helvetica Neue"/>
                <a:cs typeface="Helvetica Neue"/>
              </a:rPr>
              <a:t>Handshake</a:t>
            </a:r>
          </a:p>
        </p:txBody>
      </p:sp>
      <p:sp>
        <p:nvSpPr>
          <p:cNvPr id="17" name="Session bar"/>
          <p:cNvSpPr/>
          <p:nvPr/>
        </p:nvSpPr>
        <p:spPr>
          <a:xfrm>
            <a:off x="4183380" y="6903720"/>
            <a:ext cx="12847320" cy="685800"/>
          </a:xfrm>
          <a:prstGeom prst="rect">
            <a:avLst/>
          </a:prstGeom>
          <a:solidFill>
            <a:srgbClr val="EEF2F8"/>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000000"/>
                </a:solidFill>
                <a:latin typeface="Helvetica Neue"/>
                <a:ea typeface="Helvetica Neue"/>
                <a:cs typeface="Helvetica Neue"/>
              </a:rPr>
              <a:t>Encrypted session</a:t>
            </a:r>
          </a:p>
        </p:txBody>
      </p:sp>
      <p:sp>
        <p:nvSpPr>
          <p:cNvPr id="18" name="Handshake note"/>
          <p:cNvSpPr txBox="1"/>
          <p:nvPr/>
        </p:nvSpPr>
        <p:spPr>
          <a:xfrm>
            <a:off x="1257300" y="7726679"/>
            <a:ext cx="2926080" cy="822960"/>
          </a:xfrm>
          <a:prstGeom prst="rect">
            <a:avLst/>
          </a:prstGeom>
          <a:noFill/>
        </p:spPr>
        <p:txBody>
          <a:bodyPr wrap="square" lIns="0" tIns="0" rIns="0" bIns="0" anchor="t">
            <a:spAutoFit/>
          </a:bodyPr>
          <a:lstStyle/>
          <a:p>
            <a:pPr algn="ctr">
              <a:spcAft>
                <a:spcPts val="600"/>
              </a:spcAft>
            </a:pPr>
            <a:r>
              <a:rPr sz="1500" b="0" i="0">
                <a:solidFill>
                  <a:srgbClr val="000000"/>
                </a:solidFill>
                <a:latin typeface="Helvetica Neue"/>
                <a:ea typeface="Helvetica Neue"/>
                <a:cs typeface="Helvetica Neue"/>
              </a:rPr>
              <a:t>Public key: a few milliseconds</a:t>
            </a:r>
          </a:p>
        </p:txBody>
      </p:sp>
      <p:sp>
        <p:nvSpPr>
          <p:cNvPr id="19" name="Session note"/>
          <p:cNvSpPr txBox="1"/>
          <p:nvPr/>
        </p:nvSpPr>
        <p:spPr>
          <a:xfrm>
            <a:off x="4183380" y="7726679"/>
            <a:ext cx="12847320" cy="822960"/>
          </a:xfrm>
          <a:prstGeom prst="rect">
            <a:avLst/>
          </a:prstGeom>
          <a:noFill/>
        </p:spPr>
        <p:txBody>
          <a:bodyPr wrap="square" lIns="0" tIns="0" rIns="0" bIns="0" anchor="t">
            <a:spAutoFit/>
          </a:bodyPr>
          <a:lstStyle/>
          <a:p>
            <a:pPr algn="ctr">
              <a:spcAft>
                <a:spcPts val="600"/>
              </a:spcAft>
            </a:pPr>
            <a:r>
              <a:rPr sz="1500" b="0" i="0">
                <a:solidFill>
                  <a:srgbClr val="000000"/>
                </a:solidFill>
                <a:latin typeface="Helvetica Neue"/>
                <a:ea typeface="Helvetica Neue"/>
                <a:cs typeface="Helvetica Neue"/>
              </a:rPr>
              <a:t>Secret key + hash checks on every packet, for as long as the session lasts</a:t>
            </a:r>
          </a:p>
        </p:txBody>
      </p:sp>
      <p:sp>
        <p:nvSpPr>
          <p:cNvPr id="20" name="Takeaway panel"/>
          <p:cNvSpPr/>
          <p:nvPr/>
        </p:nvSpPr>
        <p:spPr>
          <a:xfrm>
            <a:off x="1257300" y="8641080"/>
            <a:ext cx="15773400" cy="868680"/>
          </a:xfrm>
          <a:prstGeom prst="rect">
            <a:avLst/>
          </a:prstGeom>
          <a:solidFill>
            <a:srgbClr val="FFFFFF"/>
          </a:solidFill>
          <a:ln w="25400">
            <a:solidFill>
              <a:srgbClr val="2F75B5"/>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Takeaway"/>
          <p:cNvSpPr txBox="1"/>
          <p:nvPr/>
        </p:nvSpPr>
        <p:spPr>
          <a:xfrm>
            <a:off x="1554480" y="8686800"/>
            <a:ext cx="15179040" cy="777240"/>
          </a:xfrm>
          <a:prstGeom prst="rect">
            <a:avLst/>
          </a:prstGeom>
          <a:noFill/>
        </p:spPr>
        <p:txBody>
          <a:bodyPr wrap="square" lIns="0" tIns="0" rIns="0" bIns="0" anchor="ctr">
            <a:spAutoFit/>
          </a:bodyPr>
          <a:lstStyle/>
          <a:p>
            <a:pPr algn="ctr">
              <a:spcAft>
                <a:spcPts val="600"/>
              </a:spcAft>
            </a:pPr>
            <a:r>
              <a:rPr sz="1900" b="1" i="0">
                <a:solidFill>
                  <a:srgbClr val="2F75B5"/>
                </a:solidFill>
                <a:latin typeface="Helvetica Neue"/>
                <a:ea typeface="Helvetica Neue"/>
                <a:cs typeface="Helvetica Neue"/>
              </a:rPr>
              <a:t>Slow, clever math sets up a fast, simple key. VPNs, SD-WAN tunnels and encrypted email work the same way.</a:t>
            </a:r>
          </a:p>
        </p:txBody>
      </p:sp>
    </p:spTree>
    <p:extLst>
      <p:ext uri="{BB962C8B-B14F-4D97-AF65-F5344CB8AC3E}">
        <p14:creationId xmlns:p14="http://schemas.microsoft.com/office/powerpoint/2010/main" val="145739872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Public Key Infrastructure: Who Vouches for Whom</a:t>
            </a:r>
          </a:p>
        </p:txBody>
      </p:sp>
      <p:sp>
        <p:nvSpPr>
          <p:cNvPr id="3" name="Cert card"/>
          <p:cNvSpPr/>
          <p:nvPr/>
        </p:nvSpPr>
        <p:spPr>
          <a:xfrm>
            <a:off x="1257300" y="2697480"/>
            <a:ext cx="6949440" cy="5669280"/>
          </a:xfrm>
          <a:prstGeom prst="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Cert band"/>
          <p:cNvSpPr/>
          <p:nvPr/>
        </p:nvSpPr>
        <p:spPr>
          <a:xfrm>
            <a:off x="1280160" y="2724912"/>
            <a:ext cx="6903720" cy="731520"/>
          </a:xfrm>
          <a:prstGeom prst="rect">
            <a:avLst/>
          </a:prstGeom>
          <a:solidFill>
            <a:srgbClr val="D9E2F3"/>
          </a:solidFill>
          <a:ln w="6350">
            <a:solidFill>
              <a:srgbClr val="D9E2F3"/>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Cert band text"/>
          <p:cNvSpPr txBox="1"/>
          <p:nvPr/>
        </p:nvSpPr>
        <p:spPr>
          <a:xfrm>
            <a:off x="1554480" y="2788920"/>
            <a:ext cx="6400800" cy="594360"/>
          </a:xfrm>
          <a:prstGeom prst="rect">
            <a:avLst/>
          </a:prstGeom>
          <a:noFill/>
        </p:spPr>
        <p:txBody>
          <a:bodyPr wrap="square" lIns="0" tIns="0" rIns="0" bIns="0" anchor="ctr">
            <a:spAutoFit/>
          </a:bodyPr>
          <a:lstStyle/>
          <a:p>
            <a:pPr algn="l">
              <a:spcAft>
                <a:spcPts val="600"/>
              </a:spcAft>
            </a:pPr>
            <a:r>
              <a:rPr sz="2200" b="1" i="0">
                <a:solidFill>
                  <a:srgbClr val="000000"/>
                </a:solidFill>
                <a:latin typeface="Helvetica Neue"/>
                <a:ea typeface="Helvetica Neue"/>
                <a:cs typeface="Helvetica Neue"/>
              </a:rPr>
              <a:t>Inside a certificate</a:t>
            </a:r>
          </a:p>
        </p:txBody>
      </p:sp>
      <p:sp>
        <p:nvSpPr>
          <p:cNvPr id="6" name="Field 1 key"/>
          <p:cNvSpPr txBox="1"/>
          <p:nvPr/>
        </p:nvSpPr>
        <p:spPr>
          <a:xfrm>
            <a:off x="1600200" y="3703320"/>
            <a:ext cx="2011680" cy="731520"/>
          </a:xfrm>
          <a:prstGeom prst="rect">
            <a:avLst/>
          </a:prstGeom>
          <a:noFill/>
        </p:spPr>
        <p:txBody>
          <a:bodyPr wrap="square" lIns="0" tIns="0" rIns="0" bIns="0" anchor="t">
            <a:spAutoFit/>
          </a:bodyPr>
          <a:lstStyle/>
          <a:p>
            <a:pPr algn="l">
              <a:spcAft>
                <a:spcPts val="600"/>
              </a:spcAft>
            </a:pPr>
            <a:r>
              <a:rPr sz="1800" b="1" i="0">
                <a:solidFill>
                  <a:srgbClr val="2F75B5"/>
                </a:solidFill>
                <a:latin typeface="Helvetica Neue"/>
                <a:ea typeface="Helvetica Neue"/>
                <a:cs typeface="Helvetica Neue"/>
              </a:rPr>
              <a:t>Subject</a:t>
            </a:r>
          </a:p>
        </p:txBody>
      </p:sp>
      <p:sp>
        <p:nvSpPr>
          <p:cNvPr id="7" name="Field 1 value"/>
          <p:cNvSpPr txBox="1"/>
          <p:nvPr/>
        </p:nvSpPr>
        <p:spPr>
          <a:xfrm>
            <a:off x="3611880" y="3703320"/>
            <a:ext cx="4389120" cy="731520"/>
          </a:xfrm>
          <a:prstGeom prst="rect">
            <a:avLst/>
          </a:prstGeom>
          <a:noFill/>
        </p:spPr>
        <p:txBody>
          <a:bodyPr wrap="square" lIns="0" tIns="0" rIns="0" bIns="0" anchor="t">
            <a:spAutoFit/>
          </a:bodyPr>
          <a:lstStyle/>
          <a:p>
            <a:pPr algn="l">
              <a:spcAft>
                <a:spcPts val="600"/>
              </a:spcAft>
            </a:pPr>
            <a:r>
              <a:rPr sz="1800" b="0" i="0">
                <a:solidFill>
                  <a:srgbClr val="000000"/>
                </a:solidFill>
                <a:latin typeface="Helvetica Neue"/>
                <a:ea typeface="Helvetica Neue"/>
                <a:cs typeface="Helvetica Neue"/>
              </a:rPr>
              <a:t>www.examplebank.com</a:t>
            </a:r>
          </a:p>
        </p:txBody>
      </p:sp>
      <p:cxnSp>
        <p:nvCxnSpPr>
          <p:cNvPr id="8" name="Field rule 1"/>
          <p:cNvCxnSpPr/>
          <p:nvPr/>
        </p:nvCxnSpPr>
        <p:spPr>
          <a:xfrm>
            <a:off x="1600200" y="4434840"/>
            <a:ext cx="626364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9" name="Field 2 key"/>
          <p:cNvSpPr txBox="1"/>
          <p:nvPr/>
        </p:nvSpPr>
        <p:spPr>
          <a:xfrm>
            <a:off x="1600200" y="4599431"/>
            <a:ext cx="2011680" cy="731520"/>
          </a:xfrm>
          <a:prstGeom prst="rect">
            <a:avLst/>
          </a:prstGeom>
          <a:noFill/>
        </p:spPr>
        <p:txBody>
          <a:bodyPr wrap="square" lIns="0" tIns="0" rIns="0" bIns="0" anchor="t">
            <a:spAutoFit/>
          </a:bodyPr>
          <a:lstStyle/>
          <a:p>
            <a:pPr algn="l">
              <a:spcAft>
                <a:spcPts val="600"/>
              </a:spcAft>
            </a:pPr>
            <a:r>
              <a:rPr sz="1800" b="1" i="0">
                <a:solidFill>
                  <a:srgbClr val="2F75B5"/>
                </a:solidFill>
                <a:latin typeface="Helvetica Neue"/>
                <a:ea typeface="Helvetica Neue"/>
                <a:cs typeface="Helvetica Neue"/>
              </a:rPr>
              <a:t>Public key</a:t>
            </a:r>
          </a:p>
        </p:txBody>
      </p:sp>
      <p:sp>
        <p:nvSpPr>
          <p:cNvPr id="10" name="Field 2 value"/>
          <p:cNvSpPr txBox="1"/>
          <p:nvPr/>
        </p:nvSpPr>
        <p:spPr>
          <a:xfrm>
            <a:off x="3611880" y="4599431"/>
            <a:ext cx="4389120" cy="731520"/>
          </a:xfrm>
          <a:prstGeom prst="rect">
            <a:avLst/>
          </a:prstGeom>
          <a:noFill/>
        </p:spPr>
        <p:txBody>
          <a:bodyPr wrap="square" lIns="0" tIns="0" rIns="0" bIns="0" anchor="t">
            <a:spAutoFit/>
          </a:bodyPr>
          <a:lstStyle/>
          <a:p>
            <a:pPr algn="l">
              <a:spcAft>
                <a:spcPts val="600"/>
              </a:spcAft>
            </a:pPr>
            <a:r>
              <a:rPr sz="1800" b="0" i="0">
                <a:solidFill>
                  <a:srgbClr val="000000"/>
                </a:solidFill>
                <a:latin typeface="Helvetica Neue"/>
                <a:ea typeface="Helvetica Neue"/>
                <a:cs typeface="Helvetica Neue"/>
              </a:rPr>
              <a:t>the bank server’s public key</a:t>
            </a:r>
          </a:p>
        </p:txBody>
      </p:sp>
      <p:cxnSp>
        <p:nvCxnSpPr>
          <p:cNvPr id="11" name="Field rule 2"/>
          <p:cNvCxnSpPr/>
          <p:nvPr/>
        </p:nvCxnSpPr>
        <p:spPr>
          <a:xfrm>
            <a:off x="1600200" y="5330951"/>
            <a:ext cx="626364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2" name="Field 3 key"/>
          <p:cNvSpPr txBox="1"/>
          <p:nvPr/>
        </p:nvSpPr>
        <p:spPr>
          <a:xfrm>
            <a:off x="1600200" y="5495544"/>
            <a:ext cx="2011680" cy="731520"/>
          </a:xfrm>
          <a:prstGeom prst="rect">
            <a:avLst/>
          </a:prstGeom>
          <a:noFill/>
        </p:spPr>
        <p:txBody>
          <a:bodyPr wrap="square" lIns="0" tIns="0" rIns="0" bIns="0" anchor="t">
            <a:spAutoFit/>
          </a:bodyPr>
          <a:lstStyle/>
          <a:p>
            <a:pPr algn="l">
              <a:spcAft>
                <a:spcPts val="600"/>
              </a:spcAft>
            </a:pPr>
            <a:r>
              <a:rPr sz="1800" b="1" i="0">
                <a:solidFill>
                  <a:srgbClr val="2F75B5"/>
                </a:solidFill>
                <a:latin typeface="Helvetica Neue"/>
                <a:ea typeface="Helvetica Neue"/>
                <a:cs typeface="Helvetica Neue"/>
              </a:rPr>
              <a:t>Issuer</a:t>
            </a:r>
          </a:p>
        </p:txBody>
      </p:sp>
      <p:sp>
        <p:nvSpPr>
          <p:cNvPr id="13" name="Field 3 value"/>
          <p:cNvSpPr txBox="1"/>
          <p:nvPr/>
        </p:nvSpPr>
        <p:spPr>
          <a:xfrm>
            <a:off x="3611880" y="5495544"/>
            <a:ext cx="4389120" cy="731520"/>
          </a:xfrm>
          <a:prstGeom prst="rect">
            <a:avLst/>
          </a:prstGeom>
          <a:noFill/>
        </p:spPr>
        <p:txBody>
          <a:bodyPr wrap="square" lIns="0" tIns="0" rIns="0" bIns="0" anchor="t">
            <a:spAutoFit/>
          </a:bodyPr>
          <a:lstStyle/>
          <a:p>
            <a:pPr algn="l">
              <a:spcAft>
                <a:spcPts val="600"/>
              </a:spcAft>
            </a:pPr>
            <a:r>
              <a:rPr sz="1800" b="0" i="0">
                <a:solidFill>
                  <a:srgbClr val="000000"/>
                </a:solidFill>
                <a:latin typeface="Helvetica Neue"/>
                <a:ea typeface="Helvetica Neue"/>
                <a:cs typeface="Helvetica Neue"/>
              </a:rPr>
              <a:t>Example Trust CA</a:t>
            </a:r>
          </a:p>
        </p:txBody>
      </p:sp>
      <p:cxnSp>
        <p:nvCxnSpPr>
          <p:cNvPr id="14" name="Field rule 3"/>
          <p:cNvCxnSpPr/>
          <p:nvPr/>
        </p:nvCxnSpPr>
        <p:spPr>
          <a:xfrm>
            <a:off x="1600200" y="6227064"/>
            <a:ext cx="626364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Field 4 key"/>
          <p:cNvSpPr txBox="1"/>
          <p:nvPr/>
        </p:nvSpPr>
        <p:spPr>
          <a:xfrm>
            <a:off x="1600200" y="6391656"/>
            <a:ext cx="2011680" cy="731520"/>
          </a:xfrm>
          <a:prstGeom prst="rect">
            <a:avLst/>
          </a:prstGeom>
          <a:noFill/>
        </p:spPr>
        <p:txBody>
          <a:bodyPr wrap="square" lIns="0" tIns="0" rIns="0" bIns="0" anchor="t">
            <a:spAutoFit/>
          </a:bodyPr>
          <a:lstStyle/>
          <a:p>
            <a:pPr algn="l">
              <a:spcAft>
                <a:spcPts val="600"/>
              </a:spcAft>
            </a:pPr>
            <a:r>
              <a:rPr sz="1800" b="1" i="0">
                <a:solidFill>
                  <a:srgbClr val="2F75B5"/>
                </a:solidFill>
                <a:latin typeface="Helvetica Neue"/>
                <a:ea typeface="Helvetica Neue"/>
                <a:cs typeface="Helvetica Neue"/>
              </a:rPr>
              <a:t>Valid</a:t>
            </a:r>
          </a:p>
        </p:txBody>
      </p:sp>
      <p:sp>
        <p:nvSpPr>
          <p:cNvPr id="16" name="Field 4 value"/>
          <p:cNvSpPr txBox="1"/>
          <p:nvPr/>
        </p:nvSpPr>
        <p:spPr>
          <a:xfrm>
            <a:off x="3611880" y="6391656"/>
            <a:ext cx="4389120" cy="731520"/>
          </a:xfrm>
          <a:prstGeom prst="rect">
            <a:avLst/>
          </a:prstGeom>
          <a:noFill/>
        </p:spPr>
        <p:txBody>
          <a:bodyPr wrap="square" lIns="0" tIns="0" rIns="0" bIns="0" anchor="t">
            <a:spAutoFit/>
          </a:bodyPr>
          <a:lstStyle/>
          <a:p>
            <a:pPr algn="l">
              <a:spcAft>
                <a:spcPts val="600"/>
              </a:spcAft>
            </a:pPr>
            <a:r>
              <a:rPr sz="1800" b="0" i="0">
                <a:solidFill>
                  <a:srgbClr val="000000"/>
                </a:solidFill>
                <a:latin typeface="Helvetica Neue"/>
                <a:ea typeface="Helvetica Neue"/>
                <a:cs typeface="Helvetica Neue"/>
              </a:rPr>
              <a:t>Mar 1 – Sep 17, 2026</a:t>
            </a:r>
          </a:p>
        </p:txBody>
      </p:sp>
      <p:cxnSp>
        <p:nvCxnSpPr>
          <p:cNvPr id="17" name="Field rule 4"/>
          <p:cNvCxnSpPr/>
          <p:nvPr/>
        </p:nvCxnSpPr>
        <p:spPr>
          <a:xfrm>
            <a:off x="1600200" y="7123176"/>
            <a:ext cx="626364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8" name="Field 5 key"/>
          <p:cNvSpPr txBox="1"/>
          <p:nvPr/>
        </p:nvSpPr>
        <p:spPr>
          <a:xfrm>
            <a:off x="1600200" y="7287768"/>
            <a:ext cx="2011680" cy="731520"/>
          </a:xfrm>
          <a:prstGeom prst="rect">
            <a:avLst/>
          </a:prstGeom>
          <a:noFill/>
        </p:spPr>
        <p:txBody>
          <a:bodyPr wrap="square" lIns="0" tIns="0" rIns="0" bIns="0" anchor="t">
            <a:spAutoFit/>
          </a:bodyPr>
          <a:lstStyle/>
          <a:p>
            <a:pPr algn="l">
              <a:spcAft>
                <a:spcPts val="600"/>
              </a:spcAft>
            </a:pPr>
            <a:r>
              <a:rPr sz="1800" b="1" i="0">
                <a:solidFill>
                  <a:srgbClr val="2F75B5"/>
                </a:solidFill>
                <a:latin typeface="Helvetica Neue"/>
                <a:ea typeface="Helvetica Neue"/>
                <a:cs typeface="Helvetica Neue"/>
              </a:rPr>
              <a:t>Signature</a:t>
            </a:r>
          </a:p>
        </p:txBody>
      </p:sp>
      <p:sp>
        <p:nvSpPr>
          <p:cNvPr id="19" name="Field 5 value"/>
          <p:cNvSpPr txBox="1"/>
          <p:nvPr/>
        </p:nvSpPr>
        <p:spPr>
          <a:xfrm>
            <a:off x="3611880" y="7287768"/>
            <a:ext cx="4389120" cy="731520"/>
          </a:xfrm>
          <a:prstGeom prst="rect">
            <a:avLst/>
          </a:prstGeom>
          <a:noFill/>
        </p:spPr>
        <p:txBody>
          <a:bodyPr wrap="square" lIns="0" tIns="0" rIns="0" bIns="0" anchor="t">
            <a:spAutoFit/>
          </a:bodyPr>
          <a:lstStyle/>
          <a:p>
            <a:pPr algn="l">
              <a:spcAft>
                <a:spcPts val="600"/>
              </a:spcAft>
            </a:pPr>
            <a:r>
              <a:rPr sz="1800" b="0" i="0">
                <a:solidFill>
                  <a:srgbClr val="000000"/>
                </a:solidFill>
                <a:latin typeface="Helvetica Neue"/>
                <a:ea typeface="Helvetica Neue"/>
                <a:cs typeface="Helvetica Neue"/>
              </a:rPr>
              <a:t>the issuer’s seal over all of the above</a:t>
            </a:r>
          </a:p>
        </p:txBody>
      </p:sp>
      <p:pic>
        <p:nvPicPr>
          <p:cNvPr id="20" name="Cert lock"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0" y="7589519"/>
            <a:ext cx="548640" cy="548640"/>
          </a:xfrm>
          <a:prstGeom prst="rect">
            <a:avLst/>
          </a:prstGeom>
        </p:spPr>
      </p:pic>
      <p:sp>
        <p:nvSpPr>
          <p:cNvPr id="21" name="Roles heading"/>
          <p:cNvSpPr txBox="1"/>
          <p:nvPr/>
        </p:nvSpPr>
        <p:spPr>
          <a:xfrm>
            <a:off x="8778240" y="2697480"/>
            <a:ext cx="8229600" cy="45720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Who does what</a:t>
            </a:r>
          </a:p>
        </p:txBody>
      </p:sp>
      <p:sp>
        <p:nvSpPr>
          <p:cNvPr id="22" name="Role 1 marker"/>
          <p:cNvSpPr/>
          <p:nvPr/>
        </p:nvSpPr>
        <p:spPr>
          <a:xfrm>
            <a:off x="8778240" y="3337560"/>
            <a:ext cx="411480" cy="411480"/>
          </a:xfrm>
          <a:prstGeom prst="ellipse">
            <a:avLst/>
          </a:prstGeom>
          <a:solidFill>
            <a:srgbClr val="000000"/>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1</a:t>
            </a:r>
          </a:p>
        </p:txBody>
      </p:sp>
      <p:sp>
        <p:nvSpPr>
          <p:cNvPr id="23" name="Role 1"/>
          <p:cNvSpPr txBox="1"/>
          <p:nvPr/>
        </p:nvSpPr>
        <p:spPr>
          <a:xfrm>
            <a:off x="9418320" y="3291840"/>
            <a:ext cx="7589520" cy="1188720"/>
          </a:xfrm>
          <a:prstGeom prst="rect">
            <a:avLst/>
          </a:prstGeom>
          <a:noFill/>
        </p:spPr>
        <p:txBody>
          <a:bodyPr wrap="square" lIns="0" tIns="0" rIns="0" bIns="0" anchor="t">
            <a:spAutoFit/>
          </a:bodyPr>
          <a:lstStyle/>
          <a:p>
            <a:pPr algn="l">
              <a:spcAft>
                <a:spcPts val="200"/>
              </a:spcAft>
            </a:pPr>
            <a:r>
              <a:rPr sz="1900" b="1" i="0">
                <a:solidFill>
                  <a:srgbClr val="000000"/>
                </a:solidFill>
                <a:latin typeface="Helvetica Neue"/>
                <a:ea typeface="Helvetica Neue"/>
                <a:cs typeface="Helvetica Neue"/>
              </a:rPr>
              <a:t>Certificate authorities</a:t>
            </a:r>
          </a:p>
          <a:p>
            <a:pPr algn="l">
              <a:spcAft>
                <a:spcPts val="200"/>
              </a:spcAft>
            </a:pPr>
            <a:r>
              <a:rPr sz="1600" b="0" i="0">
                <a:solidFill>
                  <a:srgbClr val="000000"/>
                </a:solidFill>
                <a:latin typeface="Helvetica Neue"/>
                <a:ea typeface="Helvetica Neue"/>
                <a:cs typeface="Helvetica Neue"/>
              </a:rPr>
              <a:t>Check that the requester controls the name, then issue and sign certificates</a:t>
            </a:r>
          </a:p>
        </p:txBody>
      </p:sp>
      <p:sp>
        <p:nvSpPr>
          <p:cNvPr id="24" name="Role 2 marker"/>
          <p:cNvSpPr/>
          <p:nvPr/>
        </p:nvSpPr>
        <p:spPr>
          <a:xfrm>
            <a:off x="8778240" y="4636007"/>
            <a:ext cx="411480" cy="411480"/>
          </a:xfrm>
          <a:prstGeom prst="ellipse">
            <a:avLst/>
          </a:prstGeom>
          <a:solidFill>
            <a:srgbClr val="000000"/>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2</a:t>
            </a:r>
          </a:p>
        </p:txBody>
      </p:sp>
      <p:sp>
        <p:nvSpPr>
          <p:cNvPr id="25" name="Role 2"/>
          <p:cNvSpPr txBox="1"/>
          <p:nvPr/>
        </p:nvSpPr>
        <p:spPr>
          <a:xfrm>
            <a:off x="9418320" y="4590288"/>
            <a:ext cx="7589520" cy="1188720"/>
          </a:xfrm>
          <a:prstGeom prst="rect">
            <a:avLst/>
          </a:prstGeom>
          <a:noFill/>
        </p:spPr>
        <p:txBody>
          <a:bodyPr wrap="square" lIns="0" tIns="0" rIns="0" bIns="0" anchor="t">
            <a:spAutoFit/>
          </a:bodyPr>
          <a:lstStyle/>
          <a:p>
            <a:pPr algn="l">
              <a:spcAft>
                <a:spcPts val="200"/>
              </a:spcAft>
            </a:pPr>
            <a:r>
              <a:rPr sz="1900" b="1" i="0">
                <a:solidFill>
                  <a:srgbClr val="000000"/>
                </a:solidFill>
                <a:latin typeface="Helvetica Neue"/>
                <a:ea typeface="Helvetica Neue"/>
                <a:cs typeface="Helvetica Neue"/>
              </a:rPr>
              <a:t>Browser and phone makers</a:t>
            </a:r>
          </a:p>
          <a:p>
            <a:pPr algn="l">
              <a:spcAft>
                <a:spcPts val="200"/>
              </a:spcAft>
            </a:pPr>
            <a:r>
              <a:rPr sz="1600" b="0" i="0">
                <a:solidFill>
                  <a:srgbClr val="000000"/>
                </a:solidFill>
                <a:latin typeface="Helvetica Neue"/>
                <a:ea typeface="Helvetica Neue"/>
                <a:cs typeface="Helvetica Neue"/>
              </a:rPr>
              <a:t>Decide which root authorities billions of devices trust</a:t>
            </a:r>
          </a:p>
        </p:txBody>
      </p:sp>
      <p:sp>
        <p:nvSpPr>
          <p:cNvPr id="26" name="Role 3 marker"/>
          <p:cNvSpPr/>
          <p:nvPr/>
        </p:nvSpPr>
        <p:spPr>
          <a:xfrm>
            <a:off x="8778240" y="5934455"/>
            <a:ext cx="411480" cy="411480"/>
          </a:xfrm>
          <a:prstGeom prst="ellipse">
            <a:avLst/>
          </a:prstGeom>
          <a:solidFill>
            <a:srgbClr val="000000"/>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3</a:t>
            </a:r>
          </a:p>
        </p:txBody>
      </p:sp>
      <p:sp>
        <p:nvSpPr>
          <p:cNvPr id="27" name="Role 3"/>
          <p:cNvSpPr txBox="1"/>
          <p:nvPr/>
        </p:nvSpPr>
        <p:spPr>
          <a:xfrm>
            <a:off x="9418320" y="5888736"/>
            <a:ext cx="7589520" cy="1188720"/>
          </a:xfrm>
          <a:prstGeom prst="rect">
            <a:avLst/>
          </a:prstGeom>
          <a:noFill/>
        </p:spPr>
        <p:txBody>
          <a:bodyPr wrap="square" lIns="0" tIns="0" rIns="0" bIns="0" anchor="t">
            <a:spAutoFit/>
          </a:bodyPr>
          <a:lstStyle/>
          <a:p>
            <a:pPr algn="l">
              <a:spcAft>
                <a:spcPts val="200"/>
              </a:spcAft>
            </a:pPr>
            <a:r>
              <a:rPr sz="1900" b="1" i="0">
                <a:solidFill>
                  <a:srgbClr val="000000"/>
                </a:solidFill>
                <a:latin typeface="Helvetica Neue"/>
                <a:ea typeface="Helvetica Neue"/>
                <a:cs typeface="Helvetica Neue"/>
              </a:rPr>
              <a:t>Transparency logs</a:t>
            </a:r>
          </a:p>
          <a:p>
            <a:pPr algn="l">
              <a:spcAft>
                <a:spcPts val="200"/>
              </a:spcAft>
            </a:pPr>
            <a:r>
              <a:rPr sz="1600" b="0" i="0">
                <a:solidFill>
                  <a:srgbClr val="000000"/>
                </a:solidFill>
                <a:latin typeface="Helvetica Neue"/>
                <a:ea typeface="Helvetica Neue"/>
                <a:cs typeface="Helvetica Neue"/>
              </a:rPr>
              <a:t>Public record of every certificate issued — a bank can spot fakes for its own name</a:t>
            </a:r>
          </a:p>
        </p:txBody>
      </p:sp>
      <p:sp>
        <p:nvSpPr>
          <p:cNvPr id="28" name="Role 4 marker"/>
          <p:cNvSpPr/>
          <p:nvPr/>
        </p:nvSpPr>
        <p:spPr>
          <a:xfrm>
            <a:off x="8778240" y="7232903"/>
            <a:ext cx="411480" cy="411480"/>
          </a:xfrm>
          <a:prstGeom prst="ellipse">
            <a:avLst/>
          </a:prstGeom>
          <a:solidFill>
            <a:srgbClr val="2F75B5"/>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4</a:t>
            </a:r>
          </a:p>
        </p:txBody>
      </p:sp>
      <p:sp>
        <p:nvSpPr>
          <p:cNvPr id="29" name="Role 4"/>
          <p:cNvSpPr txBox="1"/>
          <p:nvPr/>
        </p:nvSpPr>
        <p:spPr>
          <a:xfrm>
            <a:off x="9418320" y="7187183"/>
            <a:ext cx="7589520" cy="1188720"/>
          </a:xfrm>
          <a:prstGeom prst="rect">
            <a:avLst/>
          </a:prstGeom>
          <a:noFill/>
        </p:spPr>
        <p:txBody>
          <a:bodyPr wrap="square" lIns="0" tIns="0" rIns="0" bIns="0" anchor="t">
            <a:spAutoFit/>
          </a:bodyPr>
          <a:lstStyle/>
          <a:p>
            <a:pPr algn="l">
              <a:spcAft>
                <a:spcPts val="200"/>
              </a:spcAft>
            </a:pPr>
            <a:r>
              <a:rPr sz="1900" b="1" i="0">
                <a:solidFill>
                  <a:srgbClr val="000000"/>
                </a:solidFill>
                <a:latin typeface="Helvetica Neue"/>
                <a:ea typeface="Helvetica Neue"/>
                <a:cs typeface="Helvetica Neue"/>
              </a:rPr>
              <a:t>The bank’s own private PKI</a:t>
            </a:r>
          </a:p>
          <a:p>
            <a:pPr algn="l">
              <a:spcAft>
                <a:spcPts val="200"/>
              </a:spcAft>
            </a:pPr>
            <a:r>
              <a:rPr sz="1600" b="0" i="0">
                <a:solidFill>
                  <a:srgbClr val="000000"/>
                </a:solidFill>
                <a:latin typeface="Helvetica Neue"/>
                <a:ea typeface="Helvetica Neue"/>
                <a:cs typeface="Helvetica Neue"/>
              </a:rPr>
              <a:t>An internal authority for VPN, Wi-Fi logins and devices. Who runs and protects it?</a:t>
            </a:r>
          </a:p>
        </p:txBody>
      </p:sp>
      <p:sp>
        <p:nvSpPr>
          <p:cNvPr id="30" name="PKI takeaway"/>
          <p:cNvSpPr/>
          <p:nvPr/>
        </p:nvSpPr>
        <p:spPr>
          <a:xfrm>
            <a:off x="1257300" y="8641080"/>
            <a:ext cx="15773400" cy="86868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PKI takeaway text"/>
          <p:cNvSpPr txBox="1"/>
          <p:nvPr/>
        </p:nvSpPr>
        <p:spPr>
          <a:xfrm>
            <a:off x="1554480" y="8686800"/>
            <a:ext cx="15179040" cy="777240"/>
          </a:xfrm>
          <a:prstGeom prst="rect">
            <a:avLst/>
          </a:prstGeom>
          <a:noFill/>
        </p:spPr>
        <p:txBody>
          <a:bodyPr wrap="square" lIns="0" tIns="0" rIns="0" bIns="0" anchor="ctr">
            <a:spAutoFit/>
          </a:bodyPr>
          <a:lstStyle/>
          <a:p>
            <a:pPr algn="ctr">
              <a:spcAft>
                <a:spcPts val="600"/>
              </a:spcAft>
            </a:pPr>
            <a:r>
              <a:rPr sz="1900" b="1" i="0">
                <a:solidFill>
                  <a:srgbClr val="000000"/>
                </a:solidFill>
                <a:latin typeface="Helvetica Neue"/>
                <a:ea typeface="Helvetica Neue"/>
                <a:cs typeface="Helvetica Neue"/>
              </a:rPr>
              <a:t>A certificate is only as trustworthy as the authority that signed it — and the people protecting that authority’s keys.</a:t>
            </a:r>
          </a:p>
        </p:txBody>
      </p:sp>
    </p:spTree>
    <p:extLst>
      <p:ext uri="{BB962C8B-B14F-4D97-AF65-F5344CB8AC3E}">
        <p14:creationId xmlns:p14="http://schemas.microsoft.com/office/powerpoint/2010/main" val="278019793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Certificate Lifecycle: Expiry, Revocation, and the Outages They Cause</a:t>
            </a:r>
          </a:p>
        </p:txBody>
      </p:sp>
      <p:sp>
        <p:nvSpPr>
          <p:cNvPr id="3" name="Step 1"/>
          <p:cNvSpPr/>
          <p:nvPr/>
        </p:nvSpPr>
        <p:spPr>
          <a:xfrm>
            <a:off x="1257300" y="3246120"/>
            <a:ext cx="2560320" cy="914400"/>
          </a:xfrm>
          <a:prstGeom prst="homePlate">
            <a:avLst/>
          </a:prstGeom>
          <a:solidFill>
            <a:srgbClr val="D9E2F3"/>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i="0">
                <a:solidFill>
                  <a:srgbClr val="000000"/>
                </a:solidFill>
                <a:latin typeface="Helvetica Neue"/>
                <a:ea typeface="Helvetica Neue"/>
                <a:cs typeface="Helvetica Neue"/>
              </a:rPr>
              <a:t>Request</a:t>
            </a:r>
          </a:p>
        </p:txBody>
      </p:sp>
      <p:sp>
        <p:nvSpPr>
          <p:cNvPr id="4" name="Step 2"/>
          <p:cNvSpPr/>
          <p:nvPr/>
        </p:nvSpPr>
        <p:spPr>
          <a:xfrm>
            <a:off x="3945635" y="3246120"/>
            <a:ext cx="2560320" cy="914400"/>
          </a:xfrm>
          <a:prstGeom prst="chevron">
            <a:avLst/>
          </a:prstGeom>
          <a:solidFill>
            <a:srgbClr val="D9E2F3"/>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i="0">
                <a:solidFill>
                  <a:srgbClr val="000000"/>
                </a:solidFill>
                <a:latin typeface="Helvetica Neue"/>
                <a:ea typeface="Helvetica Neue"/>
                <a:cs typeface="Helvetica Neue"/>
              </a:rPr>
              <a:t>Validate</a:t>
            </a:r>
          </a:p>
        </p:txBody>
      </p:sp>
      <p:sp>
        <p:nvSpPr>
          <p:cNvPr id="5" name="Step 3"/>
          <p:cNvSpPr/>
          <p:nvPr/>
        </p:nvSpPr>
        <p:spPr>
          <a:xfrm>
            <a:off x="6633972" y="3246120"/>
            <a:ext cx="2560320" cy="914400"/>
          </a:xfrm>
          <a:prstGeom prst="chevron">
            <a:avLst/>
          </a:prstGeom>
          <a:solidFill>
            <a:srgbClr val="D9E2F3"/>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i="0">
                <a:solidFill>
                  <a:srgbClr val="000000"/>
                </a:solidFill>
                <a:latin typeface="Helvetica Neue"/>
                <a:ea typeface="Helvetica Neue"/>
                <a:cs typeface="Helvetica Neue"/>
              </a:rPr>
              <a:t>Issue</a:t>
            </a:r>
          </a:p>
        </p:txBody>
      </p:sp>
      <p:sp>
        <p:nvSpPr>
          <p:cNvPr id="6" name="Step 4"/>
          <p:cNvSpPr/>
          <p:nvPr/>
        </p:nvSpPr>
        <p:spPr>
          <a:xfrm>
            <a:off x="9322308" y="3246120"/>
            <a:ext cx="2560320" cy="914400"/>
          </a:xfrm>
          <a:prstGeom prst="chevron">
            <a:avLst/>
          </a:prstGeom>
          <a:solidFill>
            <a:srgbClr val="D9E2F3"/>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i="0">
                <a:solidFill>
                  <a:srgbClr val="000000"/>
                </a:solidFill>
                <a:latin typeface="Helvetica Neue"/>
                <a:ea typeface="Helvetica Neue"/>
                <a:cs typeface="Helvetica Neue"/>
              </a:rPr>
              <a:t>Install</a:t>
            </a:r>
          </a:p>
        </p:txBody>
      </p:sp>
      <p:sp>
        <p:nvSpPr>
          <p:cNvPr id="7" name="Step 5"/>
          <p:cNvSpPr/>
          <p:nvPr/>
        </p:nvSpPr>
        <p:spPr>
          <a:xfrm>
            <a:off x="12010644" y="3246120"/>
            <a:ext cx="2560320" cy="914400"/>
          </a:xfrm>
          <a:prstGeom prst="chevron">
            <a:avLst/>
          </a:prstGeom>
          <a:solidFill>
            <a:srgbClr val="D9E2F3"/>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i="0">
                <a:solidFill>
                  <a:srgbClr val="000000"/>
                </a:solidFill>
                <a:latin typeface="Helvetica Neue"/>
                <a:ea typeface="Helvetica Neue"/>
                <a:cs typeface="Helvetica Neue"/>
              </a:rPr>
              <a:t>Monitor</a:t>
            </a:r>
          </a:p>
        </p:txBody>
      </p:sp>
      <p:sp>
        <p:nvSpPr>
          <p:cNvPr id="8" name="Step 6"/>
          <p:cNvSpPr/>
          <p:nvPr/>
        </p:nvSpPr>
        <p:spPr>
          <a:xfrm>
            <a:off x="14698980" y="3246120"/>
            <a:ext cx="2560320" cy="914400"/>
          </a:xfrm>
          <a:prstGeom prst="chevron">
            <a:avLst/>
          </a:prstGeom>
          <a:solidFill>
            <a:srgbClr val="2F75B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i="0">
                <a:solidFill>
                  <a:srgbClr val="FFFFFF"/>
                </a:solidFill>
                <a:latin typeface="Helvetica Neue"/>
                <a:ea typeface="Helvetica Neue"/>
                <a:cs typeface="Helvetica Neue"/>
              </a:rPr>
              <a:t>Renew</a:t>
            </a:r>
          </a:p>
        </p:txBody>
      </p:sp>
      <p:cxnSp>
        <p:nvCxnSpPr>
          <p:cNvPr id="9" name="Loop line"/>
          <p:cNvCxnSpPr/>
          <p:nvPr/>
        </p:nvCxnSpPr>
        <p:spPr>
          <a:xfrm>
            <a:off x="16367759" y="4206240"/>
            <a:ext cx="0" cy="365760"/>
          </a:xfrm>
          <a:prstGeom prst="line">
            <a:avLst/>
          </a:prstGeom>
          <a:ln w="38100">
            <a:solidFill>
              <a:srgbClr val="2F75B5"/>
            </a:solidFill>
          </a:ln>
        </p:spPr>
        <p:style>
          <a:lnRef idx="2">
            <a:schemeClr val="accent1"/>
          </a:lnRef>
          <a:fillRef idx="0">
            <a:schemeClr val="accent1"/>
          </a:fillRef>
          <a:effectRef idx="1">
            <a:schemeClr val="accent1"/>
          </a:effectRef>
          <a:fontRef idx="minor">
            <a:schemeClr val="tx1"/>
          </a:fontRef>
        </p:style>
      </p:cxnSp>
      <p:cxnSp>
        <p:nvCxnSpPr>
          <p:cNvPr id="10" name="Loop back"/>
          <p:cNvCxnSpPr/>
          <p:nvPr/>
        </p:nvCxnSpPr>
        <p:spPr>
          <a:xfrm flipH="1">
            <a:off x="2286000" y="4572000"/>
            <a:ext cx="14081759" cy="0"/>
          </a:xfrm>
          <a:prstGeom prst="line">
            <a:avLst/>
          </a:prstGeom>
          <a:ln w="3810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Loop up"/>
          <p:cNvCxnSpPr/>
          <p:nvPr/>
        </p:nvCxnSpPr>
        <p:spPr>
          <a:xfrm flipV="1">
            <a:off x="2286000" y="4206240"/>
            <a:ext cx="0" cy="365760"/>
          </a:xfrm>
          <a:prstGeom prst="line">
            <a:avLst/>
          </a:prstGeom>
          <a:ln w="38100">
            <a:solidFill>
              <a:srgbClr val="2F75B5"/>
            </a:solidFill>
          </a:ln>
        </p:spPr>
        <p:style>
          <a:lnRef idx="2">
            <a:schemeClr val="accent1"/>
          </a:lnRef>
          <a:fillRef idx="0">
            <a:schemeClr val="accent1"/>
          </a:fillRef>
          <a:effectRef idx="1">
            <a:schemeClr val="accent1"/>
          </a:effectRef>
          <a:fontRef idx="minor">
            <a:schemeClr val="tx1"/>
          </a:fontRef>
        </p:style>
      </p:cxnSp>
      <p:sp>
        <p:nvSpPr>
          <p:cNvPr id="12" name="Loop label"/>
          <p:cNvSpPr txBox="1"/>
          <p:nvPr/>
        </p:nvSpPr>
        <p:spPr>
          <a:xfrm>
            <a:off x="2743200" y="4636008"/>
            <a:ext cx="6400800" cy="365760"/>
          </a:xfrm>
          <a:prstGeom prst="rect">
            <a:avLst/>
          </a:prstGeom>
          <a:noFill/>
        </p:spPr>
        <p:txBody>
          <a:bodyPr wrap="square" lIns="0" tIns="0" rIns="0" bIns="0" anchor="t">
            <a:spAutoFit/>
          </a:bodyPr>
          <a:lstStyle/>
          <a:p>
            <a:pPr algn="ctr">
              <a:spcAft>
                <a:spcPts val="600"/>
              </a:spcAft>
            </a:pPr>
            <a:r>
              <a:rPr sz="1500" b="0" i="0">
                <a:solidFill>
                  <a:srgbClr val="2F75B5"/>
                </a:solidFill>
                <a:latin typeface="Helvetica Neue"/>
                <a:ea typeface="Helvetica Neue"/>
                <a:cs typeface="Helvetica Neue"/>
              </a:rPr>
              <a:t>and around again — before the old one expires</a:t>
            </a:r>
          </a:p>
        </p:txBody>
      </p:sp>
      <p:sp>
        <p:nvSpPr>
          <p:cNvPr id="13" name="Revoke note"/>
          <p:cNvSpPr txBox="1"/>
          <p:nvPr/>
        </p:nvSpPr>
        <p:spPr>
          <a:xfrm>
            <a:off x="10515600" y="4636008"/>
            <a:ext cx="5852160" cy="365760"/>
          </a:xfrm>
          <a:prstGeom prst="rect">
            <a:avLst/>
          </a:prstGeom>
          <a:noFill/>
        </p:spPr>
        <p:txBody>
          <a:bodyPr wrap="square" lIns="0" tIns="0" rIns="0" bIns="0" anchor="t">
            <a:spAutoFit/>
          </a:bodyPr>
          <a:lstStyle/>
          <a:p>
            <a:pPr algn="r">
              <a:spcAft>
                <a:spcPts val="600"/>
              </a:spcAft>
            </a:pPr>
            <a:r>
              <a:rPr sz="1500" b="1" i="0">
                <a:solidFill>
                  <a:srgbClr val="C00000"/>
                </a:solidFill>
                <a:latin typeface="Helvetica Neue"/>
                <a:ea typeface="Helvetica Neue"/>
                <a:cs typeface="Helvetica Neue"/>
              </a:rPr>
              <a:t>Or revoke early if the key is lost or stolen</a:t>
            </a:r>
          </a:p>
        </p:txBody>
      </p:sp>
      <p:sp>
        <p:nvSpPr>
          <p:cNvPr id="14" name="Lifetimes heading"/>
          <p:cNvSpPr txBox="1"/>
          <p:nvPr/>
        </p:nvSpPr>
        <p:spPr>
          <a:xfrm>
            <a:off x="1257300" y="5257800"/>
            <a:ext cx="7863840" cy="457200"/>
          </a:xfrm>
          <a:prstGeom prst="rect">
            <a:avLst/>
          </a:prstGeom>
          <a:noFill/>
        </p:spPr>
        <p:txBody>
          <a:bodyPr wrap="square" lIns="0" tIns="0" rIns="0" bIns="0" anchor="t">
            <a:spAutoFit/>
          </a:bodyPr>
          <a:lstStyle/>
          <a:p>
            <a:pPr algn="l">
              <a:spcAft>
                <a:spcPts val="600"/>
              </a:spcAft>
            </a:pPr>
            <a:r>
              <a:rPr sz="2100" b="1" i="0">
                <a:solidFill>
                  <a:srgbClr val="000000"/>
                </a:solidFill>
                <a:latin typeface="Helvetica Neue"/>
                <a:ea typeface="Helvetica Neue"/>
                <a:cs typeface="Helvetica Neue"/>
              </a:rPr>
              <a:t>Maximum certificate lifetime</a:t>
            </a:r>
          </a:p>
        </p:txBody>
      </p:sp>
      <p:sp>
        <p:nvSpPr>
          <p:cNvPr id="15" name="Bar 1 label"/>
          <p:cNvSpPr txBox="1"/>
          <p:nvPr/>
        </p:nvSpPr>
        <p:spPr>
          <a:xfrm>
            <a:off x="1257300" y="5943600"/>
            <a:ext cx="2103120" cy="411480"/>
          </a:xfrm>
          <a:prstGeom prst="rect">
            <a:avLst/>
          </a:prstGeom>
          <a:noFill/>
        </p:spPr>
        <p:txBody>
          <a:bodyPr wrap="square" lIns="0" tIns="0" rIns="0" bIns="0" anchor="t">
            <a:spAutoFit/>
          </a:bodyPr>
          <a:lstStyle/>
          <a:p>
            <a:pPr algn="r">
              <a:spcAft>
                <a:spcPts val="600"/>
              </a:spcAft>
            </a:pPr>
            <a:r>
              <a:rPr sz="1500" b="0" i="0">
                <a:solidFill>
                  <a:srgbClr val="000000"/>
                </a:solidFill>
                <a:latin typeface="Helvetica Neue"/>
                <a:ea typeface="Helvetica Neue"/>
                <a:cs typeface="Helvetica Neue"/>
              </a:rPr>
              <a:t>Before Mar 2026</a:t>
            </a:r>
          </a:p>
        </p:txBody>
      </p:sp>
      <p:sp>
        <p:nvSpPr>
          <p:cNvPr id="16" name="Bar 1"/>
          <p:cNvSpPr/>
          <p:nvPr/>
        </p:nvSpPr>
        <p:spPr>
          <a:xfrm>
            <a:off x="3520440" y="5852160"/>
            <a:ext cx="4206240" cy="548640"/>
          </a:xfrm>
          <a:prstGeom prst="rect">
            <a:avLst/>
          </a:prstGeom>
          <a:solidFill>
            <a:srgbClr val="9DC3E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7" name="Bar 1 value"/>
          <p:cNvSpPr txBox="1"/>
          <p:nvPr/>
        </p:nvSpPr>
        <p:spPr>
          <a:xfrm>
            <a:off x="7818120" y="5943600"/>
            <a:ext cx="1463040" cy="411480"/>
          </a:xfrm>
          <a:prstGeom prst="rect">
            <a:avLst/>
          </a:prstGeom>
          <a:noFill/>
        </p:spPr>
        <p:txBody>
          <a:bodyPr wrap="square" lIns="0" tIns="0" rIns="0" bIns="0" anchor="t">
            <a:spAutoFit/>
          </a:bodyPr>
          <a:lstStyle/>
          <a:p>
            <a:pPr algn="l">
              <a:spcAft>
                <a:spcPts val="600"/>
              </a:spcAft>
            </a:pPr>
            <a:r>
              <a:rPr sz="1500" b="1" i="0">
                <a:solidFill>
                  <a:srgbClr val="000000"/>
                </a:solidFill>
                <a:latin typeface="Helvetica Neue"/>
                <a:ea typeface="Helvetica Neue"/>
                <a:cs typeface="Helvetica Neue"/>
              </a:rPr>
              <a:t>398 days</a:t>
            </a:r>
          </a:p>
        </p:txBody>
      </p:sp>
      <p:sp>
        <p:nvSpPr>
          <p:cNvPr id="18" name="Bar 2 label"/>
          <p:cNvSpPr txBox="1"/>
          <p:nvPr/>
        </p:nvSpPr>
        <p:spPr>
          <a:xfrm>
            <a:off x="1257300" y="6656832"/>
            <a:ext cx="2103120" cy="411480"/>
          </a:xfrm>
          <a:prstGeom prst="rect">
            <a:avLst/>
          </a:prstGeom>
          <a:noFill/>
        </p:spPr>
        <p:txBody>
          <a:bodyPr wrap="square" lIns="0" tIns="0" rIns="0" bIns="0" anchor="t">
            <a:spAutoFit/>
          </a:bodyPr>
          <a:lstStyle/>
          <a:p>
            <a:pPr algn="r">
              <a:spcAft>
                <a:spcPts val="600"/>
              </a:spcAft>
            </a:pPr>
            <a:r>
              <a:rPr sz="1500" b="1" i="0">
                <a:solidFill>
                  <a:srgbClr val="000000"/>
                </a:solidFill>
                <a:latin typeface="Helvetica Neue"/>
                <a:ea typeface="Helvetica Neue"/>
                <a:cs typeface="Helvetica Neue"/>
              </a:rPr>
              <a:t>Mar 2026</a:t>
            </a:r>
          </a:p>
        </p:txBody>
      </p:sp>
      <p:sp>
        <p:nvSpPr>
          <p:cNvPr id="19" name="Bar 2"/>
          <p:cNvSpPr/>
          <p:nvPr/>
        </p:nvSpPr>
        <p:spPr>
          <a:xfrm>
            <a:off x="3520440" y="6565392"/>
            <a:ext cx="2113688" cy="548640"/>
          </a:xfrm>
          <a:prstGeom prst="rect">
            <a:avLst/>
          </a:prstGeom>
          <a:solidFill>
            <a:srgbClr val="2F75B5"/>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Bar 2 value"/>
          <p:cNvSpPr txBox="1"/>
          <p:nvPr/>
        </p:nvSpPr>
        <p:spPr>
          <a:xfrm>
            <a:off x="5725568" y="6656832"/>
            <a:ext cx="1463040" cy="411480"/>
          </a:xfrm>
          <a:prstGeom prst="rect">
            <a:avLst/>
          </a:prstGeom>
          <a:noFill/>
        </p:spPr>
        <p:txBody>
          <a:bodyPr wrap="square" lIns="0" tIns="0" rIns="0" bIns="0" anchor="t">
            <a:spAutoFit/>
          </a:bodyPr>
          <a:lstStyle/>
          <a:p>
            <a:pPr algn="l">
              <a:spcAft>
                <a:spcPts val="600"/>
              </a:spcAft>
            </a:pPr>
            <a:r>
              <a:rPr sz="1500" b="1" i="0">
                <a:solidFill>
                  <a:srgbClr val="000000"/>
                </a:solidFill>
                <a:latin typeface="Helvetica Neue"/>
                <a:ea typeface="Helvetica Neue"/>
                <a:cs typeface="Helvetica Neue"/>
              </a:rPr>
              <a:t>200 days</a:t>
            </a:r>
          </a:p>
        </p:txBody>
      </p:sp>
      <p:sp>
        <p:nvSpPr>
          <p:cNvPr id="21" name="Bar 3 label"/>
          <p:cNvSpPr txBox="1"/>
          <p:nvPr/>
        </p:nvSpPr>
        <p:spPr>
          <a:xfrm>
            <a:off x="1257300" y="7370064"/>
            <a:ext cx="2103120" cy="411480"/>
          </a:xfrm>
          <a:prstGeom prst="rect">
            <a:avLst/>
          </a:prstGeom>
          <a:noFill/>
        </p:spPr>
        <p:txBody>
          <a:bodyPr wrap="square" lIns="0" tIns="0" rIns="0" bIns="0" anchor="t">
            <a:spAutoFit/>
          </a:bodyPr>
          <a:lstStyle/>
          <a:p>
            <a:pPr algn="r">
              <a:spcAft>
                <a:spcPts val="600"/>
              </a:spcAft>
            </a:pPr>
            <a:r>
              <a:rPr sz="1500" b="0" i="0">
                <a:solidFill>
                  <a:srgbClr val="000000"/>
                </a:solidFill>
                <a:latin typeface="Helvetica Neue"/>
                <a:ea typeface="Helvetica Neue"/>
                <a:cs typeface="Helvetica Neue"/>
              </a:rPr>
              <a:t>Mar 2027</a:t>
            </a:r>
          </a:p>
        </p:txBody>
      </p:sp>
      <p:sp>
        <p:nvSpPr>
          <p:cNvPr id="22" name="Bar 3"/>
          <p:cNvSpPr/>
          <p:nvPr/>
        </p:nvSpPr>
        <p:spPr>
          <a:xfrm>
            <a:off x="3520440" y="7278624"/>
            <a:ext cx="1056844" cy="548640"/>
          </a:xfrm>
          <a:prstGeom prst="rect">
            <a:avLst/>
          </a:prstGeom>
          <a:solidFill>
            <a:srgbClr val="9DC3E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Bar 3 value"/>
          <p:cNvSpPr txBox="1"/>
          <p:nvPr/>
        </p:nvSpPr>
        <p:spPr>
          <a:xfrm>
            <a:off x="4668724" y="7370064"/>
            <a:ext cx="1463040" cy="411480"/>
          </a:xfrm>
          <a:prstGeom prst="rect">
            <a:avLst/>
          </a:prstGeom>
          <a:noFill/>
        </p:spPr>
        <p:txBody>
          <a:bodyPr wrap="square" lIns="0" tIns="0" rIns="0" bIns="0" anchor="t">
            <a:spAutoFit/>
          </a:bodyPr>
          <a:lstStyle/>
          <a:p>
            <a:pPr algn="l">
              <a:spcAft>
                <a:spcPts val="600"/>
              </a:spcAft>
            </a:pPr>
            <a:r>
              <a:rPr sz="1500" b="1" i="0">
                <a:solidFill>
                  <a:srgbClr val="000000"/>
                </a:solidFill>
                <a:latin typeface="Helvetica Neue"/>
                <a:ea typeface="Helvetica Neue"/>
                <a:cs typeface="Helvetica Neue"/>
              </a:rPr>
              <a:t>100 days</a:t>
            </a:r>
          </a:p>
        </p:txBody>
      </p:sp>
      <p:sp>
        <p:nvSpPr>
          <p:cNvPr id="24" name="Bar 4 label"/>
          <p:cNvSpPr txBox="1"/>
          <p:nvPr/>
        </p:nvSpPr>
        <p:spPr>
          <a:xfrm>
            <a:off x="1257300" y="8083296"/>
            <a:ext cx="2103120" cy="411480"/>
          </a:xfrm>
          <a:prstGeom prst="rect">
            <a:avLst/>
          </a:prstGeom>
          <a:noFill/>
        </p:spPr>
        <p:txBody>
          <a:bodyPr wrap="square" lIns="0" tIns="0" rIns="0" bIns="0" anchor="t">
            <a:spAutoFit/>
          </a:bodyPr>
          <a:lstStyle/>
          <a:p>
            <a:pPr algn="r">
              <a:spcAft>
                <a:spcPts val="600"/>
              </a:spcAft>
            </a:pPr>
            <a:r>
              <a:rPr sz="1500" b="0" i="0">
                <a:solidFill>
                  <a:srgbClr val="000000"/>
                </a:solidFill>
                <a:latin typeface="Helvetica Neue"/>
                <a:ea typeface="Helvetica Neue"/>
                <a:cs typeface="Helvetica Neue"/>
              </a:rPr>
              <a:t>Mar 2029</a:t>
            </a:r>
          </a:p>
        </p:txBody>
      </p:sp>
      <p:sp>
        <p:nvSpPr>
          <p:cNvPr id="25" name="Bar 4"/>
          <p:cNvSpPr/>
          <p:nvPr/>
        </p:nvSpPr>
        <p:spPr>
          <a:xfrm>
            <a:off x="3520440" y="7991856"/>
            <a:ext cx="496716" cy="548640"/>
          </a:xfrm>
          <a:prstGeom prst="rect">
            <a:avLst/>
          </a:prstGeom>
          <a:solidFill>
            <a:srgbClr val="9DC3E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Bar 4 value"/>
          <p:cNvSpPr txBox="1"/>
          <p:nvPr/>
        </p:nvSpPr>
        <p:spPr>
          <a:xfrm>
            <a:off x="4108596" y="8083296"/>
            <a:ext cx="1463040" cy="411480"/>
          </a:xfrm>
          <a:prstGeom prst="rect">
            <a:avLst/>
          </a:prstGeom>
          <a:noFill/>
        </p:spPr>
        <p:txBody>
          <a:bodyPr wrap="square" lIns="0" tIns="0" rIns="0" bIns="0" anchor="t">
            <a:spAutoFit/>
          </a:bodyPr>
          <a:lstStyle/>
          <a:p>
            <a:pPr algn="l">
              <a:spcAft>
                <a:spcPts val="600"/>
              </a:spcAft>
            </a:pPr>
            <a:r>
              <a:rPr sz="1500" b="1" i="0">
                <a:solidFill>
                  <a:srgbClr val="000000"/>
                </a:solidFill>
                <a:latin typeface="Helvetica Neue"/>
                <a:ea typeface="Helvetica Neue"/>
                <a:cs typeface="Helvetica Neue"/>
              </a:rPr>
              <a:t>47 days</a:t>
            </a:r>
          </a:p>
        </p:txBody>
      </p:sp>
      <p:sp>
        <p:nvSpPr>
          <p:cNvPr id="27" name="Now marker"/>
          <p:cNvSpPr txBox="1"/>
          <p:nvPr/>
        </p:nvSpPr>
        <p:spPr>
          <a:xfrm>
            <a:off x="1257300" y="8778240"/>
            <a:ext cx="7863840" cy="411480"/>
          </a:xfrm>
          <a:prstGeom prst="rect">
            <a:avLst/>
          </a:prstGeom>
          <a:noFill/>
        </p:spPr>
        <p:txBody>
          <a:bodyPr wrap="square" lIns="0" tIns="0" rIns="0" bIns="0" anchor="t">
            <a:spAutoFit/>
          </a:bodyPr>
          <a:lstStyle/>
          <a:p>
            <a:pPr algn="l">
              <a:spcAft>
                <a:spcPts val="600"/>
              </a:spcAft>
            </a:pPr>
            <a:r>
              <a:rPr sz="1500" b="0" i="0">
                <a:solidFill>
                  <a:srgbClr val="595959"/>
                </a:solidFill>
                <a:latin typeface="Helvetica Neue"/>
                <a:ea typeface="Helvetica Neue"/>
                <a:cs typeface="Helvetica Neue"/>
              </a:rPr>
              <a:t>We are here: renewing roughly twice a year, heading to every few weeks</a:t>
            </a:r>
          </a:p>
        </p:txBody>
      </p:sp>
      <p:sp>
        <p:nvSpPr>
          <p:cNvPr id="28" name="Outage card"/>
          <p:cNvSpPr/>
          <p:nvPr/>
        </p:nvSpPr>
        <p:spPr>
          <a:xfrm>
            <a:off x="9509760" y="5257800"/>
            <a:ext cx="7516368" cy="19659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Outage card text"/>
          <p:cNvSpPr txBox="1"/>
          <p:nvPr/>
        </p:nvSpPr>
        <p:spPr>
          <a:xfrm>
            <a:off x="9765792" y="5458968"/>
            <a:ext cx="7004304" cy="160020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When renewal is missed</a:t>
            </a:r>
          </a:p>
          <a:p>
            <a:pPr algn="l">
              <a:spcAft>
                <a:spcPts val="700"/>
              </a:spcAft>
            </a:pPr>
            <a:r>
              <a:rPr sz="1600" b="0" i="0">
                <a:solidFill>
                  <a:srgbClr val="000000"/>
                </a:solidFill>
                <a:latin typeface="Helvetica Neue"/>
                <a:ea typeface="Helvetica Neue"/>
                <a:cs typeface="Helvetica Neue"/>
              </a:rPr>
              <a:t>The website, app, VPN or monitoring tool stops working — often at night or on a weekend, and nobody knows which certificate it was.</a:t>
            </a:r>
          </a:p>
        </p:txBody>
      </p:sp>
      <p:sp>
        <p:nvSpPr>
          <p:cNvPr id="30" name="Example card"/>
          <p:cNvSpPr/>
          <p:nvPr/>
        </p:nvSpPr>
        <p:spPr>
          <a:xfrm>
            <a:off x="9509760" y="7406640"/>
            <a:ext cx="7516368" cy="2103120"/>
          </a:xfrm>
          <a:prstGeom prst="roundRect">
            <a:avLst/>
          </a:prstGeom>
          <a:solidFill>
            <a:srgbClr val="EEF2F8"/>
          </a:solidFill>
          <a:ln w="19050">
            <a:solidFill>
              <a:srgbClr val="EEF2F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Example card text"/>
          <p:cNvSpPr txBox="1"/>
          <p:nvPr/>
        </p:nvSpPr>
        <p:spPr>
          <a:xfrm>
            <a:off x="9765792" y="7607808"/>
            <a:ext cx="7004304" cy="1210588"/>
          </a:xfrm>
          <a:prstGeom prst="rect">
            <a:avLst/>
          </a:prstGeom>
          <a:noFill/>
        </p:spPr>
        <p:txBody>
          <a:bodyPr wrap="square" lIns="0" tIns="0" rIns="0" bIns="0" anchor="t">
            <a:spAutoFit/>
          </a:bodyPr>
          <a:lstStyle/>
          <a:p>
            <a:pPr algn="l">
              <a:spcAft>
                <a:spcPts val="700"/>
              </a:spcAft>
            </a:pPr>
            <a:r>
              <a:rPr sz="1900" b="1" i="0" dirty="0">
                <a:solidFill>
                  <a:srgbClr val="000000"/>
                </a:solidFill>
                <a:latin typeface="Helvetica Neue"/>
                <a:ea typeface="Helvetica Neue"/>
                <a:cs typeface="Helvetica Neue"/>
              </a:rPr>
              <a:t>It happens to big organizations too</a:t>
            </a:r>
          </a:p>
          <a:p>
            <a:pPr algn="l">
              <a:spcAft>
                <a:spcPts val="700"/>
              </a:spcAft>
            </a:pPr>
            <a:r>
              <a:rPr sz="1600" b="0" i="0" dirty="0">
                <a:solidFill>
                  <a:srgbClr val="000000"/>
                </a:solidFill>
                <a:latin typeface="Helvetica Neue"/>
                <a:ea typeface="Helvetica Neue"/>
                <a:cs typeface="Helvetica Neue"/>
              </a:rPr>
              <a:t>2017: an expired certificate on Equifax’s traffic-inspection equipment left the breach unseen for months. </a:t>
            </a:r>
            <a:endParaRPr lang="en-US" sz="1600" b="0" i="0" dirty="0">
              <a:solidFill>
                <a:srgbClr val="000000"/>
              </a:solidFill>
              <a:latin typeface="Helvetica Neue"/>
              <a:ea typeface="Helvetica Neue"/>
              <a:cs typeface="Helvetica Neue"/>
            </a:endParaRPr>
          </a:p>
          <a:p>
            <a:pPr algn="l">
              <a:spcAft>
                <a:spcPts val="700"/>
              </a:spcAft>
            </a:pPr>
            <a:r>
              <a:rPr sz="1600" b="0" i="0" dirty="0">
                <a:solidFill>
                  <a:srgbClr val="000000"/>
                </a:solidFill>
                <a:latin typeface="Helvetica Neue"/>
                <a:ea typeface="Helvetica Neue"/>
                <a:cs typeface="Helvetica Neue"/>
              </a:rPr>
              <a:t>2020: an expired certificate briefly took down Microsoft Teams.</a:t>
            </a:r>
          </a:p>
        </p:txBody>
      </p:sp>
    </p:spTree>
    <p:extLst>
      <p:ext uri="{BB962C8B-B14F-4D97-AF65-F5344CB8AC3E}">
        <p14:creationId xmlns:p14="http://schemas.microsoft.com/office/powerpoint/2010/main" val="13364812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Key Management: Who Holds the Keys?</a:t>
            </a:r>
          </a:p>
        </p:txBody>
      </p:sp>
      <p:sp>
        <p:nvSpPr>
          <p:cNvPr id="3" name="KM message"/>
          <p:cNvSpPr txBox="1"/>
          <p:nvPr/>
        </p:nvSpPr>
        <p:spPr>
          <a:xfrm>
            <a:off x="1257300" y="2606040"/>
            <a:ext cx="15773400" cy="50292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Encryption doesn’t remove the risk — it moves it to the keys. Whoever holds the key holds the data.</a:t>
            </a:r>
          </a:p>
        </p:txBody>
      </p:sp>
      <p:sp>
        <p:nvSpPr>
          <p:cNvPr id="4" name="Life 1 marker"/>
          <p:cNvSpPr/>
          <p:nvPr/>
        </p:nvSpPr>
        <p:spPr>
          <a:xfrm>
            <a:off x="1257300" y="3429000"/>
            <a:ext cx="411480" cy="411480"/>
          </a:xfrm>
          <a:prstGeom prst="ellipse">
            <a:avLst/>
          </a:prstGeom>
          <a:solidFill>
            <a:srgbClr val="2F75B5"/>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1</a:t>
            </a:r>
          </a:p>
        </p:txBody>
      </p:sp>
      <p:sp>
        <p:nvSpPr>
          <p:cNvPr id="5" name="Life 1"/>
          <p:cNvSpPr txBox="1"/>
          <p:nvPr/>
        </p:nvSpPr>
        <p:spPr>
          <a:xfrm>
            <a:off x="1805940" y="3364992"/>
            <a:ext cx="2560320" cy="1005840"/>
          </a:xfrm>
          <a:prstGeom prst="rect">
            <a:avLst/>
          </a:prstGeom>
          <a:noFill/>
        </p:spPr>
        <p:txBody>
          <a:bodyPr wrap="square" lIns="0" tIns="0" rIns="0" bIns="0" anchor="t">
            <a:spAutoFit/>
          </a:bodyPr>
          <a:lstStyle/>
          <a:p>
            <a:pPr algn="l">
              <a:spcAft>
                <a:spcPts val="200"/>
              </a:spcAft>
            </a:pPr>
            <a:r>
              <a:rPr sz="1900" b="1" i="0">
                <a:solidFill>
                  <a:srgbClr val="000000"/>
                </a:solidFill>
                <a:latin typeface="Helvetica Neue"/>
                <a:ea typeface="Helvetica Neue"/>
                <a:cs typeface="Helvetica Neue"/>
              </a:rPr>
              <a:t>Generate</a:t>
            </a:r>
          </a:p>
          <a:p>
            <a:pPr algn="l">
              <a:spcAft>
                <a:spcPts val="200"/>
              </a:spcAft>
            </a:pPr>
            <a:r>
              <a:rPr sz="1500" b="0" i="0">
                <a:solidFill>
                  <a:srgbClr val="000000"/>
                </a:solidFill>
                <a:latin typeface="Helvetica Neue"/>
                <a:ea typeface="Helvetica Neue"/>
                <a:cs typeface="Helvetica Neue"/>
              </a:rPr>
              <a:t>strong and random</a:t>
            </a:r>
          </a:p>
        </p:txBody>
      </p:sp>
      <p:sp>
        <p:nvSpPr>
          <p:cNvPr id="6" name="Life 2 marker"/>
          <p:cNvSpPr/>
          <p:nvPr/>
        </p:nvSpPr>
        <p:spPr>
          <a:xfrm>
            <a:off x="4457700" y="3429000"/>
            <a:ext cx="411480" cy="411480"/>
          </a:xfrm>
          <a:prstGeom prst="ellipse">
            <a:avLst/>
          </a:prstGeom>
          <a:solidFill>
            <a:srgbClr val="2F75B5"/>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2</a:t>
            </a:r>
          </a:p>
        </p:txBody>
      </p:sp>
      <p:sp>
        <p:nvSpPr>
          <p:cNvPr id="7" name="Life 2"/>
          <p:cNvSpPr txBox="1"/>
          <p:nvPr/>
        </p:nvSpPr>
        <p:spPr>
          <a:xfrm>
            <a:off x="5006340" y="3364992"/>
            <a:ext cx="2560320" cy="1005840"/>
          </a:xfrm>
          <a:prstGeom prst="rect">
            <a:avLst/>
          </a:prstGeom>
          <a:noFill/>
        </p:spPr>
        <p:txBody>
          <a:bodyPr wrap="square" lIns="0" tIns="0" rIns="0" bIns="0" anchor="t">
            <a:spAutoFit/>
          </a:bodyPr>
          <a:lstStyle/>
          <a:p>
            <a:pPr algn="l">
              <a:spcAft>
                <a:spcPts val="200"/>
              </a:spcAft>
            </a:pPr>
            <a:r>
              <a:rPr sz="1900" b="1" i="0">
                <a:solidFill>
                  <a:srgbClr val="000000"/>
                </a:solidFill>
                <a:latin typeface="Helvetica Neue"/>
                <a:ea typeface="Helvetica Neue"/>
                <a:cs typeface="Helvetica Neue"/>
              </a:rPr>
              <a:t>Store</a:t>
            </a:r>
          </a:p>
          <a:p>
            <a:pPr algn="l">
              <a:spcAft>
                <a:spcPts val="200"/>
              </a:spcAft>
            </a:pPr>
            <a:r>
              <a:rPr sz="1500" b="0" i="0">
                <a:solidFill>
                  <a:srgbClr val="000000"/>
                </a:solidFill>
                <a:latin typeface="Helvetica Neue"/>
                <a:ea typeface="Helvetica Neue"/>
                <a:cs typeface="Helvetica Neue"/>
              </a:rPr>
              <a:t>where only the right systems can use it</a:t>
            </a:r>
          </a:p>
        </p:txBody>
      </p:sp>
      <p:sp>
        <p:nvSpPr>
          <p:cNvPr id="8" name="Life 3 marker"/>
          <p:cNvSpPr/>
          <p:nvPr/>
        </p:nvSpPr>
        <p:spPr>
          <a:xfrm>
            <a:off x="7658100" y="3429000"/>
            <a:ext cx="411480" cy="411480"/>
          </a:xfrm>
          <a:prstGeom prst="ellipse">
            <a:avLst/>
          </a:prstGeom>
          <a:solidFill>
            <a:srgbClr val="2F75B5"/>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3</a:t>
            </a:r>
          </a:p>
        </p:txBody>
      </p:sp>
      <p:sp>
        <p:nvSpPr>
          <p:cNvPr id="9" name="Life 3"/>
          <p:cNvSpPr txBox="1"/>
          <p:nvPr/>
        </p:nvSpPr>
        <p:spPr>
          <a:xfrm>
            <a:off x="8206740" y="3364992"/>
            <a:ext cx="2560320" cy="1005840"/>
          </a:xfrm>
          <a:prstGeom prst="rect">
            <a:avLst/>
          </a:prstGeom>
          <a:noFill/>
        </p:spPr>
        <p:txBody>
          <a:bodyPr wrap="square" lIns="0" tIns="0" rIns="0" bIns="0" anchor="t">
            <a:spAutoFit/>
          </a:bodyPr>
          <a:lstStyle/>
          <a:p>
            <a:pPr algn="l">
              <a:spcAft>
                <a:spcPts val="200"/>
              </a:spcAft>
            </a:pPr>
            <a:r>
              <a:rPr sz="1900" b="1" i="0">
                <a:solidFill>
                  <a:srgbClr val="000000"/>
                </a:solidFill>
                <a:latin typeface="Helvetica Neue"/>
                <a:ea typeface="Helvetica Neue"/>
                <a:cs typeface="Helvetica Neue"/>
              </a:rPr>
              <a:t>Use</a:t>
            </a:r>
          </a:p>
          <a:p>
            <a:pPr algn="l">
              <a:spcAft>
                <a:spcPts val="200"/>
              </a:spcAft>
            </a:pPr>
            <a:r>
              <a:rPr sz="1500" b="0" i="0">
                <a:solidFill>
                  <a:srgbClr val="000000"/>
                </a:solidFill>
                <a:latin typeface="Helvetica Neue"/>
                <a:ea typeface="Helvetica Neue"/>
                <a:cs typeface="Helvetica Neue"/>
              </a:rPr>
              <a:t>with access logged</a:t>
            </a:r>
          </a:p>
        </p:txBody>
      </p:sp>
      <p:sp>
        <p:nvSpPr>
          <p:cNvPr id="10" name="Life 4 marker"/>
          <p:cNvSpPr/>
          <p:nvPr/>
        </p:nvSpPr>
        <p:spPr>
          <a:xfrm>
            <a:off x="10858500" y="3429000"/>
            <a:ext cx="411480" cy="411480"/>
          </a:xfrm>
          <a:prstGeom prst="ellipse">
            <a:avLst/>
          </a:prstGeom>
          <a:solidFill>
            <a:srgbClr val="2F75B5"/>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4</a:t>
            </a:r>
          </a:p>
        </p:txBody>
      </p:sp>
      <p:sp>
        <p:nvSpPr>
          <p:cNvPr id="11" name="Life 4"/>
          <p:cNvSpPr txBox="1"/>
          <p:nvPr/>
        </p:nvSpPr>
        <p:spPr>
          <a:xfrm>
            <a:off x="11407140" y="3364992"/>
            <a:ext cx="2560320" cy="1005840"/>
          </a:xfrm>
          <a:prstGeom prst="rect">
            <a:avLst/>
          </a:prstGeom>
          <a:noFill/>
        </p:spPr>
        <p:txBody>
          <a:bodyPr wrap="square" lIns="0" tIns="0" rIns="0" bIns="0" anchor="t">
            <a:spAutoFit/>
          </a:bodyPr>
          <a:lstStyle/>
          <a:p>
            <a:pPr algn="l">
              <a:spcAft>
                <a:spcPts val="200"/>
              </a:spcAft>
            </a:pPr>
            <a:r>
              <a:rPr sz="1900" b="1" i="0">
                <a:solidFill>
                  <a:srgbClr val="000000"/>
                </a:solidFill>
                <a:latin typeface="Helvetica Neue"/>
                <a:ea typeface="Helvetica Neue"/>
                <a:cs typeface="Helvetica Neue"/>
              </a:rPr>
              <a:t>Rotate</a:t>
            </a:r>
          </a:p>
          <a:p>
            <a:pPr algn="l">
              <a:spcAft>
                <a:spcPts val="200"/>
              </a:spcAft>
            </a:pPr>
            <a:r>
              <a:rPr sz="1500" b="0" i="0">
                <a:solidFill>
                  <a:srgbClr val="000000"/>
                </a:solidFill>
                <a:latin typeface="Helvetica Neue"/>
                <a:ea typeface="Helvetica Neue"/>
                <a:cs typeface="Helvetica Neue"/>
              </a:rPr>
              <a:t>on a schedule</a:t>
            </a:r>
          </a:p>
        </p:txBody>
      </p:sp>
      <p:sp>
        <p:nvSpPr>
          <p:cNvPr id="12" name="Life 5 marker"/>
          <p:cNvSpPr/>
          <p:nvPr/>
        </p:nvSpPr>
        <p:spPr>
          <a:xfrm>
            <a:off x="14058900" y="3429000"/>
            <a:ext cx="411480" cy="411480"/>
          </a:xfrm>
          <a:prstGeom prst="ellipse">
            <a:avLst/>
          </a:prstGeom>
          <a:solidFill>
            <a:srgbClr val="2F75B5"/>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5</a:t>
            </a:r>
          </a:p>
        </p:txBody>
      </p:sp>
      <p:sp>
        <p:nvSpPr>
          <p:cNvPr id="13" name="Life 5"/>
          <p:cNvSpPr txBox="1"/>
          <p:nvPr/>
        </p:nvSpPr>
        <p:spPr>
          <a:xfrm>
            <a:off x="14607540" y="3364992"/>
            <a:ext cx="2560320" cy="1005840"/>
          </a:xfrm>
          <a:prstGeom prst="rect">
            <a:avLst/>
          </a:prstGeom>
          <a:noFill/>
        </p:spPr>
        <p:txBody>
          <a:bodyPr wrap="square" lIns="0" tIns="0" rIns="0" bIns="0" anchor="t">
            <a:spAutoFit/>
          </a:bodyPr>
          <a:lstStyle/>
          <a:p>
            <a:pPr algn="l">
              <a:spcAft>
                <a:spcPts val="200"/>
              </a:spcAft>
            </a:pPr>
            <a:r>
              <a:rPr sz="1900" b="1" i="0">
                <a:solidFill>
                  <a:srgbClr val="000000"/>
                </a:solidFill>
                <a:latin typeface="Helvetica Neue"/>
                <a:ea typeface="Helvetica Neue"/>
                <a:cs typeface="Helvetica Neue"/>
              </a:rPr>
              <a:t>Retire</a:t>
            </a:r>
          </a:p>
          <a:p>
            <a:pPr algn="l">
              <a:spcAft>
                <a:spcPts val="200"/>
              </a:spcAft>
            </a:pPr>
            <a:r>
              <a:rPr sz="1500" b="0" i="0">
                <a:solidFill>
                  <a:srgbClr val="000000"/>
                </a:solidFill>
                <a:latin typeface="Helvetica Neue"/>
                <a:ea typeface="Helvetica Neue"/>
                <a:cs typeface="Helvetica Neue"/>
              </a:rPr>
              <a:t>destroyed when no longer needed</a:t>
            </a:r>
          </a:p>
        </p:txBody>
      </p:sp>
      <p:sp>
        <p:nvSpPr>
          <p:cNvPr id="14" name="Where heading"/>
          <p:cNvSpPr txBox="1"/>
          <p:nvPr/>
        </p:nvSpPr>
        <p:spPr>
          <a:xfrm>
            <a:off x="1257300" y="4709160"/>
            <a:ext cx="15773400" cy="457200"/>
          </a:xfrm>
          <a:prstGeom prst="rect">
            <a:avLst/>
          </a:prstGeom>
          <a:noFill/>
        </p:spPr>
        <p:txBody>
          <a:bodyPr wrap="square" lIns="0" tIns="0" rIns="0" bIns="0" anchor="t">
            <a:spAutoFit/>
          </a:bodyPr>
          <a:lstStyle/>
          <a:p>
            <a:pPr algn="l">
              <a:spcAft>
                <a:spcPts val="600"/>
              </a:spcAft>
            </a:pPr>
            <a:r>
              <a:rPr sz="2100" b="1" i="0">
                <a:solidFill>
                  <a:srgbClr val="000000"/>
                </a:solidFill>
                <a:latin typeface="Helvetica Neue"/>
                <a:ea typeface="Helvetica Neue"/>
                <a:cs typeface="Helvetica Neue"/>
              </a:rPr>
              <a:t>Where keys live</a:t>
            </a:r>
          </a:p>
        </p:txBody>
      </p:sp>
      <p:sp>
        <p:nvSpPr>
          <p:cNvPr id="15" name="Place 1"/>
          <p:cNvSpPr/>
          <p:nvPr/>
        </p:nvSpPr>
        <p:spPr>
          <a:xfrm>
            <a:off x="1257300" y="5257800"/>
            <a:ext cx="5029200" cy="1737360"/>
          </a:xfrm>
          <a:prstGeom prst="roundRect">
            <a:avLst/>
          </a:prstGeom>
          <a:solidFill>
            <a:srgbClr val="FBE5D6"/>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6" name="Place 1 text"/>
          <p:cNvSpPr txBox="1"/>
          <p:nvPr/>
        </p:nvSpPr>
        <p:spPr>
          <a:xfrm>
            <a:off x="1513332" y="5458968"/>
            <a:ext cx="4517136" cy="137160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A file on a server</a:t>
            </a:r>
          </a:p>
          <a:p>
            <a:pPr algn="l">
              <a:spcAft>
                <a:spcPts val="700"/>
              </a:spcAft>
            </a:pPr>
            <a:r>
              <a:rPr sz="1500" b="0" i="0">
                <a:solidFill>
                  <a:srgbClr val="000000"/>
                </a:solidFill>
                <a:latin typeface="Helvetica Neue"/>
                <a:ea typeface="Helvetica Neue"/>
                <a:cs typeface="Helvetica Neue"/>
              </a:rPr>
              <a:t>Easy to copy, easy to lose. The weakest option.</a:t>
            </a:r>
          </a:p>
        </p:txBody>
      </p:sp>
      <p:sp>
        <p:nvSpPr>
          <p:cNvPr id="17" name="Place 2"/>
          <p:cNvSpPr/>
          <p:nvPr/>
        </p:nvSpPr>
        <p:spPr>
          <a:xfrm>
            <a:off x="6633972" y="5257800"/>
            <a:ext cx="5029200" cy="1737360"/>
          </a:xfrm>
          <a:prstGeom prst="roundRect">
            <a:avLst/>
          </a:prstGeom>
          <a:solidFill>
            <a:srgbClr val="EEF2F8"/>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Place 2 text"/>
          <p:cNvSpPr txBox="1"/>
          <p:nvPr/>
        </p:nvSpPr>
        <p:spPr>
          <a:xfrm>
            <a:off x="6890004" y="5458968"/>
            <a:ext cx="4517136" cy="137160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Cloud key service</a:t>
            </a:r>
          </a:p>
          <a:p>
            <a:pPr algn="l">
              <a:spcAft>
                <a:spcPts val="700"/>
              </a:spcAft>
            </a:pPr>
            <a:r>
              <a:rPr sz="1500" b="0" i="0">
                <a:solidFill>
                  <a:srgbClr val="000000"/>
                </a:solidFill>
                <a:latin typeface="Helvetica Neue"/>
                <a:ea typeface="Helvetica Neue"/>
                <a:cs typeface="Helvetica Neue"/>
              </a:rPr>
              <a:t>AWS KMS, Azure Key Vault, Google Cloud KMS: access-controlled and logged</a:t>
            </a:r>
          </a:p>
        </p:txBody>
      </p:sp>
      <p:sp>
        <p:nvSpPr>
          <p:cNvPr id="19" name="Place 3"/>
          <p:cNvSpPr/>
          <p:nvPr/>
        </p:nvSpPr>
        <p:spPr>
          <a:xfrm>
            <a:off x="12010644" y="5257800"/>
            <a:ext cx="5029200" cy="1737360"/>
          </a:xfrm>
          <a:prstGeom prst="roundRect">
            <a:avLst/>
          </a:prstGeom>
          <a:solidFill>
            <a:srgbClr val="D9E2F3"/>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Place 3 text"/>
          <p:cNvSpPr txBox="1"/>
          <p:nvPr/>
        </p:nvSpPr>
        <p:spPr>
          <a:xfrm>
            <a:off x="12266676" y="5458968"/>
            <a:ext cx="4517136" cy="137160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Hardware security module</a:t>
            </a:r>
          </a:p>
          <a:p>
            <a:pPr algn="l">
              <a:spcAft>
                <a:spcPts val="700"/>
              </a:spcAft>
            </a:pPr>
            <a:r>
              <a:rPr sz="1500" b="0" i="0">
                <a:solidFill>
                  <a:srgbClr val="000000"/>
                </a:solidFill>
                <a:latin typeface="Helvetica Neue"/>
                <a:ea typeface="Helvetica Neue"/>
                <a:cs typeface="Helvetica Neue"/>
              </a:rPr>
              <a:t>A tamper-resistant device that uses keys without ever revealing them</a:t>
            </a:r>
          </a:p>
        </p:txBody>
      </p:sp>
      <p:cxnSp>
        <p:nvCxnSpPr>
          <p:cNvPr id="21" name="Strength arrow"/>
          <p:cNvCxnSpPr/>
          <p:nvPr/>
        </p:nvCxnSpPr>
        <p:spPr>
          <a:xfrm>
            <a:off x="1463040" y="7223760"/>
            <a:ext cx="15361920" cy="0"/>
          </a:xfrm>
          <a:prstGeom prst="line">
            <a:avLst/>
          </a:prstGeom>
          <a:ln w="3810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Strength label"/>
          <p:cNvSpPr txBox="1"/>
          <p:nvPr/>
        </p:nvSpPr>
        <p:spPr>
          <a:xfrm>
            <a:off x="1257300" y="7269480"/>
            <a:ext cx="15773400" cy="365760"/>
          </a:xfrm>
          <a:prstGeom prst="rect">
            <a:avLst/>
          </a:prstGeom>
          <a:noFill/>
        </p:spPr>
        <p:txBody>
          <a:bodyPr wrap="square" lIns="0" tIns="0" rIns="0" bIns="0" anchor="t">
            <a:spAutoFit/>
          </a:bodyPr>
          <a:lstStyle/>
          <a:p>
            <a:pPr algn="ctr">
              <a:spcAft>
                <a:spcPts val="600"/>
              </a:spcAft>
            </a:pPr>
            <a:r>
              <a:rPr sz="1400" b="0" i="0">
                <a:solidFill>
                  <a:srgbClr val="2F75B5"/>
                </a:solidFill>
                <a:latin typeface="Helvetica Neue"/>
                <a:ea typeface="Helvetica Neue"/>
                <a:cs typeface="Helvetica Neue"/>
              </a:rPr>
              <a:t>weaker  →  stronger</a:t>
            </a:r>
          </a:p>
        </p:txBody>
      </p:sp>
      <p:sp>
        <p:nvSpPr>
          <p:cNvPr id="23" name="KM questions panel"/>
          <p:cNvSpPr/>
          <p:nvPr/>
        </p:nvSpPr>
        <p:spPr>
          <a:xfrm>
            <a:off x="1257300" y="7818120"/>
            <a:ext cx="15773400" cy="1691640"/>
          </a:xfrm>
          <a:prstGeom prst="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KM questions"/>
          <p:cNvSpPr txBox="1"/>
          <p:nvPr/>
        </p:nvSpPr>
        <p:spPr>
          <a:xfrm>
            <a:off x="1554480" y="7936992"/>
            <a:ext cx="15179040" cy="1508760"/>
          </a:xfrm>
          <a:prstGeom prst="rect">
            <a:avLst/>
          </a:prstGeom>
          <a:noFill/>
        </p:spPr>
        <p:txBody>
          <a:bodyPr wrap="square" lIns="0" tIns="0" rIns="0" bIns="0">
            <a:spAutoFit/>
          </a:bodyPr>
          <a:lstStyle/>
          <a:p>
            <a:pPr>
              <a:spcAft>
                <a:spcPts val="800"/>
              </a:spcAft>
            </a:pPr>
            <a:r>
              <a:rPr sz="2200" b="1" i="0">
                <a:solidFill>
                  <a:srgbClr val="000000"/>
                </a:solidFill>
                <a:latin typeface="Helvetica Neue"/>
                <a:ea typeface="Helvetica Neue"/>
                <a:cs typeface="Helvetica Neue"/>
              </a:rPr>
              <a:t>Examiner questions</a:t>
            </a:r>
          </a:p>
          <a:p>
            <a:pPr marL="274320" indent="-274320">
              <a:spcAft>
                <a:spcPts val="600"/>
              </a:spcAft>
              <a:buFont typeface="Arial"/>
              <a:buChar char="•"/>
            </a:pPr>
            <a:r>
              <a:rPr sz="1600" b="0" i="0">
                <a:solidFill>
                  <a:srgbClr val="000000"/>
                </a:solidFill>
                <a:latin typeface="Helvetica Neue"/>
                <a:ea typeface="Helvetica Neue"/>
                <a:cs typeface="Helvetica Neue"/>
              </a:rPr>
              <a:t>Where are the bank’s keys, who can use them, and is there dual control for the most sensitive ones?</a:t>
            </a:r>
          </a:p>
          <a:p>
            <a:pPr marL="274320" indent="-274320">
              <a:spcAft>
                <a:spcPts val="600"/>
              </a:spcAft>
              <a:buFont typeface="Arial"/>
              <a:buChar char="•"/>
            </a:pPr>
            <a:r>
              <a:rPr sz="1600" b="0" i="0">
                <a:solidFill>
                  <a:srgbClr val="000000"/>
                </a:solidFill>
                <a:latin typeface="Helvetica Neue"/>
                <a:ea typeface="Helvetica Neue"/>
                <a:cs typeface="Helvetica Neue"/>
              </a:rPr>
              <a:t>For cloud and vendor systems: does the bank or the provider hold the keys — and what happens to them when the contract ends?</a:t>
            </a:r>
          </a:p>
        </p:txBody>
      </p:sp>
    </p:spTree>
    <p:extLst>
      <p:ext uri="{BB962C8B-B14F-4D97-AF65-F5344CB8AC3E}">
        <p14:creationId xmlns:p14="http://schemas.microsoft.com/office/powerpoint/2010/main" val="90646541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6450" name="Rectangle 2"/>
          <p:cNvSpPr>
            <a:spLocks noGrp="1" noChangeArrowheads="1"/>
          </p:cNvSpPr>
          <p:nvPr>
            <p:ph type="title"/>
          </p:nvPr>
        </p:nvSpPr>
        <p:spPr/>
        <p:txBody>
          <a:bodyPr/>
          <a:lstStyle/>
          <a:p>
            <a:r>
              <a:rPr lang="en-US" altLang="en-US"/>
              <a:t>Final Comments on Cryptography</a:t>
            </a:r>
          </a:p>
        </p:txBody>
      </p:sp>
      <p:sp>
        <p:nvSpPr>
          <p:cNvPr id="4456451" name="Rectangle 3"/>
          <p:cNvSpPr>
            <a:spLocks noGrp="1" noChangeArrowheads="1"/>
          </p:cNvSpPr>
          <p:nvPr>
            <p:ph idx="1"/>
          </p:nvPr>
        </p:nvSpPr>
        <p:spPr/>
        <p:txBody>
          <a:bodyPr/>
          <a:lstStyle/>
          <a:p>
            <a:r>
              <a:rPr lang="en-US" altLang="en-US"/>
              <a:t>Cryptography alone cannot guarantee 100% security</a:t>
            </a:r>
          </a:p>
          <a:p>
            <a:r>
              <a:rPr lang="en-US" altLang="en-US"/>
              <a:t>But we can achieve a high level of risk acceptance where benefits outweigh the losses</a:t>
            </a:r>
          </a:p>
          <a:p>
            <a:r>
              <a:rPr lang="en-US" altLang="en-US"/>
              <a:t>The goal is to balance the possible with the acceptable</a:t>
            </a:r>
          </a:p>
          <a:p>
            <a:r>
              <a:rPr lang="en-US" altLang="en-US"/>
              <a:t>Strong cryptographic systems can withstand attacks up to a point</a:t>
            </a:r>
          </a:p>
          <a:p>
            <a:r>
              <a:rPr lang="en-US" altLang="en-US"/>
              <a:t>The mathematics is rarely the weak link!</a:t>
            </a:r>
          </a:p>
          <a:p>
            <a:r>
              <a:rPr lang="en-US" altLang="en-US"/>
              <a:t>Must consider the threat, system design, implementation, users, and legal/political environment</a:t>
            </a:r>
          </a:p>
        </p:txBody>
      </p:sp>
      <p:sp>
        <p:nvSpPr>
          <p:cNvPr id="2" name="Slide Number Placeholder 1"/>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136</a:t>
            </a:fld>
            <a:endParaRPr lang="en-US">
              <a:solidFill>
                <a:schemeClr val="tx1">
                  <a:lumMod val="50000"/>
                  <a:lumOff val="50000"/>
                </a:schemeClr>
              </a:solidFill>
            </a:endParaRPr>
          </a:p>
        </p:txBody>
      </p:sp>
    </p:spTree>
    <p:custDataLst>
      <p:tags r:id="rId1"/>
    </p:custDataLst>
    <p:extLst>
      <p:ext uri="{BB962C8B-B14F-4D97-AF65-F5344CB8AC3E}">
        <p14:creationId xmlns:p14="http://schemas.microsoft.com/office/powerpoint/2010/main" val="354188740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InTREx Tie-In: Encryption</a:t>
            </a:r>
          </a:p>
        </p:txBody>
      </p:sp>
      <p:sp>
        <p:nvSpPr>
          <p:cNvPr id="3" name="Form frame"/>
          <p:cNvSpPr/>
          <p:nvPr/>
        </p:nvSpPr>
        <p:spPr>
          <a:xfrm>
            <a:off x="1257300" y="2514600"/>
            <a:ext cx="7863840" cy="3794760"/>
          </a:xfrm>
          <a:prstGeom prst="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Form header band"/>
          <p:cNvSpPr/>
          <p:nvPr/>
        </p:nvSpPr>
        <p:spPr>
          <a:xfrm>
            <a:off x="1257300" y="2514600"/>
            <a:ext cx="7863840" cy="548640"/>
          </a:xfrm>
          <a:prstGeom prst="rect">
            <a:avLst/>
          </a:prstGeom>
          <a:solidFill>
            <a:srgbClr val="D9D9D9"/>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rm header"/>
          <p:cNvSpPr txBox="1"/>
          <p:nvPr/>
        </p:nvSpPr>
        <p:spPr>
          <a:xfrm>
            <a:off x="1485900" y="2606040"/>
            <a:ext cx="7406640" cy="411480"/>
          </a:xfrm>
          <a:prstGeom prst="rect">
            <a:avLst/>
          </a:prstGeom>
          <a:noFill/>
        </p:spPr>
        <p:txBody>
          <a:bodyPr wrap="square" lIns="0" tIns="0" rIns="0" bIns="0" anchor="ctr">
            <a:spAutoFit/>
          </a:bodyPr>
          <a:lstStyle/>
          <a:p>
            <a:pPr algn="l">
              <a:spcAft>
                <a:spcPts val="600"/>
              </a:spcAft>
            </a:pPr>
            <a:r>
              <a:rPr sz="1800" b="1" i="0">
                <a:solidFill>
                  <a:srgbClr val="000000"/>
                </a:solidFill>
                <a:latin typeface="Helvetica Neue"/>
                <a:ea typeface="Helvetica Neue"/>
                <a:cs typeface="Helvetica Neue"/>
              </a:rPr>
              <a:t>Support &amp; Delivery module  ·  Encryption procedure</a:t>
            </a:r>
          </a:p>
        </p:txBody>
      </p:sp>
      <p:sp>
        <p:nvSpPr>
          <p:cNvPr id="6" name="Form question"/>
          <p:cNvSpPr txBox="1"/>
          <p:nvPr/>
        </p:nvSpPr>
        <p:spPr>
          <a:xfrm>
            <a:off x="1577340" y="3291840"/>
            <a:ext cx="7040879" cy="822960"/>
          </a:xfrm>
          <a:prstGeom prst="rect">
            <a:avLst/>
          </a:prstGeom>
          <a:noFill/>
        </p:spPr>
        <p:txBody>
          <a:bodyPr wrap="square" lIns="0" tIns="0" rIns="0" bIns="0" anchor="t">
            <a:spAutoFit/>
          </a:bodyPr>
          <a:lstStyle/>
          <a:p>
            <a:pPr algn="l">
              <a:spcAft>
                <a:spcPts val="600"/>
              </a:spcAft>
            </a:pPr>
            <a:r>
              <a:rPr sz="1900" b="0" i="0">
                <a:solidFill>
                  <a:srgbClr val="000000"/>
                </a:solidFill>
                <a:latin typeface="Helvetica Neue"/>
                <a:ea typeface="Helvetica Neue"/>
                <a:cs typeface="Helvetica Neue"/>
              </a:rPr>
              <a:t>Evaluate the use of encryption for sensitive institution and customer data at rest and in transit. Consider:</a:t>
            </a:r>
          </a:p>
        </p:txBody>
      </p:sp>
      <p:sp>
        <p:nvSpPr>
          <p:cNvPr id="7" name="Checkbox 1"/>
          <p:cNvSpPr/>
          <p:nvPr/>
        </p:nvSpPr>
        <p:spPr>
          <a:xfrm>
            <a:off x="1805940" y="4142231"/>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ption 1"/>
          <p:cNvSpPr txBox="1"/>
          <p:nvPr/>
        </p:nvSpPr>
        <p:spPr>
          <a:xfrm>
            <a:off x="2263140" y="4087368"/>
            <a:ext cx="2606040" cy="54864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Databases</a:t>
            </a:r>
          </a:p>
        </p:txBody>
      </p:sp>
      <p:sp>
        <p:nvSpPr>
          <p:cNvPr id="9" name="Checkbox 2"/>
          <p:cNvSpPr/>
          <p:nvPr/>
        </p:nvSpPr>
        <p:spPr>
          <a:xfrm>
            <a:off x="4960620" y="4142231"/>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ption 2"/>
          <p:cNvSpPr txBox="1"/>
          <p:nvPr/>
        </p:nvSpPr>
        <p:spPr>
          <a:xfrm>
            <a:off x="5417820" y="4087368"/>
            <a:ext cx="3108960" cy="54864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Mobile devices</a:t>
            </a:r>
          </a:p>
        </p:txBody>
      </p:sp>
      <p:sp>
        <p:nvSpPr>
          <p:cNvPr id="11" name="Checkbox 3"/>
          <p:cNvSpPr/>
          <p:nvPr/>
        </p:nvSpPr>
        <p:spPr>
          <a:xfrm>
            <a:off x="1805940" y="4828031"/>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ption 3"/>
          <p:cNvSpPr txBox="1"/>
          <p:nvPr/>
        </p:nvSpPr>
        <p:spPr>
          <a:xfrm>
            <a:off x="2263140" y="4773168"/>
            <a:ext cx="2606040" cy="54864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Email</a:t>
            </a:r>
          </a:p>
        </p:txBody>
      </p:sp>
      <p:sp>
        <p:nvSpPr>
          <p:cNvPr id="13" name="Checkbox 4"/>
          <p:cNvSpPr/>
          <p:nvPr/>
        </p:nvSpPr>
        <p:spPr>
          <a:xfrm>
            <a:off x="4960620" y="4828031"/>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ption 4"/>
          <p:cNvSpPr txBox="1"/>
          <p:nvPr/>
        </p:nvSpPr>
        <p:spPr>
          <a:xfrm>
            <a:off x="5417820" y="4773168"/>
            <a:ext cx="3108960" cy="54864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Backup media and storage devices</a:t>
            </a:r>
          </a:p>
        </p:txBody>
      </p:sp>
      <p:sp>
        <p:nvSpPr>
          <p:cNvPr id="15" name="Checkbox 5"/>
          <p:cNvSpPr/>
          <p:nvPr/>
        </p:nvSpPr>
        <p:spPr>
          <a:xfrm>
            <a:off x="1805940" y="5513831"/>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ption 5"/>
          <p:cNvSpPr txBox="1"/>
          <p:nvPr/>
        </p:nvSpPr>
        <p:spPr>
          <a:xfrm>
            <a:off x="2263140" y="5458968"/>
            <a:ext cx="2606040" cy="54864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Transmissions with third parties</a:t>
            </a:r>
          </a:p>
        </p:txBody>
      </p:sp>
      <p:sp>
        <p:nvSpPr>
          <p:cNvPr id="17" name="Checkbox 6"/>
          <p:cNvSpPr/>
          <p:nvPr/>
        </p:nvSpPr>
        <p:spPr>
          <a:xfrm>
            <a:off x="4960620" y="5513831"/>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ption 6"/>
          <p:cNvSpPr txBox="1"/>
          <p:nvPr/>
        </p:nvSpPr>
        <p:spPr>
          <a:xfrm>
            <a:off x="5417820" y="5458968"/>
            <a:ext cx="3108960" cy="54864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Password databases</a:t>
            </a:r>
          </a:p>
        </p:txBody>
      </p:sp>
      <p:pic>
        <p:nvPicPr>
          <p:cNvPr id="19" name="Lock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81060" y="2551176"/>
            <a:ext cx="475488" cy="475488"/>
          </a:xfrm>
          <a:prstGeom prst="rect">
            <a:avLst/>
          </a:prstGeom>
        </p:spPr>
      </p:pic>
      <p:sp>
        <p:nvSpPr>
          <p:cNvPr id="20" name="Quote panel"/>
          <p:cNvSpPr/>
          <p:nvPr/>
        </p:nvSpPr>
        <p:spPr>
          <a:xfrm>
            <a:off x="9692640" y="2514600"/>
            <a:ext cx="7315200" cy="379476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Quote mark"/>
          <p:cNvSpPr txBox="1"/>
          <p:nvPr/>
        </p:nvSpPr>
        <p:spPr>
          <a:xfrm>
            <a:off x="9966960" y="2560320"/>
            <a:ext cx="914400" cy="914400"/>
          </a:xfrm>
          <a:prstGeom prst="rect">
            <a:avLst/>
          </a:prstGeom>
          <a:noFill/>
        </p:spPr>
        <p:txBody>
          <a:bodyPr wrap="square" lIns="0" tIns="0" rIns="0" bIns="0" anchor="t">
            <a:spAutoFit/>
          </a:bodyPr>
          <a:lstStyle/>
          <a:p>
            <a:pPr algn="l">
              <a:spcAft>
                <a:spcPts val="600"/>
              </a:spcAft>
            </a:pPr>
            <a:r>
              <a:rPr sz="9600" b="1" i="0">
                <a:solidFill>
                  <a:srgbClr val="8EA9DB"/>
                </a:solidFill>
                <a:latin typeface="Helvetica Neue"/>
                <a:ea typeface="Helvetica Neue"/>
                <a:cs typeface="Helvetica Neue"/>
              </a:rPr>
              <a:t>“</a:t>
            </a:r>
          </a:p>
        </p:txBody>
      </p:sp>
      <p:sp>
        <p:nvSpPr>
          <p:cNvPr id="22" name="Quote text"/>
          <p:cNvSpPr txBox="1"/>
          <p:nvPr/>
        </p:nvSpPr>
        <p:spPr>
          <a:xfrm>
            <a:off x="10149840" y="3291840"/>
            <a:ext cx="6400800" cy="1737360"/>
          </a:xfrm>
          <a:prstGeom prst="rect">
            <a:avLst/>
          </a:prstGeom>
          <a:noFill/>
        </p:spPr>
        <p:txBody>
          <a:bodyPr wrap="square" lIns="0" tIns="0" rIns="0" bIns="0" anchor="t">
            <a:spAutoFit/>
          </a:bodyPr>
          <a:lstStyle/>
          <a:p>
            <a:pPr algn="l">
              <a:spcAft>
                <a:spcPts val="600"/>
              </a:spcAft>
            </a:pPr>
            <a:r>
              <a:rPr sz="2800" b="0" i="1">
                <a:solidFill>
                  <a:srgbClr val="000000"/>
                </a:solidFill>
                <a:latin typeface="Helvetica Neue"/>
                <a:ea typeface="Helvetica Neue"/>
                <a:cs typeface="Helvetica Neue"/>
              </a:rPr>
              <a:t>All passwords are encrypted in storage and in transit.</a:t>
            </a:r>
          </a:p>
        </p:txBody>
      </p:sp>
      <p:sp>
        <p:nvSpPr>
          <p:cNvPr id="23" name="Quote source"/>
          <p:cNvSpPr txBox="1"/>
          <p:nvPr/>
        </p:nvSpPr>
        <p:spPr>
          <a:xfrm>
            <a:off x="10149840" y="4937760"/>
            <a:ext cx="6400800" cy="365760"/>
          </a:xfrm>
          <a:prstGeom prst="rect">
            <a:avLst/>
          </a:prstGeom>
          <a:noFill/>
        </p:spPr>
        <p:txBody>
          <a:bodyPr wrap="square" lIns="0" tIns="0" rIns="0" bIns="0" anchor="t">
            <a:spAutoFit/>
          </a:bodyPr>
          <a:lstStyle/>
          <a:p>
            <a:pPr algn="l">
              <a:spcAft>
                <a:spcPts val="600"/>
              </a:spcAft>
            </a:pPr>
            <a:r>
              <a:rPr sz="1600" b="0" i="0">
                <a:solidFill>
                  <a:srgbClr val="595959"/>
                </a:solidFill>
                <a:latin typeface="Helvetica Neue"/>
                <a:ea typeface="Helvetica Neue"/>
                <a:cs typeface="Helvetica Neue"/>
              </a:rPr>
              <a:t>InTREx baseline cybersecurity statement: encryption</a:t>
            </a:r>
          </a:p>
        </p:txBody>
      </p:sp>
      <p:sp>
        <p:nvSpPr>
          <p:cNvPr id="24" name="Quote prompt"/>
          <p:cNvSpPr txBox="1"/>
          <p:nvPr/>
        </p:nvSpPr>
        <p:spPr>
          <a:xfrm>
            <a:off x="10149840" y="5486400"/>
            <a:ext cx="6400800" cy="548640"/>
          </a:xfrm>
          <a:prstGeom prst="rect">
            <a:avLst/>
          </a:prstGeom>
          <a:noFill/>
        </p:spPr>
        <p:txBody>
          <a:bodyPr wrap="square" lIns="0" tIns="0" rIns="0" bIns="0" anchor="t">
            <a:spAutoFit/>
          </a:bodyPr>
          <a:lstStyle/>
          <a:p>
            <a:pPr algn="l">
              <a:spcAft>
                <a:spcPts val="600"/>
              </a:spcAft>
            </a:pPr>
            <a:r>
              <a:rPr sz="2400" b="1" i="0">
                <a:solidFill>
                  <a:srgbClr val="000000"/>
                </a:solidFill>
                <a:latin typeface="Helvetica Neue"/>
                <a:ea typeface="Helvetica Neue"/>
                <a:cs typeface="Helvetica Neue"/>
              </a:rPr>
              <a:t>Which box would a community bank struggle to check?</a:t>
            </a:r>
          </a:p>
        </p:txBody>
      </p:sp>
      <p:sp>
        <p:nvSpPr>
          <p:cNvPr id="25" name="Leads heading"/>
          <p:cNvSpPr txBox="1"/>
          <p:nvPr/>
        </p:nvSpPr>
        <p:spPr>
          <a:xfrm>
            <a:off x="1257300" y="6675120"/>
            <a:ext cx="10972800" cy="457200"/>
          </a:xfrm>
          <a:prstGeom prst="rect">
            <a:avLst/>
          </a:prstGeom>
          <a:noFill/>
        </p:spPr>
        <p:txBody>
          <a:bodyPr wrap="square" lIns="0" tIns="0" rIns="0" bIns="0" anchor="t">
            <a:spAutoFit/>
          </a:bodyPr>
          <a:lstStyle/>
          <a:p>
            <a:pPr algn="l">
              <a:spcAft>
                <a:spcPts val="600"/>
              </a:spcAft>
            </a:pPr>
            <a:r>
              <a:rPr sz="2400" b="1" i="0">
                <a:solidFill>
                  <a:srgbClr val="000000"/>
                </a:solidFill>
                <a:latin typeface="Helvetica Neue"/>
                <a:ea typeface="Helvetica Neue"/>
                <a:cs typeface="Helvetica Neue"/>
              </a:rPr>
              <a:t>Encryption shows up all over InTREx</a:t>
            </a:r>
          </a:p>
        </p:txBody>
      </p:sp>
      <p:sp>
        <p:nvSpPr>
          <p:cNvPr id="26" name="Card 1"/>
          <p:cNvSpPr/>
          <p:nvPr/>
        </p:nvSpPr>
        <p:spPr>
          <a:xfrm>
            <a:off x="1257300"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Card 1 text"/>
          <p:cNvSpPr txBox="1"/>
          <p:nvPr/>
        </p:nvSpPr>
        <p:spPr>
          <a:xfrm>
            <a:off x="1485900" y="7470648"/>
            <a:ext cx="3246120" cy="1783080"/>
          </a:xfrm>
          <a:prstGeom prst="rect">
            <a:avLst/>
          </a:prstGeom>
          <a:noFill/>
        </p:spPr>
        <p:txBody>
          <a:bodyPr wrap="square" lIns="0" tIns="0" rIns="0" bIns="0" anchor="t">
            <a:spAutoFit/>
          </a:bodyPr>
          <a:lstStyle/>
          <a:p>
            <a:pPr algn="l">
              <a:spcAft>
                <a:spcPts val="800"/>
              </a:spcAft>
            </a:pPr>
            <a:r>
              <a:rPr sz="2000" b="1" i="0">
                <a:solidFill>
                  <a:srgbClr val="000000"/>
                </a:solidFill>
                <a:latin typeface="Helvetica Neue"/>
                <a:ea typeface="Helvetica Neue"/>
                <a:cs typeface="Helvetica Neue"/>
              </a:rPr>
              <a:t>Information security program</a:t>
            </a:r>
          </a:p>
          <a:p>
            <a:pPr algn="l">
              <a:spcAft>
                <a:spcPts val="800"/>
              </a:spcAft>
            </a:pPr>
            <a:r>
              <a:rPr sz="1700" b="0" i="0">
                <a:solidFill>
                  <a:srgbClr val="000000"/>
                </a:solidFill>
                <a:latin typeface="Helvetica Neue"/>
                <a:ea typeface="Helvetica Neue"/>
                <a:cs typeface="Helvetica Neue"/>
              </a:rPr>
              <a:t>Encryption of customer information in transit and in storage is a required element (GLBA)</a:t>
            </a:r>
          </a:p>
        </p:txBody>
      </p:sp>
      <p:sp>
        <p:nvSpPr>
          <p:cNvPr id="28" name="Card 2"/>
          <p:cNvSpPr/>
          <p:nvPr/>
        </p:nvSpPr>
        <p:spPr>
          <a:xfrm>
            <a:off x="5280659"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Card 2 text"/>
          <p:cNvSpPr txBox="1"/>
          <p:nvPr/>
        </p:nvSpPr>
        <p:spPr>
          <a:xfrm>
            <a:off x="5509259" y="7470648"/>
            <a:ext cx="3246120" cy="1783080"/>
          </a:xfrm>
          <a:prstGeom prst="rect">
            <a:avLst/>
          </a:prstGeom>
          <a:noFill/>
        </p:spPr>
        <p:txBody>
          <a:bodyPr wrap="square" lIns="0" tIns="0" rIns="0" bIns="0" anchor="t">
            <a:spAutoFit/>
          </a:bodyPr>
          <a:lstStyle/>
          <a:p>
            <a:pPr algn="l">
              <a:spcAft>
                <a:spcPts val="800"/>
              </a:spcAft>
            </a:pPr>
            <a:r>
              <a:rPr sz="2000" b="1" i="0">
                <a:solidFill>
                  <a:srgbClr val="000000"/>
                </a:solidFill>
                <a:latin typeface="Helvetica Neue"/>
                <a:ea typeface="Helvetica Neue"/>
                <a:cs typeface="Helvetica Neue"/>
              </a:rPr>
              <a:t>Remote access</a:t>
            </a:r>
          </a:p>
          <a:p>
            <a:pPr algn="l">
              <a:spcAft>
                <a:spcPts val="800"/>
              </a:spcAft>
            </a:pPr>
            <a:r>
              <a:rPr sz="1700" b="0" i="0">
                <a:solidFill>
                  <a:srgbClr val="000000"/>
                </a:solidFill>
                <a:latin typeface="Helvetica Neue"/>
                <a:ea typeface="Helvetica Neue"/>
                <a:cs typeface="Helvetica Neue"/>
              </a:rPr>
              <a:t>Encrypted connections and multifactor authentication for employees, contractors and vendors</a:t>
            </a:r>
          </a:p>
        </p:txBody>
      </p:sp>
      <p:sp>
        <p:nvSpPr>
          <p:cNvPr id="30" name="Card 3"/>
          <p:cNvSpPr/>
          <p:nvPr/>
        </p:nvSpPr>
        <p:spPr>
          <a:xfrm>
            <a:off x="9304019"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Card 3 text"/>
          <p:cNvSpPr txBox="1"/>
          <p:nvPr/>
        </p:nvSpPr>
        <p:spPr>
          <a:xfrm>
            <a:off x="9532619" y="7470648"/>
            <a:ext cx="3246120" cy="1783080"/>
          </a:xfrm>
          <a:prstGeom prst="rect">
            <a:avLst/>
          </a:prstGeom>
          <a:noFill/>
        </p:spPr>
        <p:txBody>
          <a:bodyPr wrap="square" lIns="0" tIns="0" rIns="0" bIns="0" anchor="t">
            <a:spAutoFit/>
          </a:bodyPr>
          <a:lstStyle/>
          <a:p>
            <a:pPr algn="l">
              <a:spcAft>
                <a:spcPts val="800"/>
              </a:spcAft>
            </a:pPr>
            <a:r>
              <a:rPr sz="2000" b="1" i="0">
                <a:solidFill>
                  <a:srgbClr val="000000"/>
                </a:solidFill>
                <a:latin typeface="Helvetica Neue"/>
                <a:ea typeface="Helvetica Neue"/>
                <a:cs typeface="Helvetica Neue"/>
              </a:rPr>
              <a:t>Wireless</a:t>
            </a:r>
          </a:p>
          <a:p>
            <a:pPr algn="l">
              <a:spcAft>
                <a:spcPts val="800"/>
              </a:spcAft>
            </a:pPr>
            <a:r>
              <a:rPr sz="1700" b="0" i="0">
                <a:solidFill>
                  <a:srgbClr val="000000"/>
                </a:solidFill>
                <a:latin typeface="Helvetica Neue"/>
                <a:ea typeface="Helvetica Neue"/>
                <a:cs typeface="Helvetica Neue"/>
              </a:rPr>
              <a:t>Strong encryption for Wi-Fi authentication and transmission</a:t>
            </a:r>
          </a:p>
        </p:txBody>
      </p:sp>
      <p:sp>
        <p:nvSpPr>
          <p:cNvPr id="32" name="Card 4"/>
          <p:cNvSpPr/>
          <p:nvPr/>
        </p:nvSpPr>
        <p:spPr>
          <a:xfrm>
            <a:off x="13327380"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Card 4 text"/>
          <p:cNvSpPr txBox="1"/>
          <p:nvPr/>
        </p:nvSpPr>
        <p:spPr>
          <a:xfrm>
            <a:off x="13555980" y="7470648"/>
            <a:ext cx="3246120" cy="1783080"/>
          </a:xfrm>
          <a:prstGeom prst="rect">
            <a:avLst/>
          </a:prstGeom>
          <a:noFill/>
        </p:spPr>
        <p:txBody>
          <a:bodyPr wrap="square" lIns="0" tIns="0" rIns="0" bIns="0" anchor="t">
            <a:spAutoFit/>
          </a:bodyPr>
          <a:lstStyle/>
          <a:p>
            <a:pPr algn="l">
              <a:spcAft>
                <a:spcPts val="800"/>
              </a:spcAft>
            </a:pPr>
            <a:r>
              <a:rPr sz="2000" b="1" i="0">
                <a:solidFill>
                  <a:srgbClr val="000000"/>
                </a:solidFill>
                <a:latin typeface="Helvetica Neue"/>
                <a:ea typeface="Helvetica Neue"/>
                <a:cs typeface="Helvetica Neue"/>
              </a:rPr>
              <a:t>Vendors and cloud</a:t>
            </a:r>
          </a:p>
          <a:p>
            <a:pPr algn="l">
              <a:spcAft>
                <a:spcPts val="800"/>
              </a:spcAft>
            </a:pPr>
            <a:r>
              <a:rPr sz="1700" b="0" i="0">
                <a:solidFill>
                  <a:srgbClr val="000000"/>
                </a:solidFill>
                <a:latin typeface="Helvetica Neue"/>
                <a:ea typeface="Helvetica Neue"/>
                <a:cs typeface="Helvetica Neue"/>
              </a:rPr>
              <a:t>Banks must assess whether critical vendors encrypt the customer information they hold</a:t>
            </a:r>
          </a:p>
        </p:txBody>
      </p:sp>
      <p:sp>
        <p:nvSpPr>
          <p:cNvPr id="34" name="Source note"/>
          <p:cNvSpPr txBox="1"/>
          <p:nvPr/>
        </p:nvSpPr>
        <p:spPr>
          <a:xfrm>
            <a:off x="1257300" y="9646920"/>
            <a:ext cx="15773400" cy="320040"/>
          </a:xfrm>
          <a:prstGeom prst="rect">
            <a:avLst/>
          </a:prstGeom>
          <a:noFill/>
        </p:spPr>
        <p:txBody>
          <a:bodyPr wrap="square" lIns="0" tIns="0" rIns="0" bIns="0" anchor="t">
            <a:spAutoFit/>
          </a:bodyPr>
          <a:lstStyle/>
          <a:p>
            <a:pPr algn="l">
              <a:spcAft>
                <a:spcPts val="600"/>
              </a:spcAft>
            </a:pPr>
            <a:r>
              <a:rPr sz="1300" b="0" i="0">
                <a:solidFill>
                  <a:srgbClr val="7F7F7F"/>
                </a:solidFill>
                <a:latin typeface="Helvetica Neue"/>
                <a:ea typeface="Helvetica Neue"/>
                <a:cs typeface="Helvetica Neue"/>
              </a:rPr>
              <a:t>Source: InTREx Management, Support &amp; Delivery and Management Expanded Analysis modules (September 2023 version)</a:t>
            </a:r>
          </a:p>
        </p:txBody>
      </p:sp>
    </p:spTree>
    <p:extLst>
      <p:ext uri="{BB962C8B-B14F-4D97-AF65-F5344CB8AC3E}">
        <p14:creationId xmlns:p14="http://schemas.microsoft.com/office/powerpoint/2010/main" val="296204931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Chapter 19: Virtualization</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70792-42D9-6047-8811-06D128AA11DF}"/>
              </a:ext>
            </a:extLst>
          </p:cNvPr>
          <p:cNvSpPr>
            <a:spLocks noGrp="1"/>
          </p:cNvSpPr>
          <p:nvPr>
            <p:ph type="title"/>
          </p:nvPr>
        </p:nvSpPr>
        <p:spPr/>
        <p:txBody>
          <a:bodyPr/>
          <a:lstStyle/>
          <a:p>
            <a:r>
              <a:rPr lang="en-US"/>
              <a:t>Software Eats the World</a:t>
            </a:r>
          </a:p>
        </p:txBody>
      </p:sp>
      <p:sp>
        <p:nvSpPr>
          <p:cNvPr id="3" name="Content Placeholder 2">
            <a:extLst>
              <a:ext uri="{FF2B5EF4-FFF2-40B4-BE49-F238E27FC236}">
                <a16:creationId xmlns:a16="http://schemas.microsoft.com/office/drawing/2014/main" id="{B4482310-140C-A54E-AA0E-011B3EB365C6}"/>
              </a:ext>
            </a:extLst>
          </p:cNvPr>
          <p:cNvSpPr>
            <a:spLocks noGrp="1"/>
          </p:cNvSpPr>
          <p:nvPr>
            <p:ph idx="1"/>
          </p:nvPr>
        </p:nvSpPr>
        <p:spPr>
          <a:xfrm>
            <a:off x="1257301" y="2193131"/>
            <a:ext cx="11884542" cy="6967198"/>
          </a:xfrm>
        </p:spPr>
        <p:txBody>
          <a:bodyPr>
            <a:normAutofit fontScale="92500"/>
          </a:bodyPr>
          <a:lstStyle/>
          <a:p>
            <a:r>
              <a:rPr lang="en-US"/>
              <a:t>Marc Andreesen (Netscape, Andreesen Horowitz)</a:t>
            </a:r>
          </a:p>
          <a:p>
            <a:r>
              <a:rPr lang="en-US"/>
              <a:t>Every device, appliance or box in this course is going away or being consolidated with others</a:t>
            </a:r>
          </a:p>
          <a:p>
            <a:r>
              <a:rPr lang="en-US"/>
              <a:t>They are being replaced with software running on:</a:t>
            </a:r>
          </a:p>
          <a:p>
            <a:pPr lvl="1"/>
            <a:r>
              <a:rPr lang="en-US"/>
              <a:t>General purpose silicon (CPUs)</a:t>
            </a:r>
          </a:p>
          <a:p>
            <a:pPr lvl="1"/>
            <a:r>
              <a:rPr lang="en-US"/>
              <a:t>Graphics processors (GPUs)</a:t>
            </a:r>
          </a:p>
          <a:p>
            <a:pPr lvl="1"/>
            <a:r>
              <a:rPr lang="en-US"/>
              <a:t>Embedded Devices</a:t>
            </a:r>
          </a:p>
          <a:p>
            <a:pPr lvl="1"/>
            <a:r>
              <a:rPr lang="en-US"/>
              <a:t>Almost everything else (IoT, appliances, smart devices)</a:t>
            </a:r>
          </a:p>
          <a:p>
            <a:r>
              <a:rPr lang="en-US"/>
              <a:t>This trend is not confined to networking!</a:t>
            </a:r>
          </a:p>
        </p:txBody>
      </p:sp>
      <p:pic>
        <p:nvPicPr>
          <p:cNvPr id="1028" name="Picture 4">
            <a:hlinkClick r:id="rId3"/>
            <a:extLst>
              <a:ext uri="{FF2B5EF4-FFF2-40B4-BE49-F238E27FC236}">
                <a16:creationId xmlns:a16="http://schemas.microsoft.com/office/drawing/2014/main" id="{16A393C5-502D-2243-9716-41C4084E13AF}"/>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3347939" y="7137399"/>
            <a:ext cx="6019800" cy="3149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710475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Virtualization</a:t>
            </a:r>
          </a:p>
        </p:txBody>
      </p:sp>
      <p:sp>
        <p:nvSpPr>
          <p:cNvPr id="3" name="Content Placeholder 2"/>
          <p:cNvSpPr>
            <a:spLocks noGrp="1"/>
          </p:cNvSpPr>
          <p:nvPr>
            <p:ph idx="1"/>
          </p:nvPr>
        </p:nvSpPr>
        <p:spPr>
          <a:xfrm>
            <a:off x="1257300" y="2248273"/>
            <a:ext cx="11700417" cy="6967198"/>
          </a:xfrm>
        </p:spPr>
        <p:txBody>
          <a:bodyPr>
            <a:normAutofit lnSpcReduction="10000"/>
          </a:bodyPr>
          <a:lstStyle/>
          <a:p>
            <a:r>
              <a:rPr lang="en-US"/>
              <a:t>Virtualization started with the recognition that server power had increased significantly and most servers were underutilized</a:t>
            </a:r>
          </a:p>
          <a:p>
            <a:r>
              <a:rPr lang="en-US"/>
              <a:t>Servers often support a single application only</a:t>
            </a:r>
          </a:p>
          <a:p>
            <a:r>
              <a:rPr lang="en-US"/>
              <a:t>The 1960’s virtual machine concept came to the rescue</a:t>
            </a:r>
          </a:p>
          <a:p>
            <a:r>
              <a:rPr lang="en-US"/>
              <a:t>One server can now act as multiple virtual servers</a:t>
            </a:r>
          </a:p>
          <a:p>
            <a:r>
              <a:rPr lang="en-US"/>
              <a:t>Concept has expanded to storage and networks</a:t>
            </a:r>
          </a:p>
        </p:txBody>
      </p:sp>
      <p:sp>
        <p:nvSpPr>
          <p:cNvPr id="4" name="Slide Number Placeholder 3"/>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140</a:t>
            </a:fld>
            <a:endParaRPr lang="en-US">
              <a:solidFill>
                <a:schemeClr val="tx1">
                  <a:lumMod val="50000"/>
                  <a:lumOff val="50000"/>
                </a:schemeClr>
              </a:solidFill>
            </a:endParaRPr>
          </a:p>
        </p:txBody>
      </p:sp>
      <p:grpSp>
        <p:nvGrpSpPr>
          <p:cNvPr id="21" name="Group 20">
            <a:extLst>
              <a:ext uri="{FF2B5EF4-FFF2-40B4-BE49-F238E27FC236}">
                <a16:creationId xmlns:a16="http://schemas.microsoft.com/office/drawing/2014/main" id="{9B31C567-0AE1-2353-92D5-D0A97CF46BF0}"/>
              </a:ext>
            </a:extLst>
          </p:cNvPr>
          <p:cNvGrpSpPr/>
          <p:nvPr/>
        </p:nvGrpSpPr>
        <p:grpSpPr>
          <a:xfrm>
            <a:off x="14312900" y="5545546"/>
            <a:ext cx="3136900" cy="3151672"/>
            <a:chOff x="14312900" y="5545546"/>
            <a:chExt cx="3136900" cy="3151672"/>
          </a:xfrm>
        </p:grpSpPr>
        <p:sp>
          <p:nvSpPr>
            <p:cNvPr id="15" name="Rectangle 14">
              <a:extLst>
                <a:ext uri="{FF2B5EF4-FFF2-40B4-BE49-F238E27FC236}">
                  <a16:creationId xmlns:a16="http://schemas.microsoft.com/office/drawing/2014/main" id="{B0DD2843-C7FD-3479-E666-5CA288E4E692}"/>
                </a:ext>
              </a:extLst>
            </p:cNvPr>
            <p:cNvSpPr/>
            <p:nvPr/>
          </p:nvSpPr>
          <p:spPr>
            <a:xfrm>
              <a:off x="14312900" y="5545546"/>
              <a:ext cx="3136900" cy="982253"/>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0A16735-5E19-549C-172E-7BB3338861EC}"/>
                </a:ext>
              </a:extLst>
            </p:cNvPr>
            <p:cNvSpPr/>
            <p:nvPr/>
          </p:nvSpPr>
          <p:spPr>
            <a:xfrm>
              <a:off x="14312900" y="6542782"/>
              <a:ext cx="3136900" cy="1077218"/>
            </a:xfrm>
            <a:prstGeom prst="rect">
              <a:avLst/>
            </a:prstGeom>
            <a:solidFill>
              <a:schemeClr val="accent2">
                <a:lumMod val="60000"/>
                <a:lumOff val="4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DBC10AE-F342-94F7-3BF3-909510FD6AE2}"/>
                </a:ext>
              </a:extLst>
            </p:cNvPr>
            <p:cNvSpPr/>
            <p:nvPr/>
          </p:nvSpPr>
          <p:spPr>
            <a:xfrm>
              <a:off x="14312900" y="7620000"/>
              <a:ext cx="3136900" cy="1077218"/>
            </a:xfrm>
            <a:prstGeom prst="rect">
              <a:avLst/>
            </a:prstGeom>
            <a:solidFill>
              <a:schemeClr val="accent2">
                <a:lumMod val="75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4B89C48-37E4-D032-3E2A-83AF5371B9BA}"/>
                </a:ext>
              </a:extLst>
            </p:cNvPr>
            <p:cNvSpPr txBox="1"/>
            <p:nvPr/>
          </p:nvSpPr>
          <p:spPr>
            <a:xfrm>
              <a:off x="14793552" y="5804927"/>
              <a:ext cx="2327881" cy="584775"/>
            </a:xfrm>
            <a:prstGeom prst="rect">
              <a:avLst/>
            </a:prstGeom>
            <a:noFill/>
          </p:spPr>
          <p:txBody>
            <a:bodyPr wrap="none" rtlCol="0">
              <a:spAutoFit/>
            </a:bodyPr>
            <a:lstStyle/>
            <a:p>
              <a:r>
                <a:rPr lang="en-US" sz="3200">
                  <a:latin typeface="Helvetica Neue Medium" panose="02000503000000020004" pitchFamily="2" charset="0"/>
                  <a:ea typeface="Helvetica Neue Medium" panose="02000503000000020004" pitchFamily="2" charset="0"/>
                  <a:cs typeface="Helvetica Neue Medium" panose="02000503000000020004" pitchFamily="2" charset="0"/>
                </a:rPr>
                <a:t>Application</a:t>
              </a:r>
            </a:p>
          </p:txBody>
        </p:sp>
        <p:sp>
          <p:nvSpPr>
            <p:cNvPr id="19" name="TextBox 18">
              <a:extLst>
                <a:ext uri="{FF2B5EF4-FFF2-40B4-BE49-F238E27FC236}">
                  <a16:creationId xmlns:a16="http://schemas.microsoft.com/office/drawing/2014/main" id="{33A7ABB1-7AD9-17E1-1EDA-5BCA58311AE3}"/>
                </a:ext>
              </a:extLst>
            </p:cNvPr>
            <p:cNvSpPr txBox="1"/>
            <p:nvPr/>
          </p:nvSpPr>
          <p:spPr>
            <a:xfrm>
              <a:off x="14793552" y="6536146"/>
              <a:ext cx="2175596" cy="1077218"/>
            </a:xfrm>
            <a:prstGeom prst="rect">
              <a:avLst/>
            </a:prstGeom>
            <a:noFill/>
          </p:spPr>
          <p:txBody>
            <a:bodyPr wrap="none" rtlCol="0">
              <a:spAutoFit/>
            </a:bodyPr>
            <a:lstStyle/>
            <a:p>
              <a:pPr algn="ctr"/>
              <a:r>
                <a:rPr lang="en-US" sz="320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Operating </a:t>
              </a:r>
            </a:p>
            <a:p>
              <a:pPr algn="ctr"/>
              <a:r>
                <a:rPr lang="en-US" sz="320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System</a:t>
              </a:r>
            </a:p>
          </p:txBody>
        </p:sp>
        <p:sp>
          <p:nvSpPr>
            <p:cNvPr id="20" name="TextBox 19">
              <a:extLst>
                <a:ext uri="{FF2B5EF4-FFF2-40B4-BE49-F238E27FC236}">
                  <a16:creationId xmlns:a16="http://schemas.microsoft.com/office/drawing/2014/main" id="{793EDA07-F28A-E25C-B52A-737BE5495DAA}"/>
                </a:ext>
              </a:extLst>
            </p:cNvPr>
            <p:cNvSpPr txBox="1"/>
            <p:nvPr/>
          </p:nvSpPr>
          <p:spPr>
            <a:xfrm>
              <a:off x="14877870" y="7803863"/>
              <a:ext cx="2006960" cy="584775"/>
            </a:xfrm>
            <a:prstGeom prst="rect">
              <a:avLst/>
            </a:prstGeom>
            <a:noFill/>
          </p:spPr>
          <p:txBody>
            <a:bodyPr wrap="none" rtlCol="0">
              <a:spAutoFit/>
            </a:bodyPr>
            <a:lstStyle/>
            <a:p>
              <a:r>
                <a:rPr lang="en-US" sz="320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Hardware</a:t>
              </a:r>
            </a:p>
          </p:txBody>
        </p:sp>
      </p:grpSp>
    </p:spTree>
    <p:custDataLst>
      <p:tags r:id="rId1"/>
    </p:custDataLst>
    <p:extLst>
      <p:ext uri="{BB962C8B-B14F-4D97-AF65-F5344CB8AC3E}">
        <p14:creationId xmlns:p14="http://schemas.microsoft.com/office/powerpoint/2010/main" val="255166490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954529" y="279710"/>
            <a:ext cx="15773400" cy="1988345"/>
          </a:xfrm>
        </p:spPr>
        <p:txBody>
          <a:bodyPr>
            <a:normAutofit/>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Virtual Machines Benefits </a:t>
            </a:r>
          </a:p>
        </p:txBody>
      </p:sp>
      <p:sp>
        <p:nvSpPr>
          <p:cNvPr id="2" name="Slide Number Placeholder 1"/>
          <p:cNvSpPr>
            <a:spLocks noGrp="1"/>
          </p:cNvSpPr>
          <p:nvPr>
            <p:ph type="sldNum" sz="quarter" idx="10"/>
          </p:nvPr>
        </p:nvSpPr>
        <p:spPr>
          <a:prstGeom prst="rect">
            <a:avLst/>
          </a:prstGeom>
        </p:spPr>
        <p:txBody>
          <a:bodyPr/>
          <a:lstStyle/>
          <a:p>
            <a:fld id="{52B67DA5-9DD9-4BCA-8370-9CA784C1DE92}" type="slidenum">
              <a:rPr lang="en-US" smtClean="0"/>
              <a:pPr/>
              <a:t>141</a:t>
            </a:fld>
            <a:endParaRPr lang="en-US"/>
          </a:p>
        </p:txBody>
      </p:sp>
      <p:grpSp>
        <p:nvGrpSpPr>
          <p:cNvPr id="3" name="Group 2"/>
          <p:cNvGrpSpPr/>
          <p:nvPr/>
        </p:nvGrpSpPr>
        <p:grpSpPr>
          <a:xfrm>
            <a:off x="3172410" y="1687055"/>
            <a:ext cx="11772900" cy="8249198"/>
            <a:chOff x="590940" y="1201703"/>
            <a:chExt cx="7848600" cy="5499463"/>
          </a:xfrm>
        </p:grpSpPr>
        <p:grpSp>
          <p:nvGrpSpPr>
            <p:cNvPr id="112" name="Group 111"/>
            <p:cNvGrpSpPr/>
            <p:nvPr>
              <p:custDataLst>
                <p:tags r:id="rId2"/>
              </p:custDataLst>
            </p:nvPr>
          </p:nvGrpSpPr>
          <p:grpSpPr>
            <a:xfrm>
              <a:off x="3463722" y="2086328"/>
              <a:ext cx="2145645" cy="2389765"/>
              <a:chOff x="3673021" y="1295400"/>
              <a:chExt cx="2187308" cy="2895600"/>
            </a:xfrm>
          </p:grpSpPr>
          <p:sp>
            <p:nvSpPr>
              <p:cNvPr id="106" name="Rounded Rectangle 105"/>
              <p:cNvSpPr>
                <a:spLocks noChangeAspect="1"/>
              </p:cNvSpPr>
              <p:nvPr/>
            </p:nvSpPr>
            <p:spPr>
              <a:xfrm>
                <a:off x="4597052" y="3200400"/>
                <a:ext cx="304800" cy="99060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6" name="Rounded Rectangle 15"/>
              <p:cNvSpPr>
                <a:spLocks noChangeAspect="1"/>
              </p:cNvSpPr>
              <p:nvPr/>
            </p:nvSpPr>
            <p:spPr>
              <a:xfrm>
                <a:off x="3673021" y="1295400"/>
                <a:ext cx="2187308" cy="2407958"/>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1" name="Rounded Rectangle 20"/>
              <p:cNvSpPr>
                <a:spLocks noChangeAspect="1"/>
              </p:cNvSpPr>
              <p:nvPr/>
            </p:nvSpPr>
            <p:spPr>
              <a:xfrm>
                <a:off x="3791315" y="2386622"/>
                <a:ext cx="1950720" cy="682752"/>
              </a:xfrm>
              <a:prstGeom prst="roundRect">
                <a:avLst/>
              </a:prstGeom>
              <a:solidFill>
                <a:schemeClr val="accent2">
                  <a:lumMod val="60000"/>
                  <a:lumOff val="40000"/>
                </a:schemeClr>
              </a:solidFill>
              <a:ln>
                <a:solidFill>
                  <a:schemeClr val="tx1"/>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2" name="Rounded Rectangle 21"/>
              <p:cNvSpPr>
                <a:spLocks noChangeAspect="1"/>
              </p:cNvSpPr>
              <p:nvPr/>
            </p:nvSpPr>
            <p:spPr>
              <a:xfrm>
                <a:off x="3793293" y="1524000"/>
                <a:ext cx="1946764" cy="682752"/>
              </a:xfrm>
              <a:prstGeom prst="roundRect">
                <a:avLst/>
              </a:prstGeom>
              <a:solidFill>
                <a:schemeClr val="accent2">
                  <a:lumMod val="40000"/>
                  <a:lumOff val="60000"/>
                </a:schemeClr>
              </a:solidFill>
              <a:ln>
                <a:solidFill>
                  <a:schemeClr val="tx1"/>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3" name="TextBox 22"/>
              <p:cNvSpPr txBox="1"/>
              <p:nvPr/>
            </p:nvSpPr>
            <p:spPr>
              <a:xfrm>
                <a:off x="4020857" y="1680710"/>
                <a:ext cx="1491634" cy="447507"/>
              </a:xfrm>
              <a:prstGeom prst="rect">
                <a:avLst/>
              </a:prstGeom>
              <a:noFill/>
            </p:spPr>
            <p:txBody>
              <a:bodyPr wrap="none" rtlCol="0">
                <a:spAutoFit/>
              </a:bodyPr>
              <a:lstStyle/>
              <a:p>
                <a:pPr algn="ctr"/>
                <a:r>
                  <a:rPr lang="en-US" sz="3000">
                    <a:latin typeface="Helvetica Neue Medium" panose="02000503000000020004" pitchFamily="2" charset="0"/>
                    <a:ea typeface="Helvetica Neue Medium" panose="02000503000000020004" pitchFamily="2" charset="0"/>
                    <a:cs typeface="Helvetica Neue Medium" panose="02000503000000020004" pitchFamily="2" charset="0"/>
                  </a:rPr>
                  <a:t>Application</a:t>
                </a:r>
              </a:p>
            </p:txBody>
          </p:sp>
          <p:sp>
            <p:nvSpPr>
              <p:cNvPr id="24" name="TextBox 23"/>
              <p:cNvSpPr txBox="1"/>
              <p:nvPr/>
            </p:nvSpPr>
            <p:spPr>
              <a:xfrm>
                <a:off x="3763757" y="2543332"/>
                <a:ext cx="2005839" cy="397785"/>
              </a:xfrm>
              <a:prstGeom prst="rect">
                <a:avLst/>
              </a:prstGeom>
              <a:noFill/>
            </p:spPr>
            <p:txBody>
              <a:bodyPr wrap="none" rtlCol="0">
                <a:spAutoFit/>
              </a:bodyPr>
              <a:lstStyle/>
              <a:p>
                <a:pPr algn="ctr"/>
                <a:r>
                  <a:rPr lang="en-US" sz="2600">
                    <a:latin typeface="Helvetica Neue Medium" panose="02000503000000020004" pitchFamily="2" charset="0"/>
                    <a:ea typeface="Helvetica Neue Medium" panose="02000503000000020004" pitchFamily="2" charset="0"/>
                    <a:cs typeface="Helvetica Neue Medium" panose="02000503000000020004" pitchFamily="2" charset="0"/>
                  </a:rPr>
                  <a:t>Operating System</a:t>
                </a:r>
              </a:p>
            </p:txBody>
          </p:sp>
          <p:sp>
            <p:nvSpPr>
              <p:cNvPr id="43" name="TextBox 42"/>
              <p:cNvSpPr txBox="1"/>
              <p:nvPr/>
            </p:nvSpPr>
            <p:spPr>
              <a:xfrm>
                <a:off x="3862286" y="3201700"/>
                <a:ext cx="1805561" cy="410215"/>
              </a:xfrm>
              <a:prstGeom prst="rect">
                <a:avLst/>
              </a:prstGeom>
              <a:noFill/>
            </p:spPr>
            <p:txBody>
              <a:bodyPr wrap="none" rtlCol="0">
                <a:spAutoFit/>
              </a:bodyPr>
              <a:lstStyle/>
              <a:p>
                <a:pPr algn="ctr"/>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Virtual Machine</a:t>
                </a:r>
              </a:p>
            </p:txBody>
          </p:sp>
        </p:grpSp>
        <p:grpSp>
          <p:nvGrpSpPr>
            <p:cNvPr id="111" name="Group 110"/>
            <p:cNvGrpSpPr/>
            <p:nvPr>
              <p:custDataLst>
                <p:tags r:id="rId3"/>
              </p:custDataLst>
            </p:nvPr>
          </p:nvGrpSpPr>
          <p:grpSpPr>
            <a:xfrm>
              <a:off x="5780928" y="2086328"/>
              <a:ext cx="2145645" cy="2389765"/>
              <a:chOff x="6035221" y="1295400"/>
              <a:chExt cx="2187308" cy="2895600"/>
            </a:xfrm>
          </p:grpSpPr>
          <p:sp>
            <p:nvSpPr>
              <p:cNvPr id="107" name="Rounded Rectangle 106"/>
              <p:cNvSpPr>
                <a:spLocks noChangeAspect="1"/>
              </p:cNvSpPr>
              <p:nvPr/>
            </p:nvSpPr>
            <p:spPr>
              <a:xfrm>
                <a:off x="6959252" y="3200400"/>
                <a:ext cx="304800" cy="99060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4" name="Rounded Rectangle 43"/>
              <p:cNvSpPr>
                <a:spLocks noChangeAspect="1"/>
              </p:cNvSpPr>
              <p:nvPr/>
            </p:nvSpPr>
            <p:spPr>
              <a:xfrm>
                <a:off x="6035221" y="1295400"/>
                <a:ext cx="2187308" cy="2407958"/>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5" name="Rounded Rectangle 44"/>
              <p:cNvSpPr>
                <a:spLocks noChangeAspect="1"/>
              </p:cNvSpPr>
              <p:nvPr/>
            </p:nvSpPr>
            <p:spPr>
              <a:xfrm>
                <a:off x="6153515" y="2386622"/>
                <a:ext cx="1950720" cy="682752"/>
              </a:xfrm>
              <a:prstGeom prst="roundRect">
                <a:avLst/>
              </a:prstGeom>
              <a:solidFill>
                <a:schemeClr val="accent2">
                  <a:lumMod val="60000"/>
                  <a:lumOff val="40000"/>
                </a:schemeClr>
              </a:solidFill>
              <a:ln>
                <a:solidFill>
                  <a:schemeClr val="tx1"/>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6" name="Rounded Rectangle 45"/>
              <p:cNvSpPr>
                <a:spLocks noChangeAspect="1"/>
              </p:cNvSpPr>
              <p:nvPr/>
            </p:nvSpPr>
            <p:spPr>
              <a:xfrm>
                <a:off x="6155493" y="1524000"/>
                <a:ext cx="1946764" cy="682752"/>
              </a:xfrm>
              <a:prstGeom prst="roundRect">
                <a:avLst/>
              </a:prstGeom>
              <a:solidFill>
                <a:schemeClr val="accent2">
                  <a:lumMod val="40000"/>
                  <a:lumOff val="60000"/>
                </a:schemeClr>
              </a:solidFill>
              <a:ln>
                <a:solidFill>
                  <a:schemeClr val="tx1"/>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7" name="TextBox 46"/>
              <p:cNvSpPr txBox="1"/>
              <p:nvPr/>
            </p:nvSpPr>
            <p:spPr>
              <a:xfrm>
                <a:off x="6383057" y="1680710"/>
                <a:ext cx="1491634" cy="447507"/>
              </a:xfrm>
              <a:prstGeom prst="rect">
                <a:avLst/>
              </a:prstGeom>
              <a:noFill/>
            </p:spPr>
            <p:txBody>
              <a:bodyPr wrap="none" rtlCol="0">
                <a:spAutoFit/>
              </a:bodyPr>
              <a:lstStyle/>
              <a:p>
                <a:pPr algn="ctr"/>
                <a:r>
                  <a:rPr lang="en-US" sz="3000">
                    <a:latin typeface="Helvetica Neue Medium" panose="02000503000000020004" pitchFamily="2" charset="0"/>
                    <a:ea typeface="Helvetica Neue Medium" panose="02000503000000020004" pitchFamily="2" charset="0"/>
                    <a:cs typeface="Helvetica Neue Medium" panose="02000503000000020004" pitchFamily="2" charset="0"/>
                  </a:rPr>
                  <a:t>Application</a:t>
                </a:r>
              </a:p>
            </p:txBody>
          </p:sp>
          <p:sp>
            <p:nvSpPr>
              <p:cNvPr id="48" name="TextBox 47"/>
              <p:cNvSpPr txBox="1"/>
              <p:nvPr/>
            </p:nvSpPr>
            <p:spPr>
              <a:xfrm>
                <a:off x="6125956" y="2543332"/>
                <a:ext cx="2005839" cy="397785"/>
              </a:xfrm>
              <a:prstGeom prst="rect">
                <a:avLst/>
              </a:prstGeom>
              <a:noFill/>
            </p:spPr>
            <p:txBody>
              <a:bodyPr wrap="none" rtlCol="0">
                <a:spAutoFit/>
              </a:bodyPr>
              <a:lstStyle/>
              <a:p>
                <a:pPr algn="ctr"/>
                <a:r>
                  <a:rPr lang="en-US" sz="2600">
                    <a:latin typeface="Helvetica Neue Medium" panose="02000503000000020004" pitchFamily="2" charset="0"/>
                    <a:ea typeface="Helvetica Neue Medium" panose="02000503000000020004" pitchFamily="2" charset="0"/>
                    <a:cs typeface="Helvetica Neue Medium" panose="02000503000000020004" pitchFamily="2" charset="0"/>
                  </a:rPr>
                  <a:t>Operating System</a:t>
                </a:r>
              </a:p>
            </p:txBody>
          </p:sp>
          <p:sp>
            <p:nvSpPr>
              <p:cNvPr id="49" name="TextBox 48"/>
              <p:cNvSpPr txBox="1"/>
              <p:nvPr/>
            </p:nvSpPr>
            <p:spPr>
              <a:xfrm>
                <a:off x="6224486" y="3201700"/>
                <a:ext cx="1805561" cy="410215"/>
              </a:xfrm>
              <a:prstGeom prst="rect">
                <a:avLst/>
              </a:prstGeom>
              <a:noFill/>
            </p:spPr>
            <p:txBody>
              <a:bodyPr wrap="none" rtlCol="0">
                <a:spAutoFit/>
              </a:bodyPr>
              <a:lstStyle/>
              <a:p>
                <a:pPr algn="ctr"/>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Virtual Machine</a:t>
                </a:r>
              </a:p>
            </p:txBody>
          </p:sp>
        </p:grpSp>
        <p:grpSp>
          <p:nvGrpSpPr>
            <p:cNvPr id="110" name="Group 109"/>
            <p:cNvGrpSpPr/>
            <p:nvPr>
              <p:custDataLst>
                <p:tags r:id="rId4"/>
              </p:custDataLst>
            </p:nvPr>
          </p:nvGrpSpPr>
          <p:grpSpPr>
            <a:xfrm>
              <a:off x="1167323" y="2086328"/>
              <a:ext cx="2145645" cy="2389765"/>
              <a:chOff x="1332032" y="1295400"/>
              <a:chExt cx="2187308" cy="2895600"/>
            </a:xfrm>
          </p:grpSpPr>
          <p:sp>
            <p:nvSpPr>
              <p:cNvPr id="105" name="Rounded Rectangle 104"/>
              <p:cNvSpPr>
                <a:spLocks noChangeAspect="1"/>
              </p:cNvSpPr>
              <p:nvPr/>
            </p:nvSpPr>
            <p:spPr>
              <a:xfrm>
                <a:off x="2286000" y="3200400"/>
                <a:ext cx="304800" cy="99060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5" name="Rounded Rectangle 24"/>
              <p:cNvSpPr>
                <a:spLocks noChangeAspect="1"/>
              </p:cNvSpPr>
              <p:nvPr/>
            </p:nvSpPr>
            <p:spPr>
              <a:xfrm>
                <a:off x="1332032" y="1295400"/>
                <a:ext cx="2187308" cy="2407958"/>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30" name="Rounded Rectangle 29"/>
              <p:cNvSpPr>
                <a:spLocks noChangeAspect="1"/>
              </p:cNvSpPr>
              <p:nvPr/>
            </p:nvSpPr>
            <p:spPr>
              <a:xfrm>
                <a:off x="1450326" y="2386622"/>
                <a:ext cx="1950720" cy="682752"/>
              </a:xfrm>
              <a:prstGeom prst="roundRect">
                <a:avLst/>
              </a:prstGeom>
              <a:solidFill>
                <a:schemeClr val="accent2">
                  <a:lumMod val="60000"/>
                  <a:lumOff val="40000"/>
                </a:schemeClr>
              </a:solidFill>
              <a:ln>
                <a:solidFill>
                  <a:schemeClr val="tx1"/>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31" name="Rounded Rectangle 30"/>
              <p:cNvSpPr>
                <a:spLocks noChangeAspect="1"/>
              </p:cNvSpPr>
              <p:nvPr/>
            </p:nvSpPr>
            <p:spPr>
              <a:xfrm>
                <a:off x="1452304" y="1524000"/>
                <a:ext cx="1946764" cy="682752"/>
              </a:xfrm>
              <a:prstGeom prst="roundRect">
                <a:avLst/>
              </a:prstGeom>
              <a:solidFill>
                <a:schemeClr val="accent2">
                  <a:lumMod val="40000"/>
                  <a:lumOff val="60000"/>
                </a:schemeClr>
              </a:solidFill>
              <a:ln>
                <a:solidFill>
                  <a:schemeClr val="tx1"/>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32" name="TextBox 31"/>
              <p:cNvSpPr txBox="1"/>
              <p:nvPr/>
            </p:nvSpPr>
            <p:spPr>
              <a:xfrm>
                <a:off x="1679869" y="1680710"/>
                <a:ext cx="1491634" cy="447507"/>
              </a:xfrm>
              <a:prstGeom prst="rect">
                <a:avLst/>
              </a:prstGeom>
              <a:noFill/>
            </p:spPr>
            <p:txBody>
              <a:bodyPr wrap="none" rtlCol="0">
                <a:spAutoFit/>
              </a:bodyPr>
              <a:lstStyle/>
              <a:p>
                <a:pPr algn="ctr"/>
                <a:r>
                  <a:rPr lang="en-US" sz="3000">
                    <a:latin typeface="Helvetica Neue Medium" panose="02000503000000020004" pitchFamily="2" charset="0"/>
                    <a:ea typeface="Helvetica Neue Medium" panose="02000503000000020004" pitchFamily="2" charset="0"/>
                    <a:cs typeface="Helvetica Neue Medium" panose="02000503000000020004" pitchFamily="2" charset="0"/>
                  </a:rPr>
                  <a:t>Application</a:t>
                </a:r>
              </a:p>
            </p:txBody>
          </p:sp>
          <p:sp>
            <p:nvSpPr>
              <p:cNvPr id="33" name="TextBox 32"/>
              <p:cNvSpPr txBox="1"/>
              <p:nvPr/>
            </p:nvSpPr>
            <p:spPr>
              <a:xfrm>
                <a:off x="1422766" y="2543332"/>
                <a:ext cx="2005839" cy="397785"/>
              </a:xfrm>
              <a:prstGeom prst="rect">
                <a:avLst/>
              </a:prstGeom>
              <a:noFill/>
            </p:spPr>
            <p:txBody>
              <a:bodyPr wrap="none" rtlCol="0">
                <a:spAutoFit/>
              </a:bodyPr>
              <a:lstStyle/>
              <a:p>
                <a:pPr algn="ctr"/>
                <a:r>
                  <a:rPr lang="en-US" sz="2600">
                    <a:latin typeface="Helvetica Neue Medium" panose="02000503000000020004" pitchFamily="2" charset="0"/>
                    <a:ea typeface="Helvetica Neue Medium" panose="02000503000000020004" pitchFamily="2" charset="0"/>
                    <a:cs typeface="Helvetica Neue Medium" panose="02000503000000020004" pitchFamily="2" charset="0"/>
                  </a:rPr>
                  <a:t>Operating System</a:t>
                </a:r>
              </a:p>
            </p:txBody>
          </p:sp>
          <p:sp>
            <p:nvSpPr>
              <p:cNvPr id="42" name="TextBox 41"/>
              <p:cNvSpPr txBox="1"/>
              <p:nvPr/>
            </p:nvSpPr>
            <p:spPr>
              <a:xfrm>
                <a:off x="1521297" y="3201700"/>
                <a:ext cx="1805561" cy="410215"/>
              </a:xfrm>
              <a:prstGeom prst="rect">
                <a:avLst/>
              </a:prstGeom>
              <a:noFill/>
            </p:spPr>
            <p:txBody>
              <a:bodyPr wrap="none" rtlCol="0">
                <a:spAutoFit/>
              </a:bodyPr>
              <a:lstStyle/>
              <a:p>
                <a:pPr algn="ctr"/>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Virtual Machine</a:t>
                </a:r>
              </a:p>
            </p:txBody>
          </p:sp>
        </p:grpSp>
        <p:sp>
          <p:nvSpPr>
            <p:cNvPr id="104" name="Rounded Rectangle 103"/>
            <p:cNvSpPr>
              <a:spLocks noChangeAspect="1"/>
            </p:cNvSpPr>
            <p:nvPr/>
          </p:nvSpPr>
          <p:spPr>
            <a:xfrm>
              <a:off x="2925354" y="4538982"/>
              <a:ext cx="3214189" cy="817551"/>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grpSp>
          <p:nvGrpSpPr>
            <p:cNvPr id="109" name="Group 108"/>
            <p:cNvGrpSpPr/>
            <p:nvPr>
              <p:custDataLst>
                <p:tags r:id="rId5"/>
              </p:custDataLst>
            </p:nvPr>
          </p:nvGrpSpPr>
          <p:grpSpPr>
            <a:xfrm>
              <a:off x="1118472" y="4231988"/>
              <a:ext cx="6808100" cy="621438"/>
              <a:chOff x="1282233" y="3895225"/>
              <a:chExt cx="6940296" cy="752976"/>
            </a:xfrm>
          </p:grpSpPr>
          <p:sp>
            <p:nvSpPr>
              <p:cNvPr id="12" name="Rounded Rectangle 11"/>
              <p:cNvSpPr>
                <a:spLocks noChangeAspect="1"/>
              </p:cNvSpPr>
              <p:nvPr/>
            </p:nvSpPr>
            <p:spPr>
              <a:xfrm>
                <a:off x="1282233" y="3895225"/>
                <a:ext cx="6940296" cy="752976"/>
              </a:xfrm>
              <a:prstGeom prst="roundRect">
                <a:avLst/>
              </a:prstGeom>
              <a:solidFill>
                <a:schemeClr val="accent2">
                  <a:lumMod val="75000"/>
                </a:schemeClr>
              </a:solidFill>
              <a:ln>
                <a:solidFill>
                  <a:schemeClr val="tx1"/>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3" name="TextBox 12"/>
              <p:cNvSpPr txBox="1"/>
              <p:nvPr/>
            </p:nvSpPr>
            <p:spPr>
              <a:xfrm>
                <a:off x="3092258" y="4025493"/>
                <a:ext cx="3320246" cy="559384"/>
              </a:xfrm>
              <a:prstGeom prst="rect">
                <a:avLst/>
              </a:prstGeom>
              <a:noFill/>
            </p:spPr>
            <p:txBody>
              <a:bodyPr wrap="none" rtlCol="0">
                <a:spAutoFit/>
              </a:bodyPr>
              <a:lstStyle/>
              <a:p>
                <a:pPr algn="ctr"/>
                <a:r>
                  <a:rPr lang="en-US" sz="390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Virtual Infrastructure</a:t>
                </a:r>
              </a:p>
            </p:txBody>
          </p:sp>
        </p:grpSp>
        <p:grpSp>
          <p:nvGrpSpPr>
            <p:cNvPr id="108" name="Group 107"/>
            <p:cNvGrpSpPr/>
            <p:nvPr>
              <p:custDataLst>
                <p:tags r:id="rId6"/>
              </p:custDataLst>
            </p:nvPr>
          </p:nvGrpSpPr>
          <p:grpSpPr>
            <a:xfrm>
              <a:off x="590940" y="4928403"/>
              <a:ext cx="7848600" cy="1772763"/>
              <a:chOff x="744457" y="4739046"/>
              <a:chExt cx="8001000" cy="2147999"/>
            </a:xfrm>
          </p:grpSpPr>
          <p:sp>
            <p:nvSpPr>
              <p:cNvPr id="103" name="Rounded Rectangle 102"/>
              <p:cNvSpPr>
                <a:spLocks noChangeAspect="1"/>
              </p:cNvSpPr>
              <p:nvPr/>
            </p:nvSpPr>
            <p:spPr>
              <a:xfrm>
                <a:off x="744457" y="4904447"/>
                <a:ext cx="8001000" cy="1982598"/>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78" name="TextBox 77"/>
              <p:cNvSpPr txBox="1"/>
              <p:nvPr/>
            </p:nvSpPr>
            <p:spPr>
              <a:xfrm>
                <a:off x="4983306" y="5638800"/>
                <a:ext cx="949102" cy="410214"/>
              </a:xfrm>
              <a:prstGeom prst="rect">
                <a:avLst/>
              </a:prstGeom>
              <a:noFill/>
            </p:spPr>
            <p:txBody>
              <a:bodyPr wrap="none" rtlCol="0">
                <a:spAutoFit/>
              </a:bodyPr>
              <a:lstStyle/>
              <a:p>
                <a:pPr algn="ctr"/>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Servers</a:t>
                </a:r>
              </a:p>
            </p:txBody>
          </p:sp>
          <p:cxnSp>
            <p:nvCxnSpPr>
              <p:cNvPr id="82" name="Straight Connector 81"/>
              <p:cNvCxnSpPr/>
              <p:nvPr/>
            </p:nvCxnSpPr>
            <p:spPr>
              <a:xfrm>
                <a:off x="3498129" y="5334000"/>
                <a:ext cx="1066800" cy="685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H="1">
                <a:off x="4606493" y="5257800"/>
                <a:ext cx="415636" cy="914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5174529" y="5410200"/>
                <a:ext cx="91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flipH="1" flipV="1">
                <a:off x="6393729" y="5562600"/>
                <a:ext cx="1524000" cy="381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flipH="1">
                <a:off x="3269529" y="5334000"/>
                <a:ext cx="304800" cy="685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2050329" y="6096000"/>
                <a:ext cx="1066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3" name="Group 72"/>
              <p:cNvGrpSpPr/>
              <p:nvPr/>
            </p:nvGrpSpPr>
            <p:grpSpPr>
              <a:xfrm>
                <a:off x="754929" y="5244664"/>
                <a:ext cx="1600200" cy="1477015"/>
                <a:chOff x="-4648200" y="4495800"/>
                <a:chExt cx="1600200" cy="1477015"/>
              </a:xfrm>
            </p:grpSpPr>
            <p:grpSp>
              <p:nvGrpSpPr>
                <p:cNvPr id="59" name="Group 58"/>
                <p:cNvGrpSpPr/>
                <p:nvPr/>
              </p:nvGrpSpPr>
              <p:grpSpPr>
                <a:xfrm>
                  <a:off x="-4648200" y="4495800"/>
                  <a:ext cx="1600200" cy="1182624"/>
                  <a:chOff x="3048000" y="5980176"/>
                  <a:chExt cx="1600200" cy="1182624"/>
                </a:xfrm>
              </p:grpSpPr>
              <p:pic>
                <p:nvPicPr>
                  <p:cNvPr id="55" name="Picture 6" descr="C:\Users\AWalkden.HILL\Downloads\network_database_alone_400_clr_7007.png"/>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3048000" y="5980176"/>
                    <a:ext cx="616671" cy="877824"/>
                  </a:xfrm>
                  <a:prstGeom prst="rect">
                    <a:avLst/>
                  </a:prstGeom>
                  <a:noFill/>
                </p:spPr>
              </p:pic>
              <p:pic>
                <p:nvPicPr>
                  <p:cNvPr id="53" name="Picture 6" descr="C:\Users\AWalkden.HILL\Downloads\network_database_alone_400_clr_7007.png"/>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3429000" y="5980176"/>
                    <a:ext cx="616671" cy="877824"/>
                  </a:xfrm>
                  <a:prstGeom prst="rect">
                    <a:avLst/>
                  </a:prstGeom>
                  <a:noFill/>
                </p:spPr>
              </p:pic>
              <p:pic>
                <p:nvPicPr>
                  <p:cNvPr id="54" name="Picture 6" descr="C:\Users\AWalkden.HILL\Downloads\network_database_alone_400_clr_7007.png"/>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3810000" y="5980176"/>
                    <a:ext cx="616671" cy="877824"/>
                  </a:xfrm>
                  <a:prstGeom prst="rect">
                    <a:avLst/>
                  </a:prstGeom>
                  <a:noFill/>
                </p:spPr>
              </p:pic>
              <p:pic>
                <p:nvPicPr>
                  <p:cNvPr id="56" name="Picture 6" descr="C:\Users\AWalkden.HILL\Downloads\network_database_alone_400_clr_7007.png"/>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3269529" y="6284976"/>
                    <a:ext cx="616671" cy="877824"/>
                  </a:xfrm>
                  <a:prstGeom prst="rect">
                    <a:avLst/>
                  </a:prstGeom>
                  <a:noFill/>
                </p:spPr>
              </p:pic>
              <p:pic>
                <p:nvPicPr>
                  <p:cNvPr id="57" name="Picture 6" descr="C:\Users\AWalkden.HILL\Downloads\network_database_alone_400_clr_7007.png"/>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3650529" y="6284976"/>
                    <a:ext cx="616671" cy="877824"/>
                  </a:xfrm>
                  <a:prstGeom prst="rect">
                    <a:avLst/>
                  </a:prstGeom>
                  <a:noFill/>
                </p:spPr>
              </p:pic>
              <p:pic>
                <p:nvPicPr>
                  <p:cNvPr id="58" name="Picture 6" descr="C:\Users\AWalkden.HILL\Downloads\network_database_alone_400_clr_7007.png"/>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4031529" y="6284976"/>
                    <a:ext cx="616671" cy="877824"/>
                  </a:xfrm>
                  <a:prstGeom prst="rect">
                    <a:avLst/>
                  </a:prstGeom>
                  <a:noFill/>
                </p:spPr>
              </p:pic>
            </p:grpSp>
            <p:sp>
              <p:nvSpPr>
                <p:cNvPr id="67" name="TextBox 66"/>
                <p:cNvSpPr txBox="1"/>
                <p:nvPr/>
              </p:nvSpPr>
              <p:spPr>
                <a:xfrm>
                  <a:off x="-4233053" y="5562600"/>
                  <a:ext cx="979606" cy="410215"/>
                </a:xfrm>
                <a:prstGeom prst="rect">
                  <a:avLst/>
                </a:prstGeom>
                <a:noFill/>
              </p:spPr>
              <p:txBody>
                <a:bodyPr wrap="none" rtlCol="0">
                  <a:spAutoFit/>
                </a:bodyPr>
                <a:lstStyle/>
                <a:p>
                  <a:pPr algn="ctr"/>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Storage</a:t>
                  </a:r>
                </a:p>
              </p:txBody>
            </p:sp>
          </p:grpSp>
          <p:grpSp>
            <p:nvGrpSpPr>
              <p:cNvPr id="72" name="Group 71"/>
              <p:cNvGrpSpPr/>
              <p:nvPr/>
            </p:nvGrpSpPr>
            <p:grpSpPr>
              <a:xfrm>
                <a:off x="7231929" y="5650468"/>
                <a:ext cx="1378671" cy="1096015"/>
                <a:chOff x="1981200" y="4495800"/>
                <a:chExt cx="1378671" cy="1096015"/>
              </a:xfrm>
            </p:grpSpPr>
            <p:grpSp>
              <p:nvGrpSpPr>
                <p:cNvPr id="68" name="Group 67"/>
                <p:cNvGrpSpPr/>
                <p:nvPr/>
              </p:nvGrpSpPr>
              <p:grpSpPr>
                <a:xfrm>
                  <a:off x="1981200" y="4495800"/>
                  <a:ext cx="1378671" cy="877824"/>
                  <a:chOff x="6781800" y="5675376"/>
                  <a:chExt cx="1378671" cy="877824"/>
                </a:xfrm>
              </p:grpSpPr>
              <p:pic>
                <p:nvPicPr>
                  <p:cNvPr id="61" name="Picture 6" descr="C:\Users\AWalkden.HILL\Downloads\network_database_alone_400_clr_7007.png"/>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6781800" y="5675376"/>
                    <a:ext cx="616671" cy="877824"/>
                  </a:xfrm>
                  <a:prstGeom prst="rect">
                    <a:avLst/>
                  </a:prstGeom>
                  <a:noFill/>
                </p:spPr>
              </p:pic>
              <p:pic>
                <p:nvPicPr>
                  <p:cNvPr id="62" name="Picture 6" descr="C:\Users\AWalkden.HILL\Downloads\network_database_alone_400_clr_7007.png"/>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7162800" y="5675376"/>
                    <a:ext cx="616671" cy="877824"/>
                  </a:xfrm>
                  <a:prstGeom prst="rect">
                    <a:avLst/>
                  </a:prstGeom>
                  <a:noFill/>
                </p:spPr>
              </p:pic>
              <p:pic>
                <p:nvPicPr>
                  <p:cNvPr id="63" name="Picture 6" descr="C:\Users\AWalkden.HILL\Downloads\network_database_alone_400_clr_7007.png"/>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7543800" y="5675376"/>
                    <a:ext cx="616671" cy="877824"/>
                  </a:xfrm>
                  <a:prstGeom prst="rect">
                    <a:avLst/>
                  </a:prstGeom>
                  <a:noFill/>
                </p:spPr>
              </p:pic>
            </p:grpSp>
            <p:sp>
              <p:nvSpPr>
                <p:cNvPr id="69" name="TextBox 68"/>
                <p:cNvSpPr txBox="1"/>
                <p:nvPr/>
              </p:nvSpPr>
              <p:spPr>
                <a:xfrm>
                  <a:off x="2180732" y="5181600"/>
                  <a:ext cx="979606" cy="410215"/>
                </a:xfrm>
                <a:prstGeom prst="rect">
                  <a:avLst/>
                </a:prstGeom>
                <a:noFill/>
              </p:spPr>
              <p:txBody>
                <a:bodyPr wrap="none" rtlCol="0">
                  <a:spAutoFit/>
                </a:bodyPr>
                <a:lstStyle/>
                <a:p>
                  <a:pPr algn="ctr"/>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Storage</a:t>
                  </a:r>
                </a:p>
              </p:txBody>
            </p:sp>
          </p:grpSp>
          <p:grpSp>
            <p:nvGrpSpPr>
              <p:cNvPr id="76" name="Group 75"/>
              <p:cNvGrpSpPr/>
              <p:nvPr/>
            </p:nvGrpSpPr>
            <p:grpSpPr>
              <a:xfrm>
                <a:off x="4117414" y="5524500"/>
                <a:ext cx="1036255" cy="1210315"/>
                <a:chOff x="-1438115" y="4457700"/>
                <a:chExt cx="1036255" cy="1210315"/>
              </a:xfrm>
            </p:grpSpPr>
            <p:pic>
              <p:nvPicPr>
                <p:cNvPr id="71" name="Picture 2" descr="C:\Users\AWalkden.HILL\Downloads\computer_modem_400_clr_6736.png"/>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1396238" y="4457700"/>
                  <a:ext cx="952500" cy="907256"/>
                </a:xfrm>
                <a:prstGeom prst="rect">
                  <a:avLst/>
                </a:prstGeom>
                <a:noFill/>
              </p:spPr>
            </p:pic>
            <p:sp>
              <p:nvSpPr>
                <p:cNvPr id="74" name="TextBox 73"/>
                <p:cNvSpPr txBox="1"/>
                <p:nvPr/>
              </p:nvSpPr>
              <p:spPr>
                <a:xfrm>
                  <a:off x="-1438115" y="5257800"/>
                  <a:ext cx="1036255" cy="410215"/>
                </a:xfrm>
                <a:prstGeom prst="rect">
                  <a:avLst/>
                </a:prstGeom>
                <a:noFill/>
              </p:spPr>
              <p:txBody>
                <a:bodyPr wrap="none" rtlCol="0">
                  <a:spAutoFit/>
                </a:bodyPr>
                <a:lstStyle/>
                <a:p>
                  <a:pPr algn="ctr"/>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Network</a:t>
                  </a:r>
                </a:p>
              </p:txBody>
            </p:sp>
          </p:grpSp>
          <p:grpSp>
            <p:nvGrpSpPr>
              <p:cNvPr id="77" name="Group 76"/>
              <p:cNvGrpSpPr/>
              <p:nvPr/>
            </p:nvGrpSpPr>
            <p:grpSpPr>
              <a:xfrm>
                <a:off x="2638829" y="5524500"/>
                <a:ext cx="1036255" cy="1210315"/>
                <a:chOff x="-2916700" y="4457700"/>
                <a:chExt cx="1036255" cy="1210315"/>
              </a:xfrm>
            </p:grpSpPr>
            <p:pic>
              <p:nvPicPr>
                <p:cNvPr id="1026" name="Picture 2" descr="C:\Users\AWalkden.HILL\Downloads\computer_modem_400_clr_6736.png"/>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2874823" y="4457700"/>
                  <a:ext cx="952500" cy="907256"/>
                </a:xfrm>
                <a:prstGeom prst="rect">
                  <a:avLst/>
                </a:prstGeom>
                <a:noFill/>
              </p:spPr>
            </p:pic>
            <p:sp>
              <p:nvSpPr>
                <p:cNvPr id="75" name="TextBox 74"/>
                <p:cNvSpPr txBox="1"/>
                <p:nvPr/>
              </p:nvSpPr>
              <p:spPr>
                <a:xfrm>
                  <a:off x="-2916700" y="5257800"/>
                  <a:ext cx="1036255" cy="410215"/>
                </a:xfrm>
                <a:prstGeom prst="rect">
                  <a:avLst/>
                </a:prstGeom>
                <a:noFill/>
              </p:spPr>
              <p:txBody>
                <a:bodyPr wrap="none" rtlCol="0">
                  <a:spAutoFit/>
                </a:bodyPr>
                <a:lstStyle/>
                <a:p>
                  <a:pPr algn="ctr"/>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Network</a:t>
                  </a:r>
                </a:p>
              </p:txBody>
            </p:sp>
          </p:grpSp>
          <p:pic>
            <p:nvPicPr>
              <p:cNvPr id="50" name="towers 3" descr="C:\Users\AWalkden.HILL\Downloads\computer_towers_aligned_400_clr_6507.png"/>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2126529" y="4800600"/>
                <a:ext cx="1905000" cy="1190625"/>
              </a:xfrm>
              <a:prstGeom prst="rect">
                <a:avLst/>
              </a:prstGeom>
              <a:noFill/>
            </p:spPr>
          </p:pic>
          <p:pic>
            <p:nvPicPr>
              <p:cNvPr id="51" name="towers 3" descr="C:\Users\AWalkden.HILL\Downloads\computer_towers_aligned_400_clr_6507.png"/>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3879129" y="4739046"/>
                <a:ext cx="1905000" cy="1190625"/>
              </a:xfrm>
              <a:prstGeom prst="rect">
                <a:avLst/>
              </a:prstGeom>
              <a:noFill/>
            </p:spPr>
          </p:pic>
          <p:pic>
            <p:nvPicPr>
              <p:cNvPr id="52" name="towers 3" descr="C:\Users\AWalkden.HILL\Downloads\computer_towers_aligned_400_clr_6507.png"/>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5631729" y="4876800"/>
                <a:ext cx="1905000" cy="1190625"/>
              </a:xfrm>
              <a:prstGeom prst="rect">
                <a:avLst/>
              </a:prstGeom>
              <a:noFill/>
            </p:spPr>
          </p:pic>
        </p:grpSp>
        <p:pic>
          <p:nvPicPr>
            <p:cNvPr id="1027" name="Picture 3" descr="C:\Users\AWalkden.HILL\Downloads\group_casual_people_silhouette_400_clr_3838.png"/>
            <p:cNvPicPr>
              <a:picLocks noChangeAspect="1" noChangeArrowheads="1"/>
            </p:cNvPicPr>
            <p:nvPr>
              <p:custDataLst>
                <p:tags r:id="rId7"/>
              </p:custDataLst>
            </p:nvPr>
          </p:nvPicPr>
          <p:blipFill>
            <a:blip r:embed="rId15" cstate="email">
              <a:extLst>
                <a:ext uri="{28A0092B-C50C-407E-A947-70E740481C1C}">
                  <a14:useLocalDpi xmlns:a14="http://schemas.microsoft.com/office/drawing/2010/main"/>
                </a:ext>
              </a:extLst>
            </a:blip>
            <a:srcRect/>
            <a:stretch>
              <a:fillRect/>
            </a:stretch>
          </p:blipFill>
          <p:spPr bwMode="auto">
            <a:xfrm>
              <a:off x="1572944" y="1201703"/>
              <a:ext cx="1308100" cy="894197"/>
            </a:xfrm>
            <a:prstGeom prst="rect">
              <a:avLst/>
            </a:prstGeom>
            <a:noFill/>
          </p:spPr>
        </p:pic>
        <p:pic>
          <p:nvPicPr>
            <p:cNvPr id="96" name="PPTShape_0" descr="C:\Users\AWalkden.HILL\Downloads\group_casual_people_silhouette_400_clr_3838.png"/>
            <p:cNvPicPr>
              <a:picLocks noChangeAspect="1" noChangeArrowheads="1"/>
            </p:cNvPicPr>
            <p:nvPr>
              <p:custDataLst>
                <p:tags r:id="rId8"/>
              </p:custDataLst>
            </p:nvPr>
          </p:nvPicPr>
          <p:blipFill>
            <a:blip r:embed="rId15" cstate="email">
              <a:extLst>
                <a:ext uri="{28A0092B-C50C-407E-A947-70E740481C1C}">
                  <a14:useLocalDpi xmlns:a14="http://schemas.microsoft.com/office/drawing/2010/main"/>
                </a:ext>
              </a:extLst>
            </a:blip>
            <a:srcRect/>
            <a:stretch>
              <a:fillRect/>
            </a:stretch>
          </p:blipFill>
          <p:spPr bwMode="auto">
            <a:xfrm>
              <a:off x="3890149" y="1201703"/>
              <a:ext cx="1308100" cy="894197"/>
            </a:xfrm>
            <a:prstGeom prst="rect">
              <a:avLst/>
            </a:prstGeom>
            <a:noFill/>
          </p:spPr>
        </p:pic>
        <p:pic>
          <p:nvPicPr>
            <p:cNvPr id="97" name="PPTShape_1" descr="C:\Users\AWalkden.HILL\Downloads\group_casual_people_silhouette_400_clr_3838.png"/>
            <p:cNvPicPr>
              <a:picLocks noChangeAspect="1" noChangeArrowheads="1"/>
            </p:cNvPicPr>
            <p:nvPr>
              <p:custDataLst>
                <p:tags r:id="rId9"/>
              </p:custDataLst>
            </p:nvPr>
          </p:nvPicPr>
          <p:blipFill>
            <a:blip r:embed="rId15" cstate="email">
              <a:extLst>
                <a:ext uri="{28A0092B-C50C-407E-A947-70E740481C1C}">
                  <a14:useLocalDpi xmlns:a14="http://schemas.microsoft.com/office/drawing/2010/main"/>
                </a:ext>
              </a:extLst>
            </a:blip>
            <a:srcRect/>
            <a:stretch>
              <a:fillRect/>
            </a:stretch>
          </p:blipFill>
          <p:spPr bwMode="auto">
            <a:xfrm>
              <a:off x="6207355" y="1201703"/>
              <a:ext cx="1308100" cy="894197"/>
            </a:xfrm>
            <a:prstGeom prst="rect">
              <a:avLst/>
            </a:prstGeom>
            <a:noFill/>
          </p:spPr>
        </p:pic>
      </p:grpSp>
    </p:spTree>
    <p:custDataLst>
      <p:tags r:id="rId1"/>
    </p:custDataLst>
    <p:extLst>
      <p:ext uri="{BB962C8B-B14F-4D97-AF65-F5344CB8AC3E}">
        <p14:creationId xmlns:p14="http://schemas.microsoft.com/office/powerpoint/2010/main" val="1089547971"/>
      </p:ext>
    </p:extLst>
  </p:cSld>
  <p:clrMapOvr>
    <a:masterClrMapping/>
  </p:clrMapOvr>
  <p:transition spd="slow"/>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Virtual Networks: From VLANs to Overlays</a:t>
            </a:r>
          </a:p>
        </p:txBody>
      </p:sp>
      <p:sp>
        <p:nvSpPr>
          <p:cNvPr id="3" name="Panel 1"/>
          <p:cNvSpPr/>
          <p:nvPr/>
        </p:nvSpPr>
        <p:spPr>
          <a:xfrm>
            <a:off x="1257300" y="2651760"/>
            <a:ext cx="5029200" cy="3794760"/>
          </a:xfrm>
          <a:prstGeom prst="round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Panel 1 marker"/>
          <p:cNvSpPr/>
          <p:nvPr/>
        </p:nvSpPr>
        <p:spPr>
          <a:xfrm>
            <a:off x="1531620" y="2834640"/>
            <a:ext cx="411480" cy="411480"/>
          </a:xfrm>
          <a:prstGeom prst="ellipse">
            <a:avLst/>
          </a:prstGeom>
          <a:solidFill>
            <a:srgbClr val="2F75B5"/>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1</a:t>
            </a:r>
          </a:p>
        </p:txBody>
      </p:sp>
      <p:sp>
        <p:nvSpPr>
          <p:cNvPr id="5" name="Panel 1 title"/>
          <p:cNvSpPr txBox="1"/>
          <p:nvPr/>
        </p:nvSpPr>
        <p:spPr>
          <a:xfrm>
            <a:off x="2080260" y="2788920"/>
            <a:ext cx="4023360" cy="457200"/>
          </a:xfrm>
          <a:prstGeom prst="rect">
            <a:avLst/>
          </a:prstGeom>
          <a:noFill/>
        </p:spPr>
        <p:txBody>
          <a:bodyPr wrap="square" lIns="0" tIns="0" rIns="0" bIns="0" anchor="t">
            <a:spAutoFit/>
          </a:bodyPr>
          <a:lstStyle/>
          <a:p>
            <a:pPr algn="l">
              <a:spcAft>
                <a:spcPts val="600"/>
              </a:spcAft>
            </a:pPr>
            <a:r>
              <a:rPr sz="2000" b="1" i="0">
                <a:solidFill>
                  <a:srgbClr val="000000"/>
                </a:solidFill>
                <a:latin typeface="Helvetica Neue"/>
                <a:ea typeface="Helvetica Neue"/>
                <a:cs typeface="Helvetica Neue"/>
              </a:rPr>
              <a:t>VLANs</a:t>
            </a:r>
          </a:p>
        </p:txBody>
      </p:sp>
      <p:sp>
        <p:nvSpPr>
          <p:cNvPr id="6" name="Panel 1 day"/>
          <p:cNvSpPr txBox="1"/>
          <p:nvPr/>
        </p:nvSpPr>
        <p:spPr>
          <a:xfrm>
            <a:off x="2080260" y="3200400"/>
            <a:ext cx="4023360" cy="365760"/>
          </a:xfrm>
          <a:prstGeom prst="rect">
            <a:avLst/>
          </a:prstGeom>
          <a:noFill/>
        </p:spPr>
        <p:txBody>
          <a:bodyPr wrap="square" lIns="0" tIns="0" rIns="0" bIns="0" anchor="t">
            <a:spAutoFit/>
          </a:bodyPr>
          <a:lstStyle/>
          <a:p>
            <a:pPr algn="l">
              <a:spcAft>
                <a:spcPts val="600"/>
              </a:spcAft>
            </a:pPr>
            <a:r>
              <a:rPr sz="1400" b="0" i="0">
                <a:solidFill>
                  <a:srgbClr val="7F7F7F"/>
                </a:solidFill>
                <a:latin typeface="Helvetica Neue"/>
                <a:ea typeface="Helvetica Neue"/>
                <a:cs typeface="Helvetica Neue"/>
              </a:rPr>
              <a:t>One switch, several LANs · Monday</a:t>
            </a:r>
          </a:p>
        </p:txBody>
      </p:sp>
      <p:sp>
        <p:nvSpPr>
          <p:cNvPr id="7" name="VLAN switch"/>
          <p:cNvSpPr/>
          <p:nvPr/>
        </p:nvSpPr>
        <p:spPr>
          <a:xfrm>
            <a:off x="1988819" y="3886200"/>
            <a:ext cx="3566160" cy="548640"/>
          </a:xfrm>
          <a:prstGeom prst="roundRect">
            <a:avLst/>
          </a:prstGeom>
          <a:solidFill>
            <a:srgbClr val="F2F2F2"/>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000000"/>
                </a:solidFill>
                <a:latin typeface="Helvetica Neue"/>
                <a:ea typeface="Helvetica Neue"/>
                <a:cs typeface="Helvetica Neue"/>
              </a:rPr>
              <a:t>Switch</a:t>
            </a:r>
          </a:p>
        </p:txBody>
      </p:sp>
      <p:cxnSp>
        <p:nvCxnSpPr>
          <p:cNvPr id="8" name="VLAN port 1"/>
          <p:cNvCxnSpPr/>
          <p:nvPr/>
        </p:nvCxnSpPr>
        <p:spPr>
          <a:xfrm>
            <a:off x="2354580" y="4434840"/>
            <a:ext cx="0" cy="548640"/>
          </a:xfrm>
          <a:prstGeom prst="line">
            <a:avLst/>
          </a:prstGeom>
          <a:ln w="50800">
            <a:solidFill>
              <a:srgbClr val="2F75B5"/>
            </a:solidFill>
          </a:ln>
        </p:spPr>
        <p:style>
          <a:lnRef idx="2">
            <a:schemeClr val="accent1"/>
          </a:lnRef>
          <a:fillRef idx="0">
            <a:schemeClr val="accent1"/>
          </a:fillRef>
          <a:effectRef idx="1">
            <a:schemeClr val="accent1"/>
          </a:effectRef>
          <a:fontRef idx="minor">
            <a:schemeClr val="tx1"/>
          </a:fontRef>
        </p:style>
      </p:cxnSp>
      <p:pic>
        <p:nvPicPr>
          <p:cNvPr id="9" name="VLAN pc 1"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57400" y="5006340"/>
            <a:ext cx="594360" cy="594360"/>
          </a:xfrm>
          <a:prstGeom prst="rect">
            <a:avLst/>
          </a:prstGeom>
        </p:spPr>
      </p:pic>
      <p:cxnSp>
        <p:nvCxnSpPr>
          <p:cNvPr id="10" name="VLAN port 2"/>
          <p:cNvCxnSpPr/>
          <p:nvPr/>
        </p:nvCxnSpPr>
        <p:spPr>
          <a:xfrm>
            <a:off x="3360420" y="4434840"/>
            <a:ext cx="0" cy="548640"/>
          </a:xfrm>
          <a:prstGeom prst="line">
            <a:avLst/>
          </a:prstGeom>
          <a:ln w="50800">
            <a:solidFill>
              <a:srgbClr val="2F75B5"/>
            </a:solidFill>
          </a:ln>
        </p:spPr>
        <p:style>
          <a:lnRef idx="2">
            <a:schemeClr val="accent1"/>
          </a:lnRef>
          <a:fillRef idx="0">
            <a:schemeClr val="accent1"/>
          </a:fillRef>
          <a:effectRef idx="1">
            <a:schemeClr val="accent1"/>
          </a:effectRef>
          <a:fontRef idx="minor">
            <a:schemeClr val="tx1"/>
          </a:fontRef>
        </p:style>
      </p:cxnSp>
      <p:pic>
        <p:nvPicPr>
          <p:cNvPr id="11" name="VLAN pc 2"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63239" y="5006340"/>
            <a:ext cx="594360" cy="594360"/>
          </a:xfrm>
          <a:prstGeom prst="rect">
            <a:avLst/>
          </a:prstGeom>
        </p:spPr>
      </p:pic>
      <p:cxnSp>
        <p:nvCxnSpPr>
          <p:cNvPr id="12" name="VLAN port 3"/>
          <p:cNvCxnSpPr/>
          <p:nvPr/>
        </p:nvCxnSpPr>
        <p:spPr>
          <a:xfrm>
            <a:off x="4274820" y="4434840"/>
            <a:ext cx="0" cy="548640"/>
          </a:xfrm>
          <a:prstGeom prst="line">
            <a:avLst/>
          </a:prstGeom>
          <a:ln w="50800">
            <a:solidFill>
              <a:srgbClr val="ED7D31"/>
            </a:solidFill>
          </a:ln>
        </p:spPr>
        <p:style>
          <a:lnRef idx="2">
            <a:schemeClr val="accent1"/>
          </a:lnRef>
          <a:fillRef idx="0">
            <a:schemeClr val="accent1"/>
          </a:fillRef>
          <a:effectRef idx="1">
            <a:schemeClr val="accent1"/>
          </a:effectRef>
          <a:fontRef idx="minor">
            <a:schemeClr val="tx1"/>
          </a:fontRef>
        </p:style>
      </p:cxnSp>
      <p:pic>
        <p:nvPicPr>
          <p:cNvPr id="13" name="VLAN pc 3"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77639" y="5006340"/>
            <a:ext cx="594360" cy="594360"/>
          </a:xfrm>
          <a:prstGeom prst="rect">
            <a:avLst/>
          </a:prstGeom>
        </p:spPr>
      </p:pic>
      <p:cxnSp>
        <p:nvCxnSpPr>
          <p:cNvPr id="14" name="VLAN port 4"/>
          <p:cNvCxnSpPr/>
          <p:nvPr/>
        </p:nvCxnSpPr>
        <p:spPr>
          <a:xfrm>
            <a:off x="5234940" y="4434840"/>
            <a:ext cx="0" cy="548640"/>
          </a:xfrm>
          <a:prstGeom prst="line">
            <a:avLst/>
          </a:prstGeom>
          <a:ln w="50800">
            <a:solidFill>
              <a:srgbClr val="ED7D31"/>
            </a:solidFill>
          </a:ln>
        </p:spPr>
        <p:style>
          <a:lnRef idx="2">
            <a:schemeClr val="accent1"/>
          </a:lnRef>
          <a:fillRef idx="0">
            <a:schemeClr val="accent1"/>
          </a:fillRef>
          <a:effectRef idx="1">
            <a:schemeClr val="accent1"/>
          </a:effectRef>
          <a:fontRef idx="minor">
            <a:schemeClr val="tx1"/>
          </a:fontRef>
        </p:style>
      </p:cxnSp>
      <p:pic>
        <p:nvPicPr>
          <p:cNvPr id="15" name="VLAN pc 4"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37759" y="5006340"/>
            <a:ext cx="594360" cy="594360"/>
          </a:xfrm>
          <a:prstGeom prst="rect">
            <a:avLst/>
          </a:prstGeom>
        </p:spPr>
      </p:pic>
      <p:sp>
        <p:nvSpPr>
          <p:cNvPr id="16" name="VLAN key"/>
          <p:cNvSpPr txBox="1"/>
          <p:nvPr/>
        </p:nvSpPr>
        <p:spPr>
          <a:xfrm>
            <a:off x="1531620" y="5760720"/>
            <a:ext cx="4480560" cy="548640"/>
          </a:xfrm>
          <a:prstGeom prst="rect">
            <a:avLst/>
          </a:prstGeom>
          <a:noFill/>
        </p:spPr>
        <p:txBody>
          <a:bodyPr wrap="square" lIns="0" tIns="0" rIns="0" bIns="0" anchor="t">
            <a:spAutoFit/>
          </a:bodyPr>
          <a:lstStyle/>
          <a:p>
            <a:pPr algn="l">
              <a:spcAft>
                <a:spcPts val="600"/>
              </a:spcAft>
            </a:pPr>
            <a:r>
              <a:rPr sz="1500" b="1" i="0">
                <a:solidFill>
                  <a:srgbClr val="2F75B5"/>
                </a:solidFill>
                <a:latin typeface="Helvetica Neue"/>
                <a:ea typeface="Helvetica Neue"/>
                <a:cs typeface="Helvetica Neue"/>
              </a:rPr>
              <a:t>Teller VLAN</a:t>
            </a:r>
          </a:p>
        </p:txBody>
      </p:sp>
      <p:sp>
        <p:nvSpPr>
          <p:cNvPr id="17" name="VLAN key 2"/>
          <p:cNvSpPr txBox="1"/>
          <p:nvPr/>
        </p:nvSpPr>
        <p:spPr>
          <a:xfrm>
            <a:off x="1531620" y="5760720"/>
            <a:ext cx="4480560" cy="548640"/>
          </a:xfrm>
          <a:prstGeom prst="rect">
            <a:avLst/>
          </a:prstGeom>
          <a:noFill/>
        </p:spPr>
        <p:txBody>
          <a:bodyPr wrap="square" lIns="0" tIns="0" rIns="0" bIns="0" anchor="t">
            <a:spAutoFit/>
          </a:bodyPr>
          <a:lstStyle/>
          <a:p>
            <a:pPr algn="r">
              <a:spcAft>
                <a:spcPts val="600"/>
              </a:spcAft>
            </a:pPr>
            <a:r>
              <a:rPr sz="1500" b="1" i="0">
                <a:solidFill>
                  <a:srgbClr val="ED7D31"/>
                </a:solidFill>
                <a:latin typeface="Helvetica Neue"/>
                <a:ea typeface="Helvetica Neue"/>
                <a:cs typeface="Helvetica Neue"/>
              </a:rPr>
              <a:t>Guest VLAN</a:t>
            </a:r>
          </a:p>
        </p:txBody>
      </p:sp>
      <p:sp>
        <p:nvSpPr>
          <p:cNvPr id="18" name="Panel 2"/>
          <p:cNvSpPr/>
          <p:nvPr/>
        </p:nvSpPr>
        <p:spPr>
          <a:xfrm>
            <a:off x="6633972" y="2651760"/>
            <a:ext cx="5029200" cy="3794760"/>
          </a:xfrm>
          <a:prstGeom prst="round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Panel 2 marker"/>
          <p:cNvSpPr/>
          <p:nvPr/>
        </p:nvSpPr>
        <p:spPr>
          <a:xfrm>
            <a:off x="6908292" y="2834640"/>
            <a:ext cx="411480" cy="411480"/>
          </a:xfrm>
          <a:prstGeom prst="ellipse">
            <a:avLst/>
          </a:prstGeom>
          <a:solidFill>
            <a:srgbClr val="2F75B5"/>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2</a:t>
            </a:r>
          </a:p>
        </p:txBody>
      </p:sp>
      <p:sp>
        <p:nvSpPr>
          <p:cNvPr id="20" name="Panel 2 title"/>
          <p:cNvSpPr txBox="1"/>
          <p:nvPr/>
        </p:nvSpPr>
        <p:spPr>
          <a:xfrm>
            <a:off x="7456931" y="2788920"/>
            <a:ext cx="4023360" cy="457200"/>
          </a:xfrm>
          <a:prstGeom prst="rect">
            <a:avLst/>
          </a:prstGeom>
          <a:noFill/>
        </p:spPr>
        <p:txBody>
          <a:bodyPr wrap="square" lIns="0" tIns="0" rIns="0" bIns="0" anchor="t">
            <a:spAutoFit/>
          </a:bodyPr>
          <a:lstStyle/>
          <a:p>
            <a:pPr algn="l">
              <a:spcAft>
                <a:spcPts val="600"/>
              </a:spcAft>
            </a:pPr>
            <a:r>
              <a:rPr sz="2000" b="1" i="0">
                <a:solidFill>
                  <a:srgbClr val="000000"/>
                </a:solidFill>
                <a:latin typeface="Helvetica Neue"/>
                <a:ea typeface="Helvetica Neue"/>
                <a:cs typeface="Helvetica Neue"/>
              </a:rPr>
              <a:t>Tunnels</a:t>
            </a:r>
          </a:p>
        </p:txBody>
      </p:sp>
      <p:sp>
        <p:nvSpPr>
          <p:cNvPr id="21" name="Panel 2 day"/>
          <p:cNvSpPr txBox="1"/>
          <p:nvPr/>
        </p:nvSpPr>
        <p:spPr>
          <a:xfrm>
            <a:off x="7456931" y="3200400"/>
            <a:ext cx="4023360" cy="365760"/>
          </a:xfrm>
          <a:prstGeom prst="rect">
            <a:avLst/>
          </a:prstGeom>
          <a:noFill/>
        </p:spPr>
        <p:txBody>
          <a:bodyPr wrap="square" lIns="0" tIns="0" rIns="0" bIns="0" anchor="t">
            <a:spAutoFit/>
          </a:bodyPr>
          <a:lstStyle/>
          <a:p>
            <a:pPr algn="l">
              <a:spcAft>
                <a:spcPts val="600"/>
              </a:spcAft>
            </a:pPr>
            <a:r>
              <a:rPr sz="1400" b="0" i="0">
                <a:solidFill>
                  <a:srgbClr val="7F7F7F"/>
                </a:solidFill>
                <a:latin typeface="Helvetica Neue"/>
                <a:ea typeface="Helvetica Neue"/>
                <a:cs typeface="Helvetica Neue"/>
              </a:rPr>
              <a:t>A private network across the internet · Tuesday</a:t>
            </a:r>
          </a:p>
        </p:txBody>
      </p:sp>
      <p:pic>
        <p:nvPicPr>
          <p:cNvPr id="22" name="Tunnel cloud"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42731" y="3611879"/>
            <a:ext cx="2011680" cy="2011680"/>
          </a:xfrm>
          <a:prstGeom prst="rect">
            <a:avLst/>
          </a:prstGeom>
        </p:spPr>
      </p:pic>
      <p:pic>
        <p:nvPicPr>
          <p:cNvPr id="23" name="Tunnel branch"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54011" y="4480559"/>
            <a:ext cx="731520" cy="731520"/>
          </a:xfrm>
          <a:prstGeom prst="rect">
            <a:avLst/>
          </a:prstGeom>
        </p:spPr>
      </p:pic>
      <p:pic>
        <p:nvPicPr>
          <p:cNvPr id="24" name="Tunnel hq"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611611" y="4480559"/>
            <a:ext cx="731520" cy="731520"/>
          </a:xfrm>
          <a:prstGeom prst="rect">
            <a:avLst/>
          </a:prstGeom>
        </p:spPr>
      </p:pic>
      <p:cxnSp>
        <p:nvCxnSpPr>
          <p:cNvPr id="25" name="Tunnel pipe"/>
          <p:cNvCxnSpPr/>
          <p:nvPr/>
        </p:nvCxnSpPr>
        <p:spPr>
          <a:xfrm>
            <a:off x="7776971" y="4846320"/>
            <a:ext cx="2788921" cy="0"/>
          </a:xfrm>
          <a:prstGeom prst="line">
            <a:avLst/>
          </a:prstGeom>
          <a:ln w="177800">
            <a:solidFill>
              <a:srgbClr val="BDD7EE"/>
            </a:solidFill>
          </a:ln>
        </p:spPr>
        <p:style>
          <a:lnRef idx="2">
            <a:schemeClr val="accent1"/>
          </a:lnRef>
          <a:fillRef idx="0">
            <a:schemeClr val="accent1"/>
          </a:fillRef>
          <a:effectRef idx="1">
            <a:schemeClr val="accent1"/>
          </a:effectRef>
          <a:fontRef idx="minor">
            <a:schemeClr val="tx1"/>
          </a:fontRef>
        </p:style>
      </p:cxnSp>
      <p:cxnSp>
        <p:nvCxnSpPr>
          <p:cNvPr id="26" name="Tunnel core"/>
          <p:cNvCxnSpPr/>
          <p:nvPr/>
        </p:nvCxnSpPr>
        <p:spPr>
          <a:xfrm>
            <a:off x="7776971" y="4846320"/>
            <a:ext cx="2788921" cy="0"/>
          </a:xfrm>
          <a:prstGeom prst="line">
            <a:avLst/>
          </a:prstGeom>
          <a:ln w="31750">
            <a:solidFill>
              <a:srgbClr val="2F75B5"/>
            </a:solidFill>
          </a:ln>
        </p:spPr>
        <p:style>
          <a:lnRef idx="2">
            <a:schemeClr val="accent1"/>
          </a:lnRef>
          <a:fillRef idx="0">
            <a:schemeClr val="accent1"/>
          </a:fillRef>
          <a:effectRef idx="1">
            <a:schemeClr val="accent1"/>
          </a:effectRef>
          <a:fontRef idx="minor">
            <a:schemeClr val="tx1"/>
          </a:fontRef>
        </p:style>
      </p:cxnSp>
      <p:sp>
        <p:nvSpPr>
          <p:cNvPr id="27" name="Tunnel label"/>
          <p:cNvSpPr txBox="1"/>
          <p:nvPr/>
        </p:nvSpPr>
        <p:spPr>
          <a:xfrm>
            <a:off x="6908292" y="5760720"/>
            <a:ext cx="4480560" cy="548640"/>
          </a:xfrm>
          <a:prstGeom prst="rect">
            <a:avLst/>
          </a:prstGeom>
          <a:noFill/>
        </p:spPr>
        <p:txBody>
          <a:bodyPr wrap="square" lIns="0" tIns="0" rIns="0" bIns="0" anchor="t">
            <a:spAutoFit/>
          </a:bodyPr>
          <a:lstStyle/>
          <a:p>
            <a:pPr algn="ctr">
              <a:spcAft>
                <a:spcPts val="600"/>
              </a:spcAft>
            </a:pPr>
            <a:r>
              <a:rPr sz="1500" b="1" i="0">
                <a:solidFill>
                  <a:srgbClr val="2F75B5"/>
                </a:solidFill>
                <a:latin typeface="Helvetica Neue"/>
                <a:ea typeface="Helvetica Neue"/>
                <a:cs typeface="Helvetica Neue"/>
              </a:rPr>
              <a:t>Encrypted VPN or SD-WAN tunnel</a:t>
            </a:r>
          </a:p>
        </p:txBody>
      </p:sp>
      <p:sp>
        <p:nvSpPr>
          <p:cNvPr id="28" name="Panel 3"/>
          <p:cNvSpPr/>
          <p:nvPr/>
        </p:nvSpPr>
        <p:spPr>
          <a:xfrm>
            <a:off x="12010644" y="2651760"/>
            <a:ext cx="5029200" cy="3794760"/>
          </a:xfrm>
          <a:prstGeom prst="roundRect">
            <a:avLst/>
          </a:prstGeom>
          <a:solidFill>
            <a:srgbClr val="FFFFFF"/>
          </a:solidFill>
          <a:ln w="15875">
            <a:solidFill>
              <a:srgbClr val="BFBFB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Panel 3 marker"/>
          <p:cNvSpPr/>
          <p:nvPr/>
        </p:nvSpPr>
        <p:spPr>
          <a:xfrm>
            <a:off x="12284964" y="2834640"/>
            <a:ext cx="411480" cy="411480"/>
          </a:xfrm>
          <a:prstGeom prst="ellipse">
            <a:avLst/>
          </a:prstGeom>
          <a:solidFill>
            <a:srgbClr val="2F75B5"/>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Helvetica Neue"/>
                <a:ea typeface="Helvetica Neue"/>
                <a:cs typeface="Helvetica Neue"/>
              </a:rPr>
              <a:t>3</a:t>
            </a:r>
          </a:p>
        </p:txBody>
      </p:sp>
      <p:sp>
        <p:nvSpPr>
          <p:cNvPr id="30" name="Panel 3 title"/>
          <p:cNvSpPr txBox="1"/>
          <p:nvPr/>
        </p:nvSpPr>
        <p:spPr>
          <a:xfrm>
            <a:off x="12833604" y="2788920"/>
            <a:ext cx="4023360" cy="457200"/>
          </a:xfrm>
          <a:prstGeom prst="rect">
            <a:avLst/>
          </a:prstGeom>
          <a:noFill/>
        </p:spPr>
        <p:txBody>
          <a:bodyPr wrap="square" lIns="0" tIns="0" rIns="0" bIns="0" anchor="t">
            <a:spAutoFit/>
          </a:bodyPr>
          <a:lstStyle/>
          <a:p>
            <a:pPr algn="l">
              <a:spcAft>
                <a:spcPts val="600"/>
              </a:spcAft>
            </a:pPr>
            <a:r>
              <a:rPr sz="2000" b="1" i="0">
                <a:solidFill>
                  <a:srgbClr val="000000"/>
                </a:solidFill>
                <a:latin typeface="Helvetica Neue"/>
                <a:ea typeface="Helvetica Neue"/>
                <a:cs typeface="Helvetica Neue"/>
              </a:rPr>
              <a:t>Overlays</a:t>
            </a:r>
          </a:p>
        </p:txBody>
      </p:sp>
      <p:sp>
        <p:nvSpPr>
          <p:cNvPr id="31" name="Panel 3 day"/>
          <p:cNvSpPr txBox="1"/>
          <p:nvPr/>
        </p:nvSpPr>
        <p:spPr>
          <a:xfrm>
            <a:off x="12833604" y="3200400"/>
            <a:ext cx="4023360" cy="365760"/>
          </a:xfrm>
          <a:prstGeom prst="rect">
            <a:avLst/>
          </a:prstGeom>
          <a:noFill/>
        </p:spPr>
        <p:txBody>
          <a:bodyPr wrap="square" lIns="0" tIns="0" rIns="0" bIns="0" anchor="t">
            <a:spAutoFit/>
          </a:bodyPr>
          <a:lstStyle/>
          <a:p>
            <a:pPr algn="l">
              <a:spcAft>
                <a:spcPts val="600"/>
              </a:spcAft>
            </a:pPr>
            <a:r>
              <a:rPr sz="1400" b="0" i="0">
                <a:solidFill>
                  <a:srgbClr val="7F7F7F"/>
                </a:solidFill>
                <a:latin typeface="Helvetica Neue"/>
                <a:ea typeface="Helvetica Neue"/>
                <a:cs typeface="Helvetica Neue"/>
              </a:rPr>
              <a:t>In the datacenter and the cloud · today</a:t>
            </a:r>
          </a:p>
        </p:txBody>
      </p:sp>
      <p:sp>
        <p:nvSpPr>
          <p:cNvPr id="32" name="Server 1"/>
          <p:cNvSpPr/>
          <p:nvPr/>
        </p:nvSpPr>
        <p:spPr>
          <a:xfrm>
            <a:off x="12376404" y="4800600"/>
            <a:ext cx="1737360" cy="731520"/>
          </a:xfrm>
          <a:prstGeom prst="rect">
            <a:avLst/>
          </a:prstGeom>
          <a:solidFill>
            <a:srgbClr val="F2F2F2"/>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Server 1 label"/>
          <p:cNvSpPr txBox="1"/>
          <p:nvPr/>
        </p:nvSpPr>
        <p:spPr>
          <a:xfrm>
            <a:off x="12376404" y="5230368"/>
            <a:ext cx="1737360" cy="274320"/>
          </a:xfrm>
          <a:prstGeom prst="rect">
            <a:avLst/>
          </a:prstGeom>
          <a:noFill/>
        </p:spPr>
        <p:txBody>
          <a:bodyPr wrap="square" lIns="0" tIns="0" rIns="0" bIns="0" anchor="t">
            <a:spAutoFit/>
          </a:bodyPr>
          <a:lstStyle/>
          <a:p>
            <a:pPr algn="ctr">
              <a:spcAft>
                <a:spcPts val="600"/>
              </a:spcAft>
            </a:pPr>
            <a:r>
              <a:rPr sz="1200" b="0" i="0">
                <a:solidFill>
                  <a:srgbClr val="595959"/>
                </a:solidFill>
                <a:latin typeface="Helvetica Neue"/>
                <a:ea typeface="Helvetica Neue"/>
                <a:cs typeface="Helvetica Neue"/>
              </a:rPr>
              <a:t>server</a:t>
            </a:r>
          </a:p>
        </p:txBody>
      </p:sp>
      <p:sp>
        <p:nvSpPr>
          <p:cNvPr id="34" name="VM 1a"/>
          <p:cNvSpPr/>
          <p:nvPr/>
        </p:nvSpPr>
        <p:spPr>
          <a:xfrm>
            <a:off x="12513563" y="4892040"/>
            <a:ext cx="640080" cy="347472"/>
          </a:xfrm>
          <a:prstGeom prst="roundRect">
            <a:avLst/>
          </a:prstGeom>
          <a:solidFill>
            <a:srgbClr val="FFFFFF"/>
          </a:solidFill>
          <a:ln w="25400">
            <a:solidFill>
              <a:srgbClr val="2F75B5"/>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000000"/>
                </a:solidFill>
                <a:latin typeface="Helvetica Neue"/>
                <a:ea typeface="Helvetica Neue"/>
                <a:cs typeface="Helvetica Neue"/>
              </a:rPr>
              <a:t>VM</a:t>
            </a:r>
          </a:p>
        </p:txBody>
      </p:sp>
      <p:sp>
        <p:nvSpPr>
          <p:cNvPr id="35" name="VM 1b"/>
          <p:cNvSpPr/>
          <p:nvPr/>
        </p:nvSpPr>
        <p:spPr>
          <a:xfrm>
            <a:off x="13336524" y="4892040"/>
            <a:ext cx="640080" cy="347472"/>
          </a:xfrm>
          <a:prstGeom prst="roundRect">
            <a:avLst/>
          </a:prstGeom>
          <a:solidFill>
            <a:srgbClr val="FFFFFF"/>
          </a:solidFill>
          <a:ln w="25400">
            <a:solidFill>
              <a:srgbClr val="ED7D3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000000"/>
                </a:solidFill>
                <a:latin typeface="Helvetica Neue"/>
                <a:ea typeface="Helvetica Neue"/>
                <a:cs typeface="Helvetica Neue"/>
              </a:rPr>
              <a:t>VM</a:t>
            </a:r>
          </a:p>
        </p:txBody>
      </p:sp>
      <p:sp>
        <p:nvSpPr>
          <p:cNvPr id="36" name="Server 2"/>
          <p:cNvSpPr/>
          <p:nvPr/>
        </p:nvSpPr>
        <p:spPr>
          <a:xfrm>
            <a:off x="14936724" y="4800600"/>
            <a:ext cx="1737360" cy="731520"/>
          </a:xfrm>
          <a:prstGeom prst="rect">
            <a:avLst/>
          </a:prstGeom>
          <a:solidFill>
            <a:srgbClr val="F2F2F2"/>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Server 2 label"/>
          <p:cNvSpPr txBox="1"/>
          <p:nvPr/>
        </p:nvSpPr>
        <p:spPr>
          <a:xfrm>
            <a:off x="14936724" y="5230368"/>
            <a:ext cx="1737360" cy="274320"/>
          </a:xfrm>
          <a:prstGeom prst="rect">
            <a:avLst/>
          </a:prstGeom>
          <a:noFill/>
        </p:spPr>
        <p:txBody>
          <a:bodyPr wrap="square" lIns="0" tIns="0" rIns="0" bIns="0" anchor="t">
            <a:spAutoFit/>
          </a:bodyPr>
          <a:lstStyle/>
          <a:p>
            <a:pPr algn="ctr">
              <a:spcAft>
                <a:spcPts val="600"/>
              </a:spcAft>
            </a:pPr>
            <a:r>
              <a:rPr sz="1200" b="0" i="0">
                <a:solidFill>
                  <a:srgbClr val="595959"/>
                </a:solidFill>
                <a:latin typeface="Helvetica Neue"/>
                <a:ea typeface="Helvetica Neue"/>
                <a:cs typeface="Helvetica Neue"/>
              </a:rPr>
              <a:t>server</a:t>
            </a:r>
          </a:p>
        </p:txBody>
      </p:sp>
      <p:sp>
        <p:nvSpPr>
          <p:cNvPr id="38" name="VM 2a"/>
          <p:cNvSpPr/>
          <p:nvPr/>
        </p:nvSpPr>
        <p:spPr>
          <a:xfrm>
            <a:off x="15073884" y="4892040"/>
            <a:ext cx="640080" cy="347472"/>
          </a:xfrm>
          <a:prstGeom prst="roundRect">
            <a:avLst/>
          </a:prstGeom>
          <a:solidFill>
            <a:srgbClr val="FFFFFF"/>
          </a:solidFill>
          <a:ln w="25400">
            <a:solidFill>
              <a:srgbClr val="2F75B5"/>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000000"/>
                </a:solidFill>
                <a:latin typeface="Helvetica Neue"/>
                <a:ea typeface="Helvetica Neue"/>
                <a:cs typeface="Helvetica Neue"/>
              </a:rPr>
              <a:t>VM</a:t>
            </a:r>
          </a:p>
        </p:txBody>
      </p:sp>
      <p:sp>
        <p:nvSpPr>
          <p:cNvPr id="39" name="VM 2b"/>
          <p:cNvSpPr/>
          <p:nvPr/>
        </p:nvSpPr>
        <p:spPr>
          <a:xfrm>
            <a:off x="15896844" y="4892040"/>
            <a:ext cx="640080" cy="347472"/>
          </a:xfrm>
          <a:prstGeom prst="roundRect">
            <a:avLst/>
          </a:prstGeom>
          <a:solidFill>
            <a:srgbClr val="FFFFFF"/>
          </a:solidFill>
          <a:ln w="25400">
            <a:solidFill>
              <a:srgbClr val="ED7D3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000000"/>
                </a:solidFill>
                <a:latin typeface="Helvetica Neue"/>
                <a:ea typeface="Helvetica Neue"/>
                <a:cs typeface="Helvetica Neue"/>
              </a:rPr>
              <a:t>VM</a:t>
            </a:r>
          </a:p>
        </p:txBody>
      </p:sp>
      <p:cxnSp>
        <p:nvCxnSpPr>
          <p:cNvPr id="40" name="Underlay"/>
          <p:cNvCxnSpPr/>
          <p:nvPr/>
        </p:nvCxnSpPr>
        <p:spPr>
          <a:xfrm>
            <a:off x="14113763" y="5349240"/>
            <a:ext cx="822961" cy="0"/>
          </a:xfrm>
          <a:prstGeom prst="line">
            <a:avLst/>
          </a:prstGeom>
          <a:ln w="508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41" name="Overlay blue up1"/>
          <p:cNvCxnSpPr/>
          <p:nvPr/>
        </p:nvCxnSpPr>
        <p:spPr>
          <a:xfrm flipV="1">
            <a:off x="12879324" y="3977639"/>
            <a:ext cx="0" cy="914401"/>
          </a:xfrm>
          <a:prstGeom prst="line">
            <a:avLst/>
          </a:prstGeom>
          <a:ln w="31750">
            <a:solidFill>
              <a:srgbClr val="2F75B5"/>
            </a:solidFill>
            <a:prstDash val="dash"/>
          </a:ln>
        </p:spPr>
        <p:style>
          <a:lnRef idx="2">
            <a:schemeClr val="accent1"/>
          </a:lnRef>
          <a:fillRef idx="0">
            <a:schemeClr val="accent1"/>
          </a:fillRef>
          <a:effectRef idx="1">
            <a:schemeClr val="accent1"/>
          </a:effectRef>
          <a:fontRef idx="minor">
            <a:schemeClr val="tx1"/>
          </a:fontRef>
        </p:style>
      </p:cxnSp>
      <p:cxnSp>
        <p:nvCxnSpPr>
          <p:cNvPr id="42" name="Overlay blue top"/>
          <p:cNvCxnSpPr/>
          <p:nvPr/>
        </p:nvCxnSpPr>
        <p:spPr>
          <a:xfrm>
            <a:off x="12879324" y="3977639"/>
            <a:ext cx="2514600" cy="0"/>
          </a:xfrm>
          <a:prstGeom prst="line">
            <a:avLst/>
          </a:prstGeom>
          <a:ln w="31750">
            <a:solidFill>
              <a:srgbClr val="2F75B5"/>
            </a:solidFill>
            <a:prstDash val="dash"/>
          </a:ln>
        </p:spPr>
        <p:style>
          <a:lnRef idx="2">
            <a:schemeClr val="accent1"/>
          </a:lnRef>
          <a:fillRef idx="0">
            <a:schemeClr val="accent1"/>
          </a:fillRef>
          <a:effectRef idx="1">
            <a:schemeClr val="accent1"/>
          </a:effectRef>
          <a:fontRef idx="minor">
            <a:schemeClr val="tx1"/>
          </a:fontRef>
        </p:style>
      </p:cxnSp>
      <p:cxnSp>
        <p:nvCxnSpPr>
          <p:cNvPr id="43" name="Overlay blue up2"/>
          <p:cNvCxnSpPr/>
          <p:nvPr/>
        </p:nvCxnSpPr>
        <p:spPr>
          <a:xfrm>
            <a:off x="15393924" y="3977639"/>
            <a:ext cx="0" cy="914401"/>
          </a:xfrm>
          <a:prstGeom prst="line">
            <a:avLst/>
          </a:prstGeom>
          <a:ln w="31750">
            <a:solidFill>
              <a:srgbClr val="2F75B5"/>
            </a:solidFill>
            <a:prstDash val="dash"/>
          </a:ln>
        </p:spPr>
        <p:style>
          <a:lnRef idx="2">
            <a:schemeClr val="accent1"/>
          </a:lnRef>
          <a:fillRef idx="0">
            <a:schemeClr val="accent1"/>
          </a:fillRef>
          <a:effectRef idx="1">
            <a:schemeClr val="accent1"/>
          </a:effectRef>
          <a:fontRef idx="minor">
            <a:schemeClr val="tx1"/>
          </a:fontRef>
        </p:style>
      </p:cxnSp>
      <p:cxnSp>
        <p:nvCxnSpPr>
          <p:cNvPr id="44" name="Overlay orange up1"/>
          <p:cNvCxnSpPr/>
          <p:nvPr/>
        </p:nvCxnSpPr>
        <p:spPr>
          <a:xfrm flipV="1">
            <a:off x="13656564" y="4297680"/>
            <a:ext cx="0" cy="594360"/>
          </a:xfrm>
          <a:prstGeom prst="line">
            <a:avLst/>
          </a:prstGeom>
          <a:ln w="31750">
            <a:solidFill>
              <a:srgbClr val="ED7D31"/>
            </a:solidFill>
            <a:prstDash val="dash"/>
          </a:ln>
        </p:spPr>
        <p:style>
          <a:lnRef idx="2">
            <a:schemeClr val="accent1"/>
          </a:lnRef>
          <a:fillRef idx="0">
            <a:schemeClr val="accent1"/>
          </a:fillRef>
          <a:effectRef idx="1">
            <a:schemeClr val="accent1"/>
          </a:effectRef>
          <a:fontRef idx="minor">
            <a:schemeClr val="tx1"/>
          </a:fontRef>
        </p:style>
      </p:cxnSp>
      <p:cxnSp>
        <p:nvCxnSpPr>
          <p:cNvPr id="45" name="Overlay orange top"/>
          <p:cNvCxnSpPr/>
          <p:nvPr/>
        </p:nvCxnSpPr>
        <p:spPr>
          <a:xfrm>
            <a:off x="13656564" y="4297680"/>
            <a:ext cx="2560320" cy="0"/>
          </a:xfrm>
          <a:prstGeom prst="line">
            <a:avLst/>
          </a:prstGeom>
          <a:ln w="31750">
            <a:solidFill>
              <a:srgbClr val="ED7D31"/>
            </a:solidFill>
            <a:prstDash val="dash"/>
          </a:ln>
        </p:spPr>
        <p:style>
          <a:lnRef idx="2">
            <a:schemeClr val="accent1"/>
          </a:lnRef>
          <a:fillRef idx="0">
            <a:schemeClr val="accent1"/>
          </a:fillRef>
          <a:effectRef idx="1">
            <a:schemeClr val="accent1"/>
          </a:effectRef>
          <a:fontRef idx="minor">
            <a:schemeClr val="tx1"/>
          </a:fontRef>
        </p:style>
      </p:cxnSp>
      <p:cxnSp>
        <p:nvCxnSpPr>
          <p:cNvPr id="46" name="Overlay orange up2"/>
          <p:cNvCxnSpPr/>
          <p:nvPr/>
        </p:nvCxnSpPr>
        <p:spPr>
          <a:xfrm>
            <a:off x="16216884" y="4297680"/>
            <a:ext cx="0" cy="594360"/>
          </a:xfrm>
          <a:prstGeom prst="line">
            <a:avLst/>
          </a:prstGeom>
          <a:ln w="31750">
            <a:solidFill>
              <a:srgbClr val="ED7D31"/>
            </a:solidFill>
            <a:prstDash val="dash"/>
          </a:ln>
        </p:spPr>
        <p:style>
          <a:lnRef idx="2">
            <a:schemeClr val="accent1"/>
          </a:lnRef>
          <a:fillRef idx="0">
            <a:schemeClr val="accent1"/>
          </a:fillRef>
          <a:effectRef idx="1">
            <a:schemeClr val="accent1"/>
          </a:effectRef>
          <a:fontRef idx="minor">
            <a:schemeClr val="tx1"/>
          </a:fontRef>
        </p:style>
      </p:cxnSp>
      <p:sp>
        <p:nvSpPr>
          <p:cNvPr id="47" name="Overlay label"/>
          <p:cNvSpPr txBox="1"/>
          <p:nvPr/>
        </p:nvSpPr>
        <p:spPr>
          <a:xfrm>
            <a:off x="12284964" y="3611880"/>
            <a:ext cx="4480560" cy="320040"/>
          </a:xfrm>
          <a:prstGeom prst="rect">
            <a:avLst/>
          </a:prstGeom>
          <a:noFill/>
        </p:spPr>
        <p:txBody>
          <a:bodyPr wrap="square" lIns="0" tIns="0" rIns="0" bIns="0" anchor="t">
            <a:spAutoFit/>
          </a:bodyPr>
          <a:lstStyle/>
          <a:p>
            <a:pPr algn="r">
              <a:spcAft>
                <a:spcPts val="600"/>
              </a:spcAft>
            </a:pPr>
            <a:r>
              <a:rPr sz="1300" b="1" i="0">
                <a:solidFill>
                  <a:srgbClr val="2F75B5"/>
                </a:solidFill>
                <a:latin typeface="Helvetica Neue"/>
                <a:ea typeface="Helvetica Neue"/>
                <a:cs typeface="Helvetica Neue"/>
              </a:rPr>
              <a:t>virtual networks (overlay)</a:t>
            </a:r>
          </a:p>
        </p:txBody>
      </p:sp>
      <p:sp>
        <p:nvSpPr>
          <p:cNvPr id="48" name="Underlay label"/>
          <p:cNvSpPr txBox="1"/>
          <p:nvPr/>
        </p:nvSpPr>
        <p:spPr>
          <a:xfrm>
            <a:off x="12284964" y="5760720"/>
            <a:ext cx="4480560" cy="548640"/>
          </a:xfrm>
          <a:prstGeom prst="rect">
            <a:avLst/>
          </a:prstGeom>
          <a:noFill/>
        </p:spPr>
        <p:txBody>
          <a:bodyPr wrap="square" lIns="0" tIns="0" rIns="0" bIns="0" anchor="t">
            <a:spAutoFit/>
          </a:bodyPr>
          <a:lstStyle/>
          <a:p>
            <a:pPr algn="ctr">
              <a:spcAft>
                <a:spcPts val="600"/>
              </a:spcAft>
            </a:pPr>
            <a:r>
              <a:rPr sz="1500" b="1" i="0">
                <a:solidFill>
                  <a:srgbClr val="595959"/>
                </a:solidFill>
                <a:latin typeface="Helvetica Neue"/>
                <a:ea typeface="Helvetica Neue"/>
                <a:cs typeface="Helvetica Neue"/>
              </a:rPr>
              <a:t>Physical network underneath (underlay)</a:t>
            </a:r>
          </a:p>
        </p:txBody>
      </p:sp>
      <p:sp>
        <p:nvSpPr>
          <p:cNvPr id="49" name="Same idea"/>
          <p:cNvSpPr txBox="1"/>
          <p:nvPr/>
        </p:nvSpPr>
        <p:spPr>
          <a:xfrm>
            <a:off x="1257300" y="6675120"/>
            <a:ext cx="15773400" cy="45720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Same idea every time: networks defined by configuration, not by cables</a:t>
            </a:r>
          </a:p>
        </p:txBody>
      </p:sp>
      <p:sp>
        <p:nvSpPr>
          <p:cNvPr id="50" name="Risk 1"/>
          <p:cNvSpPr/>
          <p:nvPr/>
        </p:nvSpPr>
        <p:spPr>
          <a:xfrm>
            <a:off x="1257300" y="7269480"/>
            <a:ext cx="5029200" cy="1920240"/>
          </a:xfrm>
          <a:prstGeom prst="roundRect">
            <a:avLst/>
          </a:prstGeom>
          <a:solidFill>
            <a:srgbClr val="EEF2F8"/>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1" name="Risk 1 text"/>
          <p:cNvSpPr txBox="1"/>
          <p:nvPr/>
        </p:nvSpPr>
        <p:spPr>
          <a:xfrm>
            <a:off x="1513332" y="7470648"/>
            <a:ext cx="4517136" cy="155448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Invisible on the diagram</a:t>
            </a:r>
          </a:p>
          <a:p>
            <a:pPr algn="l">
              <a:spcAft>
                <a:spcPts val="700"/>
              </a:spcAft>
            </a:pPr>
            <a:r>
              <a:rPr sz="1600" b="0" i="0">
                <a:solidFill>
                  <a:srgbClr val="000000"/>
                </a:solidFill>
                <a:latin typeface="Helvetica Neue"/>
                <a:ea typeface="Helvetica Neue"/>
                <a:cs typeface="Helvetica Neue"/>
              </a:rPr>
              <a:t>Virtual networks don’t appear on a cable map. InTREx asks whether the topology accurately depicts the virtualized environment.</a:t>
            </a:r>
          </a:p>
        </p:txBody>
      </p:sp>
      <p:sp>
        <p:nvSpPr>
          <p:cNvPr id="52" name="Risk 2"/>
          <p:cNvSpPr/>
          <p:nvPr/>
        </p:nvSpPr>
        <p:spPr>
          <a:xfrm>
            <a:off x="6633972" y="7269480"/>
            <a:ext cx="5029200" cy="19202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3" name="Risk 2 text"/>
          <p:cNvSpPr txBox="1"/>
          <p:nvPr/>
        </p:nvSpPr>
        <p:spPr>
          <a:xfrm>
            <a:off x="6890004" y="7470648"/>
            <a:ext cx="4517136" cy="155448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Traffic the firewall never sees</a:t>
            </a:r>
          </a:p>
          <a:p>
            <a:pPr algn="l">
              <a:spcAft>
                <a:spcPts val="700"/>
              </a:spcAft>
            </a:pPr>
            <a:r>
              <a:rPr sz="1600" b="0" i="0">
                <a:solidFill>
                  <a:srgbClr val="000000"/>
                </a:solidFill>
                <a:latin typeface="Helvetica Neue"/>
                <a:ea typeface="Helvetica Neue"/>
                <a:cs typeface="Helvetica Neue"/>
              </a:rPr>
              <a:t>Two virtual machines on the same server can talk without ever crossing a physical firewall.</a:t>
            </a:r>
          </a:p>
        </p:txBody>
      </p:sp>
      <p:sp>
        <p:nvSpPr>
          <p:cNvPr id="54" name="Risk 3"/>
          <p:cNvSpPr/>
          <p:nvPr/>
        </p:nvSpPr>
        <p:spPr>
          <a:xfrm>
            <a:off x="12010644" y="7269480"/>
            <a:ext cx="5029200" cy="19202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5" name="Risk 3 text"/>
          <p:cNvSpPr txBox="1"/>
          <p:nvPr/>
        </p:nvSpPr>
        <p:spPr>
          <a:xfrm>
            <a:off x="12266676" y="7470648"/>
            <a:ext cx="4517136" cy="155448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One change, many networks</a:t>
            </a:r>
          </a:p>
          <a:p>
            <a:pPr algn="l">
              <a:spcAft>
                <a:spcPts val="700"/>
              </a:spcAft>
            </a:pPr>
            <a:r>
              <a:rPr sz="1600" b="0" i="0">
                <a:solidFill>
                  <a:srgbClr val="000000"/>
                </a:solidFill>
                <a:latin typeface="Helvetica Neue"/>
                <a:ea typeface="Helvetica Neue"/>
                <a:cs typeface="Helvetica Neue"/>
              </a:rPr>
              <a:t>A single configuration mistake can merge networks that were meant to stay apart.</a:t>
            </a:r>
          </a:p>
        </p:txBody>
      </p:sp>
    </p:spTree>
    <p:extLst>
      <p:ext uri="{BB962C8B-B14F-4D97-AF65-F5344CB8AC3E}">
        <p14:creationId xmlns:p14="http://schemas.microsoft.com/office/powerpoint/2010/main" val="211256260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D9B57-3A76-0A49-9BB9-64D558A13ABE}"/>
              </a:ext>
            </a:extLst>
          </p:cNvPr>
          <p:cNvSpPr>
            <a:spLocks noGrp="1"/>
          </p:cNvSpPr>
          <p:nvPr>
            <p:ph type="title"/>
          </p:nvPr>
        </p:nvSpPr>
        <p:spPr>
          <a:xfrm>
            <a:off x="584438" y="204786"/>
            <a:ext cx="17246359" cy="1988345"/>
          </a:xfrm>
        </p:spPr>
        <p:txBody>
          <a:bodyPr/>
          <a:lstStyle/>
          <a:p>
            <a:r>
              <a:rPr lang="en-US"/>
              <a:t>A Step Beyond Virtualization</a:t>
            </a:r>
          </a:p>
        </p:txBody>
      </p:sp>
      <p:sp>
        <p:nvSpPr>
          <p:cNvPr id="4" name="Slide Number Placeholder 3">
            <a:extLst>
              <a:ext uri="{FF2B5EF4-FFF2-40B4-BE49-F238E27FC236}">
                <a16:creationId xmlns:a16="http://schemas.microsoft.com/office/drawing/2014/main" id="{20E9E978-5D0B-8440-ADCE-B894B7762BC7}"/>
              </a:ext>
            </a:extLst>
          </p:cNvPr>
          <p:cNvSpPr>
            <a:spLocks noGrp="1"/>
          </p:cNvSpPr>
          <p:nvPr>
            <p:ph type="sldNum" sz="quarter" idx="10"/>
          </p:nvPr>
        </p:nvSpPr>
        <p:spPr/>
        <p:txBody>
          <a:bodyPr/>
          <a:lstStyle/>
          <a:p>
            <a:fld id="{76E8DCF4-EBDD-4FE1-8465-FD383573D554}" type="slidenum">
              <a:rPr lang="en-US" smtClean="0">
                <a:solidFill>
                  <a:schemeClr val="tx1">
                    <a:lumMod val="50000"/>
                    <a:lumOff val="50000"/>
                  </a:schemeClr>
                </a:solidFill>
              </a:rPr>
              <a:pPr/>
              <a:t>143</a:t>
            </a:fld>
            <a:endParaRPr lang="en-US">
              <a:solidFill>
                <a:schemeClr val="tx1">
                  <a:lumMod val="50000"/>
                  <a:lumOff val="50000"/>
                </a:schemeClr>
              </a:solidFill>
            </a:endParaRPr>
          </a:p>
        </p:txBody>
      </p:sp>
      <p:sp>
        <p:nvSpPr>
          <p:cNvPr id="6" name="Content Placeholder 5">
            <a:extLst>
              <a:ext uri="{FF2B5EF4-FFF2-40B4-BE49-F238E27FC236}">
                <a16:creationId xmlns:a16="http://schemas.microsoft.com/office/drawing/2014/main" id="{C7B18B01-09DC-F020-4620-57A0426E9829}"/>
              </a:ext>
            </a:extLst>
          </p:cNvPr>
          <p:cNvSpPr>
            <a:spLocks noGrp="1"/>
          </p:cNvSpPr>
          <p:nvPr>
            <p:ph idx="1"/>
          </p:nvPr>
        </p:nvSpPr>
        <p:spPr/>
        <p:txBody>
          <a:bodyPr>
            <a:normAutofit fontScale="92500" lnSpcReduction="10000"/>
          </a:bodyPr>
          <a:lstStyle/>
          <a:p>
            <a:r>
              <a:rPr lang="en-US"/>
              <a:t>Clouds initially took existing applications and placed them on virtual servers</a:t>
            </a:r>
          </a:p>
          <a:p>
            <a:r>
              <a:rPr lang="en-US"/>
              <a:t>Each virtual server has its own full-blown operating system</a:t>
            </a:r>
          </a:p>
          <a:p>
            <a:r>
              <a:rPr lang="en-US"/>
              <a:t>Containerization looks at separate (isolated) application space</a:t>
            </a:r>
          </a:p>
          <a:p>
            <a:pPr lvl="1"/>
            <a:r>
              <a:rPr lang="en-US"/>
              <a:t>Operating System (OS)</a:t>
            </a:r>
          </a:p>
          <a:p>
            <a:pPr lvl="1"/>
            <a:r>
              <a:rPr lang="en-US"/>
              <a:t>Application</a:t>
            </a:r>
          </a:p>
          <a:p>
            <a:r>
              <a:rPr lang="en-US"/>
              <a:t>Multiple application containers may run in the same OS container (virtualized OS)</a:t>
            </a:r>
          </a:p>
          <a:p>
            <a:r>
              <a:rPr lang="en-US"/>
              <a:t>OS container may offer limited functions (lightweight) reducing processor load</a:t>
            </a:r>
          </a:p>
          <a:p>
            <a:r>
              <a:rPr lang="en-US"/>
              <a:t>Automated orchestration to manage cloud workloads (e.g. Kubernetes) </a:t>
            </a:r>
          </a:p>
          <a:p>
            <a:pPr lvl="1"/>
            <a:endParaRPr lang="en-US"/>
          </a:p>
        </p:txBody>
      </p:sp>
    </p:spTree>
    <p:extLst>
      <p:ext uri="{BB962C8B-B14F-4D97-AF65-F5344CB8AC3E}">
        <p14:creationId xmlns:p14="http://schemas.microsoft.com/office/powerpoint/2010/main" val="382872472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FC9A3-A37E-F2FD-8470-9B9B64FA7755}"/>
              </a:ext>
            </a:extLst>
          </p:cNvPr>
          <p:cNvSpPr>
            <a:spLocks noGrp="1"/>
          </p:cNvSpPr>
          <p:nvPr>
            <p:ph type="title"/>
          </p:nvPr>
        </p:nvSpPr>
        <p:spPr/>
        <p:txBody>
          <a:bodyPr/>
          <a:lstStyle/>
          <a:p>
            <a:r>
              <a:rPr lang="en-US"/>
              <a:t>Traditional Application Approach</a:t>
            </a:r>
          </a:p>
        </p:txBody>
      </p:sp>
      <p:sp>
        <p:nvSpPr>
          <p:cNvPr id="3" name="Content Placeholder 2">
            <a:extLst>
              <a:ext uri="{FF2B5EF4-FFF2-40B4-BE49-F238E27FC236}">
                <a16:creationId xmlns:a16="http://schemas.microsoft.com/office/drawing/2014/main" id="{94B465F6-251E-3222-293A-F51DF547C2B5}"/>
              </a:ext>
            </a:extLst>
          </p:cNvPr>
          <p:cNvSpPr>
            <a:spLocks noGrp="1"/>
          </p:cNvSpPr>
          <p:nvPr>
            <p:ph idx="1"/>
          </p:nvPr>
        </p:nvSpPr>
        <p:spPr>
          <a:xfrm>
            <a:off x="1257300" y="2193131"/>
            <a:ext cx="9758076" cy="6967198"/>
          </a:xfrm>
        </p:spPr>
        <p:txBody>
          <a:bodyPr/>
          <a:lstStyle/>
          <a:p>
            <a:r>
              <a:rPr lang="en-US"/>
              <a:t>Application a single entity with multiple functions built-in</a:t>
            </a:r>
          </a:p>
          <a:p>
            <a:r>
              <a:rPr lang="en-US"/>
              <a:t>Developed using a single programming language</a:t>
            </a:r>
          </a:p>
          <a:p>
            <a:r>
              <a:rPr lang="en-US"/>
              <a:t>Large complex code set</a:t>
            </a:r>
          </a:p>
          <a:p>
            <a:r>
              <a:rPr lang="en-US"/>
              <a:t>Difficult to modify and redeploy</a:t>
            </a:r>
          </a:p>
          <a:p>
            <a:r>
              <a:rPr lang="en-US"/>
              <a:t>If one function is busy a whole new instance needs to be turned up to meet the demand</a:t>
            </a:r>
          </a:p>
        </p:txBody>
      </p:sp>
      <p:grpSp>
        <p:nvGrpSpPr>
          <p:cNvPr id="12" name="Group 11">
            <a:extLst>
              <a:ext uri="{FF2B5EF4-FFF2-40B4-BE49-F238E27FC236}">
                <a16:creationId xmlns:a16="http://schemas.microsoft.com/office/drawing/2014/main" id="{F3ADB6BC-B658-BE03-B4D3-953DE5B7DE7B}"/>
              </a:ext>
            </a:extLst>
          </p:cNvPr>
          <p:cNvGrpSpPr/>
          <p:nvPr/>
        </p:nvGrpSpPr>
        <p:grpSpPr>
          <a:xfrm>
            <a:off x="10551523" y="2542799"/>
            <a:ext cx="6479177" cy="6267861"/>
            <a:chOff x="1991962" y="3814352"/>
            <a:chExt cx="6479177" cy="6267861"/>
          </a:xfrm>
        </p:grpSpPr>
        <p:sp>
          <p:nvSpPr>
            <p:cNvPr id="4" name="Rounded Rectangle 3">
              <a:extLst>
                <a:ext uri="{FF2B5EF4-FFF2-40B4-BE49-F238E27FC236}">
                  <a16:creationId xmlns:a16="http://schemas.microsoft.com/office/drawing/2014/main" id="{5FC512C8-FDF9-C75F-4E93-E0D928CAEA62}"/>
                </a:ext>
              </a:extLst>
            </p:cNvPr>
            <p:cNvSpPr/>
            <p:nvPr/>
          </p:nvSpPr>
          <p:spPr>
            <a:xfrm>
              <a:off x="1991962" y="3814352"/>
              <a:ext cx="6479177" cy="6267861"/>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3C430C2-36CC-83E3-77A1-9E066B17207C}"/>
                </a:ext>
              </a:extLst>
            </p:cNvPr>
            <p:cNvSpPr txBox="1"/>
            <p:nvPr/>
          </p:nvSpPr>
          <p:spPr>
            <a:xfrm>
              <a:off x="3840481" y="3996784"/>
              <a:ext cx="2593980" cy="1200329"/>
            </a:xfrm>
            <a:prstGeom prst="rect">
              <a:avLst/>
            </a:prstGeom>
            <a:noFill/>
          </p:spPr>
          <p:txBody>
            <a:bodyPr wrap="none" rtlCol="0">
              <a:spAutoFit/>
            </a:bodyPr>
            <a:lstStyle/>
            <a:p>
              <a:pPr algn="ctr"/>
              <a:r>
                <a:rPr lang="en-US" sz="3600">
                  <a:latin typeface="Helvetica Neue Medium" panose="02000503000000020004" pitchFamily="2" charset="0"/>
                  <a:ea typeface="Helvetica Neue Medium" panose="02000503000000020004" pitchFamily="2" charset="0"/>
                  <a:cs typeface="Helvetica Neue Medium" panose="02000503000000020004" pitchFamily="2" charset="0"/>
                </a:rPr>
                <a:t>Monolithic</a:t>
              </a:r>
            </a:p>
            <a:p>
              <a:pPr algn="ctr"/>
              <a:r>
                <a:rPr lang="en-US" sz="3600">
                  <a:latin typeface="Helvetica Neue Medium" panose="02000503000000020004" pitchFamily="2" charset="0"/>
                  <a:ea typeface="Helvetica Neue Medium" panose="02000503000000020004" pitchFamily="2" charset="0"/>
                  <a:cs typeface="Helvetica Neue Medium" panose="02000503000000020004" pitchFamily="2" charset="0"/>
                </a:rPr>
                <a:t>Application</a:t>
              </a:r>
            </a:p>
          </p:txBody>
        </p:sp>
        <p:sp>
          <p:nvSpPr>
            <p:cNvPr id="6" name="Rounded Rectangle 5">
              <a:extLst>
                <a:ext uri="{FF2B5EF4-FFF2-40B4-BE49-F238E27FC236}">
                  <a16:creationId xmlns:a16="http://schemas.microsoft.com/office/drawing/2014/main" id="{CA6EF087-8454-C67F-5840-19DD85969108}"/>
                </a:ext>
              </a:extLst>
            </p:cNvPr>
            <p:cNvSpPr/>
            <p:nvPr/>
          </p:nvSpPr>
          <p:spPr>
            <a:xfrm>
              <a:off x="2455815" y="5400539"/>
              <a:ext cx="1933302" cy="11234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User</a:t>
              </a:r>
            </a:p>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Interface</a:t>
              </a:r>
            </a:p>
          </p:txBody>
        </p:sp>
        <p:sp>
          <p:nvSpPr>
            <p:cNvPr id="7" name="Rounded Rectangle 6">
              <a:extLst>
                <a:ext uri="{FF2B5EF4-FFF2-40B4-BE49-F238E27FC236}">
                  <a16:creationId xmlns:a16="http://schemas.microsoft.com/office/drawing/2014/main" id="{2675EF63-A805-963A-91EA-6343611AF34A}"/>
                </a:ext>
              </a:extLst>
            </p:cNvPr>
            <p:cNvSpPr/>
            <p:nvPr/>
          </p:nvSpPr>
          <p:spPr>
            <a:xfrm>
              <a:off x="5719897" y="5400539"/>
              <a:ext cx="1933302" cy="11234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Browse</a:t>
              </a:r>
            </a:p>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Function</a:t>
              </a:r>
            </a:p>
          </p:txBody>
        </p:sp>
        <p:sp>
          <p:nvSpPr>
            <p:cNvPr id="8" name="Rounded Rectangle 7">
              <a:extLst>
                <a:ext uri="{FF2B5EF4-FFF2-40B4-BE49-F238E27FC236}">
                  <a16:creationId xmlns:a16="http://schemas.microsoft.com/office/drawing/2014/main" id="{AA62E679-5D7E-5AE4-4985-E6767CA2647A}"/>
                </a:ext>
              </a:extLst>
            </p:cNvPr>
            <p:cNvSpPr/>
            <p:nvPr/>
          </p:nvSpPr>
          <p:spPr>
            <a:xfrm>
              <a:off x="2455816" y="6783299"/>
              <a:ext cx="1933302" cy="11234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Shopping</a:t>
              </a:r>
            </a:p>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Cart</a:t>
              </a:r>
            </a:p>
          </p:txBody>
        </p:sp>
        <p:sp>
          <p:nvSpPr>
            <p:cNvPr id="9" name="Rounded Rectangle 8">
              <a:extLst>
                <a:ext uri="{FF2B5EF4-FFF2-40B4-BE49-F238E27FC236}">
                  <a16:creationId xmlns:a16="http://schemas.microsoft.com/office/drawing/2014/main" id="{D5C08D4F-AA33-EBAF-66B2-FEF9DB04B8B9}"/>
                </a:ext>
              </a:extLst>
            </p:cNvPr>
            <p:cNvSpPr/>
            <p:nvPr/>
          </p:nvSpPr>
          <p:spPr>
            <a:xfrm>
              <a:off x="5719897" y="6783299"/>
              <a:ext cx="1933302" cy="11234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Payment</a:t>
              </a:r>
            </a:p>
          </p:txBody>
        </p:sp>
        <p:sp>
          <p:nvSpPr>
            <p:cNvPr id="10" name="Rounded Rectangle 9">
              <a:extLst>
                <a:ext uri="{FF2B5EF4-FFF2-40B4-BE49-F238E27FC236}">
                  <a16:creationId xmlns:a16="http://schemas.microsoft.com/office/drawing/2014/main" id="{81799B2B-03BC-6BC7-FF97-A25A5E287D1C}"/>
                </a:ext>
              </a:extLst>
            </p:cNvPr>
            <p:cNvSpPr/>
            <p:nvPr/>
          </p:nvSpPr>
          <p:spPr>
            <a:xfrm>
              <a:off x="2455815" y="8219355"/>
              <a:ext cx="1933302" cy="11234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User</a:t>
              </a:r>
            </a:p>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Profile</a:t>
              </a:r>
            </a:p>
          </p:txBody>
        </p:sp>
        <p:sp>
          <p:nvSpPr>
            <p:cNvPr id="11" name="Rounded Rectangle 10">
              <a:extLst>
                <a:ext uri="{FF2B5EF4-FFF2-40B4-BE49-F238E27FC236}">
                  <a16:creationId xmlns:a16="http://schemas.microsoft.com/office/drawing/2014/main" id="{9A10CAE5-83A6-4C2C-6315-E3917EAB80C0}"/>
                </a:ext>
              </a:extLst>
            </p:cNvPr>
            <p:cNvSpPr/>
            <p:nvPr/>
          </p:nvSpPr>
          <p:spPr>
            <a:xfrm>
              <a:off x="5719897" y="8219355"/>
              <a:ext cx="1933302" cy="11234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Product</a:t>
              </a:r>
            </a:p>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Database</a:t>
              </a:r>
            </a:p>
          </p:txBody>
        </p:sp>
      </p:grpSp>
    </p:spTree>
    <p:extLst>
      <p:ext uri="{BB962C8B-B14F-4D97-AF65-F5344CB8AC3E}">
        <p14:creationId xmlns:p14="http://schemas.microsoft.com/office/powerpoint/2010/main" val="12525274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FC9A3-A37E-F2FD-8470-9B9B64FA7755}"/>
              </a:ext>
            </a:extLst>
          </p:cNvPr>
          <p:cNvSpPr>
            <a:spLocks noGrp="1"/>
          </p:cNvSpPr>
          <p:nvPr>
            <p:ph type="title"/>
          </p:nvPr>
        </p:nvSpPr>
        <p:spPr/>
        <p:txBody>
          <a:bodyPr/>
          <a:lstStyle/>
          <a:p>
            <a:r>
              <a:rPr lang="en-US"/>
              <a:t>Containers and Microservices</a:t>
            </a:r>
          </a:p>
        </p:txBody>
      </p:sp>
      <p:sp>
        <p:nvSpPr>
          <p:cNvPr id="3" name="Content Placeholder 2">
            <a:extLst>
              <a:ext uri="{FF2B5EF4-FFF2-40B4-BE49-F238E27FC236}">
                <a16:creationId xmlns:a16="http://schemas.microsoft.com/office/drawing/2014/main" id="{94B465F6-251E-3222-293A-F51DF547C2B5}"/>
              </a:ext>
            </a:extLst>
          </p:cNvPr>
          <p:cNvSpPr>
            <a:spLocks noGrp="1"/>
          </p:cNvSpPr>
          <p:nvPr>
            <p:ph idx="1"/>
          </p:nvPr>
        </p:nvSpPr>
        <p:spPr>
          <a:xfrm>
            <a:off x="8321040" y="2063627"/>
            <a:ext cx="9624062" cy="7838019"/>
          </a:xfrm>
        </p:spPr>
        <p:txBody>
          <a:bodyPr>
            <a:normAutofit lnSpcReduction="10000"/>
          </a:bodyPr>
          <a:lstStyle/>
          <a:p>
            <a:r>
              <a:rPr lang="en-US"/>
              <a:t>Cloud infrastructure offers offers a highly scalable environment for computing, storage and communication across multiple datacenters</a:t>
            </a:r>
          </a:p>
          <a:p>
            <a:r>
              <a:rPr lang="en-US"/>
              <a:t>Containers along with automated orchestration offer a flexible, scalable computing environment</a:t>
            </a:r>
          </a:p>
          <a:p>
            <a:r>
              <a:rPr lang="en-US"/>
              <a:t>Microservices implement functions independently in their own container</a:t>
            </a:r>
          </a:p>
          <a:p>
            <a:r>
              <a:rPr lang="en-US"/>
              <a:t>Microservices communicate with one another to deliver business services</a:t>
            </a:r>
          </a:p>
          <a:p>
            <a:endParaRPr lang="en-US"/>
          </a:p>
        </p:txBody>
      </p:sp>
      <p:grpSp>
        <p:nvGrpSpPr>
          <p:cNvPr id="13" name="Group 12">
            <a:extLst>
              <a:ext uri="{FF2B5EF4-FFF2-40B4-BE49-F238E27FC236}">
                <a16:creationId xmlns:a16="http://schemas.microsoft.com/office/drawing/2014/main" id="{5E9E0FFF-813C-D7F2-CB88-30AA213944A9}"/>
              </a:ext>
            </a:extLst>
          </p:cNvPr>
          <p:cNvGrpSpPr/>
          <p:nvPr/>
        </p:nvGrpSpPr>
        <p:grpSpPr>
          <a:xfrm>
            <a:off x="1250769" y="3724038"/>
            <a:ext cx="5197384" cy="3942222"/>
            <a:chOff x="7161833" y="6898312"/>
            <a:chExt cx="5197384" cy="3942222"/>
          </a:xfrm>
        </p:grpSpPr>
        <p:sp>
          <p:nvSpPr>
            <p:cNvPr id="6" name="Rounded Rectangle 5">
              <a:extLst>
                <a:ext uri="{FF2B5EF4-FFF2-40B4-BE49-F238E27FC236}">
                  <a16:creationId xmlns:a16="http://schemas.microsoft.com/office/drawing/2014/main" id="{CA6EF087-8454-C67F-5840-19DD85969108}"/>
                </a:ext>
              </a:extLst>
            </p:cNvPr>
            <p:cNvSpPr/>
            <p:nvPr/>
          </p:nvSpPr>
          <p:spPr>
            <a:xfrm>
              <a:off x="7161833" y="6898312"/>
              <a:ext cx="1933302" cy="11234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User</a:t>
              </a:r>
            </a:p>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Interface</a:t>
              </a:r>
            </a:p>
          </p:txBody>
        </p:sp>
        <p:sp>
          <p:nvSpPr>
            <p:cNvPr id="7" name="Rounded Rectangle 6">
              <a:extLst>
                <a:ext uri="{FF2B5EF4-FFF2-40B4-BE49-F238E27FC236}">
                  <a16:creationId xmlns:a16="http://schemas.microsoft.com/office/drawing/2014/main" id="{2675EF63-A805-963A-91EA-6343611AF34A}"/>
                </a:ext>
              </a:extLst>
            </p:cNvPr>
            <p:cNvSpPr/>
            <p:nvPr/>
          </p:nvSpPr>
          <p:spPr>
            <a:xfrm>
              <a:off x="10425915" y="6898312"/>
              <a:ext cx="1933302" cy="11234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Browse</a:t>
              </a:r>
            </a:p>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Function</a:t>
              </a:r>
            </a:p>
          </p:txBody>
        </p:sp>
        <p:sp>
          <p:nvSpPr>
            <p:cNvPr id="8" name="Rounded Rectangle 7">
              <a:extLst>
                <a:ext uri="{FF2B5EF4-FFF2-40B4-BE49-F238E27FC236}">
                  <a16:creationId xmlns:a16="http://schemas.microsoft.com/office/drawing/2014/main" id="{AA62E679-5D7E-5AE4-4985-E6767CA2647A}"/>
                </a:ext>
              </a:extLst>
            </p:cNvPr>
            <p:cNvSpPr/>
            <p:nvPr/>
          </p:nvSpPr>
          <p:spPr>
            <a:xfrm>
              <a:off x="7161834" y="8281072"/>
              <a:ext cx="1933302" cy="11234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Shopping</a:t>
              </a:r>
            </a:p>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Cart</a:t>
              </a:r>
            </a:p>
          </p:txBody>
        </p:sp>
        <p:sp>
          <p:nvSpPr>
            <p:cNvPr id="9" name="Rounded Rectangle 8">
              <a:extLst>
                <a:ext uri="{FF2B5EF4-FFF2-40B4-BE49-F238E27FC236}">
                  <a16:creationId xmlns:a16="http://schemas.microsoft.com/office/drawing/2014/main" id="{D5C08D4F-AA33-EBAF-66B2-FEF9DB04B8B9}"/>
                </a:ext>
              </a:extLst>
            </p:cNvPr>
            <p:cNvSpPr/>
            <p:nvPr/>
          </p:nvSpPr>
          <p:spPr>
            <a:xfrm>
              <a:off x="10425915" y="8281072"/>
              <a:ext cx="1933302" cy="11234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Product</a:t>
              </a:r>
            </a:p>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Database</a:t>
              </a:r>
            </a:p>
          </p:txBody>
        </p:sp>
        <p:sp>
          <p:nvSpPr>
            <p:cNvPr id="10" name="Rounded Rectangle 9">
              <a:extLst>
                <a:ext uri="{FF2B5EF4-FFF2-40B4-BE49-F238E27FC236}">
                  <a16:creationId xmlns:a16="http://schemas.microsoft.com/office/drawing/2014/main" id="{81799B2B-03BC-6BC7-FF97-A25A5E287D1C}"/>
                </a:ext>
              </a:extLst>
            </p:cNvPr>
            <p:cNvSpPr/>
            <p:nvPr/>
          </p:nvSpPr>
          <p:spPr>
            <a:xfrm>
              <a:off x="7161833" y="9717128"/>
              <a:ext cx="1933302" cy="11234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User</a:t>
              </a:r>
            </a:p>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Profile</a:t>
              </a:r>
            </a:p>
          </p:txBody>
        </p:sp>
        <p:sp>
          <p:nvSpPr>
            <p:cNvPr id="11" name="Rounded Rectangle 10">
              <a:extLst>
                <a:ext uri="{FF2B5EF4-FFF2-40B4-BE49-F238E27FC236}">
                  <a16:creationId xmlns:a16="http://schemas.microsoft.com/office/drawing/2014/main" id="{9A10CAE5-83A6-4C2C-6315-E3917EAB80C0}"/>
                </a:ext>
              </a:extLst>
            </p:cNvPr>
            <p:cNvSpPr/>
            <p:nvPr/>
          </p:nvSpPr>
          <p:spPr>
            <a:xfrm>
              <a:off x="10425915" y="9717128"/>
              <a:ext cx="1933302" cy="11234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Payment</a:t>
              </a:r>
            </a:p>
          </p:txBody>
        </p:sp>
      </p:grpSp>
      <p:cxnSp>
        <p:nvCxnSpPr>
          <p:cNvPr id="15" name="Straight Connector 14">
            <a:extLst>
              <a:ext uri="{FF2B5EF4-FFF2-40B4-BE49-F238E27FC236}">
                <a16:creationId xmlns:a16="http://schemas.microsoft.com/office/drawing/2014/main" id="{7909202A-1925-9099-7611-5B9EC38FB1F4}"/>
              </a:ext>
            </a:extLst>
          </p:cNvPr>
          <p:cNvCxnSpPr>
            <a:stCxn id="8" idx="3"/>
            <a:endCxn id="9" idx="1"/>
          </p:cNvCxnSpPr>
          <p:nvPr/>
        </p:nvCxnSpPr>
        <p:spPr>
          <a:xfrm>
            <a:off x="3184072" y="5668501"/>
            <a:ext cx="1330779"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2187406-1D5A-E971-86E2-5708923D5B4A}"/>
              </a:ext>
            </a:extLst>
          </p:cNvPr>
          <p:cNvCxnSpPr/>
          <p:nvPr/>
        </p:nvCxnSpPr>
        <p:spPr>
          <a:xfrm>
            <a:off x="3184071" y="7086361"/>
            <a:ext cx="1330779"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C6E6E9A-ED90-3CFB-7695-2FDD388FD479}"/>
              </a:ext>
            </a:extLst>
          </p:cNvPr>
          <p:cNvCxnSpPr>
            <a:cxnSpLocks/>
            <a:stCxn id="8" idx="0"/>
            <a:endCxn id="6" idx="2"/>
          </p:cNvCxnSpPr>
          <p:nvPr/>
        </p:nvCxnSpPr>
        <p:spPr>
          <a:xfrm flipH="1" flipV="1">
            <a:off x="2217420" y="4847444"/>
            <a:ext cx="1" cy="259354"/>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F120046-0ACB-EE5A-E8FD-1587F9BE43C3}"/>
              </a:ext>
            </a:extLst>
          </p:cNvPr>
          <p:cNvCxnSpPr>
            <a:cxnSpLocks/>
          </p:cNvCxnSpPr>
          <p:nvPr/>
        </p:nvCxnSpPr>
        <p:spPr>
          <a:xfrm flipV="1">
            <a:off x="3045824" y="4847444"/>
            <a:ext cx="1773827" cy="30834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EAB11C3-2F0E-416E-BA1C-54F7AF96E2A4}"/>
              </a:ext>
            </a:extLst>
          </p:cNvPr>
          <p:cNvCxnSpPr>
            <a:cxnSpLocks/>
          </p:cNvCxnSpPr>
          <p:nvPr/>
        </p:nvCxnSpPr>
        <p:spPr>
          <a:xfrm flipV="1">
            <a:off x="3137264" y="6230204"/>
            <a:ext cx="1529987" cy="856157"/>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09C6494-18A6-FFFD-4A25-C4B3307DC409}"/>
              </a:ext>
            </a:extLst>
          </p:cNvPr>
          <p:cNvCxnSpPr/>
          <p:nvPr/>
        </p:nvCxnSpPr>
        <p:spPr>
          <a:xfrm>
            <a:off x="3185161" y="4285741"/>
            <a:ext cx="1330779"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4C3AB58-6175-0B34-25C7-01BF5C11F77D}"/>
              </a:ext>
            </a:extLst>
          </p:cNvPr>
          <p:cNvCxnSpPr>
            <a:cxnSpLocks/>
          </p:cNvCxnSpPr>
          <p:nvPr/>
        </p:nvCxnSpPr>
        <p:spPr>
          <a:xfrm>
            <a:off x="3003641" y="6128419"/>
            <a:ext cx="1663610" cy="529863"/>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29" name="Arc 28">
            <a:extLst>
              <a:ext uri="{FF2B5EF4-FFF2-40B4-BE49-F238E27FC236}">
                <a16:creationId xmlns:a16="http://schemas.microsoft.com/office/drawing/2014/main" id="{A8E5A73F-7DD2-4974-DF19-0706BFE5932C}"/>
              </a:ext>
            </a:extLst>
          </p:cNvPr>
          <p:cNvSpPr/>
          <p:nvPr/>
        </p:nvSpPr>
        <p:spPr>
          <a:xfrm>
            <a:off x="1250769" y="4285741"/>
            <a:ext cx="914400" cy="914400"/>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Freeform 29">
            <a:extLst>
              <a:ext uri="{FF2B5EF4-FFF2-40B4-BE49-F238E27FC236}">
                <a16:creationId xmlns:a16="http://schemas.microsoft.com/office/drawing/2014/main" id="{6A58DF17-EB93-1430-1FA3-828A69466623}"/>
              </a:ext>
            </a:extLst>
          </p:cNvPr>
          <p:cNvSpPr/>
          <p:nvPr/>
        </p:nvSpPr>
        <p:spPr>
          <a:xfrm>
            <a:off x="508962" y="4323806"/>
            <a:ext cx="758135" cy="2835053"/>
          </a:xfrm>
          <a:custGeom>
            <a:avLst/>
            <a:gdLst>
              <a:gd name="connsiteX0" fmla="*/ 758135 w 758135"/>
              <a:gd name="connsiteY0" fmla="*/ 0 h 2835053"/>
              <a:gd name="connsiteX1" fmla="*/ 274809 w 758135"/>
              <a:gd name="connsiteY1" fmla="*/ 248194 h 2835053"/>
              <a:gd name="connsiteX2" fmla="*/ 489 w 758135"/>
              <a:gd name="connsiteY2" fmla="*/ 1397725 h 2835053"/>
              <a:gd name="connsiteX3" fmla="*/ 222558 w 758135"/>
              <a:gd name="connsiteY3" fmla="*/ 2599508 h 2835053"/>
              <a:gd name="connsiteX4" fmla="*/ 732009 w 758135"/>
              <a:gd name="connsiteY4" fmla="*/ 2834640 h 28350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135" h="2835053">
                <a:moveTo>
                  <a:pt x="758135" y="0"/>
                </a:moveTo>
                <a:cubicBezTo>
                  <a:pt x="579609" y="7620"/>
                  <a:pt x="401083" y="15240"/>
                  <a:pt x="274809" y="248194"/>
                </a:cubicBezTo>
                <a:cubicBezTo>
                  <a:pt x="148535" y="481148"/>
                  <a:pt x="9197" y="1005839"/>
                  <a:pt x="489" y="1397725"/>
                </a:cubicBezTo>
                <a:cubicBezTo>
                  <a:pt x="-8220" y="1789611"/>
                  <a:pt x="100638" y="2360022"/>
                  <a:pt x="222558" y="2599508"/>
                </a:cubicBezTo>
                <a:cubicBezTo>
                  <a:pt x="344478" y="2838994"/>
                  <a:pt x="538243" y="2836817"/>
                  <a:pt x="732009" y="2834640"/>
                </a:cubicBezTo>
              </a:path>
            </a:pathLst>
          </a:cu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57150">
                <a:solidFill>
                  <a:schemeClr val="tx1"/>
                </a:solidFill>
              </a:ln>
            </a:endParaRPr>
          </a:p>
        </p:txBody>
      </p:sp>
    </p:spTree>
    <p:extLst>
      <p:ext uri="{BB962C8B-B14F-4D97-AF65-F5344CB8AC3E}">
        <p14:creationId xmlns:p14="http://schemas.microsoft.com/office/powerpoint/2010/main" val="105075698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40297-9CB9-3CF5-3C11-589B0E274DE9}"/>
              </a:ext>
            </a:extLst>
          </p:cNvPr>
          <p:cNvSpPr>
            <a:spLocks noGrp="1"/>
          </p:cNvSpPr>
          <p:nvPr>
            <p:ph type="title"/>
          </p:nvPr>
        </p:nvSpPr>
        <p:spPr/>
        <p:txBody>
          <a:bodyPr/>
          <a:lstStyle/>
          <a:p>
            <a:r>
              <a:rPr lang="en-US"/>
              <a:t>Microservices</a:t>
            </a:r>
          </a:p>
        </p:txBody>
      </p:sp>
      <p:sp>
        <p:nvSpPr>
          <p:cNvPr id="3" name="Content Placeholder 2">
            <a:extLst>
              <a:ext uri="{FF2B5EF4-FFF2-40B4-BE49-F238E27FC236}">
                <a16:creationId xmlns:a16="http://schemas.microsoft.com/office/drawing/2014/main" id="{65657725-B301-981F-B9C2-DB9B19748042}"/>
              </a:ext>
            </a:extLst>
          </p:cNvPr>
          <p:cNvSpPr>
            <a:spLocks noGrp="1"/>
          </p:cNvSpPr>
          <p:nvPr>
            <p:ph idx="1"/>
          </p:nvPr>
        </p:nvSpPr>
        <p:spPr/>
        <p:txBody>
          <a:bodyPr>
            <a:normAutofit fontScale="92500"/>
          </a:bodyPr>
          <a:lstStyle/>
          <a:p>
            <a:r>
              <a:rPr lang="en-US" dirty="0"/>
              <a:t>Independent processes for every application or function</a:t>
            </a:r>
          </a:p>
          <a:p>
            <a:r>
              <a:rPr lang="en-US" dirty="0"/>
              <a:t>Processes connect via APIs and send data through a communications or messaging system</a:t>
            </a:r>
          </a:p>
          <a:p>
            <a:r>
              <a:rPr lang="en-US" dirty="0"/>
              <a:t>If one process is loaded a new instance can be spun up</a:t>
            </a:r>
          </a:p>
          <a:p>
            <a:r>
              <a:rPr lang="en-US" dirty="0"/>
              <a:t>Benefits</a:t>
            </a:r>
          </a:p>
          <a:p>
            <a:pPr lvl="1"/>
            <a:r>
              <a:rPr lang="en-US" dirty="0"/>
              <a:t>Independent development (small teams, different languages...)</a:t>
            </a:r>
          </a:p>
          <a:p>
            <a:pPr lvl="1"/>
            <a:r>
              <a:rPr lang="en-US" dirty="0"/>
              <a:t>Easier to update</a:t>
            </a:r>
          </a:p>
          <a:p>
            <a:pPr lvl="1"/>
            <a:r>
              <a:rPr lang="en-US" dirty="0"/>
              <a:t>Scalable</a:t>
            </a:r>
          </a:p>
          <a:p>
            <a:pPr lvl="1"/>
            <a:r>
              <a:rPr lang="en-US" dirty="0"/>
              <a:t>Expandable</a:t>
            </a:r>
          </a:p>
          <a:p>
            <a:r>
              <a:rPr lang="en-US" dirty="0"/>
              <a:t>Many support tools to facilitate orchestration, communication, workload assignment, security, deploy updated services…</a:t>
            </a:r>
          </a:p>
        </p:txBody>
      </p:sp>
    </p:spTree>
    <p:extLst>
      <p:ext uri="{BB962C8B-B14F-4D97-AF65-F5344CB8AC3E}">
        <p14:creationId xmlns:p14="http://schemas.microsoft.com/office/powerpoint/2010/main" val="14786556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Chapter 20: Cloud Basics and the Big Three</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Cloud Deployment Models</a:t>
            </a:r>
          </a:p>
        </p:txBody>
      </p:sp>
      <p:sp>
        <p:nvSpPr>
          <p:cNvPr id="3" name="Content Placeholder 2"/>
          <p:cNvSpPr>
            <a:spLocks noGrp="1"/>
          </p:cNvSpPr>
          <p:nvPr>
            <p:ph idx="1"/>
          </p:nvPr>
        </p:nvSpPr>
        <p:spPr>
          <a:xfrm>
            <a:off x="1257299" y="2193131"/>
            <a:ext cx="16207741" cy="6967198"/>
          </a:xfrm>
        </p:spPr>
        <p:txBody>
          <a:bodyPr/>
          <a:lstStyle/>
          <a:p>
            <a:r>
              <a:rPr lang="en-US"/>
              <a:t>Cloud services come in four variants</a:t>
            </a:r>
          </a:p>
          <a:p>
            <a:pPr lvl="1"/>
            <a:r>
              <a:rPr lang="en-US"/>
              <a:t>Private – infrastructure deployed for a single entity</a:t>
            </a:r>
          </a:p>
          <a:p>
            <a:pPr lvl="1"/>
            <a:r>
              <a:rPr lang="en-US"/>
              <a:t>Community – provisioned for a community (e.g. government agencies)</a:t>
            </a:r>
          </a:p>
          <a:p>
            <a:pPr lvl="1"/>
            <a:r>
              <a:rPr lang="en-US"/>
              <a:t>Public – open to use by anyone</a:t>
            </a:r>
          </a:p>
          <a:p>
            <a:pPr lvl="1"/>
            <a:r>
              <a:rPr lang="en-US"/>
              <a:t>Hybrid – combination of two or more cloud infrastructures</a:t>
            </a:r>
          </a:p>
          <a:p>
            <a:r>
              <a:rPr lang="en-US"/>
              <a:t>Many organizations use cloud services for select applications</a:t>
            </a:r>
          </a:p>
          <a:p>
            <a:r>
              <a:rPr lang="en-US"/>
              <a:t>Multi-cloud is the norm</a:t>
            </a:r>
          </a:p>
          <a:p>
            <a:r>
              <a:rPr lang="en-US"/>
              <a:t>Migration ongoing for most organizations</a:t>
            </a:r>
          </a:p>
          <a:p>
            <a:r>
              <a:rPr lang="en-US"/>
              <a:t>Responsibilities depend on deployment and service model</a:t>
            </a:r>
          </a:p>
        </p:txBody>
      </p:sp>
      <p:sp>
        <p:nvSpPr>
          <p:cNvPr id="4" name="Slide Number Placeholder 3"/>
          <p:cNvSpPr>
            <a:spLocks noGrp="1"/>
          </p:cNvSpPr>
          <p:nvPr>
            <p:ph type="sldNum" sz="quarter" idx="10"/>
          </p:nvPr>
        </p:nvSpPr>
        <p:spPr>
          <a:xfrm>
            <a:off x="1257300" y="9607210"/>
            <a:ext cx="3330454" cy="475003"/>
          </a:xfrm>
          <a:prstGeom prst="rect">
            <a:avLst/>
          </a:prstGeom>
        </p:spPr>
        <p:txBody>
          <a:bodyPr/>
          <a:lstStyle/>
          <a:p>
            <a:fld id="{76E8DCF4-EBDD-4FE1-8465-FD383573D554}" type="slidenum">
              <a:rPr lang="en-US" smtClean="0">
                <a:solidFill>
                  <a:schemeClr val="tx1">
                    <a:lumMod val="50000"/>
                    <a:lumOff val="50000"/>
                  </a:schemeClr>
                </a:solidFill>
              </a:rPr>
              <a:pPr/>
              <a:t>148</a:t>
            </a:fld>
            <a:endParaRPr lang="en-US">
              <a:solidFill>
                <a:schemeClr val="tx1">
                  <a:lumMod val="50000"/>
                  <a:lumOff val="50000"/>
                </a:schemeClr>
              </a:solidFill>
            </a:endParaRPr>
          </a:p>
        </p:txBody>
      </p:sp>
    </p:spTree>
    <p:custDataLst>
      <p:tags r:id="rId1"/>
    </p:custDataLst>
    <p:extLst>
      <p:ext uri="{BB962C8B-B14F-4D97-AF65-F5344CB8AC3E}">
        <p14:creationId xmlns:p14="http://schemas.microsoft.com/office/powerpoint/2010/main" val="23858771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84655C8F-BC94-3E4F-9DD9-7F3B212DA701}"/>
              </a:ext>
            </a:extLst>
          </p:cNvPr>
          <p:cNvSpPr/>
          <p:nvPr/>
        </p:nvSpPr>
        <p:spPr bwMode="auto">
          <a:xfrm>
            <a:off x="3196686" y="6045270"/>
            <a:ext cx="2400300" cy="553998"/>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137160" tIns="68580" rIns="137160" bIns="68580" numCol="1" rtlCol="0" anchor="t" anchorCtr="0" compatLnSpc="1">
            <a:prstTxWarp prst="textNoShape">
              <a:avLst/>
            </a:prstTxWarp>
            <a:spAutoFit/>
          </a:bodyPr>
          <a:lstStyle/>
          <a:p>
            <a:pPr algn="ctr" defTabSz="1540670" fontAlgn="base">
              <a:lnSpc>
                <a:spcPct val="85000"/>
              </a:lnSpc>
              <a:spcBef>
                <a:spcPct val="0"/>
              </a:spcBef>
              <a:spcAft>
                <a:spcPct val="0"/>
              </a:spcAft>
            </a:pPr>
            <a:endParaRPr lang="en-US" sz="3300" b="1">
              <a:latin typeface="Arial Narrow" pitchFamily="34" charset="0"/>
            </a:endParaRPr>
          </a:p>
        </p:txBody>
      </p:sp>
      <p:sp>
        <p:nvSpPr>
          <p:cNvPr id="35" name="Rectangle 34">
            <a:extLst>
              <a:ext uri="{FF2B5EF4-FFF2-40B4-BE49-F238E27FC236}">
                <a16:creationId xmlns:a16="http://schemas.microsoft.com/office/drawing/2014/main" id="{53ADF64B-A717-4267-9922-175EC547B790}"/>
              </a:ext>
            </a:extLst>
          </p:cNvPr>
          <p:cNvSpPr/>
          <p:nvPr/>
        </p:nvSpPr>
        <p:spPr bwMode="auto">
          <a:xfrm>
            <a:off x="10306247" y="8936293"/>
            <a:ext cx="2157864" cy="751131"/>
          </a:xfrm>
          <a:prstGeom prst="rect">
            <a:avLst/>
          </a:prstGeom>
          <a:solidFill>
            <a:schemeClr val="accent1"/>
          </a:solidFill>
          <a:ln w="28575" cap="flat" cmpd="sng" algn="ctr">
            <a:solidFill>
              <a:schemeClr val="tx1"/>
            </a:solidFill>
            <a:prstDash val="solid"/>
            <a:round/>
            <a:headEnd type="none" w="med" len="med"/>
            <a:tailEnd type="none" w="med" len="med"/>
          </a:ln>
          <a:effectLst/>
        </p:spPr>
        <p:txBody>
          <a:bodyPr vert="horz" wrap="square" lIns="137160" tIns="68580" rIns="137160" bIns="68580" numCol="1" rtlCol="0" anchor="t" anchorCtr="0" compatLnSpc="1">
            <a:prstTxWarp prst="textNoShape">
              <a:avLst/>
            </a:prstTxWarp>
            <a:spAutoFit/>
          </a:bodyPr>
          <a:lstStyle/>
          <a:p>
            <a:pPr algn="ctr" defTabSz="1540670" fontAlgn="base">
              <a:lnSpc>
                <a:spcPct val="85000"/>
              </a:lnSpc>
              <a:spcBef>
                <a:spcPct val="0"/>
              </a:spcBef>
              <a:spcAft>
                <a:spcPct val="0"/>
              </a:spcAft>
            </a:pPr>
            <a:endParaRPr lang="en-US" sz="3300" b="1">
              <a:latin typeface="Arial Narrow" pitchFamily="34" charset="0"/>
            </a:endParaRPr>
          </a:p>
        </p:txBody>
      </p:sp>
      <p:sp>
        <p:nvSpPr>
          <p:cNvPr id="2" name="Title 1">
            <a:extLst>
              <a:ext uri="{FF2B5EF4-FFF2-40B4-BE49-F238E27FC236}">
                <a16:creationId xmlns:a16="http://schemas.microsoft.com/office/drawing/2014/main" id="{D15816B5-5F99-41FD-A62B-48C271A5E33B}"/>
              </a:ext>
            </a:extLst>
          </p:cNvPr>
          <p:cNvSpPr>
            <a:spLocks noGrp="1"/>
          </p:cNvSpPr>
          <p:nvPr>
            <p:ph type="title"/>
          </p:nvPr>
        </p:nvSpPr>
        <p:spPr/>
        <p:txBody>
          <a:bodyPr/>
          <a:lstStyle/>
          <a:p>
            <a:r>
              <a:rPr lang="en-US"/>
              <a:t>Cloud Service Models</a:t>
            </a:r>
          </a:p>
        </p:txBody>
      </p:sp>
      <p:sp>
        <p:nvSpPr>
          <p:cNvPr id="4" name="Slide Number Placeholder 3">
            <a:extLst>
              <a:ext uri="{FF2B5EF4-FFF2-40B4-BE49-F238E27FC236}">
                <a16:creationId xmlns:a16="http://schemas.microsoft.com/office/drawing/2014/main" id="{D435294A-4FB2-477E-886A-F7CC1D44E039}"/>
              </a:ext>
            </a:extLst>
          </p:cNvPr>
          <p:cNvSpPr>
            <a:spLocks noGrp="1"/>
          </p:cNvSpPr>
          <p:nvPr>
            <p:ph type="sldNum" sz="quarter" idx="12"/>
          </p:nvPr>
        </p:nvSpPr>
        <p:spPr/>
        <p:txBody>
          <a:bodyPr/>
          <a:lstStyle/>
          <a:p>
            <a:fld id="{76E8DCF4-EBDD-4FE1-8465-FD383573D554}" type="slidenum">
              <a:rPr lang="en-US" smtClean="0"/>
              <a:pPr/>
              <a:t>149</a:t>
            </a:fld>
            <a:endParaRPr lang="en-US"/>
          </a:p>
        </p:txBody>
      </p:sp>
      <p:sp>
        <p:nvSpPr>
          <p:cNvPr id="6" name="Rectangle 5">
            <a:extLst>
              <a:ext uri="{FF2B5EF4-FFF2-40B4-BE49-F238E27FC236}">
                <a16:creationId xmlns:a16="http://schemas.microsoft.com/office/drawing/2014/main" id="{0FF8E1F9-F3C9-4F31-B9D8-7C668E77E258}"/>
              </a:ext>
            </a:extLst>
          </p:cNvPr>
          <p:cNvSpPr/>
          <p:nvPr/>
        </p:nvSpPr>
        <p:spPr bwMode="auto">
          <a:xfrm>
            <a:off x="8001000" y="5257800"/>
            <a:ext cx="7200900" cy="570156"/>
          </a:xfrm>
          <a:prstGeom prst="rect">
            <a:avLst/>
          </a:prstGeom>
          <a:solidFill>
            <a:schemeClr val="accent1"/>
          </a:solidFill>
          <a:ln w="28575" cap="flat" cmpd="sng" algn="ctr">
            <a:solidFill>
              <a:schemeClr val="tx1"/>
            </a:solidFill>
            <a:prstDash val="solid"/>
            <a:round/>
            <a:headEnd type="none" w="med" len="med"/>
            <a:tailEnd type="none" w="med" len="med"/>
          </a:ln>
          <a:effectLst/>
        </p:spPr>
        <p:txBody>
          <a:bodyPr vert="horz" wrap="square" lIns="137160" tIns="68580" rIns="137160" bIns="68580" numCol="1" rtlCol="0" anchor="t" anchorCtr="0" compatLnSpc="1">
            <a:prstTxWarp prst="textNoShape">
              <a:avLst/>
            </a:prstTxWarp>
            <a:spAutoFit/>
          </a:bodyPr>
          <a:lstStyle/>
          <a:p>
            <a:pPr algn="ctr" defTabSz="1540670" fontAlgn="base">
              <a:lnSpc>
                <a:spcPct val="85000"/>
              </a:lnSpc>
              <a:spcBef>
                <a:spcPct val="0"/>
              </a:spcBef>
              <a:spcAft>
                <a:spcPct val="0"/>
              </a:spcAft>
            </a:pPr>
            <a:endParaRPr lang="en-US" sz="3300" b="1">
              <a:solidFill>
                <a:schemeClr val="bg1"/>
              </a:solidFill>
              <a:latin typeface="Arial Narrow" pitchFamily="34" charset="0"/>
            </a:endParaRPr>
          </a:p>
        </p:txBody>
      </p:sp>
      <p:sp>
        <p:nvSpPr>
          <p:cNvPr id="7" name="Rectangle 6">
            <a:extLst>
              <a:ext uri="{FF2B5EF4-FFF2-40B4-BE49-F238E27FC236}">
                <a16:creationId xmlns:a16="http://schemas.microsoft.com/office/drawing/2014/main" id="{5D6DCBD8-AF9F-41A4-872E-46FA2D095A97}"/>
              </a:ext>
            </a:extLst>
          </p:cNvPr>
          <p:cNvSpPr/>
          <p:nvPr/>
        </p:nvSpPr>
        <p:spPr bwMode="auto">
          <a:xfrm>
            <a:off x="12881928" y="4473858"/>
            <a:ext cx="2205672" cy="603440"/>
          </a:xfrm>
          <a:prstGeom prst="rect">
            <a:avLst/>
          </a:prstGeom>
          <a:solidFill>
            <a:schemeClr val="accent1"/>
          </a:solidFill>
          <a:ln w="28575" cap="flat" cmpd="sng" algn="ctr">
            <a:solidFill>
              <a:schemeClr val="tx1"/>
            </a:solidFill>
            <a:prstDash val="solid"/>
            <a:round/>
            <a:headEnd type="none" w="med" len="med"/>
            <a:tailEnd type="none" w="med" len="med"/>
          </a:ln>
          <a:effectLst/>
        </p:spPr>
        <p:txBody>
          <a:bodyPr vert="horz" wrap="square" lIns="137160" tIns="68580" rIns="137160" bIns="68580" numCol="1" rtlCol="0" anchor="t" anchorCtr="0" compatLnSpc="1">
            <a:prstTxWarp prst="textNoShape">
              <a:avLst/>
            </a:prstTxWarp>
            <a:spAutoFit/>
          </a:bodyPr>
          <a:lstStyle/>
          <a:p>
            <a:pPr algn="ctr" defTabSz="1540670" fontAlgn="base">
              <a:lnSpc>
                <a:spcPct val="85000"/>
              </a:lnSpc>
              <a:spcBef>
                <a:spcPct val="0"/>
              </a:spcBef>
              <a:spcAft>
                <a:spcPct val="0"/>
              </a:spcAft>
            </a:pPr>
            <a:endParaRPr lang="en-US" sz="3300" b="1">
              <a:latin typeface="Arial Narrow" pitchFamily="34" charset="0"/>
            </a:endParaRPr>
          </a:p>
        </p:txBody>
      </p:sp>
      <p:sp>
        <p:nvSpPr>
          <p:cNvPr id="8" name="Rectangle 7">
            <a:extLst>
              <a:ext uri="{FF2B5EF4-FFF2-40B4-BE49-F238E27FC236}">
                <a16:creationId xmlns:a16="http://schemas.microsoft.com/office/drawing/2014/main" id="{C80394D0-A06C-48A1-90D2-FDB546B1DC43}"/>
              </a:ext>
            </a:extLst>
          </p:cNvPr>
          <p:cNvSpPr/>
          <p:nvPr/>
        </p:nvSpPr>
        <p:spPr bwMode="auto">
          <a:xfrm>
            <a:off x="3200400" y="4457700"/>
            <a:ext cx="9681528" cy="619598"/>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137160" tIns="68580" rIns="137160" bIns="68580" numCol="1" rtlCol="0" anchor="t" anchorCtr="0" compatLnSpc="1">
            <a:prstTxWarp prst="textNoShape">
              <a:avLst/>
            </a:prstTxWarp>
            <a:spAutoFit/>
          </a:bodyPr>
          <a:lstStyle/>
          <a:p>
            <a:pPr algn="ctr" defTabSz="1540670" fontAlgn="base">
              <a:lnSpc>
                <a:spcPct val="85000"/>
              </a:lnSpc>
              <a:spcBef>
                <a:spcPct val="0"/>
              </a:spcBef>
              <a:spcAft>
                <a:spcPct val="0"/>
              </a:spcAft>
            </a:pPr>
            <a:endParaRPr lang="en-US" sz="3300" b="1">
              <a:latin typeface="Arial Narrow" pitchFamily="34" charset="0"/>
            </a:endParaRPr>
          </a:p>
        </p:txBody>
      </p:sp>
      <p:sp>
        <p:nvSpPr>
          <p:cNvPr id="10" name="Rectangle 9">
            <a:extLst>
              <a:ext uri="{FF2B5EF4-FFF2-40B4-BE49-F238E27FC236}">
                <a16:creationId xmlns:a16="http://schemas.microsoft.com/office/drawing/2014/main" id="{DE010C7B-08CB-4B56-A036-8B22A01010BC}"/>
              </a:ext>
            </a:extLst>
          </p:cNvPr>
          <p:cNvSpPr/>
          <p:nvPr/>
        </p:nvSpPr>
        <p:spPr bwMode="auto">
          <a:xfrm>
            <a:off x="3200400" y="3657600"/>
            <a:ext cx="12001500" cy="570156"/>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137160" tIns="68580" rIns="137160" bIns="68580" numCol="1" rtlCol="0" anchor="t" anchorCtr="0" compatLnSpc="1">
            <a:prstTxWarp prst="textNoShape">
              <a:avLst/>
            </a:prstTxWarp>
            <a:spAutoFit/>
          </a:bodyPr>
          <a:lstStyle/>
          <a:p>
            <a:pPr algn="ctr" defTabSz="1540670" fontAlgn="base">
              <a:lnSpc>
                <a:spcPct val="85000"/>
              </a:lnSpc>
              <a:spcBef>
                <a:spcPct val="0"/>
              </a:spcBef>
              <a:spcAft>
                <a:spcPct val="0"/>
              </a:spcAft>
            </a:pPr>
            <a:endParaRPr lang="en-US" sz="3300" b="1">
              <a:latin typeface="Arial Narrow" pitchFamily="34" charset="0"/>
            </a:endParaRPr>
          </a:p>
        </p:txBody>
      </p:sp>
      <p:sp>
        <p:nvSpPr>
          <p:cNvPr id="12" name="Rectangle 11">
            <a:extLst>
              <a:ext uri="{FF2B5EF4-FFF2-40B4-BE49-F238E27FC236}">
                <a16:creationId xmlns:a16="http://schemas.microsoft.com/office/drawing/2014/main" id="{922EB872-87CC-4360-A645-168A9A7B4981}"/>
              </a:ext>
            </a:extLst>
          </p:cNvPr>
          <p:cNvSpPr/>
          <p:nvPr/>
        </p:nvSpPr>
        <p:spPr bwMode="auto">
          <a:xfrm>
            <a:off x="5600700" y="6858000"/>
            <a:ext cx="9601200" cy="570156"/>
          </a:xfrm>
          <a:prstGeom prst="rect">
            <a:avLst/>
          </a:prstGeom>
          <a:solidFill>
            <a:schemeClr val="accent1"/>
          </a:solidFill>
          <a:ln w="28575" cap="flat" cmpd="sng" algn="ctr">
            <a:solidFill>
              <a:schemeClr val="tx1"/>
            </a:solidFill>
            <a:prstDash val="solid"/>
            <a:round/>
            <a:headEnd type="none" w="med" len="med"/>
            <a:tailEnd type="none" w="med" len="med"/>
          </a:ln>
          <a:effectLst/>
        </p:spPr>
        <p:txBody>
          <a:bodyPr vert="horz" wrap="square" lIns="137160" tIns="68580" rIns="137160" bIns="68580" numCol="1" rtlCol="0" anchor="t" anchorCtr="0" compatLnSpc="1">
            <a:prstTxWarp prst="textNoShape">
              <a:avLst/>
            </a:prstTxWarp>
            <a:spAutoFit/>
          </a:bodyPr>
          <a:lstStyle/>
          <a:p>
            <a:pPr algn="ctr" defTabSz="1540670" fontAlgn="base">
              <a:lnSpc>
                <a:spcPct val="85000"/>
              </a:lnSpc>
              <a:spcBef>
                <a:spcPct val="0"/>
              </a:spcBef>
              <a:spcAft>
                <a:spcPct val="0"/>
              </a:spcAft>
            </a:pPr>
            <a:endParaRPr lang="en-US" sz="3300" b="1">
              <a:latin typeface="Arial Narrow" pitchFamily="34" charset="0"/>
            </a:endParaRPr>
          </a:p>
        </p:txBody>
      </p:sp>
      <p:sp>
        <p:nvSpPr>
          <p:cNvPr id="13" name="Rectangle 12">
            <a:extLst>
              <a:ext uri="{FF2B5EF4-FFF2-40B4-BE49-F238E27FC236}">
                <a16:creationId xmlns:a16="http://schemas.microsoft.com/office/drawing/2014/main" id="{CD798EDF-D4C7-4855-953C-126F2002EBFF}"/>
              </a:ext>
            </a:extLst>
          </p:cNvPr>
          <p:cNvSpPr/>
          <p:nvPr/>
        </p:nvSpPr>
        <p:spPr bwMode="auto">
          <a:xfrm>
            <a:off x="3200400" y="7658100"/>
            <a:ext cx="12001500" cy="570156"/>
          </a:xfrm>
          <a:prstGeom prst="rect">
            <a:avLst/>
          </a:prstGeom>
          <a:solidFill>
            <a:schemeClr val="accent1"/>
          </a:solidFill>
          <a:ln w="28575" cap="flat" cmpd="sng" algn="ctr">
            <a:solidFill>
              <a:schemeClr val="tx1"/>
            </a:solidFill>
            <a:prstDash val="solid"/>
            <a:round/>
            <a:headEnd type="none" w="med" len="med"/>
            <a:tailEnd type="none" w="med" len="med"/>
          </a:ln>
          <a:effectLst/>
        </p:spPr>
        <p:txBody>
          <a:bodyPr vert="horz" wrap="square" lIns="137160" tIns="68580" rIns="137160" bIns="68580" numCol="1" rtlCol="0" anchor="t" anchorCtr="0" compatLnSpc="1">
            <a:prstTxWarp prst="textNoShape">
              <a:avLst/>
            </a:prstTxWarp>
            <a:spAutoFit/>
          </a:bodyPr>
          <a:lstStyle/>
          <a:p>
            <a:pPr algn="ctr" defTabSz="1540670" fontAlgn="base">
              <a:lnSpc>
                <a:spcPct val="85000"/>
              </a:lnSpc>
              <a:spcBef>
                <a:spcPct val="0"/>
              </a:spcBef>
              <a:spcAft>
                <a:spcPct val="0"/>
              </a:spcAft>
            </a:pPr>
            <a:endParaRPr lang="en-US" sz="3300" b="1">
              <a:latin typeface="Arial Narrow" pitchFamily="34" charset="0"/>
            </a:endParaRPr>
          </a:p>
        </p:txBody>
      </p:sp>
      <p:sp>
        <p:nvSpPr>
          <p:cNvPr id="15" name="Rectangle 14">
            <a:extLst>
              <a:ext uri="{FF2B5EF4-FFF2-40B4-BE49-F238E27FC236}">
                <a16:creationId xmlns:a16="http://schemas.microsoft.com/office/drawing/2014/main" id="{92BC1F20-F9C1-4E0D-9858-29F51A05E9F9}"/>
              </a:ext>
            </a:extLst>
          </p:cNvPr>
          <p:cNvSpPr/>
          <p:nvPr/>
        </p:nvSpPr>
        <p:spPr bwMode="auto">
          <a:xfrm>
            <a:off x="3200400" y="6874158"/>
            <a:ext cx="2400300" cy="553998"/>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137160" tIns="68580" rIns="137160" bIns="68580" numCol="1" rtlCol="0" anchor="t" anchorCtr="0" compatLnSpc="1">
            <a:prstTxWarp prst="textNoShape">
              <a:avLst/>
            </a:prstTxWarp>
            <a:spAutoFit/>
          </a:bodyPr>
          <a:lstStyle/>
          <a:p>
            <a:pPr algn="ctr" defTabSz="1540670" fontAlgn="base">
              <a:lnSpc>
                <a:spcPct val="85000"/>
              </a:lnSpc>
              <a:spcBef>
                <a:spcPct val="0"/>
              </a:spcBef>
              <a:spcAft>
                <a:spcPct val="0"/>
              </a:spcAft>
            </a:pPr>
            <a:endParaRPr lang="en-US" sz="3300" b="1">
              <a:latin typeface="Arial Narrow" pitchFamily="34" charset="0"/>
            </a:endParaRPr>
          </a:p>
        </p:txBody>
      </p:sp>
      <p:sp>
        <p:nvSpPr>
          <p:cNvPr id="17" name="Rectangle 16">
            <a:extLst>
              <a:ext uri="{FF2B5EF4-FFF2-40B4-BE49-F238E27FC236}">
                <a16:creationId xmlns:a16="http://schemas.microsoft.com/office/drawing/2014/main" id="{5658045F-E649-4E36-A002-1269B80C8D59}"/>
              </a:ext>
            </a:extLst>
          </p:cNvPr>
          <p:cNvSpPr/>
          <p:nvPr/>
        </p:nvSpPr>
        <p:spPr bwMode="auto">
          <a:xfrm>
            <a:off x="3200400" y="5257800"/>
            <a:ext cx="4800600" cy="570156"/>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137160" tIns="68580" rIns="137160" bIns="68580" numCol="1" rtlCol="0" anchor="t" anchorCtr="0" compatLnSpc="1">
            <a:prstTxWarp prst="textNoShape">
              <a:avLst/>
            </a:prstTxWarp>
            <a:spAutoFit/>
          </a:bodyPr>
          <a:lstStyle/>
          <a:p>
            <a:pPr algn="ctr" defTabSz="1540670" fontAlgn="base">
              <a:lnSpc>
                <a:spcPct val="85000"/>
              </a:lnSpc>
              <a:spcBef>
                <a:spcPct val="0"/>
              </a:spcBef>
              <a:spcAft>
                <a:spcPct val="0"/>
              </a:spcAft>
            </a:pPr>
            <a:endParaRPr lang="en-US" sz="3300" b="1">
              <a:latin typeface="Arial Narrow" pitchFamily="34" charset="0"/>
            </a:endParaRPr>
          </a:p>
        </p:txBody>
      </p:sp>
      <p:sp>
        <p:nvSpPr>
          <p:cNvPr id="21" name="TextBox 20">
            <a:extLst>
              <a:ext uri="{FF2B5EF4-FFF2-40B4-BE49-F238E27FC236}">
                <a16:creationId xmlns:a16="http://schemas.microsoft.com/office/drawing/2014/main" id="{49C5FEA1-1054-41E9-B6D7-DC6E073EDEDC}"/>
              </a:ext>
            </a:extLst>
          </p:cNvPr>
          <p:cNvSpPr txBox="1"/>
          <p:nvPr/>
        </p:nvSpPr>
        <p:spPr>
          <a:xfrm>
            <a:off x="4608197" y="7701476"/>
            <a:ext cx="8547276" cy="553998"/>
          </a:xfrm>
          <a:prstGeom prst="rect">
            <a:avLst/>
          </a:prstGeom>
          <a:noFill/>
        </p:spPr>
        <p:txBody>
          <a:bodyPr wrap="square" rtlCol="0">
            <a:spAutoFit/>
          </a:bodyPr>
          <a:lstStyle/>
          <a:p>
            <a:r>
              <a:rPr lang="en-US" sz="3000" b="1">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Facility, power, rack, environment controls, fire control</a:t>
            </a:r>
          </a:p>
        </p:txBody>
      </p:sp>
      <p:sp>
        <p:nvSpPr>
          <p:cNvPr id="22" name="TextBox 21">
            <a:extLst>
              <a:ext uri="{FF2B5EF4-FFF2-40B4-BE49-F238E27FC236}">
                <a16:creationId xmlns:a16="http://schemas.microsoft.com/office/drawing/2014/main" id="{CF8ABC02-C72C-45A4-B203-49C1913F1182}"/>
              </a:ext>
            </a:extLst>
          </p:cNvPr>
          <p:cNvSpPr txBox="1"/>
          <p:nvPr/>
        </p:nvSpPr>
        <p:spPr>
          <a:xfrm>
            <a:off x="8827005" y="6856772"/>
            <a:ext cx="2736807" cy="553998"/>
          </a:xfrm>
          <a:prstGeom prst="rect">
            <a:avLst/>
          </a:prstGeom>
          <a:noFill/>
        </p:spPr>
        <p:txBody>
          <a:bodyPr wrap="square" rtlCol="0">
            <a:spAutoFit/>
          </a:bodyPr>
          <a:lstStyle/>
          <a:p>
            <a:r>
              <a:rPr lang="en-US" sz="3000" b="1">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Hardware</a:t>
            </a:r>
          </a:p>
        </p:txBody>
      </p:sp>
      <p:sp>
        <p:nvSpPr>
          <p:cNvPr id="23" name="TextBox 22">
            <a:extLst>
              <a:ext uri="{FF2B5EF4-FFF2-40B4-BE49-F238E27FC236}">
                <a16:creationId xmlns:a16="http://schemas.microsoft.com/office/drawing/2014/main" id="{39777B81-C97A-43F1-9C34-FE77180C1E9B}"/>
              </a:ext>
            </a:extLst>
          </p:cNvPr>
          <p:cNvSpPr txBox="1"/>
          <p:nvPr/>
        </p:nvSpPr>
        <p:spPr>
          <a:xfrm>
            <a:off x="2978193" y="6879074"/>
            <a:ext cx="2736807" cy="553998"/>
          </a:xfrm>
          <a:prstGeom prst="rect">
            <a:avLst/>
          </a:prstGeom>
          <a:noFill/>
        </p:spPr>
        <p:txBody>
          <a:bodyPr wrap="square" rtlCol="0">
            <a:spAutoFit/>
          </a:bodyPr>
          <a:lstStyle/>
          <a:p>
            <a:pPr algn="ctr"/>
            <a:r>
              <a:rPr lang="en-US" sz="3000" b="1">
                <a:latin typeface="Helvetica Neue Condensed" panose="02000503000000020004" pitchFamily="2" charset="0"/>
                <a:ea typeface="Helvetica Neue Condensed" panose="02000503000000020004" pitchFamily="2" charset="0"/>
                <a:cs typeface="Helvetica Neue Condensed" panose="02000503000000020004" pitchFamily="2" charset="0"/>
              </a:rPr>
              <a:t>Hardware</a:t>
            </a:r>
          </a:p>
        </p:txBody>
      </p:sp>
      <p:sp>
        <p:nvSpPr>
          <p:cNvPr id="24" name="Rectangle 23">
            <a:extLst>
              <a:ext uri="{FF2B5EF4-FFF2-40B4-BE49-F238E27FC236}">
                <a16:creationId xmlns:a16="http://schemas.microsoft.com/office/drawing/2014/main" id="{B9594784-0CE6-4E36-8DD9-CA2005404F07}"/>
              </a:ext>
            </a:extLst>
          </p:cNvPr>
          <p:cNvSpPr/>
          <p:nvPr/>
        </p:nvSpPr>
        <p:spPr bwMode="auto">
          <a:xfrm>
            <a:off x="5600700" y="6057901"/>
            <a:ext cx="9601200" cy="570156"/>
          </a:xfrm>
          <a:prstGeom prst="rect">
            <a:avLst/>
          </a:prstGeom>
          <a:solidFill>
            <a:schemeClr val="accent1"/>
          </a:solidFill>
          <a:ln w="28575" cap="flat" cmpd="sng" algn="ctr">
            <a:solidFill>
              <a:schemeClr val="tx1"/>
            </a:solidFill>
            <a:prstDash val="solid"/>
            <a:round/>
            <a:headEnd type="none" w="med" len="med"/>
            <a:tailEnd type="none" w="med" len="med"/>
          </a:ln>
          <a:effectLst/>
        </p:spPr>
        <p:txBody>
          <a:bodyPr vert="horz" wrap="square" lIns="137160" tIns="68580" rIns="137160" bIns="68580" numCol="1" rtlCol="0" anchor="t" anchorCtr="0" compatLnSpc="1">
            <a:prstTxWarp prst="textNoShape">
              <a:avLst/>
            </a:prstTxWarp>
            <a:spAutoFit/>
          </a:bodyPr>
          <a:lstStyle/>
          <a:p>
            <a:pPr algn="ctr" defTabSz="1540670" fontAlgn="base">
              <a:lnSpc>
                <a:spcPct val="85000"/>
              </a:lnSpc>
              <a:spcBef>
                <a:spcPct val="0"/>
              </a:spcBef>
              <a:spcAft>
                <a:spcPct val="0"/>
              </a:spcAft>
            </a:pPr>
            <a:endParaRPr lang="en-US" sz="3300" b="1">
              <a:latin typeface="Arial Narrow" pitchFamily="34" charset="0"/>
            </a:endParaRPr>
          </a:p>
        </p:txBody>
      </p:sp>
      <p:sp>
        <p:nvSpPr>
          <p:cNvPr id="25" name="TextBox 24">
            <a:extLst>
              <a:ext uri="{FF2B5EF4-FFF2-40B4-BE49-F238E27FC236}">
                <a16:creationId xmlns:a16="http://schemas.microsoft.com/office/drawing/2014/main" id="{B425BA8A-1248-44A0-BE70-6D2E1496512C}"/>
              </a:ext>
            </a:extLst>
          </p:cNvPr>
          <p:cNvSpPr txBox="1"/>
          <p:nvPr/>
        </p:nvSpPr>
        <p:spPr>
          <a:xfrm>
            <a:off x="8842916" y="6056672"/>
            <a:ext cx="1858779" cy="553998"/>
          </a:xfrm>
          <a:prstGeom prst="rect">
            <a:avLst/>
          </a:prstGeom>
          <a:noFill/>
        </p:spPr>
        <p:txBody>
          <a:bodyPr wrap="none" rtlCol="0">
            <a:spAutoFit/>
          </a:bodyPr>
          <a:lstStyle/>
          <a:p>
            <a:r>
              <a:rPr lang="en-US" sz="3000" b="1">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Hypervisor</a:t>
            </a:r>
          </a:p>
        </p:txBody>
      </p:sp>
      <p:sp>
        <p:nvSpPr>
          <p:cNvPr id="26" name="TextBox 25">
            <a:extLst>
              <a:ext uri="{FF2B5EF4-FFF2-40B4-BE49-F238E27FC236}">
                <a16:creationId xmlns:a16="http://schemas.microsoft.com/office/drawing/2014/main" id="{89252116-2E73-49E7-9D5D-8C5107E4D7F5}"/>
              </a:ext>
            </a:extLst>
          </p:cNvPr>
          <p:cNvSpPr txBox="1"/>
          <p:nvPr/>
        </p:nvSpPr>
        <p:spPr>
          <a:xfrm>
            <a:off x="3380443" y="6078974"/>
            <a:ext cx="1858779" cy="553998"/>
          </a:xfrm>
          <a:prstGeom prst="rect">
            <a:avLst/>
          </a:prstGeom>
          <a:noFill/>
        </p:spPr>
        <p:txBody>
          <a:bodyPr wrap="none" rtlCol="0">
            <a:spAutoFit/>
          </a:bodyPr>
          <a:lstStyle/>
          <a:p>
            <a:r>
              <a:rPr lang="en-US" sz="3000" b="1">
                <a:latin typeface="Helvetica Neue Condensed" panose="02000503000000020004" pitchFamily="2" charset="0"/>
                <a:ea typeface="Helvetica Neue Condensed" panose="02000503000000020004" pitchFamily="2" charset="0"/>
                <a:cs typeface="Helvetica Neue Condensed" panose="02000503000000020004" pitchFamily="2" charset="0"/>
              </a:rPr>
              <a:t>Hypervisor</a:t>
            </a:r>
          </a:p>
        </p:txBody>
      </p:sp>
      <p:sp>
        <p:nvSpPr>
          <p:cNvPr id="27" name="TextBox 26">
            <a:extLst>
              <a:ext uri="{FF2B5EF4-FFF2-40B4-BE49-F238E27FC236}">
                <a16:creationId xmlns:a16="http://schemas.microsoft.com/office/drawing/2014/main" id="{2F7AEFAB-113C-4041-AFD9-316CAB7AB24F}"/>
              </a:ext>
            </a:extLst>
          </p:cNvPr>
          <p:cNvSpPr txBox="1"/>
          <p:nvPr/>
        </p:nvSpPr>
        <p:spPr>
          <a:xfrm>
            <a:off x="10940461" y="5278874"/>
            <a:ext cx="611065" cy="553998"/>
          </a:xfrm>
          <a:prstGeom prst="rect">
            <a:avLst/>
          </a:prstGeom>
          <a:noFill/>
        </p:spPr>
        <p:txBody>
          <a:bodyPr wrap="none" rtlCol="0">
            <a:spAutoFit/>
          </a:bodyPr>
          <a:lstStyle/>
          <a:p>
            <a:r>
              <a:rPr lang="en-US" sz="3000" b="1">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OS</a:t>
            </a:r>
          </a:p>
        </p:txBody>
      </p:sp>
      <p:sp>
        <p:nvSpPr>
          <p:cNvPr id="28" name="TextBox 27">
            <a:extLst>
              <a:ext uri="{FF2B5EF4-FFF2-40B4-BE49-F238E27FC236}">
                <a16:creationId xmlns:a16="http://schemas.microsoft.com/office/drawing/2014/main" id="{6BF1B619-E118-4FF6-A30D-3D99B4E45293}"/>
              </a:ext>
            </a:extLst>
          </p:cNvPr>
          <p:cNvSpPr txBox="1"/>
          <p:nvPr/>
        </p:nvSpPr>
        <p:spPr>
          <a:xfrm>
            <a:off x="5111161" y="5278874"/>
            <a:ext cx="611065" cy="553998"/>
          </a:xfrm>
          <a:prstGeom prst="rect">
            <a:avLst/>
          </a:prstGeom>
          <a:noFill/>
        </p:spPr>
        <p:txBody>
          <a:bodyPr wrap="none" rtlCol="0">
            <a:spAutoFit/>
          </a:bodyPr>
          <a:lstStyle/>
          <a:p>
            <a:r>
              <a:rPr lang="en-US" sz="3000" b="1">
                <a:latin typeface="Helvetica Neue Condensed" panose="02000503000000020004" pitchFamily="2" charset="0"/>
                <a:ea typeface="Helvetica Neue Condensed" panose="02000503000000020004" pitchFamily="2" charset="0"/>
                <a:cs typeface="Helvetica Neue Condensed" panose="02000503000000020004" pitchFamily="2" charset="0"/>
              </a:rPr>
              <a:t>OS</a:t>
            </a:r>
          </a:p>
        </p:txBody>
      </p:sp>
      <p:sp>
        <p:nvSpPr>
          <p:cNvPr id="29" name="TextBox 28">
            <a:extLst>
              <a:ext uri="{FF2B5EF4-FFF2-40B4-BE49-F238E27FC236}">
                <a16:creationId xmlns:a16="http://schemas.microsoft.com/office/drawing/2014/main" id="{D26A856B-FD1B-4127-966A-B60D37F173EB}"/>
              </a:ext>
            </a:extLst>
          </p:cNvPr>
          <p:cNvSpPr txBox="1"/>
          <p:nvPr/>
        </p:nvSpPr>
        <p:spPr>
          <a:xfrm>
            <a:off x="6772679" y="4501076"/>
            <a:ext cx="1921167" cy="553998"/>
          </a:xfrm>
          <a:prstGeom prst="rect">
            <a:avLst/>
          </a:prstGeom>
          <a:noFill/>
        </p:spPr>
        <p:txBody>
          <a:bodyPr wrap="none" rtlCol="0">
            <a:spAutoFit/>
          </a:bodyPr>
          <a:lstStyle/>
          <a:p>
            <a:r>
              <a:rPr lang="en-US" sz="3000" b="1">
                <a:latin typeface="Helvetica Neue Condensed" panose="02000503000000020004" pitchFamily="2" charset="0"/>
                <a:ea typeface="Helvetica Neue Condensed" panose="02000503000000020004" pitchFamily="2" charset="0"/>
                <a:cs typeface="Helvetica Neue Condensed" panose="02000503000000020004" pitchFamily="2" charset="0"/>
              </a:rPr>
              <a:t>Application</a:t>
            </a:r>
          </a:p>
        </p:txBody>
      </p:sp>
      <p:sp>
        <p:nvSpPr>
          <p:cNvPr id="30" name="TextBox 29">
            <a:extLst>
              <a:ext uri="{FF2B5EF4-FFF2-40B4-BE49-F238E27FC236}">
                <a16:creationId xmlns:a16="http://schemas.microsoft.com/office/drawing/2014/main" id="{47525313-39AB-42D6-8F00-BC582A06B04A}"/>
              </a:ext>
            </a:extLst>
          </p:cNvPr>
          <p:cNvSpPr txBox="1"/>
          <p:nvPr/>
        </p:nvSpPr>
        <p:spPr>
          <a:xfrm>
            <a:off x="12957715" y="4527396"/>
            <a:ext cx="1921167" cy="553998"/>
          </a:xfrm>
          <a:prstGeom prst="rect">
            <a:avLst/>
          </a:prstGeom>
          <a:noFill/>
        </p:spPr>
        <p:txBody>
          <a:bodyPr wrap="none" rtlCol="0">
            <a:spAutoFit/>
          </a:bodyPr>
          <a:lstStyle/>
          <a:p>
            <a:r>
              <a:rPr lang="en-US" sz="3000" b="1">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Application</a:t>
            </a:r>
          </a:p>
        </p:txBody>
      </p:sp>
      <p:sp>
        <p:nvSpPr>
          <p:cNvPr id="31" name="TextBox 30">
            <a:extLst>
              <a:ext uri="{FF2B5EF4-FFF2-40B4-BE49-F238E27FC236}">
                <a16:creationId xmlns:a16="http://schemas.microsoft.com/office/drawing/2014/main" id="{973DC8ED-6B05-497C-90E2-CE1A7B1AFF94}"/>
              </a:ext>
            </a:extLst>
          </p:cNvPr>
          <p:cNvSpPr txBox="1"/>
          <p:nvPr/>
        </p:nvSpPr>
        <p:spPr>
          <a:xfrm>
            <a:off x="7315201" y="3723278"/>
            <a:ext cx="2642070" cy="553998"/>
          </a:xfrm>
          <a:prstGeom prst="rect">
            <a:avLst/>
          </a:prstGeom>
          <a:noFill/>
        </p:spPr>
        <p:txBody>
          <a:bodyPr wrap="none" rtlCol="0">
            <a:spAutoFit/>
          </a:bodyPr>
          <a:lstStyle/>
          <a:p>
            <a:r>
              <a:rPr lang="en-US" sz="3000" b="1">
                <a:latin typeface="Helvetica Neue Condensed" panose="02000503000000020004" pitchFamily="2" charset="0"/>
                <a:ea typeface="Helvetica Neue Condensed" panose="02000503000000020004" pitchFamily="2" charset="0"/>
                <a:cs typeface="Helvetica Neue Condensed" panose="02000503000000020004" pitchFamily="2" charset="0"/>
              </a:rPr>
              <a:t>Access Controls</a:t>
            </a:r>
          </a:p>
        </p:txBody>
      </p:sp>
      <p:sp>
        <p:nvSpPr>
          <p:cNvPr id="33" name="Rectangle 32">
            <a:extLst>
              <a:ext uri="{FF2B5EF4-FFF2-40B4-BE49-F238E27FC236}">
                <a16:creationId xmlns:a16="http://schemas.microsoft.com/office/drawing/2014/main" id="{597DB540-BA3D-4A4A-BF0C-1F569E86CF16}"/>
              </a:ext>
            </a:extLst>
          </p:cNvPr>
          <p:cNvSpPr/>
          <p:nvPr/>
        </p:nvSpPr>
        <p:spPr bwMode="auto">
          <a:xfrm>
            <a:off x="5176224" y="8985544"/>
            <a:ext cx="2862318" cy="751131"/>
          </a:xfrm>
          <a:prstGeom prst="rect">
            <a:avLst/>
          </a:prstGeom>
          <a:solidFill>
            <a:schemeClr val="accent4">
              <a:lumMod val="20000"/>
              <a:lumOff val="80000"/>
            </a:schemeClr>
          </a:solidFill>
          <a:ln w="28575" cap="flat" cmpd="sng" algn="ctr">
            <a:solidFill>
              <a:schemeClr val="tx1"/>
            </a:solidFill>
            <a:prstDash val="solid"/>
            <a:round/>
            <a:headEnd type="none" w="med" len="med"/>
            <a:tailEnd type="none" w="med" len="med"/>
          </a:ln>
          <a:effectLst/>
        </p:spPr>
        <p:txBody>
          <a:bodyPr vert="horz" wrap="square" lIns="137160" tIns="68580" rIns="137160" bIns="68580" numCol="1" rtlCol="0" anchor="t" anchorCtr="0" compatLnSpc="1">
            <a:prstTxWarp prst="textNoShape">
              <a:avLst/>
            </a:prstTxWarp>
            <a:spAutoFit/>
          </a:bodyPr>
          <a:lstStyle/>
          <a:p>
            <a:pPr algn="ctr" defTabSz="1540670" fontAlgn="base">
              <a:lnSpc>
                <a:spcPct val="85000"/>
              </a:lnSpc>
              <a:spcBef>
                <a:spcPct val="0"/>
              </a:spcBef>
              <a:spcAft>
                <a:spcPct val="0"/>
              </a:spcAft>
            </a:pPr>
            <a:endParaRPr lang="en-US" sz="3300" b="1">
              <a:latin typeface="Arial Narrow" pitchFamily="34" charset="0"/>
            </a:endParaRPr>
          </a:p>
        </p:txBody>
      </p:sp>
      <p:sp>
        <p:nvSpPr>
          <p:cNvPr id="34" name="TextBox 33">
            <a:extLst>
              <a:ext uri="{FF2B5EF4-FFF2-40B4-BE49-F238E27FC236}">
                <a16:creationId xmlns:a16="http://schemas.microsoft.com/office/drawing/2014/main" id="{4546069B-4A07-40F7-ABCD-3198C59119CA}"/>
              </a:ext>
            </a:extLst>
          </p:cNvPr>
          <p:cNvSpPr txBox="1"/>
          <p:nvPr/>
        </p:nvSpPr>
        <p:spPr>
          <a:xfrm>
            <a:off x="10623077" y="9084111"/>
            <a:ext cx="1479572" cy="553998"/>
          </a:xfrm>
          <a:prstGeom prst="rect">
            <a:avLst/>
          </a:prstGeom>
          <a:noFill/>
        </p:spPr>
        <p:txBody>
          <a:bodyPr wrap="none" rtlCol="0">
            <a:spAutoFit/>
          </a:bodyPr>
          <a:lstStyle/>
          <a:p>
            <a:r>
              <a:rPr lang="en-US" sz="3000" b="1">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Provider</a:t>
            </a:r>
          </a:p>
        </p:txBody>
      </p:sp>
      <p:sp>
        <p:nvSpPr>
          <p:cNvPr id="36" name="TextBox 35">
            <a:extLst>
              <a:ext uri="{FF2B5EF4-FFF2-40B4-BE49-F238E27FC236}">
                <a16:creationId xmlns:a16="http://schemas.microsoft.com/office/drawing/2014/main" id="{A8B18EF8-05FE-46A4-9A96-10499730A1F4}"/>
              </a:ext>
            </a:extLst>
          </p:cNvPr>
          <p:cNvSpPr txBox="1"/>
          <p:nvPr/>
        </p:nvSpPr>
        <p:spPr>
          <a:xfrm>
            <a:off x="5764268" y="9049992"/>
            <a:ext cx="1686231" cy="553998"/>
          </a:xfrm>
          <a:prstGeom prst="rect">
            <a:avLst/>
          </a:prstGeom>
          <a:noFill/>
        </p:spPr>
        <p:txBody>
          <a:bodyPr wrap="none" rtlCol="0">
            <a:spAutoFit/>
          </a:bodyPr>
          <a:lstStyle/>
          <a:p>
            <a:r>
              <a:rPr lang="en-US" sz="3000" b="1">
                <a:latin typeface="Helvetica Neue Condensed" panose="02000503000000020004" pitchFamily="2" charset="0"/>
                <a:ea typeface="Helvetica Neue Condensed" panose="02000503000000020004" pitchFamily="2" charset="0"/>
                <a:cs typeface="Helvetica Neue Condensed" panose="02000503000000020004" pitchFamily="2" charset="0"/>
              </a:rPr>
              <a:t>Customer</a:t>
            </a:r>
          </a:p>
        </p:txBody>
      </p:sp>
      <p:sp>
        <p:nvSpPr>
          <p:cNvPr id="37" name="TextBox 36">
            <a:extLst>
              <a:ext uri="{FF2B5EF4-FFF2-40B4-BE49-F238E27FC236}">
                <a16:creationId xmlns:a16="http://schemas.microsoft.com/office/drawing/2014/main" id="{D30E1641-865C-41EF-8863-859A347CE93D}"/>
              </a:ext>
            </a:extLst>
          </p:cNvPr>
          <p:cNvSpPr txBox="1"/>
          <p:nvPr/>
        </p:nvSpPr>
        <p:spPr>
          <a:xfrm>
            <a:off x="1976441" y="9144000"/>
            <a:ext cx="2337499" cy="553998"/>
          </a:xfrm>
          <a:prstGeom prst="rect">
            <a:avLst/>
          </a:prstGeom>
          <a:noFill/>
        </p:spPr>
        <p:txBody>
          <a:bodyPr wrap="none" rtlCol="0">
            <a:spAutoFit/>
          </a:bodyPr>
          <a:lstStyle/>
          <a:p>
            <a:r>
              <a:rPr lang="en-US" sz="3000" b="1">
                <a:latin typeface="Helvetica Neue Condensed" panose="02000503000000020004" pitchFamily="2" charset="0"/>
                <a:ea typeface="Helvetica Neue Condensed" panose="02000503000000020004" pitchFamily="2" charset="0"/>
                <a:cs typeface="Helvetica Neue Condensed" panose="02000503000000020004" pitchFamily="2" charset="0"/>
              </a:rPr>
              <a:t>Responsibility</a:t>
            </a:r>
          </a:p>
        </p:txBody>
      </p:sp>
      <p:sp>
        <p:nvSpPr>
          <p:cNvPr id="38" name="TextBox 37">
            <a:extLst>
              <a:ext uri="{FF2B5EF4-FFF2-40B4-BE49-F238E27FC236}">
                <a16:creationId xmlns:a16="http://schemas.microsoft.com/office/drawing/2014/main" id="{DDAA8117-6A39-45CE-A3E7-C10FC98E9646}"/>
              </a:ext>
            </a:extLst>
          </p:cNvPr>
          <p:cNvSpPr txBox="1"/>
          <p:nvPr/>
        </p:nvSpPr>
        <p:spPr>
          <a:xfrm>
            <a:off x="3505018" y="2669486"/>
            <a:ext cx="875561" cy="553998"/>
          </a:xfrm>
          <a:prstGeom prst="rect">
            <a:avLst/>
          </a:prstGeom>
          <a:noFill/>
        </p:spPr>
        <p:txBody>
          <a:bodyPr wrap="none" rtlCol="0">
            <a:spAutoFit/>
          </a:bodyPr>
          <a:lstStyle/>
          <a:p>
            <a:r>
              <a:rPr lang="en-US" sz="3000" b="1">
                <a:latin typeface="Helvetica Neue Condensed" panose="02000503000000020004" pitchFamily="2" charset="0"/>
                <a:ea typeface="Helvetica Neue Condensed" panose="02000503000000020004" pitchFamily="2" charset="0"/>
                <a:cs typeface="Helvetica Neue Condensed" panose="02000503000000020004" pitchFamily="2" charset="0"/>
              </a:rPr>
              <a:t>Colo</a:t>
            </a:r>
          </a:p>
        </p:txBody>
      </p:sp>
      <p:sp>
        <p:nvSpPr>
          <p:cNvPr id="39" name="TextBox 38">
            <a:extLst>
              <a:ext uri="{FF2B5EF4-FFF2-40B4-BE49-F238E27FC236}">
                <a16:creationId xmlns:a16="http://schemas.microsoft.com/office/drawing/2014/main" id="{2C556EF8-BDA2-4085-94DC-C39EAD94E1B9}"/>
              </a:ext>
            </a:extLst>
          </p:cNvPr>
          <p:cNvSpPr txBox="1"/>
          <p:nvPr/>
        </p:nvSpPr>
        <p:spPr>
          <a:xfrm>
            <a:off x="5937779" y="2669486"/>
            <a:ext cx="853119" cy="553998"/>
          </a:xfrm>
          <a:prstGeom prst="rect">
            <a:avLst/>
          </a:prstGeom>
          <a:noFill/>
        </p:spPr>
        <p:txBody>
          <a:bodyPr wrap="none" rtlCol="0">
            <a:spAutoFit/>
          </a:bodyPr>
          <a:lstStyle/>
          <a:p>
            <a:r>
              <a:rPr lang="en-US" sz="3000" b="1">
                <a:latin typeface="Helvetica Neue Condensed" panose="02000503000000020004" pitchFamily="2" charset="0"/>
                <a:ea typeface="Helvetica Neue Condensed" panose="02000503000000020004" pitchFamily="2" charset="0"/>
                <a:cs typeface="Helvetica Neue Condensed" panose="02000503000000020004" pitchFamily="2" charset="0"/>
              </a:rPr>
              <a:t>IaaS</a:t>
            </a:r>
          </a:p>
        </p:txBody>
      </p:sp>
      <p:sp>
        <p:nvSpPr>
          <p:cNvPr id="40" name="TextBox 39">
            <a:extLst>
              <a:ext uri="{FF2B5EF4-FFF2-40B4-BE49-F238E27FC236}">
                <a16:creationId xmlns:a16="http://schemas.microsoft.com/office/drawing/2014/main" id="{00E738A0-0039-49DF-B93A-CFB52BE353A1}"/>
              </a:ext>
            </a:extLst>
          </p:cNvPr>
          <p:cNvSpPr txBox="1"/>
          <p:nvPr/>
        </p:nvSpPr>
        <p:spPr>
          <a:xfrm>
            <a:off x="9524636" y="2669486"/>
            <a:ext cx="947182" cy="553998"/>
          </a:xfrm>
          <a:prstGeom prst="rect">
            <a:avLst/>
          </a:prstGeom>
          <a:noFill/>
        </p:spPr>
        <p:txBody>
          <a:bodyPr wrap="none" rtlCol="0">
            <a:spAutoFit/>
          </a:bodyPr>
          <a:lstStyle/>
          <a:p>
            <a:r>
              <a:rPr lang="en-US" sz="3000" b="1">
                <a:latin typeface="Helvetica Neue Condensed" panose="02000503000000020004" pitchFamily="2" charset="0"/>
                <a:ea typeface="Helvetica Neue Condensed" panose="02000503000000020004" pitchFamily="2" charset="0"/>
                <a:cs typeface="Helvetica Neue Condensed" panose="02000503000000020004" pitchFamily="2" charset="0"/>
              </a:rPr>
              <a:t>PaaS</a:t>
            </a:r>
          </a:p>
        </p:txBody>
      </p:sp>
      <p:sp>
        <p:nvSpPr>
          <p:cNvPr id="41" name="TextBox 40">
            <a:extLst>
              <a:ext uri="{FF2B5EF4-FFF2-40B4-BE49-F238E27FC236}">
                <a16:creationId xmlns:a16="http://schemas.microsoft.com/office/drawing/2014/main" id="{0C205075-3FE1-4EEA-8251-B98195081289}"/>
              </a:ext>
            </a:extLst>
          </p:cNvPr>
          <p:cNvSpPr txBox="1"/>
          <p:nvPr/>
        </p:nvSpPr>
        <p:spPr>
          <a:xfrm>
            <a:off x="13067936" y="2669486"/>
            <a:ext cx="954107" cy="553998"/>
          </a:xfrm>
          <a:prstGeom prst="rect">
            <a:avLst/>
          </a:prstGeom>
          <a:noFill/>
        </p:spPr>
        <p:txBody>
          <a:bodyPr wrap="none" rtlCol="0">
            <a:spAutoFit/>
          </a:bodyPr>
          <a:lstStyle/>
          <a:p>
            <a:r>
              <a:rPr lang="en-US" sz="3000" b="1">
                <a:latin typeface="Helvetica Neue Condensed" panose="02000503000000020004" pitchFamily="2" charset="0"/>
                <a:ea typeface="Helvetica Neue Condensed" panose="02000503000000020004" pitchFamily="2" charset="0"/>
                <a:cs typeface="Helvetica Neue Condensed" panose="02000503000000020004" pitchFamily="2" charset="0"/>
              </a:rPr>
              <a:t>SaaS</a:t>
            </a:r>
          </a:p>
        </p:txBody>
      </p:sp>
    </p:spTree>
    <p:extLst>
      <p:ext uri="{BB962C8B-B14F-4D97-AF65-F5344CB8AC3E}">
        <p14:creationId xmlns:p14="http://schemas.microsoft.com/office/powerpoint/2010/main" val="346104037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Shared Responsibility: Who Secures What</a:t>
            </a:r>
          </a:p>
        </p:txBody>
      </p:sp>
      <p:sp>
        <p:nvSpPr>
          <p:cNvPr id="3" name="Grid head IaaS"/>
          <p:cNvSpPr txBox="1"/>
          <p:nvPr/>
        </p:nvSpPr>
        <p:spPr>
          <a:xfrm>
            <a:off x="4800600" y="2697480"/>
            <a:ext cx="1783080" cy="457200"/>
          </a:xfrm>
          <a:prstGeom prst="rect">
            <a:avLst/>
          </a:prstGeom>
          <a:noFill/>
        </p:spPr>
        <p:txBody>
          <a:bodyPr wrap="square" lIns="0" tIns="0" rIns="0" bIns="0" anchor="ctr">
            <a:spAutoFit/>
          </a:bodyPr>
          <a:lstStyle/>
          <a:p>
            <a:pPr algn="ctr">
              <a:spcAft>
                <a:spcPts val="600"/>
              </a:spcAft>
            </a:pPr>
            <a:r>
              <a:rPr sz="2200" b="1" i="0">
                <a:solidFill>
                  <a:srgbClr val="000000"/>
                </a:solidFill>
                <a:latin typeface="Helvetica Neue"/>
                <a:ea typeface="Helvetica Neue"/>
                <a:cs typeface="Helvetica Neue"/>
              </a:rPr>
              <a:t>IaaS</a:t>
            </a:r>
          </a:p>
        </p:txBody>
      </p:sp>
      <p:sp>
        <p:nvSpPr>
          <p:cNvPr id="4" name="Grid head PaaS"/>
          <p:cNvSpPr txBox="1"/>
          <p:nvPr/>
        </p:nvSpPr>
        <p:spPr>
          <a:xfrm>
            <a:off x="6675120" y="2697480"/>
            <a:ext cx="1783080" cy="457200"/>
          </a:xfrm>
          <a:prstGeom prst="rect">
            <a:avLst/>
          </a:prstGeom>
          <a:noFill/>
        </p:spPr>
        <p:txBody>
          <a:bodyPr wrap="square" lIns="0" tIns="0" rIns="0" bIns="0" anchor="ctr">
            <a:spAutoFit/>
          </a:bodyPr>
          <a:lstStyle/>
          <a:p>
            <a:pPr algn="ctr">
              <a:spcAft>
                <a:spcPts val="600"/>
              </a:spcAft>
            </a:pPr>
            <a:r>
              <a:rPr sz="2200" b="1" i="0">
                <a:solidFill>
                  <a:srgbClr val="000000"/>
                </a:solidFill>
                <a:latin typeface="Helvetica Neue"/>
                <a:ea typeface="Helvetica Neue"/>
                <a:cs typeface="Helvetica Neue"/>
              </a:rPr>
              <a:t>PaaS</a:t>
            </a:r>
          </a:p>
        </p:txBody>
      </p:sp>
      <p:sp>
        <p:nvSpPr>
          <p:cNvPr id="5" name="Grid head SaaS"/>
          <p:cNvSpPr txBox="1"/>
          <p:nvPr/>
        </p:nvSpPr>
        <p:spPr>
          <a:xfrm>
            <a:off x="8549640" y="2697480"/>
            <a:ext cx="1783080" cy="457200"/>
          </a:xfrm>
          <a:prstGeom prst="rect">
            <a:avLst/>
          </a:prstGeom>
          <a:noFill/>
        </p:spPr>
        <p:txBody>
          <a:bodyPr wrap="square" lIns="0" tIns="0" rIns="0" bIns="0" anchor="ctr">
            <a:spAutoFit/>
          </a:bodyPr>
          <a:lstStyle/>
          <a:p>
            <a:pPr algn="ctr">
              <a:spcAft>
                <a:spcPts val="600"/>
              </a:spcAft>
            </a:pPr>
            <a:r>
              <a:rPr sz="2200" b="1" i="0">
                <a:solidFill>
                  <a:srgbClr val="000000"/>
                </a:solidFill>
                <a:latin typeface="Helvetica Neue"/>
                <a:ea typeface="Helvetica Neue"/>
                <a:cs typeface="Helvetica Neue"/>
              </a:rPr>
              <a:t>SaaS</a:t>
            </a:r>
          </a:p>
        </p:txBody>
      </p:sp>
      <p:sp>
        <p:nvSpPr>
          <p:cNvPr id="6" name="Row 1 label"/>
          <p:cNvSpPr txBox="1"/>
          <p:nvPr/>
        </p:nvSpPr>
        <p:spPr>
          <a:xfrm>
            <a:off x="1257300" y="3246120"/>
            <a:ext cx="3429000" cy="658368"/>
          </a:xfrm>
          <a:prstGeom prst="rect">
            <a:avLst/>
          </a:prstGeom>
          <a:noFill/>
        </p:spPr>
        <p:txBody>
          <a:bodyPr wrap="square" lIns="0" tIns="0" rIns="0" bIns="0" anchor="ctr">
            <a:spAutoFit/>
          </a:bodyPr>
          <a:lstStyle/>
          <a:p>
            <a:pPr algn="l">
              <a:spcAft>
                <a:spcPts val="600"/>
              </a:spcAft>
            </a:pPr>
            <a:r>
              <a:rPr sz="1900" b="1" i="0">
                <a:solidFill>
                  <a:srgbClr val="000000"/>
                </a:solidFill>
                <a:latin typeface="Helvetica Neue"/>
                <a:ea typeface="Helvetica Neue"/>
                <a:cs typeface="Helvetica Neue"/>
              </a:rPr>
              <a:t>Data</a:t>
            </a:r>
          </a:p>
        </p:txBody>
      </p:sp>
      <p:sp>
        <p:nvSpPr>
          <p:cNvPr id="7" name="Cell 1-1"/>
          <p:cNvSpPr/>
          <p:nvPr/>
        </p:nvSpPr>
        <p:spPr>
          <a:xfrm>
            <a:off x="4800600" y="3246120"/>
            <a:ext cx="1783080" cy="658368"/>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Bank</a:t>
            </a:r>
          </a:p>
        </p:txBody>
      </p:sp>
      <p:sp>
        <p:nvSpPr>
          <p:cNvPr id="8" name="Cell 1-2"/>
          <p:cNvSpPr/>
          <p:nvPr/>
        </p:nvSpPr>
        <p:spPr>
          <a:xfrm>
            <a:off x="6675120" y="3246120"/>
            <a:ext cx="1783080" cy="658368"/>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Bank</a:t>
            </a:r>
          </a:p>
        </p:txBody>
      </p:sp>
      <p:sp>
        <p:nvSpPr>
          <p:cNvPr id="9" name="Cell 1-3"/>
          <p:cNvSpPr/>
          <p:nvPr/>
        </p:nvSpPr>
        <p:spPr>
          <a:xfrm>
            <a:off x="8549640" y="3246120"/>
            <a:ext cx="1783080" cy="658368"/>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Bank</a:t>
            </a:r>
          </a:p>
        </p:txBody>
      </p:sp>
      <p:sp>
        <p:nvSpPr>
          <p:cNvPr id="10" name="Row 2 label"/>
          <p:cNvSpPr txBox="1"/>
          <p:nvPr/>
        </p:nvSpPr>
        <p:spPr>
          <a:xfrm>
            <a:off x="1257300" y="3977639"/>
            <a:ext cx="3429000" cy="658368"/>
          </a:xfrm>
          <a:prstGeom prst="rect">
            <a:avLst/>
          </a:prstGeom>
          <a:noFill/>
        </p:spPr>
        <p:txBody>
          <a:bodyPr wrap="square" lIns="0" tIns="0" rIns="0" bIns="0" anchor="ctr">
            <a:spAutoFit/>
          </a:bodyPr>
          <a:lstStyle/>
          <a:p>
            <a:pPr algn="l">
              <a:spcAft>
                <a:spcPts val="600"/>
              </a:spcAft>
            </a:pPr>
            <a:r>
              <a:rPr sz="1900" b="1" i="0">
                <a:solidFill>
                  <a:srgbClr val="000000"/>
                </a:solidFill>
                <a:latin typeface="Helvetica Neue"/>
                <a:ea typeface="Helvetica Neue"/>
                <a:cs typeface="Helvetica Neue"/>
              </a:rPr>
              <a:t>Identities and access</a:t>
            </a:r>
          </a:p>
        </p:txBody>
      </p:sp>
      <p:sp>
        <p:nvSpPr>
          <p:cNvPr id="11" name="Cell 2-1"/>
          <p:cNvSpPr/>
          <p:nvPr/>
        </p:nvSpPr>
        <p:spPr>
          <a:xfrm>
            <a:off x="4800600" y="3977639"/>
            <a:ext cx="1783080" cy="658368"/>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Bank</a:t>
            </a:r>
          </a:p>
        </p:txBody>
      </p:sp>
      <p:sp>
        <p:nvSpPr>
          <p:cNvPr id="12" name="Cell 2-2"/>
          <p:cNvSpPr/>
          <p:nvPr/>
        </p:nvSpPr>
        <p:spPr>
          <a:xfrm>
            <a:off x="6675120" y="3977639"/>
            <a:ext cx="1783080" cy="658368"/>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Bank</a:t>
            </a:r>
          </a:p>
        </p:txBody>
      </p:sp>
      <p:sp>
        <p:nvSpPr>
          <p:cNvPr id="13" name="Cell 2-3"/>
          <p:cNvSpPr/>
          <p:nvPr/>
        </p:nvSpPr>
        <p:spPr>
          <a:xfrm>
            <a:off x="8549640" y="3977639"/>
            <a:ext cx="1783080" cy="658368"/>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Bank</a:t>
            </a:r>
          </a:p>
        </p:txBody>
      </p:sp>
      <p:sp>
        <p:nvSpPr>
          <p:cNvPr id="14" name="Row 3 label"/>
          <p:cNvSpPr txBox="1"/>
          <p:nvPr/>
        </p:nvSpPr>
        <p:spPr>
          <a:xfrm>
            <a:off x="1257300" y="4709160"/>
            <a:ext cx="3429000" cy="658368"/>
          </a:xfrm>
          <a:prstGeom prst="rect">
            <a:avLst/>
          </a:prstGeom>
          <a:noFill/>
        </p:spPr>
        <p:txBody>
          <a:bodyPr wrap="square" lIns="0" tIns="0" rIns="0" bIns="0" anchor="ctr">
            <a:spAutoFit/>
          </a:bodyPr>
          <a:lstStyle/>
          <a:p>
            <a:pPr algn="l">
              <a:spcAft>
                <a:spcPts val="600"/>
              </a:spcAft>
            </a:pPr>
            <a:r>
              <a:rPr sz="1900" b="1" i="0">
                <a:solidFill>
                  <a:srgbClr val="000000"/>
                </a:solidFill>
                <a:latin typeface="Helvetica Neue"/>
                <a:ea typeface="Helvetica Neue"/>
                <a:cs typeface="Helvetica Neue"/>
              </a:rPr>
              <a:t>Configuration and settings</a:t>
            </a:r>
          </a:p>
        </p:txBody>
      </p:sp>
      <p:sp>
        <p:nvSpPr>
          <p:cNvPr id="15" name="Cell 3-1"/>
          <p:cNvSpPr/>
          <p:nvPr/>
        </p:nvSpPr>
        <p:spPr>
          <a:xfrm>
            <a:off x="4800600" y="4709160"/>
            <a:ext cx="1783080" cy="658368"/>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Bank</a:t>
            </a:r>
          </a:p>
        </p:txBody>
      </p:sp>
      <p:sp>
        <p:nvSpPr>
          <p:cNvPr id="16" name="Cell 3-2"/>
          <p:cNvSpPr/>
          <p:nvPr/>
        </p:nvSpPr>
        <p:spPr>
          <a:xfrm>
            <a:off x="6675120" y="4709160"/>
            <a:ext cx="1783080" cy="658368"/>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Bank</a:t>
            </a:r>
          </a:p>
        </p:txBody>
      </p:sp>
      <p:sp>
        <p:nvSpPr>
          <p:cNvPr id="17" name="Cell 3-3"/>
          <p:cNvSpPr/>
          <p:nvPr/>
        </p:nvSpPr>
        <p:spPr>
          <a:xfrm>
            <a:off x="8549640" y="4709160"/>
            <a:ext cx="1783080" cy="658368"/>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Bank</a:t>
            </a:r>
          </a:p>
        </p:txBody>
      </p:sp>
      <p:sp>
        <p:nvSpPr>
          <p:cNvPr id="18" name="Row 4 label"/>
          <p:cNvSpPr txBox="1"/>
          <p:nvPr/>
        </p:nvSpPr>
        <p:spPr>
          <a:xfrm>
            <a:off x="1257300" y="5440680"/>
            <a:ext cx="3429000" cy="658368"/>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Applications</a:t>
            </a:r>
          </a:p>
        </p:txBody>
      </p:sp>
      <p:sp>
        <p:nvSpPr>
          <p:cNvPr id="19" name="Cell 4-1"/>
          <p:cNvSpPr/>
          <p:nvPr/>
        </p:nvSpPr>
        <p:spPr>
          <a:xfrm>
            <a:off x="4800600" y="5440680"/>
            <a:ext cx="1783080" cy="658368"/>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Bank</a:t>
            </a:r>
          </a:p>
        </p:txBody>
      </p:sp>
      <p:sp>
        <p:nvSpPr>
          <p:cNvPr id="20" name="Cell 4-2"/>
          <p:cNvSpPr/>
          <p:nvPr/>
        </p:nvSpPr>
        <p:spPr>
          <a:xfrm>
            <a:off x="6675120" y="5440680"/>
            <a:ext cx="1783080" cy="658368"/>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Bank</a:t>
            </a:r>
          </a:p>
        </p:txBody>
      </p:sp>
      <p:sp>
        <p:nvSpPr>
          <p:cNvPr id="21" name="Cell 4-3"/>
          <p:cNvSpPr/>
          <p:nvPr/>
        </p:nvSpPr>
        <p:spPr>
          <a:xfrm>
            <a:off x="8549640" y="5440680"/>
            <a:ext cx="1783080" cy="65836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404040"/>
                </a:solidFill>
                <a:latin typeface="Helvetica Neue"/>
                <a:ea typeface="Helvetica Neue"/>
                <a:cs typeface="Helvetica Neue"/>
              </a:rPr>
              <a:t>Provider</a:t>
            </a:r>
          </a:p>
        </p:txBody>
      </p:sp>
      <p:sp>
        <p:nvSpPr>
          <p:cNvPr id="22" name="Row 5 label"/>
          <p:cNvSpPr txBox="1"/>
          <p:nvPr/>
        </p:nvSpPr>
        <p:spPr>
          <a:xfrm>
            <a:off x="1257300" y="6172200"/>
            <a:ext cx="3429000" cy="658368"/>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Operating systems</a:t>
            </a:r>
          </a:p>
        </p:txBody>
      </p:sp>
      <p:sp>
        <p:nvSpPr>
          <p:cNvPr id="23" name="Cell 5-1"/>
          <p:cNvSpPr/>
          <p:nvPr/>
        </p:nvSpPr>
        <p:spPr>
          <a:xfrm>
            <a:off x="4800600" y="6172200"/>
            <a:ext cx="1783080" cy="658368"/>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Bank</a:t>
            </a:r>
          </a:p>
        </p:txBody>
      </p:sp>
      <p:sp>
        <p:nvSpPr>
          <p:cNvPr id="24" name="Cell 5-2"/>
          <p:cNvSpPr/>
          <p:nvPr/>
        </p:nvSpPr>
        <p:spPr>
          <a:xfrm>
            <a:off x="6675120" y="6172200"/>
            <a:ext cx="1783080" cy="65836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404040"/>
                </a:solidFill>
                <a:latin typeface="Helvetica Neue"/>
                <a:ea typeface="Helvetica Neue"/>
                <a:cs typeface="Helvetica Neue"/>
              </a:rPr>
              <a:t>Provider</a:t>
            </a:r>
          </a:p>
        </p:txBody>
      </p:sp>
      <p:sp>
        <p:nvSpPr>
          <p:cNvPr id="25" name="Cell 5-3"/>
          <p:cNvSpPr/>
          <p:nvPr/>
        </p:nvSpPr>
        <p:spPr>
          <a:xfrm>
            <a:off x="8549640" y="6172200"/>
            <a:ext cx="1783080" cy="65836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404040"/>
                </a:solidFill>
                <a:latin typeface="Helvetica Neue"/>
                <a:ea typeface="Helvetica Neue"/>
                <a:cs typeface="Helvetica Neue"/>
              </a:rPr>
              <a:t>Provider</a:t>
            </a:r>
          </a:p>
        </p:txBody>
      </p:sp>
      <p:sp>
        <p:nvSpPr>
          <p:cNvPr id="26" name="Row 6 label"/>
          <p:cNvSpPr txBox="1"/>
          <p:nvPr/>
        </p:nvSpPr>
        <p:spPr>
          <a:xfrm>
            <a:off x="1257300" y="6903720"/>
            <a:ext cx="3429000" cy="658368"/>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Network and virtualization</a:t>
            </a:r>
          </a:p>
        </p:txBody>
      </p:sp>
      <p:sp>
        <p:nvSpPr>
          <p:cNvPr id="27" name="Cell 6-1"/>
          <p:cNvSpPr/>
          <p:nvPr/>
        </p:nvSpPr>
        <p:spPr>
          <a:xfrm>
            <a:off x="4800600" y="6903720"/>
            <a:ext cx="1783080" cy="65836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404040"/>
                </a:solidFill>
                <a:latin typeface="Helvetica Neue"/>
                <a:ea typeface="Helvetica Neue"/>
                <a:cs typeface="Helvetica Neue"/>
              </a:rPr>
              <a:t>Provider</a:t>
            </a:r>
          </a:p>
        </p:txBody>
      </p:sp>
      <p:sp>
        <p:nvSpPr>
          <p:cNvPr id="28" name="Cell 6-2"/>
          <p:cNvSpPr/>
          <p:nvPr/>
        </p:nvSpPr>
        <p:spPr>
          <a:xfrm>
            <a:off x="6675120" y="6903720"/>
            <a:ext cx="1783080" cy="65836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404040"/>
                </a:solidFill>
                <a:latin typeface="Helvetica Neue"/>
                <a:ea typeface="Helvetica Neue"/>
                <a:cs typeface="Helvetica Neue"/>
              </a:rPr>
              <a:t>Provider</a:t>
            </a:r>
          </a:p>
        </p:txBody>
      </p:sp>
      <p:sp>
        <p:nvSpPr>
          <p:cNvPr id="29" name="Cell 6-3"/>
          <p:cNvSpPr/>
          <p:nvPr/>
        </p:nvSpPr>
        <p:spPr>
          <a:xfrm>
            <a:off x="8549640" y="6903720"/>
            <a:ext cx="1783080" cy="65836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404040"/>
                </a:solidFill>
                <a:latin typeface="Helvetica Neue"/>
                <a:ea typeface="Helvetica Neue"/>
                <a:cs typeface="Helvetica Neue"/>
              </a:rPr>
              <a:t>Provider</a:t>
            </a:r>
          </a:p>
        </p:txBody>
      </p:sp>
      <p:sp>
        <p:nvSpPr>
          <p:cNvPr id="30" name="Row 7 label"/>
          <p:cNvSpPr txBox="1"/>
          <p:nvPr/>
        </p:nvSpPr>
        <p:spPr>
          <a:xfrm>
            <a:off x="1257300" y="7635240"/>
            <a:ext cx="3429000" cy="658368"/>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Hardware and facilities</a:t>
            </a:r>
          </a:p>
        </p:txBody>
      </p:sp>
      <p:sp>
        <p:nvSpPr>
          <p:cNvPr id="31" name="Cell 7-1"/>
          <p:cNvSpPr/>
          <p:nvPr/>
        </p:nvSpPr>
        <p:spPr>
          <a:xfrm>
            <a:off x="4800600" y="7635240"/>
            <a:ext cx="1783080" cy="65836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404040"/>
                </a:solidFill>
                <a:latin typeface="Helvetica Neue"/>
                <a:ea typeface="Helvetica Neue"/>
                <a:cs typeface="Helvetica Neue"/>
              </a:rPr>
              <a:t>Provider</a:t>
            </a:r>
          </a:p>
        </p:txBody>
      </p:sp>
      <p:sp>
        <p:nvSpPr>
          <p:cNvPr id="32" name="Cell 7-2"/>
          <p:cNvSpPr/>
          <p:nvPr/>
        </p:nvSpPr>
        <p:spPr>
          <a:xfrm>
            <a:off x="6675120" y="7635240"/>
            <a:ext cx="1783080" cy="65836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404040"/>
                </a:solidFill>
                <a:latin typeface="Helvetica Neue"/>
                <a:ea typeface="Helvetica Neue"/>
                <a:cs typeface="Helvetica Neue"/>
              </a:rPr>
              <a:t>Provider</a:t>
            </a:r>
          </a:p>
        </p:txBody>
      </p:sp>
      <p:sp>
        <p:nvSpPr>
          <p:cNvPr id="33" name="Cell 7-3"/>
          <p:cNvSpPr/>
          <p:nvPr/>
        </p:nvSpPr>
        <p:spPr>
          <a:xfrm>
            <a:off x="8549640" y="7635240"/>
            <a:ext cx="1783080" cy="65836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404040"/>
                </a:solidFill>
                <a:latin typeface="Helvetica Neue"/>
                <a:ea typeface="Helvetica Neue"/>
                <a:cs typeface="Helvetica Neue"/>
              </a:rPr>
              <a:t>Provider</a:t>
            </a:r>
          </a:p>
        </p:txBody>
      </p:sp>
      <p:cxnSp>
        <p:nvCxnSpPr>
          <p:cNvPr id="34" name="Always-bank line"/>
          <p:cNvCxnSpPr/>
          <p:nvPr/>
        </p:nvCxnSpPr>
        <p:spPr>
          <a:xfrm>
            <a:off x="1257300" y="5404104"/>
            <a:ext cx="9075419" cy="0"/>
          </a:xfrm>
          <a:prstGeom prst="line">
            <a:avLst/>
          </a:prstGeom>
          <a:ln w="38100">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35" name="Always-bank note"/>
          <p:cNvSpPr txBox="1"/>
          <p:nvPr/>
        </p:nvSpPr>
        <p:spPr>
          <a:xfrm>
            <a:off x="1257300" y="8458200"/>
            <a:ext cx="8961120" cy="822960"/>
          </a:xfrm>
          <a:prstGeom prst="rect">
            <a:avLst/>
          </a:prstGeom>
          <a:noFill/>
        </p:spPr>
        <p:txBody>
          <a:bodyPr wrap="square" lIns="0" tIns="0" rIns="0" bIns="0" anchor="t">
            <a:spAutoFit/>
          </a:bodyPr>
          <a:lstStyle/>
          <a:p>
            <a:pPr algn="l">
              <a:spcAft>
                <a:spcPts val="200"/>
              </a:spcAft>
            </a:pPr>
            <a:r>
              <a:rPr sz="1800" b="1" i="0">
                <a:solidFill>
                  <a:srgbClr val="C00000"/>
                </a:solidFill>
                <a:latin typeface="Helvetica Neue"/>
                <a:ea typeface="Helvetica Neue"/>
                <a:cs typeface="Helvetica Neue"/>
              </a:rPr>
              <a:t>Above the red line: the bank's job in every model.</a:t>
            </a:r>
          </a:p>
          <a:p>
            <a:pPr algn="l">
              <a:spcAft>
                <a:spcPts val="200"/>
              </a:spcAft>
            </a:pPr>
            <a:r>
              <a:rPr sz="1600" b="0" i="0">
                <a:solidFill>
                  <a:srgbClr val="404040"/>
                </a:solidFill>
                <a:latin typeface="Helvetica Neue"/>
                <a:ea typeface="Helvetica Neue"/>
                <a:cs typeface="Helvetica Neue"/>
              </a:rPr>
              <a:t>Below it, the line moves as the bank buys more of the stack.</a:t>
            </a:r>
          </a:p>
        </p:txBody>
      </p:sp>
      <p:sp>
        <p:nvSpPr>
          <p:cNvPr id="36" name="Never panel"/>
          <p:cNvSpPr/>
          <p:nvPr/>
        </p:nvSpPr>
        <p:spPr>
          <a:xfrm>
            <a:off x="10744200" y="2697480"/>
            <a:ext cx="6286500" cy="32918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7" name="Never heading"/>
          <p:cNvSpPr txBox="1"/>
          <p:nvPr/>
        </p:nvSpPr>
        <p:spPr>
          <a:xfrm>
            <a:off x="11064240" y="2880360"/>
            <a:ext cx="5646420" cy="45720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Never moves to the provider</a:t>
            </a:r>
          </a:p>
        </p:txBody>
      </p:sp>
      <p:sp>
        <p:nvSpPr>
          <p:cNvPr id="38" name="Never list"/>
          <p:cNvSpPr txBox="1"/>
          <p:nvPr/>
        </p:nvSpPr>
        <p:spPr>
          <a:xfrm>
            <a:off x="11064240" y="3474720"/>
            <a:ext cx="5646420" cy="2468880"/>
          </a:xfrm>
          <a:prstGeom prst="rect">
            <a:avLst/>
          </a:prstGeom>
          <a:noFill/>
        </p:spPr>
        <p:txBody>
          <a:bodyPr wrap="square" lIns="0" tIns="0" rIns="0" bIns="0">
            <a:spAutoFit/>
          </a:bodyPr>
          <a:lstStyle/>
          <a:p>
            <a:pPr marL="274320" indent="-274320">
              <a:spcAft>
                <a:spcPts val="600"/>
              </a:spcAft>
              <a:buFont typeface="Arial"/>
              <a:buChar char="•"/>
            </a:pPr>
            <a:r>
              <a:rPr sz="1800" b="0" i="0">
                <a:solidFill>
                  <a:srgbClr val="000000"/>
                </a:solidFill>
                <a:latin typeface="Helvetica Neue"/>
                <a:ea typeface="Helvetica Neue"/>
                <a:cs typeface="Helvetica Neue"/>
              </a:rPr>
              <a:t>The bank's data, and knowing where it is</a:t>
            </a:r>
          </a:p>
          <a:p>
            <a:pPr marL="274320" indent="-274320">
              <a:spcAft>
                <a:spcPts val="600"/>
              </a:spcAft>
              <a:buFont typeface="Arial"/>
              <a:buChar char="•"/>
            </a:pPr>
            <a:r>
              <a:rPr sz="1800" b="0" i="0">
                <a:solidFill>
                  <a:srgbClr val="000000"/>
                </a:solidFill>
                <a:latin typeface="Helvetica Neue"/>
                <a:ea typeface="Helvetica Neue"/>
                <a:cs typeface="Helvetica Neue"/>
              </a:rPr>
              <a:t>Who can log in, and with what (MFA)</a:t>
            </a:r>
          </a:p>
          <a:p>
            <a:pPr marL="274320" indent="-274320">
              <a:spcAft>
                <a:spcPts val="600"/>
              </a:spcAft>
              <a:buFont typeface="Arial"/>
              <a:buChar char="•"/>
            </a:pPr>
            <a:r>
              <a:rPr sz="1800" b="0" i="0">
                <a:solidFill>
                  <a:srgbClr val="000000"/>
                </a:solidFill>
                <a:latin typeface="Helvetica Neue"/>
                <a:ea typeface="Helvetica Neue"/>
                <a:cs typeface="Helvetica Neue"/>
              </a:rPr>
              <a:t>How the service is configured, including its network settings</a:t>
            </a:r>
          </a:p>
          <a:p>
            <a:pPr marL="274320" indent="-274320">
              <a:spcAft>
                <a:spcPts val="600"/>
              </a:spcAft>
              <a:buFont typeface="Arial"/>
              <a:buChar char="•"/>
            </a:pPr>
            <a:r>
              <a:rPr sz="1800" b="0" i="0">
                <a:solidFill>
                  <a:srgbClr val="000000"/>
                </a:solidFill>
                <a:latin typeface="Helvetica Neue"/>
                <a:ea typeface="Helvetica Neue"/>
                <a:cs typeface="Helvetica Neue"/>
              </a:rPr>
              <a:t>Overseeing the vendor that runs it</a:t>
            </a:r>
          </a:p>
        </p:txBody>
      </p:sp>
      <p:sp>
        <p:nvSpPr>
          <p:cNvPr id="39" name="Wrong heading"/>
          <p:cNvSpPr txBox="1"/>
          <p:nvPr/>
        </p:nvSpPr>
        <p:spPr>
          <a:xfrm>
            <a:off x="10744200" y="6263640"/>
            <a:ext cx="6286500" cy="45720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How it usually goes wrong</a:t>
            </a:r>
          </a:p>
        </p:txBody>
      </p:sp>
      <p:sp>
        <p:nvSpPr>
          <p:cNvPr id="40" name="Wrong 1 mark"/>
          <p:cNvSpPr/>
          <p:nvPr/>
        </p:nvSpPr>
        <p:spPr>
          <a:xfrm>
            <a:off x="10744200" y="6885432"/>
            <a:ext cx="109728" cy="64008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1" name="Wrong 1"/>
          <p:cNvSpPr txBox="1"/>
          <p:nvPr/>
        </p:nvSpPr>
        <p:spPr>
          <a:xfrm>
            <a:off x="11064240" y="6812280"/>
            <a:ext cx="5920740" cy="777240"/>
          </a:xfrm>
          <a:prstGeom prst="rect">
            <a:avLst/>
          </a:prstGeom>
          <a:noFill/>
        </p:spPr>
        <p:txBody>
          <a:bodyPr wrap="square" lIns="0" tIns="0" rIns="0" bIns="0" anchor="t">
            <a:spAutoFit/>
          </a:bodyPr>
          <a:lstStyle/>
          <a:p>
            <a:pPr algn="l">
              <a:spcAft>
                <a:spcPts val="100"/>
              </a:spcAft>
            </a:pPr>
            <a:r>
              <a:rPr sz="1800" b="1" i="0">
                <a:solidFill>
                  <a:srgbClr val="000000"/>
                </a:solidFill>
                <a:latin typeface="Helvetica Neue"/>
                <a:ea typeface="Helvetica Neue"/>
                <a:cs typeface="Helvetica Neue"/>
              </a:rPr>
              <a:t>A storage bucket left public</a:t>
            </a:r>
          </a:p>
          <a:p>
            <a:pPr algn="l">
              <a:spcAft>
                <a:spcPts val="100"/>
              </a:spcAft>
            </a:pPr>
            <a:r>
              <a:rPr sz="1600" b="0" i="0">
                <a:solidFill>
                  <a:srgbClr val="404040"/>
                </a:solidFill>
                <a:latin typeface="Helvetica Neue"/>
                <a:ea typeface="Helvetica Neue"/>
                <a:cs typeface="Helvetica Neue"/>
              </a:rPr>
              <a:t>Anyone with the address can read the files</a:t>
            </a:r>
          </a:p>
        </p:txBody>
      </p:sp>
      <p:sp>
        <p:nvSpPr>
          <p:cNvPr id="42" name="Wrong 2 mark"/>
          <p:cNvSpPr/>
          <p:nvPr/>
        </p:nvSpPr>
        <p:spPr>
          <a:xfrm>
            <a:off x="10744200" y="7754112"/>
            <a:ext cx="109728" cy="64008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3" name="Wrong 2"/>
          <p:cNvSpPr txBox="1"/>
          <p:nvPr/>
        </p:nvSpPr>
        <p:spPr>
          <a:xfrm>
            <a:off x="11064240" y="7680960"/>
            <a:ext cx="5920740" cy="777240"/>
          </a:xfrm>
          <a:prstGeom prst="rect">
            <a:avLst/>
          </a:prstGeom>
          <a:noFill/>
        </p:spPr>
        <p:txBody>
          <a:bodyPr wrap="square" lIns="0" tIns="0" rIns="0" bIns="0" anchor="t">
            <a:spAutoFit/>
          </a:bodyPr>
          <a:lstStyle/>
          <a:p>
            <a:pPr algn="l">
              <a:spcAft>
                <a:spcPts val="100"/>
              </a:spcAft>
            </a:pPr>
            <a:r>
              <a:rPr sz="1800" b="1" i="0">
                <a:solidFill>
                  <a:srgbClr val="000000"/>
                </a:solidFill>
                <a:latin typeface="Helvetica Neue"/>
                <a:ea typeface="Helvetica Neue"/>
                <a:cs typeface="Helvetica Neue"/>
              </a:rPr>
              <a:t>Admin accounts without MFA</a:t>
            </a:r>
          </a:p>
          <a:p>
            <a:pPr algn="l">
              <a:spcAft>
                <a:spcPts val="100"/>
              </a:spcAft>
            </a:pPr>
            <a:r>
              <a:rPr sz="1600" b="0" i="0">
                <a:solidFill>
                  <a:srgbClr val="404040"/>
                </a:solidFill>
                <a:latin typeface="Helvetica Neue"/>
                <a:ea typeface="Helvetica Neue"/>
                <a:cs typeface="Helvetica Neue"/>
              </a:rPr>
              <a:t>One phished password opens the whole tenant</a:t>
            </a:r>
          </a:p>
        </p:txBody>
      </p:sp>
      <p:sp>
        <p:nvSpPr>
          <p:cNvPr id="44" name="Wrong 3 mark"/>
          <p:cNvSpPr/>
          <p:nvPr/>
        </p:nvSpPr>
        <p:spPr>
          <a:xfrm>
            <a:off x="10744200" y="8622792"/>
            <a:ext cx="109728" cy="64008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5" name="Wrong 3"/>
          <p:cNvSpPr txBox="1"/>
          <p:nvPr/>
        </p:nvSpPr>
        <p:spPr>
          <a:xfrm>
            <a:off x="11064240" y="8549640"/>
            <a:ext cx="5920740" cy="777240"/>
          </a:xfrm>
          <a:prstGeom prst="rect">
            <a:avLst/>
          </a:prstGeom>
          <a:noFill/>
        </p:spPr>
        <p:txBody>
          <a:bodyPr wrap="square" lIns="0" tIns="0" rIns="0" bIns="0" anchor="t">
            <a:spAutoFit/>
          </a:bodyPr>
          <a:lstStyle/>
          <a:p>
            <a:pPr algn="l">
              <a:spcAft>
                <a:spcPts val="100"/>
              </a:spcAft>
            </a:pPr>
            <a:r>
              <a:rPr sz="1800" b="1" i="0">
                <a:solidFill>
                  <a:srgbClr val="000000"/>
                </a:solidFill>
                <a:latin typeface="Helvetica Neue"/>
                <a:ea typeface="Helvetica Neue"/>
                <a:cs typeface="Helvetica Neue"/>
              </a:rPr>
              <a:t>Logging turned off</a:t>
            </a:r>
          </a:p>
          <a:p>
            <a:pPr algn="l">
              <a:spcAft>
                <a:spcPts val="100"/>
              </a:spcAft>
            </a:pPr>
            <a:r>
              <a:rPr sz="1600" b="0" i="0">
                <a:solidFill>
                  <a:srgbClr val="404040"/>
                </a:solidFill>
                <a:latin typeface="Helvetica Neue"/>
                <a:ea typeface="Helvetica Neue"/>
                <a:cs typeface="Helvetica Neue"/>
              </a:rPr>
              <a:t>No way to reconstruct what happened</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The Big Three: AWS, Azure, and Google Cloud</a:t>
            </a:r>
          </a:p>
        </p:txBody>
      </p:sp>
      <p:sp>
        <p:nvSpPr>
          <p:cNvPr id="3" name="Big AWS card"/>
          <p:cNvSpPr/>
          <p:nvPr/>
        </p:nvSpPr>
        <p:spPr>
          <a:xfrm>
            <a:off x="1257300" y="2697480"/>
            <a:ext cx="5029200" cy="51206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Big AWS band"/>
          <p:cNvSpPr/>
          <p:nvPr/>
        </p:nvSpPr>
        <p:spPr>
          <a:xfrm>
            <a:off x="1531620" y="2926080"/>
            <a:ext cx="4480560" cy="109728"/>
          </a:xfrm>
          <a:prstGeom prst="rect">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5" name="Big AWS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0620" y="3291839"/>
            <a:ext cx="822960" cy="822960"/>
          </a:xfrm>
          <a:prstGeom prst="rect">
            <a:avLst/>
          </a:prstGeom>
        </p:spPr>
      </p:pic>
      <p:sp>
        <p:nvSpPr>
          <p:cNvPr id="6" name="Big AWS name"/>
          <p:cNvSpPr txBox="1"/>
          <p:nvPr/>
        </p:nvSpPr>
        <p:spPr>
          <a:xfrm>
            <a:off x="1577340" y="3200400"/>
            <a:ext cx="3566160" cy="1005840"/>
          </a:xfrm>
          <a:prstGeom prst="rect">
            <a:avLst/>
          </a:prstGeom>
          <a:noFill/>
        </p:spPr>
        <p:txBody>
          <a:bodyPr wrap="square" lIns="0" tIns="0" rIns="0" bIns="0" anchor="t">
            <a:spAutoFit/>
          </a:bodyPr>
          <a:lstStyle/>
          <a:p>
            <a:pPr algn="l">
              <a:spcAft>
                <a:spcPts val="0"/>
              </a:spcAft>
            </a:pPr>
            <a:r>
              <a:rPr sz="3200" b="1" i="0">
                <a:solidFill>
                  <a:srgbClr val="000000"/>
                </a:solidFill>
                <a:latin typeface="Helvetica Neue"/>
                <a:ea typeface="Helvetica Neue"/>
                <a:cs typeface="Helvetica Neue"/>
              </a:rPr>
              <a:t>AWS</a:t>
            </a:r>
          </a:p>
          <a:p>
            <a:pPr algn="l">
              <a:spcAft>
                <a:spcPts val="0"/>
              </a:spcAft>
            </a:pPr>
            <a:r>
              <a:rPr sz="1600" b="0" i="0">
                <a:solidFill>
                  <a:srgbClr val="595959"/>
                </a:solidFill>
                <a:latin typeface="Helvetica Neue"/>
                <a:ea typeface="Helvetica Neue"/>
                <a:cs typeface="Helvetica Neue"/>
              </a:rPr>
              <a:t>Amazon Web Services</a:t>
            </a:r>
          </a:p>
        </p:txBody>
      </p:sp>
      <p:sp>
        <p:nvSpPr>
          <p:cNvPr id="7" name="Big AWS share"/>
          <p:cNvSpPr txBox="1"/>
          <p:nvPr/>
        </p:nvSpPr>
        <p:spPr>
          <a:xfrm>
            <a:off x="1577340" y="4343400"/>
            <a:ext cx="4389120" cy="1097280"/>
          </a:xfrm>
          <a:prstGeom prst="rect">
            <a:avLst/>
          </a:prstGeom>
          <a:noFill/>
        </p:spPr>
        <p:txBody>
          <a:bodyPr wrap="square" lIns="0" tIns="0" rIns="0" bIns="0" anchor="t">
            <a:spAutoFit/>
          </a:bodyPr>
          <a:lstStyle/>
          <a:p>
            <a:pPr algn="l">
              <a:spcAft>
                <a:spcPts val="600"/>
              </a:spcAft>
            </a:pPr>
            <a:r>
              <a:rPr sz="6000" b="1" i="0">
                <a:solidFill>
                  <a:srgbClr val="F2A33A"/>
                </a:solidFill>
                <a:latin typeface="Helvetica Neue"/>
                <a:ea typeface="Helvetica Neue"/>
                <a:cs typeface="Helvetica Neue"/>
              </a:rPr>
              <a:t>~30%</a:t>
            </a:r>
          </a:p>
        </p:txBody>
      </p:sp>
      <p:sp>
        <p:nvSpPr>
          <p:cNvPr id="8" name="Big AWS share label"/>
          <p:cNvSpPr txBox="1"/>
          <p:nvPr/>
        </p:nvSpPr>
        <p:spPr>
          <a:xfrm>
            <a:off x="1577340" y="5440680"/>
            <a:ext cx="4389120" cy="365760"/>
          </a:xfrm>
          <a:prstGeom prst="rect">
            <a:avLst/>
          </a:prstGeom>
          <a:noFill/>
        </p:spPr>
        <p:txBody>
          <a:bodyPr wrap="square" lIns="0" tIns="0" rIns="0" bIns="0" anchor="t">
            <a:spAutoFit/>
          </a:bodyPr>
          <a:lstStyle/>
          <a:p>
            <a:pPr algn="l">
              <a:spcAft>
                <a:spcPts val="600"/>
              </a:spcAft>
            </a:pPr>
            <a:r>
              <a:rPr sz="1500" b="0" i="0">
                <a:solidFill>
                  <a:srgbClr val="595959"/>
                </a:solidFill>
                <a:latin typeface="Helvetica Neue"/>
                <a:ea typeface="Helvetica Neue"/>
                <a:cs typeface="Helvetica Neue"/>
              </a:rPr>
              <a:t>of cloud infrastructure spending</a:t>
            </a:r>
          </a:p>
        </p:txBody>
      </p:sp>
      <p:sp>
        <p:nvSpPr>
          <p:cNvPr id="9" name="Big AWS body"/>
          <p:cNvSpPr txBox="1"/>
          <p:nvPr/>
        </p:nvSpPr>
        <p:spPr>
          <a:xfrm>
            <a:off x="1577340" y="5943600"/>
            <a:ext cx="4389120" cy="1737360"/>
          </a:xfrm>
          <a:prstGeom prst="rect">
            <a:avLst/>
          </a:prstGeom>
          <a:noFill/>
        </p:spPr>
        <p:txBody>
          <a:bodyPr wrap="square" lIns="0" tIns="0" rIns="0" bIns="0" anchor="t">
            <a:spAutoFit/>
          </a:bodyPr>
          <a:lstStyle/>
          <a:p>
            <a:pPr algn="l">
              <a:spcAft>
                <a:spcPts val="600"/>
              </a:spcAft>
            </a:pPr>
            <a:r>
              <a:rPr sz="2000" b="0" i="0">
                <a:solidFill>
                  <a:srgbClr val="000000"/>
                </a:solidFill>
                <a:latin typeface="Helvetica Neue"/>
                <a:ea typeface="Helvetica Neue"/>
                <a:cs typeface="Helvetica Neue"/>
              </a:rPr>
              <a:t>Oldest (2006) and largest. Many fintechs, SaaS products and digital banking platforms run here.</a:t>
            </a:r>
          </a:p>
        </p:txBody>
      </p:sp>
      <p:sp>
        <p:nvSpPr>
          <p:cNvPr id="10" name="Big Azure card"/>
          <p:cNvSpPr/>
          <p:nvPr/>
        </p:nvSpPr>
        <p:spPr>
          <a:xfrm>
            <a:off x="6629400" y="2697480"/>
            <a:ext cx="5029200" cy="51206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1" name="Big Azure band"/>
          <p:cNvSpPr/>
          <p:nvPr/>
        </p:nvSpPr>
        <p:spPr>
          <a:xfrm>
            <a:off x="6903720" y="2926080"/>
            <a:ext cx="4480560" cy="109728"/>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2" name="Big Azure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32720" y="3291839"/>
            <a:ext cx="822960" cy="822960"/>
          </a:xfrm>
          <a:prstGeom prst="rect">
            <a:avLst/>
          </a:prstGeom>
        </p:spPr>
      </p:pic>
      <p:sp>
        <p:nvSpPr>
          <p:cNvPr id="13" name="Big Azure name"/>
          <p:cNvSpPr txBox="1"/>
          <p:nvPr/>
        </p:nvSpPr>
        <p:spPr>
          <a:xfrm>
            <a:off x="6949440" y="3200400"/>
            <a:ext cx="3566160" cy="1005840"/>
          </a:xfrm>
          <a:prstGeom prst="rect">
            <a:avLst/>
          </a:prstGeom>
          <a:noFill/>
        </p:spPr>
        <p:txBody>
          <a:bodyPr wrap="square" lIns="0" tIns="0" rIns="0" bIns="0" anchor="t">
            <a:spAutoFit/>
          </a:bodyPr>
          <a:lstStyle/>
          <a:p>
            <a:pPr algn="l">
              <a:spcAft>
                <a:spcPts val="0"/>
              </a:spcAft>
            </a:pPr>
            <a:r>
              <a:rPr sz="3200" b="1" i="0">
                <a:solidFill>
                  <a:srgbClr val="000000"/>
                </a:solidFill>
                <a:latin typeface="Helvetica Neue"/>
                <a:ea typeface="Helvetica Neue"/>
                <a:cs typeface="Helvetica Neue"/>
              </a:rPr>
              <a:t>Azure</a:t>
            </a:r>
          </a:p>
          <a:p>
            <a:pPr algn="l">
              <a:spcAft>
                <a:spcPts val="0"/>
              </a:spcAft>
            </a:pPr>
            <a:r>
              <a:rPr sz="1600" b="0" i="0">
                <a:solidFill>
                  <a:srgbClr val="595959"/>
                </a:solidFill>
                <a:latin typeface="Helvetica Neue"/>
                <a:ea typeface="Helvetica Neue"/>
                <a:cs typeface="Helvetica Neue"/>
              </a:rPr>
              <a:t>Microsoft</a:t>
            </a:r>
          </a:p>
        </p:txBody>
      </p:sp>
      <p:sp>
        <p:nvSpPr>
          <p:cNvPr id="14" name="Big Azure share"/>
          <p:cNvSpPr txBox="1"/>
          <p:nvPr/>
        </p:nvSpPr>
        <p:spPr>
          <a:xfrm>
            <a:off x="6949440" y="4343400"/>
            <a:ext cx="4389120" cy="1097280"/>
          </a:xfrm>
          <a:prstGeom prst="rect">
            <a:avLst/>
          </a:prstGeom>
          <a:noFill/>
        </p:spPr>
        <p:txBody>
          <a:bodyPr wrap="square" lIns="0" tIns="0" rIns="0" bIns="0" anchor="t">
            <a:spAutoFit/>
          </a:bodyPr>
          <a:lstStyle/>
          <a:p>
            <a:pPr algn="l">
              <a:spcAft>
                <a:spcPts val="600"/>
              </a:spcAft>
            </a:pPr>
            <a:r>
              <a:rPr sz="6000" b="1" i="0">
                <a:solidFill>
                  <a:srgbClr val="2F75B5"/>
                </a:solidFill>
                <a:latin typeface="Helvetica Neue"/>
                <a:ea typeface="Helvetica Neue"/>
                <a:cs typeface="Helvetica Neue"/>
              </a:rPr>
              <a:t>~20%</a:t>
            </a:r>
          </a:p>
        </p:txBody>
      </p:sp>
      <p:sp>
        <p:nvSpPr>
          <p:cNvPr id="15" name="Big Azure share label"/>
          <p:cNvSpPr txBox="1"/>
          <p:nvPr/>
        </p:nvSpPr>
        <p:spPr>
          <a:xfrm>
            <a:off x="6949440" y="5440680"/>
            <a:ext cx="4389120" cy="365760"/>
          </a:xfrm>
          <a:prstGeom prst="rect">
            <a:avLst/>
          </a:prstGeom>
          <a:noFill/>
        </p:spPr>
        <p:txBody>
          <a:bodyPr wrap="square" lIns="0" tIns="0" rIns="0" bIns="0" anchor="t">
            <a:spAutoFit/>
          </a:bodyPr>
          <a:lstStyle/>
          <a:p>
            <a:pPr algn="l">
              <a:spcAft>
                <a:spcPts val="600"/>
              </a:spcAft>
            </a:pPr>
            <a:r>
              <a:rPr sz="1500" b="0" i="0">
                <a:solidFill>
                  <a:srgbClr val="595959"/>
                </a:solidFill>
                <a:latin typeface="Helvetica Neue"/>
                <a:ea typeface="Helvetica Neue"/>
                <a:cs typeface="Helvetica Neue"/>
              </a:rPr>
              <a:t>of cloud infrastructure spending</a:t>
            </a:r>
          </a:p>
        </p:txBody>
      </p:sp>
      <p:sp>
        <p:nvSpPr>
          <p:cNvPr id="16" name="Big Azure body"/>
          <p:cNvSpPr txBox="1"/>
          <p:nvPr/>
        </p:nvSpPr>
        <p:spPr>
          <a:xfrm>
            <a:off x="6949440" y="5943600"/>
            <a:ext cx="4389120" cy="1737360"/>
          </a:xfrm>
          <a:prstGeom prst="rect">
            <a:avLst/>
          </a:prstGeom>
          <a:noFill/>
        </p:spPr>
        <p:txBody>
          <a:bodyPr wrap="square" lIns="0" tIns="0" rIns="0" bIns="0" anchor="t">
            <a:spAutoFit/>
          </a:bodyPr>
          <a:lstStyle/>
          <a:p>
            <a:pPr algn="l">
              <a:spcAft>
                <a:spcPts val="600"/>
              </a:spcAft>
            </a:pPr>
            <a:r>
              <a:rPr sz="2000" b="0" i="0">
                <a:solidFill>
                  <a:srgbClr val="000000"/>
                </a:solidFill>
                <a:latin typeface="Helvetica Neue"/>
                <a:ea typeface="Helvetica Neue"/>
                <a:cs typeface="Helvetica Neue"/>
              </a:rPr>
              <a:t>Behind Microsoft 365, Teams and Entra ID. Most banks are already customers through email and logins.</a:t>
            </a:r>
          </a:p>
        </p:txBody>
      </p:sp>
      <p:sp>
        <p:nvSpPr>
          <p:cNvPr id="17" name="Big Google Cloud card"/>
          <p:cNvSpPr/>
          <p:nvPr/>
        </p:nvSpPr>
        <p:spPr>
          <a:xfrm>
            <a:off x="12001500" y="2697480"/>
            <a:ext cx="5029200" cy="51206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8" name="Big Google Cloud band"/>
          <p:cNvSpPr/>
          <p:nvPr/>
        </p:nvSpPr>
        <p:spPr>
          <a:xfrm>
            <a:off x="12275820" y="2926080"/>
            <a:ext cx="4480560" cy="10972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9" name="Big Google Cloud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704820" y="3291839"/>
            <a:ext cx="822960" cy="822960"/>
          </a:xfrm>
          <a:prstGeom prst="rect">
            <a:avLst/>
          </a:prstGeom>
        </p:spPr>
      </p:pic>
      <p:sp>
        <p:nvSpPr>
          <p:cNvPr id="20" name="Big Google Cloud name"/>
          <p:cNvSpPr txBox="1"/>
          <p:nvPr/>
        </p:nvSpPr>
        <p:spPr>
          <a:xfrm>
            <a:off x="12321540" y="3200400"/>
            <a:ext cx="3566160" cy="1005840"/>
          </a:xfrm>
          <a:prstGeom prst="rect">
            <a:avLst/>
          </a:prstGeom>
          <a:noFill/>
        </p:spPr>
        <p:txBody>
          <a:bodyPr wrap="square" lIns="0" tIns="0" rIns="0" bIns="0" anchor="t">
            <a:spAutoFit/>
          </a:bodyPr>
          <a:lstStyle/>
          <a:p>
            <a:pPr algn="l">
              <a:spcAft>
                <a:spcPts val="0"/>
              </a:spcAft>
            </a:pPr>
            <a:r>
              <a:rPr sz="3200" b="1" i="0">
                <a:solidFill>
                  <a:srgbClr val="000000"/>
                </a:solidFill>
                <a:latin typeface="Helvetica Neue"/>
                <a:ea typeface="Helvetica Neue"/>
                <a:cs typeface="Helvetica Neue"/>
              </a:rPr>
              <a:t>Google Cloud</a:t>
            </a:r>
          </a:p>
          <a:p>
            <a:pPr algn="l">
              <a:spcAft>
                <a:spcPts val="0"/>
              </a:spcAft>
            </a:pPr>
            <a:r>
              <a:rPr sz="1600" b="0" i="0">
                <a:solidFill>
                  <a:srgbClr val="595959"/>
                </a:solidFill>
                <a:latin typeface="Helvetica Neue"/>
                <a:ea typeface="Helvetica Neue"/>
                <a:cs typeface="Helvetica Neue"/>
              </a:rPr>
              <a:t>Google</a:t>
            </a:r>
          </a:p>
        </p:txBody>
      </p:sp>
      <p:sp>
        <p:nvSpPr>
          <p:cNvPr id="21" name="Big Google Cloud share"/>
          <p:cNvSpPr txBox="1"/>
          <p:nvPr/>
        </p:nvSpPr>
        <p:spPr>
          <a:xfrm>
            <a:off x="12321540" y="4343400"/>
            <a:ext cx="4389120" cy="1097280"/>
          </a:xfrm>
          <a:prstGeom prst="rect">
            <a:avLst/>
          </a:prstGeom>
          <a:noFill/>
        </p:spPr>
        <p:txBody>
          <a:bodyPr wrap="square" lIns="0" tIns="0" rIns="0" bIns="0" anchor="t">
            <a:spAutoFit/>
          </a:bodyPr>
          <a:lstStyle/>
          <a:p>
            <a:pPr algn="l">
              <a:spcAft>
                <a:spcPts val="600"/>
              </a:spcAft>
            </a:pPr>
            <a:r>
              <a:rPr sz="6000" b="1" i="0">
                <a:solidFill>
                  <a:srgbClr val="2E7D32"/>
                </a:solidFill>
                <a:latin typeface="Helvetica Neue"/>
                <a:ea typeface="Helvetica Neue"/>
                <a:cs typeface="Helvetica Neue"/>
              </a:rPr>
              <a:t>~13%</a:t>
            </a:r>
          </a:p>
        </p:txBody>
      </p:sp>
      <p:sp>
        <p:nvSpPr>
          <p:cNvPr id="22" name="Big Google Cloud share label"/>
          <p:cNvSpPr txBox="1"/>
          <p:nvPr/>
        </p:nvSpPr>
        <p:spPr>
          <a:xfrm>
            <a:off x="12321540" y="5440680"/>
            <a:ext cx="4389120" cy="365760"/>
          </a:xfrm>
          <a:prstGeom prst="rect">
            <a:avLst/>
          </a:prstGeom>
          <a:noFill/>
        </p:spPr>
        <p:txBody>
          <a:bodyPr wrap="square" lIns="0" tIns="0" rIns="0" bIns="0" anchor="t">
            <a:spAutoFit/>
          </a:bodyPr>
          <a:lstStyle/>
          <a:p>
            <a:pPr algn="l">
              <a:spcAft>
                <a:spcPts val="600"/>
              </a:spcAft>
            </a:pPr>
            <a:r>
              <a:rPr sz="1500" b="0" i="0">
                <a:solidFill>
                  <a:srgbClr val="595959"/>
                </a:solidFill>
                <a:latin typeface="Helvetica Neue"/>
                <a:ea typeface="Helvetica Neue"/>
                <a:cs typeface="Helvetica Neue"/>
              </a:rPr>
              <a:t>of cloud infrastructure spending</a:t>
            </a:r>
          </a:p>
        </p:txBody>
      </p:sp>
      <p:sp>
        <p:nvSpPr>
          <p:cNvPr id="23" name="Big Google Cloud body"/>
          <p:cNvSpPr txBox="1"/>
          <p:nvPr/>
        </p:nvSpPr>
        <p:spPr>
          <a:xfrm>
            <a:off x="12321540" y="5943600"/>
            <a:ext cx="4389120" cy="1737360"/>
          </a:xfrm>
          <a:prstGeom prst="rect">
            <a:avLst/>
          </a:prstGeom>
          <a:noFill/>
        </p:spPr>
        <p:txBody>
          <a:bodyPr wrap="square" lIns="0" tIns="0" rIns="0" bIns="0" anchor="t">
            <a:spAutoFit/>
          </a:bodyPr>
          <a:lstStyle/>
          <a:p>
            <a:pPr algn="l">
              <a:spcAft>
                <a:spcPts val="600"/>
              </a:spcAft>
            </a:pPr>
            <a:r>
              <a:rPr sz="2000" b="0" i="0">
                <a:solidFill>
                  <a:srgbClr val="000000"/>
                </a:solidFill>
                <a:latin typeface="Helvetica Neue"/>
                <a:ea typeface="Helvetica Neue"/>
                <a:cs typeface="Helvetica Neue"/>
              </a:rPr>
              <a:t>Third place; strongest in data analytics and AI. Also behind Google Workspace.</a:t>
            </a:r>
          </a:p>
        </p:txBody>
      </p:sp>
      <p:sp>
        <p:nvSpPr>
          <p:cNvPr id="24" name="No-cloud banner"/>
          <p:cNvSpPr/>
          <p:nvPr/>
        </p:nvSpPr>
        <p:spPr>
          <a:xfrm>
            <a:off x="1257300" y="8183879"/>
            <a:ext cx="15773400" cy="100584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5" name="No-cloud banner text"/>
          <p:cNvSpPr txBox="1"/>
          <p:nvPr/>
        </p:nvSpPr>
        <p:spPr>
          <a:xfrm>
            <a:off x="1554480" y="8229600"/>
            <a:ext cx="15179040" cy="914400"/>
          </a:xfrm>
          <a:prstGeom prst="rect">
            <a:avLst/>
          </a:prstGeom>
          <a:noFill/>
        </p:spPr>
        <p:txBody>
          <a:bodyPr wrap="square" lIns="0" tIns="0" rIns="0" bIns="0" anchor="ctr">
            <a:spAutoFit/>
          </a:bodyPr>
          <a:lstStyle/>
          <a:p>
            <a:pPr algn="ctr">
              <a:spcAft>
                <a:spcPts val="600"/>
              </a:spcAft>
            </a:pPr>
            <a:r>
              <a:rPr sz="2200" b="1" i="0">
                <a:solidFill>
                  <a:srgbClr val="000000"/>
                </a:solidFill>
                <a:latin typeface="Helvetica Neue"/>
                <a:ea typeface="Helvetica Neue"/>
                <a:cs typeface="Helvetica Neue"/>
              </a:rPr>
              <a:t>A bank that says “we don't use the cloud” almost certainly does, through its vendors.</a:t>
            </a:r>
          </a:p>
        </p:txBody>
      </p:sp>
      <p:sp>
        <p:nvSpPr>
          <p:cNvPr id="26"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Source: Synergy Research Group estimates for Q2 2025, reported by CRN. Shares are approximate and shift quarter to quarter.</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Regions, Availability Zones, and What a Cloud Outage Looks Like</a:t>
            </a:r>
          </a:p>
        </p:txBody>
      </p:sp>
      <p:sp>
        <p:nvSpPr>
          <p:cNvPr id="3" name="Region A box"/>
          <p:cNvSpPr/>
          <p:nvPr/>
        </p:nvSpPr>
        <p:spPr>
          <a:xfrm>
            <a:off x="1257300" y="2697480"/>
            <a:ext cx="4114800" cy="4206240"/>
          </a:xfrm>
          <a:prstGeom prst="roundRect">
            <a:avLst/>
          </a:prstGeom>
          <a:solidFill>
            <a:srgbClr val="EEF2F8"/>
          </a:solidFill>
          <a:ln w="28575">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Region A label"/>
          <p:cNvSpPr txBox="1"/>
          <p:nvPr/>
        </p:nvSpPr>
        <p:spPr>
          <a:xfrm>
            <a:off x="1531620" y="2834640"/>
            <a:ext cx="3566160" cy="777240"/>
          </a:xfrm>
          <a:prstGeom prst="rect">
            <a:avLst/>
          </a:prstGeom>
          <a:noFill/>
        </p:spPr>
        <p:txBody>
          <a:bodyPr wrap="square" lIns="0" tIns="0" rIns="0" bIns="0" anchor="t">
            <a:spAutoFit/>
          </a:bodyPr>
          <a:lstStyle/>
          <a:p>
            <a:pPr algn="l">
              <a:spcAft>
                <a:spcPts val="0"/>
              </a:spcAft>
            </a:pPr>
            <a:r>
              <a:rPr sz="2200" b="1" i="0">
                <a:solidFill>
                  <a:srgbClr val="2F75B5"/>
                </a:solidFill>
                <a:latin typeface="Helvetica Neue"/>
                <a:ea typeface="Helvetica Neue"/>
                <a:cs typeface="Helvetica Neue"/>
              </a:rPr>
              <a:t>Region: US-East</a:t>
            </a:r>
          </a:p>
          <a:p>
            <a:pPr algn="l">
              <a:spcAft>
                <a:spcPts val="0"/>
              </a:spcAft>
            </a:pPr>
            <a:r>
              <a:rPr sz="1500" b="0" i="0">
                <a:solidFill>
                  <a:srgbClr val="404040"/>
                </a:solidFill>
                <a:latin typeface="Helvetica Neue"/>
                <a:ea typeface="Helvetica Neue"/>
                <a:cs typeface="Helvetica Neue"/>
              </a:rPr>
              <a:t>e.g. Northern Virginia</a:t>
            </a:r>
          </a:p>
        </p:txBody>
      </p:sp>
      <p:sp>
        <p:nvSpPr>
          <p:cNvPr id="5" name="Region A AZ 1"/>
          <p:cNvSpPr/>
          <p:nvPr/>
        </p:nvSpPr>
        <p:spPr>
          <a:xfrm>
            <a:off x="1531620" y="3703320"/>
            <a:ext cx="3566160" cy="822960"/>
          </a:xfrm>
          <a:prstGeom prst="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6" name="Region A AZ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91639" y="3817620"/>
            <a:ext cx="594360" cy="594360"/>
          </a:xfrm>
          <a:prstGeom prst="rect">
            <a:avLst/>
          </a:prstGeom>
        </p:spPr>
      </p:pic>
      <p:sp>
        <p:nvSpPr>
          <p:cNvPr id="7" name="Region A AZ 1 text"/>
          <p:cNvSpPr txBox="1"/>
          <p:nvPr/>
        </p:nvSpPr>
        <p:spPr>
          <a:xfrm>
            <a:off x="2491740" y="3703320"/>
            <a:ext cx="2560320" cy="822960"/>
          </a:xfrm>
          <a:prstGeom prst="rect">
            <a:avLst/>
          </a:prstGeom>
          <a:noFill/>
        </p:spPr>
        <p:txBody>
          <a:bodyPr wrap="square" lIns="0" tIns="0" rIns="0" bIns="0" anchor="ctr">
            <a:spAutoFit/>
          </a:bodyPr>
          <a:lstStyle/>
          <a:p>
            <a:pPr algn="l">
              <a:spcAft>
                <a:spcPts val="600"/>
              </a:spcAft>
            </a:pPr>
            <a:r>
              <a:rPr sz="1700" b="1" i="0">
                <a:solidFill>
                  <a:srgbClr val="000000"/>
                </a:solidFill>
                <a:latin typeface="Helvetica Neue"/>
                <a:ea typeface="Helvetica Neue"/>
                <a:cs typeface="Helvetica Neue"/>
              </a:rPr>
              <a:t>Availability Zone 1</a:t>
            </a:r>
          </a:p>
        </p:txBody>
      </p:sp>
      <p:sp>
        <p:nvSpPr>
          <p:cNvPr id="8" name="Region A AZ 2"/>
          <p:cNvSpPr/>
          <p:nvPr/>
        </p:nvSpPr>
        <p:spPr>
          <a:xfrm>
            <a:off x="1531620" y="4709160"/>
            <a:ext cx="3566160" cy="822960"/>
          </a:xfrm>
          <a:prstGeom prst="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9" name="Region A AZ 2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91639" y="4823460"/>
            <a:ext cx="594360" cy="594360"/>
          </a:xfrm>
          <a:prstGeom prst="rect">
            <a:avLst/>
          </a:prstGeom>
        </p:spPr>
      </p:pic>
      <p:sp>
        <p:nvSpPr>
          <p:cNvPr id="10" name="Region A AZ 2 text"/>
          <p:cNvSpPr txBox="1"/>
          <p:nvPr/>
        </p:nvSpPr>
        <p:spPr>
          <a:xfrm>
            <a:off x="2491740" y="4709160"/>
            <a:ext cx="2560320" cy="822960"/>
          </a:xfrm>
          <a:prstGeom prst="rect">
            <a:avLst/>
          </a:prstGeom>
          <a:noFill/>
        </p:spPr>
        <p:txBody>
          <a:bodyPr wrap="square" lIns="0" tIns="0" rIns="0" bIns="0" anchor="ctr">
            <a:spAutoFit/>
          </a:bodyPr>
          <a:lstStyle/>
          <a:p>
            <a:pPr algn="l">
              <a:spcAft>
                <a:spcPts val="600"/>
              </a:spcAft>
            </a:pPr>
            <a:r>
              <a:rPr sz="1700" b="1" i="0">
                <a:solidFill>
                  <a:srgbClr val="000000"/>
                </a:solidFill>
                <a:latin typeface="Helvetica Neue"/>
                <a:ea typeface="Helvetica Neue"/>
                <a:cs typeface="Helvetica Neue"/>
              </a:rPr>
              <a:t>Availability Zone 2</a:t>
            </a:r>
          </a:p>
        </p:txBody>
      </p:sp>
      <p:sp>
        <p:nvSpPr>
          <p:cNvPr id="11" name="Region A AZ 3"/>
          <p:cNvSpPr/>
          <p:nvPr/>
        </p:nvSpPr>
        <p:spPr>
          <a:xfrm>
            <a:off x="1531620" y="5715000"/>
            <a:ext cx="3566160" cy="822960"/>
          </a:xfrm>
          <a:prstGeom prst="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2" name="Region A AZ 3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91639" y="5829300"/>
            <a:ext cx="594360" cy="594360"/>
          </a:xfrm>
          <a:prstGeom prst="rect">
            <a:avLst/>
          </a:prstGeom>
        </p:spPr>
      </p:pic>
      <p:sp>
        <p:nvSpPr>
          <p:cNvPr id="13" name="Region A AZ 3 text"/>
          <p:cNvSpPr txBox="1"/>
          <p:nvPr/>
        </p:nvSpPr>
        <p:spPr>
          <a:xfrm>
            <a:off x="2491740" y="5715000"/>
            <a:ext cx="2560320" cy="822960"/>
          </a:xfrm>
          <a:prstGeom prst="rect">
            <a:avLst/>
          </a:prstGeom>
          <a:noFill/>
        </p:spPr>
        <p:txBody>
          <a:bodyPr wrap="square" lIns="0" tIns="0" rIns="0" bIns="0" anchor="ctr">
            <a:spAutoFit/>
          </a:bodyPr>
          <a:lstStyle/>
          <a:p>
            <a:pPr algn="l">
              <a:spcAft>
                <a:spcPts val="600"/>
              </a:spcAft>
            </a:pPr>
            <a:r>
              <a:rPr sz="1700" b="1" i="0">
                <a:solidFill>
                  <a:srgbClr val="000000"/>
                </a:solidFill>
                <a:latin typeface="Helvetica Neue"/>
                <a:ea typeface="Helvetica Neue"/>
                <a:cs typeface="Helvetica Neue"/>
              </a:rPr>
              <a:t>Availability Zone 3</a:t>
            </a:r>
          </a:p>
        </p:txBody>
      </p:sp>
      <p:sp>
        <p:nvSpPr>
          <p:cNvPr id="14" name="Region B box"/>
          <p:cNvSpPr/>
          <p:nvPr/>
        </p:nvSpPr>
        <p:spPr>
          <a:xfrm>
            <a:off x="6103620" y="2697480"/>
            <a:ext cx="4114800" cy="4206240"/>
          </a:xfrm>
          <a:prstGeom prst="roundRect">
            <a:avLst/>
          </a:prstGeom>
          <a:solidFill>
            <a:srgbClr val="EEF2F8"/>
          </a:solidFill>
          <a:ln w="28575">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5" name="Region B label"/>
          <p:cNvSpPr txBox="1"/>
          <p:nvPr/>
        </p:nvSpPr>
        <p:spPr>
          <a:xfrm>
            <a:off x="6377940" y="2834640"/>
            <a:ext cx="3566160" cy="777240"/>
          </a:xfrm>
          <a:prstGeom prst="rect">
            <a:avLst/>
          </a:prstGeom>
          <a:noFill/>
        </p:spPr>
        <p:txBody>
          <a:bodyPr wrap="square" lIns="0" tIns="0" rIns="0" bIns="0" anchor="t">
            <a:spAutoFit/>
          </a:bodyPr>
          <a:lstStyle/>
          <a:p>
            <a:pPr algn="l">
              <a:spcAft>
                <a:spcPts val="0"/>
              </a:spcAft>
            </a:pPr>
            <a:r>
              <a:rPr sz="2200" b="1" i="0">
                <a:solidFill>
                  <a:srgbClr val="2F75B5"/>
                </a:solidFill>
                <a:latin typeface="Helvetica Neue"/>
                <a:ea typeface="Helvetica Neue"/>
                <a:cs typeface="Helvetica Neue"/>
              </a:rPr>
              <a:t>Region: US-West</a:t>
            </a:r>
          </a:p>
          <a:p>
            <a:pPr algn="l">
              <a:spcAft>
                <a:spcPts val="0"/>
              </a:spcAft>
            </a:pPr>
            <a:r>
              <a:rPr sz="1500" b="0" i="0">
                <a:solidFill>
                  <a:srgbClr val="404040"/>
                </a:solidFill>
                <a:latin typeface="Helvetica Neue"/>
                <a:ea typeface="Helvetica Neue"/>
                <a:cs typeface="Helvetica Neue"/>
              </a:rPr>
              <a:t>e.g. Oregon</a:t>
            </a:r>
          </a:p>
        </p:txBody>
      </p:sp>
      <p:sp>
        <p:nvSpPr>
          <p:cNvPr id="16" name="Region B AZ 1"/>
          <p:cNvSpPr/>
          <p:nvPr/>
        </p:nvSpPr>
        <p:spPr>
          <a:xfrm>
            <a:off x="6377940" y="3703320"/>
            <a:ext cx="3566160" cy="822960"/>
          </a:xfrm>
          <a:prstGeom prst="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7" name="Region B AZ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37959" y="3817620"/>
            <a:ext cx="594360" cy="594360"/>
          </a:xfrm>
          <a:prstGeom prst="rect">
            <a:avLst/>
          </a:prstGeom>
        </p:spPr>
      </p:pic>
      <p:sp>
        <p:nvSpPr>
          <p:cNvPr id="18" name="Region B AZ 1 text"/>
          <p:cNvSpPr txBox="1"/>
          <p:nvPr/>
        </p:nvSpPr>
        <p:spPr>
          <a:xfrm>
            <a:off x="7338060" y="3703320"/>
            <a:ext cx="2560320" cy="822960"/>
          </a:xfrm>
          <a:prstGeom prst="rect">
            <a:avLst/>
          </a:prstGeom>
          <a:noFill/>
        </p:spPr>
        <p:txBody>
          <a:bodyPr wrap="square" lIns="0" tIns="0" rIns="0" bIns="0" anchor="ctr">
            <a:spAutoFit/>
          </a:bodyPr>
          <a:lstStyle/>
          <a:p>
            <a:pPr algn="l">
              <a:spcAft>
                <a:spcPts val="600"/>
              </a:spcAft>
            </a:pPr>
            <a:r>
              <a:rPr sz="1700" b="1" i="0">
                <a:solidFill>
                  <a:srgbClr val="000000"/>
                </a:solidFill>
                <a:latin typeface="Helvetica Neue"/>
                <a:ea typeface="Helvetica Neue"/>
                <a:cs typeface="Helvetica Neue"/>
              </a:rPr>
              <a:t>Availability Zone 1</a:t>
            </a:r>
          </a:p>
        </p:txBody>
      </p:sp>
      <p:sp>
        <p:nvSpPr>
          <p:cNvPr id="19" name="Region B AZ 2"/>
          <p:cNvSpPr/>
          <p:nvPr/>
        </p:nvSpPr>
        <p:spPr>
          <a:xfrm>
            <a:off x="6377940" y="4709160"/>
            <a:ext cx="3566160" cy="822960"/>
          </a:xfrm>
          <a:prstGeom prst="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0" name="Region B AZ 2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37959" y="4823460"/>
            <a:ext cx="594360" cy="594360"/>
          </a:xfrm>
          <a:prstGeom prst="rect">
            <a:avLst/>
          </a:prstGeom>
        </p:spPr>
      </p:pic>
      <p:sp>
        <p:nvSpPr>
          <p:cNvPr id="21" name="Region B AZ 2 text"/>
          <p:cNvSpPr txBox="1"/>
          <p:nvPr/>
        </p:nvSpPr>
        <p:spPr>
          <a:xfrm>
            <a:off x="7338060" y="4709160"/>
            <a:ext cx="2560320" cy="822960"/>
          </a:xfrm>
          <a:prstGeom prst="rect">
            <a:avLst/>
          </a:prstGeom>
          <a:noFill/>
        </p:spPr>
        <p:txBody>
          <a:bodyPr wrap="square" lIns="0" tIns="0" rIns="0" bIns="0" anchor="ctr">
            <a:spAutoFit/>
          </a:bodyPr>
          <a:lstStyle/>
          <a:p>
            <a:pPr algn="l">
              <a:spcAft>
                <a:spcPts val="600"/>
              </a:spcAft>
            </a:pPr>
            <a:r>
              <a:rPr sz="1700" b="1" i="0">
                <a:solidFill>
                  <a:srgbClr val="000000"/>
                </a:solidFill>
                <a:latin typeface="Helvetica Neue"/>
                <a:ea typeface="Helvetica Neue"/>
                <a:cs typeface="Helvetica Neue"/>
              </a:rPr>
              <a:t>Availability Zone 2</a:t>
            </a:r>
          </a:p>
        </p:txBody>
      </p:sp>
      <p:sp>
        <p:nvSpPr>
          <p:cNvPr id="22" name="Region B AZ 3"/>
          <p:cNvSpPr/>
          <p:nvPr/>
        </p:nvSpPr>
        <p:spPr>
          <a:xfrm>
            <a:off x="6377940" y="5715000"/>
            <a:ext cx="3566160" cy="822960"/>
          </a:xfrm>
          <a:prstGeom prst="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3" name="Region B AZ 3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37959" y="5829300"/>
            <a:ext cx="594360" cy="594360"/>
          </a:xfrm>
          <a:prstGeom prst="rect">
            <a:avLst/>
          </a:prstGeom>
        </p:spPr>
      </p:pic>
      <p:sp>
        <p:nvSpPr>
          <p:cNvPr id="24" name="Region B AZ 3 text"/>
          <p:cNvSpPr txBox="1"/>
          <p:nvPr/>
        </p:nvSpPr>
        <p:spPr>
          <a:xfrm>
            <a:off x="7338060" y="5715000"/>
            <a:ext cx="2560320" cy="822960"/>
          </a:xfrm>
          <a:prstGeom prst="rect">
            <a:avLst/>
          </a:prstGeom>
          <a:noFill/>
        </p:spPr>
        <p:txBody>
          <a:bodyPr wrap="square" lIns="0" tIns="0" rIns="0" bIns="0" anchor="ctr">
            <a:spAutoFit/>
          </a:bodyPr>
          <a:lstStyle/>
          <a:p>
            <a:pPr algn="l">
              <a:spcAft>
                <a:spcPts val="600"/>
              </a:spcAft>
            </a:pPr>
            <a:r>
              <a:rPr sz="1700" b="1" i="0">
                <a:solidFill>
                  <a:srgbClr val="000000"/>
                </a:solidFill>
                <a:latin typeface="Helvetica Neue"/>
                <a:ea typeface="Helvetica Neue"/>
                <a:cs typeface="Helvetica Neue"/>
              </a:rPr>
              <a:t>Availability Zone 3</a:t>
            </a:r>
          </a:p>
        </p:txBody>
      </p:sp>
      <p:cxnSp>
        <p:nvCxnSpPr>
          <p:cNvPr id="25" name="Replication arrow"/>
          <p:cNvCxnSpPr/>
          <p:nvPr/>
        </p:nvCxnSpPr>
        <p:spPr>
          <a:xfrm>
            <a:off x="5394960" y="4800600"/>
            <a:ext cx="685800" cy="0"/>
          </a:xfrm>
          <a:prstGeom prst="line">
            <a:avLst/>
          </a:prstGeom>
          <a:ln w="3810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Multi-AZ note"/>
          <p:cNvSpPr txBox="1"/>
          <p:nvPr/>
        </p:nvSpPr>
        <p:spPr>
          <a:xfrm>
            <a:off x="1257300" y="6995160"/>
            <a:ext cx="4114800" cy="365760"/>
          </a:xfrm>
          <a:prstGeom prst="rect">
            <a:avLst/>
          </a:prstGeom>
          <a:noFill/>
        </p:spPr>
        <p:txBody>
          <a:bodyPr wrap="square" lIns="0" tIns="0" rIns="0" bIns="0" anchor="t">
            <a:spAutoFit/>
          </a:bodyPr>
          <a:lstStyle/>
          <a:p>
            <a:pPr algn="ctr">
              <a:spcAft>
                <a:spcPts val="600"/>
              </a:spcAft>
            </a:pPr>
            <a:r>
              <a:rPr sz="1500" b="1" i="0">
                <a:solidFill>
                  <a:srgbClr val="000000"/>
                </a:solidFill>
                <a:latin typeface="Helvetica Neue"/>
                <a:ea typeface="Helvetica Neue"/>
                <a:cs typeface="Helvetica Neue"/>
              </a:rPr>
              <a:t>Multi-AZ: survives one data center</a:t>
            </a:r>
          </a:p>
        </p:txBody>
      </p:sp>
      <p:sp>
        <p:nvSpPr>
          <p:cNvPr id="27" name="Multi-region note"/>
          <p:cNvSpPr txBox="1"/>
          <p:nvPr/>
        </p:nvSpPr>
        <p:spPr>
          <a:xfrm>
            <a:off x="6103620" y="6995160"/>
            <a:ext cx="4114800" cy="365760"/>
          </a:xfrm>
          <a:prstGeom prst="rect">
            <a:avLst/>
          </a:prstGeom>
          <a:noFill/>
        </p:spPr>
        <p:txBody>
          <a:bodyPr wrap="square" lIns="0" tIns="0" rIns="0" bIns="0" anchor="t">
            <a:spAutoFit/>
          </a:bodyPr>
          <a:lstStyle/>
          <a:p>
            <a:pPr algn="ctr">
              <a:spcAft>
                <a:spcPts val="600"/>
              </a:spcAft>
            </a:pPr>
            <a:r>
              <a:rPr sz="1500" b="1" i="0">
                <a:solidFill>
                  <a:srgbClr val="000000"/>
                </a:solidFill>
                <a:latin typeface="Helvetica Neue"/>
                <a:ea typeface="Helvetica Neue"/>
                <a:cs typeface="Helvetica Neue"/>
              </a:rPr>
              <a:t>Multi-region: survives a whole region</a:t>
            </a:r>
          </a:p>
        </p:txBody>
      </p:sp>
      <p:sp>
        <p:nvSpPr>
          <p:cNvPr id="28" name="Outage panel"/>
          <p:cNvSpPr/>
          <p:nvPr/>
        </p:nvSpPr>
        <p:spPr>
          <a:xfrm>
            <a:off x="10607040" y="2697480"/>
            <a:ext cx="6423660" cy="466344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9" name="Outage bar"/>
          <p:cNvSpPr/>
          <p:nvPr/>
        </p:nvSpPr>
        <p:spPr>
          <a:xfrm>
            <a:off x="10607040" y="2697480"/>
            <a:ext cx="137160" cy="466344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0" name="Outage text"/>
          <p:cNvSpPr txBox="1"/>
          <p:nvPr/>
        </p:nvSpPr>
        <p:spPr>
          <a:xfrm>
            <a:off x="11064240" y="2880360"/>
            <a:ext cx="5692140" cy="4389120"/>
          </a:xfrm>
          <a:prstGeom prst="rect">
            <a:avLst/>
          </a:prstGeom>
          <a:noFill/>
        </p:spPr>
        <p:txBody>
          <a:bodyPr wrap="square" lIns="0" tIns="0" rIns="0" bIns="0" anchor="t">
            <a:spAutoFit/>
          </a:bodyPr>
          <a:lstStyle/>
          <a:p>
            <a:pPr algn="l">
              <a:spcAft>
                <a:spcPts val="1000"/>
              </a:spcAft>
            </a:pPr>
            <a:r>
              <a:rPr sz="2600" b="1" i="0">
                <a:solidFill>
                  <a:srgbClr val="000000"/>
                </a:solidFill>
                <a:latin typeface="Helvetica Neue"/>
                <a:ea typeface="Helvetica Neue"/>
                <a:cs typeface="Helvetica Neue"/>
              </a:rPr>
              <a:t>October 20, 2025</a:t>
            </a:r>
          </a:p>
          <a:p>
            <a:pPr algn="l">
              <a:spcAft>
                <a:spcPts val="1000"/>
              </a:spcAft>
            </a:pPr>
            <a:r>
              <a:rPr sz="1800" b="1" i="0">
                <a:solidFill>
                  <a:srgbClr val="ED7D31"/>
                </a:solidFill>
                <a:latin typeface="Helvetica Neue"/>
                <a:ea typeface="Helvetica Neue"/>
                <a:cs typeface="Helvetica Neue"/>
              </a:rPr>
              <a:t>AWS US-East-1, Northern Virginia</a:t>
            </a:r>
          </a:p>
          <a:p>
            <a:pPr algn="l">
              <a:spcAft>
                <a:spcPts val="1000"/>
              </a:spcAft>
            </a:pPr>
            <a:r>
              <a:rPr sz="1800" b="0" i="0">
                <a:solidFill>
                  <a:srgbClr val="000000"/>
                </a:solidFill>
                <a:latin typeface="Helvetica Neue"/>
                <a:ea typeface="Helvetica Neue"/>
                <a:cs typeface="Helvetica Neue"/>
              </a:rPr>
              <a:t>A DNS problem with an internal database service spread through other AWS services for most of a day.</a:t>
            </a:r>
          </a:p>
          <a:p>
            <a:pPr algn="l">
              <a:spcAft>
                <a:spcPts val="1000"/>
              </a:spcAft>
            </a:pPr>
            <a:r>
              <a:rPr sz="1800" b="0" i="0">
                <a:solidFill>
                  <a:srgbClr val="000000"/>
                </a:solidFill>
                <a:latin typeface="Helvetica Neue"/>
                <a:ea typeface="Helvetica Neue"/>
                <a:cs typeface="Helvetica Neue"/>
              </a:rPr>
              <a:t>Down or degraded: Venmo, Coinbase, Square, Lloyds and Halifax banks, and thousands of other apps.</a:t>
            </a:r>
          </a:p>
          <a:p>
            <a:pPr algn="l">
              <a:spcAft>
                <a:spcPts val="1000"/>
              </a:spcAft>
            </a:pPr>
            <a:r>
              <a:rPr sz="1800" b="1" i="0">
                <a:solidFill>
                  <a:srgbClr val="000000"/>
                </a:solidFill>
                <a:latin typeface="Helvetica Neue"/>
                <a:ea typeface="Helvetica Neue"/>
                <a:cs typeface="Helvetica Neue"/>
              </a:rPr>
              <a:t>Many affected firms had no AWS contract. Their vendors did.</a:t>
            </a:r>
          </a:p>
        </p:txBody>
      </p:sp>
      <p:sp>
        <p:nvSpPr>
          <p:cNvPr id="31" name="Ask 1"/>
          <p:cNvSpPr/>
          <p:nvPr/>
        </p:nvSpPr>
        <p:spPr>
          <a:xfrm>
            <a:off x="1257300" y="7635240"/>
            <a:ext cx="5044440" cy="17830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2" name="Ask 1 text"/>
          <p:cNvSpPr txBox="1"/>
          <p:nvPr/>
        </p:nvSpPr>
        <p:spPr>
          <a:xfrm>
            <a:off x="1513332" y="7836408"/>
            <a:ext cx="4532376" cy="1417319"/>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Where does it run?</a:t>
            </a:r>
          </a:p>
          <a:p>
            <a:pPr algn="l">
              <a:spcAft>
                <a:spcPts val="700"/>
              </a:spcAft>
            </a:pPr>
            <a:r>
              <a:rPr sz="1600" b="0" i="0">
                <a:solidFill>
                  <a:srgbClr val="000000"/>
                </a:solidFill>
                <a:latin typeface="Helvetica Neue"/>
                <a:ea typeface="Helvetica Neue"/>
                <a:cs typeface="Helvetica Neue"/>
              </a:rPr>
              <a:t>Which provider and which region does each critical vendor use?</a:t>
            </a:r>
          </a:p>
        </p:txBody>
      </p:sp>
      <p:sp>
        <p:nvSpPr>
          <p:cNvPr id="33" name="Ask 2"/>
          <p:cNvSpPr/>
          <p:nvPr/>
        </p:nvSpPr>
        <p:spPr>
          <a:xfrm>
            <a:off x="6621780" y="7635240"/>
            <a:ext cx="5044440" cy="17830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4" name="Ask 2 text"/>
          <p:cNvSpPr txBox="1"/>
          <p:nvPr/>
        </p:nvSpPr>
        <p:spPr>
          <a:xfrm>
            <a:off x="6877812" y="7836408"/>
            <a:ext cx="4532376" cy="1417319"/>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Is failover tested?</a:t>
            </a:r>
          </a:p>
          <a:p>
            <a:pPr algn="l">
              <a:spcAft>
                <a:spcPts val="700"/>
              </a:spcAft>
            </a:pPr>
            <a:r>
              <a:rPr sz="1600" b="0" i="0">
                <a:solidFill>
                  <a:srgbClr val="000000"/>
                </a:solidFill>
                <a:latin typeface="Helvetica Neue"/>
                <a:ea typeface="Helvetica Neue"/>
                <a:cs typeface="Helvetica Neue"/>
              </a:rPr>
              <a:t>Multi-AZ, multi-region, or neither? When was it last exercised?</a:t>
            </a:r>
          </a:p>
        </p:txBody>
      </p:sp>
      <p:sp>
        <p:nvSpPr>
          <p:cNvPr id="35" name="Ask 3"/>
          <p:cNvSpPr/>
          <p:nvPr/>
        </p:nvSpPr>
        <p:spPr>
          <a:xfrm>
            <a:off x="11986260" y="7635240"/>
            <a:ext cx="5044440" cy="17830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6" name="Ask 3 text"/>
          <p:cNvSpPr txBox="1"/>
          <p:nvPr/>
        </p:nvSpPr>
        <p:spPr>
          <a:xfrm>
            <a:off x="12242291" y="7836408"/>
            <a:ext cx="4532376" cy="1417319"/>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What does the branch do?</a:t>
            </a:r>
          </a:p>
          <a:p>
            <a:pPr algn="l">
              <a:spcAft>
                <a:spcPts val="700"/>
              </a:spcAft>
            </a:pPr>
            <a:r>
              <a:rPr sz="1600" b="0" i="0">
                <a:solidFill>
                  <a:srgbClr val="000000"/>
                </a:solidFill>
                <a:latin typeface="Helvetica Neue"/>
                <a:ea typeface="Helvetica Neue"/>
                <a:cs typeface="Helvetica Neue"/>
              </a:rPr>
              <a:t>Which services stop if the cloud is unreachable, and for how long?</a:t>
            </a:r>
          </a:p>
        </p:txBody>
      </p:sp>
      <p:sp>
        <p:nvSpPr>
          <p:cNvPr id="37"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Source: AWS post-event summary and press coverage of the October 20, 2025 US-EAST-1 outage</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How a Bank Connects to the Cloud: Internet, VPN, Private Interconnect</a:t>
            </a:r>
          </a:p>
        </p:txBody>
      </p:sp>
      <p:sp>
        <p:nvSpPr>
          <p:cNvPr id="3" name="Col head Encrypted?"/>
          <p:cNvSpPr txBox="1"/>
          <p:nvPr/>
        </p:nvSpPr>
        <p:spPr>
          <a:xfrm>
            <a:off x="9098280" y="2697480"/>
            <a:ext cx="2651760" cy="457200"/>
          </a:xfrm>
          <a:prstGeom prst="rect">
            <a:avLst/>
          </a:prstGeom>
          <a:noFill/>
        </p:spPr>
        <p:txBody>
          <a:bodyPr wrap="square" lIns="0" tIns="0" rIns="0" bIns="0" anchor="t">
            <a:spAutoFit/>
          </a:bodyPr>
          <a:lstStyle/>
          <a:p>
            <a:pPr algn="l">
              <a:spcAft>
                <a:spcPts val="600"/>
              </a:spcAft>
            </a:pPr>
            <a:r>
              <a:rPr sz="2000" b="1" i="0">
                <a:solidFill>
                  <a:srgbClr val="000000"/>
                </a:solidFill>
                <a:latin typeface="Helvetica Neue"/>
                <a:ea typeface="Helvetica Neue"/>
                <a:cs typeface="Helvetica Neue"/>
              </a:rPr>
              <a:t>Encrypted?</a:t>
            </a:r>
          </a:p>
        </p:txBody>
      </p:sp>
      <p:sp>
        <p:nvSpPr>
          <p:cNvPr id="4" name="Col head Performance"/>
          <p:cNvSpPr txBox="1"/>
          <p:nvPr/>
        </p:nvSpPr>
        <p:spPr>
          <a:xfrm>
            <a:off x="11932920" y="2697480"/>
            <a:ext cx="2514600" cy="457200"/>
          </a:xfrm>
          <a:prstGeom prst="rect">
            <a:avLst/>
          </a:prstGeom>
          <a:noFill/>
        </p:spPr>
        <p:txBody>
          <a:bodyPr wrap="square" lIns="0" tIns="0" rIns="0" bIns="0" anchor="t">
            <a:spAutoFit/>
          </a:bodyPr>
          <a:lstStyle/>
          <a:p>
            <a:pPr algn="l">
              <a:spcAft>
                <a:spcPts val="600"/>
              </a:spcAft>
            </a:pPr>
            <a:r>
              <a:rPr sz="2000" b="1" i="0">
                <a:solidFill>
                  <a:srgbClr val="000000"/>
                </a:solidFill>
                <a:latin typeface="Helvetica Neue"/>
                <a:ea typeface="Helvetica Neue"/>
                <a:cs typeface="Helvetica Neue"/>
              </a:rPr>
              <a:t>Performance</a:t>
            </a:r>
          </a:p>
        </p:txBody>
      </p:sp>
      <p:sp>
        <p:nvSpPr>
          <p:cNvPr id="5" name="Col head Cost and setup"/>
          <p:cNvSpPr txBox="1"/>
          <p:nvPr/>
        </p:nvSpPr>
        <p:spPr>
          <a:xfrm>
            <a:off x="14630400" y="2697480"/>
            <a:ext cx="2400300" cy="457200"/>
          </a:xfrm>
          <a:prstGeom prst="rect">
            <a:avLst/>
          </a:prstGeom>
          <a:noFill/>
        </p:spPr>
        <p:txBody>
          <a:bodyPr wrap="square" lIns="0" tIns="0" rIns="0" bIns="0" anchor="t">
            <a:spAutoFit/>
          </a:bodyPr>
          <a:lstStyle/>
          <a:p>
            <a:pPr algn="l">
              <a:spcAft>
                <a:spcPts val="600"/>
              </a:spcAft>
            </a:pPr>
            <a:r>
              <a:rPr sz="2000" b="1" i="0">
                <a:solidFill>
                  <a:srgbClr val="000000"/>
                </a:solidFill>
                <a:latin typeface="Helvetica Neue"/>
                <a:ea typeface="Helvetica Neue"/>
                <a:cs typeface="Helvetica Neue"/>
              </a:rPr>
              <a:t>Cost and setup</a:t>
            </a:r>
          </a:p>
        </p:txBody>
      </p:sp>
      <p:cxnSp>
        <p:nvCxnSpPr>
          <p:cNvPr id="6" name="Head rule"/>
          <p:cNvCxnSpPr/>
          <p:nvPr/>
        </p:nvCxnSpPr>
        <p:spPr>
          <a:xfrm>
            <a:off x="1257300" y="3246120"/>
            <a:ext cx="15773400" cy="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pic>
        <p:nvPicPr>
          <p:cNvPr id="7" name="Lane 1 bank"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4460" y="4000500"/>
            <a:ext cx="777240" cy="777240"/>
          </a:xfrm>
          <a:prstGeom prst="rect">
            <a:avLst/>
          </a:prstGeom>
        </p:spPr>
      </p:pic>
      <p:pic>
        <p:nvPicPr>
          <p:cNvPr id="8" name="Lane 1 cloud"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66660" y="3954780"/>
            <a:ext cx="868680" cy="868680"/>
          </a:xfrm>
          <a:prstGeom prst="rect">
            <a:avLst/>
          </a:prstGeom>
        </p:spPr>
      </p:pic>
      <p:cxnSp>
        <p:nvCxnSpPr>
          <p:cNvPr id="9" name="Lane 1 line"/>
          <p:cNvCxnSpPr/>
          <p:nvPr/>
        </p:nvCxnSpPr>
        <p:spPr>
          <a:xfrm>
            <a:off x="2286000" y="4389120"/>
            <a:ext cx="5212079" cy="0"/>
          </a:xfrm>
          <a:prstGeom prst="line">
            <a:avLst/>
          </a:prstGeom>
          <a:ln w="57150">
            <a:solidFill>
              <a:srgbClr val="A6A6A6"/>
            </a:solidFill>
            <a:prstDash val="dash"/>
          </a:ln>
        </p:spPr>
        <p:style>
          <a:lnRef idx="2">
            <a:schemeClr val="accent1"/>
          </a:lnRef>
          <a:fillRef idx="0">
            <a:schemeClr val="accent1"/>
          </a:fillRef>
          <a:effectRef idx="1">
            <a:schemeClr val="accent1"/>
          </a:effectRef>
          <a:fontRef idx="minor">
            <a:schemeClr val="tx1"/>
          </a:fontRef>
        </p:style>
      </p:cxnSp>
      <p:sp>
        <p:nvSpPr>
          <p:cNvPr id="10" name="Lane 1 mid"/>
          <p:cNvSpPr/>
          <p:nvPr/>
        </p:nvSpPr>
        <p:spPr>
          <a:xfrm>
            <a:off x="4480560" y="3977639"/>
            <a:ext cx="822960" cy="822960"/>
          </a:xfrm>
          <a:prstGeom prst="ellipse">
            <a:avLst/>
          </a:prstGeom>
          <a:solidFill>
            <a:srgbClr val="FFFFFF"/>
          </a:solidFill>
          <a:ln w="25400">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1" name="Lane 1 mid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40579" y="4137659"/>
            <a:ext cx="502920" cy="502920"/>
          </a:xfrm>
          <a:prstGeom prst="rect">
            <a:avLst/>
          </a:prstGeom>
        </p:spPr>
      </p:pic>
      <p:sp>
        <p:nvSpPr>
          <p:cNvPr id="12" name="Lane 1 name"/>
          <p:cNvSpPr txBox="1"/>
          <p:nvPr/>
        </p:nvSpPr>
        <p:spPr>
          <a:xfrm>
            <a:off x="1257300" y="3429000"/>
            <a:ext cx="7498079" cy="457200"/>
          </a:xfrm>
          <a:prstGeom prst="rect">
            <a:avLst/>
          </a:prstGeom>
          <a:noFill/>
        </p:spPr>
        <p:txBody>
          <a:bodyPr wrap="square" lIns="0" tIns="0" rIns="0" bIns="0" anchor="t">
            <a:spAutoFit/>
          </a:bodyPr>
          <a:lstStyle/>
          <a:p>
            <a:pPr algn="l">
              <a:spcAft>
                <a:spcPts val="600"/>
              </a:spcAft>
            </a:pPr>
            <a:r>
              <a:rPr sz="2100" b="1" i="0">
                <a:solidFill>
                  <a:srgbClr val="595959"/>
                </a:solidFill>
                <a:latin typeface="Helvetica Neue"/>
                <a:ea typeface="Helvetica Neue"/>
                <a:cs typeface="Helvetica Neue"/>
              </a:rPr>
              <a:t>1.  Internet + TLS</a:t>
            </a:r>
          </a:p>
        </p:txBody>
      </p:sp>
      <p:sp>
        <p:nvSpPr>
          <p:cNvPr id="13" name="Lane 1 sub"/>
          <p:cNvSpPr txBox="1"/>
          <p:nvPr/>
        </p:nvSpPr>
        <p:spPr>
          <a:xfrm>
            <a:off x="2377440" y="4846320"/>
            <a:ext cx="5486400" cy="365760"/>
          </a:xfrm>
          <a:prstGeom prst="rect">
            <a:avLst/>
          </a:prstGeom>
          <a:noFill/>
        </p:spPr>
        <p:txBody>
          <a:bodyPr wrap="square" lIns="0" tIns="0" rIns="0" bIns="0" anchor="t">
            <a:spAutoFit/>
          </a:bodyPr>
          <a:lstStyle/>
          <a:p>
            <a:pPr algn="l">
              <a:spcAft>
                <a:spcPts val="600"/>
              </a:spcAft>
            </a:pPr>
            <a:r>
              <a:rPr sz="1400" b="0" i="0">
                <a:solidFill>
                  <a:srgbClr val="595959"/>
                </a:solidFill>
                <a:latin typeface="Helvetica Neue"/>
                <a:ea typeface="Helvetica Neue"/>
                <a:cs typeface="Helvetica Neue"/>
              </a:rPr>
              <a:t>Most SaaS: Microsoft 365, vendor portals</a:t>
            </a:r>
          </a:p>
        </p:txBody>
      </p:sp>
      <p:sp>
        <p:nvSpPr>
          <p:cNvPr id="14" name="Lane 1 Encrypted?"/>
          <p:cNvSpPr txBox="1"/>
          <p:nvPr/>
        </p:nvSpPr>
        <p:spPr>
          <a:xfrm>
            <a:off x="9098280" y="3931920"/>
            <a:ext cx="2468879" cy="100584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Yes, app by app</a:t>
            </a:r>
          </a:p>
        </p:txBody>
      </p:sp>
      <p:sp>
        <p:nvSpPr>
          <p:cNvPr id="15" name="Lane 1 Performance"/>
          <p:cNvSpPr txBox="1"/>
          <p:nvPr/>
        </p:nvSpPr>
        <p:spPr>
          <a:xfrm>
            <a:off x="11932920" y="3931920"/>
            <a:ext cx="2331720" cy="100584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Best effort; shares the internet</a:t>
            </a:r>
          </a:p>
        </p:txBody>
      </p:sp>
      <p:sp>
        <p:nvSpPr>
          <p:cNvPr id="16" name="Lane 1 Cost and setup"/>
          <p:cNvSpPr txBox="1"/>
          <p:nvPr/>
        </p:nvSpPr>
        <p:spPr>
          <a:xfrm>
            <a:off x="14630400" y="3931920"/>
            <a:ext cx="2217420" cy="100584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Lowest; nothing to set up</a:t>
            </a:r>
          </a:p>
        </p:txBody>
      </p:sp>
      <p:cxnSp>
        <p:nvCxnSpPr>
          <p:cNvPr id="17" name="Lane rule 1"/>
          <p:cNvCxnSpPr/>
          <p:nvPr/>
        </p:nvCxnSpPr>
        <p:spPr>
          <a:xfrm>
            <a:off x="1257300" y="5148072"/>
            <a:ext cx="1577340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pic>
        <p:nvPicPr>
          <p:cNvPr id="18" name="Lane 2 bank"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4460" y="5783580"/>
            <a:ext cx="777240" cy="777240"/>
          </a:xfrm>
          <a:prstGeom prst="rect">
            <a:avLst/>
          </a:prstGeom>
        </p:spPr>
      </p:pic>
      <p:pic>
        <p:nvPicPr>
          <p:cNvPr id="19" name="Lane 2 cloud"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66660" y="5737860"/>
            <a:ext cx="868680" cy="868680"/>
          </a:xfrm>
          <a:prstGeom prst="rect">
            <a:avLst/>
          </a:prstGeom>
        </p:spPr>
      </p:pic>
      <p:cxnSp>
        <p:nvCxnSpPr>
          <p:cNvPr id="20" name="Lane 2 line"/>
          <p:cNvCxnSpPr/>
          <p:nvPr/>
        </p:nvCxnSpPr>
        <p:spPr>
          <a:xfrm>
            <a:off x="2286000" y="6172200"/>
            <a:ext cx="5212079" cy="0"/>
          </a:xfrm>
          <a:prstGeom prst="line">
            <a:avLst/>
          </a:prstGeom>
          <a:ln w="57150">
            <a:solidFill>
              <a:srgbClr val="ED7D31"/>
            </a:solidFill>
          </a:ln>
        </p:spPr>
        <p:style>
          <a:lnRef idx="2">
            <a:schemeClr val="accent1"/>
          </a:lnRef>
          <a:fillRef idx="0">
            <a:schemeClr val="accent1"/>
          </a:fillRef>
          <a:effectRef idx="1">
            <a:schemeClr val="accent1"/>
          </a:effectRef>
          <a:fontRef idx="minor">
            <a:schemeClr val="tx1"/>
          </a:fontRef>
        </p:style>
      </p:cxnSp>
      <p:sp>
        <p:nvSpPr>
          <p:cNvPr id="21" name="Lane 2 mid"/>
          <p:cNvSpPr/>
          <p:nvPr/>
        </p:nvSpPr>
        <p:spPr>
          <a:xfrm>
            <a:off x="4480560" y="5760720"/>
            <a:ext cx="822960" cy="822960"/>
          </a:xfrm>
          <a:prstGeom prst="ellipse">
            <a:avLst/>
          </a:prstGeom>
          <a:solidFill>
            <a:srgbClr val="FFFFFF"/>
          </a:solidFill>
          <a:ln w="254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2" name="Lane 2 mid icon"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40579" y="5920740"/>
            <a:ext cx="502920" cy="502920"/>
          </a:xfrm>
          <a:prstGeom prst="rect">
            <a:avLst/>
          </a:prstGeom>
        </p:spPr>
      </p:pic>
      <p:sp>
        <p:nvSpPr>
          <p:cNvPr id="23" name="Lane 2 name"/>
          <p:cNvSpPr txBox="1"/>
          <p:nvPr/>
        </p:nvSpPr>
        <p:spPr>
          <a:xfrm>
            <a:off x="1257300" y="5212080"/>
            <a:ext cx="7498079" cy="457200"/>
          </a:xfrm>
          <a:prstGeom prst="rect">
            <a:avLst/>
          </a:prstGeom>
          <a:noFill/>
        </p:spPr>
        <p:txBody>
          <a:bodyPr wrap="square" lIns="0" tIns="0" rIns="0" bIns="0" anchor="t">
            <a:spAutoFit/>
          </a:bodyPr>
          <a:lstStyle/>
          <a:p>
            <a:pPr algn="l">
              <a:spcAft>
                <a:spcPts val="600"/>
              </a:spcAft>
            </a:pPr>
            <a:r>
              <a:rPr sz="2100" b="1" i="0">
                <a:solidFill>
                  <a:srgbClr val="ED7D31"/>
                </a:solidFill>
                <a:latin typeface="Helvetica Neue"/>
                <a:ea typeface="Helvetica Neue"/>
                <a:cs typeface="Helvetica Neue"/>
              </a:rPr>
              <a:t>2.  IPsec VPN</a:t>
            </a:r>
          </a:p>
        </p:txBody>
      </p:sp>
      <p:sp>
        <p:nvSpPr>
          <p:cNvPr id="24" name="Lane 2 sub"/>
          <p:cNvSpPr txBox="1"/>
          <p:nvPr/>
        </p:nvSpPr>
        <p:spPr>
          <a:xfrm>
            <a:off x="2377440" y="6629400"/>
            <a:ext cx="5486400" cy="365760"/>
          </a:xfrm>
          <a:prstGeom prst="rect">
            <a:avLst/>
          </a:prstGeom>
          <a:noFill/>
        </p:spPr>
        <p:txBody>
          <a:bodyPr wrap="square" lIns="0" tIns="0" rIns="0" bIns="0" anchor="t">
            <a:spAutoFit/>
          </a:bodyPr>
          <a:lstStyle/>
          <a:p>
            <a:pPr algn="l">
              <a:spcAft>
                <a:spcPts val="600"/>
              </a:spcAft>
            </a:pPr>
            <a:r>
              <a:rPr sz="1400" b="0" i="0">
                <a:solidFill>
                  <a:srgbClr val="595959"/>
                </a:solidFill>
                <a:latin typeface="Helvetica Neue"/>
                <a:ea typeface="Helvetica Neue"/>
                <a:cs typeface="Helvetica Neue"/>
              </a:rPr>
              <a:t>Encrypted tunnel from the bank's firewall</a:t>
            </a:r>
          </a:p>
        </p:txBody>
      </p:sp>
      <p:sp>
        <p:nvSpPr>
          <p:cNvPr id="25" name="Lane 2 Encrypted?"/>
          <p:cNvSpPr txBox="1"/>
          <p:nvPr/>
        </p:nvSpPr>
        <p:spPr>
          <a:xfrm>
            <a:off x="9098280" y="5715000"/>
            <a:ext cx="2468879" cy="100584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Yes, the whole tunnel</a:t>
            </a:r>
          </a:p>
        </p:txBody>
      </p:sp>
      <p:sp>
        <p:nvSpPr>
          <p:cNvPr id="26" name="Lane 2 Performance"/>
          <p:cNvSpPr txBox="1"/>
          <p:nvPr/>
        </p:nvSpPr>
        <p:spPr>
          <a:xfrm>
            <a:off x="11932920" y="5715000"/>
            <a:ext cx="2331720" cy="100584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Still rides the internet</a:t>
            </a:r>
          </a:p>
        </p:txBody>
      </p:sp>
      <p:sp>
        <p:nvSpPr>
          <p:cNvPr id="27" name="Lane 2 Cost and setup"/>
          <p:cNvSpPr txBox="1"/>
          <p:nvPr/>
        </p:nvSpPr>
        <p:spPr>
          <a:xfrm>
            <a:off x="14630400" y="5715000"/>
            <a:ext cx="2217420" cy="100584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Low; firewall configuration</a:t>
            </a:r>
          </a:p>
        </p:txBody>
      </p:sp>
      <p:cxnSp>
        <p:nvCxnSpPr>
          <p:cNvPr id="28" name="Lane rule 2"/>
          <p:cNvCxnSpPr/>
          <p:nvPr/>
        </p:nvCxnSpPr>
        <p:spPr>
          <a:xfrm>
            <a:off x="1257300" y="6931152"/>
            <a:ext cx="1577340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pic>
        <p:nvPicPr>
          <p:cNvPr id="29" name="Lane 3 bank"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4460" y="7566660"/>
            <a:ext cx="777240" cy="777240"/>
          </a:xfrm>
          <a:prstGeom prst="rect">
            <a:avLst/>
          </a:prstGeom>
        </p:spPr>
      </p:pic>
      <p:pic>
        <p:nvPicPr>
          <p:cNvPr id="30" name="Lane 3 cloud"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66660" y="7520940"/>
            <a:ext cx="868680" cy="868680"/>
          </a:xfrm>
          <a:prstGeom prst="rect">
            <a:avLst/>
          </a:prstGeom>
        </p:spPr>
      </p:pic>
      <p:cxnSp>
        <p:nvCxnSpPr>
          <p:cNvPr id="31" name="Lane 3 line"/>
          <p:cNvCxnSpPr/>
          <p:nvPr/>
        </p:nvCxnSpPr>
        <p:spPr>
          <a:xfrm>
            <a:off x="2286000" y="7955280"/>
            <a:ext cx="5212079" cy="0"/>
          </a:xfrm>
          <a:prstGeom prst="line">
            <a:avLst/>
          </a:prstGeom>
          <a:ln w="76200">
            <a:solidFill>
              <a:srgbClr val="2F75B5"/>
            </a:solidFill>
          </a:ln>
        </p:spPr>
        <p:style>
          <a:lnRef idx="2">
            <a:schemeClr val="accent1"/>
          </a:lnRef>
          <a:fillRef idx="0">
            <a:schemeClr val="accent1"/>
          </a:fillRef>
          <a:effectRef idx="1">
            <a:schemeClr val="accent1"/>
          </a:effectRef>
          <a:fontRef idx="minor">
            <a:schemeClr val="tx1"/>
          </a:fontRef>
        </p:style>
      </p:cxnSp>
      <p:sp>
        <p:nvSpPr>
          <p:cNvPr id="32" name="Lane 3 mid"/>
          <p:cNvSpPr/>
          <p:nvPr/>
        </p:nvSpPr>
        <p:spPr>
          <a:xfrm>
            <a:off x="4480560" y="7543800"/>
            <a:ext cx="822960" cy="822960"/>
          </a:xfrm>
          <a:prstGeom prst="ellipse">
            <a:avLst/>
          </a:prstGeom>
          <a:solidFill>
            <a:srgbClr val="FFFFFF"/>
          </a:solidFill>
          <a:ln w="2540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33" name="Lane 3 mid icon"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640579" y="7703820"/>
            <a:ext cx="502920" cy="502920"/>
          </a:xfrm>
          <a:prstGeom prst="rect">
            <a:avLst/>
          </a:prstGeom>
        </p:spPr>
      </p:pic>
      <p:sp>
        <p:nvSpPr>
          <p:cNvPr id="34" name="Lane 3 name"/>
          <p:cNvSpPr txBox="1"/>
          <p:nvPr/>
        </p:nvSpPr>
        <p:spPr>
          <a:xfrm>
            <a:off x="1257300" y="6995160"/>
            <a:ext cx="7498079" cy="457200"/>
          </a:xfrm>
          <a:prstGeom prst="rect">
            <a:avLst/>
          </a:prstGeom>
          <a:noFill/>
        </p:spPr>
        <p:txBody>
          <a:bodyPr wrap="square" lIns="0" tIns="0" rIns="0" bIns="0" anchor="t">
            <a:spAutoFit/>
          </a:bodyPr>
          <a:lstStyle/>
          <a:p>
            <a:pPr algn="l">
              <a:spcAft>
                <a:spcPts val="600"/>
              </a:spcAft>
            </a:pPr>
            <a:r>
              <a:rPr sz="2100" b="1" i="0">
                <a:solidFill>
                  <a:srgbClr val="2F75B5"/>
                </a:solidFill>
                <a:latin typeface="Helvetica Neue"/>
                <a:ea typeface="Helvetica Neue"/>
                <a:cs typeface="Helvetica Neue"/>
              </a:rPr>
              <a:t>3.  Private interconnect</a:t>
            </a:r>
          </a:p>
        </p:txBody>
      </p:sp>
      <p:sp>
        <p:nvSpPr>
          <p:cNvPr id="35" name="Lane 3 sub"/>
          <p:cNvSpPr txBox="1"/>
          <p:nvPr/>
        </p:nvSpPr>
        <p:spPr>
          <a:xfrm>
            <a:off x="2377440" y="8412480"/>
            <a:ext cx="5486400" cy="365760"/>
          </a:xfrm>
          <a:prstGeom prst="rect">
            <a:avLst/>
          </a:prstGeom>
          <a:noFill/>
        </p:spPr>
        <p:txBody>
          <a:bodyPr wrap="square" lIns="0" tIns="0" rIns="0" bIns="0" anchor="t">
            <a:spAutoFit/>
          </a:bodyPr>
          <a:lstStyle/>
          <a:p>
            <a:pPr algn="l">
              <a:spcAft>
                <a:spcPts val="600"/>
              </a:spcAft>
            </a:pPr>
            <a:r>
              <a:rPr sz="1400" b="0" i="0">
                <a:solidFill>
                  <a:srgbClr val="595959"/>
                </a:solidFill>
                <a:latin typeface="Helvetica Neue"/>
                <a:ea typeface="Helvetica Neue"/>
                <a:cs typeface="Helvetica Neue"/>
              </a:rPr>
              <a:t>Direct Connect, ExpressRoute, Cloud Interconnect</a:t>
            </a:r>
          </a:p>
        </p:txBody>
      </p:sp>
      <p:sp>
        <p:nvSpPr>
          <p:cNvPr id="36" name="Lane 3 Encrypted?"/>
          <p:cNvSpPr txBox="1"/>
          <p:nvPr/>
        </p:nvSpPr>
        <p:spPr>
          <a:xfrm>
            <a:off x="9098280" y="7498080"/>
            <a:ext cx="2468879" cy="1005840"/>
          </a:xfrm>
          <a:prstGeom prst="rect">
            <a:avLst/>
          </a:prstGeom>
          <a:noFill/>
        </p:spPr>
        <p:txBody>
          <a:bodyPr wrap="square" lIns="0" tIns="0" rIns="0" bIns="0" anchor="ctr">
            <a:spAutoFit/>
          </a:bodyPr>
          <a:lstStyle/>
          <a:p>
            <a:pPr algn="l">
              <a:spcAft>
                <a:spcPts val="600"/>
              </a:spcAft>
            </a:pPr>
            <a:r>
              <a:rPr sz="1800" b="1" i="0">
                <a:solidFill>
                  <a:srgbClr val="C00000"/>
                </a:solidFill>
                <a:latin typeface="Helvetica Neue"/>
                <a:ea typeface="Helvetica Neue"/>
                <a:cs typeface="Helvetica Neue"/>
              </a:rPr>
              <a:t>Not by default! Add MACsec or IPsec</a:t>
            </a:r>
          </a:p>
        </p:txBody>
      </p:sp>
      <p:sp>
        <p:nvSpPr>
          <p:cNvPr id="37" name="Lane 3 Performance"/>
          <p:cNvSpPr txBox="1"/>
          <p:nvPr/>
        </p:nvSpPr>
        <p:spPr>
          <a:xfrm>
            <a:off x="11932920" y="7498080"/>
            <a:ext cx="2331720" cy="100584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Predictable, low latency</a:t>
            </a:r>
          </a:p>
        </p:txBody>
      </p:sp>
      <p:sp>
        <p:nvSpPr>
          <p:cNvPr id="38" name="Lane 3 Cost and setup"/>
          <p:cNvSpPr txBox="1"/>
          <p:nvPr/>
        </p:nvSpPr>
        <p:spPr>
          <a:xfrm>
            <a:off x="14630400" y="7498080"/>
            <a:ext cx="2217420" cy="100584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Highest; circuits and ports, weeks to order</a:t>
            </a:r>
          </a:p>
        </p:txBody>
      </p:sp>
      <p:sp>
        <p:nvSpPr>
          <p:cNvPr id="39" name="Interconnect banner"/>
          <p:cNvSpPr/>
          <p:nvPr/>
        </p:nvSpPr>
        <p:spPr>
          <a:xfrm>
            <a:off x="1257300" y="8915400"/>
            <a:ext cx="15773400" cy="68580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0" name="Interconnect banner text"/>
          <p:cNvSpPr txBox="1"/>
          <p:nvPr/>
        </p:nvSpPr>
        <p:spPr>
          <a:xfrm>
            <a:off x="1554480" y="8961120"/>
            <a:ext cx="15179040" cy="594360"/>
          </a:xfrm>
          <a:prstGeom prst="rect">
            <a:avLst/>
          </a:prstGeom>
          <a:noFill/>
        </p:spPr>
        <p:txBody>
          <a:bodyPr wrap="square" lIns="0" tIns="0" rIns="0" bIns="0" anchor="ctr">
            <a:spAutoFit/>
          </a:bodyPr>
          <a:lstStyle/>
          <a:p>
            <a:pPr algn="ctr">
              <a:spcAft>
                <a:spcPts val="600"/>
              </a:spcAft>
            </a:pPr>
            <a:r>
              <a:rPr sz="2100" b="1" i="0">
                <a:solidFill>
                  <a:srgbClr val="000000"/>
                </a:solidFill>
                <a:latin typeface="Helvetica Neue"/>
                <a:ea typeface="Helvetica Neue"/>
                <a:cs typeface="Helvetica Neue"/>
              </a:rPr>
              <a:t>Private isn't the same as encrypted.</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BAD-CF10-9443-B1B0-FB7AC4F84BF8}"/>
              </a:ext>
            </a:extLst>
          </p:cNvPr>
          <p:cNvSpPr>
            <a:spLocks noGrp="1"/>
          </p:cNvSpPr>
          <p:nvPr>
            <p:ph type="title"/>
          </p:nvPr>
        </p:nvSpPr>
        <p:spPr>
          <a:xfrm>
            <a:off x="584439" y="204786"/>
            <a:ext cx="16884412" cy="1988345"/>
          </a:xfrm>
        </p:spPr>
        <p:txBody>
          <a:bodyPr/>
          <a:lstStyle/>
          <a:p>
            <a:r>
              <a:rPr lang="en-US"/>
              <a:t>Not just Much Cheaper, the cloud is Much Better.</a:t>
            </a:r>
          </a:p>
        </p:txBody>
      </p:sp>
      <p:sp>
        <p:nvSpPr>
          <p:cNvPr id="3" name="Content Placeholder 2">
            <a:extLst>
              <a:ext uri="{FF2B5EF4-FFF2-40B4-BE49-F238E27FC236}">
                <a16:creationId xmlns:a16="http://schemas.microsoft.com/office/drawing/2014/main" id="{91083FD8-064D-214B-8B2C-0248A2DA815E}"/>
              </a:ext>
            </a:extLst>
          </p:cNvPr>
          <p:cNvSpPr>
            <a:spLocks noGrp="1"/>
          </p:cNvSpPr>
          <p:nvPr>
            <p:ph idx="1"/>
          </p:nvPr>
        </p:nvSpPr>
        <p:spPr>
          <a:xfrm>
            <a:off x="8000999" y="2393867"/>
            <a:ext cx="9467852" cy="6293718"/>
          </a:xfrm>
        </p:spPr>
        <p:txBody>
          <a:bodyPr>
            <a:normAutofit fontScale="77500" lnSpcReduction="20000"/>
          </a:bodyPr>
          <a:lstStyle/>
          <a:p>
            <a:r>
              <a:rPr lang="en-US"/>
              <a:t>Performance, Business Continuity, and Disaster Recovery are all improved by a cloud approach. </a:t>
            </a:r>
          </a:p>
          <a:p>
            <a:pPr lvl="1"/>
            <a:r>
              <a:rPr lang="en-US"/>
              <a:t>Geographic diversity, fate-sharing, availability risk of all kinds is well-addressed in the hyperscale clouds.</a:t>
            </a:r>
          </a:p>
          <a:p>
            <a:pPr lvl="1"/>
            <a:r>
              <a:rPr lang="en-US"/>
              <a:t>Things better centralized, like compliance, become much easier with a single point of access.</a:t>
            </a:r>
          </a:p>
          <a:p>
            <a:r>
              <a:rPr lang="en-US"/>
              <a:t>The advantages are worth the risks (to most.)</a:t>
            </a:r>
          </a:p>
          <a:p>
            <a:pPr lvl="1"/>
            <a:r>
              <a:rPr lang="en-US"/>
              <a:t>Security is still a concern, but being addressed by advances in e.g. authentication and encryption.</a:t>
            </a:r>
          </a:p>
          <a:p>
            <a:pPr lvl="1"/>
            <a:r>
              <a:rPr lang="en-US"/>
              <a:t>More comprehensive, better correlated customer data can improve outcomes for banks and customers.</a:t>
            </a:r>
          </a:p>
        </p:txBody>
      </p:sp>
      <p:sp>
        <p:nvSpPr>
          <p:cNvPr id="4" name="Slide Number Placeholder 3">
            <a:extLst>
              <a:ext uri="{FF2B5EF4-FFF2-40B4-BE49-F238E27FC236}">
                <a16:creationId xmlns:a16="http://schemas.microsoft.com/office/drawing/2014/main" id="{38E5B121-3E78-3247-975F-0C8850AAAC69}"/>
              </a:ext>
            </a:extLst>
          </p:cNvPr>
          <p:cNvSpPr>
            <a:spLocks noGrp="1"/>
          </p:cNvSpPr>
          <p:nvPr>
            <p:ph type="sldNum" sz="quarter" idx="10"/>
          </p:nvPr>
        </p:nvSpPr>
        <p:spPr/>
        <p:txBody>
          <a:bodyPr/>
          <a:lstStyle/>
          <a:p>
            <a:fld id="{76E8DCF4-EBDD-4FE1-8465-FD383573D554}" type="slidenum">
              <a:rPr lang="en-US" smtClean="0">
                <a:solidFill>
                  <a:schemeClr val="tx1">
                    <a:lumMod val="50000"/>
                    <a:lumOff val="50000"/>
                  </a:schemeClr>
                </a:solidFill>
              </a:rPr>
              <a:pPr/>
              <a:t>154</a:t>
            </a:fld>
            <a:endParaRPr lang="en-US">
              <a:solidFill>
                <a:schemeClr val="tx1">
                  <a:lumMod val="50000"/>
                  <a:lumOff val="50000"/>
                </a:schemeClr>
              </a:solidFill>
            </a:endParaRPr>
          </a:p>
        </p:txBody>
      </p:sp>
      <p:sp>
        <p:nvSpPr>
          <p:cNvPr id="5" name="TextBox 4">
            <a:extLst>
              <a:ext uri="{FF2B5EF4-FFF2-40B4-BE49-F238E27FC236}">
                <a16:creationId xmlns:a16="http://schemas.microsoft.com/office/drawing/2014/main" id="{929C1323-36E6-9745-903B-2F26E5921730}"/>
              </a:ext>
            </a:extLst>
          </p:cNvPr>
          <p:cNvSpPr txBox="1"/>
          <p:nvPr/>
        </p:nvSpPr>
        <p:spPr>
          <a:xfrm>
            <a:off x="3314700" y="8327888"/>
            <a:ext cx="11227620" cy="1754326"/>
          </a:xfrm>
          <a:prstGeom prst="rect">
            <a:avLst/>
          </a:prstGeom>
          <a:noFill/>
        </p:spPr>
        <p:txBody>
          <a:bodyPr wrap="square" rtlCol="0">
            <a:spAutoFit/>
          </a:bodyPr>
          <a:lstStyle/>
          <a:p>
            <a:pPr marL="514350" indent="-514350">
              <a:buFont typeface="Arial" panose="020B0604020202020204" pitchFamily="34" charset="0"/>
              <a:buChar char="•"/>
            </a:pPr>
            <a:r>
              <a:rPr lang="en-US" sz="2700" i="1"/>
              <a:t>These benefits come with a new reliance on the network.</a:t>
            </a:r>
          </a:p>
          <a:p>
            <a:pPr marL="514350" indent="-514350">
              <a:buFont typeface="Arial" panose="020B0604020202020204" pitchFamily="34" charset="0"/>
              <a:buChar char="•"/>
            </a:pPr>
            <a:r>
              <a:rPr lang="en-US" sz="2700" i="1"/>
              <a:t>Which is why telecom and data communications are such important topics for banks and regulators.</a:t>
            </a:r>
          </a:p>
          <a:p>
            <a:pPr algn="l"/>
            <a:endParaRPr lang="en-US" sz="2700"/>
          </a:p>
        </p:txBody>
      </p:sp>
      <p:sp>
        <p:nvSpPr>
          <p:cNvPr id="6" name="TextBox 5">
            <a:extLst>
              <a:ext uri="{FF2B5EF4-FFF2-40B4-BE49-F238E27FC236}">
                <a16:creationId xmlns:a16="http://schemas.microsoft.com/office/drawing/2014/main" id="{09AFE4EC-8263-0E4F-AC76-5FADC1CF3DCC}"/>
              </a:ext>
            </a:extLst>
          </p:cNvPr>
          <p:cNvSpPr txBox="1"/>
          <p:nvPr/>
        </p:nvSpPr>
        <p:spPr>
          <a:xfrm>
            <a:off x="584439" y="2425677"/>
            <a:ext cx="8458200" cy="5170646"/>
          </a:xfrm>
          <a:prstGeom prst="rect">
            <a:avLst/>
          </a:prstGeom>
          <a:noFill/>
        </p:spPr>
        <p:txBody>
          <a:bodyPr wrap="square" rtlCol="0">
            <a:spAutoFit/>
          </a:bodyPr>
          <a:lstStyle/>
          <a:p>
            <a:pPr algn="l"/>
            <a:r>
              <a:rPr lang="en-US" sz="3600">
                <a:solidFill>
                  <a:schemeClr val="bg1">
                    <a:lumMod val="50000"/>
                  </a:schemeClr>
                </a:solidFill>
              </a:rPr>
              <a:t>21</a:t>
            </a:r>
            <a:r>
              <a:rPr lang="en-US" sz="3600" baseline="30000">
                <a:solidFill>
                  <a:schemeClr val="bg1">
                    <a:lumMod val="50000"/>
                  </a:schemeClr>
                </a:solidFill>
              </a:rPr>
              <a:t>st</a:t>
            </a:r>
            <a:r>
              <a:rPr lang="en-US" sz="3600">
                <a:solidFill>
                  <a:schemeClr val="bg1">
                    <a:lumMod val="50000"/>
                  </a:schemeClr>
                </a:solidFill>
              </a:rPr>
              <a:t> Century bank IT To-dos:</a:t>
            </a:r>
          </a:p>
          <a:p>
            <a:pPr algn="l"/>
            <a:endParaRPr lang="en-US" sz="2400">
              <a:solidFill>
                <a:schemeClr val="bg1">
                  <a:lumMod val="50000"/>
                </a:schemeClr>
              </a:solidFill>
            </a:endParaRPr>
          </a:p>
          <a:p>
            <a:pPr marL="514350" indent="-514350">
              <a:buFont typeface="Arial" panose="020B0604020202020204" pitchFamily="34" charset="0"/>
              <a:buChar char="•"/>
            </a:pPr>
            <a:r>
              <a:rPr lang="en-US" sz="2700" strike="sngStrike">
                <a:solidFill>
                  <a:schemeClr val="bg1">
                    <a:lumMod val="50000"/>
                  </a:schemeClr>
                </a:solidFill>
              </a:rPr>
              <a:t>Build new data center.</a:t>
            </a:r>
          </a:p>
          <a:p>
            <a:pPr marL="514350" indent="-514350">
              <a:buFont typeface="Arial" panose="020B0604020202020204" pitchFamily="34" charset="0"/>
              <a:buChar char="•"/>
            </a:pPr>
            <a:r>
              <a:rPr lang="en-US" sz="2700" strike="sngStrike">
                <a:solidFill>
                  <a:schemeClr val="bg1">
                    <a:lumMod val="50000"/>
                  </a:schemeClr>
                </a:solidFill>
              </a:rPr>
              <a:t>Buy and deploy new servers.</a:t>
            </a:r>
          </a:p>
          <a:p>
            <a:pPr marL="514350" indent="-514350">
              <a:buFont typeface="Arial" panose="020B0604020202020204" pitchFamily="34" charset="0"/>
              <a:buChar char="•"/>
            </a:pPr>
            <a:r>
              <a:rPr lang="en-US" sz="2700" strike="sngStrike">
                <a:solidFill>
                  <a:schemeClr val="bg1">
                    <a:lumMod val="50000"/>
                  </a:schemeClr>
                </a:solidFill>
              </a:rPr>
              <a:t>Acquire offside DR location.</a:t>
            </a:r>
          </a:p>
          <a:p>
            <a:pPr marL="514350" indent="-514350">
              <a:buFont typeface="Arial" panose="020B0604020202020204" pitchFamily="34" charset="0"/>
              <a:buChar char="•"/>
            </a:pPr>
            <a:r>
              <a:rPr lang="en-US" sz="2700" strike="sngStrike">
                <a:solidFill>
                  <a:schemeClr val="bg1">
                    <a:lumMod val="50000"/>
                  </a:schemeClr>
                </a:solidFill>
              </a:rPr>
              <a:t>Reinvent the wheel. Again.</a:t>
            </a:r>
          </a:p>
          <a:p>
            <a:pPr marL="514350" indent="-514350">
              <a:buFont typeface="Arial" panose="020B0604020202020204" pitchFamily="34" charset="0"/>
              <a:buChar char="•"/>
            </a:pPr>
            <a:r>
              <a:rPr lang="en-US" sz="2700">
                <a:solidFill>
                  <a:schemeClr val="bg1">
                    <a:lumMod val="50000"/>
                  </a:schemeClr>
                </a:solidFill>
              </a:rPr>
              <a:t>Take an application-focused approach.</a:t>
            </a:r>
          </a:p>
          <a:p>
            <a:pPr marL="514350" indent="-514350">
              <a:buFont typeface="Arial" panose="020B0604020202020204" pitchFamily="34" charset="0"/>
              <a:buChar char="•"/>
            </a:pPr>
            <a:r>
              <a:rPr lang="en-US" sz="2700">
                <a:solidFill>
                  <a:schemeClr val="bg1">
                    <a:lumMod val="50000"/>
                  </a:schemeClr>
                </a:solidFill>
              </a:rPr>
              <a:t>Support innovation for the bank.</a:t>
            </a:r>
          </a:p>
          <a:p>
            <a:pPr marL="514350" indent="-514350">
              <a:buFont typeface="Arial" panose="020B0604020202020204" pitchFamily="34" charset="0"/>
              <a:buChar char="•"/>
            </a:pPr>
            <a:r>
              <a:rPr lang="en-US" sz="2700">
                <a:solidFill>
                  <a:schemeClr val="bg1">
                    <a:lumMod val="50000"/>
                  </a:schemeClr>
                </a:solidFill>
              </a:rPr>
              <a:t>Access the same tools as the big guys.</a:t>
            </a:r>
          </a:p>
          <a:p>
            <a:pPr marL="514350" indent="-514350">
              <a:buFont typeface="Arial" panose="020B0604020202020204" pitchFamily="34" charset="0"/>
              <a:buChar char="•"/>
            </a:pPr>
            <a:r>
              <a:rPr lang="en-US" sz="2700">
                <a:solidFill>
                  <a:schemeClr val="bg1">
                    <a:lumMod val="50000"/>
                  </a:schemeClr>
                </a:solidFill>
              </a:rPr>
              <a:t>Use data to remain competitive.</a:t>
            </a:r>
          </a:p>
          <a:p>
            <a:pPr marL="514350" indent="-514350">
              <a:buFont typeface="Arial" panose="020B0604020202020204" pitchFamily="34" charset="0"/>
              <a:buChar char="•"/>
            </a:pPr>
            <a:r>
              <a:rPr lang="en-US" sz="2700">
                <a:solidFill>
                  <a:schemeClr val="bg1">
                    <a:lumMod val="50000"/>
                  </a:schemeClr>
                </a:solidFill>
              </a:rPr>
              <a:t>Lower expenses, owned&gt;hybrid&gt;public. </a:t>
            </a:r>
          </a:p>
          <a:p>
            <a:pPr marL="514350" indent="-514350">
              <a:buFont typeface="Arial" panose="020B0604020202020204" pitchFamily="34" charset="0"/>
              <a:buChar char="•"/>
            </a:pPr>
            <a:r>
              <a:rPr lang="en-US" sz="2700">
                <a:solidFill>
                  <a:schemeClr val="bg1">
                    <a:lumMod val="50000"/>
                  </a:schemeClr>
                </a:solidFill>
              </a:rPr>
              <a:t>Improve and secure network access.</a:t>
            </a:r>
          </a:p>
        </p:txBody>
      </p:sp>
    </p:spTree>
    <p:extLst>
      <p:ext uri="{BB962C8B-B14F-4D97-AF65-F5344CB8AC3E}">
        <p14:creationId xmlns:p14="http://schemas.microsoft.com/office/powerpoint/2010/main" val="143023983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2ACAF-C749-DE4A-818C-ADC09A4AECE9}"/>
              </a:ext>
            </a:extLst>
          </p:cNvPr>
          <p:cNvSpPr>
            <a:spLocks noGrp="1"/>
          </p:cNvSpPr>
          <p:nvPr>
            <p:ph type="title"/>
          </p:nvPr>
        </p:nvSpPr>
        <p:spPr/>
        <p:txBody>
          <a:bodyPr/>
          <a:lstStyle/>
          <a:p>
            <a:r>
              <a:rPr lang="en-US"/>
              <a:t>The Changing IT Landscape</a:t>
            </a:r>
          </a:p>
        </p:txBody>
      </p:sp>
      <p:sp>
        <p:nvSpPr>
          <p:cNvPr id="4" name="Content Placeholder 3">
            <a:extLst>
              <a:ext uri="{FF2B5EF4-FFF2-40B4-BE49-F238E27FC236}">
                <a16:creationId xmlns:a16="http://schemas.microsoft.com/office/drawing/2014/main" id="{196F6455-645E-4EB1-9363-0857DBD8FCF6}"/>
              </a:ext>
            </a:extLst>
          </p:cNvPr>
          <p:cNvSpPr>
            <a:spLocks noGrp="1"/>
          </p:cNvSpPr>
          <p:nvPr>
            <p:ph idx="1"/>
          </p:nvPr>
        </p:nvSpPr>
        <p:spPr/>
        <p:txBody>
          <a:bodyPr/>
          <a:lstStyle/>
          <a:p>
            <a:r>
              <a:rPr lang="en-US"/>
              <a:t>Businesses are undergoing a digital transformation</a:t>
            </a:r>
          </a:p>
          <a:p>
            <a:r>
              <a:rPr lang="en-US"/>
              <a:t>New applications increase knowledge and efficiency</a:t>
            </a:r>
          </a:p>
          <a:p>
            <a:r>
              <a:rPr lang="en-US"/>
              <a:t>Applications are migrating to the cloud</a:t>
            </a:r>
          </a:p>
          <a:p>
            <a:r>
              <a:rPr lang="en-US"/>
              <a:t>Networks need</a:t>
            </a:r>
          </a:p>
          <a:p>
            <a:pPr lvl="1"/>
            <a:r>
              <a:rPr lang="en-US"/>
              <a:t>Increased bandwidth</a:t>
            </a:r>
          </a:p>
          <a:p>
            <a:pPr lvl="1"/>
            <a:r>
              <a:rPr lang="en-US"/>
              <a:t>Simplified management</a:t>
            </a:r>
          </a:p>
          <a:p>
            <a:pPr lvl="1"/>
            <a:r>
              <a:rPr lang="en-US"/>
              <a:t>Greater visibility</a:t>
            </a:r>
          </a:p>
          <a:p>
            <a:r>
              <a:rPr lang="en-US"/>
              <a:t>These all improve in a cloud context!</a:t>
            </a:r>
          </a:p>
        </p:txBody>
      </p:sp>
      <p:sp>
        <p:nvSpPr>
          <p:cNvPr id="3" name="Slide Number Placeholder 2">
            <a:extLst>
              <a:ext uri="{FF2B5EF4-FFF2-40B4-BE49-F238E27FC236}">
                <a16:creationId xmlns:a16="http://schemas.microsoft.com/office/drawing/2014/main" id="{96D30A4F-36EC-4D45-ABF6-6CFA06D84D5A}"/>
              </a:ext>
            </a:extLst>
          </p:cNvPr>
          <p:cNvSpPr>
            <a:spLocks noGrp="1"/>
          </p:cNvSpPr>
          <p:nvPr>
            <p:ph type="sldNum" sz="quarter" idx="10"/>
          </p:nvPr>
        </p:nvSpPr>
        <p:spPr/>
        <p:txBody>
          <a:bodyPr/>
          <a:lstStyle/>
          <a:p>
            <a:fld id="{52B67DA5-9DD9-4BCA-8370-9CA784C1DE92}" type="slidenum">
              <a:rPr lang="en-US" smtClean="0">
                <a:solidFill>
                  <a:schemeClr val="tx1">
                    <a:lumMod val="50000"/>
                    <a:lumOff val="50000"/>
                  </a:schemeClr>
                </a:solidFill>
              </a:rPr>
              <a:pPr/>
              <a:t>155</a:t>
            </a:fld>
            <a:endParaRPr lang="en-US">
              <a:solidFill>
                <a:schemeClr val="tx1">
                  <a:lumMod val="50000"/>
                  <a:lumOff val="50000"/>
                </a:schemeClr>
              </a:solidFill>
            </a:endParaRPr>
          </a:p>
        </p:txBody>
      </p:sp>
      <p:pic>
        <p:nvPicPr>
          <p:cNvPr id="8" name="Picture 7">
            <a:extLst>
              <a:ext uri="{FF2B5EF4-FFF2-40B4-BE49-F238E27FC236}">
                <a16:creationId xmlns:a16="http://schemas.microsoft.com/office/drawing/2014/main" id="{639A8816-9B76-488C-9560-C74B64F4E9F5}"/>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767786" y="5048251"/>
            <a:ext cx="7178040" cy="4486275"/>
          </a:xfrm>
          <a:prstGeom prst="rect">
            <a:avLst/>
          </a:prstGeom>
        </p:spPr>
      </p:pic>
    </p:spTree>
    <p:custDataLst>
      <p:tags r:id="rId1"/>
    </p:custDataLst>
    <p:extLst>
      <p:ext uri="{BB962C8B-B14F-4D97-AF65-F5344CB8AC3E}">
        <p14:creationId xmlns:p14="http://schemas.microsoft.com/office/powerpoint/2010/main" val="57372254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InTREx Tie-In: Cloud Services</a:t>
            </a:r>
          </a:p>
        </p:txBody>
      </p:sp>
      <p:sp>
        <p:nvSpPr>
          <p:cNvPr id="3" name="Form frame"/>
          <p:cNvSpPr/>
          <p:nvPr/>
        </p:nvSpPr>
        <p:spPr>
          <a:xfrm>
            <a:off x="1257300" y="2514600"/>
            <a:ext cx="7863840" cy="3794760"/>
          </a:xfrm>
          <a:prstGeom prst="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Form header band"/>
          <p:cNvSpPr/>
          <p:nvPr/>
        </p:nvSpPr>
        <p:spPr>
          <a:xfrm>
            <a:off x="1257300" y="2514600"/>
            <a:ext cx="7863840" cy="548640"/>
          </a:xfrm>
          <a:prstGeom prst="rect">
            <a:avLst/>
          </a:prstGeom>
          <a:solidFill>
            <a:srgbClr val="D9D9D9"/>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5" name="Form header"/>
          <p:cNvSpPr txBox="1"/>
          <p:nvPr/>
        </p:nvSpPr>
        <p:spPr>
          <a:xfrm>
            <a:off x="1485900" y="2606040"/>
            <a:ext cx="6766559" cy="411480"/>
          </a:xfrm>
          <a:prstGeom prst="rect">
            <a:avLst/>
          </a:prstGeom>
          <a:noFill/>
        </p:spPr>
        <p:txBody>
          <a:bodyPr wrap="square" lIns="0" tIns="0" rIns="0" bIns="0" anchor="ctr">
            <a:spAutoFit/>
          </a:bodyPr>
          <a:lstStyle/>
          <a:p>
            <a:pPr algn="l">
              <a:spcAft>
                <a:spcPts val="600"/>
              </a:spcAft>
            </a:pPr>
            <a:r>
              <a:rPr sz="1800" b="1" i="0">
                <a:solidFill>
                  <a:srgbClr val="000000"/>
                </a:solidFill>
                <a:latin typeface="Helvetica Neue"/>
                <a:ea typeface="Helvetica Neue"/>
                <a:cs typeface="Helvetica Neue"/>
              </a:rPr>
              <a:t>Information Technology Profile  ·  Network</a:t>
            </a:r>
          </a:p>
        </p:txBody>
      </p:sp>
      <p:pic>
        <p:nvPicPr>
          <p:cNvPr id="6" name="Form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12480" y="2583179"/>
            <a:ext cx="411480" cy="411480"/>
          </a:xfrm>
          <a:prstGeom prst="rect">
            <a:avLst/>
          </a:prstGeom>
        </p:spPr>
      </p:pic>
      <p:sp>
        <p:nvSpPr>
          <p:cNvPr id="7" name="Form question"/>
          <p:cNvSpPr txBox="1"/>
          <p:nvPr/>
        </p:nvSpPr>
        <p:spPr>
          <a:xfrm>
            <a:off x="1577340" y="3291840"/>
            <a:ext cx="7223759" cy="822960"/>
          </a:xfrm>
          <a:prstGeom prst="rect">
            <a:avLst/>
          </a:prstGeom>
          <a:noFill/>
        </p:spPr>
        <p:txBody>
          <a:bodyPr wrap="square" lIns="0" tIns="0" rIns="0" bIns="0" anchor="t">
            <a:spAutoFit/>
          </a:bodyPr>
          <a:lstStyle/>
          <a:p>
            <a:pPr algn="l">
              <a:spcAft>
                <a:spcPts val="600"/>
              </a:spcAft>
            </a:pPr>
            <a:r>
              <a:rPr sz="2000" b="0" i="0">
                <a:solidFill>
                  <a:srgbClr val="000000"/>
                </a:solidFill>
                <a:latin typeface="Helvetica Neue"/>
                <a:ea typeface="Helvetica Neue"/>
                <a:cs typeface="Helvetica Neue"/>
              </a:rPr>
              <a:t>2.  Does the institution utilize any of the following types of cloud services? Check all that apply.</a:t>
            </a:r>
          </a:p>
        </p:txBody>
      </p:sp>
      <p:sp>
        <p:nvSpPr>
          <p:cNvPr id="8" name="Checkbox 1"/>
          <p:cNvSpPr/>
          <p:nvPr/>
        </p:nvSpPr>
        <p:spPr>
          <a:xfrm>
            <a:off x="1805940" y="4261103"/>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9" name="Option 1"/>
          <p:cNvSpPr txBox="1"/>
          <p:nvPr/>
        </p:nvSpPr>
        <p:spPr>
          <a:xfrm>
            <a:off x="2263140" y="4206240"/>
            <a:ext cx="6492240" cy="41148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Software as a Service (SaaS)</a:t>
            </a:r>
          </a:p>
        </p:txBody>
      </p:sp>
      <p:sp>
        <p:nvSpPr>
          <p:cNvPr id="10" name="Checkbox 2"/>
          <p:cNvSpPr/>
          <p:nvPr/>
        </p:nvSpPr>
        <p:spPr>
          <a:xfrm>
            <a:off x="1805940" y="4741164"/>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1" name="Option 2"/>
          <p:cNvSpPr txBox="1"/>
          <p:nvPr/>
        </p:nvSpPr>
        <p:spPr>
          <a:xfrm>
            <a:off x="2263140" y="4686300"/>
            <a:ext cx="6492240" cy="41148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Infrastructure as a Service (IaaS)</a:t>
            </a:r>
          </a:p>
        </p:txBody>
      </p:sp>
      <p:sp>
        <p:nvSpPr>
          <p:cNvPr id="12" name="Checkbox 3"/>
          <p:cNvSpPr/>
          <p:nvPr/>
        </p:nvSpPr>
        <p:spPr>
          <a:xfrm>
            <a:off x="1805940" y="5221223"/>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3" name="Option 3"/>
          <p:cNvSpPr txBox="1"/>
          <p:nvPr/>
        </p:nvSpPr>
        <p:spPr>
          <a:xfrm>
            <a:off x="2263140" y="5166359"/>
            <a:ext cx="6492240" cy="41148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Platform as a Service (PaaS)</a:t>
            </a:r>
          </a:p>
        </p:txBody>
      </p:sp>
      <p:sp>
        <p:nvSpPr>
          <p:cNvPr id="14" name="Checkbox 4"/>
          <p:cNvSpPr/>
          <p:nvPr/>
        </p:nvSpPr>
        <p:spPr>
          <a:xfrm>
            <a:off x="1805940" y="5701283"/>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5" name="Option 4"/>
          <p:cNvSpPr txBox="1"/>
          <p:nvPr/>
        </p:nvSpPr>
        <p:spPr>
          <a:xfrm>
            <a:off x="2263140" y="5646420"/>
            <a:ext cx="6492240" cy="41148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N/A</a:t>
            </a:r>
          </a:p>
        </p:txBody>
      </p:sp>
      <p:sp>
        <p:nvSpPr>
          <p:cNvPr id="16" name="Quote panel"/>
          <p:cNvSpPr/>
          <p:nvPr/>
        </p:nvSpPr>
        <p:spPr>
          <a:xfrm>
            <a:off x="9692640" y="2514600"/>
            <a:ext cx="7315200" cy="379476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7" name="Quote mark"/>
          <p:cNvSpPr txBox="1"/>
          <p:nvPr/>
        </p:nvSpPr>
        <p:spPr>
          <a:xfrm>
            <a:off x="9966960" y="2560320"/>
            <a:ext cx="914400" cy="914400"/>
          </a:xfrm>
          <a:prstGeom prst="rect">
            <a:avLst/>
          </a:prstGeom>
          <a:noFill/>
        </p:spPr>
        <p:txBody>
          <a:bodyPr wrap="square" lIns="0" tIns="0" rIns="0" bIns="0" anchor="t">
            <a:spAutoFit/>
          </a:bodyPr>
          <a:lstStyle/>
          <a:p>
            <a:pPr algn="l">
              <a:spcAft>
                <a:spcPts val="600"/>
              </a:spcAft>
            </a:pPr>
            <a:r>
              <a:rPr sz="9600" b="1" i="0">
                <a:solidFill>
                  <a:srgbClr val="8EA9DB"/>
                </a:solidFill>
                <a:latin typeface="Helvetica Neue"/>
                <a:ea typeface="Helvetica Neue"/>
                <a:cs typeface="Helvetica Neue"/>
              </a:rPr>
              <a:t>“</a:t>
            </a:r>
          </a:p>
        </p:txBody>
      </p:sp>
      <p:sp>
        <p:nvSpPr>
          <p:cNvPr id="18" name="Quote text"/>
          <p:cNvSpPr txBox="1"/>
          <p:nvPr/>
        </p:nvSpPr>
        <p:spPr>
          <a:xfrm>
            <a:off x="10149840" y="3291840"/>
            <a:ext cx="6400800" cy="1600200"/>
          </a:xfrm>
          <a:prstGeom prst="rect">
            <a:avLst/>
          </a:prstGeom>
          <a:noFill/>
        </p:spPr>
        <p:txBody>
          <a:bodyPr wrap="square" lIns="0" tIns="0" rIns="0" bIns="0" anchor="t">
            <a:spAutoFit/>
          </a:bodyPr>
          <a:lstStyle/>
          <a:p>
            <a:pPr algn="l">
              <a:spcAft>
                <a:spcPts val="600"/>
              </a:spcAft>
            </a:pPr>
            <a:r>
              <a:rPr sz="2400" b="0" i="1">
                <a:solidFill>
                  <a:srgbClr val="000000"/>
                </a:solidFill>
                <a:latin typeface="Helvetica Neue"/>
                <a:ea typeface="Helvetica Neue"/>
                <a:cs typeface="Helvetica Neue"/>
              </a:rPr>
              <a:t>Institution has an exit strategy, including a de-conversion plan, for cloud services.</a:t>
            </a:r>
          </a:p>
        </p:txBody>
      </p:sp>
      <p:sp>
        <p:nvSpPr>
          <p:cNvPr id="19" name="Quote source"/>
          <p:cNvSpPr txBox="1"/>
          <p:nvPr/>
        </p:nvSpPr>
        <p:spPr>
          <a:xfrm>
            <a:off x="10149840" y="4937760"/>
            <a:ext cx="6400800" cy="365760"/>
          </a:xfrm>
          <a:prstGeom prst="rect">
            <a:avLst/>
          </a:prstGeom>
          <a:noFill/>
        </p:spPr>
        <p:txBody>
          <a:bodyPr wrap="square" lIns="0" tIns="0" rIns="0" bIns="0" anchor="t">
            <a:spAutoFit/>
          </a:bodyPr>
          <a:lstStyle/>
          <a:p>
            <a:pPr algn="l">
              <a:spcAft>
                <a:spcPts val="600"/>
              </a:spcAft>
            </a:pPr>
            <a:r>
              <a:rPr sz="1600" b="0" i="0">
                <a:solidFill>
                  <a:srgbClr val="595959"/>
                </a:solidFill>
                <a:latin typeface="Helvetica Neue"/>
                <a:ea typeface="Helvetica Neue"/>
                <a:cs typeface="Helvetica Neue"/>
              </a:rPr>
              <a:t>InTREx expanded analysis: cloud computing</a:t>
            </a:r>
          </a:p>
        </p:txBody>
      </p:sp>
      <p:sp>
        <p:nvSpPr>
          <p:cNvPr id="20" name="Quote prompt"/>
          <p:cNvSpPr txBox="1"/>
          <p:nvPr/>
        </p:nvSpPr>
        <p:spPr>
          <a:xfrm>
            <a:off x="10149840" y="5440680"/>
            <a:ext cx="6400800" cy="731520"/>
          </a:xfrm>
          <a:prstGeom prst="rect">
            <a:avLst/>
          </a:prstGeom>
          <a:noFill/>
        </p:spPr>
        <p:txBody>
          <a:bodyPr wrap="square" lIns="0" tIns="0" rIns="0" bIns="0" anchor="t">
            <a:spAutoFit/>
          </a:bodyPr>
          <a:lstStyle/>
          <a:p>
            <a:pPr algn="l">
              <a:spcAft>
                <a:spcPts val="600"/>
              </a:spcAft>
            </a:pPr>
            <a:r>
              <a:rPr sz="2400" b="1" i="0">
                <a:solidFill>
                  <a:srgbClr val="000000"/>
                </a:solidFill>
                <a:latin typeface="Helvetica Neue"/>
                <a:ea typeface="Helvetica Neue"/>
                <a:cs typeface="Helvetica Neue"/>
              </a:rPr>
              <a:t>Could the bank leave its cloud provider?</a:t>
            </a:r>
          </a:p>
        </p:txBody>
      </p:sp>
      <p:sp>
        <p:nvSpPr>
          <p:cNvPr id="21" name="Leads heading"/>
          <p:cNvSpPr txBox="1"/>
          <p:nvPr/>
        </p:nvSpPr>
        <p:spPr>
          <a:xfrm>
            <a:off x="1257300" y="6675120"/>
            <a:ext cx="15544800" cy="457200"/>
          </a:xfrm>
          <a:prstGeom prst="rect">
            <a:avLst/>
          </a:prstGeom>
          <a:noFill/>
        </p:spPr>
        <p:txBody>
          <a:bodyPr wrap="square" lIns="0" tIns="0" rIns="0" bIns="0" anchor="t">
            <a:spAutoFit/>
          </a:bodyPr>
          <a:lstStyle/>
          <a:p>
            <a:pPr algn="l">
              <a:spcAft>
                <a:spcPts val="600"/>
              </a:spcAft>
            </a:pPr>
            <a:r>
              <a:rPr sz="2400" b="1" i="0">
                <a:solidFill>
                  <a:srgbClr val="000000"/>
                </a:solidFill>
                <a:latin typeface="Helvetica Neue"/>
                <a:ea typeface="Helvetica Neue"/>
                <a:cs typeface="Helvetica Neue"/>
              </a:rPr>
              <a:t>Where question 2 leads</a:t>
            </a:r>
          </a:p>
        </p:txBody>
      </p:sp>
      <p:sp>
        <p:nvSpPr>
          <p:cNvPr id="22" name="Card 1"/>
          <p:cNvSpPr/>
          <p:nvPr/>
        </p:nvSpPr>
        <p:spPr>
          <a:xfrm>
            <a:off x="1257300"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3" name="Card 1 text"/>
          <p:cNvSpPr txBox="1"/>
          <p:nvPr/>
        </p:nvSpPr>
        <p:spPr>
          <a:xfrm>
            <a:off x="1513332"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Policies</a:t>
            </a:r>
          </a:p>
          <a:p>
            <a:pPr algn="l">
              <a:spcAft>
                <a:spcPts val="700"/>
              </a:spcAft>
            </a:pPr>
            <a:r>
              <a:rPr sz="1600" b="0" i="0">
                <a:solidFill>
                  <a:srgbClr val="000000"/>
                </a:solidFill>
                <a:latin typeface="Helvetica Neue"/>
                <a:ea typeface="Helvetica Neue"/>
                <a:cs typeface="Helvetica Neue"/>
              </a:rPr>
              <a:t>Do the bank's policies and processes address cloud computing?</a:t>
            </a:r>
          </a:p>
        </p:txBody>
      </p:sp>
      <p:sp>
        <p:nvSpPr>
          <p:cNvPr id="24" name="Card 2"/>
          <p:cNvSpPr/>
          <p:nvPr/>
        </p:nvSpPr>
        <p:spPr>
          <a:xfrm>
            <a:off x="5280659"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5" name="Card 2 text"/>
          <p:cNvSpPr txBox="1"/>
          <p:nvPr/>
        </p:nvSpPr>
        <p:spPr>
          <a:xfrm>
            <a:off x="5536692"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Data classification</a:t>
            </a:r>
          </a:p>
          <a:p>
            <a:pPr algn="l">
              <a:spcAft>
                <a:spcPts val="700"/>
              </a:spcAft>
            </a:pPr>
            <a:r>
              <a:rPr sz="1600" b="0" i="0">
                <a:solidFill>
                  <a:srgbClr val="000000"/>
                </a:solidFill>
                <a:latin typeface="Helvetica Neue"/>
                <a:ea typeface="Helvetica Neue"/>
                <a:cs typeface="Helvetica Neue"/>
              </a:rPr>
              <a:t>Is data in the cloud identified, classified and protected to match?</a:t>
            </a:r>
          </a:p>
        </p:txBody>
      </p:sp>
      <p:sp>
        <p:nvSpPr>
          <p:cNvPr id="26" name="Card 3"/>
          <p:cNvSpPr/>
          <p:nvPr/>
        </p:nvSpPr>
        <p:spPr>
          <a:xfrm>
            <a:off x="9304019"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7" name="Card 3 text"/>
          <p:cNvSpPr txBox="1"/>
          <p:nvPr/>
        </p:nvSpPr>
        <p:spPr>
          <a:xfrm>
            <a:off x="9560051"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Controls tested</a:t>
            </a:r>
          </a:p>
          <a:p>
            <a:pPr algn="l">
              <a:spcAft>
                <a:spcPts val="700"/>
              </a:spcAft>
            </a:pPr>
            <a:r>
              <a:rPr sz="1600" b="0" i="0">
                <a:solidFill>
                  <a:srgbClr val="000000"/>
                </a:solidFill>
                <a:latin typeface="Helvetica Neue"/>
                <a:ea typeface="Helvetica Neue"/>
                <a:cs typeface="Helvetica Neue"/>
              </a:rPr>
              <a:t>Are cloud controls tested, and does the BCP cover cloud services?</a:t>
            </a:r>
          </a:p>
        </p:txBody>
      </p:sp>
      <p:sp>
        <p:nvSpPr>
          <p:cNvPr id="28" name="Card 4"/>
          <p:cNvSpPr/>
          <p:nvPr/>
        </p:nvSpPr>
        <p:spPr>
          <a:xfrm>
            <a:off x="13327380"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9" name="Card 4 text"/>
          <p:cNvSpPr txBox="1"/>
          <p:nvPr/>
        </p:nvSpPr>
        <p:spPr>
          <a:xfrm>
            <a:off x="13583411"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Vendor security</a:t>
            </a:r>
          </a:p>
          <a:p>
            <a:pPr algn="l">
              <a:spcAft>
                <a:spcPts val="700"/>
              </a:spcAft>
            </a:pPr>
            <a:r>
              <a:rPr sz="1600" b="0" i="0">
                <a:solidFill>
                  <a:srgbClr val="000000"/>
                </a:solidFill>
                <a:latin typeface="Helvetica Neue"/>
                <a:ea typeface="Helvetica Neue"/>
                <a:cs typeface="Helvetica Neue"/>
              </a:rPr>
              <a:t>The provider's security program, including encryption</a:t>
            </a:r>
          </a:p>
        </p:txBody>
      </p:sp>
      <p:sp>
        <p:nvSpPr>
          <p:cNvPr id="30"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Source: InTREx Information Technology Profile and Management expanded analysis (September 2023 version; verify against the current version)</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Chapter 21: Outsourcing and Vendor Risk</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Why Community Banks Outsource</a:t>
            </a:r>
          </a:p>
        </p:txBody>
      </p:sp>
      <p:sp>
        <p:nvSpPr>
          <p:cNvPr id="3" name="Reason 1"/>
          <p:cNvSpPr/>
          <p:nvPr/>
        </p:nvSpPr>
        <p:spPr>
          <a:xfrm>
            <a:off x="1257300" y="2697480"/>
            <a:ext cx="3703320" cy="25146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Reason 1 text"/>
          <p:cNvSpPr txBox="1"/>
          <p:nvPr/>
        </p:nvSpPr>
        <p:spPr>
          <a:xfrm>
            <a:off x="1513332" y="2898648"/>
            <a:ext cx="3191256" cy="2148840"/>
          </a:xfrm>
          <a:prstGeom prst="rect">
            <a:avLst/>
          </a:prstGeom>
          <a:noFill/>
        </p:spPr>
        <p:txBody>
          <a:bodyPr wrap="square" lIns="0" tIns="0" rIns="0" bIns="0" anchor="t">
            <a:spAutoFit/>
          </a:bodyPr>
          <a:lstStyle/>
          <a:p>
            <a:pPr algn="l">
              <a:spcAft>
                <a:spcPts val="700"/>
              </a:spcAft>
            </a:pPr>
            <a:r>
              <a:rPr sz="2400" b="1" i="0">
                <a:solidFill>
                  <a:srgbClr val="000000"/>
                </a:solidFill>
                <a:latin typeface="Helvetica Neue"/>
                <a:ea typeface="Helvetica Neue"/>
                <a:cs typeface="Helvetica Neue"/>
              </a:rPr>
              <a:t>Scale and cost</a:t>
            </a:r>
          </a:p>
          <a:p>
            <a:pPr algn="l">
              <a:spcAft>
                <a:spcPts val="700"/>
              </a:spcAft>
            </a:pPr>
            <a:r>
              <a:rPr sz="2000" b="0" i="0">
                <a:solidFill>
                  <a:srgbClr val="000000"/>
                </a:solidFill>
                <a:latin typeface="Helvetica Neue"/>
                <a:ea typeface="Helvetica Neue"/>
                <a:cs typeface="Helvetica Neue"/>
              </a:rPr>
              <a:t>A processor spreads its costs over hundreds of banks</a:t>
            </a:r>
          </a:p>
        </p:txBody>
      </p:sp>
      <p:sp>
        <p:nvSpPr>
          <p:cNvPr id="5" name="Reason 2"/>
          <p:cNvSpPr/>
          <p:nvPr/>
        </p:nvSpPr>
        <p:spPr>
          <a:xfrm>
            <a:off x="5280659" y="2697480"/>
            <a:ext cx="3703320" cy="25146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6" name="Reason 2 text"/>
          <p:cNvSpPr txBox="1"/>
          <p:nvPr/>
        </p:nvSpPr>
        <p:spPr>
          <a:xfrm>
            <a:off x="5536692" y="2898648"/>
            <a:ext cx="3191256" cy="2148840"/>
          </a:xfrm>
          <a:prstGeom prst="rect">
            <a:avLst/>
          </a:prstGeom>
          <a:noFill/>
        </p:spPr>
        <p:txBody>
          <a:bodyPr wrap="square" lIns="0" tIns="0" rIns="0" bIns="0" anchor="t">
            <a:spAutoFit/>
          </a:bodyPr>
          <a:lstStyle/>
          <a:p>
            <a:pPr algn="l">
              <a:spcAft>
                <a:spcPts val="700"/>
              </a:spcAft>
            </a:pPr>
            <a:r>
              <a:rPr sz="2400" b="1" i="0">
                <a:solidFill>
                  <a:srgbClr val="000000"/>
                </a:solidFill>
                <a:latin typeface="Helvetica Neue"/>
                <a:ea typeface="Helvetica Neue"/>
                <a:cs typeface="Helvetica Neue"/>
              </a:rPr>
              <a:t>Expertise</a:t>
            </a:r>
          </a:p>
          <a:p>
            <a:pPr algn="l">
              <a:spcAft>
                <a:spcPts val="700"/>
              </a:spcAft>
            </a:pPr>
            <a:r>
              <a:rPr sz="2000" b="0" i="0">
                <a:solidFill>
                  <a:srgbClr val="000000"/>
                </a:solidFill>
                <a:latin typeface="Helvetica Neue"/>
                <a:ea typeface="Helvetica Neue"/>
                <a:cs typeface="Helvetica Neue"/>
              </a:rPr>
              <a:t>Specialists the bank couldn't hire or keep</a:t>
            </a:r>
          </a:p>
        </p:txBody>
      </p:sp>
      <p:sp>
        <p:nvSpPr>
          <p:cNvPr id="7" name="Reason 3"/>
          <p:cNvSpPr/>
          <p:nvPr/>
        </p:nvSpPr>
        <p:spPr>
          <a:xfrm>
            <a:off x="9304019" y="2697480"/>
            <a:ext cx="3703320" cy="25146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8" name="Reason 3 text"/>
          <p:cNvSpPr txBox="1"/>
          <p:nvPr/>
        </p:nvSpPr>
        <p:spPr>
          <a:xfrm>
            <a:off x="9560051" y="2898648"/>
            <a:ext cx="3191256" cy="2148840"/>
          </a:xfrm>
          <a:prstGeom prst="rect">
            <a:avLst/>
          </a:prstGeom>
          <a:noFill/>
        </p:spPr>
        <p:txBody>
          <a:bodyPr wrap="square" lIns="0" tIns="0" rIns="0" bIns="0" anchor="t">
            <a:spAutoFit/>
          </a:bodyPr>
          <a:lstStyle/>
          <a:p>
            <a:pPr algn="l">
              <a:spcAft>
                <a:spcPts val="700"/>
              </a:spcAft>
            </a:pPr>
            <a:r>
              <a:rPr sz="2400" b="1" i="0">
                <a:solidFill>
                  <a:srgbClr val="000000"/>
                </a:solidFill>
                <a:latin typeface="Helvetica Neue"/>
                <a:ea typeface="Helvetica Neue"/>
                <a:cs typeface="Helvetica Neue"/>
              </a:rPr>
              <a:t>Around the clock</a:t>
            </a:r>
          </a:p>
          <a:p>
            <a:pPr algn="l">
              <a:spcAft>
                <a:spcPts val="700"/>
              </a:spcAft>
            </a:pPr>
            <a:r>
              <a:rPr sz="2000" b="0" i="0">
                <a:solidFill>
                  <a:srgbClr val="000000"/>
                </a:solidFill>
                <a:latin typeface="Helvetica Neue"/>
                <a:ea typeface="Helvetica Neue"/>
                <a:cs typeface="Helvetica Neue"/>
              </a:rPr>
              <a:t>24x7 monitoring and support with three IT staff? No.</a:t>
            </a:r>
          </a:p>
        </p:txBody>
      </p:sp>
      <p:sp>
        <p:nvSpPr>
          <p:cNvPr id="9" name="Reason 4"/>
          <p:cNvSpPr/>
          <p:nvPr/>
        </p:nvSpPr>
        <p:spPr>
          <a:xfrm>
            <a:off x="13327380" y="2697480"/>
            <a:ext cx="3703320" cy="25146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0" name="Reason 4 text"/>
          <p:cNvSpPr txBox="1"/>
          <p:nvPr/>
        </p:nvSpPr>
        <p:spPr>
          <a:xfrm>
            <a:off x="13583411" y="2898648"/>
            <a:ext cx="3191256" cy="2148840"/>
          </a:xfrm>
          <a:prstGeom prst="rect">
            <a:avLst/>
          </a:prstGeom>
          <a:noFill/>
        </p:spPr>
        <p:txBody>
          <a:bodyPr wrap="square" lIns="0" tIns="0" rIns="0" bIns="0" anchor="t">
            <a:spAutoFit/>
          </a:bodyPr>
          <a:lstStyle/>
          <a:p>
            <a:pPr algn="l">
              <a:spcAft>
                <a:spcPts val="700"/>
              </a:spcAft>
            </a:pPr>
            <a:r>
              <a:rPr sz="2400" b="1" i="0">
                <a:solidFill>
                  <a:srgbClr val="000000"/>
                </a:solidFill>
                <a:latin typeface="Helvetica Neue"/>
                <a:ea typeface="Helvetica Neue"/>
                <a:cs typeface="Helvetica Neue"/>
              </a:rPr>
              <a:t>Technology</a:t>
            </a:r>
          </a:p>
          <a:p>
            <a:pPr algn="l">
              <a:spcAft>
                <a:spcPts val="700"/>
              </a:spcAft>
            </a:pPr>
            <a:r>
              <a:rPr sz="2000" b="0" i="0">
                <a:solidFill>
                  <a:srgbClr val="000000"/>
                </a:solidFill>
                <a:latin typeface="Helvetica Neue"/>
                <a:ea typeface="Helvetica Neue"/>
                <a:cs typeface="Helvetica Neue"/>
              </a:rPr>
              <a:t>Mobile apps, real-time payments, fraud models the bank couldn't build</a:t>
            </a:r>
          </a:p>
        </p:txBody>
      </p:sp>
      <p:sp>
        <p:nvSpPr>
          <p:cNvPr id="11" name="Typical heading"/>
          <p:cNvSpPr txBox="1"/>
          <p:nvPr/>
        </p:nvSpPr>
        <p:spPr>
          <a:xfrm>
            <a:off x="1257300" y="5486400"/>
            <a:ext cx="15773400" cy="45720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What a community bank typically outsources</a:t>
            </a:r>
          </a:p>
        </p:txBody>
      </p:sp>
      <p:sp>
        <p:nvSpPr>
          <p:cNvPr id="12" name="Chip 1"/>
          <p:cNvSpPr/>
          <p:nvPr/>
        </p:nvSpPr>
        <p:spPr>
          <a:xfrm>
            <a:off x="1257300" y="6080760"/>
            <a:ext cx="3703320" cy="621792"/>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Core processing</a:t>
            </a:r>
          </a:p>
        </p:txBody>
      </p:sp>
      <p:sp>
        <p:nvSpPr>
          <p:cNvPr id="13" name="Chip 2"/>
          <p:cNvSpPr/>
          <p:nvPr/>
        </p:nvSpPr>
        <p:spPr>
          <a:xfrm>
            <a:off x="5280659" y="6080760"/>
            <a:ext cx="3703320" cy="621792"/>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Card processing</a:t>
            </a:r>
          </a:p>
        </p:txBody>
      </p:sp>
      <p:sp>
        <p:nvSpPr>
          <p:cNvPr id="14" name="Chip 3"/>
          <p:cNvSpPr/>
          <p:nvPr/>
        </p:nvSpPr>
        <p:spPr>
          <a:xfrm>
            <a:off x="9304019" y="6080760"/>
            <a:ext cx="3703320" cy="621792"/>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Online and mobile banking</a:t>
            </a:r>
          </a:p>
        </p:txBody>
      </p:sp>
      <p:sp>
        <p:nvSpPr>
          <p:cNvPr id="15" name="Chip 4"/>
          <p:cNvSpPr/>
          <p:nvPr/>
        </p:nvSpPr>
        <p:spPr>
          <a:xfrm>
            <a:off x="13327380" y="6080760"/>
            <a:ext cx="3703320" cy="621792"/>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Network management (MSP)</a:t>
            </a:r>
          </a:p>
        </p:txBody>
      </p:sp>
      <p:sp>
        <p:nvSpPr>
          <p:cNvPr id="16" name="Chip 5"/>
          <p:cNvSpPr/>
          <p:nvPr/>
        </p:nvSpPr>
        <p:spPr>
          <a:xfrm>
            <a:off x="1257300" y="6858000"/>
            <a:ext cx="3703320" cy="621792"/>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Security monitoring (MSSP)</a:t>
            </a:r>
          </a:p>
        </p:txBody>
      </p:sp>
      <p:sp>
        <p:nvSpPr>
          <p:cNvPr id="17" name="Chip 6"/>
          <p:cNvSpPr/>
          <p:nvPr/>
        </p:nvSpPr>
        <p:spPr>
          <a:xfrm>
            <a:off x="5280659" y="6858000"/>
            <a:ext cx="3703320" cy="621792"/>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Email and files (Microsoft 365)</a:t>
            </a:r>
          </a:p>
        </p:txBody>
      </p:sp>
      <p:sp>
        <p:nvSpPr>
          <p:cNvPr id="18" name="Chip 7"/>
          <p:cNvSpPr/>
          <p:nvPr/>
        </p:nvSpPr>
        <p:spPr>
          <a:xfrm>
            <a:off x="9304019" y="6858000"/>
            <a:ext cx="3703320" cy="621792"/>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Backup and recovery</a:t>
            </a:r>
          </a:p>
        </p:txBody>
      </p:sp>
      <p:sp>
        <p:nvSpPr>
          <p:cNvPr id="19" name="Chip 8"/>
          <p:cNvSpPr/>
          <p:nvPr/>
        </p:nvSpPr>
        <p:spPr>
          <a:xfrm>
            <a:off x="13327380" y="6858000"/>
            <a:ext cx="3703320" cy="621792"/>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Statement printing</a:t>
            </a:r>
          </a:p>
        </p:txBody>
      </p:sp>
      <p:sp>
        <p:nvSpPr>
          <p:cNvPr id="20" name="Responsibility banner"/>
          <p:cNvSpPr/>
          <p:nvPr/>
        </p:nvSpPr>
        <p:spPr>
          <a:xfrm>
            <a:off x="1257300" y="7909560"/>
            <a:ext cx="15773400" cy="1234440"/>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1" name="Responsibility banner text"/>
          <p:cNvSpPr txBox="1"/>
          <p:nvPr/>
        </p:nvSpPr>
        <p:spPr>
          <a:xfrm>
            <a:off x="1554480" y="7955280"/>
            <a:ext cx="15179040" cy="1143000"/>
          </a:xfrm>
          <a:prstGeom prst="rect">
            <a:avLst/>
          </a:prstGeom>
          <a:noFill/>
        </p:spPr>
        <p:txBody>
          <a:bodyPr wrap="square" lIns="0" tIns="0" rIns="0" bIns="0" anchor="ctr">
            <a:spAutoFit/>
          </a:bodyPr>
          <a:lstStyle/>
          <a:p>
            <a:pPr algn="ctr">
              <a:spcAft>
                <a:spcPts val="600"/>
              </a:spcAft>
            </a:pPr>
            <a:r>
              <a:rPr sz="3000" b="1" i="0">
                <a:solidFill>
                  <a:srgbClr val="FFFFFF"/>
                </a:solidFill>
                <a:latin typeface="Helvetica Neue"/>
                <a:ea typeface="Helvetica Neue"/>
                <a:cs typeface="Helvetica Neue"/>
              </a:rPr>
              <a:t>You can outsource the work, not the responsibility.</a:t>
            </a:r>
          </a:p>
        </p:txBody>
      </p:sp>
      <p:sp>
        <p:nvSpPr>
          <p:cNvPr id="22"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Banner paraphrases the Interagency Guidance on Third-Party Relationships: Risk Management (June 2023)</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Every Vendor Is a Network Connection</a:t>
            </a:r>
          </a:p>
        </p:txBody>
      </p:sp>
      <p:cxnSp>
        <p:nvCxnSpPr>
          <p:cNvPr id="3" name="Door 1 line"/>
          <p:cNvCxnSpPr/>
          <p:nvPr/>
        </p:nvCxnSpPr>
        <p:spPr>
          <a:xfrm flipV="1">
            <a:off x="9144000" y="3246120"/>
            <a:ext cx="0" cy="2788920"/>
          </a:xfrm>
          <a:prstGeom prst="line">
            <a:avLst/>
          </a:prstGeom>
          <a:ln w="44450">
            <a:solidFill>
              <a:srgbClr val="ED7D31"/>
            </a:solidFill>
          </a:ln>
        </p:spPr>
        <p:style>
          <a:lnRef idx="2">
            <a:schemeClr val="accent1"/>
          </a:lnRef>
          <a:fillRef idx="0">
            <a:schemeClr val="accent1"/>
          </a:fillRef>
          <a:effectRef idx="1">
            <a:schemeClr val="accent1"/>
          </a:effectRef>
          <a:fontRef idx="minor">
            <a:schemeClr val="tx1"/>
          </a:fontRef>
        </p:style>
      </p:cxnSp>
      <p:cxnSp>
        <p:nvCxnSpPr>
          <p:cNvPr id="4" name="Door 2 line"/>
          <p:cNvCxnSpPr/>
          <p:nvPr/>
        </p:nvCxnSpPr>
        <p:spPr>
          <a:xfrm flipV="1">
            <a:off x="9144000" y="3977639"/>
            <a:ext cx="5074920" cy="2057401"/>
          </a:xfrm>
          <a:prstGeom prst="line">
            <a:avLst/>
          </a:prstGeom>
          <a:ln w="44450">
            <a:solidFill>
              <a:srgbClr val="ED7D31"/>
            </a:solidFill>
          </a:ln>
        </p:spPr>
        <p:style>
          <a:lnRef idx="2">
            <a:schemeClr val="accent1"/>
          </a:lnRef>
          <a:fillRef idx="0">
            <a:schemeClr val="accent1"/>
          </a:fillRef>
          <a:effectRef idx="1">
            <a:schemeClr val="accent1"/>
          </a:effectRef>
          <a:fontRef idx="minor">
            <a:schemeClr val="tx1"/>
          </a:fontRef>
        </p:style>
      </p:cxnSp>
      <p:cxnSp>
        <p:nvCxnSpPr>
          <p:cNvPr id="5" name="Door 3 line"/>
          <p:cNvCxnSpPr/>
          <p:nvPr/>
        </p:nvCxnSpPr>
        <p:spPr>
          <a:xfrm>
            <a:off x="9144000" y="6035040"/>
            <a:ext cx="5806440" cy="0"/>
          </a:xfrm>
          <a:prstGeom prst="line">
            <a:avLst/>
          </a:prstGeom>
          <a:ln w="44450">
            <a:solidFill>
              <a:srgbClr val="ED7D31"/>
            </a:solidFill>
          </a:ln>
        </p:spPr>
        <p:style>
          <a:lnRef idx="2">
            <a:schemeClr val="accent1"/>
          </a:lnRef>
          <a:fillRef idx="0">
            <a:schemeClr val="accent1"/>
          </a:fillRef>
          <a:effectRef idx="1">
            <a:schemeClr val="accent1"/>
          </a:effectRef>
          <a:fontRef idx="minor">
            <a:schemeClr val="tx1"/>
          </a:fontRef>
        </p:style>
      </p:cxnSp>
      <p:cxnSp>
        <p:nvCxnSpPr>
          <p:cNvPr id="6" name="Door 4 line"/>
          <p:cNvCxnSpPr/>
          <p:nvPr/>
        </p:nvCxnSpPr>
        <p:spPr>
          <a:xfrm>
            <a:off x="9144000" y="6035040"/>
            <a:ext cx="5074920" cy="2057400"/>
          </a:xfrm>
          <a:prstGeom prst="line">
            <a:avLst/>
          </a:prstGeom>
          <a:ln w="44450">
            <a:solidFill>
              <a:srgbClr val="ED7D31"/>
            </a:solidFill>
          </a:ln>
        </p:spPr>
        <p:style>
          <a:lnRef idx="2">
            <a:schemeClr val="accent1"/>
          </a:lnRef>
          <a:fillRef idx="0">
            <a:schemeClr val="accent1"/>
          </a:fillRef>
          <a:effectRef idx="1">
            <a:schemeClr val="accent1"/>
          </a:effectRef>
          <a:fontRef idx="minor">
            <a:schemeClr val="tx1"/>
          </a:fontRef>
        </p:style>
      </p:cxnSp>
      <p:cxnSp>
        <p:nvCxnSpPr>
          <p:cNvPr id="7" name="Door 5 line"/>
          <p:cNvCxnSpPr/>
          <p:nvPr/>
        </p:nvCxnSpPr>
        <p:spPr>
          <a:xfrm>
            <a:off x="9144000" y="6035040"/>
            <a:ext cx="0" cy="2788920"/>
          </a:xfrm>
          <a:prstGeom prst="line">
            <a:avLst/>
          </a:prstGeom>
          <a:ln w="44450">
            <a:solidFill>
              <a:srgbClr val="ED7D31"/>
            </a:solidFill>
          </a:ln>
        </p:spPr>
        <p:style>
          <a:lnRef idx="2">
            <a:schemeClr val="accent1"/>
          </a:lnRef>
          <a:fillRef idx="0">
            <a:schemeClr val="accent1"/>
          </a:fillRef>
          <a:effectRef idx="1">
            <a:schemeClr val="accent1"/>
          </a:effectRef>
          <a:fontRef idx="minor">
            <a:schemeClr val="tx1"/>
          </a:fontRef>
        </p:style>
      </p:cxnSp>
      <p:cxnSp>
        <p:nvCxnSpPr>
          <p:cNvPr id="8" name="Door 6 line"/>
          <p:cNvCxnSpPr/>
          <p:nvPr/>
        </p:nvCxnSpPr>
        <p:spPr>
          <a:xfrm flipH="1">
            <a:off x="4069080" y="6035040"/>
            <a:ext cx="5074920" cy="2057400"/>
          </a:xfrm>
          <a:prstGeom prst="line">
            <a:avLst/>
          </a:prstGeom>
          <a:ln w="44450">
            <a:solidFill>
              <a:srgbClr val="ED7D31"/>
            </a:solidFill>
          </a:ln>
        </p:spPr>
        <p:style>
          <a:lnRef idx="2">
            <a:schemeClr val="accent1"/>
          </a:lnRef>
          <a:fillRef idx="0">
            <a:schemeClr val="accent1"/>
          </a:fillRef>
          <a:effectRef idx="1">
            <a:schemeClr val="accent1"/>
          </a:effectRef>
          <a:fontRef idx="minor">
            <a:schemeClr val="tx1"/>
          </a:fontRef>
        </p:style>
      </p:cxnSp>
      <p:cxnSp>
        <p:nvCxnSpPr>
          <p:cNvPr id="9" name="Door 7 line"/>
          <p:cNvCxnSpPr/>
          <p:nvPr/>
        </p:nvCxnSpPr>
        <p:spPr>
          <a:xfrm flipH="1">
            <a:off x="3337560" y="6035040"/>
            <a:ext cx="5806440" cy="0"/>
          </a:xfrm>
          <a:prstGeom prst="line">
            <a:avLst/>
          </a:prstGeom>
          <a:ln w="44450">
            <a:solidFill>
              <a:srgbClr val="ED7D31"/>
            </a:solidFill>
          </a:ln>
        </p:spPr>
        <p:style>
          <a:lnRef idx="2">
            <a:schemeClr val="accent1"/>
          </a:lnRef>
          <a:fillRef idx="0">
            <a:schemeClr val="accent1"/>
          </a:fillRef>
          <a:effectRef idx="1">
            <a:schemeClr val="accent1"/>
          </a:effectRef>
          <a:fontRef idx="minor">
            <a:schemeClr val="tx1"/>
          </a:fontRef>
        </p:style>
      </p:cxnSp>
      <p:cxnSp>
        <p:nvCxnSpPr>
          <p:cNvPr id="10" name="Door 8 line"/>
          <p:cNvCxnSpPr/>
          <p:nvPr/>
        </p:nvCxnSpPr>
        <p:spPr>
          <a:xfrm flipH="1" flipV="1">
            <a:off x="4069080" y="3977639"/>
            <a:ext cx="5074920" cy="2057401"/>
          </a:xfrm>
          <a:prstGeom prst="line">
            <a:avLst/>
          </a:prstGeom>
          <a:ln w="44450">
            <a:solidFill>
              <a:srgbClr val="ED7D31"/>
            </a:solidFill>
          </a:ln>
        </p:spPr>
        <p:style>
          <a:lnRef idx="2">
            <a:schemeClr val="accent1"/>
          </a:lnRef>
          <a:fillRef idx="0">
            <a:schemeClr val="accent1"/>
          </a:fillRef>
          <a:effectRef idx="1">
            <a:schemeClr val="accent1"/>
          </a:effectRef>
          <a:fontRef idx="minor">
            <a:schemeClr val="tx1"/>
          </a:fontRef>
        </p:style>
      </p:cxnSp>
      <p:sp>
        <p:nvSpPr>
          <p:cNvPr id="11" name="Bank disc"/>
          <p:cNvSpPr/>
          <p:nvPr/>
        </p:nvSpPr>
        <p:spPr>
          <a:xfrm>
            <a:off x="8001000" y="4892040"/>
            <a:ext cx="2286000" cy="2286000"/>
          </a:xfrm>
          <a:prstGeom prst="ellipse">
            <a:avLst/>
          </a:prstGeom>
          <a:solidFill>
            <a:srgbClr val="FFFFFF"/>
          </a:solidFill>
          <a:ln w="317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2" name="Bank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03920" y="5257799"/>
            <a:ext cx="1280160" cy="1280160"/>
          </a:xfrm>
          <a:prstGeom prst="rect">
            <a:avLst/>
          </a:prstGeom>
        </p:spPr>
      </p:pic>
      <p:sp>
        <p:nvSpPr>
          <p:cNvPr id="13" name="Bank label"/>
          <p:cNvSpPr txBox="1"/>
          <p:nvPr/>
        </p:nvSpPr>
        <p:spPr>
          <a:xfrm>
            <a:off x="8229600" y="6583679"/>
            <a:ext cx="1828800" cy="365760"/>
          </a:xfrm>
          <a:prstGeom prst="rect">
            <a:avLst/>
          </a:prstGeom>
          <a:noFill/>
        </p:spPr>
        <p:txBody>
          <a:bodyPr wrap="square" lIns="0" tIns="0" rIns="0" bIns="0" anchor="t">
            <a:spAutoFit/>
          </a:bodyPr>
          <a:lstStyle/>
          <a:p>
            <a:pPr algn="ctr">
              <a:spcAft>
                <a:spcPts val="600"/>
              </a:spcAft>
            </a:pPr>
            <a:r>
              <a:rPr sz="1600" b="1" i="0">
                <a:solidFill>
                  <a:srgbClr val="000000"/>
                </a:solidFill>
                <a:latin typeface="Helvetica Neue"/>
                <a:ea typeface="Helvetica Neue"/>
                <a:cs typeface="Helvetica Neue"/>
              </a:rPr>
              <a:t>The bank</a:t>
            </a:r>
          </a:p>
        </p:txBody>
      </p:sp>
      <p:sp>
        <p:nvSpPr>
          <p:cNvPr id="14" name="Vendor 1"/>
          <p:cNvSpPr/>
          <p:nvPr/>
        </p:nvSpPr>
        <p:spPr>
          <a:xfrm>
            <a:off x="7452360" y="2743200"/>
            <a:ext cx="3383280" cy="1005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5" name="Vendor 1 text"/>
          <p:cNvSpPr txBox="1"/>
          <p:nvPr/>
        </p:nvSpPr>
        <p:spPr>
          <a:xfrm>
            <a:off x="7589520" y="2816352"/>
            <a:ext cx="3108960" cy="859536"/>
          </a:xfrm>
          <a:prstGeom prst="rect">
            <a:avLst/>
          </a:prstGeom>
          <a:noFill/>
        </p:spPr>
        <p:txBody>
          <a:bodyPr wrap="square" lIns="0" tIns="0" rIns="0" bIns="0" anchor="ctr">
            <a:spAutoFit/>
          </a:bodyPr>
          <a:lstStyle/>
          <a:p>
            <a:pPr algn="ctr">
              <a:spcAft>
                <a:spcPts val="200"/>
              </a:spcAft>
            </a:pPr>
            <a:r>
              <a:rPr sz="1900" b="1" i="0">
                <a:solidFill>
                  <a:srgbClr val="000000"/>
                </a:solidFill>
                <a:latin typeface="Helvetica Neue"/>
                <a:ea typeface="Helvetica Neue"/>
                <a:cs typeface="Helvetica Neue"/>
              </a:rPr>
              <a:t>Core processor</a:t>
            </a:r>
          </a:p>
          <a:p>
            <a:pPr algn="ctr">
              <a:spcAft>
                <a:spcPts val="200"/>
              </a:spcAft>
            </a:pPr>
            <a:r>
              <a:rPr sz="1500" b="0" i="0">
                <a:solidFill>
                  <a:srgbClr val="ED7D31"/>
                </a:solidFill>
                <a:latin typeface="Helvetica Neue"/>
                <a:ea typeface="Helvetica Neue"/>
                <a:cs typeface="Helvetica Neue"/>
              </a:rPr>
              <a:t>VPN or private circuit</a:t>
            </a:r>
          </a:p>
        </p:txBody>
      </p:sp>
      <p:sp>
        <p:nvSpPr>
          <p:cNvPr id="16" name="Vendor 2"/>
          <p:cNvSpPr/>
          <p:nvPr/>
        </p:nvSpPr>
        <p:spPr>
          <a:xfrm>
            <a:off x="12527280" y="3474720"/>
            <a:ext cx="3383280" cy="1005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7" name="Vendor 2 text"/>
          <p:cNvSpPr txBox="1"/>
          <p:nvPr/>
        </p:nvSpPr>
        <p:spPr>
          <a:xfrm>
            <a:off x="12664440" y="3547872"/>
            <a:ext cx="3108960" cy="859536"/>
          </a:xfrm>
          <a:prstGeom prst="rect">
            <a:avLst/>
          </a:prstGeom>
          <a:noFill/>
        </p:spPr>
        <p:txBody>
          <a:bodyPr wrap="square" lIns="0" tIns="0" rIns="0" bIns="0" anchor="ctr">
            <a:spAutoFit/>
          </a:bodyPr>
          <a:lstStyle/>
          <a:p>
            <a:pPr algn="ctr">
              <a:spcAft>
                <a:spcPts val="200"/>
              </a:spcAft>
            </a:pPr>
            <a:r>
              <a:rPr sz="1900" b="1" i="0">
                <a:solidFill>
                  <a:srgbClr val="000000"/>
                </a:solidFill>
                <a:latin typeface="Helvetica Neue"/>
                <a:ea typeface="Helvetica Neue"/>
                <a:cs typeface="Helvetica Neue"/>
              </a:rPr>
              <a:t>Card processor</a:t>
            </a:r>
          </a:p>
          <a:p>
            <a:pPr algn="ctr">
              <a:spcAft>
                <a:spcPts val="200"/>
              </a:spcAft>
            </a:pPr>
            <a:r>
              <a:rPr sz="1500" b="0" i="0">
                <a:solidFill>
                  <a:srgbClr val="ED7D31"/>
                </a:solidFill>
                <a:latin typeface="Helvetica Neue"/>
                <a:ea typeface="Helvetica Neue"/>
                <a:cs typeface="Helvetica Neue"/>
              </a:rPr>
              <a:t>Private circuit or VPN</a:t>
            </a:r>
          </a:p>
        </p:txBody>
      </p:sp>
      <p:sp>
        <p:nvSpPr>
          <p:cNvPr id="18" name="Vendor 3"/>
          <p:cNvSpPr/>
          <p:nvPr/>
        </p:nvSpPr>
        <p:spPr>
          <a:xfrm>
            <a:off x="13258800" y="5532120"/>
            <a:ext cx="3383280" cy="1005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9" name="Vendor 3 text"/>
          <p:cNvSpPr txBox="1"/>
          <p:nvPr/>
        </p:nvSpPr>
        <p:spPr>
          <a:xfrm>
            <a:off x="13395960" y="5605272"/>
            <a:ext cx="3108960" cy="859536"/>
          </a:xfrm>
          <a:prstGeom prst="rect">
            <a:avLst/>
          </a:prstGeom>
          <a:noFill/>
        </p:spPr>
        <p:txBody>
          <a:bodyPr wrap="square" lIns="0" tIns="0" rIns="0" bIns="0" anchor="ctr">
            <a:spAutoFit/>
          </a:bodyPr>
          <a:lstStyle/>
          <a:p>
            <a:pPr algn="ctr">
              <a:spcAft>
                <a:spcPts val="200"/>
              </a:spcAft>
            </a:pPr>
            <a:r>
              <a:rPr sz="1900" b="1" i="0">
                <a:solidFill>
                  <a:srgbClr val="000000"/>
                </a:solidFill>
                <a:latin typeface="Helvetica Neue"/>
                <a:ea typeface="Helvetica Neue"/>
                <a:cs typeface="Helvetica Neue"/>
              </a:rPr>
              <a:t>MSP / MSSP</a:t>
            </a:r>
          </a:p>
          <a:p>
            <a:pPr algn="ctr">
              <a:spcAft>
                <a:spcPts val="200"/>
              </a:spcAft>
            </a:pPr>
            <a:r>
              <a:rPr sz="1500" b="0" i="0">
                <a:solidFill>
                  <a:srgbClr val="ED7D31"/>
                </a:solidFill>
                <a:latin typeface="Helvetica Neue"/>
                <a:ea typeface="Helvetica Neue"/>
                <a:cs typeface="Helvetica Neue"/>
              </a:rPr>
              <a:t>Remote access, always on</a:t>
            </a:r>
          </a:p>
        </p:txBody>
      </p:sp>
      <p:sp>
        <p:nvSpPr>
          <p:cNvPr id="20" name="Vendor 4"/>
          <p:cNvSpPr/>
          <p:nvPr/>
        </p:nvSpPr>
        <p:spPr>
          <a:xfrm>
            <a:off x="12527280" y="7589519"/>
            <a:ext cx="3383280" cy="1005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1" name="Vendor 4 text"/>
          <p:cNvSpPr txBox="1"/>
          <p:nvPr/>
        </p:nvSpPr>
        <p:spPr>
          <a:xfrm>
            <a:off x="12664440" y="7662671"/>
            <a:ext cx="3108960" cy="859536"/>
          </a:xfrm>
          <a:prstGeom prst="rect">
            <a:avLst/>
          </a:prstGeom>
          <a:noFill/>
        </p:spPr>
        <p:txBody>
          <a:bodyPr wrap="square" lIns="0" tIns="0" rIns="0" bIns="0" anchor="ctr">
            <a:spAutoFit/>
          </a:bodyPr>
          <a:lstStyle/>
          <a:p>
            <a:pPr algn="ctr">
              <a:spcAft>
                <a:spcPts val="200"/>
              </a:spcAft>
            </a:pPr>
            <a:r>
              <a:rPr sz="1900" b="1" i="0">
                <a:solidFill>
                  <a:srgbClr val="000000"/>
                </a:solidFill>
                <a:latin typeface="Helvetica Neue"/>
                <a:ea typeface="Helvetica Neue"/>
                <a:cs typeface="Helvetica Neue"/>
              </a:rPr>
              <a:t>SaaS apps</a:t>
            </a:r>
          </a:p>
          <a:p>
            <a:pPr algn="ctr">
              <a:spcAft>
                <a:spcPts val="200"/>
              </a:spcAft>
            </a:pPr>
            <a:r>
              <a:rPr sz="1500" b="0" i="0">
                <a:solidFill>
                  <a:srgbClr val="ED7D31"/>
                </a:solidFill>
                <a:latin typeface="Helvetica Neue"/>
                <a:ea typeface="Helvetica Neue"/>
                <a:cs typeface="Helvetica Neue"/>
              </a:rPr>
              <a:t>Over the internet</a:t>
            </a:r>
          </a:p>
        </p:txBody>
      </p:sp>
      <p:sp>
        <p:nvSpPr>
          <p:cNvPr id="22" name="Vendor 5"/>
          <p:cNvSpPr/>
          <p:nvPr/>
        </p:nvSpPr>
        <p:spPr>
          <a:xfrm>
            <a:off x="7452360" y="8321040"/>
            <a:ext cx="3383280" cy="1005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3" name="Vendor 5 text"/>
          <p:cNvSpPr txBox="1"/>
          <p:nvPr/>
        </p:nvSpPr>
        <p:spPr>
          <a:xfrm>
            <a:off x="7589520" y="8394192"/>
            <a:ext cx="3108960" cy="859536"/>
          </a:xfrm>
          <a:prstGeom prst="rect">
            <a:avLst/>
          </a:prstGeom>
          <a:noFill/>
        </p:spPr>
        <p:txBody>
          <a:bodyPr wrap="square" lIns="0" tIns="0" rIns="0" bIns="0" anchor="ctr">
            <a:spAutoFit/>
          </a:bodyPr>
          <a:lstStyle/>
          <a:p>
            <a:pPr algn="ctr">
              <a:spcAft>
                <a:spcPts val="200"/>
              </a:spcAft>
            </a:pPr>
            <a:r>
              <a:rPr sz="1900" b="1" i="0">
                <a:solidFill>
                  <a:srgbClr val="000000"/>
                </a:solidFill>
                <a:latin typeface="Helvetica Neue"/>
                <a:ea typeface="Helvetica Neue"/>
                <a:cs typeface="Helvetica Neue"/>
              </a:rPr>
              <a:t>Fintech partner</a:t>
            </a:r>
          </a:p>
          <a:p>
            <a:pPr algn="ctr">
              <a:spcAft>
                <a:spcPts val="200"/>
              </a:spcAft>
            </a:pPr>
            <a:r>
              <a:rPr sz="1500" b="0" i="0">
                <a:solidFill>
                  <a:srgbClr val="ED7D31"/>
                </a:solidFill>
                <a:latin typeface="Helvetica Neue"/>
                <a:ea typeface="Helvetica Neue"/>
                <a:cs typeface="Helvetica Neue"/>
              </a:rPr>
              <a:t>API over the internet</a:t>
            </a:r>
          </a:p>
        </p:txBody>
      </p:sp>
      <p:sp>
        <p:nvSpPr>
          <p:cNvPr id="24" name="Vendor 6"/>
          <p:cNvSpPr/>
          <p:nvPr/>
        </p:nvSpPr>
        <p:spPr>
          <a:xfrm>
            <a:off x="2377440" y="7589519"/>
            <a:ext cx="3383280" cy="1005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5" name="Vendor 6 text"/>
          <p:cNvSpPr txBox="1"/>
          <p:nvPr/>
        </p:nvSpPr>
        <p:spPr>
          <a:xfrm>
            <a:off x="2514600" y="7662671"/>
            <a:ext cx="3108960" cy="859536"/>
          </a:xfrm>
          <a:prstGeom prst="rect">
            <a:avLst/>
          </a:prstGeom>
          <a:noFill/>
        </p:spPr>
        <p:txBody>
          <a:bodyPr wrap="square" lIns="0" tIns="0" rIns="0" bIns="0" anchor="ctr">
            <a:spAutoFit/>
          </a:bodyPr>
          <a:lstStyle/>
          <a:p>
            <a:pPr algn="ctr">
              <a:spcAft>
                <a:spcPts val="200"/>
              </a:spcAft>
            </a:pPr>
            <a:r>
              <a:rPr sz="1900" b="1" i="0">
                <a:solidFill>
                  <a:srgbClr val="000000"/>
                </a:solidFill>
                <a:latin typeface="Helvetica Neue"/>
                <a:ea typeface="Helvetica Neue"/>
                <a:cs typeface="Helvetica Neue"/>
              </a:rPr>
              <a:t>ATM network</a:t>
            </a:r>
          </a:p>
          <a:p>
            <a:pPr algn="ctr">
              <a:spcAft>
                <a:spcPts val="200"/>
              </a:spcAft>
            </a:pPr>
            <a:r>
              <a:rPr sz="1500" b="0" i="0">
                <a:solidFill>
                  <a:srgbClr val="ED7D31"/>
                </a:solidFill>
                <a:latin typeface="Helvetica Neue"/>
                <a:ea typeface="Helvetica Neue"/>
                <a:cs typeface="Helvetica Neue"/>
              </a:rPr>
              <a:t>Circuit to the ATM switch</a:t>
            </a:r>
          </a:p>
        </p:txBody>
      </p:sp>
      <p:sp>
        <p:nvSpPr>
          <p:cNvPr id="26" name="Vendor 7"/>
          <p:cNvSpPr/>
          <p:nvPr/>
        </p:nvSpPr>
        <p:spPr>
          <a:xfrm>
            <a:off x="1645919" y="5532120"/>
            <a:ext cx="3383280" cy="1005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7" name="Vendor 7 text"/>
          <p:cNvSpPr txBox="1"/>
          <p:nvPr/>
        </p:nvSpPr>
        <p:spPr>
          <a:xfrm>
            <a:off x="1783079" y="5605272"/>
            <a:ext cx="3108960" cy="859536"/>
          </a:xfrm>
          <a:prstGeom prst="rect">
            <a:avLst/>
          </a:prstGeom>
          <a:noFill/>
        </p:spPr>
        <p:txBody>
          <a:bodyPr wrap="square" lIns="0" tIns="0" rIns="0" bIns="0" anchor="ctr">
            <a:spAutoFit/>
          </a:bodyPr>
          <a:lstStyle/>
          <a:p>
            <a:pPr algn="ctr">
              <a:spcAft>
                <a:spcPts val="200"/>
              </a:spcAft>
            </a:pPr>
            <a:r>
              <a:rPr sz="1900" b="1" i="0">
                <a:solidFill>
                  <a:srgbClr val="000000"/>
                </a:solidFill>
                <a:latin typeface="Helvetica Neue"/>
                <a:ea typeface="Helvetica Neue"/>
                <a:cs typeface="Helvetica Neue"/>
              </a:rPr>
              <a:t>Statement printer</a:t>
            </a:r>
          </a:p>
          <a:p>
            <a:pPr algn="ctr">
              <a:spcAft>
                <a:spcPts val="200"/>
              </a:spcAft>
            </a:pPr>
            <a:r>
              <a:rPr sz="1500" b="0" i="0">
                <a:solidFill>
                  <a:srgbClr val="ED7D31"/>
                </a:solidFill>
                <a:latin typeface="Helvetica Neue"/>
                <a:ea typeface="Helvetica Neue"/>
                <a:cs typeface="Helvetica Neue"/>
              </a:rPr>
              <a:t>Secure file transfer</a:t>
            </a:r>
          </a:p>
        </p:txBody>
      </p:sp>
      <p:sp>
        <p:nvSpPr>
          <p:cNvPr id="28" name="Vendor 8"/>
          <p:cNvSpPr/>
          <p:nvPr/>
        </p:nvSpPr>
        <p:spPr>
          <a:xfrm>
            <a:off x="2377440" y="3474720"/>
            <a:ext cx="3383280" cy="1005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9" name="Vendor 8 text"/>
          <p:cNvSpPr txBox="1"/>
          <p:nvPr/>
        </p:nvSpPr>
        <p:spPr>
          <a:xfrm>
            <a:off x="2514600" y="3547872"/>
            <a:ext cx="3108960" cy="859536"/>
          </a:xfrm>
          <a:prstGeom prst="rect">
            <a:avLst/>
          </a:prstGeom>
          <a:noFill/>
        </p:spPr>
        <p:txBody>
          <a:bodyPr wrap="square" lIns="0" tIns="0" rIns="0" bIns="0" anchor="ctr">
            <a:spAutoFit/>
          </a:bodyPr>
          <a:lstStyle/>
          <a:p>
            <a:pPr algn="ctr">
              <a:spcAft>
                <a:spcPts val="200"/>
              </a:spcAft>
            </a:pPr>
            <a:r>
              <a:rPr sz="1900" b="1" i="0">
                <a:solidFill>
                  <a:srgbClr val="000000"/>
                </a:solidFill>
                <a:latin typeface="Helvetica Neue"/>
                <a:ea typeface="Helvetica Neue"/>
                <a:cs typeface="Helvetica Neue"/>
              </a:rPr>
              <a:t>Carrier / ISP</a:t>
            </a:r>
          </a:p>
          <a:p>
            <a:pPr algn="ctr">
              <a:spcAft>
                <a:spcPts val="200"/>
              </a:spcAft>
            </a:pPr>
            <a:r>
              <a:rPr sz="1500" b="0" i="0">
                <a:solidFill>
                  <a:srgbClr val="ED7D31"/>
                </a:solidFill>
                <a:latin typeface="Helvetica Neue"/>
                <a:ea typeface="Helvetica Neue"/>
                <a:cs typeface="Helvetica Neue"/>
              </a:rPr>
              <a:t>The circuits themselves</a:t>
            </a:r>
          </a:p>
        </p:txBody>
      </p:sp>
      <p:sp>
        <p:nvSpPr>
          <p:cNvPr id="30" name="Door callout"/>
          <p:cNvSpPr txBox="1"/>
          <p:nvPr/>
        </p:nvSpPr>
        <p:spPr>
          <a:xfrm>
            <a:off x="1257300" y="8915400"/>
            <a:ext cx="5029200" cy="548640"/>
          </a:xfrm>
          <a:prstGeom prst="rect">
            <a:avLst/>
          </a:prstGeom>
          <a:noFill/>
        </p:spPr>
        <p:txBody>
          <a:bodyPr wrap="square" lIns="0" tIns="0" rIns="0" bIns="0" anchor="t">
            <a:spAutoFit/>
          </a:bodyPr>
          <a:lstStyle/>
          <a:p>
            <a:pPr algn="l">
              <a:spcAft>
                <a:spcPts val="600"/>
              </a:spcAft>
            </a:pPr>
            <a:r>
              <a:rPr sz="2000" b="1" i="0">
                <a:solidFill>
                  <a:srgbClr val="ED7D31"/>
                </a:solidFill>
                <a:latin typeface="Helvetica Neue"/>
                <a:ea typeface="Helvetica Neue"/>
                <a:cs typeface="Helvetica Neue"/>
              </a:rPr>
              <a:t>Each line is a door into the bank.</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ABE94-C776-E140-BFDA-5D6FE388C2BD}"/>
              </a:ext>
            </a:extLst>
          </p:cNvPr>
          <p:cNvSpPr>
            <a:spLocks noGrp="1"/>
          </p:cNvSpPr>
          <p:nvPr>
            <p:ph type="title"/>
          </p:nvPr>
        </p:nvSpPr>
        <p:spPr/>
        <p:txBody>
          <a:bodyPr/>
          <a:lstStyle/>
          <a:p>
            <a:r>
              <a:rPr lang="en-US"/>
              <a:t>Core Processing in the Cloud</a:t>
            </a:r>
          </a:p>
        </p:txBody>
      </p:sp>
      <p:sp>
        <p:nvSpPr>
          <p:cNvPr id="3" name="Content Placeholder 2">
            <a:extLst>
              <a:ext uri="{FF2B5EF4-FFF2-40B4-BE49-F238E27FC236}">
                <a16:creationId xmlns:a16="http://schemas.microsoft.com/office/drawing/2014/main" id="{167A03D1-0ECB-7147-BF93-F91F832EE6F7}"/>
              </a:ext>
            </a:extLst>
          </p:cNvPr>
          <p:cNvSpPr>
            <a:spLocks noGrp="1"/>
          </p:cNvSpPr>
          <p:nvPr>
            <p:ph idx="1"/>
          </p:nvPr>
        </p:nvSpPr>
        <p:spPr>
          <a:xfrm>
            <a:off x="1257300" y="2193131"/>
            <a:ext cx="9797143" cy="7326426"/>
          </a:xfrm>
        </p:spPr>
        <p:txBody>
          <a:bodyPr>
            <a:normAutofit/>
          </a:bodyPr>
          <a:lstStyle/>
          <a:p>
            <a:r>
              <a:rPr lang="en-US"/>
              <a:t>Historically, Core Processing was owned by a handful of specialized companies</a:t>
            </a:r>
          </a:p>
          <a:p>
            <a:r>
              <a:rPr lang="en-US"/>
              <a:t>Moving to the cloud poses both advantages and risks for core processors</a:t>
            </a:r>
          </a:p>
          <a:p>
            <a:r>
              <a:rPr lang="en-US"/>
              <a:t>Fintech solutions can rapidly add new capabilities and change what “core” means</a:t>
            </a:r>
          </a:p>
          <a:p>
            <a:r>
              <a:rPr lang="en-US"/>
              <a:t>Will the cloud come to the core before the core comes to the cloud?</a:t>
            </a:r>
          </a:p>
        </p:txBody>
      </p:sp>
      <p:pic>
        <p:nvPicPr>
          <p:cNvPr id="5122" name="Picture 2" descr="Jack Henry Banking logo">
            <a:hlinkClick r:id="rId3"/>
            <a:extLst>
              <a:ext uri="{FF2B5EF4-FFF2-40B4-BE49-F238E27FC236}">
                <a16:creationId xmlns:a16="http://schemas.microsoft.com/office/drawing/2014/main" id="{6EE2C50B-E96F-4144-89BD-44EB6943844C}"/>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1988125" y="1616628"/>
            <a:ext cx="4972278" cy="2064513"/>
          </a:xfrm>
          <a:prstGeom prst="rect">
            <a:avLst/>
          </a:prstGeom>
          <a:noFill/>
          <a:extLst>
            <a:ext uri="{909E8E84-426E-40DD-AFC4-6F175D3DCCD1}">
              <a14:hiddenFill xmlns:a14="http://schemas.microsoft.com/office/drawing/2010/main">
                <a:solidFill>
                  <a:srgbClr val="FFFFFF"/>
                </a:solidFill>
              </a14:hiddenFill>
            </a:ext>
          </a:extLst>
        </p:spPr>
      </p:pic>
      <p:pic>
        <p:nvPicPr>
          <p:cNvPr id="9" name="Graphic 8">
            <a:extLst>
              <a:ext uri="{FF2B5EF4-FFF2-40B4-BE49-F238E27FC236}">
                <a16:creationId xmlns:a16="http://schemas.microsoft.com/office/drawing/2014/main" id="{1719E9A8-FC37-FB4B-8328-7E8ADE34AB1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677673" y="3704628"/>
            <a:ext cx="2282730" cy="1154793"/>
          </a:xfrm>
          <a:prstGeom prst="rect">
            <a:avLst/>
          </a:prstGeom>
        </p:spPr>
      </p:pic>
      <p:pic>
        <p:nvPicPr>
          <p:cNvPr id="5130" name="Picture 10" descr="Finastra">
            <a:hlinkClick r:id="rId7" tooltip="Finastra"/>
            <a:extLst>
              <a:ext uri="{FF2B5EF4-FFF2-40B4-BE49-F238E27FC236}">
                <a16:creationId xmlns:a16="http://schemas.microsoft.com/office/drawing/2014/main" id="{A97C0B0A-2B07-3A43-98FB-7520D378CE3F}"/>
              </a:ext>
            </a:extLst>
          </p:cNvPr>
          <p:cNvPicPr>
            <a:picLocks noChangeAspect="1" noChangeArrowheads="1"/>
          </p:cNvPicPr>
          <p:nvPr/>
        </p:nvPicPr>
        <p:blipFill>
          <a:blip r:embed="rId8">
            <a:extLst>
              <a:ext uri="{28A0092B-C50C-407E-A947-70E740481C1C}">
                <a14:useLocalDpi xmlns:a14="http://schemas.microsoft.com/office/drawing/2010/main"/>
              </a:ext>
            </a:extLst>
          </a:blip>
          <a:srcRect/>
          <a:stretch>
            <a:fillRect/>
          </a:stretch>
        </p:blipFill>
        <p:spPr bwMode="auto">
          <a:xfrm>
            <a:off x="12057067" y="5092983"/>
            <a:ext cx="2881086" cy="1416928"/>
          </a:xfrm>
          <a:prstGeom prst="rect">
            <a:avLst/>
          </a:prstGeom>
          <a:noFill/>
          <a:extLst>
            <a:ext uri="{909E8E84-426E-40DD-AFC4-6F175D3DCCD1}">
              <a14:hiddenFill xmlns:a14="http://schemas.microsoft.com/office/drawing/2010/main">
                <a:solidFill>
                  <a:srgbClr val="FFFFFF"/>
                </a:solidFill>
              </a14:hiddenFill>
            </a:ext>
          </a:extLst>
        </p:spPr>
      </p:pic>
      <p:sp>
        <p:nvSpPr>
          <p:cNvPr id="11" name="AutoShape 12" descr="Nymbus">
            <a:hlinkClick r:id="rId9"/>
            <a:extLst>
              <a:ext uri="{FF2B5EF4-FFF2-40B4-BE49-F238E27FC236}">
                <a16:creationId xmlns:a16="http://schemas.microsoft.com/office/drawing/2014/main" id="{79EA0750-5093-D54A-8755-1E70779E9F77}"/>
              </a:ext>
            </a:extLst>
          </p:cNvPr>
          <p:cNvSpPr>
            <a:spLocks noChangeAspect="1" noChangeArrowheads="1"/>
          </p:cNvSpPr>
          <p:nvPr/>
        </p:nvSpPr>
        <p:spPr bwMode="auto">
          <a:xfrm>
            <a:off x="1270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3" descr="Nymbus">
            <a:extLst>
              <a:ext uri="{FF2B5EF4-FFF2-40B4-BE49-F238E27FC236}">
                <a16:creationId xmlns:a16="http://schemas.microsoft.com/office/drawing/2014/main" id="{8F439D39-DDE5-E441-ADE5-6DBB603DFDAD}"/>
              </a:ext>
            </a:extLst>
          </p:cNvPr>
          <p:cNvSpPr>
            <a:spLocks noChangeAspect="1" noChangeArrowheads="1"/>
          </p:cNvSpPr>
          <p:nvPr/>
        </p:nvSpPr>
        <p:spPr bwMode="auto">
          <a:xfrm>
            <a:off x="6508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7" name="Picture 16">
            <a:extLst>
              <a:ext uri="{FF2B5EF4-FFF2-40B4-BE49-F238E27FC236}">
                <a16:creationId xmlns:a16="http://schemas.microsoft.com/office/drawing/2014/main" id="{7691825E-B203-E548-B5D5-233ECD9B1137}"/>
              </a:ext>
            </a:extLst>
          </p:cNvPr>
          <p:cNvPicPr>
            <a:picLocks noChangeAspect="1"/>
          </p:cNvPicPr>
          <p:nvPr/>
        </p:nvPicPr>
        <p:blipFill>
          <a:blip r:embed="rId10"/>
          <a:stretch>
            <a:fillRect/>
          </a:stretch>
        </p:blipFill>
        <p:spPr>
          <a:xfrm>
            <a:off x="14885588" y="6956553"/>
            <a:ext cx="1866900" cy="965200"/>
          </a:xfrm>
          <a:prstGeom prst="rect">
            <a:avLst/>
          </a:prstGeom>
        </p:spPr>
      </p:pic>
    </p:spTree>
    <p:extLst>
      <p:ext uri="{BB962C8B-B14F-4D97-AF65-F5344CB8AC3E}">
        <p14:creationId xmlns:p14="http://schemas.microsoft.com/office/powerpoint/2010/main" val="213074130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Fintech Partnerships: New Connections Into the Bank</a:t>
            </a:r>
          </a:p>
        </p:txBody>
      </p:sp>
      <p:sp>
        <p:nvSpPr>
          <p:cNvPr id="3" name="Flow 1 card"/>
          <p:cNvSpPr/>
          <p:nvPr/>
        </p:nvSpPr>
        <p:spPr>
          <a:xfrm>
            <a:off x="1257300" y="2743200"/>
            <a:ext cx="2926080" cy="27889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4" name="Flow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17420" y="3017520"/>
            <a:ext cx="1005840" cy="1005840"/>
          </a:xfrm>
          <a:prstGeom prst="rect">
            <a:avLst/>
          </a:prstGeom>
        </p:spPr>
      </p:pic>
      <p:sp>
        <p:nvSpPr>
          <p:cNvPr id="5" name="Flow 1 text"/>
          <p:cNvSpPr txBox="1"/>
          <p:nvPr/>
        </p:nvSpPr>
        <p:spPr>
          <a:xfrm>
            <a:off x="1394460" y="4160520"/>
            <a:ext cx="2651760" cy="1280160"/>
          </a:xfrm>
          <a:prstGeom prst="rect">
            <a:avLst/>
          </a:prstGeom>
          <a:noFill/>
        </p:spPr>
        <p:txBody>
          <a:bodyPr wrap="square" lIns="0" tIns="0" rIns="0" bIns="0" anchor="t">
            <a:spAutoFit/>
          </a:bodyPr>
          <a:lstStyle/>
          <a:p>
            <a:pPr algn="ctr">
              <a:spcAft>
                <a:spcPts val="300"/>
              </a:spcAft>
            </a:pPr>
            <a:r>
              <a:rPr sz="2000" b="1" i="0">
                <a:solidFill>
                  <a:srgbClr val="000000"/>
                </a:solidFill>
                <a:latin typeface="Helvetica Neue"/>
                <a:ea typeface="Helvetica Neue"/>
                <a:cs typeface="Helvetica Neue"/>
              </a:rPr>
              <a:t>Customer</a:t>
            </a:r>
          </a:p>
          <a:p>
            <a:pPr algn="ctr">
              <a:spcAft>
                <a:spcPts val="300"/>
              </a:spcAft>
            </a:pPr>
            <a:r>
              <a:rPr sz="1500" b="0" i="0">
                <a:solidFill>
                  <a:srgbClr val="404040"/>
                </a:solidFill>
                <a:latin typeface="Helvetica Neue"/>
                <a:ea typeface="Helvetica Neue"/>
                <a:cs typeface="Helvetica Neue"/>
              </a:rPr>
              <a:t>Uses the fintech's app</a:t>
            </a:r>
          </a:p>
        </p:txBody>
      </p:sp>
      <p:cxnSp>
        <p:nvCxnSpPr>
          <p:cNvPr id="6" name="Flow arrow 1"/>
          <p:cNvCxnSpPr/>
          <p:nvPr/>
        </p:nvCxnSpPr>
        <p:spPr>
          <a:xfrm>
            <a:off x="4229100" y="4114800"/>
            <a:ext cx="1028700" cy="0"/>
          </a:xfrm>
          <a:prstGeom prst="line">
            <a:avLst/>
          </a:prstGeom>
          <a:ln w="4445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Flow 2 card"/>
          <p:cNvSpPr/>
          <p:nvPr/>
        </p:nvSpPr>
        <p:spPr>
          <a:xfrm>
            <a:off x="5303520" y="2743200"/>
            <a:ext cx="2926080" cy="27889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8" name="Flow 2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63640" y="3017520"/>
            <a:ext cx="1005840" cy="1005840"/>
          </a:xfrm>
          <a:prstGeom prst="rect">
            <a:avLst/>
          </a:prstGeom>
        </p:spPr>
      </p:pic>
      <p:sp>
        <p:nvSpPr>
          <p:cNvPr id="9" name="Flow 2 text"/>
          <p:cNvSpPr txBox="1"/>
          <p:nvPr/>
        </p:nvSpPr>
        <p:spPr>
          <a:xfrm>
            <a:off x="5440680" y="4160520"/>
            <a:ext cx="2651760" cy="1280160"/>
          </a:xfrm>
          <a:prstGeom prst="rect">
            <a:avLst/>
          </a:prstGeom>
          <a:noFill/>
        </p:spPr>
        <p:txBody>
          <a:bodyPr wrap="square" lIns="0" tIns="0" rIns="0" bIns="0" anchor="t">
            <a:spAutoFit/>
          </a:bodyPr>
          <a:lstStyle/>
          <a:p>
            <a:pPr algn="ctr">
              <a:spcAft>
                <a:spcPts val="300"/>
              </a:spcAft>
            </a:pPr>
            <a:r>
              <a:rPr sz="2000" b="1" i="0">
                <a:solidFill>
                  <a:srgbClr val="000000"/>
                </a:solidFill>
                <a:latin typeface="Helvetica Neue"/>
                <a:ea typeface="Helvetica Neue"/>
                <a:cs typeface="Helvetica Neue"/>
              </a:rPr>
              <a:t>Fintech app</a:t>
            </a:r>
          </a:p>
          <a:p>
            <a:pPr algn="ctr">
              <a:spcAft>
                <a:spcPts val="300"/>
              </a:spcAft>
            </a:pPr>
            <a:r>
              <a:rPr sz="1500" b="0" i="0">
                <a:solidFill>
                  <a:srgbClr val="404040"/>
                </a:solidFill>
                <a:latin typeface="Helvetica Neue"/>
                <a:ea typeface="Helvetica Neue"/>
                <a:cs typeface="Helvetica Neue"/>
              </a:rPr>
              <a:t>Owns the customer relationship</a:t>
            </a:r>
          </a:p>
        </p:txBody>
      </p:sp>
      <p:cxnSp>
        <p:nvCxnSpPr>
          <p:cNvPr id="10" name="Flow arrow 2"/>
          <p:cNvCxnSpPr/>
          <p:nvPr/>
        </p:nvCxnSpPr>
        <p:spPr>
          <a:xfrm>
            <a:off x="8275320" y="4114800"/>
            <a:ext cx="1051560" cy="0"/>
          </a:xfrm>
          <a:prstGeom prst="line">
            <a:avLst/>
          </a:prstGeom>
          <a:ln w="4445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Flow 3 card"/>
          <p:cNvSpPr/>
          <p:nvPr/>
        </p:nvSpPr>
        <p:spPr>
          <a:xfrm>
            <a:off x="9372600" y="2743200"/>
            <a:ext cx="2926080" cy="27889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2" name="Flow 3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332719" y="3017520"/>
            <a:ext cx="1005840" cy="1005840"/>
          </a:xfrm>
          <a:prstGeom prst="rect">
            <a:avLst/>
          </a:prstGeom>
        </p:spPr>
      </p:pic>
      <p:sp>
        <p:nvSpPr>
          <p:cNvPr id="13" name="Flow 3 text"/>
          <p:cNvSpPr txBox="1"/>
          <p:nvPr/>
        </p:nvSpPr>
        <p:spPr>
          <a:xfrm>
            <a:off x="9509760" y="4160520"/>
            <a:ext cx="2651760" cy="1280160"/>
          </a:xfrm>
          <a:prstGeom prst="rect">
            <a:avLst/>
          </a:prstGeom>
          <a:noFill/>
        </p:spPr>
        <p:txBody>
          <a:bodyPr wrap="square" lIns="0" tIns="0" rIns="0" bIns="0" anchor="t">
            <a:spAutoFit/>
          </a:bodyPr>
          <a:lstStyle/>
          <a:p>
            <a:pPr algn="ctr">
              <a:spcAft>
                <a:spcPts val="300"/>
              </a:spcAft>
            </a:pPr>
            <a:r>
              <a:rPr sz="2000" b="1" i="0">
                <a:solidFill>
                  <a:srgbClr val="000000"/>
                </a:solidFill>
                <a:latin typeface="Helvetica Neue"/>
                <a:ea typeface="Helvetica Neue"/>
                <a:cs typeface="Helvetica Neue"/>
              </a:rPr>
              <a:t>Middleware</a:t>
            </a:r>
          </a:p>
          <a:p>
            <a:pPr algn="ctr">
              <a:spcAft>
                <a:spcPts val="300"/>
              </a:spcAft>
            </a:pPr>
            <a:r>
              <a:rPr sz="1500" b="0" i="0">
                <a:solidFill>
                  <a:srgbClr val="404040"/>
                </a:solidFill>
                <a:latin typeface="Helvetica Neue"/>
                <a:ea typeface="Helvetica Neue"/>
                <a:cs typeface="Helvetica Neue"/>
              </a:rPr>
              <a:t>Keeps the ledger (sometimes)</a:t>
            </a:r>
          </a:p>
        </p:txBody>
      </p:sp>
      <p:cxnSp>
        <p:nvCxnSpPr>
          <p:cNvPr id="14" name="Flow arrow 3"/>
          <p:cNvCxnSpPr/>
          <p:nvPr/>
        </p:nvCxnSpPr>
        <p:spPr>
          <a:xfrm>
            <a:off x="12344400" y="4114800"/>
            <a:ext cx="1051560" cy="0"/>
          </a:xfrm>
          <a:prstGeom prst="line">
            <a:avLst/>
          </a:prstGeom>
          <a:ln w="4445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Flow 4 card"/>
          <p:cNvSpPr/>
          <p:nvPr/>
        </p:nvSpPr>
        <p:spPr>
          <a:xfrm>
            <a:off x="13441680" y="2743200"/>
            <a:ext cx="2926080" cy="2788920"/>
          </a:xfrm>
          <a:prstGeom prst="roundRect">
            <a:avLst/>
          </a:prstGeom>
          <a:solidFill>
            <a:srgbClr val="EEF2F8"/>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6" name="Flow 4 icon"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401800" y="3017520"/>
            <a:ext cx="1005840" cy="1005840"/>
          </a:xfrm>
          <a:prstGeom prst="rect">
            <a:avLst/>
          </a:prstGeom>
        </p:spPr>
      </p:pic>
      <p:sp>
        <p:nvSpPr>
          <p:cNvPr id="17" name="Flow 4 text"/>
          <p:cNvSpPr txBox="1"/>
          <p:nvPr/>
        </p:nvSpPr>
        <p:spPr>
          <a:xfrm>
            <a:off x="13578840" y="4160520"/>
            <a:ext cx="2651760" cy="1280160"/>
          </a:xfrm>
          <a:prstGeom prst="rect">
            <a:avLst/>
          </a:prstGeom>
          <a:noFill/>
        </p:spPr>
        <p:txBody>
          <a:bodyPr wrap="square" lIns="0" tIns="0" rIns="0" bIns="0" anchor="t">
            <a:spAutoFit/>
          </a:bodyPr>
          <a:lstStyle/>
          <a:p>
            <a:pPr algn="ctr">
              <a:spcAft>
                <a:spcPts val="300"/>
              </a:spcAft>
            </a:pPr>
            <a:r>
              <a:rPr sz="2000" b="1" i="0">
                <a:solidFill>
                  <a:srgbClr val="000000"/>
                </a:solidFill>
                <a:latin typeface="Helvetica Neue"/>
                <a:ea typeface="Helvetica Neue"/>
                <a:cs typeface="Helvetica Neue"/>
              </a:rPr>
              <a:t>Partner bank</a:t>
            </a:r>
          </a:p>
          <a:p>
            <a:pPr algn="ctr">
              <a:spcAft>
                <a:spcPts val="300"/>
              </a:spcAft>
            </a:pPr>
            <a:r>
              <a:rPr sz="1500" b="0" i="0">
                <a:solidFill>
                  <a:srgbClr val="404040"/>
                </a:solidFill>
                <a:latin typeface="Helvetica Neue"/>
                <a:ea typeface="Helvetica Neue"/>
                <a:cs typeface="Helvetica Neue"/>
              </a:rPr>
              <a:t>Holds the money</a:t>
            </a:r>
          </a:p>
        </p:txBody>
      </p:sp>
      <p:sp>
        <p:nvSpPr>
          <p:cNvPr id="18" name="API label"/>
          <p:cNvSpPr txBox="1"/>
          <p:nvPr/>
        </p:nvSpPr>
        <p:spPr>
          <a:xfrm>
            <a:off x="3886200" y="3520440"/>
            <a:ext cx="1097280" cy="365760"/>
          </a:xfrm>
          <a:prstGeom prst="rect">
            <a:avLst/>
          </a:prstGeom>
          <a:noFill/>
        </p:spPr>
        <p:txBody>
          <a:bodyPr wrap="square" lIns="0" tIns="0" rIns="0" bIns="0" anchor="t">
            <a:spAutoFit/>
          </a:bodyPr>
          <a:lstStyle/>
          <a:p>
            <a:pPr algn="ctr">
              <a:spcAft>
                <a:spcPts val="600"/>
              </a:spcAft>
            </a:pPr>
            <a:r>
              <a:rPr sz="1400" b="1" i="0">
                <a:solidFill>
                  <a:srgbClr val="ED7D31"/>
                </a:solidFill>
                <a:latin typeface="Helvetica Neue"/>
                <a:ea typeface="Helvetica Neue"/>
                <a:cs typeface="Helvetica Neue"/>
              </a:rPr>
              <a:t>app</a:t>
            </a:r>
          </a:p>
        </p:txBody>
      </p:sp>
      <p:sp>
        <p:nvSpPr>
          <p:cNvPr id="19" name="API label 2"/>
          <p:cNvSpPr txBox="1"/>
          <p:nvPr/>
        </p:nvSpPr>
        <p:spPr>
          <a:xfrm>
            <a:off x="7955279" y="3520440"/>
            <a:ext cx="1097280" cy="365760"/>
          </a:xfrm>
          <a:prstGeom prst="rect">
            <a:avLst/>
          </a:prstGeom>
          <a:noFill/>
        </p:spPr>
        <p:txBody>
          <a:bodyPr wrap="square" lIns="0" tIns="0" rIns="0" bIns="0" anchor="t">
            <a:spAutoFit/>
          </a:bodyPr>
          <a:lstStyle/>
          <a:p>
            <a:pPr algn="ctr">
              <a:spcAft>
                <a:spcPts val="600"/>
              </a:spcAft>
            </a:pPr>
            <a:r>
              <a:rPr sz="1400" b="1" i="0">
                <a:solidFill>
                  <a:srgbClr val="ED7D31"/>
                </a:solidFill>
                <a:latin typeface="Helvetica Neue"/>
                <a:ea typeface="Helvetica Neue"/>
                <a:cs typeface="Helvetica Neue"/>
              </a:rPr>
              <a:t>API</a:t>
            </a:r>
          </a:p>
        </p:txBody>
      </p:sp>
      <p:sp>
        <p:nvSpPr>
          <p:cNvPr id="20" name="API label 3"/>
          <p:cNvSpPr txBox="1"/>
          <p:nvPr/>
        </p:nvSpPr>
        <p:spPr>
          <a:xfrm>
            <a:off x="12024360" y="3520440"/>
            <a:ext cx="1097280" cy="365760"/>
          </a:xfrm>
          <a:prstGeom prst="rect">
            <a:avLst/>
          </a:prstGeom>
          <a:noFill/>
        </p:spPr>
        <p:txBody>
          <a:bodyPr wrap="square" lIns="0" tIns="0" rIns="0" bIns="0" anchor="t">
            <a:spAutoFit/>
          </a:bodyPr>
          <a:lstStyle/>
          <a:p>
            <a:pPr algn="ctr">
              <a:spcAft>
                <a:spcPts val="600"/>
              </a:spcAft>
            </a:pPr>
            <a:r>
              <a:rPr sz="1400" b="1" i="0">
                <a:solidFill>
                  <a:srgbClr val="ED7D31"/>
                </a:solidFill>
                <a:latin typeface="Helvetica Neue"/>
                <a:ea typeface="Helvetica Neue"/>
                <a:cs typeface="Helvetica Neue"/>
              </a:rPr>
              <a:t>API</a:t>
            </a:r>
          </a:p>
        </p:txBody>
      </p:sp>
      <p:sp>
        <p:nvSpPr>
          <p:cNvPr id="21" name="Fintech 1"/>
          <p:cNvSpPr/>
          <p:nvPr/>
        </p:nvSpPr>
        <p:spPr>
          <a:xfrm>
            <a:off x="1257300" y="5852160"/>
            <a:ext cx="5044440" cy="26060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2" name="Fintech 1 text"/>
          <p:cNvSpPr txBox="1"/>
          <p:nvPr/>
        </p:nvSpPr>
        <p:spPr>
          <a:xfrm>
            <a:off x="1513332" y="6053328"/>
            <a:ext cx="4532376" cy="2240280"/>
          </a:xfrm>
          <a:prstGeom prst="rect">
            <a:avLst/>
          </a:prstGeom>
          <a:noFill/>
        </p:spPr>
        <p:txBody>
          <a:bodyPr wrap="square" lIns="0" tIns="0" rIns="0" bIns="0" anchor="t">
            <a:spAutoFit/>
          </a:bodyPr>
          <a:lstStyle/>
          <a:p>
            <a:pPr algn="l">
              <a:spcAft>
                <a:spcPts val="700"/>
              </a:spcAft>
            </a:pPr>
            <a:r>
              <a:rPr sz="2200" b="1" i="0">
                <a:solidFill>
                  <a:srgbClr val="000000"/>
                </a:solidFill>
                <a:latin typeface="Helvetica Neue"/>
                <a:ea typeface="Helvetica Neue"/>
                <a:cs typeface="Helvetica Neue"/>
              </a:rPr>
              <a:t>New doors</a:t>
            </a:r>
          </a:p>
          <a:p>
            <a:pPr algn="l">
              <a:spcAft>
                <a:spcPts val="700"/>
              </a:spcAft>
            </a:pPr>
            <a:r>
              <a:rPr sz="1900" b="0" i="0">
                <a:solidFill>
                  <a:srgbClr val="000000"/>
                </a:solidFill>
                <a:latin typeface="Helvetica Neue"/>
                <a:ea typeface="Helvetica Neue"/>
                <a:cs typeface="Helvetica Neue"/>
              </a:rPr>
              <a:t>APIs reachable from the internet, protected by keys and tokens instead of a VPN</a:t>
            </a:r>
          </a:p>
        </p:txBody>
      </p:sp>
      <p:sp>
        <p:nvSpPr>
          <p:cNvPr id="23" name="Fintech 2"/>
          <p:cNvSpPr/>
          <p:nvPr/>
        </p:nvSpPr>
        <p:spPr>
          <a:xfrm>
            <a:off x="6621780" y="5852160"/>
            <a:ext cx="5044440" cy="26060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4" name="Fintech 2 text"/>
          <p:cNvSpPr txBox="1"/>
          <p:nvPr/>
        </p:nvSpPr>
        <p:spPr>
          <a:xfrm>
            <a:off x="6877812" y="6053328"/>
            <a:ext cx="4532376" cy="2240280"/>
          </a:xfrm>
          <a:prstGeom prst="rect">
            <a:avLst/>
          </a:prstGeom>
          <a:noFill/>
        </p:spPr>
        <p:txBody>
          <a:bodyPr wrap="square" lIns="0" tIns="0" rIns="0" bIns="0" anchor="t">
            <a:spAutoFit/>
          </a:bodyPr>
          <a:lstStyle/>
          <a:p>
            <a:pPr algn="l">
              <a:spcAft>
                <a:spcPts val="700"/>
              </a:spcAft>
            </a:pPr>
            <a:r>
              <a:rPr sz="2200" b="1" i="0">
                <a:solidFill>
                  <a:srgbClr val="000000"/>
                </a:solidFill>
                <a:latin typeface="Helvetica Neue"/>
                <a:ea typeface="Helvetica Neue"/>
                <a:cs typeface="Helvetica Neue"/>
              </a:rPr>
              <a:t>Someone else's traffic</a:t>
            </a:r>
          </a:p>
          <a:p>
            <a:pPr algn="l">
              <a:spcAft>
                <a:spcPts val="700"/>
              </a:spcAft>
            </a:pPr>
            <a:r>
              <a:rPr sz="1900" b="0" i="0">
                <a:solidFill>
                  <a:srgbClr val="000000"/>
                </a:solidFill>
                <a:latin typeface="Helvetica Neue"/>
                <a:ea typeface="Helvetica Neue"/>
                <a:cs typeface="Helvetica Neue"/>
              </a:rPr>
              <a:t>Volume and peaks driven by the fintech's growth and marketing, not the bank's</a:t>
            </a:r>
          </a:p>
        </p:txBody>
      </p:sp>
      <p:sp>
        <p:nvSpPr>
          <p:cNvPr id="25" name="Fintech 3"/>
          <p:cNvSpPr/>
          <p:nvPr/>
        </p:nvSpPr>
        <p:spPr>
          <a:xfrm>
            <a:off x="11986260" y="5852160"/>
            <a:ext cx="5044440" cy="26060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6" name="Fintech 3 text"/>
          <p:cNvSpPr txBox="1"/>
          <p:nvPr/>
        </p:nvSpPr>
        <p:spPr>
          <a:xfrm>
            <a:off x="12242291" y="6053328"/>
            <a:ext cx="4532376" cy="2240280"/>
          </a:xfrm>
          <a:prstGeom prst="rect">
            <a:avLst/>
          </a:prstGeom>
          <a:noFill/>
        </p:spPr>
        <p:txBody>
          <a:bodyPr wrap="square" lIns="0" tIns="0" rIns="0" bIns="0" anchor="t">
            <a:spAutoFit/>
          </a:bodyPr>
          <a:lstStyle/>
          <a:p>
            <a:pPr algn="l">
              <a:spcAft>
                <a:spcPts val="700"/>
              </a:spcAft>
            </a:pPr>
            <a:r>
              <a:rPr sz="2200" b="1" i="0">
                <a:solidFill>
                  <a:srgbClr val="000000"/>
                </a:solidFill>
                <a:latin typeface="Helvetica Neue"/>
                <a:ea typeface="Helvetica Neue"/>
                <a:cs typeface="Helvetica Neue"/>
              </a:rPr>
              <a:t>Who has the ledger?</a:t>
            </a:r>
          </a:p>
          <a:p>
            <a:pPr algn="l">
              <a:spcAft>
                <a:spcPts val="700"/>
              </a:spcAft>
            </a:pPr>
            <a:r>
              <a:rPr sz="1900" b="0" i="0">
                <a:solidFill>
                  <a:srgbClr val="000000"/>
                </a:solidFill>
                <a:latin typeface="Helvetica Neue"/>
                <a:ea typeface="Helvetica Neue"/>
                <a:cs typeface="Helvetica Neue"/>
              </a:rPr>
              <a:t>If the middleware holds the records, the bank may not know whose money it holds</a:t>
            </a:r>
          </a:p>
        </p:txBody>
      </p:sp>
      <p:sp>
        <p:nvSpPr>
          <p:cNvPr id="27" name="Synapse card"/>
          <p:cNvSpPr/>
          <p:nvPr/>
        </p:nvSpPr>
        <p:spPr>
          <a:xfrm>
            <a:off x="1257300" y="8732520"/>
            <a:ext cx="15773400" cy="82296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8" name="Synapse text"/>
          <p:cNvSpPr txBox="1"/>
          <p:nvPr/>
        </p:nvSpPr>
        <p:spPr>
          <a:xfrm>
            <a:off x="1554480" y="8778240"/>
            <a:ext cx="15179040" cy="731520"/>
          </a:xfrm>
          <a:prstGeom prst="rect">
            <a:avLst/>
          </a:prstGeom>
          <a:noFill/>
        </p:spPr>
        <p:txBody>
          <a:bodyPr wrap="square" lIns="0" tIns="0" rIns="0" bIns="0" anchor="ctr">
            <a:spAutoFit/>
          </a:bodyPr>
          <a:lstStyle/>
          <a:p>
            <a:pPr algn="l">
              <a:spcAft>
                <a:spcPts val="600"/>
              </a:spcAft>
            </a:pPr>
            <a:r>
              <a:rPr sz="1700" b="1" i="0">
                <a:solidFill>
                  <a:srgbClr val="000000"/>
                </a:solidFill>
                <a:latin typeface="Helvetica Neue"/>
                <a:ea typeface="Helvetica Neue"/>
                <a:cs typeface="Helvetica Neue"/>
              </a:rPr>
              <a:t>Synapse, 2024: the middleware firm failed, its records didn't match the banks', and over 100,000 customers couldn't reach their money for months.</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Carriers and ISPs Are Vendors Too: Network SLAs</a:t>
            </a:r>
          </a:p>
        </p:txBody>
      </p:sp>
      <p:sp>
        <p:nvSpPr>
          <p:cNvPr id="3" name="Nines heading"/>
          <p:cNvSpPr txBox="1"/>
          <p:nvPr/>
        </p:nvSpPr>
        <p:spPr>
          <a:xfrm>
            <a:off x="1257300" y="2697480"/>
            <a:ext cx="7315200" cy="45720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What “the nines” allow</a:t>
            </a:r>
          </a:p>
        </p:txBody>
      </p:sp>
      <p:sp>
        <p:nvSpPr>
          <p:cNvPr id="4" name="Nines 1 pct"/>
          <p:cNvSpPr txBox="1"/>
          <p:nvPr/>
        </p:nvSpPr>
        <p:spPr>
          <a:xfrm>
            <a:off x="1257300" y="3383280"/>
            <a:ext cx="2651760" cy="731520"/>
          </a:xfrm>
          <a:prstGeom prst="rect">
            <a:avLst/>
          </a:prstGeom>
          <a:noFill/>
        </p:spPr>
        <p:txBody>
          <a:bodyPr wrap="square" lIns="0" tIns="0" rIns="0" bIns="0" anchor="ctr">
            <a:spAutoFit/>
          </a:bodyPr>
          <a:lstStyle/>
          <a:p>
            <a:pPr algn="l">
              <a:spcAft>
                <a:spcPts val="600"/>
              </a:spcAft>
            </a:pPr>
            <a:r>
              <a:rPr sz="3600" b="1" i="0">
                <a:solidFill>
                  <a:srgbClr val="2F75B5"/>
                </a:solidFill>
                <a:latin typeface="Helvetica Neue"/>
                <a:ea typeface="Helvetica Neue"/>
                <a:cs typeface="Helvetica Neue"/>
              </a:rPr>
              <a:t>99.9%</a:t>
            </a:r>
          </a:p>
        </p:txBody>
      </p:sp>
      <p:sp>
        <p:nvSpPr>
          <p:cNvPr id="5" name="Nines 1 bar"/>
          <p:cNvSpPr/>
          <p:nvPr/>
        </p:nvSpPr>
        <p:spPr>
          <a:xfrm>
            <a:off x="4023360" y="3520440"/>
            <a:ext cx="4572000" cy="457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6" name="Nines 1 text"/>
          <p:cNvSpPr txBox="1"/>
          <p:nvPr/>
        </p:nvSpPr>
        <p:spPr>
          <a:xfrm>
            <a:off x="4023360" y="4069080"/>
            <a:ext cx="4572000" cy="411480"/>
          </a:xfrm>
          <a:prstGeom prst="rect">
            <a:avLst/>
          </a:prstGeom>
          <a:noFill/>
        </p:spPr>
        <p:txBody>
          <a:bodyPr wrap="square" lIns="0" tIns="0" rIns="0" bIns="0" anchor="t">
            <a:spAutoFit/>
          </a:bodyPr>
          <a:lstStyle/>
          <a:p>
            <a:pPr algn="l">
              <a:spcAft>
                <a:spcPts val="600"/>
              </a:spcAft>
            </a:pPr>
            <a:r>
              <a:rPr sz="1700" b="0" i="0">
                <a:solidFill>
                  <a:srgbClr val="000000"/>
                </a:solidFill>
                <a:latin typeface="Helvetica Neue"/>
                <a:ea typeface="Helvetica Neue"/>
                <a:cs typeface="Helvetica Neue"/>
              </a:rPr>
              <a:t>about 8.8 hours a year down</a:t>
            </a:r>
          </a:p>
        </p:txBody>
      </p:sp>
      <p:sp>
        <p:nvSpPr>
          <p:cNvPr id="7" name="Nines 2 pct"/>
          <p:cNvSpPr txBox="1"/>
          <p:nvPr/>
        </p:nvSpPr>
        <p:spPr>
          <a:xfrm>
            <a:off x="1257300" y="4800600"/>
            <a:ext cx="2651760" cy="731520"/>
          </a:xfrm>
          <a:prstGeom prst="rect">
            <a:avLst/>
          </a:prstGeom>
          <a:noFill/>
        </p:spPr>
        <p:txBody>
          <a:bodyPr wrap="square" lIns="0" tIns="0" rIns="0" bIns="0" anchor="ctr">
            <a:spAutoFit/>
          </a:bodyPr>
          <a:lstStyle/>
          <a:p>
            <a:pPr algn="l">
              <a:spcAft>
                <a:spcPts val="600"/>
              </a:spcAft>
            </a:pPr>
            <a:r>
              <a:rPr sz="3600" b="1" i="0">
                <a:solidFill>
                  <a:srgbClr val="2F75B5"/>
                </a:solidFill>
                <a:latin typeface="Helvetica Neue"/>
                <a:ea typeface="Helvetica Neue"/>
                <a:cs typeface="Helvetica Neue"/>
              </a:rPr>
              <a:t>99.99%</a:t>
            </a:r>
          </a:p>
        </p:txBody>
      </p:sp>
      <p:sp>
        <p:nvSpPr>
          <p:cNvPr id="8" name="Nines 2 bar"/>
          <p:cNvSpPr/>
          <p:nvPr/>
        </p:nvSpPr>
        <p:spPr>
          <a:xfrm>
            <a:off x="4023360" y="4937760"/>
            <a:ext cx="458931" cy="457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9" name="Nines 2 text"/>
          <p:cNvSpPr txBox="1"/>
          <p:nvPr/>
        </p:nvSpPr>
        <p:spPr>
          <a:xfrm>
            <a:off x="4023360" y="5486400"/>
            <a:ext cx="4572000" cy="411480"/>
          </a:xfrm>
          <a:prstGeom prst="rect">
            <a:avLst/>
          </a:prstGeom>
          <a:noFill/>
        </p:spPr>
        <p:txBody>
          <a:bodyPr wrap="square" lIns="0" tIns="0" rIns="0" bIns="0" anchor="t">
            <a:spAutoFit/>
          </a:bodyPr>
          <a:lstStyle/>
          <a:p>
            <a:pPr algn="l">
              <a:spcAft>
                <a:spcPts val="600"/>
              </a:spcAft>
            </a:pPr>
            <a:r>
              <a:rPr sz="1700" b="0" i="0">
                <a:solidFill>
                  <a:srgbClr val="000000"/>
                </a:solidFill>
                <a:latin typeface="Helvetica Neue"/>
                <a:ea typeface="Helvetica Neue"/>
                <a:cs typeface="Helvetica Neue"/>
              </a:rPr>
              <a:t>about 53 minutes a year down</a:t>
            </a:r>
          </a:p>
        </p:txBody>
      </p:sp>
      <p:sp>
        <p:nvSpPr>
          <p:cNvPr id="10" name="Nines 3 pct"/>
          <p:cNvSpPr txBox="1"/>
          <p:nvPr/>
        </p:nvSpPr>
        <p:spPr>
          <a:xfrm>
            <a:off x="1257300" y="6217920"/>
            <a:ext cx="2651760" cy="731520"/>
          </a:xfrm>
          <a:prstGeom prst="rect">
            <a:avLst/>
          </a:prstGeom>
          <a:noFill/>
        </p:spPr>
        <p:txBody>
          <a:bodyPr wrap="square" lIns="0" tIns="0" rIns="0" bIns="0" anchor="ctr">
            <a:spAutoFit/>
          </a:bodyPr>
          <a:lstStyle/>
          <a:p>
            <a:pPr algn="l">
              <a:spcAft>
                <a:spcPts val="600"/>
              </a:spcAft>
            </a:pPr>
            <a:r>
              <a:rPr sz="3600" b="1" i="0">
                <a:solidFill>
                  <a:srgbClr val="2F75B5"/>
                </a:solidFill>
                <a:latin typeface="Helvetica Neue"/>
                <a:ea typeface="Helvetica Neue"/>
                <a:cs typeface="Helvetica Neue"/>
              </a:rPr>
              <a:t>99.999%</a:t>
            </a:r>
          </a:p>
        </p:txBody>
      </p:sp>
      <p:sp>
        <p:nvSpPr>
          <p:cNvPr id="11" name="Nines 3 bar"/>
          <p:cNvSpPr/>
          <p:nvPr/>
        </p:nvSpPr>
        <p:spPr>
          <a:xfrm>
            <a:off x="4023360" y="6355080"/>
            <a:ext cx="109728" cy="457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2" name="Nines 3 text"/>
          <p:cNvSpPr txBox="1"/>
          <p:nvPr/>
        </p:nvSpPr>
        <p:spPr>
          <a:xfrm>
            <a:off x="4023360" y="6903720"/>
            <a:ext cx="4572000" cy="411480"/>
          </a:xfrm>
          <a:prstGeom prst="rect">
            <a:avLst/>
          </a:prstGeom>
          <a:noFill/>
        </p:spPr>
        <p:txBody>
          <a:bodyPr wrap="square" lIns="0" tIns="0" rIns="0" bIns="0" anchor="t">
            <a:spAutoFit/>
          </a:bodyPr>
          <a:lstStyle/>
          <a:p>
            <a:pPr algn="l">
              <a:spcAft>
                <a:spcPts val="600"/>
              </a:spcAft>
            </a:pPr>
            <a:r>
              <a:rPr sz="1700" b="0" i="0">
                <a:solidFill>
                  <a:srgbClr val="000000"/>
                </a:solidFill>
                <a:latin typeface="Helvetica Neue"/>
                <a:ea typeface="Helvetica Neue"/>
                <a:cs typeface="Helvetica Neue"/>
              </a:rPr>
              <a:t>about 5 minutes a year down</a:t>
            </a:r>
          </a:p>
        </p:txBody>
      </p:sp>
      <p:sp>
        <p:nvSpPr>
          <p:cNvPr id="13" name="Nines note"/>
          <p:cNvSpPr txBox="1"/>
          <p:nvPr/>
        </p:nvSpPr>
        <p:spPr>
          <a:xfrm>
            <a:off x="1257300" y="7635240"/>
            <a:ext cx="7589520" cy="822960"/>
          </a:xfrm>
          <a:prstGeom prst="rect">
            <a:avLst/>
          </a:prstGeom>
          <a:noFill/>
        </p:spPr>
        <p:txBody>
          <a:bodyPr wrap="square" lIns="0" tIns="0" rIns="0" bIns="0" anchor="t">
            <a:spAutoFit/>
          </a:bodyPr>
          <a:lstStyle/>
          <a:p>
            <a:pPr algn="l">
              <a:spcAft>
                <a:spcPts val="600"/>
              </a:spcAft>
            </a:pPr>
            <a:r>
              <a:rPr sz="1700" b="1" i="0">
                <a:solidFill>
                  <a:srgbClr val="000000"/>
                </a:solidFill>
                <a:latin typeface="Helvetica Neue"/>
                <a:ea typeface="Helvetica Neue"/>
                <a:cs typeface="Helvetica Neue"/>
              </a:rPr>
              <a:t>99.9% is about 44 minutes a month: an afternoon of a dark branch, every quarter, inside the SLA.</a:t>
            </a:r>
          </a:p>
        </p:txBody>
      </p:sp>
      <p:sp>
        <p:nvSpPr>
          <p:cNvPr id="14" name="SLA panel"/>
          <p:cNvSpPr/>
          <p:nvPr/>
        </p:nvSpPr>
        <p:spPr>
          <a:xfrm>
            <a:off x="9509760" y="2697480"/>
            <a:ext cx="7520940" cy="58064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5" name="SLA list"/>
          <p:cNvSpPr txBox="1"/>
          <p:nvPr/>
        </p:nvSpPr>
        <p:spPr>
          <a:xfrm>
            <a:off x="9875520" y="2926080"/>
            <a:ext cx="6858000" cy="5486400"/>
          </a:xfrm>
          <a:prstGeom prst="rect">
            <a:avLst/>
          </a:prstGeom>
          <a:noFill/>
        </p:spPr>
        <p:txBody>
          <a:bodyPr wrap="square" lIns="0" tIns="0" rIns="0" bIns="0">
            <a:spAutoFit/>
          </a:bodyPr>
          <a:lstStyle/>
          <a:p>
            <a:pPr>
              <a:spcAft>
                <a:spcPts val="800"/>
              </a:spcAft>
            </a:pPr>
            <a:r>
              <a:rPr sz="2200" b="1" i="0">
                <a:solidFill>
                  <a:srgbClr val="000000"/>
                </a:solidFill>
                <a:latin typeface="Helvetica Neue"/>
                <a:ea typeface="Helvetica Neue"/>
                <a:cs typeface="Helvetica Neue"/>
              </a:rPr>
              <a:t>Read the SLA for</a:t>
            </a:r>
          </a:p>
          <a:p>
            <a:pPr marL="274320" indent="-274320">
              <a:spcAft>
                <a:spcPts val="600"/>
              </a:spcAft>
              <a:buFont typeface="Arial"/>
              <a:buChar char="•"/>
            </a:pPr>
            <a:r>
              <a:rPr sz="1800" b="0" i="0">
                <a:solidFill>
                  <a:srgbClr val="000000"/>
                </a:solidFill>
                <a:latin typeface="Helvetica Neue"/>
                <a:ea typeface="Helvetica Neue"/>
                <a:cs typeface="Helvetica Neue"/>
              </a:rPr>
              <a:t>How availability is measured, and whether maintenance counts</a:t>
            </a:r>
          </a:p>
          <a:p>
            <a:pPr marL="274320" indent="-274320">
              <a:spcAft>
                <a:spcPts val="600"/>
              </a:spcAft>
              <a:buFont typeface="Arial"/>
              <a:buChar char="•"/>
            </a:pPr>
            <a:r>
              <a:rPr sz="1800" b="0" i="0">
                <a:solidFill>
                  <a:srgbClr val="000000"/>
                </a:solidFill>
                <a:latin typeface="Helvetica Neue"/>
                <a:ea typeface="Helvetica Neue"/>
                <a:cs typeface="Helvetica Neue"/>
              </a:rPr>
              <a:t>Time to repair, not just time to respond</a:t>
            </a:r>
          </a:p>
          <a:p>
            <a:pPr marL="274320" indent="-274320">
              <a:spcAft>
                <a:spcPts val="600"/>
              </a:spcAft>
              <a:buFont typeface="Arial"/>
              <a:buChar char="•"/>
            </a:pPr>
            <a:r>
              <a:rPr sz="1800" b="0" i="0">
                <a:solidFill>
                  <a:srgbClr val="000000"/>
                </a:solidFill>
                <a:latin typeface="Helvetica Neue"/>
                <a:ea typeface="Helvetica Neue"/>
                <a:cs typeface="Helvetica Neue"/>
              </a:rPr>
              <a:t>Latency, jitter and packet loss, for voice and real-time payments</a:t>
            </a:r>
          </a:p>
          <a:p>
            <a:pPr marL="274320" indent="-274320">
              <a:spcAft>
                <a:spcPts val="600"/>
              </a:spcAft>
              <a:buFont typeface="Arial"/>
              <a:buChar char="•"/>
            </a:pPr>
            <a:r>
              <a:rPr sz="1800" b="0" i="0">
                <a:solidFill>
                  <a:srgbClr val="000000"/>
                </a:solidFill>
                <a:latin typeface="Helvetica Neue"/>
                <a:ea typeface="Helvetica Neue"/>
                <a:cs typeface="Helvetica Neue"/>
              </a:rPr>
              <a:t>How outages are reported, and how fast</a:t>
            </a:r>
          </a:p>
          <a:p>
            <a:pPr marL="274320" indent="-274320">
              <a:spcAft>
                <a:spcPts val="600"/>
              </a:spcAft>
              <a:buFont typeface="Arial"/>
              <a:buChar char="•"/>
            </a:pPr>
            <a:r>
              <a:rPr sz="1800" b="0" i="0">
                <a:solidFill>
                  <a:srgbClr val="000000"/>
                </a:solidFill>
                <a:latin typeface="Helvetica Neue"/>
                <a:ea typeface="Helvetica Neue"/>
                <a:cs typeface="Helvetica Neue"/>
              </a:rPr>
              <a:t>Credits: a slice of the bill, not compensation</a:t>
            </a:r>
          </a:p>
          <a:p>
            <a:pPr marL="274320" indent="-274320">
              <a:spcAft>
                <a:spcPts val="600"/>
              </a:spcAft>
              <a:buFont typeface="Arial"/>
              <a:buChar char="•"/>
            </a:pPr>
            <a:r>
              <a:rPr sz="1800" b="0" i="0">
                <a:solidFill>
                  <a:srgbClr val="000000"/>
                </a:solidFill>
                <a:latin typeface="Helvetica Neue"/>
                <a:ea typeface="Helvetica Neue"/>
                <a:cs typeface="Helvetica Neue"/>
              </a:rPr>
              <a:t>Route diversity, in writing, with a map</a:t>
            </a:r>
          </a:p>
        </p:txBody>
      </p:sp>
      <p:sp>
        <p:nvSpPr>
          <p:cNvPr id="16" name="Carrier banner"/>
          <p:cNvSpPr/>
          <p:nvPr/>
        </p:nvSpPr>
        <p:spPr>
          <a:xfrm>
            <a:off x="1257300" y="8732520"/>
            <a:ext cx="15773400" cy="77724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7" name="Carrier banner text"/>
          <p:cNvSpPr txBox="1"/>
          <p:nvPr/>
        </p:nvSpPr>
        <p:spPr>
          <a:xfrm>
            <a:off x="1554480" y="8778240"/>
            <a:ext cx="15179040" cy="685800"/>
          </a:xfrm>
          <a:prstGeom prst="rect">
            <a:avLst/>
          </a:prstGeom>
          <a:noFill/>
        </p:spPr>
        <p:txBody>
          <a:bodyPr wrap="square" lIns="0" tIns="0" rIns="0" bIns="0" anchor="ctr">
            <a:spAutoFit/>
          </a:bodyPr>
          <a:lstStyle/>
          <a:p>
            <a:pPr algn="ctr">
              <a:spcAft>
                <a:spcPts val="600"/>
              </a:spcAft>
            </a:pPr>
            <a:r>
              <a:rPr sz="2200" b="1" i="0">
                <a:solidFill>
                  <a:srgbClr val="000000"/>
                </a:solidFill>
                <a:latin typeface="Helvetica Neue"/>
                <a:ea typeface="Helvetica Neue"/>
                <a:cs typeface="Helvetica Neue"/>
              </a:rPr>
              <a:t>Is the carrier on the bank's vendor list?</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Concentration Risk: When Every Bank Uses the Same Few Providers</a:t>
            </a:r>
          </a:p>
        </p:txBody>
      </p:sp>
      <p:pic>
        <p:nvPicPr>
          <p:cNvPr id="3" name="Small bank 1"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85900" y="2720340"/>
            <a:ext cx="685800" cy="685800"/>
          </a:xfrm>
          <a:prstGeom prst="rect">
            <a:avLst/>
          </a:prstGeom>
        </p:spPr>
      </p:pic>
      <p:cxnSp>
        <p:nvCxnSpPr>
          <p:cNvPr id="4" name="Funnel 1"/>
          <p:cNvCxnSpPr/>
          <p:nvPr/>
        </p:nvCxnSpPr>
        <p:spPr>
          <a:xfrm>
            <a:off x="2286000" y="3063240"/>
            <a:ext cx="3566160" cy="228600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pic>
        <p:nvPicPr>
          <p:cNvPr id="5" name="Small bank 2"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85900" y="3634739"/>
            <a:ext cx="685800" cy="685800"/>
          </a:xfrm>
          <a:prstGeom prst="rect">
            <a:avLst/>
          </a:prstGeom>
        </p:spPr>
      </p:pic>
      <p:cxnSp>
        <p:nvCxnSpPr>
          <p:cNvPr id="6" name="Funnel 2"/>
          <p:cNvCxnSpPr/>
          <p:nvPr/>
        </p:nvCxnSpPr>
        <p:spPr>
          <a:xfrm>
            <a:off x="2286000" y="3977639"/>
            <a:ext cx="3566160" cy="137160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pic>
        <p:nvPicPr>
          <p:cNvPr id="7" name="Small bank 3"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85900" y="4549140"/>
            <a:ext cx="685800" cy="685800"/>
          </a:xfrm>
          <a:prstGeom prst="rect">
            <a:avLst/>
          </a:prstGeom>
        </p:spPr>
      </p:pic>
      <p:cxnSp>
        <p:nvCxnSpPr>
          <p:cNvPr id="8" name="Funnel 3"/>
          <p:cNvCxnSpPr/>
          <p:nvPr/>
        </p:nvCxnSpPr>
        <p:spPr>
          <a:xfrm>
            <a:off x="2286000" y="4892040"/>
            <a:ext cx="3566160" cy="45720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pic>
        <p:nvPicPr>
          <p:cNvPr id="9" name="Small bank 4"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85900" y="5463540"/>
            <a:ext cx="685800" cy="685800"/>
          </a:xfrm>
          <a:prstGeom prst="rect">
            <a:avLst/>
          </a:prstGeom>
        </p:spPr>
      </p:pic>
      <p:cxnSp>
        <p:nvCxnSpPr>
          <p:cNvPr id="10" name="Funnel 4"/>
          <p:cNvCxnSpPr/>
          <p:nvPr/>
        </p:nvCxnSpPr>
        <p:spPr>
          <a:xfrm flipV="1">
            <a:off x="2286000" y="5349240"/>
            <a:ext cx="3566160" cy="45720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pic>
        <p:nvPicPr>
          <p:cNvPr id="11" name="Small bank 5"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85900" y="6377940"/>
            <a:ext cx="685800" cy="685800"/>
          </a:xfrm>
          <a:prstGeom prst="rect">
            <a:avLst/>
          </a:prstGeom>
        </p:spPr>
      </p:pic>
      <p:cxnSp>
        <p:nvCxnSpPr>
          <p:cNvPr id="12" name="Funnel 5"/>
          <p:cNvCxnSpPr/>
          <p:nvPr/>
        </p:nvCxnSpPr>
        <p:spPr>
          <a:xfrm flipV="1">
            <a:off x="2286000" y="5349240"/>
            <a:ext cx="3566160" cy="137160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pic>
        <p:nvPicPr>
          <p:cNvPr id="13" name="Small bank 6"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85900" y="7292340"/>
            <a:ext cx="685800" cy="685800"/>
          </a:xfrm>
          <a:prstGeom prst="rect">
            <a:avLst/>
          </a:prstGeom>
        </p:spPr>
      </p:pic>
      <p:cxnSp>
        <p:nvCxnSpPr>
          <p:cNvPr id="14" name="Funnel 6"/>
          <p:cNvCxnSpPr/>
          <p:nvPr/>
        </p:nvCxnSpPr>
        <p:spPr>
          <a:xfrm flipV="1">
            <a:off x="2286000" y="5349240"/>
            <a:ext cx="3566160" cy="228600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Provider disc"/>
          <p:cNvSpPr/>
          <p:nvPr/>
        </p:nvSpPr>
        <p:spPr>
          <a:xfrm>
            <a:off x="5760720" y="4206240"/>
            <a:ext cx="2286000" cy="2286000"/>
          </a:xfrm>
          <a:prstGeom prst="ellipse">
            <a:avLst/>
          </a:prstGeom>
          <a:solidFill>
            <a:srgbClr val="FFFFFF"/>
          </a:solidFill>
          <a:ln w="3810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6" name="Provider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09359" y="4572000"/>
            <a:ext cx="1188720" cy="1188720"/>
          </a:xfrm>
          <a:prstGeom prst="rect">
            <a:avLst/>
          </a:prstGeom>
        </p:spPr>
      </p:pic>
      <p:sp>
        <p:nvSpPr>
          <p:cNvPr id="17" name="Provider label"/>
          <p:cNvSpPr txBox="1"/>
          <p:nvPr/>
        </p:nvSpPr>
        <p:spPr>
          <a:xfrm>
            <a:off x="5486400" y="5715000"/>
            <a:ext cx="2834640" cy="365760"/>
          </a:xfrm>
          <a:prstGeom prst="rect">
            <a:avLst/>
          </a:prstGeom>
          <a:noFill/>
        </p:spPr>
        <p:txBody>
          <a:bodyPr wrap="square" lIns="0" tIns="0" rIns="0" bIns="0" anchor="t">
            <a:spAutoFit/>
          </a:bodyPr>
          <a:lstStyle/>
          <a:p>
            <a:pPr algn="ctr">
              <a:spcAft>
                <a:spcPts val="600"/>
              </a:spcAft>
            </a:pPr>
            <a:r>
              <a:rPr sz="1600" b="1" i="0">
                <a:solidFill>
                  <a:srgbClr val="C00000"/>
                </a:solidFill>
                <a:latin typeface="Helvetica Neue"/>
                <a:ea typeface="Helvetica Neue"/>
                <a:cs typeface="Helvetica Neue"/>
              </a:rPr>
              <a:t>One provider</a:t>
            </a:r>
          </a:p>
        </p:txBody>
      </p:sp>
      <p:sp>
        <p:nvSpPr>
          <p:cNvPr id="18" name="Funnel note"/>
          <p:cNvSpPr txBox="1"/>
          <p:nvPr/>
        </p:nvSpPr>
        <p:spPr>
          <a:xfrm>
            <a:off x="1257300" y="8183879"/>
            <a:ext cx="7132320" cy="822960"/>
          </a:xfrm>
          <a:prstGeom prst="rect">
            <a:avLst/>
          </a:prstGeom>
          <a:noFill/>
        </p:spPr>
        <p:txBody>
          <a:bodyPr wrap="square" lIns="0" tIns="0" rIns="0" bIns="0" anchor="t">
            <a:spAutoFit/>
          </a:bodyPr>
          <a:lstStyle/>
          <a:p>
            <a:pPr algn="l">
              <a:spcAft>
                <a:spcPts val="600"/>
              </a:spcAft>
            </a:pPr>
            <a:r>
              <a:rPr sz="2000" b="1" i="0">
                <a:solidFill>
                  <a:srgbClr val="000000"/>
                </a:solidFill>
                <a:latin typeface="Helvetica Neue"/>
                <a:ea typeface="Helvetica Neue"/>
                <a:cs typeface="Helvetica Neue"/>
              </a:rPr>
              <a:t>Many banks, one point of failure.</a:t>
            </a:r>
          </a:p>
        </p:txBody>
      </p:sp>
      <p:sp>
        <p:nvSpPr>
          <p:cNvPr id="19" name="Example 1"/>
          <p:cNvSpPr/>
          <p:nvPr/>
        </p:nvSpPr>
        <p:spPr>
          <a:xfrm>
            <a:off x="8961120" y="2697480"/>
            <a:ext cx="8069579" cy="1828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0" name="Example 1 text"/>
          <p:cNvSpPr txBox="1"/>
          <p:nvPr/>
        </p:nvSpPr>
        <p:spPr>
          <a:xfrm>
            <a:off x="9217152" y="2898648"/>
            <a:ext cx="7557515" cy="1463040"/>
          </a:xfrm>
          <a:prstGeom prst="rect">
            <a:avLst/>
          </a:prstGeom>
          <a:noFill/>
        </p:spPr>
        <p:txBody>
          <a:bodyPr wrap="square" lIns="0" tIns="0" rIns="0" bIns="0" anchor="t">
            <a:spAutoFit/>
          </a:bodyPr>
          <a:lstStyle/>
          <a:p>
            <a:pPr algn="l">
              <a:spcAft>
                <a:spcPts val="700"/>
              </a:spcAft>
            </a:pPr>
            <a:r>
              <a:rPr sz="2200" b="1" i="0">
                <a:solidFill>
                  <a:srgbClr val="000000"/>
                </a:solidFill>
                <a:latin typeface="Helvetica Neue"/>
                <a:ea typeface="Helvetica Neue"/>
                <a:cs typeface="Helvetica Neue"/>
              </a:rPr>
              <a:t>CrowdStrike, July 2024</a:t>
            </a:r>
          </a:p>
          <a:p>
            <a:pPr algn="l">
              <a:spcAft>
                <a:spcPts val="700"/>
              </a:spcAft>
            </a:pPr>
            <a:r>
              <a:rPr sz="1900" b="0" i="0">
                <a:solidFill>
                  <a:srgbClr val="000000"/>
                </a:solidFill>
                <a:latin typeface="Helvetica Neue"/>
                <a:ea typeface="Helvetica Neue"/>
                <a:cs typeface="Helvetica Neue"/>
              </a:rPr>
              <a:t>A faulty security update crashed about 8.5 million Windows computers in hours. Airlines, hospitals and banks went down at once.</a:t>
            </a:r>
          </a:p>
        </p:txBody>
      </p:sp>
      <p:sp>
        <p:nvSpPr>
          <p:cNvPr id="21" name="Example 2"/>
          <p:cNvSpPr/>
          <p:nvPr/>
        </p:nvSpPr>
        <p:spPr>
          <a:xfrm>
            <a:off x="8961120" y="4754880"/>
            <a:ext cx="8069579" cy="1828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2" name="Example 2 text"/>
          <p:cNvSpPr txBox="1"/>
          <p:nvPr/>
        </p:nvSpPr>
        <p:spPr>
          <a:xfrm>
            <a:off x="9217152" y="4956048"/>
            <a:ext cx="7557515" cy="1463040"/>
          </a:xfrm>
          <a:prstGeom prst="rect">
            <a:avLst/>
          </a:prstGeom>
          <a:noFill/>
        </p:spPr>
        <p:txBody>
          <a:bodyPr wrap="square" lIns="0" tIns="0" rIns="0" bIns="0" anchor="t">
            <a:spAutoFit/>
          </a:bodyPr>
          <a:lstStyle/>
          <a:p>
            <a:pPr algn="l">
              <a:spcAft>
                <a:spcPts val="700"/>
              </a:spcAft>
            </a:pPr>
            <a:r>
              <a:rPr sz="2200" b="1" i="0">
                <a:solidFill>
                  <a:srgbClr val="000000"/>
                </a:solidFill>
                <a:latin typeface="Helvetica Neue"/>
                <a:ea typeface="Helvetica Neue"/>
                <a:cs typeface="Helvetica Neue"/>
              </a:rPr>
              <a:t>AWS US-East-1, October 2025</a:t>
            </a:r>
          </a:p>
          <a:p>
            <a:pPr algn="l">
              <a:spcAft>
                <a:spcPts val="700"/>
              </a:spcAft>
            </a:pPr>
            <a:r>
              <a:rPr sz="1900" b="0" i="0">
                <a:solidFill>
                  <a:srgbClr val="000000"/>
                </a:solidFill>
                <a:latin typeface="Helvetica Neue"/>
                <a:ea typeface="Helvetica Neue"/>
                <a:cs typeface="Helvetica Neue"/>
              </a:rPr>
              <a:t>Companies with no AWS contract went down through their vendors.</a:t>
            </a:r>
          </a:p>
        </p:txBody>
      </p:sp>
      <p:sp>
        <p:nvSpPr>
          <p:cNvPr id="23" name="Example 3"/>
          <p:cNvSpPr/>
          <p:nvPr/>
        </p:nvSpPr>
        <p:spPr>
          <a:xfrm>
            <a:off x="8961120" y="6812280"/>
            <a:ext cx="8069579" cy="1828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4" name="Example 3 text"/>
          <p:cNvSpPr txBox="1"/>
          <p:nvPr/>
        </p:nvSpPr>
        <p:spPr>
          <a:xfrm>
            <a:off x="9217152" y="7013448"/>
            <a:ext cx="7557515" cy="1463040"/>
          </a:xfrm>
          <a:prstGeom prst="rect">
            <a:avLst/>
          </a:prstGeom>
          <a:noFill/>
        </p:spPr>
        <p:txBody>
          <a:bodyPr wrap="square" lIns="0" tIns="0" rIns="0" bIns="0" anchor="t">
            <a:spAutoFit/>
          </a:bodyPr>
          <a:lstStyle/>
          <a:p>
            <a:pPr algn="l">
              <a:spcAft>
                <a:spcPts val="700"/>
              </a:spcAft>
            </a:pPr>
            <a:r>
              <a:rPr sz="2200" b="1" i="0">
                <a:solidFill>
                  <a:srgbClr val="000000"/>
                </a:solidFill>
                <a:latin typeface="Helvetica Neue"/>
                <a:ea typeface="Helvetica Neue"/>
                <a:cs typeface="Helvetica Neue"/>
              </a:rPr>
              <a:t>Core processors</a:t>
            </a:r>
          </a:p>
          <a:p>
            <a:pPr algn="l">
              <a:spcAft>
                <a:spcPts val="700"/>
              </a:spcAft>
            </a:pPr>
            <a:r>
              <a:rPr sz="1900" b="0" i="0">
                <a:solidFill>
                  <a:srgbClr val="000000"/>
                </a:solidFill>
                <a:latin typeface="Helvetica Neue"/>
                <a:ea typeface="Helvetica Neue"/>
                <a:cs typeface="Helvetica Neue"/>
              </a:rPr>
              <a:t>A handful of providers serve most U.S. community banks. One bad morning reaches hundreds of banks.</a:t>
            </a:r>
          </a:p>
        </p:txBody>
      </p:sp>
      <p:sp>
        <p:nvSpPr>
          <p:cNvPr id="25" name="Concentration banner"/>
          <p:cNvSpPr/>
          <p:nvPr/>
        </p:nvSpPr>
        <p:spPr>
          <a:xfrm>
            <a:off x="1257300" y="9006840"/>
            <a:ext cx="15773400" cy="59436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6" name="Concentration banner text"/>
          <p:cNvSpPr txBox="1"/>
          <p:nvPr/>
        </p:nvSpPr>
        <p:spPr>
          <a:xfrm>
            <a:off x="1554480" y="9052560"/>
            <a:ext cx="15179040" cy="502920"/>
          </a:xfrm>
          <a:prstGeom prst="rect">
            <a:avLst/>
          </a:prstGeom>
          <a:noFill/>
        </p:spPr>
        <p:txBody>
          <a:bodyPr wrap="square" lIns="0" tIns="0" rIns="0" bIns="0" anchor="ctr">
            <a:spAutoFit/>
          </a:bodyPr>
          <a:lstStyle/>
          <a:p>
            <a:pPr algn="ctr">
              <a:spcAft>
                <a:spcPts val="600"/>
              </a:spcAft>
            </a:pPr>
            <a:r>
              <a:rPr sz="1800" b="1" i="0">
                <a:solidFill>
                  <a:srgbClr val="000000"/>
                </a:solidFill>
                <a:latin typeface="Helvetica Neue"/>
                <a:ea typeface="Helvetica Neue"/>
                <a:cs typeface="Helvetica Neue"/>
              </a:rPr>
              <a:t>No single bank can diversify this away. It can know its dependencies and plan to cope.</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Fourth Parties: Your Vendor's Vendors</a:t>
            </a:r>
          </a:p>
        </p:txBody>
      </p:sp>
      <p:pic>
        <p:nvPicPr>
          <p:cNvPr id="3" name="Chain bank"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63040" y="3657599"/>
            <a:ext cx="1097280" cy="1097280"/>
          </a:xfrm>
          <a:prstGeom prst="rect">
            <a:avLst/>
          </a:prstGeom>
        </p:spPr>
      </p:pic>
      <p:sp>
        <p:nvSpPr>
          <p:cNvPr id="4" name="Chain bank label"/>
          <p:cNvSpPr txBox="1"/>
          <p:nvPr/>
        </p:nvSpPr>
        <p:spPr>
          <a:xfrm>
            <a:off x="1257300" y="4846320"/>
            <a:ext cx="1554480" cy="365760"/>
          </a:xfrm>
          <a:prstGeom prst="rect">
            <a:avLst/>
          </a:prstGeom>
          <a:noFill/>
        </p:spPr>
        <p:txBody>
          <a:bodyPr wrap="square" lIns="0" tIns="0" rIns="0" bIns="0" anchor="t">
            <a:spAutoFit/>
          </a:bodyPr>
          <a:lstStyle/>
          <a:p>
            <a:pPr algn="ctr">
              <a:spcAft>
                <a:spcPts val="600"/>
              </a:spcAft>
            </a:pPr>
            <a:r>
              <a:rPr sz="1700" b="1" i="0">
                <a:solidFill>
                  <a:srgbClr val="000000"/>
                </a:solidFill>
                <a:latin typeface="Helvetica Neue"/>
                <a:ea typeface="Helvetica Neue"/>
                <a:cs typeface="Helvetica Neue"/>
              </a:rPr>
              <a:t>The bank</a:t>
            </a:r>
          </a:p>
        </p:txBody>
      </p:sp>
      <p:cxnSp>
        <p:nvCxnSpPr>
          <p:cNvPr id="5" name="Chain arrow 1"/>
          <p:cNvCxnSpPr/>
          <p:nvPr/>
        </p:nvCxnSpPr>
        <p:spPr>
          <a:xfrm>
            <a:off x="2743200" y="4206240"/>
            <a:ext cx="1463040" cy="0"/>
          </a:xfrm>
          <a:prstGeom prst="line">
            <a:avLst/>
          </a:prstGeom>
          <a:ln w="381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Third party"/>
          <p:cNvSpPr/>
          <p:nvPr/>
        </p:nvSpPr>
        <p:spPr>
          <a:xfrm>
            <a:off x="4297680" y="3383280"/>
            <a:ext cx="3291840" cy="1645920"/>
          </a:xfrm>
          <a:prstGeom prst="roundRect">
            <a:avLst/>
          </a:prstGeom>
          <a:solidFill>
            <a:srgbClr val="EEF2F8"/>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7" name="Third text"/>
          <p:cNvSpPr txBox="1"/>
          <p:nvPr/>
        </p:nvSpPr>
        <p:spPr>
          <a:xfrm>
            <a:off x="4434840" y="3474720"/>
            <a:ext cx="3017520" cy="1463040"/>
          </a:xfrm>
          <a:prstGeom prst="rect">
            <a:avLst/>
          </a:prstGeom>
          <a:noFill/>
        </p:spPr>
        <p:txBody>
          <a:bodyPr wrap="square" lIns="0" tIns="0" rIns="0" bIns="0" anchor="ctr">
            <a:spAutoFit/>
          </a:bodyPr>
          <a:lstStyle/>
          <a:p>
            <a:pPr algn="ctr">
              <a:spcAft>
                <a:spcPts val="200"/>
              </a:spcAft>
            </a:pPr>
            <a:r>
              <a:rPr sz="2200" b="1" i="0">
                <a:solidFill>
                  <a:srgbClr val="000000"/>
                </a:solidFill>
                <a:latin typeface="Helvetica Neue"/>
                <a:ea typeface="Helvetica Neue"/>
                <a:cs typeface="Helvetica Neue"/>
              </a:rPr>
              <a:t>Vendor</a:t>
            </a:r>
          </a:p>
          <a:p>
            <a:pPr algn="ctr">
              <a:spcAft>
                <a:spcPts val="200"/>
              </a:spcAft>
            </a:pPr>
            <a:r>
              <a:rPr sz="1400" b="0" i="0">
                <a:solidFill>
                  <a:srgbClr val="404040"/>
                </a:solidFill>
                <a:latin typeface="Helvetica Neue"/>
                <a:ea typeface="Helvetica Neue"/>
                <a:cs typeface="Helvetica Neue"/>
              </a:rPr>
              <a:t>third party: contract, due diligence, SOC report</a:t>
            </a:r>
          </a:p>
        </p:txBody>
      </p:sp>
      <p:cxnSp>
        <p:nvCxnSpPr>
          <p:cNvPr id="8" name="Chain arrow 4-1"/>
          <p:cNvCxnSpPr/>
          <p:nvPr/>
        </p:nvCxnSpPr>
        <p:spPr>
          <a:xfrm flipV="1">
            <a:off x="7589520" y="2880360"/>
            <a:ext cx="1097280" cy="132588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Fourth 1"/>
          <p:cNvSpPr/>
          <p:nvPr/>
        </p:nvSpPr>
        <p:spPr>
          <a:xfrm>
            <a:off x="8732520" y="2532888"/>
            <a:ext cx="3657600" cy="694944"/>
          </a:xfrm>
          <a:prstGeom prst="roundRect">
            <a:avLst/>
          </a:prstGeom>
          <a:solidFill>
            <a:srgbClr val="FFFFFF"/>
          </a:solidFill>
          <a:ln w="2222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0" i="0">
                <a:solidFill>
                  <a:srgbClr val="000000"/>
                </a:solidFill>
                <a:latin typeface="Helvetica Neue"/>
                <a:ea typeface="Helvetica Neue"/>
                <a:cs typeface="Helvetica Neue"/>
              </a:rPr>
              <a:t>Its cloud host</a:t>
            </a:r>
          </a:p>
        </p:txBody>
      </p:sp>
      <p:cxnSp>
        <p:nvCxnSpPr>
          <p:cNvPr id="10" name="Chain arrow 4-2"/>
          <p:cNvCxnSpPr/>
          <p:nvPr/>
        </p:nvCxnSpPr>
        <p:spPr>
          <a:xfrm flipV="1">
            <a:off x="7589520" y="3794760"/>
            <a:ext cx="1097280" cy="41148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Fourth 2"/>
          <p:cNvSpPr/>
          <p:nvPr/>
        </p:nvSpPr>
        <p:spPr>
          <a:xfrm>
            <a:off x="8732520" y="3447288"/>
            <a:ext cx="3657600" cy="694944"/>
          </a:xfrm>
          <a:prstGeom prst="roundRect">
            <a:avLst/>
          </a:prstGeom>
          <a:solidFill>
            <a:srgbClr val="FFFFFF"/>
          </a:solidFill>
          <a:ln w="2222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0" i="0">
                <a:solidFill>
                  <a:srgbClr val="000000"/>
                </a:solidFill>
                <a:latin typeface="Helvetica Neue"/>
                <a:ea typeface="Helvetica Neue"/>
                <a:cs typeface="Helvetica Neue"/>
              </a:rPr>
              <a:t>Its data center</a:t>
            </a:r>
          </a:p>
        </p:txBody>
      </p:sp>
      <p:cxnSp>
        <p:nvCxnSpPr>
          <p:cNvPr id="12" name="Chain arrow 4-3"/>
          <p:cNvCxnSpPr/>
          <p:nvPr/>
        </p:nvCxnSpPr>
        <p:spPr>
          <a:xfrm>
            <a:off x="7589520" y="4206240"/>
            <a:ext cx="1097280" cy="50292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Fourth 3"/>
          <p:cNvSpPr/>
          <p:nvPr/>
        </p:nvSpPr>
        <p:spPr>
          <a:xfrm>
            <a:off x="8732520" y="4361688"/>
            <a:ext cx="3657600" cy="694944"/>
          </a:xfrm>
          <a:prstGeom prst="roundRect">
            <a:avLst/>
          </a:prstGeom>
          <a:solidFill>
            <a:srgbClr val="FFFFFF"/>
          </a:solidFill>
          <a:ln w="2222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0" i="0">
                <a:solidFill>
                  <a:srgbClr val="000000"/>
                </a:solidFill>
                <a:latin typeface="Helvetica Neue"/>
                <a:ea typeface="Helvetica Neue"/>
                <a:cs typeface="Helvetica Neue"/>
              </a:rPr>
              <a:t>Its remote-management software</a:t>
            </a:r>
          </a:p>
        </p:txBody>
      </p:sp>
      <p:cxnSp>
        <p:nvCxnSpPr>
          <p:cNvPr id="14" name="Chain arrow 4-4"/>
          <p:cNvCxnSpPr/>
          <p:nvPr/>
        </p:nvCxnSpPr>
        <p:spPr>
          <a:xfrm>
            <a:off x="7589520" y="4206240"/>
            <a:ext cx="1097280" cy="141732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Fourth 4"/>
          <p:cNvSpPr/>
          <p:nvPr/>
        </p:nvSpPr>
        <p:spPr>
          <a:xfrm>
            <a:off x="8732520" y="5276088"/>
            <a:ext cx="3657600" cy="694944"/>
          </a:xfrm>
          <a:prstGeom prst="roundRect">
            <a:avLst/>
          </a:prstGeom>
          <a:solidFill>
            <a:srgbClr val="FFFFFF"/>
          </a:solidFill>
          <a:ln w="2222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0" i="0">
                <a:solidFill>
                  <a:srgbClr val="000000"/>
                </a:solidFill>
                <a:latin typeface="Helvetica Neue"/>
                <a:ea typeface="Helvetica Neue"/>
                <a:cs typeface="Helvetica Neue"/>
              </a:rPr>
              <a:t>Its offshore help desk</a:t>
            </a:r>
          </a:p>
        </p:txBody>
      </p:sp>
      <p:sp>
        <p:nvSpPr>
          <p:cNvPr id="16" name="Fourth label"/>
          <p:cNvSpPr txBox="1"/>
          <p:nvPr/>
        </p:nvSpPr>
        <p:spPr>
          <a:xfrm>
            <a:off x="8229600" y="6126480"/>
            <a:ext cx="4572000" cy="457200"/>
          </a:xfrm>
          <a:prstGeom prst="rect">
            <a:avLst/>
          </a:prstGeom>
          <a:noFill/>
        </p:spPr>
        <p:txBody>
          <a:bodyPr wrap="square" lIns="0" tIns="0" rIns="0" bIns="0" anchor="t">
            <a:spAutoFit/>
          </a:bodyPr>
          <a:lstStyle/>
          <a:p>
            <a:pPr algn="ctr">
              <a:spcAft>
                <a:spcPts val="600"/>
              </a:spcAft>
            </a:pPr>
            <a:r>
              <a:rPr sz="1500" b="1" i="0">
                <a:solidFill>
                  <a:srgbClr val="ED7D31"/>
                </a:solidFill>
                <a:latin typeface="Helvetica Neue"/>
                <a:ea typeface="Helvetica Neue"/>
                <a:cs typeface="Helvetica Neue"/>
              </a:rPr>
              <a:t>Fourth parties: no contract with the bank</a:t>
            </a:r>
          </a:p>
        </p:txBody>
      </p:sp>
      <p:sp>
        <p:nvSpPr>
          <p:cNvPr id="17" name="Kaseya panel"/>
          <p:cNvSpPr/>
          <p:nvPr/>
        </p:nvSpPr>
        <p:spPr>
          <a:xfrm>
            <a:off x="12893040" y="2697480"/>
            <a:ext cx="4137660" cy="393192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8" name="Kaseya text"/>
          <p:cNvSpPr txBox="1"/>
          <p:nvPr/>
        </p:nvSpPr>
        <p:spPr>
          <a:xfrm>
            <a:off x="13167360" y="2880360"/>
            <a:ext cx="3611880" cy="3657600"/>
          </a:xfrm>
          <a:prstGeom prst="rect">
            <a:avLst/>
          </a:prstGeom>
          <a:noFill/>
        </p:spPr>
        <p:txBody>
          <a:bodyPr wrap="square" lIns="0" tIns="0" rIns="0" bIns="0" anchor="t">
            <a:spAutoFit/>
          </a:bodyPr>
          <a:lstStyle/>
          <a:p>
            <a:pPr algn="l">
              <a:spcAft>
                <a:spcPts val="1000"/>
              </a:spcAft>
            </a:pPr>
            <a:r>
              <a:rPr sz="2200" b="1" i="0">
                <a:solidFill>
                  <a:srgbClr val="000000"/>
                </a:solidFill>
                <a:latin typeface="Helvetica Neue"/>
                <a:ea typeface="Helvetica Neue"/>
                <a:cs typeface="Helvetica Neue"/>
              </a:rPr>
              <a:t>Kaseya, 2021</a:t>
            </a:r>
          </a:p>
          <a:p>
            <a:pPr algn="l">
              <a:spcAft>
                <a:spcPts val="1000"/>
              </a:spcAft>
            </a:pPr>
            <a:r>
              <a:rPr sz="1700" b="0" i="0">
                <a:solidFill>
                  <a:srgbClr val="000000"/>
                </a:solidFill>
                <a:latin typeface="Helvetica Neue"/>
                <a:ea typeface="Helvetica Neue"/>
                <a:cs typeface="Helvetica Neue"/>
              </a:rPr>
              <a:t>Ransomware rode MSPs' remote-management software to about 1,500 businesses.</a:t>
            </a:r>
          </a:p>
          <a:p>
            <a:pPr algn="l">
              <a:spcAft>
                <a:spcPts val="1000"/>
              </a:spcAft>
            </a:pPr>
            <a:r>
              <a:rPr sz="1700" b="1" i="0">
                <a:solidFill>
                  <a:srgbClr val="000000"/>
                </a:solidFill>
                <a:latin typeface="Helvetica Neue"/>
                <a:ea typeface="Helvetica Neue"/>
                <a:cs typeface="Helvetica Neue"/>
              </a:rPr>
              <a:t>Their vendor was the MSP. The MSP's vendor was Kaseya.</a:t>
            </a:r>
          </a:p>
        </p:txBody>
      </p:sp>
      <p:sp>
        <p:nvSpPr>
          <p:cNvPr id="19" name="Look 1"/>
          <p:cNvSpPr/>
          <p:nvPr/>
        </p:nvSpPr>
        <p:spPr>
          <a:xfrm>
            <a:off x="1257300" y="6949440"/>
            <a:ext cx="5044440" cy="23774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0" name="Look 1 text"/>
          <p:cNvSpPr txBox="1"/>
          <p:nvPr/>
        </p:nvSpPr>
        <p:spPr>
          <a:xfrm>
            <a:off x="1513332" y="7150607"/>
            <a:ext cx="4532376" cy="2011680"/>
          </a:xfrm>
          <a:prstGeom prst="rect">
            <a:avLst/>
          </a:prstGeom>
          <a:noFill/>
        </p:spPr>
        <p:txBody>
          <a:bodyPr wrap="square" lIns="0" tIns="0" rIns="0" bIns="0" anchor="t">
            <a:spAutoFit/>
          </a:bodyPr>
          <a:lstStyle/>
          <a:p>
            <a:pPr algn="l">
              <a:spcAft>
                <a:spcPts val="700"/>
              </a:spcAft>
            </a:pPr>
            <a:r>
              <a:rPr sz="2200" b="1" i="0">
                <a:solidFill>
                  <a:srgbClr val="000000"/>
                </a:solidFill>
                <a:latin typeface="Helvetica Neue"/>
                <a:ea typeface="Helvetica Neue"/>
                <a:cs typeface="Helvetica Neue"/>
              </a:rPr>
              <a:t>SOC report carve-outs</a:t>
            </a:r>
          </a:p>
          <a:p>
            <a:pPr algn="l">
              <a:spcAft>
                <a:spcPts val="700"/>
              </a:spcAft>
            </a:pPr>
            <a:r>
              <a:rPr sz="1900" b="0" i="0">
                <a:solidFill>
                  <a:srgbClr val="000000"/>
                </a:solidFill>
                <a:latin typeface="Helvetica Neue"/>
                <a:ea typeface="Helvetica Neue"/>
                <a:cs typeface="Helvetica Neue"/>
              </a:rPr>
              <a:t>Subservice organizations left out of the audit, and who covers them</a:t>
            </a:r>
          </a:p>
        </p:txBody>
      </p:sp>
      <p:sp>
        <p:nvSpPr>
          <p:cNvPr id="21" name="Look 2"/>
          <p:cNvSpPr/>
          <p:nvPr/>
        </p:nvSpPr>
        <p:spPr>
          <a:xfrm>
            <a:off x="6621780" y="6949440"/>
            <a:ext cx="5044440" cy="23774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2" name="Look 2 text"/>
          <p:cNvSpPr txBox="1"/>
          <p:nvPr/>
        </p:nvSpPr>
        <p:spPr>
          <a:xfrm>
            <a:off x="6877812" y="7150607"/>
            <a:ext cx="4532376" cy="2011680"/>
          </a:xfrm>
          <a:prstGeom prst="rect">
            <a:avLst/>
          </a:prstGeom>
          <a:noFill/>
        </p:spPr>
        <p:txBody>
          <a:bodyPr wrap="square" lIns="0" tIns="0" rIns="0" bIns="0" anchor="t">
            <a:spAutoFit/>
          </a:bodyPr>
          <a:lstStyle/>
          <a:p>
            <a:pPr algn="l">
              <a:spcAft>
                <a:spcPts val="700"/>
              </a:spcAft>
            </a:pPr>
            <a:r>
              <a:rPr sz="2200" b="1" i="0">
                <a:solidFill>
                  <a:srgbClr val="000000"/>
                </a:solidFill>
                <a:latin typeface="Helvetica Neue"/>
                <a:ea typeface="Helvetica Neue"/>
                <a:cs typeface="Helvetica Neue"/>
              </a:rPr>
              <a:t>Subcontracting clause</a:t>
            </a:r>
          </a:p>
          <a:p>
            <a:pPr algn="l">
              <a:spcAft>
                <a:spcPts val="700"/>
              </a:spcAft>
            </a:pPr>
            <a:r>
              <a:rPr sz="1900" b="0" i="0">
                <a:solidFill>
                  <a:srgbClr val="000000"/>
                </a:solidFill>
                <a:latin typeface="Helvetica Neue"/>
                <a:ea typeface="Helvetica Neue"/>
                <a:cs typeface="Helvetica Neue"/>
              </a:rPr>
              <a:t>Must the vendor tell the bank, or get approval, before adding one?</a:t>
            </a:r>
          </a:p>
        </p:txBody>
      </p:sp>
      <p:sp>
        <p:nvSpPr>
          <p:cNvPr id="23" name="Look 3"/>
          <p:cNvSpPr/>
          <p:nvPr/>
        </p:nvSpPr>
        <p:spPr>
          <a:xfrm>
            <a:off x="11986260" y="6949440"/>
            <a:ext cx="5044440" cy="23774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4" name="Look 3 text"/>
          <p:cNvSpPr txBox="1"/>
          <p:nvPr/>
        </p:nvSpPr>
        <p:spPr>
          <a:xfrm>
            <a:off x="12242291" y="7150607"/>
            <a:ext cx="4532376" cy="2011680"/>
          </a:xfrm>
          <a:prstGeom prst="rect">
            <a:avLst/>
          </a:prstGeom>
          <a:noFill/>
        </p:spPr>
        <p:txBody>
          <a:bodyPr wrap="square" lIns="0" tIns="0" rIns="0" bIns="0" anchor="t">
            <a:spAutoFit/>
          </a:bodyPr>
          <a:lstStyle/>
          <a:p>
            <a:pPr algn="l">
              <a:spcAft>
                <a:spcPts val="700"/>
              </a:spcAft>
            </a:pPr>
            <a:r>
              <a:rPr sz="2200" b="1" i="0">
                <a:solidFill>
                  <a:srgbClr val="000000"/>
                </a:solidFill>
                <a:latin typeface="Helvetica Neue"/>
                <a:ea typeface="Helvetica Neue"/>
                <a:cs typeface="Helvetica Neue"/>
              </a:rPr>
              <a:t>Ask for the list</a:t>
            </a:r>
          </a:p>
          <a:p>
            <a:pPr algn="l">
              <a:spcAft>
                <a:spcPts val="700"/>
              </a:spcAft>
            </a:pPr>
            <a:r>
              <a:rPr sz="1900" b="0" i="0">
                <a:solidFill>
                  <a:srgbClr val="000000"/>
                </a:solidFill>
                <a:latin typeface="Helvetica Neue"/>
                <a:ea typeface="Helvetica Neue"/>
                <a:cs typeface="Helvetica Neue"/>
              </a:rPr>
              <a:t>Which critical subcontractors touch the bank's data or network?</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Due Diligence Before Signing</a:t>
            </a:r>
          </a:p>
        </p:txBody>
      </p:sp>
      <p:sp>
        <p:nvSpPr>
          <p:cNvPr id="3" name="DD left panel"/>
          <p:cNvSpPr/>
          <p:nvPr/>
        </p:nvSpPr>
        <p:spPr>
          <a:xfrm>
            <a:off x="1257300" y="2697480"/>
            <a:ext cx="7680960" cy="6675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DD standard"/>
          <p:cNvSpPr txBox="1"/>
          <p:nvPr/>
        </p:nvSpPr>
        <p:spPr>
          <a:xfrm>
            <a:off x="1600200" y="2926080"/>
            <a:ext cx="7040880" cy="6309360"/>
          </a:xfrm>
          <a:prstGeom prst="rect">
            <a:avLst/>
          </a:prstGeom>
          <a:noFill/>
        </p:spPr>
        <p:txBody>
          <a:bodyPr wrap="square" lIns="0" tIns="0" rIns="0" bIns="0">
            <a:spAutoFit/>
          </a:bodyPr>
          <a:lstStyle/>
          <a:p>
            <a:pPr>
              <a:spcAft>
                <a:spcPts val="800"/>
              </a:spcAft>
            </a:pPr>
            <a:r>
              <a:rPr sz="2400" b="1" i="0">
                <a:solidFill>
                  <a:srgbClr val="000000"/>
                </a:solidFill>
                <a:latin typeface="Helvetica Neue"/>
                <a:ea typeface="Helvetica Neue"/>
                <a:cs typeface="Helvetica Neue"/>
              </a:rPr>
              <a:t>The standard list</a:t>
            </a:r>
          </a:p>
          <a:p>
            <a:pPr marL="274320" indent="-274320">
              <a:spcAft>
                <a:spcPts val="600"/>
              </a:spcAft>
              <a:buFont typeface="Arial"/>
              <a:buChar char="•"/>
            </a:pPr>
            <a:r>
              <a:rPr sz="2100" b="0" i="0">
                <a:solidFill>
                  <a:srgbClr val="000000"/>
                </a:solidFill>
                <a:latin typeface="Helvetica Neue"/>
                <a:ea typeface="Helvetica Neue"/>
                <a:cs typeface="Helvetica Neue"/>
              </a:rPr>
              <a:t>Financial condition and sustainability</a:t>
            </a:r>
          </a:p>
          <a:p>
            <a:pPr marL="274320" indent="-274320">
              <a:spcAft>
                <a:spcPts val="600"/>
              </a:spcAft>
              <a:buFont typeface="Arial"/>
              <a:buChar char="•"/>
            </a:pPr>
            <a:r>
              <a:rPr sz="2100" b="0" i="0">
                <a:solidFill>
                  <a:srgbClr val="000000"/>
                </a:solidFill>
                <a:latin typeface="Helvetica Neue"/>
                <a:ea typeface="Helvetica Neue"/>
                <a:cs typeface="Helvetica Neue"/>
              </a:rPr>
              <a:t>Experience, reputation and complaints</a:t>
            </a:r>
          </a:p>
          <a:p>
            <a:pPr marL="274320" indent="-274320">
              <a:spcAft>
                <a:spcPts val="600"/>
              </a:spcAft>
              <a:buFont typeface="Arial"/>
              <a:buChar char="•"/>
            </a:pPr>
            <a:r>
              <a:rPr sz="2100" b="0" i="0">
                <a:solidFill>
                  <a:srgbClr val="000000"/>
                </a:solidFill>
                <a:latin typeface="Helvetica Neue"/>
                <a:ea typeface="Helvetica Neue"/>
                <a:cs typeface="Helvetica Neue"/>
              </a:rPr>
              <a:t>Qualifications of principals and staff</a:t>
            </a:r>
          </a:p>
          <a:p>
            <a:pPr marL="274320" indent="-274320">
              <a:spcAft>
                <a:spcPts val="600"/>
              </a:spcAft>
              <a:buFont typeface="Arial"/>
              <a:buChar char="•"/>
            </a:pPr>
            <a:r>
              <a:rPr sz="2100" b="0" i="0">
                <a:solidFill>
                  <a:srgbClr val="000000"/>
                </a:solidFill>
                <a:latin typeface="Helvetica Neue"/>
                <a:ea typeface="Helvetica Neue"/>
                <a:cs typeface="Helvetica Neue"/>
              </a:rPr>
              <a:t>Use of subcontractors</a:t>
            </a:r>
          </a:p>
          <a:p>
            <a:pPr marL="274320" indent="-274320">
              <a:spcAft>
                <a:spcPts val="600"/>
              </a:spcAft>
              <a:buFont typeface="Arial"/>
              <a:buChar char="•"/>
            </a:pPr>
            <a:r>
              <a:rPr sz="2100" b="0" i="0">
                <a:solidFill>
                  <a:srgbClr val="000000"/>
                </a:solidFill>
                <a:latin typeface="Helvetica Neue"/>
                <a:ea typeface="Helvetica Neue"/>
                <a:cs typeface="Helvetica Neue"/>
              </a:rPr>
              <a:t>Internal controls, information security, privacy and audit coverage</a:t>
            </a:r>
          </a:p>
          <a:p>
            <a:pPr marL="274320" indent="-274320">
              <a:spcAft>
                <a:spcPts val="600"/>
              </a:spcAft>
              <a:buFont typeface="Arial"/>
              <a:buChar char="•"/>
            </a:pPr>
            <a:r>
              <a:rPr sz="2100" b="0" i="0">
                <a:solidFill>
                  <a:srgbClr val="000000"/>
                </a:solidFill>
                <a:latin typeface="Helvetica Neue"/>
                <a:ea typeface="Helvetica Neue"/>
                <a:cs typeface="Helvetica Neue"/>
              </a:rPr>
              <a:t>Business resumption and contingency plans</a:t>
            </a:r>
          </a:p>
          <a:p>
            <a:pPr marL="274320" indent="-274320">
              <a:spcAft>
                <a:spcPts val="600"/>
              </a:spcAft>
              <a:buFont typeface="Arial"/>
              <a:buChar char="•"/>
            </a:pPr>
            <a:r>
              <a:rPr sz="2100" b="0" i="0">
                <a:solidFill>
                  <a:srgbClr val="000000"/>
                </a:solidFill>
                <a:latin typeface="Helvetica Neue"/>
                <a:ea typeface="Helvetica Neue"/>
                <a:cs typeface="Helvetica Neue"/>
              </a:rPr>
              <a:t>Insurance coverage</a:t>
            </a:r>
          </a:p>
          <a:p>
            <a:pPr marL="274320" indent="-274320">
              <a:spcAft>
                <a:spcPts val="600"/>
              </a:spcAft>
              <a:buFont typeface="Arial"/>
              <a:buChar char="•"/>
            </a:pPr>
            <a:r>
              <a:rPr sz="2100" b="0" i="0">
                <a:solidFill>
                  <a:srgbClr val="000000"/>
                </a:solidFill>
                <a:latin typeface="Helvetica Neue"/>
                <a:ea typeface="Helvetica Neue"/>
                <a:cs typeface="Helvetica Neue"/>
              </a:rPr>
              <a:t>Record retention practices</a:t>
            </a:r>
          </a:p>
        </p:txBody>
      </p:sp>
      <p:sp>
        <p:nvSpPr>
          <p:cNvPr id="5" name="DD right panel"/>
          <p:cNvSpPr/>
          <p:nvPr/>
        </p:nvSpPr>
        <p:spPr>
          <a:xfrm>
            <a:off x="9349740" y="2697480"/>
            <a:ext cx="7680960" cy="6675120"/>
          </a:xfrm>
          <a:prstGeom prst="rect">
            <a:avLst/>
          </a:prstGeom>
          <a:solidFill>
            <a:srgbClr val="EEF2F8"/>
          </a:solidFill>
          <a:ln w="2540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6" name="DD right head"/>
          <p:cNvSpPr txBox="1"/>
          <p:nvPr/>
        </p:nvSpPr>
        <p:spPr>
          <a:xfrm>
            <a:off x="9692640" y="2926080"/>
            <a:ext cx="7040880" cy="457200"/>
          </a:xfrm>
          <a:prstGeom prst="rect">
            <a:avLst/>
          </a:prstGeom>
          <a:noFill/>
        </p:spPr>
        <p:txBody>
          <a:bodyPr wrap="square" lIns="0" tIns="0" rIns="0" bIns="0" anchor="t">
            <a:spAutoFit/>
          </a:bodyPr>
          <a:lstStyle/>
          <a:p>
            <a:pPr algn="l">
              <a:spcAft>
                <a:spcPts val="600"/>
              </a:spcAft>
            </a:pPr>
            <a:r>
              <a:rPr sz="2400" b="1" i="0">
                <a:solidFill>
                  <a:srgbClr val="2F75B5"/>
                </a:solidFill>
                <a:latin typeface="Helvetica Neue"/>
                <a:ea typeface="Helvetica Neue"/>
                <a:cs typeface="Helvetica Neue"/>
              </a:rPr>
              <a:t>Add the network questions</a:t>
            </a:r>
          </a:p>
        </p:txBody>
      </p:sp>
      <p:sp>
        <p:nvSpPr>
          <p:cNvPr id="7" name="DD num 1"/>
          <p:cNvSpPr/>
          <p:nvPr/>
        </p:nvSpPr>
        <p:spPr>
          <a:xfrm>
            <a:off x="9692640" y="3657600"/>
            <a:ext cx="411480" cy="411480"/>
          </a:xfrm>
          <a:prstGeom prst="ellipse">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1</a:t>
            </a:r>
          </a:p>
        </p:txBody>
      </p:sp>
      <p:sp>
        <p:nvSpPr>
          <p:cNvPr id="8" name="DD q 1"/>
          <p:cNvSpPr txBox="1"/>
          <p:nvPr/>
        </p:nvSpPr>
        <p:spPr>
          <a:xfrm>
            <a:off x="10332720" y="3611880"/>
            <a:ext cx="6400800" cy="1005840"/>
          </a:xfrm>
          <a:prstGeom prst="rect">
            <a:avLst/>
          </a:prstGeom>
          <a:noFill/>
        </p:spPr>
        <p:txBody>
          <a:bodyPr wrap="square" lIns="0" tIns="0" rIns="0" bIns="0" anchor="t">
            <a:spAutoFit/>
          </a:bodyPr>
          <a:lstStyle/>
          <a:p>
            <a:pPr algn="l">
              <a:spcAft>
                <a:spcPts val="100"/>
              </a:spcAft>
            </a:pPr>
            <a:r>
              <a:rPr sz="2100" b="1" i="0">
                <a:solidFill>
                  <a:srgbClr val="000000"/>
                </a:solidFill>
                <a:latin typeface="Helvetica Neue"/>
                <a:ea typeface="Helvetica Neue"/>
                <a:cs typeface="Helvetica Neue"/>
              </a:rPr>
              <a:t>How will you connect to us?</a:t>
            </a:r>
          </a:p>
          <a:p>
            <a:pPr algn="l">
              <a:spcAft>
                <a:spcPts val="100"/>
              </a:spcAft>
            </a:pPr>
            <a:r>
              <a:rPr sz="1800" b="0" i="0">
                <a:solidFill>
                  <a:srgbClr val="404040"/>
                </a:solidFill>
                <a:latin typeface="Helvetica Neue"/>
                <a:ea typeface="Helvetica Neue"/>
                <a:cs typeface="Helvetica Neue"/>
              </a:rPr>
              <a:t>VPN, private circuit, or API over the internet</a:t>
            </a:r>
          </a:p>
        </p:txBody>
      </p:sp>
      <p:sp>
        <p:nvSpPr>
          <p:cNvPr id="9" name="DD num 2"/>
          <p:cNvSpPr/>
          <p:nvPr/>
        </p:nvSpPr>
        <p:spPr>
          <a:xfrm>
            <a:off x="9692640" y="4773168"/>
            <a:ext cx="411480" cy="411480"/>
          </a:xfrm>
          <a:prstGeom prst="ellipse">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2</a:t>
            </a:r>
          </a:p>
        </p:txBody>
      </p:sp>
      <p:sp>
        <p:nvSpPr>
          <p:cNvPr id="10" name="DD q 2"/>
          <p:cNvSpPr txBox="1"/>
          <p:nvPr/>
        </p:nvSpPr>
        <p:spPr>
          <a:xfrm>
            <a:off x="10332720" y="4727448"/>
            <a:ext cx="6400800" cy="1005840"/>
          </a:xfrm>
          <a:prstGeom prst="rect">
            <a:avLst/>
          </a:prstGeom>
          <a:noFill/>
        </p:spPr>
        <p:txBody>
          <a:bodyPr wrap="square" lIns="0" tIns="0" rIns="0" bIns="0" anchor="t">
            <a:spAutoFit/>
          </a:bodyPr>
          <a:lstStyle/>
          <a:p>
            <a:pPr algn="l">
              <a:spcAft>
                <a:spcPts val="100"/>
              </a:spcAft>
            </a:pPr>
            <a:r>
              <a:rPr sz="2100" b="1" i="0">
                <a:solidFill>
                  <a:srgbClr val="000000"/>
                </a:solidFill>
                <a:latin typeface="Helvetica Neue"/>
                <a:ea typeface="Helvetica Neue"/>
                <a:cs typeface="Helvetica Neue"/>
              </a:rPr>
              <a:t>Who gets remote access?</a:t>
            </a:r>
          </a:p>
          <a:p>
            <a:pPr algn="l">
              <a:spcAft>
                <a:spcPts val="100"/>
              </a:spcAft>
            </a:pPr>
            <a:r>
              <a:rPr sz="1800" b="0" i="0">
                <a:solidFill>
                  <a:srgbClr val="404040"/>
                </a:solidFill>
                <a:latin typeface="Helvetica Neue"/>
                <a:ea typeface="Helvetica Neue"/>
                <a:cs typeface="Helvetica Neue"/>
              </a:rPr>
              <a:t>How it's authenticated, and whether it's logged</a:t>
            </a:r>
          </a:p>
        </p:txBody>
      </p:sp>
      <p:sp>
        <p:nvSpPr>
          <p:cNvPr id="11" name="DD num 3"/>
          <p:cNvSpPr/>
          <p:nvPr/>
        </p:nvSpPr>
        <p:spPr>
          <a:xfrm>
            <a:off x="9692640" y="5888736"/>
            <a:ext cx="411480" cy="411480"/>
          </a:xfrm>
          <a:prstGeom prst="ellipse">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3</a:t>
            </a:r>
          </a:p>
        </p:txBody>
      </p:sp>
      <p:sp>
        <p:nvSpPr>
          <p:cNvPr id="12" name="DD q 3"/>
          <p:cNvSpPr txBox="1"/>
          <p:nvPr/>
        </p:nvSpPr>
        <p:spPr>
          <a:xfrm>
            <a:off x="10332720" y="5843016"/>
            <a:ext cx="6400800" cy="1005840"/>
          </a:xfrm>
          <a:prstGeom prst="rect">
            <a:avLst/>
          </a:prstGeom>
          <a:noFill/>
        </p:spPr>
        <p:txBody>
          <a:bodyPr wrap="square" lIns="0" tIns="0" rIns="0" bIns="0" anchor="t">
            <a:spAutoFit/>
          </a:bodyPr>
          <a:lstStyle/>
          <a:p>
            <a:pPr algn="l">
              <a:spcAft>
                <a:spcPts val="100"/>
              </a:spcAft>
            </a:pPr>
            <a:r>
              <a:rPr sz="2100" b="1" i="0">
                <a:solidFill>
                  <a:srgbClr val="000000"/>
                </a:solidFill>
                <a:latin typeface="Helvetica Neue"/>
                <a:ea typeface="Helvetica Neue"/>
                <a:cs typeface="Helvetica Neue"/>
              </a:rPr>
              <a:t>Where will our data live?</a:t>
            </a:r>
          </a:p>
          <a:p>
            <a:pPr algn="l">
              <a:spcAft>
                <a:spcPts val="100"/>
              </a:spcAft>
            </a:pPr>
            <a:r>
              <a:rPr sz="1800" b="0" i="0">
                <a:solidFill>
                  <a:srgbClr val="404040"/>
                </a:solidFill>
                <a:latin typeface="Helvetica Neue"/>
                <a:ea typeface="Helvetica Neue"/>
                <a:cs typeface="Helvetica Neue"/>
              </a:rPr>
              <a:t>Which provider, region and country</a:t>
            </a:r>
          </a:p>
        </p:txBody>
      </p:sp>
      <p:sp>
        <p:nvSpPr>
          <p:cNvPr id="13" name="DD num 4"/>
          <p:cNvSpPr/>
          <p:nvPr/>
        </p:nvSpPr>
        <p:spPr>
          <a:xfrm>
            <a:off x="9692640" y="7004304"/>
            <a:ext cx="411480" cy="411480"/>
          </a:xfrm>
          <a:prstGeom prst="ellipse">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4</a:t>
            </a:r>
          </a:p>
        </p:txBody>
      </p:sp>
      <p:sp>
        <p:nvSpPr>
          <p:cNvPr id="14" name="DD q 4"/>
          <p:cNvSpPr txBox="1"/>
          <p:nvPr/>
        </p:nvSpPr>
        <p:spPr>
          <a:xfrm>
            <a:off x="10332720" y="6958584"/>
            <a:ext cx="6400800" cy="1005840"/>
          </a:xfrm>
          <a:prstGeom prst="rect">
            <a:avLst/>
          </a:prstGeom>
          <a:noFill/>
        </p:spPr>
        <p:txBody>
          <a:bodyPr wrap="square" lIns="0" tIns="0" rIns="0" bIns="0" anchor="t">
            <a:spAutoFit/>
          </a:bodyPr>
          <a:lstStyle/>
          <a:p>
            <a:pPr algn="l">
              <a:spcAft>
                <a:spcPts val="100"/>
              </a:spcAft>
            </a:pPr>
            <a:r>
              <a:rPr sz="2100" b="1" i="0">
                <a:solidFill>
                  <a:srgbClr val="000000"/>
                </a:solidFill>
                <a:latin typeface="Helvetica Neue"/>
                <a:ea typeface="Helvetica Neue"/>
                <a:cs typeface="Helvetica Neue"/>
              </a:rPr>
              <a:t>Is it encrypted?</a:t>
            </a:r>
          </a:p>
          <a:p>
            <a:pPr algn="l">
              <a:spcAft>
                <a:spcPts val="100"/>
              </a:spcAft>
            </a:pPr>
            <a:r>
              <a:rPr sz="1800" b="0" i="0">
                <a:solidFill>
                  <a:srgbClr val="404040"/>
                </a:solidFill>
                <a:latin typeface="Helvetica Neue"/>
                <a:ea typeface="Helvetica Neue"/>
                <a:cs typeface="Helvetica Neue"/>
              </a:rPr>
              <a:t>In transit and at rest, and who holds the keys</a:t>
            </a:r>
          </a:p>
        </p:txBody>
      </p:sp>
      <p:sp>
        <p:nvSpPr>
          <p:cNvPr id="15" name="DD num 5"/>
          <p:cNvSpPr/>
          <p:nvPr/>
        </p:nvSpPr>
        <p:spPr>
          <a:xfrm>
            <a:off x="9692640" y="8119872"/>
            <a:ext cx="411480" cy="411480"/>
          </a:xfrm>
          <a:prstGeom prst="ellipse">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5</a:t>
            </a:r>
          </a:p>
        </p:txBody>
      </p:sp>
      <p:sp>
        <p:nvSpPr>
          <p:cNvPr id="16" name="DD q 5"/>
          <p:cNvSpPr txBox="1"/>
          <p:nvPr/>
        </p:nvSpPr>
        <p:spPr>
          <a:xfrm>
            <a:off x="10332720" y="8074152"/>
            <a:ext cx="6400800" cy="1005840"/>
          </a:xfrm>
          <a:prstGeom prst="rect">
            <a:avLst/>
          </a:prstGeom>
          <a:noFill/>
        </p:spPr>
        <p:txBody>
          <a:bodyPr wrap="square" lIns="0" tIns="0" rIns="0" bIns="0" anchor="t">
            <a:spAutoFit/>
          </a:bodyPr>
          <a:lstStyle/>
          <a:p>
            <a:pPr algn="l">
              <a:spcAft>
                <a:spcPts val="100"/>
              </a:spcAft>
            </a:pPr>
            <a:r>
              <a:rPr sz="2100" b="1" i="0">
                <a:solidFill>
                  <a:srgbClr val="000000"/>
                </a:solidFill>
                <a:latin typeface="Helvetica Neue"/>
                <a:ea typeface="Helvetica Neue"/>
                <a:cs typeface="Helvetica Neue"/>
              </a:rPr>
              <a:t>What happens when you fail?</a:t>
            </a:r>
          </a:p>
          <a:p>
            <a:pPr algn="l">
              <a:spcAft>
                <a:spcPts val="100"/>
              </a:spcAft>
            </a:pPr>
            <a:r>
              <a:rPr sz="1800" b="0" i="0">
                <a:solidFill>
                  <a:srgbClr val="404040"/>
                </a:solidFill>
                <a:latin typeface="Helvetica Neue"/>
                <a:ea typeface="Helvetica Neue"/>
                <a:cs typeface="Helvetica Neue"/>
              </a:rPr>
              <a:t>Failover site or region, and how long until we're back</a:t>
            </a:r>
          </a:p>
        </p:txBody>
      </p:sp>
      <p:sp>
        <p:nvSpPr>
          <p:cNvPr id="17"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Source: InTREx Development and Acquisition, procedure 2 (September 2023 version; verify against the current version)</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What Belongs in the Contract: SLAs, Audit Rights, Incident Notice</a:t>
            </a:r>
          </a:p>
        </p:txBody>
      </p:sp>
      <p:sp>
        <p:nvSpPr>
          <p:cNvPr id="3" name="Clause 1"/>
          <p:cNvSpPr/>
          <p:nvPr/>
        </p:nvSpPr>
        <p:spPr>
          <a:xfrm>
            <a:off x="1257300" y="2697480"/>
            <a:ext cx="3703320" cy="2971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Clause 1 text"/>
          <p:cNvSpPr txBox="1"/>
          <p:nvPr/>
        </p:nvSpPr>
        <p:spPr>
          <a:xfrm>
            <a:off x="1513332" y="2898648"/>
            <a:ext cx="3191256" cy="2606040"/>
          </a:xfrm>
          <a:prstGeom prst="rect">
            <a:avLst/>
          </a:prstGeom>
          <a:noFill/>
        </p:spPr>
        <p:txBody>
          <a:bodyPr wrap="square" lIns="0" tIns="0" rIns="0" bIns="0" anchor="t">
            <a:spAutoFit/>
          </a:bodyPr>
          <a:lstStyle/>
          <a:p>
            <a:pPr algn="l">
              <a:spcAft>
                <a:spcPts val="700"/>
              </a:spcAft>
            </a:pPr>
            <a:r>
              <a:rPr sz="2400" b="1" i="0">
                <a:solidFill>
                  <a:srgbClr val="000000"/>
                </a:solidFill>
                <a:latin typeface="Helvetica Neue"/>
                <a:ea typeface="Helvetica Neue"/>
                <a:cs typeface="Helvetica Neue"/>
              </a:rPr>
              <a:t>Service levels</a:t>
            </a:r>
          </a:p>
          <a:p>
            <a:pPr algn="l">
              <a:spcAft>
                <a:spcPts val="700"/>
              </a:spcAft>
            </a:pPr>
            <a:r>
              <a:rPr sz="2000" b="0" i="0">
                <a:solidFill>
                  <a:srgbClr val="000000"/>
                </a:solidFill>
                <a:latin typeface="Helvetica Neue"/>
                <a:ea typeface="Helvetica Neue"/>
                <a:cs typeface="Helvetica Neue"/>
              </a:rPr>
              <a:t>Availability, repair time, performance, and what happens when they're missed</a:t>
            </a:r>
          </a:p>
        </p:txBody>
      </p:sp>
      <p:sp>
        <p:nvSpPr>
          <p:cNvPr id="5" name="Clause 2"/>
          <p:cNvSpPr/>
          <p:nvPr/>
        </p:nvSpPr>
        <p:spPr>
          <a:xfrm>
            <a:off x="5280659" y="2697480"/>
            <a:ext cx="3703320" cy="2971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6" name="Clause 2 text"/>
          <p:cNvSpPr txBox="1"/>
          <p:nvPr/>
        </p:nvSpPr>
        <p:spPr>
          <a:xfrm>
            <a:off x="5536692" y="2898648"/>
            <a:ext cx="3191256" cy="2606040"/>
          </a:xfrm>
          <a:prstGeom prst="rect">
            <a:avLst/>
          </a:prstGeom>
          <a:noFill/>
        </p:spPr>
        <p:txBody>
          <a:bodyPr wrap="square" lIns="0" tIns="0" rIns="0" bIns="0" anchor="t">
            <a:spAutoFit/>
          </a:bodyPr>
          <a:lstStyle/>
          <a:p>
            <a:pPr algn="l">
              <a:spcAft>
                <a:spcPts val="700"/>
              </a:spcAft>
            </a:pPr>
            <a:r>
              <a:rPr sz="2400" b="1" i="0">
                <a:solidFill>
                  <a:srgbClr val="000000"/>
                </a:solidFill>
                <a:latin typeface="Helvetica Neue"/>
                <a:ea typeface="Helvetica Neue"/>
                <a:cs typeface="Helvetica Neue"/>
              </a:rPr>
              <a:t>Audit and exam rights</a:t>
            </a:r>
          </a:p>
          <a:p>
            <a:pPr algn="l">
              <a:spcAft>
                <a:spcPts val="700"/>
              </a:spcAft>
            </a:pPr>
            <a:r>
              <a:rPr sz="2000" b="0" i="0">
                <a:solidFill>
                  <a:srgbClr val="000000"/>
                </a:solidFill>
                <a:latin typeface="Helvetica Neue"/>
                <a:ea typeface="Helvetica Neue"/>
                <a:cs typeface="Helvetica Neue"/>
              </a:rPr>
              <a:t>The bank can audit; regulators can examine the service</a:t>
            </a:r>
          </a:p>
        </p:txBody>
      </p:sp>
      <p:sp>
        <p:nvSpPr>
          <p:cNvPr id="7" name="Clause 3"/>
          <p:cNvSpPr/>
          <p:nvPr/>
        </p:nvSpPr>
        <p:spPr>
          <a:xfrm>
            <a:off x="9304019" y="2697480"/>
            <a:ext cx="3703320" cy="2971800"/>
          </a:xfrm>
          <a:prstGeom prst="roundRect">
            <a:avLst/>
          </a:prstGeom>
          <a:solidFill>
            <a:srgbClr val="FBE5D6"/>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8" name="Clause 3 text"/>
          <p:cNvSpPr txBox="1"/>
          <p:nvPr/>
        </p:nvSpPr>
        <p:spPr>
          <a:xfrm>
            <a:off x="9560051" y="2898648"/>
            <a:ext cx="3191256" cy="2606040"/>
          </a:xfrm>
          <a:prstGeom prst="rect">
            <a:avLst/>
          </a:prstGeom>
          <a:noFill/>
        </p:spPr>
        <p:txBody>
          <a:bodyPr wrap="square" lIns="0" tIns="0" rIns="0" bIns="0" anchor="t">
            <a:spAutoFit/>
          </a:bodyPr>
          <a:lstStyle/>
          <a:p>
            <a:pPr algn="l">
              <a:spcAft>
                <a:spcPts val="700"/>
              </a:spcAft>
            </a:pPr>
            <a:r>
              <a:rPr sz="2400" b="1" i="0">
                <a:solidFill>
                  <a:srgbClr val="000000"/>
                </a:solidFill>
                <a:latin typeface="Helvetica Neue"/>
                <a:ea typeface="Helvetica Neue"/>
                <a:cs typeface="Helvetica Neue"/>
              </a:rPr>
              <a:t>Incident notice</a:t>
            </a:r>
          </a:p>
          <a:p>
            <a:pPr algn="l">
              <a:spcAft>
                <a:spcPts val="700"/>
              </a:spcAft>
            </a:pPr>
            <a:r>
              <a:rPr sz="2000" b="0" i="0">
                <a:solidFill>
                  <a:srgbClr val="000000"/>
                </a:solidFill>
                <a:latin typeface="Helvetica Neue"/>
                <a:ea typeface="Helvetica Neue"/>
                <a:cs typeface="Helvetica Neue"/>
              </a:rPr>
              <a:t>Vendor notifies the bank fast; bank tells its regulator within 36 hours</a:t>
            </a:r>
          </a:p>
        </p:txBody>
      </p:sp>
      <p:sp>
        <p:nvSpPr>
          <p:cNvPr id="9" name="Clause 4"/>
          <p:cNvSpPr/>
          <p:nvPr/>
        </p:nvSpPr>
        <p:spPr>
          <a:xfrm>
            <a:off x="13327380" y="2697480"/>
            <a:ext cx="3703320" cy="2971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0" name="Clause 4 text"/>
          <p:cNvSpPr txBox="1"/>
          <p:nvPr/>
        </p:nvSpPr>
        <p:spPr>
          <a:xfrm>
            <a:off x="13583411" y="2898648"/>
            <a:ext cx="3191256" cy="2606040"/>
          </a:xfrm>
          <a:prstGeom prst="rect">
            <a:avLst/>
          </a:prstGeom>
          <a:noFill/>
        </p:spPr>
        <p:txBody>
          <a:bodyPr wrap="square" lIns="0" tIns="0" rIns="0" bIns="0" anchor="t">
            <a:spAutoFit/>
          </a:bodyPr>
          <a:lstStyle/>
          <a:p>
            <a:pPr algn="l">
              <a:spcAft>
                <a:spcPts val="700"/>
              </a:spcAft>
            </a:pPr>
            <a:r>
              <a:rPr sz="2400" b="1" i="0">
                <a:solidFill>
                  <a:srgbClr val="000000"/>
                </a:solidFill>
                <a:latin typeface="Helvetica Neue"/>
                <a:ea typeface="Helvetica Neue"/>
                <a:cs typeface="Helvetica Neue"/>
              </a:rPr>
              <a:t>Security</a:t>
            </a:r>
          </a:p>
          <a:p>
            <a:pPr algn="l">
              <a:spcAft>
                <a:spcPts val="700"/>
              </a:spcAft>
            </a:pPr>
            <a:r>
              <a:rPr sz="2000" b="0" i="0">
                <a:solidFill>
                  <a:srgbClr val="000000"/>
                </a:solidFill>
                <a:latin typeface="Helvetica Neue"/>
                <a:ea typeface="Helvetica Neue"/>
                <a:cs typeface="Helvetica Neue"/>
              </a:rPr>
              <a:t>Safeguards for customer information, encryption, access control</a:t>
            </a:r>
          </a:p>
        </p:txBody>
      </p:sp>
      <p:sp>
        <p:nvSpPr>
          <p:cNvPr id="11" name="Clause 5"/>
          <p:cNvSpPr/>
          <p:nvPr/>
        </p:nvSpPr>
        <p:spPr>
          <a:xfrm>
            <a:off x="1257300" y="5943600"/>
            <a:ext cx="3703320" cy="2971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2" name="Clause 5 text"/>
          <p:cNvSpPr txBox="1"/>
          <p:nvPr/>
        </p:nvSpPr>
        <p:spPr>
          <a:xfrm>
            <a:off x="1513332" y="6144768"/>
            <a:ext cx="3191256" cy="2606040"/>
          </a:xfrm>
          <a:prstGeom prst="rect">
            <a:avLst/>
          </a:prstGeom>
          <a:noFill/>
        </p:spPr>
        <p:txBody>
          <a:bodyPr wrap="square" lIns="0" tIns="0" rIns="0" bIns="0" anchor="t">
            <a:spAutoFit/>
          </a:bodyPr>
          <a:lstStyle/>
          <a:p>
            <a:pPr algn="l">
              <a:spcAft>
                <a:spcPts val="700"/>
              </a:spcAft>
            </a:pPr>
            <a:r>
              <a:rPr sz="2400" b="1" i="0">
                <a:solidFill>
                  <a:srgbClr val="000000"/>
                </a:solidFill>
                <a:latin typeface="Helvetica Neue"/>
                <a:ea typeface="Helvetica Neue"/>
                <a:cs typeface="Helvetica Neue"/>
              </a:rPr>
              <a:t>Subcontracting</a:t>
            </a:r>
          </a:p>
          <a:p>
            <a:pPr algn="l">
              <a:spcAft>
                <a:spcPts val="700"/>
              </a:spcAft>
            </a:pPr>
            <a:r>
              <a:rPr sz="2000" b="0" i="0">
                <a:solidFill>
                  <a:srgbClr val="000000"/>
                </a:solidFill>
                <a:latin typeface="Helvetica Neue"/>
                <a:ea typeface="Helvetica Neue"/>
                <a:cs typeface="Helvetica Neue"/>
              </a:rPr>
              <a:t>Notice or approval before handing work to a fourth party</a:t>
            </a:r>
          </a:p>
        </p:txBody>
      </p:sp>
      <p:sp>
        <p:nvSpPr>
          <p:cNvPr id="13" name="Clause 6"/>
          <p:cNvSpPr/>
          <p:nvPr/>
        </p:nvSpPr>
        <p:spPr>
          <a:xfrm>
            <a:off x="5280659" y="5943600"/>
            <a:ext cx="3703320" cy="2971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4" name="Clause 6 text"/>
          <p:cNvSpPr txBox="1"/>
          <p:nvPr/>
        </p:nvSpPr>
        <p:spPr>
          <a:xfrm>
            <a:off x="5536692" y="6144768"/>
            <a:ext cx="3191256" cy="2606040"/>
          </a:xfrm>
          <a:prstGeom prst="rect">
            <a:avLst/>
          </a:prstGeom>
          <a:noFill/>
        </p:spPr>
        <p:txBody>
          <a:bodyPr wrap="square" lIns="0" tIns="0" rIns="0" bIns="0" anchor="t">
            <a:spAutoFit/>
          </a:bodyPr>
          <a:lstStyle/>
          <a:p>
            <a:pPr algn="l">
              <a:spcAft>
                <a:spcPts val="700"/>
              </a:spcAft>
            </a:pPr>
            <a:r>
              <a:rPr sz="2400" b="1" i="0">
                <a:solidFill>
                  <a:srgbClr val="000000"/>
                </a:solidFill>
                <a:latin typeface="Helvetica Neue"/>
                <a:ea typeface="Helvetica Neue"/>
                <a:cs typeface="Helvetica Neue"/>
              </a:rPr>
              <a:t>Business continuity</a:t>
            </a:r>
          </a:p>
          <a:p>
            <a:pPr algn="l">
              <a:spcAft>
                <a:spcPts val="700"/>
              </a:spcAft>
            </a:pPr>
            <a:r>
              <a:rPr sz="2000" b="0" i="0">
                <a:solidFill>
                  <a:srgbClr val="000000"/>
                </a:solidFill>
                <a:latin typeface="Helvetica Neue"/>
                <a:ea typeface="Helvetica Neue"/>
                <a:cs typeface="Helvetica Neue"/>
              </a:rPr>
              <a:t>Recovery targets, and joint testing with the bank</a:t>
            </a:r>
          </a:p>
        </p:txBody>
      </p:sp>
      <p:sp>
        <p:nvSpPr>
          <p:cNvPr id="15" name="Clause 7"/>
          <p:cNvSpPr/>
          <p:nvPr/>
        </p:nvSpPr>
        <p:spPr>
          <a:xfrm>
            <a:off x="9304019" y="5943600"/>
            <a:ext cx="3703320" cy="2971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6" name="Clause 7 text"/>
          <p:cNvSpPr txBox="1"/>
          <p:nvPr/>
        </p:nvSpPr>
        <p:spPr>
          <a:xfrm>
            <a:off x="9560051" y="6144768"/>
            <a:ext cx="3191256" cy="2606040"/>
          </a:xfrm>
          <a:prstGeom prst="rect">
            <a:avLst/>
          </a:prstGeom>
          <a:noFill/>
        </p:spPr>
        <p:txBody>
          <a:bodyPr wrap="square" lIns="0" tIns="0" rIns="0" bIns="0" anchor="t">
            <a:spAutoFit/>
          </a:bodyPr>
          <a:lstStyle/>
          <a:p>
            <a:pPr algn="l">
              <a:spcAft>
                <a:spcPts val="700"/>
              </a:spcAft>
            </a:pPr>
            <a:r>
              <a:rPr sz="2400" b="1" i="0">
                <a:solidFill>
                  <a:srgbClr val="000000"/>
                </a:solidFill>
                <a:latin typeface="Helvetica Neue"/>
                <a:ea typeface="Helvetica Neue"/>
                <a:cs typeface="Helvetica Neue"/>
              </a:rPr>
              <a:t>Data ownership and return</a:t>
            </a:r>
          </a:p>
          <a:p>
            <a:pPr algn="l">
              <a:spcAft>
                <a:spcPts val="700"/>
              </a:spcAft>
            </a:pPr>
            <a:r>
              <a:rPr sz="2000" b="0" i="0">
                <a:solidFill>
                  <a:srgbClr val="000000"/>
                </a:solidFill>
                <a:latin typeface="Helvetica Neue"/>
                <a:ea typeface="Helvetica Neue"/>
                <a:cs typeface="Helvetica Neue"/>
              </a:rPr>
              <a:t>The data is the bank's; returned in a usable format</a:t>
            </a:r>
          </a:p>
        </p:txBody>
      </p:sp>
      <p:sp>
        <p:nvSpPr>
          <p:cNvPr id="17" name="Clause 8"/>
          <p:cNvSpPr/>
          <p:nvPr/>
        </p:nvSpPr>
        <p:spPr>
          <a:xfrm>
            <a:off x="13327380" y="5943600"/>
            <a:ext cx="3703320" cy="2971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8" name="Clause 8 text"/>
          <p:cNvSpPr txBox="1"/>
          <p:nvPr/>
        </p:nvSpPr>
        <p:spPr>
          <a:xfrm>
            <a:off x="13583411" y="6144768"/>
            <a:ext cx="3191256" cy="2606040"/>
          </a:xfrm>
          <a:prstGeom prst="rect">
            <a:avLst/>
          </a:prstGeom>
          <a:noFill/>
        </p:spPr>
        <p:txBody>
          <a:bodyPr wrap="square" lIns="0" tIns="0" rIns="0" bIns="0" anchor="t">
            <a:spAutoFit/>
          </a:bodyPr>
          <a:lstStyle/>
          <a:p>
            <a:pPr algn="l">
              <a:spcAft>
                <a:spcPts val="700"/>
              </a:spcAft>
            </a:pPr>
            <a:r>
              <a:rPr sz="2400" b="1" i="0">
                <a:solidFill>
                  <a:srgbClr val="000000"/>
                </a:solidFill>
                <a:latin typeface="Helvetica Neue"/>
                <a:ea typeface="Helvetica Neue"/>
                <a:cs typeface="Helvetica Neue"/>
              </a:rPr>
              <a:t>Exit and termination</a:t>
            </a:r>
          </a:p>
          <a:p>
            <a:pPr algn="l">
              <a:spcAft>
                <a:spcPts val="700"/>
              </a:spcAft>
            </a:pPr>
            <a:r>
              <a:rPr sz="2000" b="0" i="0">
                <a:solidFill>
                  <a:srgbClr val="000000"/>
                </a:solidFill>
                <a:latin typeface="Helvetica Neue"/>
                <a:ea typeface="Helvetica Neue"/>
                <a:cs typeface="Helvetica Neue"/>
              </a:rPr>
              <a:t>Transition help, timelines, and proof of data destruction</a:t>
            </a:r>
          </a:p>
        </p:txBody>
      </p:sp>
      <p:sp>
        <p:nvSpPr>
          <p:cNvPr id="19"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Sources: InTREx Development and Acquisition, procedure 3 (September 2023 version); Computer-Security Incident Notification rule (2021)</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SOC Reports: What They Tell You and What They Don't</a:t>
            </a:r>
          </a:p>
        </p:txBody>
      </p:sp>
      <p:sp>
        <p:nvSpPr>
          <p:cNvPr id="3" name="SOC 1"/>
          <p:cNvSpPr/>
          <p:nvPr/>
        </p:nvSpPr>
        <p:spPr>
          <a:xfrm>
            <a:off x="1257300" y="2697480"/>
            <a:ext cx="5029200" cy="17830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SOC 1 text"/>
          <p:cNvSpPr txBox="1"/>
          <p:nvPr/>
        </p:nvSpPr>
        <p:spPr>
          <a:xfrm>
            <a:off x="1513332" y="2898648"/>
            <a:ext cx="4517136" cy="1417319"/>
          </a:xfrm>
          <a:prstGeom prst="rect">
            <a:avLst/>
          </a:prstGeom>
          <a:noFill/>
        </p:spPr>
        <p:txBody>
          <a:bodyPr wrap="square" lIns="0" tIns="0" rIns="0" bIns="0" anchor="t">
            <a:spAutoFit/>
          </a:bodyPr>
          <a:lstStyle/>
          <a:p>
            <a:pPr algn="l">
              <a:spcAft>
                <a:spcPts val="700"/>
              </a:spcAft>
            </a:pPr>
            <a:r>
              <a:rPr sz="2600" b="1" i="0">
                <a:solidFill>
                  <a:srgbClr val="000000"/>
                </a:solidFill>
                <a:latin typeface="Helvetica Neue"/>
                <a:ea typeface="Helvetica Neue"/>
                <a:cs typeface="Helvetica Neue"/>
              </a:rPr>
              <a:t>SOC 1</a:t>
            </a:r>
          </a:p>
          <a:p>
            <a:pPr algn="l">
              <a:spcAft>
                <a:spcPts val="700"/>
              </a:spcAft>
            </a:pPr>
            <a:r>
              <a:rPr sz="1900" b="0" i="0">
                <a:solidFill>
                  <a:srgbClr val="000000"/>
                </a:solidFill>
                <a:latin typeface="Helvetica Neue"/>
                <a:ea typeface="Helvetica Neue"/>
                <a:cs typeface="Helvetica Neue"/>
              </a:rPr>
              <a:t>Financial reporting controls</a:t>
            </a:r>
          </a:p>
          <a:p>
            <a:pPr algn="l">
              <a:spcAft>
                <a:spcPts val="700"/>
              </a:spcAft>
            </a:pPr>
            <a:r>
              <a:rPr sz="1600" b="0" i="1">
                <a:solidFill>
                  <a:srgbClr val="595959"/>
                </a:solidFill>
                <a:latin typeface="Helvetica Neue"/>
                <a:ea typeface="Helvetica Neue"/>
                <a:cs typeface="Helvetica Neue"/>
              </a:rPr>
              <a:t>e.g. a core processor posting transactions</a:t>
            </a:r>
          </a:p>
        </p:txBody>
      </p:sp>
      <p:sp>
        <p:nvSpPr>
          <p:cNvPr id="5" name="SOC 2"/>
          <p:cNvSpPr/>
          <p:nvPr/>
        </p:nvSpPr>
        <p:spPr>
          <a:xfrm>
            <a:off x="6629400" y="2697480"/>
            <a:ext cx="5029200" cy="1783080"/>
          </a:xfrm>
          <a:prstGeom prst="roundRect">
            <a:avLst/>
          </a:prstGeom>
          <a:solidFill>
            <a:srgbClr val="EEF2F8"/>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6" name="SOC 2 text"/>
          <p:cNvSpPr txBox="1"/>
          <p:nvPr/>
        </p:nvSpPr>
        <p:spPr>
          <a:xfrm>
            <a:off x="6885432" y="2898648"/>
            <a:ext cx="4517136" cy="1417319"/>
          </a:xfrm>
          <a:prstGeom prst="rect">
            <a:avLst/>
          </a:prstGeom>
          <a:noFill/>
        </p:spPr>
        <p:txBody>
          <a:bodyPr wrap="square" lIns="0" tIns="0" rIns="0" bIns="0" anchor="t">
            <a:spAutoFit/>
          </a:bodyPr>
          <a:lstStyle/>
          <a:p>
            <a:pPr algn="l">
              <a:spcAft>
                <a:spcPts val="700"/>
              </a:spcAft>
            </a:pPr>
            <a:r>
              <a:rPr sz="2600" b="1" i="0">
                <a:solidFill>
                  <a:srgbClr val="000000"/>
                </a:solidFill>
                <a:latin typeface="Helvetica Neue"/>
                <a:ea typeface="Helvetica Neue"/>
                <a:cs typeface="Helvetica Neue"/>
              </a:rPr>
              <a:t>SOC 2</a:t>
            </a:r>
          </a:p>
          <a:p>
            <a:pPr algn="l">
              <a:spcAft>
                <a:spcPts val="700"/>
              </a:spcAft>
            </a:pPr>
            <a:r>
              <a:rPr sz="1900" b="0" i="0">
                <a:solidFill>
                  <a:srgbClr val="000000"/>
                </a:solidFill>
                <a:latin typeface="Helvetica Neue"/>
                <a:ea typeface="Helvetica Neue"/>
                <a:cs typeface="Helvetica Neue"/>
              </a:rPr>
              <a:t>Security, availability, confidentiality, privacy</a:t>
            </a:r>
          </a:p>
          <a:p>
            <a:pPr algn="l">
              <a:spcAft>
                <a:spcPts val="700"/>
              </a:spcAft>
            </a:pPr>
            <a:r>
              <a:rPr sz="1600" b="0" i="1">
                <a:solidFill>
                  <a:srgbClr val="595959"/>
                </a:solidFill>
                <a:latin typeface="Helvetica Neue"/>
                <a:ea typeface="Helvetica Neue"/>
                <a:cs typeface="Helvetica Neue"/>
              </a:rPr>
              <a:t>The one for IT and the network</a:t>
            </a:r>
          </a:p>
        </p:txBody>
      </p:sp>
      <p:sp>
        <p:nvSpPr>
          <p:cNvPr id="7" name="SOC 3"/>
          <p:cNvSpPr/>
          <p:nvPr/>
        </p:nvSpPr>
        <p:spPr>
          <a:xfrm>
            <a:off x="12001500" y="2697480"/>
            <a:ext cx="5029200" cy="17830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8" name="SOC 3 text"/>
          <p:cNvSpPr txBox="1"/>
          <p:nvPr/>
        </p:nvSpPr>
        <p:spPr>
          <a:xfrm>
            <a:off x="12257532" y="2898648"/>
            <a:ext cx="4517136" cy="1417319"/>
          </a:xfrm>
          <a:prstGeom prst="rect">
            <a:avLst/>
          </a:prstGeom>
          <a:noFill/>
        </p:spPr>
        <p:txBody>
          <a:bodyPr wrap="square" lIns="0" tIns="0" rIns="0" bIns="0" anchor="t">
            <a:spAutoFit/>
          </a:bodyPr>
          <a:lstStyle/>
          <a:p>
            <a:pPr algn="l">
              <a:spcAft>
                <a:spcPts val="700"/>
              </a:spcAft>
            </a:pPr>
            <a:r>
              <a:rPr sz="2600" b="1" i="0">
                <a:solidFill>
                  <a:srgbClr val="000000"/>
                </a:solidFill>
                <a:latin typeface="Helvetica Neue"/>
                <a:ea typeface="Helvetica Neue"/>
                <a:cs typeface="Helvetica Neue"/>
              </a:rPr>
              <a:t>SOC 3</a:t>
            </a:r>
          </a:p>
          <a:p>
            <a:pPr algn="l">
              <a:spcAft>
                <a:spcPts val="700"/>
              </a:spcAft>
            </a:pPr>
            <a:r>
              <a:rPr sz="1900" b="0" i="0">
                <a:solidFill>
                  <a:srgbClr val="000000"/>
                </a:solidFill>
                <a:latin typeface="Helvetica Neue"/>
                <a:ea typeface="Helvetica Neue"/>
                <a:cs typeface="Helvetica Neue"/>
              </a:rPr>
              <a:t>Public summary of a SOC 2</a:t>
            </a:r>
          </a:p>
          <a:p>
            <a:pPr algn="l">
              <a:spcAft>
                <a:spcPts val="700"/>
              </a:spcAft>
            </a:pPr>
            <a:r>
              <a:rPr sz="1600" b="0" i="1">
                <a:solidFill>
                  <a:srgbClr val="595959"/>
                </a:solidFill>
                <a:latin typeface="Helvetica Neue"/>
                <a:ea typeface="Helvetica Neue"/>
                <a:cs typeface="Helvetica Neue"/>
              </a:rPr>
              <a:t>No detail; fine for marketing, not oversight</a:t>
            </a:r>
          </a:p>
        </p:txBody>
      </p:sp>
      <p:sp>
        <p:nvSpPr>
          <p:cNvPr id="9" name="Type heading"/>
          <p:cNvSpPr txBox="1"/>
          <p:nvPr/>
        </p:nvSpPr>
        <p:spPr>
          <a:xfrm>
            <a:off x="1257300" y="4709160"/>
            <a:ext cx="3657600" cy="457200"/>
          </a:xfrm>
          <a:prstGeom prst="rect">
            <a:avLst/>
          </a:prstGeom>
          <a:noFill/>
        </p:spPr>
        <p:txBody>
          <a:bodyPr wrap="square" lIns="0" tIns="0" rIns="0" bIns="0" anchor="t">
            <a:spAutoFit/>
          </a:bodyPr>
          <a:lstStyle/>
          <a:p>
            <a:pPr algn="l">
              <a:spcAft>
                <a:spcPts val="600"/>
              </a:spcAft>
            </a:pPr>
            <a:r>
              <a:rPr sz="2100" b="1" i="0">
                <a:solidFill>
                  <a:srgbClr val="000000"/>
                </a:solidFill>
                <a:latin typeface="Helvetica Neue"/>
                <a:ea typeface="Helvetica Neue"/>
                <a:cs typeface="Helvetica Neue"/>
              </a:rPr>
              <a:t>Type I vs. Type II</a:t>
            </a:r>
          </a:p>
        </p:txBody>
      </p:sp>
      <p:cxnSp>
        <p:nvCxnSpPr>
          <p:cNvPr id="10" name="Timeline"/>
          <p:cNvCxnSpPr/>
          <p:nvPr/>
        </p:nvCxnSpPr>
        <p:spPr>
          <a:xfrm>
            <a:off x="4937760" y="5303520"/>
            <a:ext cx="11887200" cy="0"/>
          </a:xfrm>
          <a:prstGeom prst="line">
            <a:avLst/>
          </a:prstGeom>
          <a:ln w="25400">
            <a:solidFill>
              <a:srgbClr val="7F7F7F"/>
            </a:solidFill>
          </a:ln>
        </p:spPr>
        <p:style>
          <a:lnRef idx="2">
            <a:schemeClr val="accent1"/>
          </a:lnRef>
          <a:fillRef idx="0">
            <a:schemeClr val="accent1"/>
          </a:fillRef>
          <a:effectRef idx="1">
            <a:schemeClr val="accent1"/>
          </a:effectRef>
          <a:fontRef idx="minor">
            <a:schemeClr val="tx1"/>
          </a:fontRef>
        </p:style>
      </p:cxnSp>
      <p:sp>
        <p:nvSpPr>
          <p:cNvPr id="11" name="Type I dot"/>
          <p:cNvSpPr/>
          <p:nvPr/>
        </p:nvSpPr>
        <p:spPr>
          <a:xfrm>
            <a:off x="5760720" y="5120640"/>
            <a:ext cx="365760" cy="365760"/>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2" name="Type I label"/>
          <p:cNvSpPr txBox="1"/>
          <p:nvPr/>
        </p:nvSpPr>
        <p:spPr>
          <a:xfrm>
            <a:off x="4937760" y="4617720"/>
            <a:ext cx="2743200" cy="457200"/>
          </a:xfrm>
          <a:prstGeom prst="rect">
            <a:avLst/>
          </a:prstGeom>
          <a:noFill/>
        </p:spPr>
        <p:txBody>
          <a:bodyPr wrap="square" lIns="0" tIns="0" rIns="0" bIns="0" anchor="t">
            <a:spAutoFit/>
          </a:bodyPr>
          <a:lstStyle/>
          <a:p>
            <a:pPr algn="l">
              <a:spcAft>
                <a:spcPts val="600"/>
              </a:spcAft>
            </a:pPr>
            <a:r>
              <a:rPr sz="1700" b="1" i="0">
                <a:solidFill>
                  <a:srgbClr val="595959"/>
                </a:solidFill>
                <a:latin typeface="Helvetica Neue"/>
                <a:ea typeface="Helvetica Neue"/>
                <a:cs typeface="Helvetica Neue"/>
              </a:rPr>
              <a:t>Type I: one day</a:t>
            </a:r>
          </a:p>
        </p:txBody>
      </p:sp>
      <p:sp>
        <p:nvSpPr>
          <p:cNvPr id="13" name="Type II bar"/>
          <p:cNvSpPr/>
          <p:nvPr/>
        </p:nvSpPr>
        <p:spPr>
          <a:xfrm>
            <a:off x="9601200" y="5120640"/>
            <a:ext cx="7223760" cy="365760"/>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4" name="Type II label"/>
          <p:cNvSpPr txBox="1"/>
          <p:nvPr/>
        </p:nvSpPr>
        <p:spPr>
          <a:xfrm>
            <a:off x="9601200" y="4617720"/>
            <a:ext cx="7223760" cy="457200"/>
          </a:xfrm>
          <a:prstGeom prst="rect">
            <a:avLst/>
          </a:prstGeom>
          <a:noFill/>
        </p:spPr>
        <p:txBody>
          <a:bodyPr wrap="square" lIns="0" tIns="0" rIns="0" bIns="0" anchor="t">
            <a:spAutoFit/>
          </a:bodyPr>
          <a:lstStyle/>
          <a:p>
            <a:pPr algn="l">
              <a:spcAft>
                <a:spcPts val="600"/>
              </a:spcAft>
            </a:pPr>
            <a:r>
              <a:rPr sz="1700" b="1" i="0">
                <a:solidFill>
                  <a:srgbClr val="2F75B5"/>
                </a:solidFill>
                <a:latin typeface="Helvetica Neue"/>
                <a:ea typeface="Helvetica Neue"/>
                <a:cs typeface="Helvetica Neue"/>
              </a:rPr>
              <a:t>Type II: tested over 6–12 months. Ask for this one.</a:t>
            </a:r>
          </a:p>
        </p:txBody>
      </p:sp>
      <p:sp>
        <p:nvSpPr>
          <p:cNvPr id="15" name="Type I sub"/>
          <p:cNvSpPr txBox="1"/>
          <p:nvPr/>
        </p:nvSpPr>
        <p:spPr>
          <a:xfrm>
            <a:off x="1257300" y="5166360"/>
            <a:ext cx="3566160" cy="457200"/>
          </a:xfrm>
          <a:prstGeom prst="rect">
            <a:avLst/>
          </a:prstGeom>
          <a:noFill/>
        </p:spPr>
        <p:txBody>
          <a:bodyPr wrap="square" lIns="0" tIns="0" rIns="0" bIns="0" anchor="t">
            <a:spAutoFit/>
          </a:bodyPr>
          <a:lstStyle/>
          <a:p>
            <a:pPr algn="l">
              <a:spcAft>
                <a:spcPts val="600"/>
              </a:spcAft>
            </a:pPr>
            <a:r>
              <a:rPr sz="1500" b="0" i="0">
                <a:solidFill>
                  <a:srgbClr val="595959"/>
                </a:solidFill>
                <a:latin typeface="Helvetica Neue"/>
                <a:ea typeface="Helvetica Neue"/>
                <a:cs typeface="Helvetica Neue"/>
              </a:rPr>
              <a:t>design vs. operation</a:t>
            </a:r>
          </a:p>
        </p:txBody>
      </p:sp>
      <p:sp>
        <p:nvSpPr>
          <p:cNvPr id="16" name="Check heading"/>
          <p:cNvSpPr txBox="1"/>
          <p:nvPr/>
        </p:nvSpPr>
        <p:spPr>
          <a:xfrm>
            <a:off x="1257300" y="5989320"/>
            <a:ext cx="15773400" cy="45720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What the report doesn't say unless you look</a:t>
            </a:r>
          </a:p>
        </p:txBody>
      </p:sp>
      <p:sp>
        <p:nvSpPr>
          <p:cNvPr id="17" name="Check 1"/>
          <p:cNvSpPr/>
          <p:nvPr/>
        </p:nvSpPr>
        <p:spPr>
          <a:xfrm>
            <a:off x="1257300" y="6583680"/>
            <a:ext cx="2898648" cy="26974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8" name="Check 1 text"/>
          <p:cNvSpPr txBox="1"/>
          <p:nvPr/>
        </p:nvSpPr>
        <p:spPr>
          <a:xfrm>
            <a:off x="1513332" y="6784848"/>
            <a:ext cx="2386584" cy="2331720"/>
          </a:xfrm>
          <a:prstGeom prst="rect">
            <a:avLst/>
          </a:prstGeom>
          <a:noFill/>
        </p:spPr>
        <p:txBody>
          <a:bodyPr wrap="square" lIns="0" tIns="0" rIns="0" bIns="0" anchor="t">
            <a:spAutoFit/>
          </a:bodyPr>
          <a:lstStyle/>
          <a:p>
            <a:pPr algn="l">
              <a:spcAft>
                <a:spcPts val="700"/>
              </a:spcAft>
            </a:pPr>
            <a:r>
              <a:rPr sz="2200" b="1" i="0">
                <a:solidFill>
                  <a:srgbClr val="000000"/>
                </a:solidFill>
                <a:latin typeface="Helvetica Neue"/>
                <a:ea typeface="Helvetica Neue"/>
                <a:cs typeface="Helvetica Neue"/>
              </a:rPr>
              <a:t>Scope</a:t>
            </a:r>
          </a:p>
          <a:p>
            <a:pPr algn="l">
              <a:spcAft>
                <a:spcPts val="700"/>
              </a:spcAft>
            </a:pPr>
            <a:r>
              <a:rPr sz="1800" b="0" i="0">
                <a:solidFill>
                  <a:srgbClr val="000000"/>
                </a:solidFill>
                <a:latin typeface="Helvetica Neue"/>
                <a:ea typeface="Helvetica Neue"/>
                <a:cs typeface="Helvetica Neue"/>
              </a:rPr>
              <a:t>Does it cover the service and site the bank uses?</a:t>
            </a:r>
          </a:p>
        </p:txBody>
      </p:sp>
      <p:sp>
        <p:nvSpPr>
          <p:cNvPr id="19" name="Check 2"/>
          <p:cNvSpPr/>
          <p:nvPr/>
        </p:nvSpPr>
        <p:spPr>
          <a:xfrm>
            <a:off x="4475988" y="6583680"/>
            <a:ext cx="2898648" cy="26974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0" name="Check 2 text"/>
          <p:cNvSpPr txBox="1"/>
          <p:nvPr/>
        </p:nvSpPr>
        <p:spPr>
          <a:xfrm>
            <a:off x="4732020" y="6784848"/>
            <a:ext cx="2386584" cy="2331720"/>
          </a:xfrm>
          <a:prstGeom prst="rect">
            <a:avLst/>
          </a:prstGeom>
          <a:noFill/>
        </p:spPr>
        <p:txBody>
          <a:bodyPr wrap="square" lIns="0" tIns="0" rIns="0" bIns="0" anchor="t">
            <a:spAutoFit/>
          </a:bodyPr>
          <a:lstStyle/>
          <a:p>
            <a:pPr algn="l">
              <a:spcAft>
                <a:spcPts val="700"/>
              </a:spcAft>
            </a:pPr>
            <a:r>
              <a:rPr sz="2200" b="1" i="0">
                <a:solidFill>
                  <a:srgbClr val="000000"/>
                </a:solidFill>
                <a:latin typeface="Helvetica Neue"/>
                <a:ea typeface="Helvetica Neue"/>
                <a:cs typeface="Helvetica Neue"/>
              </a:rPr>
              <a:t>Carve-outs</a:t>
            </a:r>
          </a:p>
          <a:p>
            <a:pPr algn="l">
              <a:spcAft>
                <a:spcPts val="700"/>
              </a:spcAft>
            </a:pPr>
            <a:r>
              <a:rPr sz="1800" b="0" i="0">
                <a:solidFill>
                  <a:srgbClr val="000000"/>
                </a:solidFill>
                <a:latin typeface="Helvetica Neue"/>
                <a:ea typeface="Helvetica Neue"/>
                <a:cs typeface="Helvetica Neue"/>
              </a:rPr>
              <a:t>Fourth parties left out of the audit</a:t>
            </a:r>
          </a:p>
        </p:txBody>
      </p:sp>
      <p:sp>
        <p:nvSpPr>
          <p:cNvPr id="21" name="Check 3"/>
          <p:cNvSpPr/>
          <p:nvPr/>
        </p:nvSpPr>
        <p:spPr>
          <a:xfrm>
            <a:off x="7694675" y="6583680"/>
            <a:ext cx="2898648" cy="26974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2" name="Check 3 text"/>
          <p:cNvSpPr txBox="1"/>
          <p:nvPr/>
        </p:nvSpPr>
        <p:spPr>
          <a:xfrm>
            <a:off x="7950707" y="6784848"/>
            <a:ext cx="2386584" cy="2331720"/>
          </a:xfrm>
          <a:prstGeom prst="rect">
            <a:avLst/>
          </a:prstGeom>
          <a:noFill/>
        </p:spPr>
        <p:txBody>
          <a:bodyPr wrap="square" lIns="0" tIns="0" rIns="0" bIns="0" anchor="t">
            <a:spAutoFit/>
          </a:bodyPr>
          <a:lstStyle/>
          <a:p>
            <a:pPr algn="l">
              <a:spcAft>
                <a:spcPts val="700"/>
              </a:spcAft>
            </a:pPr>
            <a:r>
              <a:rPr sz="2200" b="1" i="0">
                <a:solidFill>
                  <a:srgbClr val="000000"/>
                </a:solidFill>
                <a:latin typeface="Helvetica Neue"/>
                <a:ea typeface="Helvetica Neue"/>
                <a:cs typeface="Helvetica Neue"/>
              </a:rPr>
              <a:t>Period gaps</a:t>
            </a:r>
          </a:p>
          <a:p>
            <a:pPr algn="l">
              <a:spcAft>
                <a:spcPts val="700"/>
              </a:spcAft>
            </a:pPr>
            <a:r>
              <a:rPr sz="1800" b="0" i="0">
                <a:solidFill>
                  <a:srgbClr val="000000"/>
                </a:solidFill>
                <a:latin typeface="Helvetica Neue"/>
                <a:ea typeface="Helvetica Neue"/>
                <a:cs typeface="Helvetica Neue"/>
              </a:rPr>
              <a:t>Ended months ago? Ask for a bridge letter</a:t>
            </a:r>
          </a:p>
        </p:txBody>
      </p:sp>
      <p:sp>
        <p:nvSpPr>
          <p:cNvPr id="23" name="Check 4"/>
          <p:cNvSpPr/>
          <p:nvPr/>
        </p:nvSpPr>
        <p:spPr>
          <a:xfrm>
            <a:off x="10913364" y="6583680"/>
            <a:ext cx="2898648" cy="26974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4" name="Check 4 text"/>
          <p:cNvSpPr txBox="1"/>
          <p:nvPr/>
        </p:nvSpPr>
        <p:spPr>
          <a:xfrm>
            <a:off x="11169396" y="6784848"/>
            <a:ext cx="2386584" cy="2331720"/>
          </a:xfrm>
          <a:prstGeom prst="rect">
            <a:avLst/>
          </a:prstGeom>
          <a:noFill/>
        </p:spPr>
        <p:txBody>
          <a:bodyPr wrap="square" lIns="0" tIns="0" rIns="0" bIns="0" anchor="t">
            <a:spAutoFit/>
          </a:bodyPr>
          <a:lstStyle/>
          <a:p>
            <a:pPr algn="l">
              <a:spcAft>
                <a:spcPts val="700"/>
              </a:spcAft>
            </a:pPr>
            <a:r>
              <a:rPr sz="2200" b="1" i="0">
                <a:solidFill>
                  <a:srgbClr val="000000"/>
                </a:solidFill>
                <a:latin typeface="Helvetica Neue"/>
                <a:ea typeface="Helvetica Neue"/>
                <a:cs typeface="Helvetica Neue"/>
              </a:rPr>
              <a:t>Exceptions</a:t>
            </a:r>
          </a:p>
          <a:p>
            <a:pPr algn="l">
              <a:spcAft>
                <a:spcPts val="700"/>
              </a:spcAft>
            </a:pPr>
            <a:r>
              <a:rPr sz="1800" b="0" i="0">
                <a:solidFill>
                  <a:srgbClr val="000000"/>
                </a:solidFill>
                <a:latin typeface="Helvetica Neue"/>
                <a:ea typeface="Helvetica Neue"/>
                <a:cs typeface="Helvetica Neue"/>
              </a:rPr>
              <a:t>Controls that failed, and the response</a:t>
            </a:r>
          </a:p>
        </p:txBody>
      </p:sp>
      <p:sp>
        <p:nvSpPr>
          <p:cNvPr id="25" name="Check 5"/>
          <p:cNvSpPr/>
          <p:nvPr/>
        </p:nvSpPr>
        <p:spPr>
          <a:xfrm>
            <a:off x="14132052" y="6583680"/>
            <a:ext cx="2898648" cy="2697480"/>
          </a:xfrm>
          <a:prstGeom prst="roundRect">
            <a:avLst/>
          </a:prstGeom>
          <a:solidFill>
            <a:srgbClr val="FBE5D6"/>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6" name="Check 5 text"/>
          <p:cNvSpPr txBox="1"/>
          <p:nvPr/>
        </p:nvSpPr>
        <p:spPr>
          <a:xfrm>
            <a:off x="14388084" y="6784848"/>
            <a:ext cx="2386584" cy="2331720"/>
          </a:xfrm>
          <a:prstGeom prst="rect">
            <a:avLst/>
          </a:prstGeom>
          <a:noFill/>
        </p:spPr>
        <p:txBody>
          <a:bodyPr wrap="square" lIns="0" tIns="0" rIns="0" bIns="0" anchor="t">
            <a:spAutoFit/>
          </a:bodyPr>
          <a:lstStyle/>
          <a:p>
            <a:pPr algn="l">
              <a:spcAft>
                <a:spcPts val="700"/>
              </a:spcAft>
            </a:pPr>
            <a:r>
              <a:rPr sz="2200" b="1" i="0">
                <a:solidFill>
                  <a:srgbClr val="000000"/>
                </a:solidFill>
                <a:latin typeface="Helvetica Neue"/>
                <a:ea typeface="Helvetica Neue"/>
                <a:cs typeface="Helvetica Neue"/>
              </a:rPr>
              <a:t>CUECs</a:t>
            </a:r>
          </a:p>
          <a:p>
            <a:pPr algn="l">
              <a:spcAft>
                <a:spcPts val="700"/>
              </a:spcAft>
            </a:pPr>
            <a:r>
              <a:rPr sz="1800" b="0" i="0">
                <a:solidFill>
                  <a:srgbClr val="000000"/>
                </a:solidFill>
                <a:latin typeface="Helvetica Neue"/>
                <a:ea typeface="Helvetica Neue"/>
                <a:cs typeface="Helvetica Neue"/>
              </a:rPr>
              <a:t>Controls the vendor assumes the bank has. The bank's homework.</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FedRAMP: What a Federal Cloud Authorization Does and Doesn't Tell a Bank</a:t>
            </a:r>
          </a:p>
        </p:txBody>
      </p:sp>
      <p:sp>
        <p:nvSpPr>
          <p:cNvPr id="3" name="Fed col 1"/>
          <p:cNvSpPr/>
          <p:nvPr/>
        </p:nvSpPr>
        <p:spPr>
          <a:xfrm>
            <a:off x="1257300" y="2926080"/>
            <a:ext cx="5029200" cy="4526280"/>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Fed list 1"/>
          <p:cNvSpPr txBox="1"/>
          <p:nvPr/>
        </p:nvSpPr>
        <p:spPr>
          <a:xfrm>
            <a:off x="1577340" y="3154680"/>
            <a:ext cx="4434840" cy="4206240"/>
          </a:xfrm>
          <a:prstGeom prst="rect">
            <a:avLst/>
          </a:prstGeom>
          <a:noFill/>
        </p:spPr>
        <p:txBody>
          <a:bodyPr wrap="square" lIns="0" tIns="0" rIns="0" bIns="0">
            <a:spAutoFit/>
          </a:bodyPr>
          <a:lstStyle/>
          <a:p>
            <a:pPr>
              <a:spcAft>
                <a:spcPts val="800"/>
              </a:spcAft>
            </a:pPr>
            <a:r>
              <a:rPr sz="2400" b="1" i="0">
                <a:solidFill>
                  <a:srgbClr val="000000"/>
                </a:solidFill>
                <a:latin typeface="Helvetica Neue"/>
                <a:ea typeface="Helvetica Neue"/>
                <a:cs typeface="Helvetica Neue"/>
              </a:rPr>
              <a:t>What it is</a:t>
            </a:r>
          </a:p>
          <a:p>
            <a:pPr marL="274320" indent="-274320">
              <a:spcAft>
                <a:spcPts val="600"/>
              </a:spcAft>
              <a:buFont typeface="Arial"/>
              <a:buChar char="•"/>
            </a:pPr>
            <a:r>
              <a:rPr sz="2000" b="0" i="0">
                <a:solidFill>
                  <a:srgbClr val="000000"/>
                </a:solidFill>
                <a:latin typeface="Helvetica Neue"/>
                <a:ea typeface="Helvetica Neue"/>
                <a:cs typeface="Helvetica Neue"/>
              </a:rPr>
              <a:t>U.S. government program for authorizing cloud services for federal agencies</a:t>
            </a:r>
          </a:p>
          <a:p>
            <a:pPr marL="274320" indent="-274320">
              <a:spcAft>
                <a:spcPts val="600"/>
              </a:spcAft>
              <a:buFont typeface="Arial"/>
              <a:buChar char="•"/>
            </a:pPr>
            <a:r>
              <a:rPr sz="2000" b="0" i="0">
                <a:solidFill>
                  <a:srgbClr val="000000"/>
                </a:solidFill>
                <a:latin typeface="Helvetica Neue"/>
                <a:ea typeface="Helvetica Neue"/>
                <a:cs typeface="Helvetica Neue"/>
              </a:rPr>
              <a:t>Independent assessor tests against NIST-based security controls</a:t>
            </a:r>
          </a:p>
          <a:p>
            <a:pPr marL="274320" indent="-274320">
              <a:spcAft>
                <a:spcPts val="600"/>
              </a:spcAft>
              <a:buFont typeface="Arial"/>
              <a:buChar char="•"/>
            </a:pPr>
            <a:r>
              <a:rPr sz="2000" b="0" i="0">
                <a:solidFill>
                  <a:srgbClr val="000000"/>
                </a:solidFill>
                <a:latin typeface="Helvetica Neue"/>
                <a:ea typeface="Helvetica Neue"/>
                <a:cs typeface="Helvetica Neue"/>
              </a:rPr>
              <a:t>Continuous monitoring after authorization</a:t>
            </a:r>
          </a:p>
        </p:txBody>
      </p:sp>
      <p:sp>
        <p:nvSpPr>
          <p:cNvPr id="5" name="Fed col 2"/>
          <p:cNvSpPr/>
          <p:nvPr/>
        </p:nvSpPr>
        <p:spPr>
          <a:xfrm>
            <a:off x="6629400" y="2926080"/>
            <a:ext cx="5029200" cy="4526280"/>
          </a:xfrm>
          <a:prstGeom prst="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6" name="Fed list 2"/>
          <p:cNvSpPr txBox="1"/>
          <p:nvPr/>
        </p:nvSpPr>
        <p:spPr>
          <a:xfrm>
            <a:off x="6949440" y="3154680"/>
            <a:ext cx="4434840" cy="4206240"/>
          </a:xfrm>
          <a:prstGeom prst="rect">
            <a:avLst/>
          </a:prstGeom>
          <a:noFill/>
        </p:spPr>
        <p:txBody>
          <a:bodyPr wrap="square" lIns="0" tIns="0" rIns="0" bIns="0">
            <a:spAutoFit/>
          </a:bodyPr>
          <a:lstStyle/>
          <a:p>
            <a:pPr>
              <a:spcAft>
                <a:spcPts val="800"/>
              </a:spcAft>
            </a:pPr>
            <a:r>
              <a:rPr sz="2400" b="1" i="0">
                <a:solidFill>
                  <a:srgbClr val="000000"/>
                </a:solidFill>
                <a:latin typeface="Helvetica Neue"/>
                <a:ea typeface="Helvetica Neue"/>
                <a:cs typeface="Helvetica Neue"/>
              </a:rPr>
              <a:t>What it tells a bank</a:t>
            </a:r>
          </a:p>
          <a:p>
            <a:pPr marL="274320" indent="-274320">
              <a:spcAft>
                <a:spcPts val="600"/>
              </a:spcAft>
              <a:buFont typeface="Arial"/>
              <a:buChar char="•"/>
            </a:pPr>
            <a:r>
              <a:rPr sz="2000" b="0" i="0">
                <a:solidFill>
                  <a:srgbClr val="000000"/>
                </a:solidFill>
                <a:latin typeface="Helvetica Neue"/>
                <a:ea typeface="Helvetica Neue"/>
                <a:cs typeface="Helvetica Neue"/>
              </a:rPr>
              <a:t>The provider's security program was examined in depth</a:t>
            </a:r>
          </a:p>
          <a:p>
            <a:pPr marL="274320" indent="-274320">
              <a:spcAft>
                <a:spcPts val="600"/>
              </a:spcAft>
              <a:buFont typeface="Arial"/>
              <a:buChar char="•"/>
            </a:pPr>
            <a:r>
              <a:rPr sz="2000" b="0" i="0">
                <a:solidFill>
                  <a:srgbClr val="000000"/>
                </a:solidFill>
                <a:latin typeface="Helvetica Neue"/>
                <a:ea typeface="Helvetica Neue"/>
                <a:cs typeface="Helvetica Neue"/>
              </a:rPr>
              <a:t>Controls are monitored, not checked once</a:t>
            </a:r>
          </a:p>
          <a:p>
            <a:pPr marL="274320" indent="-274320">
              <a:spcAft>
                <a:spcPts val="600"/>
              </a:spcAft>
              <a:buFont typeface="Arial"/>
              <a:buChar char="•"/>
            </a:pPr>
            <a:r>
              <a:rPr sz="2000" b="0" i="0">
                <a:solidFill>
                  <a:srgbClr val="000000"/>
                </a:solidFill>
                <a:latin typeface="Helvetica Neue"/>
                <a:ea typeface="Helvetica Neue"/>
                <a:cs typeface="Helvetica Neue"/>
              </a:rPr>
              <a:t>Good evidence for due diligence</a:t>
            </a:r>
          </a:p>
        </p:txBody>
      </p:sp>
      <p:sp>
        <p:nvSpPr>
          <p:cNvPr id="7" name="Fed col 3"/>
          <p:cNvSpPr/>
          <p:nvPr/>
        </p:nvSpPr>
        <p:spPr>
          <a:xfrm>
            <a:off x="12001500" y="2926080"/>
            <a:ext cx="5029200" cy="452628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8" name="Fed list 3"/>
          <p:cNvSpPr txBox="1"/>
          <p:nvPr/>
        </p:nvSpPr>
        <p:spPr>
          <a:xfrm>
            <a:off x="12321540" y="3154680"/>
            <a:ext cx="4434840" cy="4206240"/>
          </a:xfrm>
          <a:prstGeom prst="rect">
            <a:avLst/>
          </a:prstGeom>
          <a:noFill/>
        </p:spPr>
        <p:txBody>
          <a:bodyPr wrap="square" lIns="0" tIns="0" rIns="0" bIns="0">
            <a:spAutoFit/>
          </a:bodyPr>
          <a:lstStyle/>
          <a:p>
            <a:pPr>
              <a:spcAft>
                <a:spcPts val="800"/>
              </a:spcAft>
            </a:pPr>
            <a:r>
              <a:rPr sz="2400" b="1" i="0">
                <a:solidFill>
                  <a:srgbClr val="000000"/>
                </a:solidFill>
                <a:latin typeface="Helvetica Neue"/>
                <a:ea typeface="Helvetica Neue"/>
                <a:cs typeface="Helvetica Neue"/>
              </a:rPr>
              <a:t>What it doesn't</a:t>
            </a:r>
          </a:p>
          <a:p>
            <a:pPr marL="274320" indent="-274320">
              <a:spcAft>
                <a:spcPts val="600"/>
              </a:spcAft>
              <a:buFont typeface="Arial"/>
              <a:buChar char="•"/>
            </a:pPr>
            <a:r>
              <a:rPr sz="2000" b="0" i="0">
                <a:solidFill>
                  <a:srgbClr val="000000"/>
                </a:solidFill>
                <a:latin typeface="Helvetica Neue"/>
                <a:ea typeface="Helvetica Neue"/>
                <a:cs typeface="Helvetica Neue"/>
              </a:rPr>
              <a:t>How the bank configures it (shared responsibility)</a:t>
            </a:r>
          </a:p>
          <a:p>
            <a:pPr marL="274320" indent="-274320">
              <a:spcAft>
                <a:spcPts val="600"/>
              </a:spcAft>
              <a:buFont typeface="Arial"/>
              <a:buChar char="•"/>
            </a:pPr>
            <a:r>
              <a:rPr sz="2000" b="0" i="0">
                <a:solidFill>
                  <a:srgbClr val="000000"/>
                </a:solidFill>
                <a:latin typeface="Helvetica Neue"/>
                <a:ea typeface="Helvetica Neue"/>
                <a:cs typeface="Helvetica Neue"/>
              </a:rPr>
              <a:t>The vendor's financial condition or the bank's contract</a:t>
            </a:r>
          </a:p>
          <a:p>
            <a:pPr marL="274320" indent="-274320">
              <a:spcAft>
                <a:spcPts val="600"/>
              </a:spcAft>
              <a:buFont typeface="Arial"/>
              <a:buChar char="•"/>
            </a:pPr>
            <a:r>
              <a:rPr sz="2000" b="0" i="0">
                <a:solidFill>
                  <a:srgbClr val="000000"/>
                </a:solidFill>
                <a:latin typeface="Helvetica Neue"/>
                <a:ea typeface="Helvetica Neue"/>
                <a:cs typeface="Helvetica Neue"/>
              </a:rPr>
              <a:t>Whether the bank is buying the authorized version</a:t>
            </a:r>
          </a:p>
        </p:txBody>
      </p:sp>
      <p:sp>
        <p:nvSpPr>
          <p:cNvPr id="9" name="Fed 2026 panel"/>
          <p:cNvSpPr/>
          <p:nvPr/>
        </p:nvSpPr>
        <p:spPr>
          <a:xfrm>
            <a:off x="1257300" y="7680960"/>
            <a:ext cx="15773400" cy="16916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0" name="Fed 2026 text"/>
          <p:cNvSpPr txBox="1"/>
          <p:nvPr/>
        </p:nvSpPr>
        <p:spPr>
          <a:xfrm>
            <a:off x="1600200" y="7818120"/>
            <a:ext cx="15087600" cy="1463040"/>
          </a:xfrm>
          <a:prstGeom prst="rect">
            <a:avLst/>
          </a:prstGeom>
          <a:noFill/>
        </p:spPr>
        <p:txBody>
          <a:bodyPr wrap="square" lIns="0" tIns="0" rIns="0" bIns="0" anchor="t">
            <a:spAutoFit/>
          </a:bodyPr>
          <a:lstStyle/>
          <a:p>
            <a:pPr algn="l">
              <a:spcAft>
                <a:spcPts val="400"/>
              </a:spcAft>
            </a:pPr>
            <a:r>
              <a:rPr sz="2100" b="1" i="0">
                <a:solidFill>
                  <a:srgbClr val="000000"/>
                </a:solidFill>
                <a:latin typeface="Helvetica Neue"/>
                <a:ea typeface="Helvetica Neue"/>
                <a:cs typeface="Helvetica Neue"/>
              </a:rPr>
              <a:t>Changing in 2026</a:t>
            </a:r>
          </a:p>
          <a:p>
            <a:pPr algn="l">
              <a:spcAft>
                <a:spcPts val="400"/>
              </a:spcAft>
            </a:pPr>
            <a:r>
              <a:rPr sz="1700" b="0" i="0">
                <a:solidFill>
                  <a:srgbClr val="000000"/>
                </a:solidFill>
                <a:latin typeface="Helvetica Neue"/>
                <a:ea typeface="Helvetica Neue"/>
                <a:cs typeface="Helvetica Neue"/>
              </a:rPr>
              <a:t>“FedRAMP 20x” is moving to faster, more automated authorizations with new classes A through D; the older Rev5 process is set to phase out by the end of 2028. Ask which authorization, for which service.</a:t>
            </a:r>
          </a:p>
        </p:txBody>
      </p:sp>
      <p:sp>
        <p:nvSpPr>
          <p:cNvPr id="11"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Sources: FedRAMP program announcements; Crowell &amp; Moring summary of FedRAMP 20x changes (2026)</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Ongoing Monitoring: The Relationship After Signing</a:t>
            </a:r>
          </a:p>
        </p:txBody>
      </p:sp>
      <p:sp>
        <p:nvSpPr>
          <p:cNvPr id="3" name="Tier heading"/>
          <p:cNvSpPr txBox="1"/>
          <p:nvPr/>
        </p:nvSpPr>
        <p:spPr>
          <a:xfrm>
            <a:off x="1257300" y="2697480"/>
            <a:ext cx="5120640" cy="45720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Tier by risk</a:t>
            </a:r>
          </a:p>
        </p:txBody>
      </p:sp>
      <p:sp>
        <p:nvSpPr>
          <p:cNvPr id="4" name="Tier 1"/>
          <p:cNvSpPr/>
          <p:nvPr/>
        </p:nvSpPr>
        <p:spPr>
          <a:xfrm>
            <a:off x="1257300" y="3291840"/>
            <a:ext cx="5120640" cy="1783080"/>
          </a:xfrm>
          <a:prstGeom prst="roundRect">
            <a:avLst/>
          </a:prstGeom>
          <a:solidFill>
            <a:srgbClr val="FFFFFF"/>
          </a:solid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5" name="Tier 1 text"/>
          <p:cNvSpPr txBox="1"/>
          <p:nvPr/>
        </p:nvSpPr>
        <p:spPr>
          <a:xfrm>
            <a:off x="1508760" y="3429000"/>
            <a:ext cx="4617720" cy="1554480"/>
          </a:xfrm>
          <a:prstGeom prst="rect">
            <a:avLst/>
          </a:prstGeom>
          <a:noFill/>
        </p:spPr>
        <p:txBody>
          <a:bodyPr wrap="square" lIns="0" tIns="0" rIns="0" bIns="0" anchor="t">
            <a:spAutoFit/>
          </a:bodyPr>
          <a:lstStyle/>
          <a:p>
            <a:pPr algn="l">
              <a:spcAft>
                <a:spcPts val="300"/>
              </a:spcAft>
            </a:pPr>
            <a:r>
              <a:rPr sz="2100" b="1" i="0">
                <a:solidFill>
                  <a:srgbClr val="C00000"/>
                </a:solidFill>
                <a:latin typeface="Helvetica Neue"/>
                <a:ea typeface="Helvetica Neue"/>
                <a:cs typeface="Helvetica Neue"/>
              </a:rPr>
              <a:t>Critical</a:t>
            </a:r>
          </a:p>
          <a:p>
            <a:pPr algn="l">
              <a:spcAft>
                <a:spcPts val="300"/>
              </a:spcAft>
            </a:pPr>
            <a:r>
              <a:rPr sz="1600" b="0" i="0">
                <a:solidFill>
                  <a:srgbClr val="000000"/>
                </a:solidFill>
                <a:latin typeface="Helvetica Neue"/>
                <a:ea typeface="Helvetica Neue"/>
                <a:cs typeface="Helvetica Neue"/>
              </a:rPr>
              <a:t>Core processor, MSP, main carrier</a:t>
            </a:r>
          </a:p>
          <a:p>
            <a:pPr algn="l">
              <a:spcAft>
                <a:spcPts val="300"/>
              </a:spcAft>
            </a:pPr>
            <a:r>
              <a:rPr sz="1700" b="0" i="1">
                <a:solidFill>
                  <a:srgbClr val="404040"/>
                </a:solidFill>
                <a:latin typeface="Helvetica Neue"/>
                <a:ea typeface="Helvetica Neue"/>
                <a:cs typeface="Helvetica Neue"/>
              </a:rPr>
              <a:t>Annual or more frequent full review</a:t>
            </a:r>
          </a:p>
        </p:txBody>
      </p:sp>
      <p:sp>
        <p:nvSpPr>
          <p:cNvPr id="6" name="Tier 2"/>
          <p:cNvSpPr/>
          <p:nvPr/>
        </p:nvSpPr>
        <p:spPr>
          <a:xfrm>
            <a:off x="1257300" y="5303520"/>
            <a:ext cx="5120640" cy="1783080"/>
          </a:xfrm>
          <a:prstGeom prst="roundRect">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7" name="Tier 2 text"/>
          <p:cNvSpPr txBox="1"/>
          <p:nvPr/>
        </p:nvSpPr>
        <p:spPr>
          <a:xfrm>
            <a:off x="1508760" y="5440680"/>
            <a:ext cx="4617720" cy="1554480"/>
          </a:xfrm>
          <a:prstGeom prst="rect">
            <a:avLst/>
          </a:prstGeom>
          <a:noFill/>
        </p:spPr>
        <p:txBody>
          <a:bodyPr wrap="square" lIns="0" tIns="0" rIns="0" bIns="0" anchor="t">
            <a:spAutoFit/>
          </a:bodyPr>
          <a:lstStyle/>
          <a:p>
            <a:pPr algn="l">
              <a:spcAft>
                <a:spcPts val="300"/>
              </a:spcAft>
            </a:pPr>
            <a:r>
              <a:rPr sz="2100" b="1" i="0">
                <a:solidFill>
                  <a:srgbClr val="ED7D31"/>
                </a:solidFill>
                <a:latin typeface="Helvetica Neue"/>
                <a:ea typeface="Helvetica Neue"/>
                <a:cs typeface="Helvetica Neue"/>
              </a:rPr>
              <a:t>Moderate</a:t>
            </a:r>
          </a:p>
          <a:p>
            <a:pPr algn="l">
              <a:spcAft>
                <a:spcPts val="300"/>
              </a:spcAft>
            </a:pPr>
            <a:r>
              <a:rPr sz="1600" b="0" i="0">
                <a:solidFill>
                  <a:srgbClr val="000000"/>
                </a:solidFill>
                <a:latin typeface="Helvetica Neue"/>
                <a:ea typeface="Helvetica Neue"/>
                <a:cs typeface="Helvetica Neue"/>
              </a:rPr>
              <a:t>Card processor, SaaS with customer data</a:t>
            </a:r>
          </a:p>
          <a:p>
            <a:pPr algn="l">
              <a:spcAft>
                <a:spcPts val="300"/>
              </a:spcAft>
            </a:pPr>
            <a:r>
              <a:rPr sz="1700" b="0" i="1">
                <a:solidFill>
                  <a:srgbClr val="404040"/>
                </a:solidFill>
                <a:latin typeface="Helvetica Neue"/>
                <a:ea typeface="Helvetica Neue"/>
                <a:cs typeface="Helvetica Neue"/>
              </a:rPr>
              <a:t>Periodic review of key reports</a:t>
            </a:r>
          </a:p>
        </p:txBody>
      </p:sp>
      <p:sp>
        <p:nvSpPr>
          <p:cNvPr id="8" name="Tier 3"/>
          <p:cNvSpPr/>
          <p:nvPr/>
        </p:nvSpPr>
        <p:spPr>
          <a:xfrm>
            <a:off x="1257300" y="7315200"/>
            <a:ext cx="5120640" cy="1783080"/>
          </a:xfrm>
          <a:prstGeom prst="roundRect">
            <a:avLst/>
          </a:prstGeom>
          <a:solidFill>
            <a:srgbClr val="FFFFFF"/>
          </a:solidFill>
          <a:ln w="317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9" name="Tier 3 text"/>
          <p:cNvSpPr txBox="1"/>
          <p:nvPr/>
        </p:nvSpPr>
        <p:spPr>
          <a:xfrm>
            <a:off x="1508760" y="7452360"/>
            <a:ext cx="4617720" cy="1554480"/>
          </a:xfrm>
          <a:prstGeom prst="rect">
            <a:avLst/>
          </a:prstGeom>
          <a:noFill/>
        </p:spPr>
        <p:txBody>
          <a:bodyPr wrap="square" lIns="0" tIns="0" rIns="0" bIns="0" anchor="t">
            <a:spAutoFit/>
          </a:bodyPr>
          <a:lstStyle/>
          <a:p>
            <a:pPr algn="l">
              <a:spcAft>
                <a:spcPts val="300"/>
              </a:spcAft>
            </a:pPr>
            <a:r>
              <a:rPr sz="2100" b="1" i="0">
                <a:solidFill>
                  <a:srgbClr val="2E7D32"/>
                </a:solidFill>
                <a:latin typeface="Helvetica Neue"/>
                <a:ea typeface="Helvetica Neue"/>
                <a:cs typeface="Helvetica Neue"/>
              </a:rPr>
              <a:t>Low</a:t>
            </a:r>
          </a:p>
          <a:p>
            <a:pPr algn="l">
              <a:spcAft>
                <a:spcPts val="300"/>
              </a:spcAft>
            </a:pPr>
            <a:r>
              <a:rPr sz="1600" b="0" i="0">
                <a:solidFill>
                  <a:srgbClr val="000000"/>
                </a:solidFill>
                <a:latin typeface="Helvetica Neue"/>
                <a:ea typeface="Helvetica Neue"/>
                <a:cs typeface="Helvetica Neue"/>
              </a:rPr>
              <a:t>Office supplies, lawn care</a:t>
            </a:r>
          </a:p>
          <a:p>
            <a:pPr algn="l">
              <a:spcAft>
                <a:spcPts val="300"/>
              </a:spcAft>
            </a:pPr>
            <a:r>
              <a:rPr sz="1700" b="0" i="1">
                <a:solidFill>
                  <a:srgbClr val="404040"/>
                </a:solidFill>
                <a:latin typeface="Helvetica Neue"/>
                <a:ea typeface="Helvetica Neue"/>
                <a:cs typeface="Helvetica Neue"/>
              </a:rPr>
              <a:t>Contract and inventory on file</a:t>
            </a:r>
          </a:p>
        </p:txBody>
      </p:sp>
      <p:sp>
        <p:nvSpPr>
          <p:cNvPr id="10" name="P13 panel"/>
          <p:cNvSpPr/>
          <p:nvPr/>
        </p:nvSpPr>
        <p:spPr>
          <a:xfrm>
            <a:off x="6720840" y="2697480"/>
            <a:ext cx="4983480" cy="6675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1" name="P13 list"/>
          <p:cNvSpPr txBox="1"/>
          <p:nvPr/>
        </p:nvSpPr>
        <p:spPr>
          <a:xfrm>
            <a:off x="6995160" y="2880360"/>
            <a:ext cx="4480560" cy="6400800"/>
          </a:xfrm>
          <a:prstGeom prst="rect">
            <a:avLst/>
          </a:prstGeom>
          <a:noFill/>
        </p:spPr>
        <p:txBody>
          <a:bodyPr wrap="square" lIns="0" tIns="0" rIns="0" bIns="0">
            <a:spAutoFit/>
          </a:bodyPr>
          <a:lstStyle/>
          <a:p>
            <a:pPr>
              <a:spcAft>
                <a:spcPts val="800"/>
              </a:spcAft>
            </a:pPr>
            <a:r>
              <a:rPr sz="2200" b="1" i="0">
                <a:solidFill>
                  <a:srgbClr val="000000"/>
                </a:solidFill>
                <a:latin typeface="Helvetica Neue"/>
                <a:ea typeface="Helvetica Neue"/>
                <a:cs typeface="Helvetica Neue"/>
              </a:rPr>
              <a:t>What to review</a:t>
            </a:r>
          </a:p>
          <a:p>
            <a:pPr marL="274320" indent="-274320">
              <a:spcAft>
                <a:spcPts val="600"/>
              </a:spcAft>
              <a:buFont typeface="Arial"/>
              <a:buChar char="•"/>
            </a:pPr>
            <a:r>
              <a:rPr sz="1900" b="0" i="0">
                <a:solidFill>
                  <a:srgbClr val="000000"/>
                </a:solidFill>
                <a:latin typeface="Helvetica Neue"/>
                <a:ea typeface="Helvetica Neue"/>
                <a:cs typeface="Helvetica Neue"/>
              </a:rPr>
              <a:t>SOC reports and audits</a:t>
            </a:r>
          </a:p>
          <a:p>
            <a:pPr marL="274320" indent="-274320">
              <a:spcAft>
                <a:spcPts val="600"/>
              </a:spcAft>
              <a:buFont typeface="Arial"/>
              <a:buChar char="•"/>
            </a:pPr>
            <a:r>
              <a:rPr sz="1900" b="0" i="0">
                <a:solidFill>
                  <a:srgbClr val="000000"/>
                </a:solidFill>
                <a:latin typeface="Helvetica Neue"/>
                <a:ea typeface="Helvetica Neue"/>
                <a:cs typeface="Helvetica Neue"/>
              </a:rPr>
              <a:t>Financial statements</a:t>
            </a:r>
          </a:p>
          <a:p>
            <a:pPr marL="274320" indent="-274320">
              <a:spcAft>
                <a:spcPts val="600"/>
              </a:spcAft>
              <a:buFont typeface="Arial"/>
              <a:buChar char="•"/>
            </a:pPr>
            <a:r>
              <a:rPr sz="1900" b="0" i="0">
                <a:solidFill>
                  <a:srgbClr val="000000"/>
                </a:solidFill>
                <a:latin typeface="Helvetica Neue"/>
                <a:ea typeface="Helvetica Neue"/>
                <a:cs typeface="Helvetica Neue"/>
              </a:rPr>
              <a:t>Information security and cyber resilience</a:t>
            </a:r>
          </a:p>
          <a:p>
            <a:pPr marL="274320" indent="-274320">
              <a:spcAft>
                <a:spcPts val="600"/>
              </a:spcAft>
              <a:buFont typeface="Arial"/>
              <a:buChar char="•"/>
            </a:pPr>
            <a:r>
              <a:rPr sz="1900" b="0" i="0">
                <a:solidFill>
                  <a:srgbClr val="000000"/>
                </a:solidFill>
                <a:latin typeface="Helvetica Neue"/>
                <a:ea typeface="Helvetica Neue"/>
                <a:cs typeface="Helvetica Neue"/>
              </a:rPr>
              <a:t>Incident response</a:t>
            </a:r>
          </a:p>
          <a:p>
            <a:pPr marL="274320" indent="-274320">
              <a:spcAft>
                <a:spcPts val="600"/>
              </a:spcAft>
              <a:buFont typeface="Arial"/>
              <a:buChar char="•"/>
            </a:pPr>
            <a:r>
              <a:rPr sz="1900" b="0" i="0">
                <a:solidFill>
                  <a:srgbClr val="000000"/>
                </a:solidFill>
                <a:latin typeface="Helvetica Neue"/>
                <a:ea typeface="Helvetica Neue"/>
                <a:cs typeface="Helvetica Neue"/>
              </a:rPr>
              <a:t>Business continuity, tested with the bank's plan</a:t>
            </a:r>
          </a:p>
          <a:p>
            <a:pPr marL="274320" indent="-274320">
              <a:spcAft>
                <a:spcPts val="600"/>
              </a:spcAft>
              <a:buFont typeface="Arial"/>
              <a:buChar char="•"/>
            </a:pPr>
            <a:r>
              <a:rPr sz="1900" b="0" i="0">
                <a:solidFill>
                  <a:srgbClr val="000000"/>
                </a:solidFill>
                <a:latin typeface="Helvetica Neue"/>
                <a:ea typeface="Helvetica Neue"/>
                <a:cs typeface="Helvetica Neue"/>
              </a:rPr>
              <a:t>Service level agreement compliance</a:t>
            </a:r>
          </a:p>
          <a:p>
            <a:pPr marL="274320" indent="-274320">
              <a:spcAft>
                <a:spcPts val="600"/>
              </a:spcAft>
              <a:buFont typeface="Arial"/>
              <a:buChar char="•"/>
            </a:pPr>
            <a:r>
              <a:rPr sz="1900" b="0" i="0">
                <a:solidFill>
                  <a:srgbClr val="000000"/>
                </a:solidFill>
                <a:latin typeface="Helvetica Neue"/>
                <a:ea typeface="Helvetica Neue"/>
                <a:cs typeface="Helvetica Neue"/>
              </a:rPr>
              <a:t>Report to the board</a:t>
            </a:r>
          </a:p>
        </p:txBody>
      </p:sp>
      <p:sp>
        <p:nvSpPr>
          <p:cNvPr id="12" name="Net panel"/>
          <p:cNvSpPr/>
          <p:nvPr/>
        </p:nvSpPr>
        <p:spPr>
          <a:xfrm>
            <a:off x="12047220" y="2697480"/>
            <a:ext cx="4983480" cy="6675120"/>
          </a:xfrm>
          <a:prstGeom prst="rect">
            <a:avLst/>
          </a:prstGeom>
          <a:solidFill>
            <a:srgbClr val="EEF2F8"/>
          </a:solidFill>
          <a:ln w="2540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3" name="Net list"/>
          <p:cNvSpPr txBox="1"/>
          <p:nvPr/>
        </p:nvSpPr>
        <p:spPr>
          <a:xfrm>
            <a:off x="12321540" y="2880360"/>
            <a:ext cx="4480560" cy="6400800"/>
          </a:xfrm>
          <a:prstGeom prst="rect">
            <a:avLst/>
          </a:prstGeom>
          <a:noFill/>
        </p:spPr>
        <p:txBody>
          <a:bodyPr wrap="square" lIns="0" tIns="0" rIns="0" bIns="0">
            <a:spAutoFit/>
          </a:bodyPr>
          <a:lstStyle/>
          <a:p>
            <a:pPr>
              <a:spcAft>
                <a:spcPts val="800"/>
              </a:spcAft>
            </a:pPr>
            <a:r>
              <a:rPr sz="2200" b="1" i="0">
                <a:solidFill>
                  <a:srgbClr val="2F75B5"/>
                </a:solidFill>
                <a:latin typeface="Helvetica Neue"/>
                <a:ea typeface="Helvetica Neue"/>
                <a:cs typeface="Helvetica Neue"/>
              </a:rPr>
              <a:t>Plus the network view</a:t>
            </a:r>
          </a:p>
          <a:p>
            <a:pPr marL="274320" indent="-274320">
              <a:spcAft>
                <a:spcPts val="600"/>
              </a:spcAft>
              <a:buFont typeface="Arial"/>
              <a:buChar char="•"/>
            </a:pPr>
            <a:r>
              <a:rPr sz="1900" b="0" i="0">
                <a:solidFill>
                  <a:srgbClr val="000000"/>
                </a:solidFill>
                <a:latin typeface="Helvetica Neue"/>
                <a:ea typeface="Helvetica Neue"/>
                <a:cs typeface="Helvetica Neue"/>
              </a:rPr>
              <a:t>Carrier SLA and outage reports</a:t>
            </a:r>
          </a:p>
          <a:p>
            <a:pPr marL="274320" indent="-274320">
              <a:spcAft>
                <a:spcPts val="600"/>
              </a:spcAft>
              <a:buFont typeface="Arial"/>
              <a:buChar char="•"/>
            </a:pPr>
            <a:r>
              <a:rPr sz="1900" b="0" i="0">
                <a:solidFill>
                  <a:srgbClr val="000000"/>
                </a:solidFill>
                <a:latin typeface="Helvetica Neue"/>
                <a:ea typeface="Helvetica Neue"/>
                <a:cs typeface="Helvetica Neue"/>
              </a:rPr>
              <a:t>Logs of vendor remote sessions: who, when, what</a:t>
            </a:r>
          </a:p>
          <a:p>
            <a:pPr marL="274320" indent="-274320">
              <a:spcAft>
                <a:spcPts val="600"/>
              </a:spcAft>
              <a:buFont typeface="Arial"/>
              <a:buChar char="•"/>
            </a:pPr>
            <a:r>
              <a:rPr sz="1900" b="0" i="0">
                <a:solidFill>
                  <a:srgbClr val="000000"/>
                </a:solidFill>
                <a:latin typeface="Helvetica Neue"/>
                <a:ea typeface="Helvetica Neue"/>
                <a:cs typeface="Helvetica Neue"/>
              </a:rPr>
              <a:t>Changes in how the vendor connects</a:t>
            </a:r>
          </a:p>
          <a:p>
            <a:pPr marL="274320" indent="-274320">
              <a:spcAft>
                <a:spcPts val="600"/>
              </a:spcAft>
              <a:buFont typeface="Arial"/>
              <a:buChar char="•"/>
            </a:pPr>
            <a:r>
              <a:rPr sz="1900" b="0" i="0">
                <a:solidFill>
                  <a:srgbClr val="000000"/>
                </a:solidFill>
                <a:latin typeface="Helvetica Neue"/>
                <a:ea typeface="Helvetica Neue"/>
                <a:cs typeface="Helvetica Neue"/>
              </a:rPr>
              <a:t>New subcontractors or hosting locations</a:t>
            </a:r>
          </a:p>
          <a:p>
            <a:pPr marL="274320" indent="-274320">
              <a:spcAft>
                <a:spcPts val="600"/>
              </a:spcAft>
              <a:buFont typeface="Arial"/>
              <a:buChar char="•"/>
            </a:pPr>
            <a:r>
              <a:rPr sz="1900" b="0" i="0">
                <a:solidFill>
                  <a:srgbClr val="000000"/>
                </a:solidFill>
                <a:latin typeface="Helvetica Neue"/>
                <a:ea typeface="Helvetica Neue"/>
                <a:cs typeface="Helvetica Neue"/>
              </a:rPr>
              <a:t>Vendor-caused incidents and near misses</a:t>
            </a:r>
          </a:p>
        </p:txBody>
      </p:sp>
      <p:sp>
        <p:nvSpPr>
          <p:cNvPr id="14"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Source: InTREx Management, procedure 13 (middle column paraphrased) (September 2023 version; verify against the current version)</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8A39D-E77D-BC48-A6CA-A4C0FD34334E}"/>
              </a:ext>
            </a:extLst>
          </p:cNvPr>
          <p:cNvSpPr>
            <a:spLocks noGrp="1"/>
          </p:cNvSpPr>
          <p:nvPr>
            <p:ph type="title"/>
          </p:nvPr>
        </p:nvSpPr>
        <p:spPr/>
        <p:txBody>
          <a:bodyPr/>
          <a:lstStyle/>
          <a:p>
            <a:r>
              <a:rPr lang="en-US"/>
              <a:t>Network Talent and Trust as Risks</a:t>
            </a:r>
          </a:p>
        </p:txBody>
      </p:sp>
      <p:sp>
        <p:nvSpPr>
          <p:cNvPr id="3" name="Content Placeholder 2">
            <a:extLst>
              <a:ext uri="{FF2B5EF4-FFF2-40B4-BE49-F238E27FC236}">
                <a16:creationId xmlns:a16="http://schemas.microsoft.com/office/drawing/2014/main" id="{A5400E8E-E4DD-D34F-A55D-A5CC10B43263}"/>
              </a:ext>
            </a:extLst>
          </p:cNvPr>
          <p:cNvSpPr>
            <a:spLocks noGrp="1"/>
          </p:cNvSpPr>
          <p:nvPr>
            <p:ph idx="1"/>
          </p:nvPr>
        </p:nvSpPr>
        <p:spPr>
          <a:xfrm>
            <a:off x="1257300" y="2193131"/>
            <a:ext cx="9893300" cy="6967198"/>
          </a:xfrm>
        </p:spPr>
        <p:txBody>
          <a:bodyPr>
            <a:normAutofit lnSpcReduction="10000"/>
          </a:bodyPr>
          <a:lstStyle/>
          <a:p>
            <a:r>
              <a:rPr lang="en-US"/>
              <a:t>As network service become more powerful, they become more complex</a:t>
            </a:r>
          </a:p>
          <a:p>
            <a:r>
              <a:rPr lang="en-US"/>
              <a:t>Management software and AI should make things easier</a:t>
            </a:r>
          </a:p>
          <a:p>
            <a:r>
              <a:rPr lang="en-US"/>
              <a:t>But understanding and trusting solutions is still important</a:t>
            </a:r>
          </a:p>
          <a:p>
            <a:r>
              <a:rPr lang="en-US"/>
              <a:t>What happens if the one person at the bank who understands the network quits?</a:t>
            </a:r>
          </a:p>
          <a:p>
            <a:r>
              <a:rPr lang="en-US"/>
              <a:t>What happens if the bank can’t trust an outsourcing provider?</a:t>
            </a:r>
          </a:p>
        </p:txBody>
      </p:sp>
      <p:sp>
        <p:nvSpPr>
          <p:cNvPr id="4" name="TextBox 3">
            <a:extLst>
              <a:ext uri="{FF2B5EF4-FFF2-40B4-BE49-F238E27FC236}">
                <a16:creationId xmlns:a16="http://schemas.microsoft.com/office/drawing/2014/main" id="{22CDED85-FD1A-5C4B-BCA8-35F1CDE17293}"/>
              </a:ext>
            </a:extLst>
          </p:cNvPr>
          <p:cNvSpPr txBox="1"/>
          <p:nvPr/>
        </p:nvSpPr>
        <p:spPr>
          <a:xfrm>
            <a:off x="13233400" y="2743200"/>
            <a:ext cx="4356100" cy="4031873"/>
          </a:xfrm>
          <a:prstGeom prst="rect">
            <a:avLst/>
          </a:prstGeom>
          <a:noFill/>
        </p:spPr>
        <p:txBody>
          <a:bodyPr wrap="square" rtlCol="0">
            <a:spAutoFit/>
          </a:bodyPr>
          <a:lstStyle/>
          <a:p>
            <a:pPr marL="457200" indent="-457200">
              <a:buFont typeface="Arial" panose="020B0604020202020204" pitchFamily="34" charset="0"/>
              <a:buChar char="•"/>
            </a:pPr>
            <a:r>
              <a:rPr lang="en-US" sz="3200" b="1">
                <a:latin typeface="Helvetica Neue Condensed" panose="02000503000000020004" pitchFamily="2" charset="0"/>
                <a:ea typeface="Helvetica Neue Condensed" panose="02000503000000020004" pitchFamily="2" charset="0"/>
                <a:cs typeface="Helvetica Neue Condensed" panose="02000503000000020004" pitchFamily="2" charset="0"/>
              </a:rPr>
              <a:t>Education</a:t>
            </a:r>
          </a:p>
          <a:p>
            <a:pPr marL="457200" indent="-457200">
              <a:buFont typeface="Arial" panose="020B0604020202020204" pitchFamily="34" charset="0"/>
              <a:buChar char="•"/>
            </a:pPr>
            <a:r>
              <a:rPr lang="en-US" sz="3200" b="1">
                <a:latin typeface="Helvetica Neue Condensed" panose="02000503000000020004" pitchFamily="2" charset="0"/>
                <a:ea typeface="Helvetica Neue Condensed" panose="02000503000000020004" pitchFamily="2" charset="0"/>
                <a:cs typeface="Helvetica Neue Condensed" panose="02000503000000020004" pitchFamily="2" charset="0"/>
              </a:rPr>
              <a:t>Certification</a:t>
            </a:r>
          </a:p>
          <a:p>
            <a:pPr marL="457200" indent="-457200">
              <a:buFont typeface="Arial" panose="020B0604020202020204" pitchFamily="34" charset="0"/>
              <a:buChar char="•"/>
            </a:pPr>
            <a:r>
              <a:rPr lang="en-US" sz="3200" b="1">
                <a:latin typeface="Helvetica Neue Condensed" panose="02000503000000020004" pitchFamily="2" charset="0"/>
                <a:ea typeface="Helvetica Neue Condensed" panose="02000503000000020004" pitchFamily="2" charset="0"/>
                <a:cs typeface="Helvetica Neue Condensed" panose="02000503000000020004" pitchFamily="2" charset="0"/>
              </a:rPr>
              <a:t>Standards</a:t>
            </a:r>
          </a:p>
          <a:p>
            <a:pPr marL="457200" indent="-457200">
              <a:buFont typeface="Arial" panose="020B0604020202020204" pitchFamily="34" charset="0"/>
              <a:buChar char="•"/>
            </a:pPr>
            <a:r>
              <a:rPr lang="en-US" sz="3200" b="1">
                <a:latin typeface="Helvetica Neue Condensed" panose="02000503000000020004" pitchFamily="2" charset="0"/>
                <a:ea typeface="Helvetica Neue Condensed" panose="02000503000000020004" pitchFamily="2" charset="0"/>
                <a:cs typeface="Helvetica Neue Condensed" panose="02000503000000020004" pitchFamily="2" charset="0"/>
              </a:rPr>
              <a:t>Cross-training</a:t>
            </a:r>
          </a:p>
          <a:p>
            <a:pPr marL="457200" indent="-457200">
              <a:buFont typeface="Arial" panose="020B0604020202020204" pitchFamily="34" charset="0"/>
              <a:buChar char="•"/>
            </a:pPr>
            <a:r>
              <a:rPr lang="en-US" sz="3200" b="1">
                <a:latin typeface="Helvetica Neue Condensed" panose="02000503000000020004" pitchFamily="2" charset="0"/>
                <a:ea typeface="Helvetica Neue Condensed" panose="02000503000000020004" pitchFamily="2" charset="0"/>
                <a:cs typeface="Helvetica Neue Condensed" panose="02000503000000020004" pitchFamily="2" charset="0"/>
              </a:rPr>
              <a:t>Knowledge in Depth</a:t>
            </a:r>
          </a:p>
          <a:p>
            <a:pPr marL="457200" indent="-457200">
              <a:buFont typeface="Arial" panose="020B0604020202020204" pitchFamily="34" charset="0"/>
              <a:buChar char="•"/>
            </a:pPr>
            <a:r>
              <a:rPr lang="en-US" sz="3200" b="1">
                <a:latin typeface="Helvetica Neue Condensed" panose="02000503000000020004" pitchFamily="2" charset="0"/>
                <a:ea typeface="Helvetica Neue Condensed" panose="02000503000000020004" pitchFamily="2" charset="0"/>
                <a:cs typeface="Helvetica Neue Condensed" panose="02000503000000020004" pitchFamily="2" charset="0"/>
              </a:rPr>
              <a:t>Outside opinions</a:t>
            </a:r>
          </a:p>
          <a:p>
            <a:pPr marL="457200" indent="-457200">
              <a:buFont typeface="Arial" panose="020B0604020202020204" pitchFamily="34" charset="0"/>
              <a:buChar char="•"/>
            </a:pPr>
            <a:r>
              <a:rPr lang="en-US" sz="3200" b="1">
                <a:latin typeface="Helvetica Neue Condensed" panose="02000503000000020004" pitchFamily="2" charset="0"/>
                <a:ea typeface="Helvetica Neue Condensed" panose="02000503000000020004" pitchFamily="2" charset="0"/>
                <a:cs typeface="Helvetica Neue Condensed" panose="02000503000000020004" pitchFamily="2" charset="0"/>
              </a:rPr>
              <a:t>What else?</a:t>
            </a:r>
          </a:p>
          <a:p>
            <a:pPr marL="457200" indent="-457200">
              <a:buFont typeface="Arial" panose="020B0604020202020204" pitchFamily="34" charset="0"/>
              <a:buChar char="•"/>
            </a:pPr>
            <a:endParaRPr lang="en-US" sz="3200" b="1">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Tree>
    <p:extLst>
      <p:ext uri="{BB962C8B-B14F-4D97-AF65-F5344CB8AC3E}">
        <p14:creationId xmlns:p14="http://schemas.microsoft.com/office/powerpoint/2010/main" val="297291361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InTREx Tie-In: Vendor Management</a:t>
            </a:r>
          </a:p>
        </p:txBody>
      </p:sp>
      <p:sp>
        <p:nvSpPr>
          <p:cNvPr id="3" name="Form frame"/>
          <p:cNvSpPr/>
          <p:nvPr/>
        </p:nvSpPr>
        <p:spPr>
          <a:xfrm>
            <a:off x="1257300" y="2514600"/>
            <a:ext cx="7863840" cy="3794760"/>
          </a:xfrm>
          <a:prstGeom prst="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Form header band"/>
          <p:cNvSpPr/>
          <p:nvPr/>
        </p:nvSpPr>
        <p:spPr>
          <a:xfrm>
            <a:off x="1257300" y="2514600"/>
            <a:ext cx="7863840" cy="548640"/>
          </a:xfrm>
          <a:prstGeom prst="rect">
            <a:avLst/>
          </a:prstGeom>
          <a:solidFill>
            <a:srgbClr val="D9D9D9"/>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5" name="Form header"/>
          <p:cNvSpPr txBox="1"/>
          <p:nvPr/>
        </p:nvSpPr>
        <p:spPr>
          <a:xfrm>
            <a:off x="1485900" y="2606040"/>
            <a:ext cx="6766559" cy="411480"/>
          </a:xfrm>
          <a:prstGeom prst="rect">
            <a:avLst/>
          </a:prstGeom>
          <a:noFill/>
        </p:spPr>
        <p:txBody>
          <a:bodyPr wrap="square" lIns="0" tIns="0" rIns="0" bIns="0" anchor="ctr">
            <a:spAutoFit/>
          </a:bodyPr>
          <a:lstStyle/>
          <a:p>
            <a:pPr algn="l">
              <a:spcAft>
                <a:spcPts val="600"/>
              </a:spcAft>
            </a:pPr>
            <a:r>
              <a:rPr sz="1800" b="1" i="0">
                <a:solidFill>
                  <a:srgbClr val="000000"/>
                </a:solidFill>
                <a:latin typeface="Helvetica Neue"/>
                <a:ea typeface="Helvetica Neue"/>
                <a:cs typeface="Helvetica Neue"/>
              </a:rPr>
              <a:t>Development and Acquisition  ·  Vendor Management</a:t>
            </a:r>
          </a:p>
        </p:txBody>
      </p:sp>
      <p:pic>
        <p:nvPicPr>
          <p:cNvPr id="6" name="Form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12480" y="2583179"/>
            <a:ext cx="411480" cy="411480"/>
          </a:xfrm>
          <a:prstGeom prst="rect">
            <a:avLst/>
          </a:prstGeom>
        </p:spPr>
      </p:pic>
      <p:sp>
        <p:nvSpPr>
          <p:cNvPr id="7" name="Form question"/>
          <p:cNvSpPr txBox="1"/>
          <p:nvPr/>
        </p:nvSpPr>
        <p:spPr>
          <a:xfrm>
            <a:off x="1577340" y="3291840"/>
            <a:ext cx="7223759" cy="822960"/>
          </a:xfrm>
          <a:prstGeom prst="rect">
            <a:avLst/>
          </a:prstGeom>
          <a:noFill/>
        </p:spPr>
        <p:txBody>
          <a:bodyPr wrap="square" lIns="0" tIns="0" rIns="0" bIns="0" anchor="t">
            <a:spAutoFit/>
          </a:bodyPr>
          <a:lstStyle/>
          <a:p>
            <a:pPr algn="l">
              <a:spcAft>
                <a:spcPts val="600"/>
              </a:spcAft>
            </a:pPr>
            <a:r>
              <a:rPr sz="2000" b="0" i="0">
                <a:solidFill>
                  <a:srgbClr val="000000"/>
                </a:solidFill>
                <a:latin typeface="Helvetica Neue"/>
                <a:ea typeface="Helvetica Neue"/>
                <a:cs typeface="Helvetica Neue"/>
              </a:rPr>
              <a:t>2.  Evaluate the due diligence process in selecting key vendors. Consider management's review of:</a:t>
            </a:r>
          </a:p>
        </p:txBody>
      </p:sp>
      <p:sp>
        <p:nvSpPr>
          <p:cNvPr id="8" name="Checkbox 1"/>
          <p:cNvSpPr/>
          <p:nvPr/>
        </p:nvSpPr>
        <p:spPr>
          <a:xfrm>
            <a:off x="1805940" y="4261103"/>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9" name="Option 1"/>
          <p:cNvSpPr txBox="1"/>
          <p:nvPr/>
        </p:nvSpPr>
        <p:spPr>
          <a:xfrm>
            <a:off x="2263140" y="4206240"/>
            <a:ext cx="2971799" cy="41148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Financial condition</a:t>
            </a:r>
          </a:p>
        </p:txBody>
      </p:sp>
      <p:sp>
        <p:nvSpPr>
          <p:cNvPr id="10" name="Checkbox 2"/>
          <p:cNvSpPr/>
          <p:nvPr/>
        </p:nvSpPr>
        <p:spPr>
          <a:xfrm>
            <a:off x="5326379" y="4261103"/>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1" name="Option 2"/>
          <p:cNvSpPr txBox="1"/>
          <p:nvPr/>
        </p:nvSpPr>
        <p:spPr>
          <a:xfrm>
            <a:off x="5783579" y="4206240"/>
            <a:ext cx="2971799" cy="41148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Use of subcontractors</a:t>
            </a:r>
          </a:p>
        </p:txBody>
      </p:sp>
      <p:sp>
        <p:nvSpPr>
          <p:cNvPr id="12" name="Checkbox 3"/>
          <p:cNvSpPr/>
          <p:nvPr/>
        </p:nvSpPr>
        <p:spPr>
          <a:xfrm>
            <a:off x="1805940" y="4828031"/>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3" name="Option 3"/>
          <p:cNvSpPr txBox="1"/>
          <p:nvPr/>
        </p:nvSpPr>
        <p:spPr>
          <a:xfrm>
            <a:off x="2263140" y="4773168"/>
            <a:ext cx="2971799" cy="41148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Internal controls and security</a:t>
            </a:r>
          </a:p>
        </p:txBody>
      </p:sp>
      <p:sp>
        <p:nvSpPr>
          <p:cNvPr id="14" name="Checkbox 4"/>
          <p:cNvSpPr/>
          <p:nvPr/>
        </p:nvSpPr>
        <p:spPr>
          <a:xfrm>
            <a:off x="5326379" y="4828031"/>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5" name="Option 4"/>
          <p:cNvSpPr txBox="1"/>
          <p:nvPr/>
        </p:nvSpPr>
        <p:spPr>
          <a:xfrm>
            <a:off x="5783579" y="4773168"/>
            <a:ext cx="2971799" cy="41148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Business resumption plans</a:t>
            </a:r>
          </a:p>
        </p:txBody>
      </p:sp>
      <p:sp>
        <p:nvSpPr>
          <p:cNvPr id="16" name="Quote panel"/>
          <p:cNvSpPr/>
          <p:nvPr/>
        </p:nvSpPr>
        <p:spPr>
          <a:xfrm>
            <a:off x="9692640" y="2514600"/>
            <a:ext cx="7315200" cy="379476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7" name="Quote mark"/>
          <p:cNvSpPr txBox="1"/>
          <p:nvPr/>
        </p:nvSpPr>
        <p:spPr>
          <a:xfrm>
            <a:off x="9966960" y="2560320"/>
            <a:ext cx="914400" cy="914400"/>
          </a:xfrm>
          <a:prstGeom prst="rect">
            <a:avLst/>
          </a:prstGeom>
          <a:noFill/>
        </p:spPr>
        <p:txBody>
          <a:bodyPr wrap="square" lIns="0" tIns="0" rIns="0" bIns="0" anchor="t">
            <a:spAutoFit/>
          </a:bodyPr>
          <a:lstStyle/>
          <a:p>
            <a:pPr algn="l">
              <a:spcAft>
                <a:spcPts val="600"/>
              </a:spcAft>
            </a:pPr>
            <a:r>
              <a:rPr sz="9600" b="1" i="0">
                <a:solidFill>
                  <a:srgbClr val="8EA9DB"/>
                </a:solidFill>
                <a:latin typeface="Helvetica Neue"/>
                <a:ea typeface="Helvetica Neue"/>
                <a:cs typeface="Helvetica Neue"/>
              </a:rPr>
              <a:t>“</a:t>
            </a:r>
          </a:p>
        </p:txBody>
      </p:sp>
      <p:sp>
        <p:nvSpPr>
          <p:cNvPr id="18" name="Quote text"/>
          <p:cNvSpPr txBox="1"/>
          <p:nvPr/>
        </p:nvSpPr>
        <p:spPr>
          <a:xfrm>
            <a:off x="10149840" y="3291840"/>
            <a:ext cx="6400800" cy="1600200"/>
          </a:xfrm>
          <a:prstGeom prst="rect">
            <a:avLst/>
          </a:prstGeom>
          <a:noFill/>
        </p:spPr>
        <p:txBody>
          <a:bodyPr wrap="square" lIns="0" tIns="0" rIns="0" bIns="0" anchor="t">
            <a:spAutoFit/>
          </a:bodyPr>
          <a:lstStyle/>
          <a:p>
            <a:pPr algn="l">
              <a:spcAft>
                <a:spcPts val="600"/>
              </a:spcAft>
            </a:pPr>
            <a:r>
              <a:rPr sz="2100" b="0" i="1">
                <a:solidFill>
                  <a:srgbClr val="000000"/>
                </a:solidFill>
                <a:latin typeface="Helvetica Neue"/>
                <a:ea typeface="Helvetica Neue"/>
                <a:cs typeface="Helvetica Neue"/>
              </a:rPr>
              <a:t>A list of third-party service providers is maintained. A risk assessment is conducted to identify criticality of service providers.</a:t>
            </a:r>
          </a:p>
        </p:txBody>
      </p:sp>
      <p:sp>
        <p:nvSpPr>
          <p:cNvPr id="19" name="Quote source"/>
          <p:cNvSpPr txBox="1"/>
          <p:nvPr/>
        </p:nvSpPr>
        <p:spPr>
          <a:xfrm>
            <a:off x="10149840" y="4937760"/>
            <a:ext cx="6400800" cy="365760"/>
          </a:xfrm>
          <a:prstGeom prst="rect">
            <a:avLst/>
          </a:prstGeom>
          <a:noFill/>
        </p:spPr>
        <p:txBody>
          <a:bodyPr wrap="square" lIns="0" tIns="0" rIns="0" bIns="0" anchor="t">
            <a:spAutoFit/>
          </a:bodyPr>
          <a:lstStyle/>
          <a:p>
            <a:pPr algn="l">
              <a:spcAft>
                <a:spcPts val="600"/>
              </a:spcAft>
            </a:pPr>
            <a:r>
              <a:rPr sz="1600" b="0" i="0">
                <a:solidFill>
                  <a:srgbClr val="595959"/>
                </a:solidFill>
                <a:latin typeface="Helvetica Neue"/>
                <a:ea typeface="Helvetica Neue"/>
                <a:cs typeface="Helvetica Neue"/>
              </a:rPr>
              <a:t>InTREx Management module baseline statements</a:t>
            </a:r>
          </a:p>
        </p:txBody>
      </p:sp>
      <p:sp>
        <p:nvSpPr>
          <p:cNvPr id="20" name="Quote prompt"/>
          <p:cNvSpPr txBox="1"/>
          <p:nvPr/>
        </p:nvSpPr>
        <p:spPr>
          <a:xfrm>
            <a:off x="10149840" y="5440680"/>
            <a:ext cx="6400800" cy="731520"/>
          </a:xfrm>
          <a:prstGeom prst="rect">
            <a:avLst/>
          </a:prstGeom>
          <a:noFill/>
        </p:spPr>
        <p:txBody>
          <a:bodyPr wrap="square" lIns="0" tIns="0" rIns="0" bIns="0" anchor="t">
            <a:spAutoFit/>
          </a:bodyPr>
          <a:lstStyle/>
          <a:p>
            <a:pPr algn="l">
              <a:spcAft>
                <a:spcPts val="600"/>
              </a:spcAft>
            </a:pPr>
            <a:r>
              <a:rPr sz="2400" b="1" i="0">
                <a:solidFill>
                  <a:srgbClr val="000000"/>
                </a:solidFill>
                <a:latin typeface="Helvetica Neue"/>
                <a:ea typeface="Helvetica Neue"/>
                <a:cs typeface="Helvetica Neue"/>
              </a:rPr>
              <a:t>Is the telecom carrier on the list?</a:t>
            </a:r>
          </a:p>
        </p:txBody>
      </p:sp>
      <p:sp>
        <p:nvSpPr>
          <p:cNvPr id="21" name="Leads heading"/>
          <p:cNvSpPr txBox="1"/>
          <p:nvPr/>
        </p:nvSpPr>
        <p:spPr>
          <a:xfrm>
            <a:off x="1257300" y="6675120"/>
            <a:ext cx="15544800" cy="457200"/>
          </a:xfrm>
          <a:prstGeom prst="rect">
            <a:avLst/>
          </a:prstGeom>
          <a:noFill/>
        </p:spPr>
        <p:txBody>
          <a:bodyPr wrap="square" lIns="0" tIns="0" rIns="0" bIns="0" anchor="t">
            <a:spAutoFit/>
          </a:bodyPr>
          <a:lstStyle/>
          <a:p>
            <a:pPr algn="l">
              <a:spcAft>
                <a:spcPts val="600"/>
              </a:spcAft>
            </a:pPr>
            <a:r>
              <a:rPr sz="2400" b="1" i="0">
                <a:solidFill>
                  <a:srgbClr val="000000"/>
                </a:solidFill>
                <a:latin typeface="Helvetica Neue"/>
                <a:ea typeface="Helvetica Neue"/>
                <a:cs typeface="Helvetica Neue"/>
              </a:rPr>
              <a:t>Where vendor management leads</a:t>
            </a:r>
          </a:p>
        </p:txBody>
      </p:sp>
      <p:sp>
        <p:nvSpPr>
          <p:cNvPr id="22" name="Card 1"/>
          <p:cNvSpPr/>
          <p:nvPr/>
        </p:nvSpPr>
        <p:spPr>
          <a:xfrm>
            <a:off x="1257300"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3" name="Card 1 text"/>
          <p:cNvSpPr txBox="1"/>
          <p:nvPr/>
        </p:nvSpPr>
        <p:spPr>
          <a:xfrm>
            <a:off x="1513332"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Due diligence</a:t>
            </a:r>
          </a:p>
          <a:p>
            <a:pPr algn="l">
              <a:spcAft>
                <a:spcPts val="700"/>
              </a:spcAft>
            </a:pPr>
            <a:r>
              <a:rPr sz="1600" b="0" i="0">
                <a:solidFill>
                  <a:srgbClr val="000000"/>
                </a:solidFill>
                <a:latin typeface="Helvetica Neue"/>
                <a:ea typeface="Helvetica Neue"/>
                <a:cs typeface="Helvetica Neue"/>
              </a:rPr>
              <a:t>Depth matched to how critical the service is (D&amp;A 2)</a:t>
            </a:r>
          </a:p>
        </p:txBody>
      </p:sp>
      <p:sp>
        <p:nvSpPr>
          <p:cNvPr id="24" name="Card 2"/>
          <p:cNvSpPr/>
          <p:nvPr/>
        </p:nvSpPr>
        <p:spPr>
          <a:xfrm>
            <a:off x="5280659"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5" name="Card 2 text"/>
          <p:cNvSpPr txBox="1"/>
          <p:nvPr/>
        </p:nvSpPr>
        <p:spPr>
          <a:xfrm>
            <a:off x="5536692"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Contracts</a:t>
            </a:r>
          </a:p>
          <a:p>
            <a:pPr algn="l">
              <a:spcAft>
                <a:spcPts val="700"/>
              </a:spcAft>
            </a:pPr>
            <a:r>
              <a:rPr sz="1600" b="0" i="0">
                <a:solidFill>
                  <a:srgbClr val="000000"/>
                </a:solidFill>
                <a:latin typeface="Helvetica Neue"/>
                <a:ea typeface="Helvetica Neue"/>
                <a:cs typeface="Helvetica Neue"/>
              </a:rPr>
              <a:t>Rights and responsibilities of each party (D&amp;A 3)</a:t>
            </a:r>
          </a:p>
        </p:txBody>
      </p:sp>
      <p:sp>
        <p:nvSpPr>
          <p:cNvPr id="26" name="Card 3"/>
          <p:cNvSpPr/>
          <p:nvPr/>
        </p:nvSpPr>
        <p:spPr>
          <a:xfrm>
            <a:off x="9304019"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7" name="Card 3 text"/>
          <p:cNvSpPr txBox="1"/>
          <p:nvPr/>
        </p:nvSpPr>
        <p:spPr>
          <a:xfrm>
            <a:off x="9560051"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Reporting relationships</a:t>
            </a:r>
          </a:p>
          <a:p>
            <a:pPr algn="l">
              <a:spcAft>
                <a:spcPts val="700"/>
              </a:spcAft>
            </a:pPr>
            <a:r>
              <a:rPr sz="1600" b="0" i="0">
                <a:solidFill>
                  <a:srgbClr val="000000"/>
                </a:solidFill>
                <a:latin typeface="Helvetica Neue"/>
                <a:ea typeface="Helvetica Neue"/>
                <a:cs typeface="Helvetica Neue"/>
              </a:rPr>
              <a:t>Telling regulators about service-provider relationships (D&amp;A 4)</a:t>
            </a:r>
          </a:p>
        </p:txBody>
      </p:sp>
      <p:sp>
        <p:nvSpPr>
          <p:cNvPr id="28" name="Card 4"/>
          <p:cNvSpPr/>
          <p:nvPr/>
        </p:nvSpPr>
        <p:spPr>
          <a:xfrm>
            <a:off x="13327380"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9" name="Card 4 text"/>
          <p:cNvSpPr txBox="1"/>
          <p:nvPr/>
        </p:nvSpPr>
        <p:spPr>
          <a:xfrm>
            <a:off x="13583411"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Ongoing monitoring</a:t>
            </a:r>
          </a:p>
          <a:p>
            <a:pPr algn="l">
              <a:spcAft>
                <a:spcPts val="700"/>
              </a:spcAft>
            </a:pPr>
            <a:r>
              <a:rPr sz="1600" b="0" i="0">
                <a:solidFill>
                  <a:srgbClr val="000000"/>
                </a:solidFill>
                <a:latin typeface="Helvetica Neue"/>
                <a:ea typeface="Helvetica Neue"/>
                <a:cs typeface="Helvetica Neue"/>
              </a:rPr>
              <a:t>Risk-based program after signing (Management 13)</a:t>
            </a:r>
          </a:p>
        </p:txBody>
      </p:sp>
      <p:sp>
        <p:nvSpPr>
          <p:cNvPr id="30"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Source: InTREx Development and Acquisition and Management modules (September 2023 version; verify against the current version)</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Exercise 3: Vendor Risk Tabletop</a:t>
            </a:r>
          </a:p>
        </p:txBody>
      </p:sp>
      <p:sp>
        <p:nvSpPr>
          <p:cNvPr id="3" name="Ex3 num 1"/>
          <p:cNvSpPr/>
          <p:nvPr/>
        </p:nvSpPr>
        <p:spPr>
          <a:xfrm>
            <a:off x="1257300" y="2788920"/>
            <a:ext cx="640080" cy="64008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1</a:t>
            </a:r>
          </a:p>
        </p:txBody>
      </p:sp>
      <p:sp>
        <p:nvSpPr>
          <p:cNvPr id="4" name="Ex3 step 1"/>
          <p:cNvSpPr txBox="1"/>
          <p:nvPr/>
        </p:nvSpPr>
        <p:spPr>
          <a:xfrm>
            <a:off x="2148840" y="2697480"/>
            <a:ext cx="8595360" cy="1234440"/>
          </a:xfrm>
          <a:prstGeom prst="rect">
            <a:avLst/>
          </a:prstGeom>
          <a:noFill/>
        </p:spPr>
        <p:txBody>
          <a:bodyPr wrap="square" lIns="0" tIns="0" rIns="0" bIns="0" anchor="t">
            <a:spAutoFit/>
          </a:bodyPr>
          <a:lstStyle/>
          <a:p>
            <a:pPr algn="l">
              <a:spcAft>
                <a:spcPts val="200"/>
              </a:spcAft>
            </a:pPr>
            <a:r>
              <a:rPr sz="2400" b="1" i="0">
                <a:solidFill>
                  <a:srgbClr val="000000"/>
                </a:solidFill>
                <a:latin typeface="Helvetica Neue"/>
                <a:ea typeface="Helvetica Neue"/>
                <a:cs typeface="Helvetica Neue"/>
              </a:rPr>
              <a:t>Circle every third party</a:t>
            </a:r>
          </a:p>
          <a:p>
            <a:pPr algn="l">
              <a:spcAft>
                <a:spcPts val="200"/>
              </a:spcAft>
            </a:pPr>
            <a:r>
              <a:rPr sz="1800" b="0" i="0">
                <a:solidFill>
                  <a:srgbClr val="404040"/>
                </a:solidFill>
                <a:latin typeface="Helvetica Neue"/>
                <a:ea typeface="Helvetica Neue"/>
                <a:cs typeface="Helvetica Neue"/>
              </a:rPr>
              <a:t>Use the new color. Add vendors you know exist but aren't drawn.</a:t>
            </a:r>
          </a:p>
        </p:txBody>
      </p:sp>
      <p:sp>
        <p:nvSpPr>
          <p:cNvPr id="5" name="Ex3 num 2"/>
          <p:cNvSpPr/>
          <p:nvPr/>
        </p:nvSpPr>
        <p:spPr>
          <a:xfrm>
            <a:off x="1257300" y="4114800"/>
            <a:ext cx="640080" cy="64008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2</a:t>
            </a:r>
          </a:p>
        </p:txBody>
      </p:sp>
      <p:sp>
        <p:nvSpPr>
          <p:cNvPr id="6" name="Ex3 step 2"/>
          <p:cNvSpPr txBox="1"/>
          <p:nvPr/>
        </p:nvSpPr>
        <p:spPr>
          <a:xfrm>
            <a:off x="2148840" y="4023360"/>
            <a:ext cx="8595360" cy="1234440"/>
          </a:xfrm>
          <a:prstGeom prst="rect">
            <a:avLst/>
          </a:prstGeom>
          <a:noFill/>
        </p:spPr>
        <p:txBody>
          <a:bodyPr wrap="square" lIns="0" tIns="0" rIns="0" bIns="0" anchor="t">
            <a:spAutoFit/>
          </a:bodyPr>
          <a:lstStyle/>
          <a:p>
            <a:pPr algn="l">
              <a:spcAft>
                <a:spcPts val="200"/>
              </a:spcAft>
            </a:pPr>
            <a:r>
              <a:rPr sz="2400" b="1" i="0">
                <a:solidFill>
                  <a:srgbClr val="000000"/>
                </a:solidFill>
                <a:latin typeface="Helvetica Neue"/>
                <a:ea typeface="Helvetica Neue"/>
                <a:cs typeface="Helvetica Neue"/>
              </a:rPr>
              <a:t>Label each connection</a:t>
            </a:r>
          </a:p>
          <a:p>
            <a:pPr algn="l">
              <a:spcAft>
                <a:spcPts val="200"/>
              </a:spcAft>
            </a:pPr>
            <a:r>
              <a:rPr sz="1800" b="0" i="0">
                <a:solidFill>
                  <a:srgbClr val="404040"/>
                </a:solidFill>
                <a:latin typeface="Helvetica Neue"/>
                <a:ea typeface="Helvetica Neue"/>
                <a:cs typeface="Helvetica Neue"/>
              </a:rPr>
              <a:t>How it connects, and what it can reach once it's in</a:t>
            </a:r>
          </a:p>
        </p:txBody>
      </p:sp>
      <p:sp>
        <p:nvSpPr>
          <p:cNvPr id="7" name="Ex3 num 3"/>
          <p:cNvSpPr/>
          <p:nvPr/>
        </p:nvSpPr>
        <p:spPr>
          <a:xfrm>
            <a:off x="1257300" y="5440679"/>
            <a:ext cx="640080" cy="64008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3</a:t>
            </a:r>
          </a:p>
        </p:txBody>
      </p:sp>
      <p:sp>
        <p:nvSpPr>
          <p:cNvPr id="8" name="Ex3 step 3"/>
          <p:cNvSpPr txBox="1"/>
          <p:nvPr/>
        </p:nvSpPr>
        <p:spPr>
          <a:xfrm>
            <a:off x="2148840" y="5349240"/>
            <a:ext cx="8595360" cy="1234440"/>
          </a:xfrm>
          <a:prstGeom prst="rect">
            <a:avLst/>
          </a:prstGeom>
          <a:noFill/>
        </p:spPr>
        <p:txBody>
          <a:bodyPr wrap="square" lIns="0" tIns="0" rIns="0" bIns="0" anchor="t">
            <a:spAutoFit/>
          </a:bodyPr>
          <a:lstStyle/>
          <a:p>
            <a:pPr algn="l">
              <a:spcAft>
                <a:spcPts val="200"/>
              </a:spcAft>
            </a:pPr>
            <a:r>
              <a:rPr sz="2400" b="1" i="0">
                <a:solidFill>
                  <a:srgbClr val="000000"/>
                </a:solidFill>
                <a:latin typeface="Helvetica Neue"/>
                <a:ea typeface="Helvetica Neue"/>
                <a:cs typeface="Helvetica Neue"/>
              </a:rPr>
              <a:t>Star the biggest worry</a:t>
            </a:r>
          </a:p>
          <a:p>
            <a:pPr algn="l">
              <a:spcAft>
                <a:spcPts val="200"/>
              </a:spcAft>
            </a:pPr>
            <a:r>
              <a:rPr sz="1800" b="0" i="0">
                <a:solidFill>
                  <a:srgbClr val="404040"/>
                </a:solidFill>
                <a:latin typeface="Helvetica Neue"/>
                <a:ea typeface="Helvetica Neue"/>
                <a:cs typeface="Helvetica Neue"/>
              </a:rPr>
              <a:t>One vendor per table. Be ready to say why.</a:t>
            </a:r>
          </a:p>
        </p:txBody>
      </p:sp>
      <p:sp>
        <p:nvSpPr>
          <p:cNvPr id="9" name="Ex3 num 4"/>
          <p:cNvSpPr/>
          <p:nvPr/>
        </p:nvSpPr>
        <p:spPr>
          <a:xfrm>
            <a:off x="1257300" y="6766559"/>
            <a:ext cx="640080" cy="64008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4</a:t>
            </a:r>
          </a:p>
        </p:txBody>
      </p:sp>
      <p:sp>
        <p:nvSpPr>
          <p:cNvPr id="10" name="Ex3 step 4"/>
          <p:cNvSpPr txBox="1"/>
          <p:nvPr/>
        </p:nvSpPr>
        <p:spPr>
          <a:xfrm>
            <a:off x="2148840" y="6675120"/>
            <a:ext cx="8595360" cy="1234440"/>
          </a:xfrm>
          <a:prstGeom prst="rect">
            <a:avLst/>
          </a:prstGeom>
          <a:noFill/>
        </p:spPr>
        <p:txBody>
          <a:bodyPr wrap="square" lIns="0" tIns="0" rIns="0" bIns="0" anchor="t">
            <a:spAutoFit/>
          </a:bodyPr>
          <a:lstStyle/>
          <a:p>
            <a:pPr algn="l">
              <a:spcAft>
                <a:spcPts val="200"/>
              </a:spcAft>
            </a:pPr>
            <a:r>
              <a:rPr sz="2400" b="1" i="0">
                <a:solidFill>
                  <a:srgbClr val="000000"/>
                </a:solidFill>
                <a:latin typeface="Helvetica Neue"/>
                <a:ea typeface="Helvetica Neue"/>
                <a:cs typeface="Helvetica Neue"/>
              </a:rPr>
              <a:t>Write five questions</a:t>
            </a:r>
          </a:p>
          <a:p>
            <a:pPr algn="l">
              <a:spcAft>
                <a:spcPts val="200"/>
              </a:spcAft>
            </a:pPr>
            <a:r>
              <a:rPr sz="1800" b="0" i="0">
                <a:solidFill>
                  <a:srgbClr val="404040"/>
                </a:solidFill>
                <a:latin typeface="Helvetica Neue"/>
                <a:ea typeface="Helvetica Neue"/>
                <a:cs typeface="Helvetica Neue"/>
              </a:rPr>
              <a:t>For one vendor, what you'd ask before signing or renewing</a:t>
            </a:r>
          </a:p>
        </p:txBody>
      </p:sp>
      <p:sp>
        <p:nvSpPr>
          <p:cNvPr id="11" name="Ex3 num 5"/>
          <p:cNvSpPr/>
          <p:nvPr/>
        </p:nvSpPr>
        <p:spPr>
          <a:xfrm>
            <a:off x="1257300" y="8092440"/>
            <a:ext cx="640080" cy="64008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5</a:t>
            </a:r>
          </a:p>
        </p:txBody>
      </p:sp>
      <p:sp>
        <p:nvSpPr>
          <p:cNvPr id="12" name="Ex3 step 5"/>
          <p:cNvSpPr txBox="1"/>
          <p:nvPr/>
        </p:nvSpPr>
        <p:spPr>
          <a:xfrm>
            <a:off x="2148840" y="8001000"/>
            <a:ext cx="8595360" cy="1234440"/>
          </a:xfrm>
          <a:prstGeom prst="rect">
            <a:avLst/>
          </a:prstGeom>
          <a:noFill/>
        </p:spPr>
        <p:txBody>
          <a:bodyPr wrap="square" lIns="0" tIns="0" rIns="0" bIns="0" anchor="t">
            <a:spAutoFit/>
          </a:bodyPr>
          <a:lstStyle/>
          <a:p>
            <a:pPr algn="l">
              <a:spcAft>
                <a:spcPts val="200"/>
              </a:spcAft>
            </a:pPr>
            <a:r>
              <a:rPr sz="2400" b="1" i="0">
                <a:solidFill>
                  <a:srgbClr val="000000"/>
                </a:solidFill>
                <a:latin typeface="Helvetica Neue"/>
                <a:ea typeface="Helvetica Neue"/>
                <a:cs typeface="Helvetica Neue"/>
              </a:rPr>
              <a:t>Report out</a:t>
            </a:r>
          </a:p>
          <a:p>
            <a:pPr algn="l">
              <a:spcAft>
                <a:spcPts val="200"/>
              </a:spcAft>
            </a:pPr>
            <a:r>
              <a:rPr sz="1800" b="0" i="0">
                <a:solidFill>
                  <a:srgbClr val="404040"/>
                </a:solidFill>
                <a:latin typeface="Helvetica Neue"/>
                <a:ea typeface="Helvetica Neue"/>
                <a:cs typeface="Helvetica Neue"/>
              </a:rPr>
              <a:t>Two minutes per table</a:t>
            </a:r>
          </a:p>
        </p:txBody>
      </p:sp>
      <p:sp>
        <p:nvSpPr>
          <p:cNvPr id="13" name="Ex3 time panel"/>
          <p:cNvSpPr/>
          <p:nvPr/>
        </p:nvSpPr>
        <p:spPr>
          <a:xfrm>
            <a:off x="11292840" y="2697480"/>
            <a:ext cx="5737860" cy="18288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4" name="Ex3 time"/>
          <p:cNvSpPr txBox="1"/>
          <p:nvPr/>
        </p:nvSpPr>
        <p:spPr>
          <a:xfrm>
            <a:off x="11612880" y="2834640"/>
            <a:ext cx="5097780" cy="1645920"/>
          </a:xfrm>
          <a:prstGeom prst="rect">
            <a:avLst/>
          </a:prstGeom>
          <a:noFill/>
        </p:spPr>
        <p:txBody>
          <a:bodyPr wrap="square" lIns="0" tIns="0" rIns="0" bIns="0" anchor="t">
            <a:spAutoFit/>
          </a:bodyPr>
          <a:lstStyle/>
          <a:p>
            <a:pPr algn="l">
              <a:spcAft>
                <a:spcPts val="400"/>
              </a:spcAft>
            </a:pPr>
            <a:r>
              <a:rPr sz="2600" b="1" i="0">
                <a:solidFill>
                  <a:srgbClr val="000000"/>
                </a:solidFill>
                <a:latin typeface="Helvetica Neue"/>
                <a:ea typeface="Helvetica Neue"/>
                <a:cs typeface="Helvetica Neue"/>
              </a:rPr>
              <a:t>About 40 minutes</a:t>
            </a:r>
          </a:p>
          <a:p>
            <a:pPr algn="l">
              <a:spcAft>
                <a:spcPts val="400"/>
              </a:spcAft>
            </a:pPr>
            <a:r>
              <a:rPr sz="1800" b="0" i="0">
                <a:solidFill>
                  <a:srgbClr val="404040"/>
                </a:solidFill>
                <a:latin typeface="Helvetica Neue"/>
                <a:ea typeface="Helvetica Neue"/>
                <a:cs typeface="Helvetica Neue"/>
              </a:rPr>
              <a:t>25 at tables, 10–15 report-out</a:t>
            </a:r>
          </a:p>
        </p:txBody>
      </p:sp>
      <p:sp>
        <p:nvSpPr>
          <p:cNvPr id="15" name="Ex3 need panel"/>
          <p:cNvSpPr/>
          <p:nvPr/>
        </p:nvSpPr>
        <p:spPr>
          <a:xfrm>
            <a:off x="11292840" y="4754880"/>
            <a:ext cx="5737860"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6" name="Ex3 need"/>
          <p:cNvSpPr txBox="1"/>
          <p:nvPr/>
        </p:nvSpPr>
        <p:spPr>
          <a:xfrm>
            <a:off x="11612880" y="4892040"/>
            <a:ext cx="5097780" cy="1920240"/>
          </a:xfrm>
          <a:prstGeom prst="rect">
            <a:avLst/>
          </a:prstGeom>
          <a:noFill/>
        </p:spPr>
        <p:txBody>
          <a:bodyPr wrap="square" lIns="0" tIns="0" rIns="0" bIns="0" anchor="t">
            <a:spAutoFit/>
          </a:bodyPr>
          <a:lstStyle/>
          <a:p>
            <a:pPr algn="l">
              <a:spcAft>
                <a:spcPts val="400"/>
              </a:spcAft>
            </a:pPr>
            <a:r>
              <a:rPr sz="2200" b="1" i="0">
                <a:solidFill>
                  <a:srgbClr val="000000"/>
                </a:solidFill>
                <a:latin typeface="Helvetica Neue"/>
                <a:ea typeface="Helvetica Neue"/>
                <a:cs typeface="Helvetica Neue"/>
              </a:rPr>
              <a:t>Each table needs</a:t>
            </a:r>
          </a:p>
          <a:p>
            <a:pPr algn="l">
              <a:spcAft>
                <a:spcPts val="400"/>
              </a:spcAft>
            </a:pPr>
            <a:r>
              <a:rPr sz="1800" b="0" i="0">
                <a:solidFill>
                  <a:srgbClr val="000000"/>
                </a:solidFill>
                <a:latin typeface="Helvetica Neue"/>
                <a:ea typeface="Helvetica Neue"/>
                <a:cs typeface="Helvetica Neue"/>
              </a:rPr>
              <a:t>Its diagram from Exercises 1 and 2</a:t>
            </a:r>
          </a:p>
          <a:p>
            <a:pPr algn="l">
              <a:spcAft>
                <a:spcPts val="400"/>
              </a:spcAft>
            </a:pPr>
            <a:r>
              <a:rPr sz="1800" b="0" i="0">
                <a:solidFill>
                  <a:srgbClr val="000000"/>
                </a:solidFill>
                <a:latin typeface="Helvetica Neue"/>
                <a:ea typeface="Helvetica Neue"/>
                <a:cs typeface="Helvetica Neue"/>
              </a:rPr>
              <a:t>A marker in a new color</a:t>
            </a:r>
          </a:p>
        </p:txBody>
      </p:sp>
      <p:sp>
        <p:nvSpPr>
          <p:cNvPr id="17" name="Ex3 out panel"/>
          <p:cNvSpPr/>
          <p:nvPr/>
        </p:nvSpPr>
        <p:spPr>
          <a:xfrm>
            <a:off x="11292840" y="7086600"/>
            <a:ext cx="5737860" cy="228600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8" name="Ex3 out"/>
          <p:cNvSpPr txBox="1"/>
          <p:nvPr/>
        </p:nvSpPr>
        <p:spPr>
          <a:xfrm>
            <a:off x="11612880" y="7223760"/>
            <a:ext cx="5097780" cy="2103120"/>
          </a:xfrm>
          <a:prstGeom prst="rect">
            <a:avLst/>
          </a:prstGeom>
          <a:noFill/>
        </p:spPr>
        <p:txBody>
          <a:bodyPr wrap="square" lIns="0" tIns="0" rIns="0" bIns="0" anchor="t">
            <a:spAutoFit/>
          </a:bodyPr>
          <a:lstStyle/>
          <a:p>
            <a:pPr algn="l">
              <a:spcAft>
                <a:spcPts val="400"/>
              </a:spcAft>
            </a:pPr>
            <a:r>
              <a:rPr sz="2200" b="1" i="0">
                <a:solidFill>
                  <a:srgbClr val="000000"/>
                </a:solidFill>
                <a:latin typeface="Helvetica Neue"/>
                <a:ea typeface="Helvetica Neue"/>
                <a:cs typeface="Helvetica Neue"/>
              </a:rPr>
              <a:t>Report out</a:t>
            </a:r>
          </a:p>
          <a:p>
            <a:pPr algn="l">
              <a:spcAft>
                <a:spcPts val="400"/>
              </a:spcAft>
            </a:pPr>
            <a:r>
              <a:rPr sz="1800" b="0" i="0">
                <a:solidFill>
                  <a:srgbClr val="000000"/>
                </a:solidFill>
                <a:latin typeface="Helvetica Neue"/>
                <a:ea typeface="Helvetica Neue"/>
                <a:cs typeface="Helvetica Neue"/>
              </a:rPr>
              <a:t>The vendor you starred, and why</a:t>
            </a:r>
          </a:p>
          <a:p>
            <a:pPr algn="l">
              <a:spcAft>
                <a:spcPts val="400"/>
              </a:spcAft>
            </a:pPr>
            <a:r>
              <a:rPr sz="1800" b="0" i="0">
                <a:solidFill>
                  <a:srgbClr val="000000"/>
                </a:solidFill>
                <a:latin typeface="Helvetica Neue"/>
                <a:ea typeface="Helvetica Neue"/>
                <a:cs typeface="Helvetica Neue"/>
              </a:rPr>
              <a:t>Your best question of the five</a:t>
            </a:r>
          </a:p>
          <a:p>
            <a:pPr algn="l">
              <a:spcAft>
                <a:spcPts val="400"/>
              </a:spcAft>
            </a:pPr>
            <a:r>
              <a:rPr sz="1800" b="0" i="0">
                <a:solidFill>
                  <a:srgbClr val="000000"/>
                </a:solidFill>
                <a:latin typeface="Helvetica Neue"/>
                <a:ea typeface="Helvetica Neue"/>
                <a:cs typeface="Helvetica Neue"/>
              </a:rPr>
              <a:t>One vendor you suspect but couldn't see</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Chapter 22: Managed Services and Shadow IT</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Managed Security Solutions</a:t>
            </a:r>
          </a:p>
        </p:txBody>
      </p:sp>
      <p:sp>
        <p:nvSpPr>
          <p:cNvPr id="3" name="Content Placeholder 2"/>
          <p:cNvSpPr>
            <a:spLocks noGrp="1"/>
          </p:cNvSpPr>
          <p:nvPr>
            <p:ph idx="1"/>
          </p:nvPr>
        </p:nvSpPr>
        <p:spPr/>
        <p:txBody>
          <a:bodyPr>
            <a:normAutofit/>
          </a:bodyPr>
          <a:lstStyle/>
          <a:p>
            <a:r>
              <a:rPr lang="en-US"/>
              <a:t>Security has become a critical infrastructure issue</a:t>
            </a:r>
          </a:p>
          <a:p>
            <a:r>
              <a:rPr lang="en-US"/>
              <a:t>Threats growing more complex and sophisticated</a:t>
            </a:r>
          </a:p>
          <a:p>
            <a:r>
              <a:rPr lang="en-US"/>
              <a:t>Skilled security personnel shortages drive outsourcing</a:t>
            </a:r>
          </a:p>
          <a:p>
            <a:r>
              <a:rPr lang="en-US"/>
              <a:t>Outsourcing some or all of security a growing industry</a:t>
            </a:r>
          </a:p>
          <a:p>
            <a:r>
              <a:rPr lang="en-US"/>
              <a:t>Usually called Managed Security Service Providers</a:t>
            </a:r>
          </a:p>
          <a:p>
            <a:pPr marL="0" indent="0">
              <a:buNone/>
            </a:pPr>
            <a:endParaRPr lang="en-US"/>
          </a:p>
        </p:txBody>
      </p:sp>
      <p:sp>
        <p:nvSpPr>
          <p:cNvPr id="4" name="Slide Number Placeholder 3"/>
          <p:cNvSpPr>
            <a:spLocks noGrp="1"/>
          </p:cNvSpPr>
          <p:nvPr>
            <p:ph type="sldNum" sz="quarter" idx="4294967295"/>
          </p:nvPr>
        </p:nvSpPr>
        <p:spPr>
          <a:xfrm>
            <a:off x="0" y="9534525"/>
            <a:ext cx="4114800" cy="547688"/>
          </a:xfrm>
          <a:prstGeom prst="rect">
            <a:avLst/>
          </a:prstGeom>
        </p:spPr>
        <p:txBody>
          <a:bodyPr/>
          <a:lstStyle/>
          <a:p>
            <a:pPr algn="ctr"/>
            <a:fld id="{76E8DCF4-EBDD-4FE1-8465-FD383573D554}" type="slidenum">
              <a:rPr lang="en-US" smtClean="0"/>
              <a:pPr algn="ctr"/>
              <a:t>174</a:t>
            </a:fld>
            <a:endParaRPr lang="en-US"/>
          </a:p>
        </p:txBody>
      </p:sp>
      <p:pic>
        <p:nvPicPr>
          <p:cNvPr id="9" name="Graphic 8" descr="Medieval Armor with solid fill">
            <a:extLst>
              <a:ext uri="{FF2B5EF4-FFF2-40B4-BE49-F238E27FC236}">
                <a16:creationId xmlns:a16="http://schemas.microsoft.com/office/drawing/2014/main" id="{422558E1-1D83-2C6A-9297-B5549DC02A7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477761" y="6582569"/>
            <a:ext cx="3225800" cy="3225800"/>
          </a:xfrm>
          <a:prstGeom prst="rect">
            <a:avLst/>
          </a:prstGeom>
        </p:spPr>
      </p:pic>
    </p:spTree>
    <p:custDataLst>
      <p:tags r:id="rId1"/>
    </p:custDataLst>
    <p:extLst>
      <p:ext uri="{BB962C8B-B14F-4D97-AF65-F5344CB8AC3E}">
        <p14:creationId xmlns:p14="http://schemas.microsoft.com/office/powerpoint/2010/main" val="2606720216"/>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Many Players</a:t>
            </a:r>
          </a:p>
        </p:txBody>
      </p:sp>
      <p:sp>
        <p:nvSpPr>
          <p:cNvPr id="33" name="Content Placeholder 32"/>
          <p:cNvSpPr>
            <a:spLocks noGrp="1"/>
          </p:cNvSpPr>
          <p:nvPr>
            <p:ph idx="1"/>
          </p:nvPr>
        </p:nvSpPr>
        <p:spPr/>
        <p:txBody>
          <a:bodyPr/>
          <a:lstStyle/>
          <a:p>
            <a:r>
              <a:rPr lang="en-US"/>
              <a:t>Network equipment manufacturers</a:t>
            </a:r>
          </a:p>
          <a:p>
            <a:pPr lvl="1"/>
            <a:r>
              <a:rPr lang="en-US"/>
              <a:t>Moved to offer security in their offerings</a:t>
            </a:r>
          </a:p>
          <a:p>
            <a:pPr lvl="1"/>
            <a:r>
              <a:rPr lang="en-US"/>
              <a:t>Security capabilities include subscription for capabilities and ongoing monitoring, updates and management portal access</a:t>
            </a:r>
          </a:p>
          <a:p>
            <a:r>
              <a:rPr lang="en-US"/>
              <a:t>Security software and equipment providers</a:t>
            </a:r>
          </a:p>
          <a:p>
            <a:pPr lvl="1"/>
            <a:r>
              <a:rPr lang="en-US"/>
              <a:t>Historically limited focused offerings</a:t>
            </a:r>
          </a:p>
          <a:p>
            <a:pPr lvl="1"/>
            <a:r>
              <a:rPr lang="en-US"/>
              <a:t>Many expanded service set or have been acquired</a:t>
            </a:r>
          </a:p>
          <a:p>
            <a:pPr lvl="2"/>
            <a:r>
              <a:rPr lang="en-US"/>
              <a:t>Broader range of security offerings (e.g. perimeter security added endpoint)</a:t>
            </a:r>
          </a:p>
          <a:p>
            <a:pPr lvl="2"/>
            <a:r>
              <a:rPr lang="en-US"/>
              <a:t>With AI and ML, monitoring has become integral to the product</a:t>
            </a:r>
          </a:p>
          <a:p>
            <a:pPr lvl="2"/>
            <a:r>
              <a:rPr lang="en-US"/>
              <a:t>Expansion into network space</a:t>
            </a:r>
          </a:p>
          <a:p>
            <a:pPr lvl="2"/>
            <a:r>
              <a:rPr lang="en-US"/>
              <a:t>Professional services (design and incident response)</a:t>
            </a:r>
          </a:p>
          <a:p>
            <a:pPr lvl="1"/>
            <a:endParaRPr lang="en-US"/>
          </a:p>
          <a:p>
            <a:pPr lvl="2"/>
            <a:endParaRPr lang="en-US"/>
          </a:p>
        </p:txBody>
      </p:sp>
      <p:sp>
        <p:nvSpPr>
          <p:cNvPr id="4" name="Slide Number Placeholder 3"/>
          <p:cNvSpPr>
            <a:spLocks noGrp="1"/>
          </p:cNvSpPr>
          <p:nvPr>
            <p:ph type="sldNum" sz="quarter" idx="4294967295"/>
          </p:nvPr>
        </p:nvSpPr>
        <p:spPr>
          <a:xfrm>
            <a:off x="0" y="9534525"/>
            <a:ext cx="4114800" cy="547688"/>
          </a:xfrm>
          <a:prstGeom prst="rect">
            <a:avLst/>
          </a:prstGeom>
        </p:spPr>
        <p:txBody>
          <a:bodyPr/>
          <a:lstStyle/>
          <a:p>
            <a:pPr algn="ctr"/>
            <a:fld id="{76E8DCF4-EBDD-4FE1-8465-FD383573D554}" type="slidenum">
              <a:rPr lang="en-US" smtClean="0">
                <a:solidFill>
                  <a:schemeClr val="tx1">
                    <a:lumMod val="50000"/>
                    <a:lumOff val="50000"/>
                  </a:schemeClr>
                </a:solidFill>
              </a:rPr>
              <a:pPr algn="ctr"/>
              <a:t>175</a:t>
            </a:fld>
            <a:endParaRPr lang="en-US">
              <a:solidFill>
                <a:schemeClr val="tx1">
                  <a:lumMod val="50000"/>
                  <a:lumOff val="50000"/>
                </a:schemeClr>
              </a:solidFill>
            </a:endParaRPr>
          </a:p>
        </p:txBody>
      </p:sp>
    </p:spTree>
    <p:custDataLst>
      <p:tags r:id="rId1"/>
    </p:custDataLst>
    <p:extLst>
      <p:ext uri="{BB962C8B-B14F-4D97-AF65-F5344CB8AC3E}">
        <p14:creationId xmlns:p14="http://schemas.microsoft.com/office/powerpoint/2010/main" val="2433202045"/>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Some More Players</a:t>
            </a:r>
          </a:p>
        </p:txBody>
      </p:sp>
      <p:sp>
        <p:nvSpPr>
          <p:cNvPr id="33" name="Content Placeholder 32"/>
          <p:cNvSpPr>
            <a:spLocks noGrp="1"/>
          </p:cNvSpPr>
          <p:nvPr>
            <p:ph idx="1"/>
          </p:nvPr>
        </p:nvSpPr>
        <p:spPr>
          <a:xfrm>
            <a:off x="1257300" y="2193131"/>
            <a:ext cx="16294100" cy="6967198"/>
          </a:xfrm>
        </p:spPr>
        <p:txBody>
          <a:bodyPr/>
          <a:lstStyle/>
          <a:p>
            <a:r>
              <a:rPr lang="en-US"/>
              <a:t>Computer manufacturers</a:t>
            </a:r>
          </a:p>
          <a:p>
            <a:pPr lvl="1"/>
            <a:r>
              <a:rPr lang="en-US"/>
              <a:t>Extension of their professional services business</a:t>
            </a:r>
          </a:p>
          <a:p>
            <a:pPr lvl="1"/>
            <a:r>
              <a:rPr lang="en-US"/>
              <a:t>SOC services </a:t>
            </a:r>
          </a:p>
          <a:p>
            <a:r>
              <a:rPr lang="en-US"/>
              <a:t>Telecommunications service providers</a:t>
            </a:r>
          </a:p>
          <a:p>
            <a:pPr lvl="1"/>
            <a:r>
              <a:rPr lang="en-US"/>
              <a:t>Networks need protecting security often an integral part of the service</a:t>
            </a:r>
          </a:p>
          <a:p>
            <a:pPr lvl="1"/>
            <a:r>
              <a:rPr lang="en-US"/>
              <a:t>Expansion into professional services</a:t>
            </a:r>
          </a:p>
          <a:p>
            <a:r>
              <a:rPr lang="en-US"/>
              <a:t>Systems integrators</a:t>
            </a:r>
          </a:p>
          <a:p>
            <a:pPr lvl="1"/>
            <a:r>
              <a:rPr lang="en-US"/>
              <a:t>Natural expansion of their professional service offerings</a:t>
            </a:r>
          </a:p>
          <a:p>
            <a:r>
              <a:rPr lang="en-US"/>
              <a:t>Local IT providers</a:t>
            </a:r>
          </a:p>
          <a:p>
            <a:r>
              <a:rPr lang="en-US"/>
              <a:t>Financial service technology providers</a:t>
            </a:r>
          </a:p>
          <a:p>
            <a:pPr lvl="1"/>
            <a:endParaRPr lang="en-US"/>
          </a:p>
          <a:p>
            <a:pPr lvl="2"/>
            <a:endParaRPr lang="en-US"/>
          </a:p>
        </p:txBody>
      </p:sp>
      <p:sp>
        <p:nvSpPr>
          <p:cNvPr id="4" name="Slide Number Placeholder 3"/>
          <p:cNvSpPr>
            <a:spLocks noGrp="1"/>
          </p:cNvSpPr>
          <p:nvPr>
            <p:ph type="sldNum" sz="quarter" idx="4294967295"/>
          </p:nvPr>
        </p:nvSpPr>
        <p:spPr>
          <a:xfrm>
            <a:off x="0" y="9534525"/>
            <a:ext cx="4114800" cy="547688"/>
          </a:xfrm>
          <a:prstGeom prst="rect">
            <a:avLst/>
          </a:prstGeom>
        </p:spPr>
        <p:txBody>
          <a:bodyPr/>
          <a:lstStyle/>
          <a:p>
            <a:pPr algn="ctr"/>
            <a:fld id="{76E8DCF4-EBDD-4FE1-8465-FD383573D554}" type="slidenum">
              <a:rPr lang="en-US" smtClean="0">
                <a:solidFill>
                  <a:schemeClr val="tx1">
                    <a:lumMod val="50000"/>
                    <a:lumOff val="50000"/>
                  </a:schemeClr>
                </a:solidFill>
              </a:rPr>
              <a:pPr algn="ctr"/>
              <a:t>176</a:t>
            </a:fld>
            <a:endParaRPr lang="en-US">
              <a:solidFill>
                <a:schemeClr val="tx1">
                  <a:lumMod val="50000"/>
                  <a:lumOff val="50000"/>
                </a:schemeClr>
              </a:solidFill>
            </a:endParaRPr>
          </a:p>
        </p:txBody>
      </p:sp>
    </p:spTree>
    <p:custDataLst>
      <p:tags r:id="rId1"/>
    </p:custDataLst>
    <p:extLst>
      <p:ext uri="{BB962C8B-B14F-4D97-AF65-F5344CB8AC3E}">
        <p14:creationId xmlns:p14="http://schemas.microsoft.com/office/powerpoint/2010/main" val="422306005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3ECB9-A5FA-A882-9E0B-314ED099A219}"/>
              </a:ext>
            </a:extLst>
          </p:cNvPr>
          <p:cNvSpPr>
            <a:spLocks noGrp="1"/>
          </p:cNvSpPr>
          <p:nvPr>
            <p:ph type="title"/>
          </p:nvPr>
        </p:nvSpPr>
        <p:spPr/>
        <p:txBody>
          <a:bodyPr/>
          <a:lstStyle/>
          <a:p>
            <a:r>
              <a:rPr lang="en-US" dirty="0"/>
              <a:t>Let’s take a look at a few MSSPs</a:t>
            </a:r>
          </a:p>
        </p:txBody>
      </p:sp>
      <p:sp>
        <p:nvSpPr>
          <p:cNvPr id="3" name="Content Placeholder 2">
            <a:extLst>
              <a:ext uri="{FF2B5EF4-FFF2-40B4-BE49-F238E27FC236}">
                <a16:creationId xmlns:a16="http://schemas.microsoft.com/office/drawing/2014/main" id="{4F9F10F4-01E0-A4C7-8266-7300E8E2B677}"/>
              </a:ext>
            </a:extLst>
          </p:cNvPr>
          <p:cNvSpPr>
            <a:spLocks noGrp="1"/>
          </p:cNvSpPr>
          <p:nvPr>
            <p:ph idx="1"/>
          </p:nvPr>
        </p:nvSpPr>
        <p:spPr>
          <a:xfrm>
            <a:off x="1257300" y="1909010"/>
            <a:ext cx="15773400" cy="7892715"/>
          </a:xfrm>
        </p:spPr>
        <p:txBody>
          <a:bodyPr>
            <a:normAutofit fontScale="92500" lnSpcReduction="20000"/>
          </a:bodyPr>
          <a:lstStyle/>
          <a:p>
            <a:r>
              <a:rPr lang="en-US" dirty="0"/>
              <a:t>Research an MSSP and see what they do, and how. Feel free to glance at them all, but you need only “report” on yours.</a:t>
            </a:r>
          </a:p>
          <a:p>
            <a:r>
              <a:rPr lang="en-US" dirty="0"/>
              <a:t>I’d like to know:</a:t>
            </a:r>
          </a:p>
          <a:p>
            <a:pPr lvl="1"/>
            <a:r>
              <a:rPr lang="en-US" dirty="0"/>
              <a:t>What did you think of this company’s pitch? </a:t>
            </a:r>
          </a:p>
          <a:p>
            <a:pPr lvl="1"/>
            <a:r>
              <a:rPr lang="en-US" dirty="0"/>
              <a:t>What surprised you about them? Anything particularly impressive?</a:t>
            </a:r>
          </a:p>
          <a:p>
            <a:pPr lvl="1"/>
            <a:r>
              <a:rPr lang="en-US" dirty="0"/>
              <a:t>Would you be happy to see them at a bank you examined?</a:t>
            </a:r>
          </a:p>
          <a:p>
            <a:pPr lvl="1"/>
            <a:endParaRPr lang="en-US" dirty="0"/>
          </a:p>
          <a:p>
            <a:r>
              <a:rPr lang="en-US" dirty="0"/>
              <a:t>No stress, you don’t need to make a slide deck! Just informal thoughts and impressions.</a:t>
            </a:r>
          </a:p>
          <a:p>
            <a:endParaRPr lang="en-US" dirty="0"/>
          </a:p>
          <a:p>
            <a:pPr marL="0" indent="0">
              <a:buNone/>
            </a:pPr>
            <a:r>
              <a:rPr lang="en-US" dirty="0"/>
              <a:t>Group assignments:</a:t>
            </a:r>
          </a:p>
          <a:p>
            <a:pPr lvl="1"/>
            <a:r>
              <a:rPr lang="en-US" dirty="0"/>
              <a:t>Group 1: SBS Cybersecurity https://</a:t>
            </a:r>
            <a:r>
              <a:rPr lang="en-US" dirty="0" err="1"/>
              <a:t>sbscyber.com</a:t>
            </a:r>
            <a:r>
              <a:rPr lang="en-US" dirty="0"/>
              <a:t>/</a:t>
            </a:r>
          </a:p>
          <a:p>
            <a:pPr lvl="1"/>
            <a:r>
              <a:rPr lang="en-US" dirty="0"/>
              <a:t>Group 2: Arraya Solutions https://</a:t>
            </a:r>
            <a:r>
              <a:rPr lang="en-US" dirty="0" err="1"/>
              <a:t>www.arrayasolutions.com</a:t>
            </a:r>
            <a:r>
              <a:rPr lang="en-US" dirty="0"/>
              <a:t>/</a:t>
            </a:r>
          </a:p>
          <a:p>
            <a:pPr lvl="1"/>
            <a:r>
              <a:rPr lang="en-US" dirty="0"/>
              <a:t>Group 3: </a:t>
            </a:r>
            <a:r>
              <a:rPr lang="en-US" dirty="0" err="1"/>
              <a:t>SilverSky</a:t>
            </a:r>
            <a:r>
              <a:rPr lang="en-US" dirty="0"/>
              <a:t> https://</a:t>
            </a:r>
            <a:r>
              <a:rPr lang="en-US" dirty="0" err="1"/>
              <a:t>www.silversky.com</a:t>
            </a:r>
            <a:r>
              <a:rPr lang="en-US" dirty="0"/>
              <a:t>/</a:t>
            </a:r>
          </a:p>
          <a:p>
            <a:pPr lvl="1"/>
            <a:r>
              <a:rPr lang="en-US" dirty="0"/>
              <a:t>Group 4: Optiv https://</a:t>
            </a:r>
            <a:r>
              <a:rPr lang="en-US" dirty="0" err="1"/>
              <a:t>www.optiv.com</a:t>
            </a:r>
            <a:r>
              <a:rPr lang="en-US" dirty="0"/>
              <a:t>/</a:t>
            </a:r>
          </a:p>
          <a:p>
            <a:endParaRPr lang="en-US" dirty="0"/>
          </a:p>
        </p:txBody>
      </p:sp>
    </p:spTree>
    <p:extLst>
      <p:ext uri="{BB962C8B-B14F-4D97-AF65-F5344CB8AC3E}">
        <p14:creationId xmlns:p14="http://schemas.microsoft.com/office/powerpoint/2010/main" val="173025396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InTREx Tie-In: Network Monitoring and Operations</a:t>
            </a:r>
          </a:p>
        </p:txBody>
      </p:sp>
      <p:sp>
        <p:nvSpPr>
          <p:cNvPr id="3" name="Form frame"/>
          <p:cNvSpPr/>
          <p:nvPr/>
        </p:nvSpPr>
        <p:spPr>
          <a:xfrm>
            <a:off x="1257300" y="2514600"/>
            <a:ext cx="7863840" cy="3794760"/>
          </a:xfrm>
          <a:prstGeom prst="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Form header band"/>
          <p:cNvSpPr/>
          <p:nvPr/>
        </p:nvSpPr>
        <p:spPr>
          <a:xfrm>
            <a:off x="1257300" y="2514600"/>
            <a:ext cx="7863840" cy="548640"/>
          </a:xfrm>
          <a:prstGeom prst="rect">
            <a:avLst/>
          </a:prstGeom>
          <a:solidFill>
            <a:srgbClr val="D9D9D9"/>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5" name="Form header"/>
          <p:cNvSpPr txBox="1"/>
          <p:nvPr/>
        </p:nvSpPr>
        <p:spPr>
          <a:xfrm>
            <a:off x="1485900" y="2606040"/>
            <a:ext cx="6766559" cy="411480"/>
          </a:xfrm>
          <a:prstGeom prst="rect">
            <a:avLst/>
          </a:prstGeom>
          <a:noFill/>
        </p:spPr>
        <p:txBody>
          <a:bodyPr wrap="square" lIns="0" tIns="0" rIns="0" bIns="0" anchor="ctr">
            <a:spAutoFit/>
          </a:bodyPr>
          <a:lstStyle/>
          <a:p>
            <a:pPr algn="l">
              <a:spcAft>
                <a:spcPts val="600"/>
              </a:spcAft>
            </a:pPr>
            <a:r>
              <a:rPr sz="1800" b="1" i="0">
                <a:solidFill>
                  <a:srgbClr val="000000"/>
                </a:solidFill>
                <a:latin typeface="Helvetica Neue"/>
                <a:ea typeface="Helvetica Neue"/>
                <a:cs typeface="Helvetica Neue"/>
              </a:rPr>
              <a:t>Information Technology Profile  ·  Network</a:t>
            </a:r>
          </a:p>
        </p:txBody>
      </p:sp>
      <p:pic>
        <p:nvPicPr>
          <p:cNvPr id="6" name="Form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12480" y="2583179"/>
            <a:ext cx="411480" cy="411480"/>
          </a:xfrm>
          <a:prstGeom prst="rect">
            <a:avLst/>
          </a:prstGeom>
        </p:spPr>
      </p:pic>
      <p:sp>
        <p:nvSpPr>
          <p:cNvPr id="7" name="Form question"/>
          <p:cNvSpPr txBox="1"/>
          <p:nvPr/>
        </p:nvSpPr>
        <p:spPr>
          <a:xfrm>
            <a:off x="1577340" y="3291840"/>
            <a:ext cx="7223759" cy="822960"/>
          </a:xfrm>
          <a:prstGeom prst="rect">
            <a:avLst/>
          </a:prstGeom>
          <a:noFill/>
        </p:spPr>
        <p:txBody>
          <a:bodyPr wrap="square" lIns="0" tIns="0" rIns="0" bIns="0" anchor="t">
            <a:spAutoFit/>
          </a:bodyPr>
          <a:lstStyle/>
          <a:p>
            <a:pPr algn="l">
              <a:spcAft>
                <a:spcPts val="600"/>
              </a:spcAft>
            </a:pPr>
            <a:r>
              <a:rPr sz="2000" b="0" i="0">
                <a:solidFill>
                  <a:srgbClr val="000000"/>
                </a:solidFill>
                <a:latin typeface="Helvetica Neue"/>
                <a:ea typeface="Helvetica Neue"/>
                <a:cs typeface="Helvetica Neue"/>
              </a:rPr>
              <a:t>5.  Indicate whether network monitoring and network operations are managed in-house or outsourced.</a:t>
            </a:r>
          </a:p>
        </p:txBody>
      </p:sp>
      <p:sp>
        <p:nvSpPr>
          <p:cNvPr id="8" name="Checkbox 1"/>
          <p:cNvSpPr/>
          <p:nvPr/>
        </p:nvSpPr>
        <p:spPr>
          <a:xfrm>
            <a:off x="1805940" y="4261103"/>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9" name="Option 1"/>
          <p:cNvSpPr txBox="1"/>
          <p:nvPr/>
        </p:nvSpPr>
        <p:spPr>
          <a:xfrm>
            <a:off x="2263140" y="4206240"/>
            <a:ext cx="2971799" cy="41148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Monitoring: outsourced</a:t>
            </a:r>
          </a:p>
        </p:txBody>
      </p:sp>
      <p:sp>
        <p:nvSpPr>
          <p:cNvPr id="10" name="Checkbox 2"/>
          <p:cNvSpPr/>
          <p:nvPr/>
        </p:nvSpPr>
        <p:spPr>
          <a:xfrm>
            <a:off x="5326379" y="4261103"/>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1" name="Option 2"/>
          <p:cNvSpPr txBox="1"/>
          <p:nvPr/>
        </p:nvSpPr>
        <p:spPr>
          <a:xfrm>
            <a:off x="5783579" y="4206240"/>
            <a:ext cx="2971799" cy="41148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Monitoring: in-house</a:t>
            </a:r>
          </a:p>
        </p:txBody>
      </p:sp>
      <p:sp>
        <p:nvSpPr>
          <p:cNvPr id="12" name="Checkbox 3"/>
          <p:cNvSpPr/>
          <p:nvPr/>
        </p:nvSpPr>
        <p:spPr>
          <a:xfrm>
            <a:off x="1805940" y="4828031"/>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3" name="Option 3"/>
          <p:cNvSpPr txBox="1"/>
          <p:nvPr/>
        </p:nvSpPr>
        <p:spPr>
          <a:xfrm>
            <a:off x="2263140" y="4773168"/>
            <a:ext cx="2971799" cy="41148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Operations: outsourced</a:t>
            </a:r>
          </a:p>
        </p:txBody>
      </p:sp>
      <p:sp>
        <p:nvSpPr>
          <p:cNvPr id="14" name="Checkbox 4"/>
          <p:cNvSpPr/>
          <p:nvPr/>
        </p:nvSpPr>
        <p:spPr>
          <a:xfrm>
            <a:off x="5326379" y="4828031"/>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5" name="Option 4"/>
          <p:cNvSpPr txBox="1"/>
          <p:nvPr/>
        </p:nvSpPr>
        <p:spPr>
          <a:xfrm>
            <a:off x="5783579" y="4773168"/>
            <a:ext cx="2971799" cy="41148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Operations: in-house</a:t>
            </a:r>
          </a:p>
        </p:txBody>
      </p:sp>
      <p:sp>
        <p:nvSpPr>
          <p:cNvPr id="16" name="Quote panel"/>
          <p:cNvSpPr/>
          <p:nvPr/>
        </p:nvSpPr>
        <p:spPr>
          <a:xfrm>
            <a:off x="9692640" y="2514600"/>
            <a:ext cx="7315200" cy="379476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7" name="Quote mark"/>
          <p:cNvSpPr txBox="1"/>
          <p:nvPr/>
        </p:nvSpPr>
        <p:spPr>
          <a:xfrm>
            <a:off x="9966960" y="2560320"/>
            <a:ext cx="914400" cy="914400"/>
          </a:xfrm>
          <a:prstGeom prst="rect">
            <a:avLst/>
          </a:prstGeom>
          <a:noFill/>
        </p:spPr>
        <p:txBody>
          <a:bodyPr wrap="square" lIns="0" tIns="0" rIns="0" bIns="0" anchor="t">
            <a:spAutoFit/>
          </a:bodyPr>
          <a:lstStyle/>
          <a:p>
            <a:pPr algn="l">
              <a:spcAft>
                <a:spcPts val="600"/>
              </a:spcAft>
            </a:pPr>
            <a:r>
              <a:rPr sz="9600" b="1" i="0">
                <a:solidFill>
                  <a:srgbClr val="8EA9DB"/>
                </a:solidFill>
                <a:latin typeface="Helvetica Neue"/>
                <a:ea typeface="Helvetica Neue"/>
                <a:cs typeface="Helvetica Neue"/>
              </a:rPr>
              <a:t>“</a:t>
            </a:r>
          </a:p>
        </p:txBody>
      </p:sp>
      <p:sp>
        <p:nvSpPr>
          <p:cNvPr id="18" name="Quote text"/>
          <p:cNvSpPr txBox="1"/>
          <p:nvPr/>
        </p:nvSpPr>
        <p:spPr>
          <a:xfrm>
            <a:off x="10149840" y="3291840"/>
            <a:ext cx="6400800" cy="1600200"/>
          </a:xfrm>
          <a:prstGeom prst="rect">
            <a:avLst/>
          </a:prstGeom>
          <a:noFill/>
        </p:spPr>
        <p:txBody>
          <a:bodyPr wrap="square" lIns="0" tIns="0" rIns="0" bIns="0" anchor="t">
            <a:spAutoFit/>
          </a:bodyPr>
          <a:lstStyle/>
          <a:p>
            <a:pPr algn="l">
              <a:spcAft>
                <a:spcPts val="600"/>
              </a:spcAft>
            </a:pPr>
            <a:r>
              <a:rPr sz="2400" b="0" i="1">
                <a:solidFill>
                  <a:srgbClr val="000000"/>
                </a:solidFill>
                <a:latin typeface="Helvetica Neue"/>
                <a:ea typeface="Helvetica Neue"/>
                <a:cs typeface="Helvetica Neue"/>
              </a:rPr>
              <a:t>The institution is able to detect anomalous activities through monitoring across the environment.</a:t>
            </a:r>
          </a:p>
        </p:txBody>
      </p:sp>
      <p:sp>
        <p:nvSpPr>
          <p:cNvPr id="19" name="Quote source"/>
          <p:cNvSpPr txBox="1"/>
          <p:nvPr/>
        </p:nvSpPr>
        <p:spPr>
          <a:xfrm>
            <a:off x="10149840" y="4937760"/>
            <a:ext cx="6400800" cy="365760"/>
          </a:xfrm>
          <a:prstGeom prst="rect">
            <a:avLst/>
          </a:prstGeom>
          <a:noFill/>
        </p:spPr>
        <p:txBody>
          <a:bodyPr wrap="square" lIns="0" tIns="0" rIns="0" bIns="0" anchor="t">
            <a:spAutoFit/>
          </a:bodyPr>
          <a:lstStyle/>
          <a:p>
            <a:pPr algn="l">
              <a:spcAft>
                <a:spcPts val="600"/>
              </a:spcAft>
            </a:pPr>
            <a:r>
              <a:rPr sz="1600" b="0" i="0">
                <a:solidFill>
                  <a:srgbClr val="595959"/>
                </a:solidFill>
                <a:latin typeface="Helvetica Neue"/>
                <a:ea typeface="Helvetica Neue"/>
                <a:cs typeface="Helvetica Neue"/>
              </a:rPr>
              <a:t>InTREx Support and Delivery baseline statement</a:t>
            </a:r>
          </a:p>
        </p:txBody>
      </p:sp>
      <p:sp>
        <p:nvSpPr>
          <p:cNvPr id="20" name="Quote prompt"/>
          <p:cNvSpPr txBox="1"/>
          <p:nvPr/>
        </p:nvSpPr>
        <p:spPr>
          <a:xfrm>
            <a:off x="10149840" y="5440680"/>
            <a:ext cx="6400800" cy="731520"/>
          </a:xfrm>
          <a:prstGeom prst="rect">
            <a:avLst/>
          </a:prstGeom>
          <a:noFill/>
        </p:spPr>
        <p:txBody>
          <a:bodyPr wrap="square" lIns="0" tIns="0" rIns="0" bIns="0" anchor="t">
            <a:spAutoFit/>
          </a:bodyPr>
          <a:lstStyle/>
          <a:p>
            <a:pPr algn="l">
              <a:spcAft>
                <a:spcPts val="600"/>
              </a:spcAft>
            </a:pPr>
            <a:r>
              <a:rPr sz="2400" b="1" i="0">
                <a:solidFill>
                  <a:srgbClr val="000000"/>
                </a:solidFill>
                <a:latin typeface="Helvetica Neue"/>
                <a:ea typeface="Helvetica Neue"/>
                <a:cs typeface="Helvetica Neue"/>
              </a:rPr>
              <a:t>Who's watching at 3 a.m.?</a:t>
            </a:r>
          </a:p>
        </p:txBody>
      </p:sp>
      <p:sp>
        <p:nvSpPr>
          <p:cNvPr id="21" name="Leads heading"/>
          <p:cNvSpPr txBox="1"/>
          <p:nvPr/>
        </p:nvSpPr>
        <p:spPr>
          <a:xfrm>
            <a:off x="1257300" y="6675120"/>
            <a:ext cx="15544800" cy="457200"/>
          </a:xfrm>
          <a:prstGeom prst="rect">
            <a:avLst/>
          </a:prstGeom>
          <a:noFill/>
        </p:spPr>
        <p:txBody>
          <a:bodyPr wrap="square" lIns="0" tIns="0" rIns="0" bIns="0" anchor="t">
            <a:spAutoFit/>
          </a:bodyPr>
          <a:lstStyle/>
          <a:p>
            <a:pPr algn="l">
              <a:spcAft>
                <a:spcPts val="600"/>
              </a:spcAft>
            </a:pPr>
            <a:r>
              <a:rPr sz="2400" b="1" i="0">
                <a:solidFill>
                  <a:srgbClr val="000000"/>
                </a:solidFill>
                <a:latin typeface="Helvetica Neue"/>
                <a:ea typeface="Helvetica Neue"/>
                <a:cs typeface="Helvetica Neue"/>
              </a:rPr>
              <a:t>Where question 5 leads</a:t>
            </a:r>
          </a:p>
        </p:txBody>
      </p:sp>
      <p:sp>
        <p:nvSpPr>
          <p:cNvPr id="22" name="Card 1"/>
          <p:cNvSpPr/>
          <p:nvPr/>
        </p:nvSpPr>
        <p:spPr>
          <a:xfrm>
            <a:off x="1257300"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3" name="Card 1 text"/>
          <p:cNvSpPr txBox="1"/>
          <p:nvPr/>
        </p:nvSpPr>
        <p:spPr>
          <a:xfrm>
            <a:off x="1513332"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Security monitoring</a:t>
            </a:r>
          </a:p>
          <a:p>
            <a:pPr algn="l">
              <a:spcAft>
                <a:spcPts val="700"/>
              </a:spcAft>
            </a:pPr>
            <a:r>
              <a:rPr sz="1600" b="0" i="0">
                <a:solidFill>
                  <a:srgbClr val="000000"/>
                </a:solidFill>
                <a:latin typeface="Helvetica Neue"/>
                <a:ea typeface="Helvetica Neue"/>
                <a:cs typeface="Helvetica Neue"/>
              </a:rPr>
              <a:t>What's monitored, by whom, and how alerts are reviewed</a:t>
            </a:r>
          </a:p>
        </p:txBody>
      </p:sp>
      <p:sp>
        <p:nvSpPr>
          <p:cNvPr id="24" name="Card 2"/>
          <p:cNvSpPr/>
          <p:nvPr/>
        </p:nvSpPr>
        <p:spPr>
          <a:xfrm>
            <a:off x="5280659"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5" name="Card 2 text"/>
          <p:cNvSpPr txBox="1"/>
          <p:nvPr/>
        </p:nvSpPr>
        <p:spPr>
          <a:xfrm>
            <a:off x="5536692"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MSSP oversight</a:t>
            </a:r>
          </a:p>
          <a:p>
            <a:pPr algn="l">
              <a:spcAft>
                <a:spcPts val="700"/>
              </a:spcAft>
            </a:pPr>
            <a:r>
              <a:rPr sz="1600" b="0" i="0">
                <a:solidFill>
                  <a:srgbClr val="000000"/>
                </a:solidFill>
                <a:latin typeface="Helvetica Neue"/>
                <a:ea typeface="Helvetica Neue"/>
                <a:cs typeface="Helvetica Neue"/>
              </a:rPr>
              <a:t>Reports, SLAs, and who at the bank reads them</a:t>
            </a:r>
          </a:p>
        </p:txBody>
      </p:sp>
      <p:sp>
        <p:nvSpPr>
          <p:cNvPr id="26" name="Card 3"/>
          <p:cNvSpPr/>
          <p:nvPr/>
        </p:nvSpPr>
        <p:spPr>
          <a:xfrm>
            <a:off x="9304019"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7" name="Card 3 text"/>
          <p:cNvSpPr txBox="1"/>
          <p:nvPr/>
        </p:nvSpPr>
        <p:spPr>
          <a:xfrm>
            <a:off x="9560051"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Third-party access</a:t>
            </a:r>
          </a:p>
          <a:p>
            <a:pPr algn="l">
              <a:spcAft>
                <a:spcPts val="700"/>
              </a:spcAft>
            </a:pPr>
            <a:r>
              <a:rPr sz="1600" b="0" i="0">
                <a:solidFill>
                  <a:srgbClr val="000000"/>
                </a:solidFill>
                <a:latin typeface="Helvetica Neue"/>
                <a:ea typeface="Helvetica Neue"/>
                <a:cs typeface="Helvetica Neue"/>
              </a:rPr>
              <a:t>Vendor access to critical systems is itself monitored</a:t>
            </a:r>
          </a:p>
        </p:txBody>
      </p:sp>
      <p:sp>
        <p:nvSpPr>
          <p:cNvPr id="28" name="Card 4"/>
          <p:cNvSpPr/>
          <p:nvPr/>
        </p:nvSpPr>
        <p:spPr>
          <a:xfrm>
            <a:off x="13327380"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9" name="Card 4 text"/>
          <p:cNvSpPr txBox="1"/>
          <p:nvPr/>
        </p:nvSpPr>
        <p:spPr>
          <a:xfrm>
            <a:off x="13583411"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Incident handoff</a:t>
            </a:r>
          </a:p>
          <a:p>
            <a:pPr algn="l">
              <a:spcAft>
                <a:spcPts val="700"/>
              </a:spcAft>
            </a:pPr>
            <a:r>
              <a:rPr sz="1600" b="0" i="0">
                <a:solidFill>
                  <a:srgbClr val="000000"/>
                </a:solidFill>
                <a:latin typeface="Helvetica Neue"/>
                <a:ea typeface="Helvetica Neue"/>
                <a:cs typeface="Helvetica Neue"/>
              </a:rPr>
              <a:t>How an MSSP alert becomes the bank's incident response</a:t>
            </a:r>
          </a:p>
        </p:txBody>
      </p:sp>
      <p:sp>
        <p:nvSpPr>
          <p:cNvPr id="30"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Source: InTREx Information Technology Profile and Support and Delivery module (September 2023 version; verify against the current version)</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6600" b="1" i="0">
                <a:solidFill>
                  <a:srgbClr val="000000"/>
                </a:solidFill>
                <a:latin typeface="Helvetica Neue Condensed Bold"/>
                <a:ea typeface="Helvetica Neue Condensed Bold"/>
                <a:cs typeface="Helvetica Neue Condensed Bold"/>
              </a:rPr>
              <a:t>SaaS Sprawl and Shadow IT: The Vendors Nobody Approved</a:t>
            </a:r>
          </a:p>
        </p:txBody>
      </p:sp>
      <p:sp>
        <p:nvSpPr>
          <p:cNvPr id="3" name="Water"/>
          <p:cNvSpPr/>
          <p:nvPr/>
        </p:nvSpPr>
        <p:spPr>
          <a:xfrm>
            <a:off x="1257300" y="4480560"/>
            <a:ext cx="7863840" cy="4892040"/>
          </a:xfrm>
          <a:prstGeom prst="rect">
            <a:avLst/>
          </a:prstGeom>
          <a:solidFill>
            <a:srgbClr val="DCE9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cxnSp>
        <p:nvCxnSpPr>
          <p:cNvPr id="4" name="Waterline"/>
          <p:cNvCxnSpPr/>
          <p:nvPr/>
        </p:nvCxnSpPr>
        <p:spPr>
          <a:xfrm>
            <a:off x="1257300" y="4480560"/>
            <a:ext cx="7863840" cy="0"/>
          </a:xfrm>
          <a:prstGeom prst="line">
            <a:avLst/>
          </a:prstGeom>
          <a:ln w="38100">
            <a:solidFill>
              <a:srgbClr val="2F75B5"/>
            </a:solidFill>
          </a:ln>
        </p:spPr>
        <p:style>
          <a:lnRef idx="2">
            <a:schemeClr val="accent1"/>
          </a:lnRef>
          <a:fillRef idx="0">
            <a:schemeClr val="accent1"/>
          </a:fillRef>
          <a:effectRef idx="1">
            <a:schemeClr val="accent1"/>
          </a:effectRef>
          <a:fontRef idx="minor">
            <a:schemeClr val="tx1"/>
          </a:fontRef>
        </p:style>
      </p:cxnSp>
      <p:sp>
        <p:nvSpPr>
          <p:cNvPr id="5" name="Iceberg tip"/>
          <p:cNvSpPr/>
          <p:nvPr/>
        </p:nvSpPr>
        <p:spPr>
          <a:xfrm>
            <a:off x="2834640" y="2788920"/>
            <a:ext cx="4709160" cy="1691640"/>
          </a:xfrm>
          <a:prstGeom prst="triangle">
            <a:avLst/>
          </a:prstGeom>
          <a:solidFill>
            <a:srgbClr val="FFFFFF"/>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6" name="Iceberg body"/>
          <p:cNvSpPr/>
          <p:nvPr/>
        </p:nvSpPr>
        <p:spPr>
          <a:xfrm>
            <a:off x="1828800" y="4480560"/>
            <a:ext cx="6720840" cy="4023360"/>
          </a:xfrm>
          <a:prstGeom prst="trapezoid">
            <a:avLst/>
          </a:prstGeom>
          <a:solidFill>
            <a:srgbClr val="FFFFFF"/>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7" name="Tip label"/>
          <p:cNvSpPr txBox="1"/>
          <p:nvPr/>
        </p:nvSpPr>
        <p:spPr>
          <a:xfrm>
            <a:off x="1257300" y="2697480"/>
            <a:ext cx="2286000" cy="1737360"/>
          </a:xfrm>
          <a:prstGeom prst="rect">
            <a:avLst/>
          </a:prstGeom>
          <a:noFill/>
        </p:spPr>
        <p:txBody>
          <a:bodyPr wrap="square" lIns="0" tIns="0" rIns="0" bIns="0" anchor="t">
            <a:spAutoFit/>
          </a:bodyPr>
          <a:lstStyle/>
          <a:p>
            <a:pPr algn="l">
              <a:spcAft>
                <a:spcPts val="200"/>
              </a:spcAft>
            </a:pPr>
            <a:r>
              <a:rPr sz="2000" b="1" i="0">
                <a:solidFill>
                  <a:srgbClr val="000000"/>
                </a:solidFill>
                <a:latin typeface="Helvetica Neue"/>
                <a:ea typeface="Helvetica Neue"/>
                <a:cs typeface="Helvetica Neue"/>
              </a:rPr>
              <a:t>Approved</a:t>
            </a:r>
          </a:p>
          <a:p>
            <a:pPr algn="l">
              <a:spcAft>
                <a:spcPts val="200"/>
              </a:spcAft>
            </a:pPr>
            <a:r>
              <a:rPr sz="1500" b="0" i="0">
                <a:solidFill>
                  <a:srgbClr val="404040"/>
                </a:solidFill>
                <a:latin typeface="Helvetica Neue"/>
                <a:ea typeface="Helvetica Neue"/>
                <a:cs typeface="Helvetica Neue"/>
              </a:rPr>
              <a:t>Core, Microsoft 365, the vendors on the list</a:t>
            </a:r>
          </a:p>
        </p:txBody>
      </p:sp>
      <p:sp>
        <p:nvSpPr>
          <p:cNvPr id="8" name="Body label"/>
          <p:cNvSpPr txBox="1"/>
          <p:nvPr/>
        </p:nvSpPr>
        <p:spPr>
          <a:xfrm>
            <a:off x="2926080" y="4800600"/>
            <a:ext cx="4526280" cy="457200"/>
          </a:xfrm>
          <a:prstGeom prst="rect">
            <a:avLst/>
          </a:prstGeom>
          <a:noFill/>
        </p:spPr>
        <p:txBody>
          <a:bodyPr wrap="square" lIns="0" tIns="0" rIns="0" bIns="0" anchor="t">
            <a:spAutoFit/>
          </a:bodyPr>
          <a:lstStyle/>
          <a:p>
            <a:pPr algn="ctr">
              <a:spcAft>
                <a:spcPts val="600"/>
              </a:spcAft>
            </a:pPr>
            <a:r>
              <a:rPr sz="2000" b="1" i="0">
                <a:solidFill>
                  <a:srgbClr val="000000"/>
                </a:solidFill>
                <a:latin typeface="Helvetica Neue"/>
                <a:ea typeface="Helvetica Neue"/>
                <a:cs typeface="Helvetica Neue"/>
              </a:rPr>
              <a:t>What staff actually use</a:t>
            </a:r>
          </a:p>
        </p:txBody>
      </p:sp>
      <p:sp>
        <p:nvSpPr>
          <p:cNvPr id="9" name="Under 1"/>
          <p:cNvSpPr/>
          <p:nvPr/>
        </p:nvSpPr>
        <p:spPr>
          <a:xfrm>
            <a:off x="2286000" y="5440680"/>
            <a:ext cx="2743200" cy="54864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0" i="0">
                <a:solidFill>
                  <a:srgbClr val="000000"/>
                </a:solidFill>
                <a:latin typeface="Helvetica Neue"/>
                <a:ea typeface="Helvetica Neue"/>
                <a:cs typeface="Helvetica Neue"/>
              </a:rPr>
              <a:t>File sharing</a:t>
            </a:r>
          </a:p>
        </p:txBody>
      </p:sp>
      <p:sp>
        <p:nvSpPr>
          <p:cNvPr id="10" name="Under 2"/>
          <p:cNvSpPr/>
          <p:nvPr/>
        </p:nvSpPr>
        <p:spPr>
          <a:xfrm>
            <a:off x="5349240" y="5440680"/>
            <a:ext cx="2743200" cy="54864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0" i="0">
                <a:solidFill>
                  <a:srgbClr val="000000"/>
                </a:solidFill>
                <a:latin typeface="Helvetica Neue"/>
                <a:ea typeface="Helvetica Neue"/>
                <a:cs typeface="Helvetica Neue"/>
              </a:rPr>
              <a:t>E-signature</a:t>
            </a:r>
          </a:p>
        </p:txBody>
      </p:sp>
      <p:sp>
        <p:nvSpPr>
          <p:cNvPr id="11" name="Under 3"/>
          <p:cNvSpPr/>
          <p:nvPr/>
        </p:nvSpPr>
        <p:spPr>
          <a:xfrm>
            <a:off x="2286000" y="6172200"/>
            <a:ext cx="2743200" cy="54864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0" i="0">
                <a:solidFill>
                  <a:srgbClr val="000000"/>
                </a:solidFill>
                <a:latin typeface="Helvetica Neue"/>
                <a:ea typeface="Helvetica Neue"/>
                <a:cs typeface="Helvetica Neue"/>
              </a:rPr>
              <a:t>AI chatbots</a:t>
            </a:r>
          </a:p>
        </p:txBody>
      </p:sp>
      <p:sp>
        <p:nvSpPr>
          <p:cNvPr id="12" name="Under 4"/>
          <p:cNvSpPr/>
          <p:nvPr/>
        </p:nvSpPr>
        <p:spPr>
          <a:xfrm>
            <a:off x="5349240" y="6172200"/>
            <a:ext cx="2743200" cy="54864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0" i="0">
                <a:solidFill>
                  <a:srgbClr val="000000"/>
                </a:solidFill>
                <a:latin typeface="Helvetica Neue"/>
                <a:ea typeface="Helvetica Neue"/>
                <a:cs typeface="Helvetica Neue"/>
              </a:rPr>
              <a:t>Note apps</a:t>
            </a:r>
          </a:p>
        </p:txBody>
      </p:sp>
      <p:sp>
        <p:nvSpPr>
          <p:cNvPr id="13" name="Under 5"/>
          <p:cNvSpPr/>
          <p:nvPr/>
        </p:nvSpPr>
        <p:spPr>
          <a:xfrm>
            <a:off x="2286000" y="6903720"/>
            <a:ext cx="2743200" cy="54864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0" i="0">
                <a:solidFill>
                  <a:srgbClr val="000000"/>
                </a:solidFill>
                <a:latin typeface="Helvetica Neue"/>
                <a:ea typeface="Helvetica Neue"/>
                <a:cs typeface="Helvetica Neue"/>
              </a:rPr>
              <a:t>Browser extensions</a:t>
            </a:r>
          </a:p>
        </p:txBody>
      </p:sp>
      <p:sp>
        <p:nvSpPr>
          <p:cNvPr id="14" name="Under 6"/>
          <p:cNvSpPr/>
          <p:nvPr/>
        </p:nvSpPr>
        <p:spPr>
          <a:xfrm>
            <a:off x="5349240" y="6903720"/>
            <a:ext cx="2743200" cy="54864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0" i="0">
                <a:solidFill>
                  <a:srgbClr val="000000"/>
                </a:solidFill>
                <a:latin typeface="Helvetica Neue"/>
                <a:ea typeface="Helvetica Neue"/>
                <a:cs typeface="Helvetica Neue"/>
              </a:rPr>
              <a:t>Personal email</a:t>
            </a:r>
          </a:p>
        </p:txBody>
      </p:sp>
      <p:sp>
        <p:nvSpPr>
          <p:cNvPr id="15" name="Under 7"/>
          <p:cNvSpPr/>
          <p:nvPr/>
        </p:nvSpPr>
        <p:spPr>
          <a:xfrm>
            <a:off x="2286000" y="7635240"/>
            <a:ext cx="2743200" cy="54864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0" i="0">
                <a:solidFill>
                  <a:srgbClr val="000000"/>
                </a:solidFill>
                <a:latin typeface="Helvetica Neue"/>
                <a:ea typeface="Helvetica Neue"/>
                <a:cs typeface="Helvetica Neue"/>
              </a:rPr>
              <a:t>Survey tools</a:t>
            </a:r>
          </a:p>
        </p:txBody>
      </p:sp>
      <p:sp>
        <p:nvSpPr>
          <p:cNvPr id="16" name="Under 8"/>
          <p:cNvSpPr/>
          <p:nvPr/>
        </p:nvSpPr>
        <p:spPr>
          <a:xfrm>
            <a:off x="5349240" y="7635240"/>
            <a:ext cx="2743200" cy="548640"/>
          </a:xfrm>
          <a:prstGeom prst="round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0" i="0">
                <a:solidFill>
                  <a:srgbClr val="000000"/>
                </a:solidFill>
                <a:latin typeface="Helvetica Neue"/>
                <a:ea typeface="Helvetica Neue"/>
                <a:cs typeface="Helvetica Neue"/>
              </a:rPr>
              <a:t>Free PDF converters</a:t>
            </a:r>
          </a:p>
        </p:txBody>
      </p:sp>
      <p:sp>
        <p:nvSpPr>
          <p:cNvPr id="17" name="HTTPS note"/>
          <p:cNvSpPr txBox="1"/>
          <p:nvPr/>
        </p:nvSpPr>
        <p:spPr>
          <a:xfrm>
            <a:off x="1257300" y="8732520"/>
            <a:ext cx="7863840" cy="457200"/>
          </a:xfrm>
          <a:prstGeom prst="rect">
            <a:avLst/>
          </a:prstGeom>
          <a:noFill/>
        </p:spPr>
        <p:txBody>
          <a:bodyPr wrap="square" lIns="0" tIns="0" rIns="0" bIns="0" anchor="t">
            <a:spAutoFit/>
          </a:bodyPr>
          <a:lstStyle/>
          <a:p>
            <a:pPr algn="ctr">
              <a:spcAft>
                <a:spcPts val="600"/>
              </a:spcAft>
            </a:pPr>
            <a:r>
              <a:rPr sz="1500" b="1" i="0">
                <a:solidFill>
                  <a:srgbClr val="2F75B5"/>
                </a:solidFill>
                <a:latin typeface="Helvetica Neue"/>
                <a:ea typeface="Helvetica Neue"/>
                <a:cs typeface="Helvetica Neue"/>
              </a:rPr>
              <a:t>All of it is HTTPS to the same big clouds as everything else.</a:t>
            </a:r>
          </a:p>
        </p:txBody>
      </p:sp>
      <p:sp>
        <p:nvSpPr>
          <p:cNvPr id="18" name="Find panel"/>
          <p:cNvSpPr/>
          <p:nvPr/>
        </p:nvSpPr>
        <p:spPr>
          <a:xfrm>
            <a:off x="9692640" y="2697480"/>
            <a:ext cx="7338060" cy="3154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9" name="Find list"/>
          <p:cNvSpPr txBox="1"/>
          <p:nvPr/>
        </p:nvSpPr>
        <p:spPr>
          <a:xfrm>
            <a:off x="10012680" y="2880360"/>
            <a:ext cx="6675120" cy="2926080"/>
          </a:xfrm>
          <a:prstGeom prst="rect">
            <a:avLst/>
          </a:prstGeom>
          <a:noFill/>
        </p:spPr>
        <p:txBody>
          <a:bodyPr wrap="square" lIns="0" tIns="0" rIns="0" bIns="0">
            <a:spAutoFit/>
          </a:bodyPr>
          <a:lstStyle/>
          <a:p>
            <a:pPr>
              <a:spcAft>
                <a:spcPts val="800"/>
              </a:spcAft>
            </a:pPr>
            <a:r>
              <a:rPr sz="2200" b="1" i="0">
                <a:solidFill>
                  <a:srgbClr val="000000"/>
                </a:solidFill>
                <a:latin typeface="Helvetica Neue"/>
                <a:ea typeface="Helvetica Neue"/>
                <a:cs typeface="Helvetica Neue"/>
              </a:rPr>
              <a:t>How banks find it</a:t>
            </a:r>
          </a:p>
          <a:p>
            <a:pPr marL="274320" indent="-274320">
              <a:spcAft>
                <a:spcPts val="600"/>
              </a:spcAft>
              <a:buFont typeface="Arial"/>
              <a:buChar char="•"/>
            </a:pPr>
            <a:r>
              <a:rPr sz="1900" b="0" i="0">
                <a:solidFill>
                  <a:srgbClr val="000000"/>
                </a:solidFill>
                <a:latin typeface="Helvetica Neue"/>
                <a:ea typeface="Helvetica Neue"/>
                <a:cs typeface="Helvetica Neue"/>
              </a:rPr>
              <a:t>DNS and web proxy logs: which SaaS sites do staff reach?</a:t>
            </a:r>
          </a:p>
          <a:p>
            <a:pPr marL="274320" indent="-274320">
              <a:spcAft>
                <a:spcPts val="600"/>
              </a:spcAft>
              <a:buFont typeface="Arial"/>
              <a:buChar char="•"/>
            </a:pPr>
            <a:r>
              <a:rPr sz="1900" b="0" i="0">
                <a:solidFill>
                  <a:srgbClr val="000000"/>
                </a:solidFill>
                <a:latin typeface="Helvetica Neue"/>
                <a:ea typeface="Helvetica Neue"/>
                <a:cs typeface="Helvetica Neue"/>
              </a:rPr>
              <a:t>A CASB that inventories cloud app use</a:t>
            </a:r>
          </a:p>
          <a:p>
            <a:pPr marL="274320" indent="-274320">
              <a:spcAft>
                <a:spcPts val="600"/>
              </a:spcAft>
              <a:buFont typeface="Arial"/>
              <a:buChar char="•"/>
            </a:pPr>
            <a:r>
              <a:rPr sz="1900" b="0" i="0">
                <a:solidFill>
                  <a:srgbClr val="000000"/>
                </a:solidFill>
                <a:latin typeface="Helvetica Neue"/>
                <a:ea typeface="Helvetica Neue"/>
                <a:cs typeface="Helvetica Neue"/>
              </a:rPr>
              <a:t>Single sign-on: apps outside it stand out</a:t>
            </a:r>
          </a:p>
          <a:p>
            <a:pPr marL="274320" indent="-274320">
              <a:spcAft>
                <a:spcPts val="600"/>
              </a:spcAft>
              <a:buFont typeface="Arial"/>
              <a:buChar char="•"/>
            </a:pPr>
            <a:r>
              <a:rPr sz="1900" b="0" i="0">
                <a:solidFill>
                  <a:srgbClr val="000000"/>
                </a:solidFill>
                <a:latin typeface="Helvetica Neue"/>
                <a:ea typeface="Helvetica Neue"/>
                <a:cs typeface="Helvetica Neue"/>
              </a:rPr>
              <a:t>Expense reports and card statements</a:t>
            </a:r>
          </a:p>
        </p:txBody>
      </p:sp>
      <p:sp>
        <p:nvSpPr>
          <p:cNvPr id="20" name="Fix panel"/>
          <p:cNvSpPr/>
          <p:nvPr/>
        </p:nvSpPr>
        <p:spPr>
          <a:xfrm>
            <a:off x="9692640" y="6035040"/>
            <a:ext cx="7338060" cy="210312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1" name="Fix list"/>
          <p:cNvSpPr txBox="1"/>
          <p:nvPr/>
        </p:nvSpPr>
        <p:spPr>
          <a:xfrm>
            <a:off x="10012680" y="6172200"/>
            <a:ext cx="6675120" cy="1920240"/>
          </a:xfrm>
          <a:prstGeom prst="rect">
            <a:avLst/>
          </a:prstGeom>
          <a:noFill/>
        </p:spPr>
        <p:txBody>
          <a:bodyPr wrap="square" lIns="0" tIns="0" rIns="0" bIns="0">
            <a:spAutoFit/>
          </a:bodyPr>
          <a:lstStyle/>
          <a:p>
            <a:pPr>
              <a:spcAft>
                <a:spcPts val="800"/>
              </a:spcAft>
            </a:pPr>
            <a:r>
              <a:rPr sz="2200" b="1" i="0">
                <a:solidFill>
                  <a:srgbClr val="000000"/>
                </a:solidFill>
                <a:latin typeface="Helvetica Neue"/>
                <a:ea typeface="Helvetica Neue"/>
                <a:cs typeface="Helvetica Neue"/>
              </a:rPr>
              <a:t>What works better than blocking alone</a:t>
            </a:r>
          </a:p>
          <a:p>
            <a:pPr marL="274320" indent="-274320">
              <a:spcAft>
                <a:spcPts val="600"/>
              </a:spcAft>
              <a:buFont typeface="Arial"/>
              <a:buChar char="•"/>
            </a:pPr>
            <a:r>
              <a:rPr sz="1900" b="0" i="0">
                <a:solidFill>
                  <a:srgbClr val="000000"/>
                </a:solidFill>
                <a:latin typeface="Helvetica Neue"/>
                <a:ea typeface="Helvetica Neue"/>
                <a:cs typeface="Helvetica Neue"/>
              </a:rPr>
              <a:t>A catalog of approved apps, and a fast way to request one</a:t>
            </a:r>
          </a:p>
          <a:p>
            <a:pPr marL="274320" indent="-274320">
              <a:spcAft>
                <a:spcPts val="600"/>
              </a:spcAft>
              <a:buFont typeface="Arial"/>
              <a:buChar char="•"/>
            </a:pPr>
            <a:r>
              <a:rPr sz="1900" b="0" i="0">
                <a:solidFill>
                  <a:srgbClr val="000000"/>
                </a:solidFill>
                <a:latin typeface="Helvetica Neue"/>
                <a:ea typeface="Helvetica Neue"/>
                <a:cs typeface="Helvetica Neue"/>
              </a:rPr>
              <a:t>A clear policy on AI tools and customer data</a:t>
            </a:r>
          </a:p>
        </p:txBody>
      </p:sp>
      <p:sp>
        <p:nvSpPr>
          <p:cNvPr id="22" name="Ask panel"/>
          <p:cNvSpPr/>
          <p:nvPr/>
        </p:nvSpPr>
        <p:spPr>
          <a:xfrm>
            <a:off x="9692640" y="8321040"/>
            <a:ext cx="7338060" cy="105156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3" name="Ask text"/>
          <p:cNvSpPr txBox="1"/>
          <p:nvPr/>
        </p:nvSpPr>
        <p:spPr>
          <a:xfrm>
            <a:off x="10012680" y="8366760"/>
            <a:ext cx="6675120" cy="960120"/>
          </a:xfrm>
          <a:prstGeom prst="rect">
            <a:avLst/>
          </a:prstGeom>
          <a:noFill/>
        </p:spPr>
        <p:txBody>
          <a:bodyPr wrap="square" lIns="0" tIns="0" rIns="0" bIns="0" anchor="ctr">
            <a:spAutoFit/>
          </a:bodyPr>
          <a:lstStyle/>
          <a:p>
            <a:pPr algn="l">
              <a:spcAft>
                <a:spcPts val="600"/>
              </a:spcAft>
            </a:pPr>
            <a:r>
              <a:rPr sz="1700" b="1" i="0">
                <a:solidFill>
                  <a:srgbClr val="000000"/>
                </a:solidFill>
                <a:latin typeface="Helvetica Neue"/>
                <a:ea typeface="Helvetica Neue"/>
                <a:cs typeface="Helvetica Neue"/>
              </a:rPr>
              <a:t>Examiner question: does the vendor inventory include SaaS, and how does the bank know what staff use?</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Chapter 23: Applications on the Network</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9A41A-FDA7-C024-3173-A4D5302E4AF2}"/>
              </a:ext>
            </a:extLst>
          </p:cNvPr>
          <p:cNvSpPr>
            <a:spLocks noGrp="1"/>
          </p:cNvSpPr>
          <p:nvPr>
            <p:ph type="title"/>
          </p:nvPr>
        </p:nvSpPr>
        <p:spPr/>
        <p:txBody>
          <a:bodyPr/>
          <a:lstStyle/>
          <a:p>
            <a:r>
              <a:rPr lang="en-US"/>
              <a:t>It’s All About The Applications</a:t>
            </a:r>
          </a:p>
        </p:txBody>
      </p:sp>
      <p:sp>
        <p:nvSpPr>
          <p:cNvPr id="3" name="Content Placeholder 2">
            <a:extLst>
              <a:ext uri="{FF2B5EF4-FFF2-40B4-BE49-F238E27FC236}">
                <a16:creationId xmlns:a16="http://schemas.microsoft.com/office/drawing/2014/main" id="{E161F82E-EB70-8B9D-986B-3B91FBC989A8}"/>
              </a:ext>
            </a:extLst>
          </p:cNvPr>
          <p:cNvSpPr>
            <a:spLocks noGrp="1"/>
          </p:cNvSpPr>
          <p:nvPr>
            <p:ph idx="1"/>
          </p:nvPr>
        </p:nvSpPr>
        <p:spPr/>
        <p:txBody>
          <a:bodyPr/>
          <a:lstStyle/>
          <a:p>
            <a:r>
              <a:rPr lang="en-US"/>
              <a:t>Applications perform tasks to deliver services to users</a:t>
            </a:r>
          </a:p>
          <a:p>
            <a:r>
              <a:rPr lang="en-US"/>
              <a:t>Communications is the act of users interacting with software performing the desired function</a:t>
            </a:r>
          </a:p>
          <a:p>
            <a:r>
              <a:rPr lang="en-US"/>
              <a:t>Application services define the protocols for communication and services supporting communication</a:t>
            </a:r>
          </a:p>
          <a:p>
            <a:r>
              <a:rPr lang="en-US"/>
              <a:t>Two models exist</a:t>
            </a:r>
          </a:p>
          <a:p>
            <a:pPr lvl="1"/>
            <a:r>
              <a:rPr lang="en-US"/>
              <a:t>Client-server</a:t>
            </a:r>
          </a:p>
          <a:p>
            <a:pPr lvl="1"/>
            <a:r>
              <a:rPr lang="en-US"/>
              <a:t>Peer-to-peer</a:t>
            </a:r>
          </a:p>
        </p:txBody>
      </p:sp>
      <p:grpSp>
        <p:nvGrpSpPr>
          <p:cNvPr id="6" name="Group 5">
            <a:extLst>
              <a:ext uri="{FF2B5EF4-FFF2-40B4-BE49-F238E27FC236}">
                <a16:creationId xmlns:a16="http://schemas.microsoft.com/office/drawing/2014/main" id="{E892C2E4-5506-9FEC-1AEE-B3149EE52716}"/>
              </a:ext>
            </a:extLst>
          </p:cNvPr>
          <p:cNvGrpSpPr/>
          <p:nvPr/>
        </p:nvGrpSpPr>
        <p:grpSpPr>
          <a:xfrm>
            <a:off x="10415587" y="5472113"/>
            <a:ext cx="6829425" cy="4457700"/>
            <a:chOff x="3172277" y="2264570"/>
            <a:chExt cx="11486699" cy="6234112"/>
          </a:xfrm>
        </p:grpSpPr>
        <p:sp>
          <p:nvSpPr>
            <p:cNvPr id="7" name="File">
              <a:extLst>
                <a:ext uri="{FF2B5EF4-FFF2-40B4-BE49-F238E27FC236}">
                  <a16:creationId xmlns:a16="http://schemas.microsoft.com/office/drawing/2014/main" id="{B3A6DFC7-282D-BB1E-73E3-6B1A5EBB7FF8}"/>
                </a:ext>
              </a:extLst>
            </p:cNvPr>
            <p:cNvSpPr>
              <a:spLocks noEditPoints="1" noChangeArrowheads="1"/>
            </p:cNvSpPr>
            <p:nvPr/>
          </p:nvSpPr>
          <p:spPr bwMode="auto">
            <a:xfrm>
              <a:off x="5086350" y="2264570"/>
              <a:ext cx="1526382" cy="1088231"/>
            </a:xfrm>
            <a:custGeom>
              <a:avLst/>
              <a:gdLst>
                <a:gd name="T0" fmla="*/ 10981 w 21600"/>
                <a:gd name="T1" fmla="*/ 3240 h 21600"/>
                <a:gd name="T2" fmla="*/ 0 w 21600"/>
                <a:gd name="T3" fmla="*/ 10800 h 21600"/>
                <a:gd name="T4" fmla="*/ 10800 w 21600"/>
                <a:gd name="T5" fmla="*/ 21600 h 21600"/>
                <a:gd name="T6" fmla="*/ 21600 w 21600"/>
                <a:gd name="T7" fmla="*/ 10800 h 21600"/>
                <a:gd name="T8" fmla="*/ 0 w 21600"/>
                <a:gd name="T9" fmla="*/ 21600 h 21600"/>
                <a:gd name="T10" fmla="*/ 21600 w 21600"/>
                <a:gd name="T11" fmla="*/ 21600 h 21600"/>
                <a:gd name="T12" fmla="*/ 1086 w 21600"/>
                <a:gd name="T13" fmla="*/ 4628 h 21600"/>
                <a:gd name="T14" fmla="*/ 20635 w 21600"/>
                <a:gd name="T15" fmla="*/ 20289 h 21600"/>
              </a:gdLst>
              <a:ahLst/>
              <a:cxnLst>
                <a:cxn ang="0">
                  <a:pos x="T0" y="T1"/>
                </a:cxn>
                <a:cxn ang="0">
                  <a:pos x="T2" y="T3"/>
                </a:cxn>
                <a:cxn ang="0">
                  <a:pos x="T4" y="T5"/>
                </a:cxn>
                <a:cxn ang="0">
                  <a:pos x="T6" y="T7"/>
                </a:cxn>
                <a:cxn ang="0">
                  <a:pos x="T8" y="T9"/>
                </a:cxn>
                <a:cxn ang="0">
                  <a:pos x="T10" y="T11"/>
                </a:cxn>
              </a:cxnLst>
              <a:rect l="T12" t="T13" r="T14" b="T15"/>
              <a:pathLst>
                <a:path w="21600" h="21600">
                  <a:moveTo>
                    <a:pt x="19790" y="3240"/>
                  </a:moveTo>
                  <a:cubicBezTo>
                    <a:pt x="10981" y="3240"/>
                    <a:pt x="9171" y="3240"/>
                    <a:pt x="9050" y="3086"/>
                  </a:cubicBezTo>
                  <a:cubicBezTo>
                    <a:pt x="9050" y="2931"/>
                    <a:pt x="8930" y="2777"/>
                    <a:pt x="8930" y="2469"/>
                  </a:cubicBezTo>
                  <a:cubicBezTo>
                    <a:pt x="8930" y="2160"/>
                    <a:pt x="8809" y="1851"/>
                    <a:pt x="8688" y="1389"/>
                  </a:cubicBezTo>
                  <a:cubicBezTo>
                    <a:pt x="8568" y="1080"/>
                    <a:pt x="8326" y="771"/>
                    <a:pt x="8085" y="463"/>
                  </a:cubicBezTo>
                  <a:cubicBezTo>
                    <a:pt x="7723" y="154"/>
                    <a:pt x="7361" y="0"/>
                    <a:pt x="7361" y="0"/>
                  </a:cubicBezTo>
                  <a:cubicBezTo>
                    <a:pt x="7361" y="0"/>
                    <a:pt x="2293" y="0"/>
                    <a:pt x="2051" y="154"/>
                  </a:cubicBezTo>
                  <a:cubicBezTo>
                    <a:pt x="1689" y="309"/>
                    <a:pt x="1448" y="463"/>
                    <a:pt x="1327" y="771"/>
                  </a:cubicBezTo>
                  <a:cubicBezTo>
                    <a:pt x="1207" y="1080"/>
                    <a:pt x="1086" y="1389"/>
                    <a:pt x="965" y="1697"/>
                  </a:cubicBezTo>
                  <a:cubicBezTo>
                    <a:pt x="845" y="2160"/>
                    <a:pt x="724" y="2314"/>
                    <a:pt x="724" y="2469"/>
                  </a:cubicBezTo>
                  <a:cubicBezTo>
                    <a:pt x="603" y="2623"/>
                    <a:pt x="603" y="2777"/>
                    <a:pt x="483" y="2931"/>
                  </a:cubicBezTo>
                  <a:cubicBezTo>
                    <a:pt x="483" y="3086"/>
                    <a:pt x="362" y="3240"/>
                    <a:pt x="241" y="3240"/>
                  </a:cubicBezTo>
                  <a:lnTo>
                    <a:pt x="0" y="3394"/>
                  </a:lnTo>
                  <a:lnTo>
                    <a:pt x="0" y="3703"/>
                  </a:lnTo>
                  <a:lnTo>
                    <a:pt x="0" y="10800"/>
                  </a:lnTo>
                  <a:lnTo>
                    <a:pt x="0" y="21600"/>
                  </a:lnTo>
                  <a:lnTo>
                    <a:pt x="10981" y="21600"/>
                  </a:lnTo>
                  <a:lnTo>
                    <a:pt x="21600" y="21600"/>
                  </a:lnTo>
                  <a:lnTo>
                    <a:pt x="21600" y="10800"/>
                  </a:lnTo>
                  <a:lnTo>
                    <a:pt x="21600" y="5246"/>
                  </a:lnTo>
                  <a:lnTo>
                    <a:pt x="21600" y="4783"/>
                  </a:lnTo>
                  <a:cubicBezTo>
                    <a:pt x="21479" y="4320"/>
                    <a:pt x="21359" y="4011"/>
                    <a:pt x="21117" y="3703"/>
                  </a:cubicBezTo>
                  <a:cubicBezTo>
                    <a:pt x="20876" y="3549"/>
                    <a:pt x="20514" y="3394"/>
                    <a:pt x="20152" y="3240"/>
                  </a:cubicBezTo>
                  <a:close/>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a:lstStyle/>
            <a:p>
              <a:endParaRPr lang="en-US" sz="2700"/>
            </a:p>
          </p:txBody>
        </p:sp>
        <p:grpSp>
          <p:nvGrpSpPr>
            <p:cNvPr id="8" name="Group 4">
              <a:extLst>
                <a:ext uri="{FF2B5EF4-FFF2-40B4-BE49-F238E27FC236}">
                  <a16:creationId xmlns:a16="http://schemas.microsoft.com/office/drawing/2014/main" id="{4C6C4A2C-41EE-A586-28D8-B64C91F23126}"/>
                </a:ext>
              </a:extLst>
            </p:cNvPr>
            <p:cNvGrpSpPr>
              <a:grpSpLocks/>
            </p:cNvGrpSpPr>
            <p:nvPr/>
          </p:nvGrpSpPr>
          <p:grpSpPr bwMode="auto">
            <a:xfrm>
              <a:off x="10101263" y="3236120"/>
              <a:ext cx="4557713" cy="4822032"/>
              <a:chOff x="693" y="1396"/>
              <a:chExt cx="1914" cy="2025"/>
            </a:xfrm>
          </p:grpSpPr>
          <p:grpSp>
            <p:nvGrpSpPr>
              <p:cNvPr id="14" name="Group 5">
                <a:extLst>
                  <a:ext uri="{FF2B5EF4-FFF2-40B4-BE49-F238E27FC236}">
                    <a16:creationId xmlns:a16="http://schemas.microsoft.com/office/drawing/2014/main" id="{EF13F10A-4AF3-9266-5180-21F3DC2A8A5B}"/>
                  </a:ext>
                </a:extLst>
              </p:cNvPr>
              <p:cNvGrpSpPr>
                <a:grpSpLocks/>
              </p:cNvGrpSpPr>
              <p:nvPr/>
            </p:nvGrpSpPr>
            <p:grpSpPr bwMode="auto">
              <a:xfrm>
                <a:off x="693" y="1396"/>
                <a:ext cx="1914" cy="2025"/>
                <a:chOff x="806" y="1322"/>
                <a:chExt cx="1914" cy="2025"/>
              </a:xfrm>
            </p:grpSpPr>
            <p:pic>
              <p:nvPicPr>
                <p:cNvPr id="16" name="Picture 6" descr="Logo_20Excel">
                  <a:extLst>
                    <a:ext uri="{FF2B5EF4-FFF2-40B4-BE49-F238E27FC236}">
                      <a16:creationId xmlns:a16="http://schemas.microsoft.com/office/drawing/2014/main" id="{6AC32BC6-A240-4B59-8DE3-D6FD07FD7184}"/>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746" y="2373"/>
                  <a:ext cx="974" cy="974"/>
                </a:xfrm>
                <a:prstGeom prst="rect">
                  <a:avLst/>
                </a:prstGeom>
                <a:noFill/>
              </p:spPr>
            </p:pic>
            <p:pic>
              <p:nvPicPr>
                <p:cNvPr id="17" name="Picture 7" descr="outlook_logo">
                  <a:extLst>
                    <a:ext uri="{FF2B5EF4-FFF2-40B4-BE49-F238E27FC236}">
                      <a16:creationId xmlns:a16="http://schemas.microsoft.com/office/drawing/2014/main" id="{47F06ABD-4B05-65CD-0AEF-AA258D052820}"/>
                    </a:ext>
                  </a:extLst>
                </p:cNvPr>
                <p:cNvPicPr>
                  <a:picLocks noChangeAspect="1" noChangeArrowheads="1"/>
                </p:cNvPicPr>
                <p:nvPr/>
              </p:nvPicPr>
              <p:blipFill>
                <a:blip r:embed="rId3" cstate="print"/>
                <a:srcRect/>
                <a:stretch>
                  <a:fillRect/>
                </a:stretch>
              </p:blipFill>
              <p:spPr bwMode="auto">
                <a:xfrm>
                  <a:off x="1778" y="1551"/>
                  <a:ext cx="900" cy="900"/>
                </a:xfrm>
                <a:prstGeom prst="rect">
                  <a:avLst/>
                </a:prstGeom>
                <a:noFill/>
              </p:spPr>
            </p:pic>
            <p:pic>
              <p:nvPicPr>
                <p:cNvPr id="18" name="Picture 8" descr="Msword_logo">
                  <a:extLst>
                    <a:ext uri="{FF2B5EF4-FFF2-40B4-BE49-F238E27FC236}">
                      <a16:creationId xmlns:a16="http://schemas.microsoft.com/office/drawing/2014/main" id="{5F2DD35F-A8E9-6151-F662-F1777A863BCD}"/>
                    </a:ext>
                  </a:extLst>
                </p:cNvPr>
                <p:cNvPicPr>
                  <a:picLocks noChangeAspect="1" noChangeArrowheads="1"/>
                </p:cNvPicPr>
                <p:nvPr/>
              </p:nvPicPr>
              <p:blipFill>
                <a:blip r:embed="rId4" cstate="print"/>
                <a:srcRect/>
                <a:stretch>
                  <a:fillRect/>
                </a:stretch>
              </p:blipFill>
              <p:spPr bwMode="auto">
                <a:xfrm>
                  <a:off x="853" y="2275"/>
                  <a:ext cx="971" cy="981"/>
                </a:xfrm>
                <a:prstGeom prst="rect">
                  <a:avLst/>
                </a:prstGeom>
                <a:noFill/>
              </p:spPr>
            </p:pic>
            <p:pic>
              <p:nvPicPr>
                <p:cNvPr id="19" name="Picture 9" descr="powerpoint_logo">
                  <a:extLst>
                    <a:ext uri="{FF2B5EF4-FFF2-40B4-BE49-F238E27FC236}">
                      <a16:creationId xmlns:a16="http://schemas.microsoft.com/office/drawing/2014/main" id="{DF68639B-B268-694A-8775-CFFD39070EE6}"/>
                    </a:ext>
                  </a:extLst>
                </p:cNvPr>
                <p:cNvPicPr>
                  <a:picLocks noChangeAspect="1" noChangeArrowheads="1"/>
                </p:cNvPicPr>
                <p:nvPr/>
              </p:nvPicPr>
              <p:blipFill>
                <a:blip r:embed="rId5" cstate="print"/>
                <a:srcRect/>
                <a:stretch>
                  <a:fillRect/>
                </a:stretch>
              </p:blipFill>
              <p:spPr bwMode="auto">
                <a:xfrm>
                  <a:off x="806" y="1322"/>
                  <a:ext cx="996" cy="984"/>
                </a:xfrm>
                <a:prstGeom prst="rect">
                  <a:avLst/>
                </a:prstGeom>
                <a:noFill/>
              </p:spPr>
            </p:pic>
          </p:grpSp>
          <p:sp>
            <p:nvSpPr>
              <p:cNvPr id="15" name="AutoShape 10">
                <a:extLst>
                  <a:ext uri="{FF2B5EF4-FFF2-40B4-BE49-F238E27FC236}">
                    <a16:creationId xmlns:a16="http://schemas.microsoft.com/office/drawing/2014/main" id="{ACCE6421-6B64-B4C7-9A28-2AECA9EFA5D8}"/>
                  </a:ext>
                </a:extLst>
              </p:cNvPr>
              <p:cNvSpPr>
                <a:spLocks noChangeArrowheads="1"/>
              </p:cNvSpPr>
              <p:nvPr/>
            </p:nvSpPr>
            <p:spPr bwMode="auto">
              <a:xfrm>
                <a:off x="984" y="1911"/>
                <a:ext cx="1432" cy="974"/>
              </a:xfrm>
              <a:custGeom>
                <a:avLst/>
                <a:gdLst>
                  <a:gd name="G0" fmla="+- 1673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817" y="16635"/>
                    </a:moveTo>
                    <a:cubicBezTo>
                      <a:pt x="19180" y="14996"/>
                      <a:pt x="19927" y="12931"/>
                      <a:pt x="19927" y="10800"/>
                    </a:cubicBezTo>
                    <a:cubicBezTo>
                      <a:pt x="19927" y="5759"/>
                      <a:pt x="15840" y="1673"/>
                      <a:pt x="10800" y="1673"/>
                    </a:cubicBezTo>
                    <a:cubicBezTo>
                      <a:pt x="8668" y="1672"/>
                      <a:pt x="6603" y="2419"/>
                      <a:pt x="4964" y="3782"/>
                    </a:cubicBezTo>
                    <a:close/>
                    <a:moveTo>
                      <a:pt x="3782" y="4964"/>
                    </a:moveTo>
                    <a:cubicBezTo>
                      <a:pt x="2419" y="6603"/>
                      <a:pt x="1673" y="8668"/>
                      <a:pt x="1673" y="10799"/>
                    </a:cubicBezTo>
                    <a:cubicBezTo>
                      <a:pt x="1673" y="15840"/>
                      <a:pt x="5759" y="19927"/>
                      <a:pt x="10800" y="19927"/>
                    </a:cubicBezTo>
                    <a:cubicBezTo>
                      <a:pt x="12931" y="19927"/>
                      <a:pt x="14996" y="19180"/>
                      <a:pt x="16635" y="17817"/>
                    </a:cubicBezTo>
                    <a:close/>
                  </a:path>
                </a:pathLst>
              </a:custGeom>
              <a:solidFill>
                <a:srgbClr val="FF0000"/>
              </a:solidFill>
              <a:ln w="28575" algn="ctr">
                <a:solidFill>
                  <a:schemeClr val="tx1"/>
                </a:solidFill>
                <a:miter lim="800000"/>
                <a:headEnd/>
                <a:tailEnd/>
              </a:ln>
              <a:effectLst/>
            </p:spPr>
            <p:txBody>
              <a:bodyPr wrap="square" anchor="ctr">
                <a:spAutoFit/>
              </a:bodyPr>
              <a:lstStyle/>
              <a:p>
                <a:endParaRPr lang="en-US" sz="2700"/>
              </a:p>
            </p:txBody>
          </p:sp>
        </p:grpSp>
        <p:sp>
          <p:nvSpPr>
            <p:cNvPr id="9" name="AutoShape 14">
              <a:extLst>
                <a:ext uri="{FF2B5EF4-FFF2-40B4-BE49-F238E27FC236}">
                  <a16:creationId xmlns:a16="http://schemas.microsoft.com/office/drawing/2014/main" id="{EE2A36BE-6A5C-345A-7371-9090F108F68C}"/>
                </a:ext>
              </a:extLst>
            </p:cNvPr>
            <p:cNvSpPr>
              <a:spLocks noChangeArrowheads="1"/>
            </p:cNvSpPr>
            <p:nvPr/>
          </p:nvSpPr>
          <p:spPr bwMode="auto">
            <a:xfrm>
              <a:off x="4777685" y="3781426"/>
              <a:ext cx="2473530" cy="596816"/>
            </a:xfrm>
            <a:prstGeom prst="curvedDownArrow">
              <a:avLst>
                <a:gd name="adj1" fmla="val 53974"/>
                <a:gd name="adj2" fmla="val 120215"/>
                <a:gd name="adj3" fmla="val 47141"/>
              </a:avLst>
            </a:prstGeom>
            <a:solidFill>
              <a:srgbClr val="FFCC66"/>
            </a:solidFill>
            <a:ln w="28575">
              <a:solidFill>
                <a:schemeClr val="tx1"/>
              </a:solidFill>
              <a:miter lim="800000"/>
              <a:headEnd/>
              <a:tailEnd/>
            </a:ln>
            <a:effectLst/>
          </p:spPr>
          <p:txBody>
            <a:bodyPr wrap="square" anchor="ctr">
              <a:spAutoFit/>
            </a:bodyPr>
            <a:lstStyle/>
            <a:p>
              <a:endParaRPr lang="en-US" sz="2700"/>
            </a:p>
          </p:txBody>
        </p:sp>
        <p:sp>
          <p:nvSpPr>
            <p:cNvPr id="10" name="AutoShape 15">
              <a:extLst>
                <a:ext uri="{FF2B5EF4-FFF2-40B4-BE49-F238E27FC236}">
                  <a16:creationId xmlns:a16="http://schemas.microsoft.com/office/drawing/2014/main" id="{0B7872D9-808A-2B67-10B8-D8982DE180FA}"/>
                </a:ext>
              </a:extLst>
            </p:cNvPr>
            <p:cNvSpPr>
              <a:spLocks noChangeArrowheads="1"/>
            </p:cNvSpPr>
            <p:nvPr/>
          </p:nvSpPr>
          <p:spPr bwMode="auto">
            <a:xfrm flipH="1" flipV="1">
              <a:off x="4497286" y="6706479"/>
              <a:ext cx="2473530" cy="450368"/>
            </a:xfrm>
            <a:prstGeom prst="curvedDownArrow">
              <a:avLst>
                <a:gd name="adj1" fmla="val 53974"/>
                <a:gd name="adj2" fmla="val 120215"/>
                <a:gd name="adj3" fmla="val 61868"/>
              </a:avLst>
            </a:prstGeom>
            <a:solidFill>
              <a:srgbClr val="FFCC66"/>
            </a:solidFill>
            <a:ln w="28575">
              <a:solidFill>
                <a:schemeClr val="tx1"/>
              </a:solidFill>
              <a:miter lim="800000"/>
              <a:headEnd/>
              <a:tailEnd/>
            </a:ln>
            <a:effectLst/>
          </p:spPr>
          <p:txBody>
            <a:bodyPr wrap="square" anchor="ctr">
              <a:spAutoFit/>
            </a:bodyPr>
            <a:lstStyle/>
            <a:p>
              <a:endParaRPr lang="en-US" sz="2700"/>
            </a:p>
          </p:txBody>
        </p:sp>
        <p:sp>
          <p:nvSpPr>
            <p:cNvPr id="11" name="PPTShape_0">
              <a:extLst>
                <a:ext uri="{FF2B5EF4-FFF2-40B4-BE49-F238E27FC236}">
                  <a16:creationId xmlns:a16="http://schemas.microsoft.com/office/drawing/2014/main" id="{5544725A-9839-A84A-9939-8D68DDEA936E}"/>
                </a:ext>
              </a:extLst>
            </p:cNvPr>
            <p:cNvSpPr>
              <a:spLocks noEditPoints="1" noChangeArrowheads="1"/>
            </p:cNvSpPr>
            <p:nvPr/>
          </p:nvSpPr>
          <p:spPr bwMode="auto">
            <a:xfrm>
              <a:off x="5067301" y="7410450"/>
              <a:ext cx="1521620" cy="1088232"/>
            </a:xfrm>
            <a:custGeom>
              <a:avLst/>
              <a:gdLst>
                <a:gd name="T0" fmla="*/ 10981 w 21600"/>
                <a:gd name="T1" fmla="*/ 3240 h 21600"/>
                <a:gd name="T2" fmla="*/ 0 w 21600"/>
                <a:gd name="T3" fmla="*/ 10800 h 21600"/>
                <a:gd name="T4" fmla="*/ 10800 w 21600"/>
                <a:gd name="T5" fmla="*/ 21600 h 21600"/>
                <a:gd name="T6" fmla="*/ 21600 w 21600"/>
                <a:gd name="T7" fmla="*/ 10800 h 21600"/>
                <a:gd name="T8" fmla="*/ 0 w 21600"/>
                <a:gd name="T9" fmla="*/ 21600 h 21600"/>
                <a:gd name="T10" fmla="*/ 21600 w 21600"/>
                <a:gd name="T11" fmla="*/ 21600 h 21600"/>
                <a:gd name="T12" fmla="*/ 1086 w 21600"/>
                <a:gd name="T13" fmla="*/ 4628 h 21600"/>
                <a:gd name="T14" fmla="*/ 20635 w 21600"/>
                <a:gd name="T15" fmla="*/ 20289 h 21600"/>
              </a:gdLst>
              <a:ahLst/>
              <a:cxnLst>
                <a:cxn ang="0">
                  <a:pos x="T0" y="T1"/>
                </a:cxn>
                <a:cxn ang="0">
                  <a:pos x="T2" y="T3"/>
                </a:cxn>
                <a:cxn ang="0">
                  <a:pos x="T4" y="T5"/>
                </a:cxn>
                <a:cxn ang="0">
                  <a:pos x="T6" y="T7"/>
                </a:cxn>
                <a:cxn ang="0">
                  <a:pos x="T8" y="T9"/>
                </a:cxn>
                <a:cxn ang="0">
                  <a:pos x="T10" y="T11"/>
                </a:cxn>
              </a:cxnLst>
              <a:rect l="T12" t="T13" r="T14" b="T15"/>
              <a:pathLst>
                <a:path w="21600" h="21600">
                  <a:moveTo>
                    <a:pt x="19790" y="3240"/>
                  </a:moveTo>
                  <a:cubicBezTo>
                    <a:pt x="10981" y="3240"/>
                    <a:pt x="9171" y="3240"/>
                    <a:pt x="9050" y="3086"/>
                  </a:cubicBezTo>
                  <a:cubicBezTo>
                    <a:pt x="9050" y="2931"/>
                    <a:pt x="8930" y="2777"/>
                    <a:pt x="8930" y="2469"/>
                  </a:cubicBezTo>
                  <a:cubicBezTo>
                    <a:pt x="8930" y="2160"/>
                    <a:pt x="8809" y="1851"/>
                    <a:pt x="8688" y="1389"/>
                  </a:cubicBezTo>
                  <a:cubicBezTo>
                    <a:pt x="8568" y="1080"/>
                    <a:pt x="8326" y="771"/>
                    <a:pt x="8085" y="463"/>
                  </a:cubicBezTo>
                  <a:cubicBezTo>
                    <a:pt x="7723" y="154"/>
                    <a:pt x="7361" y="0"/>
                    <a:pt x="7361" y="0"/>
                  </a:cubicBezTo>
                  <a:cubicBezTo>
                    <a:pt x="7361" y="0"/>
                    <a:pt x="2293" y="0"/>
                    <a:pt x="2051" y="154"/>
                  </a:cubicBezTo>
                  <a:cubicBezTo>
                    <a:pt x="1689" y="309"/>
                    <a:pt x="1448" y="463"/>
                    <a:pt x="1327" y="771"/>
                  </a:cubicBezTo>
                  <a:cubicBezTo>
                    <a:pt x="1207" y="1080"/>
                    <a:pt x="1086" y="1389"/>
                    <a:pt x="965" y="1697"/>
                  </a:cubicBezTo>
                  <a:cubicBezTo>
                    <a:pt x="845" y="2160"/>
                    <a:pt x="724" y="2314"/>
                    <a:pt x="724" y="2469"/>
                  </a:cubicBezTo>
                  <a:cubicBezTo>
                    <a:pt x="603" y="2623"/>
                    <a:pt x="603" y="2777"/>
                    <a:pt x="483" y="2931"/>
                  </a:cubicBezTo>
                  <a:cubicBezTo>
                    <a:pt x="483" y="3086"/>
                    <a:pt x="362" y="3240"/>
                    <a:pt x="241" y="3240"/>
                  </a:cubicBezTo>
                  <a:lnTo>
                    <a:pt x="0" y="3394"/>
                  </a:lnTo>
                  <a:lnTo>
                    <a:pt x="0" y="3703"/>
                  </a:lnTo>
                  <a:lnTo>
                    <a:pt x="0" y="10800"/>
                  </a:lnTo>
                  <a:lnTo>
                    <a:pt x="0" y="21600"/>
                  </a:lnTo>
                  <a:lnTo>
                    <a:pt x="10981" y="21600"/>
                  </a:lnTo>
                  <a:lnTo>
                    <a:pt x="21600" y="21600"/>
                  </a:lnTo>
                  <a:lnTo>
                    <a:pt x="21600" y="10800"/>
                  </a:lnTo>
                  <a:lnTo>
                    <a:pt x="21600" y="5246"/>
                  </a:lnTo>
                  <a:lnTo>
                    <a:pt x="21600" y="4783"/>
                  </a:lnTo>
                  <a:cubicBezTo>
                    <a:pt x="21479" y="4320"/>
                    <a:pt x="21359" y="4011"/>
                    <a:pt x="21117" y="3703"/>
                  </a:cubicBezTo>
                  <a:cubicBezTo>
                    <a:pt x="20876" y="3549"/>
                    <a:pt x="20514" y="3394"/>
                    <a:pt x="20152" y="3240"/>
                  </a:cubicBezTo>
                  <a:close/>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a:lstStyle/>
            <a:p>
              <a:endParaRPr lang="en-US" sz="2700"/>
            </a:p>
          </p:txBody>
        </p:sp>
        <p:pic>
          <p:nvPicPr>
            <p:cNvPr id="12" name="Picture 11">
              <a:extLst>
                <a:ext uri="{FF2B5EF4-FFF2-40B4-BE49-F238E27FC236}">
                  <a16:creationId xmlns:a16="http://schemas.microsoft.com/office/drawing/2014/main" id="{7E056AC6-57AC-0CE7-087E-D73D008E4FFC}"/>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349093" y="4544786"/>
              <a:ext cx="2561774" cy="1921331"/>
            </a:xfrm>
            <a:prstGeom prst="rect">
              <a:avLst/>
            </a:prstGeom>
          </p:spPr>
        </p:pic>
        <p:pic>
          <p:nvPicPr>
            <p:cNvPr id="13" name="Picture 12">
              <a:extLst>
                <a:ext uri="{FF2B5EF4-FFF2-40B4-BE49-F238E27FC236}">
                  <a16:creationId xmlns:a16="http://schemas.microsoft.com/office/drawing/2014/main" id="{B8D056D5-2756-C847-7533-EDCF4BEDD82B}"/>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172277" y="4618604"/>
              <a:ext cx="2561774" cy="1921331"/>
            </a:xfrm>
            <a:prstGeom prst="rect">
              <a:avLst/>
            </a:prstGeom>
          </p:spPr>
        </p:pic>
      </p:grpSp>
    </p:spTree>
    <p:extLst>
      <p:ext uri="{BB962C8B-B14F-4D97-AF65-F5344CB8AC3E}">
        <p14:creationId xmlns:p14="http://schemas.microsoft.com/office/powerpoint/2010/main" val="264674318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Application Layer Concerns</a:t>
            </a:r>
          </a:p>
        </p:txBody>
      </p:sp>
      <p:sp>
        <p:nvSpPr>
          <p:cNvPr id="7" name="Content Placeholder 6"/>
          <p:cNvSpPr>
            <a:spLocks noGrp="1"/>
          </p:cNvSpPr>
          <p:nvPr>
            <p:ph idx="1"/>
          </p:nvPr>
        </p:nvSpPr>
        <p:spPr>
          <a:xfrm>
            <a:off x="1257300" y="2193130"/>
            <a:ext cx="15773400" cy="7593807"/>
          </a:xfrm>
        </p:spPr>
        <p:txBody>
          <a:bodyPr>
            <a:normAutofit/>
          </a:bodyPr>
          <a:lstStyle/>
          <a:p>
            <a:r>
              <a:rPr lang="en-US"/>
              <a:t>Information syntax</a:t>
            </a:r>
          </a:p>
          <a:p>
            <a:r>
              <a:rPr lang="en-US"/>
              <a:t>Information semantics</a:t>
            </a:r>
          </a:p>
          <a:p>
            <a:pPr lvl="1"/>
            <a:r>
              <a:rPr lang="en-US"/>
              <a:t>What the information means </a:t>
            </a:r>
          </a:p>
          <a:p>
            <a:pPr lvl="2"/>
            <a:r>
              <a:rPr lang="en-US"/>
              <a:t>What information elements are required</a:t>
            </a:r>
          </a:p>
          <a:p>
            <a:pPr lvl="2"/>
            <a:r>
              <a:rPr lang="en-US"/>
              <a:t>How the information elements are exchanged</a:t>
            </a:r>
          </a:p>
          <a:p>
            <a:r>
              <a:rPr lang="en-US"/>
              <a:t>Applications types</a:t>
            </a:r>
          </a:p>
          <a:p>
            <a:pPr lvl="1"/>
            <a:r>
              <a:rPr lang="en-US"/>
              <a:t>User applications</a:t>
            </a:r>
          </a:p>
          <a:p>
            <a:pPr lvl="1"/>
            <a:r>
              <a:rPr lang="en-US"/>
              <a:t>Network support facilities</a:t>
            </a:r>
          </a:p>
          <a:p>
            <a:pPr lvl="1"/>
            <a:r>
              <a:rPr lang="en-US"/>
              <a:t>Resource sharing utilities</a:t>
            </a:r>
          </a:p>
          <a:p>
            <a:pPr lvl="1"/>
            <a:r>
              <a:rPr lang="en-US"/>
              <a:t>Network management packages</a:t>
            </a:r>
          </a:p>
        </p:txBody>
      </p:sp>
      <p:sp>
        <p:nvSpPr>
          <p:cNvPr id="4" name="Slide Number Placeholder 3"/>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182</a:t>
            </a:fld>
            <a:endParaRPr lang="en-US">
              <a:solidFill>
                <a:schemeClr val="tx1">
                  <a:lumMod val="50000"/>
                  <a:lumOff val="50000"/>
                </a:schemeClr>
              </a:solidFill>
            </a:endParaRPr>
          </a:p>
        </p:txBody>
      </p:sp>
      <p:pic>
        <p:nvPicPr>
          <p:cNvPr id="2" name="Picture 7" descr="C:\Users\MSteinberg\AppData\Local\Microsoft\Windows\Temporary Internet Files\Content.IE5\F7JD5N5E\MP900309615[1].jpg">
            <a:extLst>
              <a:ext uri="{FF2B5EF4-FFF2-40B4-BE49-F238E27FC236}">
                <a16:creationId xmlns:a16="http://schemas.microsoft.com/office/drawing/2014/main" id="{C77E2EBC-39C3-87D4-AD6E-7AE037E9252C}"/>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1944350" y="5894738"/>
            <a:ext cx="5486400" cy="3913632"/>
          </a:xfrm>
          <a:prstGeom prst="roundRect">
            <a:avLst>
              <a:gd name="adj" fmla="val 4785"/>
            </a:avLst>
          </a:prstGeom>
          <a:solidFill>
            <a:srgbClr val="FFFFFF">
              <a:shade val="85000"/>
            </a:srgbClr>
          </a:solidFill>
          <a:ln>
            <a:noFill/>
          </a:ln>
          <a:effectLst/>
        </p:spPr>
      </p:pic>
    </p:spTree>
    <p:custDataLst>
      <p:tags r:id="rId1"/>
    </p:custDataLst>
    <p:extLst>
      <p:ext uri="{BB962C8B-B14F-4D97-AF65-F5344CB8AC3E}">
        <p14:creationId xmlns:p14="http://schemas.microsoft.com/office/powerpoint/2010/main" val="283540146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1378" name="Line 2"/>
          <p:cNvSpPr>
            <a:spLocks noChangeShapeType="1"/>
          </p:cNvSpPr>
          <p:nvPr/>
        </p:nvSpPr>
        <p:spPr bwMode="auto">
          <a:xfrm flipH="1" flipV="1">
            <a:off x="9358313" y="4919663"/>
            <a:ext cx="2607470" cy="1312068"/>
          </a:xfrm>
          <a:prstGeom prst="line">
            <a:avLst/>
          </a:prstGeom>
          <a:noFill/>
          <a:ln w="28575">
            <a:solidFill>
              <a:schemeClr val="tx1"/>
            </a:solidFill>
            <a:round/>
            <a:headEnd/>
            <a:tailEnd/>
          </a:ln>
          <a:effectLst/>
        </p:spPr>
        <p:txBody>
          <a:bodyPr anchor="ctr">
            <a:spAutoFit/>
          </a:bodyPr>
          <a:lstStyle/>
          <a:p>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
        <p:nvSpPr>
          <p:cNvPr id="3941379" name="Line 3"/>
          <p:cNvSpPr>
            <a:spLocks noChangeShapeType="1"/>
          </p:cNvSpPr>
          <p:nvPr/>
        </p:nvSpPr>
        <p:spPr bwMode="auto">
          <a:xfrm flipV="1">
            <a:off x="7029451" y="4691063"/>
            <a:ext cx="2100263" cy="1119188"/>
          </a:xfrm>
          <a:prstGeom prst="line">
            <a:avLst/>
          </a:prstGeom>
          <a:noFill/>
          <a:ln w="28575">
            <a:solidFill>
              <a:schemeClr val="tx1"/>
            </a:solidFill>
            <a:round/>
            <a:headEnd/>
            <a:tailEnd/>
          </a:ln>
          <a:effectLst/>
        </p:spPr>
        <p:txBody>
          <a:bodyPr wrap="none" anchor="ctr">
            <a:spAutoFit/>
          </a:bodyPr>
          <a:lstStyle/>
          <a:p>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pic>
        <p:nvPicPr>
          <p:cNvPr id="3941380" name="Picture 4" descr="computer"/>
          <p:cNvPicPr>
            <a:picLocks noChangeAspect="1" noChangeArrowheads="1"/>
          </p:cNvPicPr>
          <p:nvPr>
            <p:custDataLst>
              <p:tags r:id="rId2"/>
            </p:custDataLst>
          </p:nvPr>
        </p:nvPicPr>
        <p:blipFill>
          <a:blip r:embed="rId6" cstate="email">
            <a:extLst>
              <a:ext uri="{28A0092B-C50C-407E-A947-70E740481C1C}">
                <a14:useLocalDpi xmlns:a14="http://schemas.microsoft.com/office/drawing/2010/main"/>
              </a:ext>
            </a:extLst>
          </a:blip>
          <a:srcRect/>
          <a:stretch>
            <a:fillRect/>
          </a:stretch>
        </p:blipFill>
        <p:spPr bwMode="auto">
          <a:xfrm>
            <a:off x="5010150" y="4498181"/>
            <a:ext cx="2857500" cy="3086100"/>
          </a:xfrm>
          <a:prstGeom prst="rect">
            <a:avLst/>
          </a:prstGeom>
          <a:noFill/>
        </p:spPr>
      </p:pic>
      <p:pic>
        <p:nvPicPr>
          <p:cNvPr id="3941381" name="Picture 5" descr="server"/>
          <p:cNvPicPr>
            <a:picLocks noChangeAspect="1" noChangeArrowheads="1"/>
          </p:cNvPicPr>
          <p:nvPr>
            <p:custDataLst>
              <p:tags r:id="rId3"/>
            </p:custDataLst>
          </p:nvPr>
        </p:nvPicPr>
        <p:blipFill>
          <a:blip r:embed="rId7" cstate="email">
            <a:extLst>
              <a:ext uri="{28A0092B-C50C-407E-A947-70E740481C1C}">
                <a14:useLocalDpi xmlns:a14="http://schemas.microsoft.com/office/drawing/2010/main"/>
              </a:ext>
            </a:extLst>
          </a:blip>
          <a:srcRect/>
          <a:stretch>
            <a:fillRect/>
          </a:stretch>
        </p:blipFill>
        <p:spPr bwMode="auto">
          <a:xfrm>
            <a:off x="10551320" y="4552951"/>
            <a:ext cx="2859881" cy="3202781"/>
          </a:xfrm>
          <a:prstGeom prst="rect">
            <a:avLst/>
          </a:prstGeom>
          <a:noFill/>
        </p:spPr>
      </p:pic>
      <p:sp>
        <p:nvSpPr>
          <p:cNvPr id="3941382" name="Rectangle 6"/>
          <p:cNvSpPr>
            <a:spLocks noGrp="1" noChangeArrowheads="1"/>
          </p:cNvSpPr>
          <p:nvPr>
            <p:ph type="title"/>
          </p:nvPr>
        </p:nvSpPr>
        <p:spPr>
          <a:xfrm>
            <a:off x="1243014" y="355376"/>
            <a:ext cx="15773400" cy="1988345"/>
          </a:xfrm>
        </p:spPr>
        <p:txBody>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Clients and Servers</a:t>
            </a:r>
          </a:p>
        </p:txBody>
      </p:sp>
      <p:sp>
        <p:nvSpPr>
          <p:cNvPr id="15" name="Slide Number Placeholder 14"/>
          <p:cNvSpPr>
            <a:spLocks noGrp="1"/>
          </p:cNvSpPr>
          <p:nvPr>
            <p:ph type="sldNum" sz="quarter" idx="10"/>
          </p:nvPr>
        </p:nvSpPr>
        <p:spPr>
          <a:prstGeom prst="rect">
            <a:avLst/>
          </a:prstGeom>
        </p:spPr>
        <p:txBody>
          <a:bodyPr/>
          <a:lstStyle/>
          <a:p>
            <a:fld id="{52B67DA5-9DD9-4BCA-8370-9CA784C1DE92}" type="slidenum">
              <a:rPr lang="en-US" smtClean="0"/>
              <a:pPr/>
              <a:t>183</a:t>
            </a:fld>
            <a:endParaRPr lang="en-US"/>
          </a:p>
        </p:txBody>
      </p:sp>
      <p:sp>
        <p:nvSpPr>
          <p:cNvPr id="3941383" name="Text Box 7"/>
          <p:cNvSpPr txBox="1">
            <a:spLocks noChangeArrowheads="1"/>
          </p:cNvSpPr>
          <p:nvPr/>
        </p:nvSpPr>
        <p:spPr bwMode="auto">
          <a:xfrm>
            <a:off x="5805167" y="5666965"/>
            <a:ext cx="1237150" cy="569362"/>
          </a:xfrm>
          <a:prstGeom prst="rect">
            <a:avLst/>
          </a:prstGeom>
          <a:noFill/>
          <a:ln w="28575" algn="ctr">
            <a:noFill/>
            <a:miter lim="800000"/>
            <a:headEnd/>
            <a:tailEnd/>
          </a:ln>
          <a:effectLst/>
        </p:spPr>
        <p:txBody>
          <a:bodyPr wrap="none" lIns="137136" tIns="68568" rIns="137136" bIns="68568">
            <a:spAutoFit/>
          </a:bodyPr>
          <a:lstStyle/>
          <a:p>
            <a:pPr marL="504825" indent="-504825" defTabSz="1369220" eaLnBrk="0" hangingPunct="0">
              <a:buClr>
                <a:srgbClr val="FF0000"/>
              </a:buClr>
            </a:pPr>
            <a:r>
              <a:rPr lang="en-US" sz="280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Client</a:t>
            </a:r>
          </a:p>
        </p:txBody>
      </p:sp>
      <p:sp>
        <p:nvSpPr>
          <p:cNvPr id="3941384" name="Text Box 8"/>
          <p:cNvSpPr txBox="1">
            <a:spLocks noChangeArrowheads="1"/>
          </p:cNvSpPr>
          <p:nvPr/>
        </p:nvSpPr>
        <p:spPr bwMode="auto">
          <a:xfrm rot="5400000">
            <a:off x="11247049" y="5900617"/>
            <a:ext cx="1349360" cy="569362"/>
          </a:xfrm>
          <a:prstGeom prst="rect">
            <a:avLst/>
          </a:prstGeom>
          <a:noFill/>
          <a:ln w="28575" algn="ctr">
            <a:noFill/>
            <a:miter lim="800000"/>
            <a:headEnd/>
            <a:tailEnd/>
          </a:ln>
          <a:effectLst/>
        </p:spPr>
        <p:txBody>
          <a:bodyPr wrap="none" lIns="137136" tIns="68568" rIns="137136" bIns="68568">
            <a:spAutoFit/>
          </a:bodyPr>
          <a:lstStyle/>
          <a:p>
            <a:pPr marL="504825" indent="-504825" defTabSz="1369220" eaLnBrk="0" hangingPunct="0">
              <a:buClr>
                <a:srgbClr val="FF0000"/>
              </a:buClr>
            </a:pPr>
            <a:r>
              <a:rPr lang="en-US" sz="280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Server</a:t>
            </a:r>
          </a:p>
        </p:txBody>
      </p:sp>
      <p:sp>
        <p:nvSpPr>
          <p:cNvPr id="3941385" name="AutoShape 9"/>
          <p:cNvSpPr>
            <a:spLocks noChangeArrowheads="1"/>
          </p:cNvSpPr>
          <p:nvPr/>
        </p:nvSpPr>
        <p:spPr bwMode="auto">
          <a:xfrm>
            <a:off x="2326481" y="3264694"/>
            <a:ext cx="3764758" cy="2216945"/>
          </a:xfrm>
          <a:prstGeom prst="cloudCallout">
            <a:avLst>
              <a:gd name="adj1" fmla="val 44796"/>
              <a:gd name="adj2" fmla="val 54403"/>
            </a:avLst>
          </a:prstGeom>
          <a:solidFill>
            <a:schemeClr val="accent1">
              <a:lumMod val="20000"/>
              <a:lumOff val="80000"/>
            </a:schemeClr>
          </a:solidFill>
          <a:ln w="28575">
            <a:solidFill>
              <a:schemeClr val="tx1"/>
            </a:solidFill>
            <a:round/>
            <a:headEnd/>
            <a:tailEnd/>
          </a:ln>
          <a:effectLst/>
        </p:spPr>
        <p:txBody>
          <a:bodyPr lIns="137136" tIns="68568" rIns="137136" bIns="68568" anchor="ctr"/>
          <a:lstStyle/>
          <a:p>
            <a:pPr algn="ctr" defTabSz="1369220" eaLnBrk="0" hangingPunct="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That system’s got something I need…</a:t>
            </a:r>
          </a:p>
        </p:txBody>
      </p:sp>
      <p:sp>
        <p:nvSpPr>
          <p:cNvPr id="3941386" name="AutoShape 10"/>
          <p:cNvSpPr>
            <a:spLocks noChangeArrowheads="1"/>
          </p:cNvSpPr>
          <p:nvPr/>
        </p:nvSpPr>
        <p:spPr bwMode="auto">
          <a:xfrm>
            <a:off x="12370595" y="2400300"/>
            <a:ext cx="3542340" cy="2295525"/>
          </a:xfrm>
          <a:prstGeom prst="cloudCallout">
            <a:avLst>
              <a:gd name="adj1" fmla="val -44810"/>
              <a:gd name="adj2" fmla="val 71889"/>
            </a:avLst>
          </a:prstGeom>
          <a:solidFill>
            <a:schemeClr val="accent1">
              <a:lumMod val="20000"/>
              <a:lumOff val="80000"/>
            </a:schemeClr>
          </a:solidFill>
          <a:ln w="28575">
            <a:solidFill>
              <a:schemeClr val="tx1"/>
            </a:solidFill>
            <a:round/>
            <a:headEnd/>
            <a:tailEnd/>
          </a:ln>
          <a:effectLst/>
        </p:spPr>
        <p:txBody>
          <a:bodyPr lIns="137136" tIns="68568" rIns="137136" bIns="68568" anchor="ctr"/>
          <a:lstStyle/>
          <a:p>
            <a:pPr algn="ctr" defTabSz="1369220" eaLnBrk="0" hangingPunct="0"/>
            <a:r>
              <a:rPr lang="en-US" sz="2400">
                <a:latin typeface="Helvetica Neue Medium" panose="02000503000000020004" pitchFamily="2" charset="0"/>
                <a:ea typeface="Helvetica Neue Medium" panose="02000503000000020004" pitchFamily="2" charset="0"/>
                <a:cs typeface="Helvetica Neue Medium" panose="02000503000000020004" pitchFamily="2" charset="0"/>
              </a:rPr>
              <a:t>I’ve got something that system wants…</a:t>
            </a:r>
          </a:p>
        </p:txBody>
      </p:sp>
      <p:grpSp>
        <p:nvGrpSpPr>
          <p:cNvPr id="2" name="Group 11"/>
          <p:cNvGrpSpPr>
            <a:grpSpLocks/>
          </p:cNvGrpSpPr>
          <p:nvPr/>
        </p:nvGrpSpPr>
        <p:grpSpPr bwMode="auto">
          <a:xfrm>
            <a:off x="7934326" y="3840956"/>
            <a:ext cx="3005138" cy="1940720"/>
            <a:chOff x="2333" y="1344"/>
            <a:chExt cx="1262" cy="816"/>
          </a:xfrm>
        </p:grpSpPr>
        <p:pic>
          <p:nvPicPr>
            <p:cNvPr id="3941388" name="Picture 12" descr="cloud"/>
            <p:cNvPicPr>
              <a:picLocks noChangeAspect="1" noChangeArrowheads="1"/>
            </p:cNvPicPr>
            <p:nvPr/>
          </p:nvPicPr>
          <p:blipFill>
            <a:blip r:embed="rId8" cstate="print"/>
            <a:srcRect/>
            <a:stretch>
              <a:fillRect/>
            </a:stretch>
          </p:blipFill>
          <p:spPr bwMode="auto">
            <a:xfrm>
              <a:off x="2333" y="1344"/>
              <a:ext cx="1262" cy="816"/>
            </a:xfrm>
            <a:prstGeom prst="rect">
              <a:avLst/>
            </a:prstGeom>
            <a:noFill/>
          </p:spPr>
        </p:pic>
        <p:sp>
          <p:nvSpPr>
            <p:cNvPr id="3941389" name="Text Box 13"/>
            <p:cNvSpPr txBox="1">
              <a:spLocks noChangeArrowheads="1"/>
            </p:cNvSpPr>
            <p:nvPr/>
          </p:nvSpPr>
          <p:spPr bwMode="auto">
            <a:xfrm>
              <a:off x="2613" y="1653"/>
              <a:ext cx="701" cy="239"/>
            </a:xfrm>
            <a:prstGeom prst="rect">
              <a:avLst/>
            </a:prstGeom>
            <a:noFill/>
            <a:ln w="28575" algn="ctr">
              <a:noFill/>
              <a:miter lim="800000"/>
              <a:headEnd/>
              <a:tailEnd/>
            </a:ln>
            <a:effectLst/>
          </p:spPr>
          <p:txBody>
            <a:bodyPr wrap="none" lIns="137136" tIns="68568" rIns="137136" bIns="68568">
              <a:spAutoFit/>
            </a:bodyPr>
            <a:lstStyle/>
            <a:p>
              <a:pPr marL="504825" indent="-504825" defTabSz="1369220" eaLnBrk="0" hangingPunct="0">
                <a:buClr>
                  <a:srgbClr val="FF0000"/>
                </a:buClr>
              </a:pPr>
              <a: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t>Network</a:t>
              </a:r>
            </a:p>
          </p:txBody>
        </p:sp>
      </p:grpSp>
      <p:sp>
        <p:nvSpPr>
          <p:cNvPr id="3941390" name="Text Box 14"/>
          <p:cNvSpPr txBox="1">
            <a:spLocks noChangeArrowheads="1"/>
          </p:cNvSpPr>
          <p:nvPr/>
        </p:nvSpPr>
        <p:spPr bwMode="auto">
          <a:xfrm>
            <a:off x="5169695" y="7355681"/>
            <a:ext cx="2434641" cy="2169825"/>
          </a:xfrm>
          <a:prstGeom prst="rect">
            <a:avLst/>
          </a:prstGeom>
          <a:noFill/>
          <a:ln w="28575" algn="ctr">
            <a:noFill/>
            <a:miter lim="800000"/>
            <a:headEnd/>
            <a:tailEnd/>
          </a:ln>
          <a:effectLst/>
        </p:spPr>
        <p:txBody>
          <a:bodyPr wrap="none">
            <a:spAutoFit/>
          </a:bodyPr>
          <a:lstStyle/>
          <a:p>
            <a:pPr marL="354807" indent="-354807" eaLnBrk="0" hangingPunct="0">
              <a:buClr>
                <a:schemeClr val="tx1"/>
              </a:buClr>
              <a:buSzPct val="75000"/>
              <a:buFont typeface="Wingdings" pitchFamily="2" charset="2"/>
              <a:buChar char="l"/>
            </a:pPr>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Desktops</a:t>
            </a:r>
          </a:p>
          <a:p>
            <a:pPr marL="354807" indent="-354807" eaLnBrk="0" hangingPunct="0">
              <a:buClr>
                <a:schemeClr val="tx1"/>
              </a:buClr>
              <a:buSzPct val="75000"/>
              <a:buFont typeface="Wingdings" pitchFamily="2" charset="2"/>
              <a:buChar char="l"/>
            </a:pPr>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Laptops</a:t>
            </a:r>
          </a:p>
          <a:p>
            <a:pPr marL="354807" indent="-354807" eaLnBrk="0" hangingPunct="0">
              <a:buClr>
                <a:schemeClr val="tx1"/>
              </a:buClr>
              <a:buSzPct val="75000"/>
              <a:buFont typeface="Wingdings" pitchFamily="2" charset="2"/>
              <a:buChar char="l"/>
            </a:pPr>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Tablets</a:t>
            </a:r>
          </a:p>
          <a:p>
            <a:pPr marL="354807" indent="-354807" eaLnBrk="0" hangingPunct="0">
              <a:buClr>
                <a:schemeClr val="tx1"/>
              </a:buClr>
              <a:buSzPct val="75000"/>
              <a:buFont typeface="Wingdings" pitchFamily="2" charset="2"/>
              <a:buChar char="l"/>
            </a:pPr>
            <a:r>
              <a:rPr lang="en-US" sz="2700">
                <a:latin typeface="Helvetica Neue Medium" panose="02000503000000020004" pitchFamily="2" charset="0"/>
                <a:ea typeface="Helvetica Neue Medium" panose="02000503000000020004" pitchFamily="2" charset="0"/>
                <a:cs typeface="Helvetica Neue Medium" panose="02000503000000020004" pitchFamily="2" charset="0"/>
              </a:rPr>
              <a:t>Cell phones</a:t>
            </a:r>
          </a:p>
          <a:p>
            <a:pPr eaLnBrk="0" hangingPunct="0">
              <a:buClr>
                <a:schemeClr val="tx1"/>
              </a:buClr>
              <a:buSzPct val="75000"/>
            </a:pPr>
            <a:endParaRPr lang="en-US" sz="27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Tree>
    <p:custDataLst>
      <p:tags r:id="rId1"/>
    </p:custDataLst>
    <p:extLst>
      <p:ext uri="{BB962C8B-B14F-4D97-AF65-F5344CB8AC3E}">
        <p14:creationId xmlns:p14="http://schemas.microsoft.com/office/powerpoint/2010/main" val="149626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941385"/>
                                        </p:tgtEl>
                                        <p:attrNameLst>
                                          <p:attrName>style.visibility</p:attrName>
                                        </p:attrNameLst>
                                      </p:cBhvr>
                                      <p:to>
                                        <p:strVal val="visible"/>
                                      </p:to>
                                    </p:set>
                                    <p:anim calcmode="lin" valueType="num">
                                      <p:cBhvr>
                                        <p:cTn id="7" dur="1000" fill="hold"/>
                                        <p:tgtEl>
                                          <p:spTgt spid="3941385"/>
                                        </p:tgtEl>
                                        <p:attrNameLst>
                                          <p:attrName>ppt_w</p:attrName>
                                        </p:attrNameLst>
                                      </p:cBhvr>
                                      <p:tavLst>
                                        <p:tav tm="0">
                                          <p:val>
                                            <p:strVal val="#ppt_w*0.70"/>
                                          </p:val>
                                        </p:tav>
                                        <p:tav tm="100000">
                                          <p:val>
                                            <p:strVal val="#ppt_w"/>
                                          </p:val>
                                        </p:tav>
                                      </p:tavLst>
                                    </p:anim>
                                    <p:anim calcmode="lin" valueType="num">
                                      <p:cBhvr>
                                        <p:cTn id="8" dur="1000" fill="hold"/>
                                        <p:tgtEl>
                                          <p:spTgt spid="3941385"/>
                                        </p:tgtEl>
                                        <p:attrNameLst>
                                          <p:attrName>ppt_h</p:attrName>
                                        </p:attrNameLst>
                                      </p:cBhvr>
                                      <p:tavLst>
                                        <p:tav tm="0">
                                          <p:val>
                                            <p:strVal val="#ppt_h"/>
                                          </p:val>
                                        </p:tav>
                                        <p:tav tm="100000">
                                          <p:val>
                                            <p:strVal val="#ppt_h"/>
                                          </p:val>
                                        </p:tav>
                                      </p:tavLst>
                                    </p:anim>
                                    <p:animEffect transition="in" filter="fade">
                                      <p:cBhvr>
                                        <p:cTn id="9" dur="1000"/>
                                        <p:tgtEl>
                                          <p:spTgt spid="3941385"/>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3941386"/>
                                        </p:tgtEl>
                                        <p:attrNameLst>
                                          <p:attrName>style.visibility</p:attrName>
                                        </p:attrNameLst>
                                      </p:cBhvr>
                                      <p:to>
                                        <p:strVal val="visible"/>
                                      </p:to>
                                    </p:set>
                                    <p:anim calcmode="lin" valueType="num">
                                      <p:cBhvr>
                                        <p:cTn id="14" dur="1000" fill="hold"/>
                                        <p:tgtEl>
                                          <p:spTgt spid="3941386"/>
                                        </p:tgtEl>
                                        <p:attrNameLst>
                                          <p:attrName>ppt_w</p:attrName>
                                        </p:attrNameLst>
                                      </p:cBhvr>
                                      <p:tavLst>
                                        <p:tav tm="0">
                                          <p:val>
                                            <p:strVal val="#ppt_w*0.70"/>
                                          </p:val>
                                        </p:tav>
                                        <p:tav tm="100000">
                                          <p:val>
                                            <p:strVal val="#ppt_w"/>
                                          </p:val>
                                        </p:tav>
                                      </p:tavLst>
                                    </p:anim>
                                    <p:anim calcmode="lin" valueType="num">
                                      <p:cBhvr>
                                        <p:cTn id="15" dur="1000" fill="hold"/>
                                        <p:tgtEl>
                                          <p:spTgt spid="3941386"/>
                                        </p:tgtEl>
                                        <p:attrNameLst>
                                          <p:attrName>ppt_h</p:attrName>
                                        </p:attrNameLst>
                                      </p:cBhvr>
                                      <p:tavLst>
                                        <p:tav tm="0">
                                          <p:val>
                                            <p:strVal val="#ppt_h"/>
                                          </p:val>
                                        </p:tav>
                                        <p:tav tm="100000">
                                          <p:val>
                                            <p:strVal val="#ppt_h"/>
                                          </p:val>
                                        </p:tav>
                                      </p:tavLst>
                                    </p:anim>
                                    <p:animEffect transition="in" filter="fade">
                                      <p:cBhvr>
                                        <p:cTn id="16" dur="1000"/>
                                        <p:tgtEl>
                                          <p:spTgt spid="3941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1385" grpId="0" animBg="1"/>
      <p:bldP spid="3941386" grpId="0" animBg="1"/>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3426" name="Rectangle 2"/>
          <p:cNvSpPr>
            <a:spLocks noGrp="1" noChangeArrowheads="1"/>
          </p:cNvSpPr>
          <p:nvPr>
            <p:ph type="title"/>
          </p:nvPr>
        </p:nvSpPr>
        <p:spPr/>
        <p:txBody>
          <a:bodyPr/>
          <a:lstStyle/>
          <a:p>
            <a:r>
              <a:rPr lang="en-US"/>
              <a:t>Service Relationship: Client/Server</a:t>
            </a:r>
          </a:p>
        </p:txBody>
      </p:sp>
      <p:sp>
        <p:nvSpPr>
          <p:cNvPr id="3943427" name="Rectangle 3"/>
          <p:cNvSpPr>
            <a:spLocks noGrp="1" noChangeArrowheads="1"/>
          </p:cNvSpPr>
          <p:nvPr>
            <p:ph idx="1"/>
          </p:nvPr>
        </p:nvSpPr>
        <p:spPr/>
        <p:txBody>
          <a:bodyPr>
            <a:normAutofit fontScale="92500" lnSpcReduction="10000"/>
          </a:bodyPr>
          <a:lstStyle/>
          <a:p>
            <a:r>
              <a:rPr lang="en-US"/>
              <a:t>Applications have clearly defined roles</a:t>
            </a:r>
          </a:p>
          <a:p>
            <a:pPr lvl="1"/>
            <a:r>
              <a:rPr lang="en-US"/>
              <a:t>Client initiates request</a:t>
            </a:r>
          </a:p>
          <a:p>
            <a:pPr lvl="1"/>
            <a:r>
              <a:rPr lang="en-US"/>
              <a:t>Server responds to client’s request</a:t>
            </a:r>
          </a:p>
          <a:p>
            <a:r>
              <a:rPr lang="en-US"/>
              <a:t>Server software is passive but available</a:t>
            </a:r>
          </a:p>
          <a:p>
            <a:pPr lvl="1"/>
            <a:r>
              <a:rPr lang="en-US"/>
              <a:t>Connects to local Transport Layer</a:t>
            </a:r>
            <a:br>
              <a:rPr lang="en-US"/>
            </a:br>
            <a:r>
              <a:rPr lang="en-US"/>
              <a:t>and waits for connection requests</a:t>
            </a:r>
          </a:p>
          <a:p>
            <a:r>
              <a:rPr lang="en-US"/>
              <a:t>Client transient in nature</a:t>
            </a:r>
          </a:p>
          <a:p>
            <a:pPr lvl="1"/>
            <a:r>
              <a:rPr lang="en-US"/>
              <a:t>Application is enabled on-demand</a:t>
            </a:r>
          </a:p>
          <a:p>
            <a:pPr lvl="1"/>
            <a:r>
              <a:rPr lang="en-US"/>
              <a:t>Connection to local Transport Layer</a:t>
            </a:r>
            <a:br>
              <a:rPr lang="en-US"/>
            </a:br>
            <a:r>
              <a:rPr lang="en-US"/>
              <a:t>is made/broken as needed</a:t>
            </a:r>
          </a:p>
          <a:p>
            <a:r>
              <a:rPr lang="en-US"/>
              <a:t>Examples </a:t>
            </a:r>
          </a:p>
          <a:p>
            <a:pPr lvl="1"/>
            <a:r>
              <a:rPr lang="en-US" err="1"/>
              <a:t>HyperText</a:t>
            </a:r>
            <a:r>
              <a:rPr lang="en-US"/>
              <a:t> Transfer Protocol (HTTP)</a:t>
            </a:r>
          </a:p>
          <a:p>
            <a:pPr lvl="1"/>
            <a:r>
              <a:rPr lang="en-US"/>
              <a:t>Simple Mail Transfer Protocol (SMTP)</a:t>
            </a:r>
          </a:p>
        </p:txBody>
      </p:sp>
      <p:sp>
        <p:nvSpPr>
          <p:cNvPr id="26" name="Slide Number Placeholder 25"/>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184</a:t>
            </a:fld>
            <a:endParaRPr lang="en-US">
              <a:solidFill>
                <a:schemeClr val="tx1">
                  <a:lumMod val="50000"/>
                  <a:lumOff val="50000"/>
                </a:schemeClr>
              </a:solidFill>
            </a:endParaRPr>
          </a:p>
        </p:txBody>
      </p:sp>
      <p:grpSp>
        <p:nvGrpSpPr>
          <p:cNvPr id="4" name="Group 3">
            <a:extLst>
              <a:ext uri="{FF2B5EF4-FFF2-40B4-BE49-F238E27FC236}">
                <a16:creationId xmlns:a16="http://schemas.microsoft.com/office/drawing/2014/main" id="{B7AC3FB3-4A82-8890-AD72-AA1B35188731}"/>
              </a:ext>
            </a:extLst>
          </p:cNvPr>
          <p:cNvGrpSpPr/>
          <p:nvPr/>
        </p:nvGrpSpPr>
        <p:grpSpPr>
          <a:xfrm>
            <a:off x="10658475" y="4611204"/>
            <a:ext cx="6755788" cy="5313848"/>
            <a:chOff x="6858000" y="5193697"/>
            <a:chExt cx="7488115" cy="5298457"/>
          </a:xfrm>
        </p:grpSpPr>
        <p:pic>
          <p:nvPicPr>
            <p:cNvPr id="5" name="Graphic 4" descr="Cloud outline">
              <a:extLst>
                <a:ext uri="{FF2B5EF4-FFF2-40B4-BE49-F238E27FC236}">
                  <a16:creationId xmlns:a16="http://schemas.microsoft.com/office/drawing/2014/main" id="{6A99E5B1-FCDE-E68A-95F3-86FB3234D8B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80183" y="5193697"/>
              <a:ext cx="4815941" cy="5298457"/>
            </a:xfrm>
            <a:prstGeom prst="rect">
              <a:avLst/>
            </a:prstGeom>
          </p:spPr>
        </p:pic>
        <p:sp>
          <p:nvSpPr>
            <p:cNvPr id="6" name="TextBox 5">
              <a:extLst>
                <a:ext uri="{FF2B5EF4-FFF2-40B4-BE49-F238E27FC236}">
                  <a16:creationId xmlns:a16="http://schemas.microsoft.com/office/drawing/2014/main" id="{98C5EE69-85BA-E501-5129-CB56F8F8BE77}"/>
                </a:ext>
              </a:extLst>
            </p:cNvPr>
            <p:cNvSpPr txBox="1"/>
            <p:nvPr/>
          </p:nvSpPr>
          <p:spPr>
            <a:xfrm>
              <a:off x="9832854" y="7703877"/>
              <a:ext cx="1576072" cy="523220"/>
            </a:xfrm>
            <a:prstGeom prst="rect">
              <a:avLst/>
            </a:prstGeom>
            <a:noFill/>
          </p:spPr>
          <p:txBody>
            <a:bodyPr wrap="none" rtlCol="0">
              <a:spAutoFit/>
            </a:bodyPr>
            <a:lstStyle/>
            <a:p>
              <a: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t>Network</a:t>
              </a:r>
            </a:p>
          </p:txBody>
        </p:sp>
        <p:sp>
          <p:nvSpPr>
            <p:cNvPr id="7" name="Rounded Rectangle 6">
              <a:extLst>
                <a:ext uri="{FF2B5EF4-FFF2-40B4-BE49-F238E27FC236}">
                  <a16:creationId xmlns:a16="http://schemas.microsoft.com/office/drawing/2014/main" id="{AE576189-29E3-5FE9-E151-B4164712E6CA}"/>
                </a:ext>
              </a:extLst>
            </p:cNvPr>
            <p:cNvSpPr/>
            <p:nvPr/>
          </p:nvSpPr>
          <p:spPr>
            <a:xfrm>
              <a:off x="6858000" y="5676730"/>
              <a:ext cx="1887415" cy="1043354"/>
            </a:xfrm>
            <a:prstGeom prst="roundRect">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45C24663-8359-4E23-4A53-C490ED154E2B}"/>
                </a:ext>
              </a:extLst>
            </p:cNvPr>
            <p:cNvSpPr/>
            <p:nvPr/>
          </p:nvSpPr>
          <p:spPr>
            <a:xfrm>
              <a:off x="12458700" y="5676730"/>
              <a:ext cx="1887415" cy="1043354"/>
            </a:xfrm>
            <a:prstGeom prst="roundRect">
              <a:avLst/>
            </a:prstGeom>
            <a:no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DFB60EC-A333-070F-40A7-A23DF11E7CDA}"/>
                </a:ext>
              </a:extLst>
            </p:cNvPr>
            <p:cNvSpPr txBox="1"/>
            <p:nvPr/>
          </p:nvSpPr>
          <p:spPr>
            <a:xfrm>
              <a:off x="7229274" y="5936797"/>
              <a:ext cx="1144865" cy="523220"/>
            </a:xfrm>
            <a:prstGeom prst="rect">
              <a:avLst/>
            </a:prstGeom>
            <a:noFill/>
          </p:spPr>
          <p:txBody>
            <a:bodyPr wrap="none" rtlCol="0">
              <a:spAutoFit/>
            </a:bodyPr>
            <a:lstStyle/>
            <a:p>
              <a:r>
                <a:rPr lang="en-US" sz="2800">
                  <a:solidFill>
                    <a:schemeClr val="accent1"/>
                  </a:solidFill>
                  <a:latin typeface="Helvetica Neue Medium" panose="02000503000000020004" pitchFamily="2" charset="0"/>
                  <a:ea typeface="Helvetica Neue Medium" panose="02000503000000020004" pitchFamily="2" charset="0"/>
                  <a:cs typeface="Helvetica Neue Medium" panose="02000503000000020004" pitchFamily="2" charset="0"/>
                </a:rPr>
                <a:t>Client</a:t>
              </a:r>
            </a:p>
          </p:txBody>
        </p:sp>
        <p:sp>
          <p:nvSpPr>
            <p:cNvPr id="10" name="TextBox 9">
              <a:extLst>
                <a:ext uri="{FF2B5EF4-FFF2-40B4-BE49-F238E27FC236}">
                  <a16:creationId xmlns:a16="http://schemas.microsoft.com/office/drawing/2014/main" id="{E74BF66E-264D-4CFC-8934-1BC3DEBEA0E3}"/>
                </a:ext>
              </a:extLst>
            </p:cNvPr>
            <p:cNvSpPr txBox="1"/>
            <p:nvPr/>
          </p:nvSpPr>
          <p:spPr>
            <a:xfrm>
              <a:off x="12773869" y="5936797"/>
              <a:ext cx="1257075" cy="523220"/>
            </a:xfrm>
            <a:prstGeom prst="rect">
              <a:avLst/>
            </a:prstGeom>
            <a:noFill/>
          </p:spPr>
          <p:txBody>
            <a:bodyPr wrap="none" rtlCol="0">
              <a:spAutoFit/>
            </a:bodyPr>
            <a:lstStyle/>
            <a:p>
              <a:r>
                <a:rPr lang="en-US" sz="2800">
                  <a:solidFill>
                    <a:schemeClr val="accent1"/>
                  </a:solidFill>
                  <a:latin typeface="Helvetica Neue Medium" panose="02000503000000020004" pitchFamily="2" charset="0"/>
                  <a:ea typeface="Helvetica Neue Medium" panose="02000503000000020004" pitchFamily="2" charset="0"/>
                  <a:cs typeface="Helvetica Neue Medium" panose="02000503000000020004" pitchFamily="2" charset="0"/>
                </a:rPr>
                <a:t>Server</a:t>
              </a:r>
            </a:p>
          </p:txBody>
        </p:sp>
        <p:cxnSp>
          <p:nvCxnSpPr>
            <p:cNvPr id="11" name="Straight Arrow Connector 10">
              <a:extLst>
                <a:ext uri="{FF2B5EF4-FFF2-40B4-BE49-F238E27FC236}">
                  <a16:creationId xmlns:a16="http://schemas.microsoft.com/office/drawing/2014/main" id="{5456F7B7-135D-6B78-472C-4571732170C5}"/>
                </a:ext>
              </a:extLst>
            </p:cNvPr>
            <p:cNvCxnSpPr>
              <a:endCxn id="8" idx="1"/>
            </p:cNvCxnSpPr>
            <p:nvPr/>
          </p:nvCxnSpPr>
          <p:spPr>
            <a:xfrm>
              <a:off x="8745415" y="6198407"/>
              <a:ext cx="3713285" cy="0"/>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26E0E0E-BC6B-42A5-2F8F-DA41DDA9A451}"/>
                </a:ext>
              </a:extLst>
            </p:cNvPr>
            <p:cNvSpPr txBox="1"/>
            <p:nvPr/>
          </p:nvSpPr>
          <p:spPr>
            <a:xfrm>
              <a:off x="9656255" y="5265870"/>
              <a:ext cx="2079175" cy="828590"/>
            </a:xfrm>
            <a:prstGeom prst="rect">
              <a:avLst/>
            </a:prstGeom>
            <a:noFill/>
          </p:spPr>
          <p:txBody>
            <a:bodyPr wrap="none" rtlCol="0">
              <a:spAutoFit/>
            </a:bodyPr>
            <a:lstStyle/>
            <a:p>
              <a:pPr algn="ctr"/>
              <a:r>
                <a:rPr lang="en-US" sz="2400">
                  <a:solidFill>
                    <a:schemeClr val="accent1"/>
                  </a:solidFill>
                  <a:latin typeface="Helvetica Neue Medium" panose="02000503000000020004" pitchFamily="2" charset="0"/>
                  <a:ea typeface="Helvetica Neue Medium" panose="02000503000000020004" pitchFamily="2" charset="0"/>
                  <a:cs typeface="Helvetica Neue Medium" panose="02000503000000020004" pitchFamily="2" charset="0"/>
                </a:rPr>
                <a:t>Application </a:t>
              </a:r>
            </a:p>
            <a:p>
              <a:pPr algn="ctr"/>
              <a:r>
                <a:rPr lang="en-US" sz="2400">
                  <a:solidFill>
                    <a:schemeClr val="accent1"/>
                  </a:solidFill>
                  <a:latin typeface="Helvetica Neue Medium" panose="02000503000000020004" pitchFamily="2" charset="0"/>
                  <a:ea typeface="Helvetica Neue Medium" panose="02000503000000020004" pitchFamily="2" charset="0"/>
                  <a:cs typeface="Helvetica Neue Medium" panose="02000503000000020004" pitchFamily="2" charset="0"/>
                </a:rPr>
                <a:t>Protocols</a:t>
              </a:r>
            </a:p>
          </p:txBody>
        </p:sp>
        <p:cxnSp>
          <p:nvCxnSpPr>
            <p:cNvPr id="13" name="Straight Connector 12">
              <a:extLst>
                <a:ext uri="{FF2B5EF4-FFF2-40B4-BE49-F238E27FC236}">
                  <a16:creationId xmlns:a16="http://schemas.microsoft.com/office/drawing/2014/main" id="{3D43B593-4CF9-6A1A-4EAC-7C229101BA3A}"/>
                </a:ext>
              </a:extLst>
            </p:cNvPr>
            <p:cNvCxnSpPr>
              <a:stCxn id="7" idx="2"/>
            </p:cNvCxnSpPr>
            <p:nvPr/>
          </p:nvCxnSpPr>
          <p:spPr>
            <a:xfrm>
              <a:off x="7801708" y="6720084"/>
              <a:ext cx="1131277" cy="112265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4FAADC8-F35D-8CB9-8459-10883E53EB5D}"/>
                </a:ext>
              </a:extLst>
            </p:cNvPr>
            <p:cNvCxnSpPr>
              <a:cxnSpLocks/>
            </p:cNvCxnSpPr>
            <p:nvPr/>
          </p:nvCxnSpPr>
          <p:spPr>
            <a:xfrm flipH="1">
              <a:off x="12156766" y="6720084"/>
              <a:ext cx="1259730" cy="112265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78411468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14015-E7A3-D152-2F66-1FE5DFE10079}"/>
              </a:ext>
            </a:extLst>
          </p:cNvPr>
          <p:cNvSpPr>
            <a:spLocks noGrp="1"/>
          </p:cNvSpPr>
          <p:nvPr>
            <p:ph type="title"/>
          </p:nvPr>
        </p:nvSpPr>
        <p:spPr/>
        <p:txBody>
          <a:bodyPr/>
          <a:lstStyle/>
          <a:p>
            <a:r>
              <a:rPr lang="en-US" sz="6600"/>
              <a:t>Service Relationship: Structured Peer-to-Peer</a:t>
            </a:r>
            <a:endParaRPr lang="en-US"/>
          </a:p>
        </p:txBody>
      </p:sp>
      <p:sp>
        <p:nvSpPr>
          <p:cNvPr id="3947552" name="Rectangle 32"/>
          <p:cNvSpPr>
            <a:spLocks noGrp="1" noChangeArrowheads="1"/>
          </p:cNvSpPr>
          <p:nvPr>
            <p:ph idx="1"/>
          </p:nvPr>
        </p:nvSpPr>
        <p:spPr/>
        <p:txBody>
          <a:bodyPr>
            <a:normAutofit fontScale="92500" lnSpcReduction="10000"/>
          </a:bodyPr>
          <a:lstStyle/>
          <a:p>
            <a:pPr>
              <a:lnSpc>
                <a:spcPct val="90000"/>
              </a:lnSpc>
            </a:pPr>
            <a:r>
              <a:rPr lang="en-US" sz="4500"/>
              <a:t>Unstructured peer-to-peer is difficult to coordinate</a:t>
            </a:r>
          </a:p>
          <a:p>
            <a:pPr lvl="1">
              <a:lnSpc>
                <a:spcPct val="90000"/>
              </a:lnSpc>
            </a:pPr>
            <a:r>
              <a:rPr lang="en-US" sz="3900"/>
              <a:t>How do you find the peers?</a:t>
            </a:r>
          </a:p>
          <a:p>
            <a:pPr lvl="1">
              <a:lnSpc>
                <a:spcPct val="90000"/>
              </a:lnSpc>
            </a:pPr>
            <a:r>
              <a:rPr lang="en-US" sz="3900"/>
              <a:t>Many support the concept of seeds or “super peers”</a:t>
            </a:r>
          </a:p>
          <a:p>
            <a:pPr>
              <a:lnSpc>
                <a:spcPct val="90000"/>
              </a:lnSpc>
            </a:pPr>
            <a:r>
              <a:rPr lang="en-US" sz="4500"/>
              <a:t>Structured peer-to-peer combines client/server with unstructured peer-to-peer model</a:t>
            </a:r>
          </a:p>
          <a:p>
            <a:pPr lvl="1">
              <a:lnSpc>
                <a:spcPct val="90000"/>
              </a:lnSpc>
            </a:pPr>
            <a:r>
              <a:rPr lang="en-US" sz="3900"/>
              <a:t>Servers used for search, </a:t>
            </a:r>
            <a:br>
              <a:rPr lang="en-US" sz="3900"/>
            </a:br>
            <a:r>
              <a:rPr lang="en-US" sz="3900"/>
              <a:t>discovery, coordination</a:t>
            </a:r>
          </a:p>
          <a:p>
            <a:pPr lvl="1">
              <a:lnSpc>
                <a:spcPct val="90000"/>
              </a:lnSpc>
            </a:pPr>
            <a:r>
              <a:rPr lang="en-US" sz="3900"/>
              <a:t>Peers used to do</a:t>
            </a:r>
            <a:br>
              <a:rPr lang="en-US" sz="3900"/>
            </a:br>
            <a:r>
              <a:rPr lang="en-US" sz="3900"/>
              <a:t>the actual work</a:t>
            </a:r>
          </a:p>
          <a:p>
            <a:pPr>
              <a:lnSpc>
                <a:spcPct val="90000"/>
              </a:lnSpc>
            </a:pPr>
            <a:r>
              <a:rPr lang="en-US" sz="4500"/>
              <a:t>Examples</a:t>
            </a:r>
          </a:p>
          <a:p>
            <a:pPr lvl="1">
              <a:lnSpc>
                <a:spcPct val="90000"/>
              </a:lnSpc>
            </a:pPr>
            <a:r>
              <a:rPr lang="en-US" sz="3900"/>
              <a:t>BitTorrent</a:t>
            </a:r>
          </a:p>
          <a:p>
            <a:pPr lvl="1">
              <a:lnSpc>
                <a:spcPct val="90000"/>
              </a:lnSpc>
            </a:pPr>
            <a:r>
              <a:rPr lang="en-US" sz="3900"/>
              <a:t>Instant messaging (IM)</a:t>
            </a:r>
          </a:p>
        </p:txBody>
      </p:sp>
      <p:sp>
        <p:nvSpPr>
          <p:cNvPr id="29" name="Slide Number Placeholder 28"/>
          <p:cNvSpPr>
            <a:spLocks noGrp="1"/>
          </p:cNvSpPr>
          <p:nvPr>
            <p:ph type="sldNum" sz="quarter" idx="12"/>
          </p:nvPr>
        </p:nvSpPr>
        <p:spPr>
          <a:prstGeom prst="rect">
            <a:avLst/>
          </a:prstGeom>
        </p:spPr>
        <p:txBody>
          <a:bodyPr/>
          <a:lstStyle/>
          <a:p>
            <a:fld id="{76E8DCF4-EBDD-4FE1-8465-FD383573D554}" type="slidenum">
              <a:rPr lang="en-US" smtClean="0"/>
              <a:pPr/>
              <a:t>185</a:t>
            </a:fld>
            <a:endParaRPr lang="en-US"/>
          </a:p>
        </p:txBody>
      </p:sp>
    </p:spTree>
    <p:custDataLst>
      <p:tags r:id="rId1"/>
    </p:custDataLst>
    <p:extLst>
      <p:ext uri="{BB962C8B-B14F-4D97-AF65-F5344CB8AC3E}">
        <p14:creationId xmlns:p14="http://schemas.microsoft.com/office/powerpoint/2010/main" val="25969092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Well-Known TCP/UDP Ports</a:t>
            </a:r>
          </a:p>
        </p:txBody>
      </p:sp>
      <p:sp>
        <p:nvSpPr>
          <p:cNvPr id="3" name="Content Placeholder 2"/>
          <p:cNvSpPr>
            <a:spLocks noGrp="1"/>
          </p:cNvSpPr>
          <p:nvPr>
            <p:ph idx="1"/>
          </p:nvPr>
        </p:nvSpPr>
        <p:spPr/>
        <p:txBody>
          <a:bodyPr/>
          <a:lstStyle/>
          <a:p>
            <a:r>
              <a:rPr lang="en-US"/>
              <a:t>Port identifies higher layer protocol</a:t>
            </a:r>
          </a:p>
        </p:txBody>
      </p:sp>
      <p:sp>
        <p:nvSpPr>
          <p:cNvPr id="6" name="Slide Number Placeholder 5"/>
          <p:cNvSpPr>
            <a:spLocks noGrp="1"/>
          </p:cNvSpPr>
          <p:nvPr>
            <p:ph type="sldNum" sz="quarter" idx="10"/>
          </p:nvPr>
        </p:nvSpPr>
        <p:spPr>
          <a:prstGeom prst="rect">
            <a:avLst/>
          </a:prstGeom>
        </p:spPr>
        <p:txBody>
          <a:bodyPr/>
          <a:lstStyle/>
          <a:p>
            <a:fld id="{76E8DCF4-EBDD-4FE1-8465-FD383573D554}" type="slidenum">
              <a:rPr lang="en-US" smtClean="0">
                <a:solidFill>
                  <a:schemeClr val="tx1"/>
                </a:solidFill>
              </a:rPr>
              <a:pPr/>
              <a:t>186</a:t>
            </a:fld>
            <a:endParaRPr lang="en-US">
              <a:solidFill>
                <a:schemeClr val="tx1"/>
              </a:solidFill>
            </a:endParaRPr>
          </a:p>
        </p:txBody>
      </p:sp>
      <p:pic>
        <p:nvPicPr>
          <p:cNvPr id="5" name="Picture 4" descr="g0411_well-known-tcp-udp-po.jp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200401" y="3210401"/>
            <a:ext cx="12180809" cy="6047900"/>
          </a:xfrm>
          <a:prstGeom prst="rect">
            <a:avLst/>
          </a:prstGeom>
        </p:spPr>
      </p:pic>
    </p:spTree>
    <p:custDataLst>
      <p:tags r:id="rId1"/>
    </p:custDataLst>
    <p:extLst>
      <p:ext uri="{BB962C8B-B14F-4D97-AF65-F5344CB8AC3E}">
        <p14:creationId xmlns:p14="http://schemas.microsoft.com/office/powerpoint/2010/main" val="30945409"/>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Where the Bank's Applications Live Now: On-Premises, Hosted, SaaS</a:t>
            </a:r>
          </a:p>
        </p:txBody>
      </p:sp>
      <p:cxnSp>
        <p:nvCxnSpPr>
          <p:cNvPr id="3" name="Anchor line"/>
          <p:cNvCxnSpPr/>
          <p:nvPr/>
        </p:nvCxnSpPr>
        <p:spPr>
          <a:xfrm>
            <a:off x="2706624" y="3246120"/>
            <a:ext cx="12874752" cy="0"/>
          </a:xfrm>
          <a:prstGeom prst="line">
            <a:avLst/>
          </a:prstGeom>
          <a:ln w="50800">
            <a:solidFill>
              <a:srgbClr val="ED7D31"/>
            </a:solidFill>
          </a:ln>
        </p:spPr>
        <p:style>
          <a:lnRef idx="2">
            <a:schemeClr val="accent1"/>
          </a:lnRef>
          <a:fillRef idx="0">
            <a:schemeClr val="accent1"/>
          </a:fillRef>
          <a:effectRef idx="1">
            <a:schemeClr val="accent1"/>
          </a:effectRef>
          <a:fontRef idx="minor">
            <a:schemeClr val="tx1"/>
          </a:fontRef>
        </p:style>
      </p:cxnSp>
      <p:sp>
        <p:nvSpPr>
          <p:cNvPr id="4" name="Col 1 disc"/>
          <p:cNvSpPr/>
          <p:nvPr/>
        </p:nvSpPr>
        <p:spPr>
          <a:xfrm>
            <a:off x="2157984" y="2697480"/>
            <a:ext cx="1097280" cy="1097280"/>
          </a:xfrm>
          <a:prstGeom prst="ellipse">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5" name="Col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63724" y="2903220"/>
            <a:ext cx="685800" cy="685800"/>
          </a:xfrm>
          <a:prstGeom prst="rect">
            <a:avLst/>
          </a:prstGeom>
        </p:spPr>
      </p:pic>
      <p:sp>
        <p:nvSpPr>
          <p:cNvPr id="6" name="Col 1 head"/>
          <p:cNvSpPr txBox="1"/>
          <p:nvPr/>
        </p:nvSpPr>
        <p:spPr>
          <a:xfrm>
            <a:off x="1257300" y="3931920"/>
            <a:ext cx="2898648" cy="457200"/>
          </a:xfrm>
          <a:prstGeom prst="rect">
            <a:avLst/>
          </a:prstGeom>
          <a:noFill/>
        </p:spPr>
        <p:txBody>
          <a:bodyPr wrap="square" lIns="0" tIns="0" rIns="0" bIns="0" anchor="t">
            <a:spAutoFit/>
          </a:bodyPr>
          <a:lstStyle/>
          <a:p>
            <a:pPr algn="ctr">
              <a:spcAft>
                <a:spcPts val="600"/>
              </a:spcAft>
            </a:pPr>
            <a:r>
              <a:rPr sz="2100" b="1" i="0">
                <a:solidFill>
                  <a:srgbClr val="000000"/>
                </a:solidFill>
                <a:latin typeface="Helvetica Neue"/>
                <a:ea typeface="Helvetica Neue"/>
                <a:cs typeface="Helvetica Neue"/>
              </a:rPr>
              <a:t>Branch</a:t>
            </a:r>
          </a:p>
        </p:txBody>
      </p:sp>
      <p:sp>
        <p:nvSpPr>
          <p:cNvPr id="7" name="Col 1 box"/>
          <p:cNvSpPr/>
          <p:nvPr/>
        </p:nvSpPr>
        <p:spPr>
          <a:xfrm>
            <a:off x="1257300" y="4480560"/>
            <a:ext cx="2898648" cy="2240280"/>
          </a:xfrm>
          <a:prstGeom prst="round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8" name="Col 1 list"/>
          <p:cNvSpPr txBox="1"/>
          <p:nvPr/>
        </p:nvSpPr>
        <p:spPr>
          <a:xfrm>
            <a:off x="1485900" y="4663440"/>
            <a:ext cx="2487168" cy="2011680"/>
          </a:xfrm>
          <a:prstGeom prst="rect">
            <a:avLst/>
          </a:prstGeom>
          <a:noFill/>
        </p:spPr>
        <p:txBody>
          <a:bodyPr wrap="square" lIns="0" tIns="0" rIns="0" bIns="0">
            <a:spAutoFit/>
          </a:bodyPr>
          <a:lstStyle/>
          <a:p>
            <a:pPr marL="274320" indent="-274320">
              <a:spcAft>
                <a:spcPts val="600"/>
              </a:spcAft>
              <a:buFont typeface="Arial"/>
              <a:buChar char="•"/>
            </a:pPr>
            <a:r>
              <a:rPr sz="1700" b="0" i="0">
                <a:solidFill>
                  <a:srgbClr val="000000"/>
                </a:solidFill>
                <a:latin typeface="Helvetica Neue"/>
                <a:ea typeface="Helvetica Neue"/>
                <a:cs typeface="Helvetica Neue"/>
              </a:rPr>
              <a:t>Teller and platform PCs</a:t>
            </a:r>
          </a:p>
          <a:p>
            <a:pPr marL="274320" indent="-274320">
              <a:spcAft>
                <a:spcPts val="600"/>
              </a:spcAft>
              <a:buFont typeface="Arial"/>
              <a:buChar char="•"/>
            </a:pPr>
            <a:r>
              <a:rPr sz="1700" b="0" i="0">
                <a:solidFill>
                  <a:srgbClr val="000000"/>
                </a:solidFill>
                <a:latin typeface="Helvetica Neue"/>
                <a:ea typeface="Helvetica Neue"/>
                <a:cs typeface="Helvetica Neue"/>
              </a:rPr>
              <a:t>ATM</a:t>
            </a:r>
          </a:p>
          <a:p>
            <a:pPr marL="274320" indent="-274320">
              <a:spcAft>
                <a:spcPts val="600"/>
              </a:spcAft>
              <a:buFont typeface="Arial"/>
              <a:buChar char="•"/>
            </a:pPr>
            <a:r>
              <a:rPr sz="1700" b="0" i="0">
                <a:solidFill>
                  <a:srgbClr val="000000"/>
                </a:solidFill>
                <a:latin typeface="Helvetica Neue"/>
                <a:ea typeface="Helvetica Neue"/>
                <a:cs typeface="Helvetica Neue"/>
              </a:rPr>
              <a:t>Cameras and alarm</a:t>
            </a:r>
          </a:p>
        </p:txBody>
      </p:sp>
      <p:sp>
        <p:nvSpPr>
          <p:cNvPr id="9" name="Col 2 disc"/>
          <p:cNvSpPr/>
          <p:nvPr/>
        </p:nvSpPr>
        <p:spPr>
          <a:xfrm>
            <a:off x="5376672" y="2697480"/>
            <a:ext cx="1097280" cy="1097280"/>
          </a:xfrm>
          <a:prstGeom prst="ellipse">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0" name="Col 2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2412" y="2903220"/>
            <a:ext cx="685800" cy="685800"/>
          </a:xfrm>
          <a:prstGeom prst="rect">
            <a:avLst/>
          </a:prstGeom>
        </p:spPr>
      </p:pic>
      <p:sp>
        <p:nvSpPr>
          <p:cNvPr id="11" name="Col 2 head"/>
          <p:cNvSpPr txBox="1"/>
          <p:nvPr/>
        </p:nvSpPr>
        <p:spPr>
          <a:xfrm>
            <a:off x="4475988" y="3931920"/>
            <a:ext cx="2898648" cy="457200"/>
          </a:xfrm>
          <a:prstGeom prst="rect">
            <a:avLst/>
          </a:prstGeom>
          <a:noFill/>
        </p:spPr>
        <p:txBody>
          <a:bodyPr wrap="square" lIns="0" tIns="0" rIns="0" bIns="0" anchor="t">
            <a:spAutoFit/>
          </a:bodyPr>
          <a:lstStyle/>
          <a:p>
            <a:pPr algn="ctr">
              <a:spcAft>
                <a:spcPts val="600"/>
              </a:spcAft>
            </a:pPr>
            <a:r>
              <a:rPr sz="2100" b="1" i="0">
                <a:solidFill>
                  <a:srgbClr val="000000"/>
                </a:solidFill>
                <a:latin typeface="Helvetica Neue"/>
                <a:ea typeface="Helvetica Neue"/>
                <a:cs typeface="Helvetica Neue"/>
              </a:rPr>
              <a:t>Headquarters</a:t>
            </a:r>
          </a:p>
        </p:txBody>
      </p:sp>
      <p:sp>
        <p:nvSpPr>
          <p:cNvPr id="12" name="Col 2 box"/>
          <p:cNvSpPr/>
          <p:nvPr/>
        </p:nvSpPr>
        <p:spPr>
          <a:xfrm>
            <a:off x="4475988" y="4480560"/>
            <a:ext cx="2898648" cy="2240280"/>
          </a:xfrm>
          <a:prstGeom prst="round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3" name="Col 2 list"/>
          <p:cNvSpPr txBox="1"/>
          <p:nvPr/>
        </p:nvSpPr>
        <p:spPr>
          <a:xfrm>
            <a:off x="4704588" y="4663440"/>
            <a:ext cx="2487168" cy="2011680"/>
          </a:xfrm>
          <a:prstGeom prst="rect">
            <a:avLst/>
          </a:prstGeom>
          <a:noFill/>
        </p:spPr>
        <p:txBody>
          <a:bodyPr wrap="square" lIns="0" tIns="0" rIns="0" bIns="0">
            <a:spAutoFit/>
          </a:bodyPr>
          <a:lstStyle/>
          <a:p>
            <a:pPr marL="274320" indent="-274320">
              <a:spcAft>
                <a:spcPts val="600"/>
              </a:spcAft>
              <a:buFont typeface="Arial"/>
              <a:buChar char="•"/>
            </a:pPr>
            <a:r>
              <a:rPr sz="1700" b="0" i="0">
                <a:solidFill>
                  <a:srgbClr val="000000"/>
                </a:solidFill>
                <a:latin typeface="Helvetica Neue"/>
                <a:ea typeface="Helvetica Neue"/>
                <a:cs typeface="Helvetica Neue"/>
              </a:rPr>
              <a:t>File and print servers</a:t>
            </a:r>
          </a:p>
          <a:p>
            <a:pPr marL="274320" indent="-274320">
              <a:spcAft>
                <a:spcPts val="600"/>
              </a:spcAft>
              <a:buFont typeface="Arial"/>
              <a:buChar char="•"/>
            </a:pPr>
            <a:r>
              <a:rPr sz="1700" b="0" i="0">
                <a:solidFill>
                  <a:srgbClr val="000000"/>
                </a:solidFill>
                <a:latin typeface="Helvetica Neue"/>
                <a:ea typeface="Helvetica Neue"/>
                <a:cs typeface="Helvetica Neue"/>
              </a:rPr>
              <a:t>Phone system</a:t>
            </a:r>
          </a:p>
          <a:p>
            <a:pPr marL="274320" indent="-274320">
              <a:spcAft>
                <a:spcPts val="600"/>
              </a:spcAft>
              <a:buFont typeface="Arial"/>
              <a:buChar char="•"/>
            </a:pPr>
            <a:r>
              <a:rPr sz="1700" b="0" i="0">
                <a:solidFill>
                  <a:srgbClr val="000000"/>
                </a:solidFill>
                <a:latin typeface="Helvetica Neue"/>
                <a:ea typeface="Helvetica Neue"/>
                <a:cs typeface="Helvetica Neue"/>
              </a:rPr>
              <a:t>Loan and ops workstations</a:t>
            </a:r>
          </a:p>
        </p:txBody>
      </p:sp>
      <p:sp>
        <p:nvSpPr>
          <p:cNvPr id="14" name="Col 3 disc"/>
          <p:cNvSpPr/>
          <p:nvPr/>
        </p:nvSpPr>
        <p:spPr>
          <a:xfrm>
            <a:off x="8595360" y="2697480"/>
            <a:ext cx="1097280" cy="1097280"/>
          </a:xfrm>
          <a:prstGeom prst="ellipse">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5" name="Col 3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01100" y="2903220"/>
            <a:ext cx="685800" cy="685800"/>
          </a:xfrm>
          <a:prstGeom prst="rect">
            <a:avLst/>
          </a:prstGeom>
        </p:spPr>
      </p:pic>
      <p:sp>
        <p:nvSpPr>
          <p:cNvPr id="16" name="Col 3 head"/>
          <p:cNvSpPr txBox="1"/>
          <p:nvPr/>
        </p:nvSpPr>
        <p:spPr>
          <a:xfrm>
            <a:off x="7694675" y="3931920"/>
            <a:ext cx="2898648" cy="457200"/>
          </a:xfrm>
          <a:prstGeom prst="rect">
            <a:avLst/>
          </a:prstGeom>
          <a:noFill/>
        </p:spPr>
        <p:txBody>
          <a:bodyPr wrap="square" lIns="0" tIns="0" rIns="0" bIns="0" anchor="t">
            <a:spAutoFit/>
          </a:bodyPr>
          <a:lstStyle/>
          <a:p>
            <a:pPr algn="ctr">
              <a:spcAft>
                <a:spcPts val="600"/>
              </a:spcAft>
            </a:pPr>
            <a:r>
              <a:rPr sz="2100" b="1" i="0">
                <a:solidFill>
                  <a:srgbClr val="000000"/>
                </a:solidFill>
                <a:latin typeface="Helvetica Neue"/>
                <a:ea typeface="Helvetica Neue"/>
                <a:cs typeface="Helvetica Neue"/>
              </a:rPr>
              <a:t>Bank data center</a:t>
            </a:r>
          </a:p>
        </p:txBody>
      </p:sp>
      <p:sp>
        <p:nvSpPr>
          <p:cNvPr id="17" name="Col 3 box"/>
          <p:cNvSpPr/>
          <p:nvPr/>
        </p:nvSpPr>
        <p:spPr>
          <a:xfrm>
            <a:off x="7694675" y="4480560"/>
            <a:ext cx="2898648" cy="2240280"/>
          </a:xfrm>
          <a:prstGeom prst="round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8" name="Col 3 list"/>
          <p:cNvSpPr txBox="1"/>
          <p:nvPr/>
        </p:nvSpPr>
        <p:spPr>
          <a:xfrm>
            <a:off x="7923275" y="4663440"/>
            <a:ext cx="2487168" cy="2011680"/>
          </a:xfrm>
          <a:prstGeom prst="rect">
            <a:avLst/>
          </a:prstGeom>
          <a:noFill/>
        </p:spPr>
        <p:txBody>
          <a:bodyPr wrap="square" lIns="0" tIns="0" rIns="0" bIns="0">
            <a:spAutoFit/>
          </a:bodyPr>
          <a:lstStyle/>
          <a:p>
            <a:pPr marL="274320" indent="-274320">
              <a:spcAft>
                <a:spcPts val="600"/>
              </a:spcAft>
              <a:buFont typeface="Arial"/>
              <a:buChar char="•"/>
            </a:pPr>
            <a:r>
              <a:rPr sz="1700" b="0" i="0">
                <a:solidFill>
                  <a:srgbClr val="000000"/>
                </a:solidFill>
                <a:latin typeface="Helvetica Neue"/>
                <a:ea typeface="Helvetica Neue"/>
                <a:cs typeface="Helvetica Neue"/>
              </a:rPr>
              <a:t>Active Directory</a:t>
            </a:r>
          </a:p>
          <a:p>
            <a:pPr marL="274320" indent="-274320">
              <a:spcAft>
                <a:spcPts val="600"/>
              </a:spcAft>
              <a:buFont typeface="Arial"/>
              <a:buChar char="•"/>
            </a:pPr>
            <a:r>
              <a:rPr sz="1700" b="0" i="0">
                <a:solidFill>
                  <a:srgbClr val="000000"/>
                </a:solidFill>
                <a:latin typeface="Helvetica Neue"/>
                <a:ea typeface="Helvetica Neue"/>
                <a:cs typeface="Helvetica Neue"/>
              </a:rPr>
              <a:t>Backup</a:t>
            </a:r>
          </a:p>
          <a:p>
            <a:pPr marL="274320" indent="-274320">
              <a:spcAft>
                <a:spcPts val="600"/>
              </a:spcAft>
              <a:buFont typeface="Arial"/>
              <a:buChar char="•"/>
            </a:pPr>
            <a:r>
              <a:rPr sz="1700" b="0" i="0">
                <a:solidFill>
                  <a:srgbClr val="000000"/>
                </a:solidFill>
                <a:latin typeface="Helvetica Neue"/>
                <a:ea typeface="Helvetica Neue"/>
                <a:cs typeface="Helvetica Neue"/>
              </a:rPr>
              <a:t>In-house core (a few banks)</a:t>
            </a:r>
          </a:p>
        </p:txBody>
      </p:sp>
      <p:sp>
        <p:nvSpPr>
          <p:cNvPr id="19" name="Col 4 disc"/>
          <p:cNvSpPr/>
          <p:nvPr/>
        </p:nvSpPr>
        <p:spPr>
          <a:xfrm>
            <a:off x="11814048" y="2697480"/>
            <a:ext cx="1097280" cy="1097280"/>
          </a:xfrm>
          <a:prstGeom prst="ellipse">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0" name="Col 4 icon"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019788" y="2903220"/>
            <a:ext cx="685800" cy="685800"/>
          </a:xfrm>
          <a:prstGeom prst="rect">
            <a:avLst/>
          </a:prstGeom>
        </p:spPr>
      </p:pic>
      <p:sp>
        <p:nvSpPr>
          <p:cNvPr id="21" name="Col 4 head"/>
          <p:cNvSpPr txBox="1"/>
          <p:nvPr/>
        </p:nvSpPr>
        <p:spPr>
          <a:xfrm>
            <a:off x="10913364" y="3931920"/>
            <a:ext cx="2898648" cy="457200"/>
          </a:xfrm>
          <a:prstGeom prst="rect">
            <a:avLst/>
          </a:prstGeom>
          <a:noFill/>
        </p:spPr>
        <p:txBody>
          <a:bodyPr wrap="square" lIns="0" tIns="0" rIns="0" bIns="0" anchor="t">
            <a:spAutoFit/>
          </a:bodyPr>
          <a:lstStyle/>
          <a:p>
            <a:pPr algn="ctr">
              <a:spcAft>
                <a:spcPts val="600"/>
              </a:spcAft>
            </a:pPr>
            <a:r>
              <a:rPr sz="2100" b="1" i="0">
                <a:solidFill>
                  <a:srgbClr val="000000"/>
                </a:solidFill>
                <a:latin typeface="Helvetica Neue"/>
                <a:ea typeface="Helvetica Neue"/>
                <a:cs typeface="Helvetica Neue"/>
              </a:rPr>
              <a:t>Cloud</a:t>
            </a:r>
          </a:p>
        </p:txBody>
      </p:sp>
      <p:sp>
        <p:nvSpPr>
          <p:cNvPr id="22" name="Col 4 box"/>
          <p:cNvSpPr/>
          <p:nvPr/>
        </p:nvSpPr>
        <p:spPr>
          <a:xfrm>
            <a:off x="10913364" y="4480560"/>
            <a:ext cx="2898648" cy="2240280"/>
          </a:xfrm>
          <a:prstGeom prst="round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3" name="Col 4 list"/>
          <p:cNvSpPr txBox="1"/>
          <p:nvPr/>
        </p:nvSpPr>
        <p:spPr>
          <a:xfrm>
            <a:off x="11141964" y="4663440"/>
            <a:ext cx="2487168" cy="2011680"/>
          </a:xfrm>
          <a:prstGeom prst="rect">
            <a:avLst/>
          </a:prstGeom>
          <a:noFill/>
        </p:spPr>
        <p:txBody>
          <a:bodyPr wrap="square" lIns="0" tIns="0" rIns="0" bIns="0">
            <a:spAutoFit/>
          </a:bodyPr>
          <a:lstStyle/>
          <a:p>
            <a:pPr marL="274320" indent="-274320">
              <a:spcAft>
                <a:spcPts val="600"/>
              </a:spcAft>
              <a:buFont typeface="Arial"/>
              <a:buChar char="•"/>
            </a:pPr>
            <a:r>
              <a:rPr sz="1700" b="0" i="0">
                <a:solidFill>
                  <a:srgbClr val="000000"/>
                </a:solidFill>
                <a:latin typeface="Helvetica Neue"/>
                <a:ea typeface="Helvetica Neue"/>
                <a:cs typeface="Helvetica Neue"/>
              </a:rPr>
              <a:t>Microsoft 365</a:t>
            </a:r>
          </a:p>
          <a:p>
            <a:pPr marL="274320" indent="-274320">
              <a:spcAft>
                <a:spcPts val="600"/>
              </a:spcAft>
              <a:buFont typeface="Arial"/>
              <a:buChar char="•"/>
            </a:pPr>
            <a:r>
              <a:rPr sz="1700" b="0" i="0">
                <a:solidFill>
                  <a:srgbClr val="000000"/>
                </a:solidFill>
                <a:latin typeface="Helvetica Neue"/>
                <a:ea typeface="Helvetica Neue"/>
                <a:cs typeface="Helvetica Neue"/>
              </a:rPr>
              <a:t>CRM and HR</a:t>
            </a:r>
          </a:p>
          <a:p>
            <a:pPr marL="274320" indent="-274320">
              <a:spcAft>
                <a:spcPts val="600"/>
              </a:spcAft>
              <a:buFont typeface="Arial"/>
              <a:buChar char="•"/>
            </a:pPr>
            <a:r>
              <a:rPr sz="1700" b="0" i="0">
                <a:solidFill>
                  <a:srgbClr val="000000"/>
                </a:solidFill>
                <a:latin typeface="Helvetica Neue"/>
                <a:ea typeface="Helvetica Neue"/>
                <a:cs typeface="Helvetica Neue"/>
              </a:rPr>
              <a:t>Board portal</a:t>
            </a:r>
          </a:p>
        </p:txBody>
      </p:sp>
      <p:sp>
        <p:nvSpPr>
          <p:cNvPr id="24" name="Col 5 disc"/>
          <p:cNvSpPr/>
          <p:nvPr/>
        </p:nvSpPr>
        <p:spPr>
          <a:xfrm>
            <a:off x="15032735" y="2697480"/>
            <a:ext cx="1097280" cy="1097280"/>
          </a:xfrm>
          <a:prstGeom prst="ellipse">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5" name="Col 5 icon"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238476" y="2903220"/>
            <a:ext cx="685800" cy="685800"/>
          </a:xfrm>
          <a:prstGeom prst="rect">
            <a:avLst/>
          </a:prstGeom>
        </p:spPr>
      </p:pic>
      <p:sp>
        <p:nvSpPr>
          <p:cNvPr id="26" name="Col 5 head"/>
          <p:cNvSpPr txBox="1"/>
          <p:nvPr/>
        </p:nvSpPr>
        <p:spPr>
          <a:xfrm>
            <a:off x="14132052" y="3931920"/>
            <a:ext cx="2898648" cy="457200"/>
          </a:xfrm>
          <a:prstGeom prst="rect">
            <a:avLst/>
          </a:prstGeom>
          <a:noFill/>
        </p:spPr>
        <p:txBody>
          <a:bodyPr wrap="square" lIns="0" tIns="0" rIns="0" bIns="0" anchor="t">
            <a:spAutoFit/>
          </a:bodyPr>
          <a:lstStyle/>
          <a:p>
            <a:pPr algn="ctr">
              <a:spcAft>
                <a:spcPts val="600"/>
              </a:spcAft>
            </a:pPr>
            <a:r>
              <a:rPr sz="2100" b="1" i="0">
                <a:solidFill>
                  <a:srgbClr val="000000"/>
                </a:solidFill>
                <a:latin typeface="Helvetica Neue"/>
                <a:ea typeface="Helvetica Neue"/>
                <a:cs typeface="Helvetica Neue"/>
              </a:rPr>
              <a:t>Vendors</a:t>
            </a:r>
          </a:p>
        </p:txBody>
      </p:sp>
      <p:sp>
        <p:nvSpPr>
          <p:cNvPr id="27" name="Col 5 box"/>
          <p:cNvSpPr/>
          <p:nvPr/>
        </p:nvSpPr>
        <p:spPr>
          <a:xfrm>
            <a:off x="14132052" y="4480560"/>
            <a:ext cx="2898648" cy="2240280"/>
          </a:xfrm>
          <a:prstGeom prst="round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8" name="Col 5 list"/>
          <p:cNvSpPr txBox="1"/>
          <p:nvPr/>
        </p:nvSpPr>
        <p:spPr>
          <a:xfrm>
            <a:off x="14360652" y="4663440"/>
            <a:ext cx="2487168" cy="2011680"/>
          </a:xfrm>
          <a:prstGeom prst="rect">
            <a:avLst/>
          </a:prstGeom>
          <a:noFill/>
        </p:spPr>
        <p:txBody>
          <a:bodyPr wrap="square" lIns="0" tIns="0" rIns="0" bIns="0">
            <a:spAutoFit/>
          </a:bodyPr>
          <a:lstStyle/>
          <a:p>
            <a:pPr marL="274320" indent="-274320">
              <a:spcAft>
                <a:spcPts val="600"/>
              </a:spcAft>
              <a:buFont typeface="Arial"/>
              <a:buChar char="•"/>
            </a:pPr>
            <a:r>
              <a:rPr sz="1700" b="0" i="0">
                <a:solidFill>
                  <a:srgbClr val="000000"/>
                </a:solidFill>
                <a:latin typeface="Helvetica Neue"/>
                <a:ea typeface="Helvetica Neue"/>
                <a:cs typeface="Helvetica Neue"/>
              </a:rPr>
              <a:t>Core processor</a:t>
            </a:r>
          </a:p>
          <a:p>
            <a:pPr marL="274320" indent="-274320">
              <a:spcAft>
                <a:spcPts val="600"/>
              </a:spcAft>
              <a:buFont typeface="Arial"/>
              <a:buChar char="•"/>
            </a:pPr>
            <a:r>
              <a:rPr sz="1700" b="0" i="0">
                <a:solidFill>
                  <a:srgbClr val="000000"/>
                </a:solidFill>
                <a:latin typeface="Helvetica Neue"/>
                <a:ea typeface="Helvetica Neue"/>
                <a:cs typeface="Helvetica Neue"/>
              </a:rPr>
              <a:t>Card processing</a:t>
            </a:r>
          </a:p>
          <a:p>
            <a:pPr marL="274320" indent="-274320">
              <a:spcAft>
                <a:spcPts val="600"/>
              </a:spcAft>
              <a:buFont typeface="Arial"/>
              <a:buChar char="•"/>
            </a:pPr>
            <a:r>
              <a:rPr sz="1700" b="0" i="0">
                <a:solidFill>
                  <a:srgbClr val="000000"/>
                </a:solidFill>
                <a:latin typeface="Helvetica Neue"/>
                <a:ea typeface="Helvetica Neue"/>
                <a:cs typeface="Helvetica Neue"/>
              </a:rPr>
              <a:t>Online and mobile banking</a:t>
            </a:r>
          </a:p>
        </p:txBody>
      </p:sp>
      <p:sp>
        <p:nvSpPr>
          <p:cNvPr id="29" name="Model 1"/>
          <p:cNvSpPr/>
          <p:nvPr/>
        </p:nvSpPr>
        <p:spPr>
          <a:xfrm>
            <a:off x="1257300" y="7040880"/>
            <a:ext cx="5029200" cy="1417320"/>
          </a:xfrm>
          <a:prstGeom prst="roundRect">
            <a:avLst/>
          </a:prstGeom>
          <a:solidFill>
            <a:srgbClr val="FFFFFF"/>
          </a:solidFill>
          <a:ln w="31750">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0" name="Model 1 text"/>
          <p:cNvSpPr txBox="1"/>
          <p:nvPr/>
        </p:nvSpPr>
        <p:spPr>
          <a:xfrm>
            <a:off x="1531620" y="7150608"/>
            <a:ext cx="4480560" cy="1234440"/>
          </a:xfrm>
          <a:prstGeom prst="rect">
            <a:avLst/>
          </a:prstGeom>
          <a:noFill/>
        </p:spPr>
        <p:txBody>
          <a:bodyPr wrap="square" lIns="0" tIns="0" rIns="0" bIns="0" anchor="t">
            <a:spAutoFit/>
          </a:bodyPr>
          <a:lstStyle/>
          <a:p>
            <a:pPr algn="l">
              <a:spcAft>
                <a:spcPts val="300"/>
              </a:spcAft>
            </a:pPr>
            <a:r>
              <a:rPr sz="2100" b="1" i="0">
                <a:solidFill>
                  <a:srgbClr val="595959"/>
                </a:solidFill>
                <a:latin typeface="Helvetica Neue"/>
                <a:ea typeface="Helvetica Neue"/>
                <a:cs typeface="Helvetica Neue"/>
              </a:rPr>
              <a:t>On-premises</a:t>
            </a:r>
          </a:p>
          <a:p>
            <a:pPr algn="l">
              <a:spcAft>
                <a:spcPts val="300"/>
              </a:spcAft>
            </a:pPr>
            <a:r>
              <a:rPr sz="1700" b="0" i="0">
                <a:solidFill>
                  <a:srgbClr val="000000"/>
                </a:solidFill>
                <a:latin typeface="Helvetica Neue"/>
                <a:ea typeface="Helvetica Neue"/>
                <a:cs typeface="Helvetica Neue"/>
              </a:rPr>
              <a:t>The bank owns and runs the servers, in its own building</a:t>
            </a:r>
          </a:p>
        </p:txBody>
      </p:sp>
      <p:sp>
        <p:nvSpPr>
          <p:cNvPr id="31" name="Model 2"/>
          <p:cNvSpPr/>
          <p:nvPr/>
        </p:nvSpPr>
        <p:spPr>
          <a:xfrm>
            <a:off x="6629400" y="7040880"/>
            <a:ext cx="5029200" cy="1417320"/>
          </a:xfrm>
          <a:prstGeom prst="roundRect">
            <a:avLst/>
          </a:prstGeom>
          <a:solidFill>
            <a:srgbClr val="FFFFFF"/>
          </a:solidFill>
          <a:ln w="3175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2" name="Model 2 text"/>
          <p:cNvSpPr txBox="1"/>
          <p:nvPr/>
        </p:nvSpPr>
        <p:spPr>
          <a:xfrm>
            <a:off x="6903720" y="7150608"/>
            <a:ext cx="4480560" cy="1234440"/>
          </a:xfrm>
          <a:prstGeom prst="rect">
            <a:avLst/>
          </a:prstGeom>
          <a:noFill/>
        </p:spPr>
        <p:txBody>
          <a:bodyPr wrap="square" lIns="0" tIns="0" rIns="0" bIns="0" anchor="t">
            <a:spAutoFit/>
          </a:bodyPr>
          <a:lstStyle/>
          <a:p>
            <a:pPr algn="l">
              <a:spcAft>
                <a:spcPts val="300"/>
              </a:spcAft>
            </a:pPr>
            <a:r>
              <a:rPr sz="2100" b="1" i="0">
                <a:solidFill>
                  <a:srgbClr val="2F75B5"/>
                </a:solidFill>
                <a:latin typeface="Helvetica Neue"/>
                <a:ea typeface="Helvetica Neue"/>
                <a:cs typeface="Helvetica Neue"/>
              </a:rPr>
              <a:t>Hosted</a:t>
            </a:r>
          </a:p>
          <a:p>
            <a:pPr algn="l">
              <a:spcAft>
                <a:spcPts val="300"/>
              </a:spcAft>
            </a:pPr>
            <a:r>
              <a:rPr sz="1700" b="0" i="0">
                <a:solidFill>
                  <a:srgbClr val="000000"/>
                </a:solidFill>
                <a:latin typeface="Helvetica Neue"/>
                <a:ea typeface="Helvetica Neue"/>
                <a:cs typeface="Helvetica Neue"/>
              </a:rPr>
              <a:t>The vendor runs a copy dedicated to the bank, in the vendor's data center</a:t>
            </a:r>
          </a:p>
        </p:txBody>
      </p:sp>
      <p:sp>
        <p:nvSpPr>
          <p:cNvPr id="33" name="Model 3"/>
          <p:cNvSpPr/>
          <p:nvPr/>
        </p:nvSpPr>
        <p:spPr>
          <a:xfrm>
            <a:off x="12001500" y="7040880"/>
            <a:ext cx="5029200" cy="1417320"/>
          </a:xfrm>
          <a:prstGeom prst="roundRect">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4" name="Model 3 text"/>
          <p:cNvSpPr txBox="1"/>
          <p:nvPr/>
        </p:nvSpPr>
        <p:spPr>
          <a:xfrm>
            <a:off x="12275820" y="7150608"/>
            <a:ext cx="4480560" cy="1234440"/>
          </a:xfrm>
          <a:prstGeom prst="rect">
            <a:avLst/>
          </a:prstGeom>
          <a:noFill/>
        </p:spPr>
        <p:txBody>
          <a:bodyPr wrap="square" lIns="0" tIns="0" rIns="0" bIns="0" anchor="t">
            <a:spAutoFit/>
          </a:bodyPr>
          <a:lstStyle/>
          <a:p>
            <a:pPr algn="l">
              <a:spcAft>
                <a:spcPts val="300"/>
              </a:spcAft>
            </a:pPr>
            <a:r>
              <a:rPr sz="2100" b="1" i="0">
                <a:solidFill>
                  <a:srgbClr val="ED7D31"/>
                </a:solidFill>
                <a:latin typeface="Helvetica Neue"/>
                <a:ea typeface="Helvetica Neue"/>
                <a:cs typeface="Helvetica Neue"/>
              </a:rPr>
              <a:t>SaaS</a:t>
            </a:r>
          </a:p>
          <a:p>
            <a:pPr algn="l">
              <a:spcAft>
                <a:spcPts val="300"/>
              </a:spcAft>
            </a:pPr>
            <a:r>
              <a:rPr sz="1700" b="0" i="0">
                <a:solidFill>
                  <a:srgbClr val="000000"/>
                </a:solidFill>
                <a:latin typeface="Helvetica Neue"/>
                <a:ea typeface="Helvetica Neue"/>
                <a:cs typeface="Helvetica Neue"/>
              </a:rPr>
              <a:t>One shared application for many customers, reached over the internet</a:t>
            </a:r>
          </a:p>
        </p:txBody>
      </p:sp>
      <p:sp>
        <p:nvSpPr>
          <p:cNvPr id="35" name="Apps banner"/>
          <p:cNvSpPr/>
          <p:nvPr/>
        </p:nvSpPr>
        <p:spPr>
          <a:xfrm>
            <a:off x="1257300" y="8732520"/>
            <a:ext cx="15773400" cy="68580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6" name="Apps banner text"/>
          <p:cNvSpPr txBox="1"/>
          <p:nvPr/>
        </p:nvSpPr>
        <p:spPr>
          <a:xfrm>
            <a:off x="1554480" y="8778240"/>
            <a:ext cx="15179040" cy="594360"/>
          </a:xfrm>
          <a:prstGeom prst="rect">
            <a:avLst/>
          </a:prstGeom>
          <a:noFill/>
        </p:spPr>
        <p:txBody>
          <a:bodyPr wrap="square" lIns="0" tIns="0" rIns="0" bIns="0" anchor="ctr">
            <a:spAutoFit/>
          </a:bodyPr>
          <a:lstStyle/>
          <a:p>
            <a:pPr algn="ctr">
              <a:spcAft>
                <a:spcPts val="600"/>
              </a:spcAft>
            </a:pPr>
            <a:r>
              <a:rPr sz="2100" b="1" i="0">
                <a:solidFill>
                  <a:srgbClr val="000000"/>
                </a:solidFill>
                <a:latin typeface="Helvetica Neue"/>
                <a:ea typeface="Helvetica Neue"/>
                <a:cs typeface="Helvetica Neue"/>
              </a:rPr>
              <a:t>Every arrow between these columns is a network path.</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Chapter 24: Core Banking</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What a Core System Does</a:t>
            </a:r>
          </a:p>
        </p:txBody>
      </p:sp>
      <p:sp>
        <p:nvSpPr>
          <p:cNvPr id="3" name="Chan 1"/>
          <p:cNvSpPr/>
          <p:nvPr/>
        </p:nvSpPr>
        <p:spPr>
          <a:xfrm>
            <a:off x="1257300" y="2743200"/>
            <a:ext cx="3931920" cy="9601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4" name="Chan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08760" y="2948940"/>
            <a:ext cx="548640" cy="548640"/>
          </a:xfrm>
          <a:prstGeom prst="rect">
            <a:avLst/>
          </a:prstGeom>
        </p:spPr>
      </p:pic>
      <p:sp>
        <p:nvSpPr>
          <p:cNvPr id="5" name="Chan 1 text"/>
          <p:cNvSpPr txBox="1"/>
          <p:nvPr/>
        </p:nvSpPr>
        <p:spPr>
          <a:xfrm>
            <a:off x="2286000" y="2743200"/>
            <a:ext cx="2834640" cy="960120"/>
          </a:xfrm>
          <a:prstGeom prst="rect">
            <a:avLst/>
          </a:prstGeom>
          <a:noFill/>
        </p:spPr>
        <p:txBody>
          <a:bodyPr wrap="square" lIns="0" tIns="0" rIns="0" bIns="0" anchor="ctr">
            <a:spAutoFit/>
          </a:bodyPr>
          <a:lstStyle/>
          <a:p>
            <a:pPr algn="l">
              <a:spcAft>
                <a:spcPts val="600"/>
              </a:spcAft>
            </a:pPr>
            <a:r>
              <a:rPr sz="1900" b="1" i="0">
                <a:solidFill>
                  <a:srgbClr val="000000"/>
                </a:solidFill>
                <a:latin typeface="Helvetica Neue"/>
                <a:ea typeface="Helvetica Neue"/>
                <a:cs typeface="Helvetica Neue"/>
              </a:rPr>
              <a:t>Tellers</a:t>
            </a:r>
          </a:p>
        </p:txBody>
      </p:sp>
      <p:cxnSp>
        <p:nvCxnSpPr>
          <p:cNvPr id="6" name="Chan 1 arrow"/>
          <p:cNvCxnSpPr/>
          <p:nvPr/>
        </p:nvCxnSpPr>
        <p:spPr>
          <a:xfrm>
            <a:off x="5212080" y="3223260"/>
            <a:ext cx="1691640" cy="2354580"/>
          </a:xfrm>
          <a:prstGeom prst="line">
            <a:avLst/>
          </a:prstGeom>
          <a:ln w="3175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Chan 2"/>
          <p:cNvSpPr/>
          <p:nvPr/>
        </p:nvSpPr>
        <p:spPr>
          <a:xfrm>
            <a:off x="1257300" y="3931920"/>
            <a:ext cx="3931920" cy="9601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8" name="Chan 2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08760" y="4137660"/>
            <a:ext cx="548640" cy="548640"/>
          </a:xfrm>
          <a:prstGeom prst="rect">
            <a:avLst/>
          </a:prstGeom>
        </p:spPr>
      </p:pic>
      <p:sp>
        <p:nvSpPr>
          <p:cNvPr id="9" name="Chan 2 text"/>
          <p:cNvSpPr txBox="1"/>
          <p:nvPr/>
        </p:nvSpPr>
        <p:spPr>
          <a:xfrm>
            <a:off x="2286000" y="3931920"/>
            <a:ext cx="2834640" cy="960120"/>
          </a:xfrm>
          <a:prstGeom prst="rect">
            <a:avLst/>
          </a:prstGeom>
          <a:noFill/>
        </p:spPr>
        <p:txBody>
          <a:bodyPr wrap="square" lIns="0" tIns="0" rIns="0" bIns="0" anchor="ctr">
            <a:spAutoFit/>
          </a:bodyPr>
          <a:lstStyle/>
          <a:p>
            <a:pPr algn="l">
              <a:spcAft>
                <a:spcPts val="600"/>
              </a:spcAft>
            </a:pPr>
            <a:r>
              <a:rPr sz="1900" b="1" i="0">
                <a:solidFill>
                  <a:srgbClr val="000000"/>
                </a:solidFill>
                <a:latin typeface="Helvetica Neue"/>
                <a:ea typeface="Helvetica Neue"/>
                <a:cs typeface="Helvetica Neue"/>
              </a:rPr>
              <a:t>ATMs and debit</a:t>
            </a:r>
          </a:p>
        </p:txBody>
      </p:sp>
      <p:cxnSp>
        <p:nvCxnSpPr>
          <p:cNvPr id="10" name="Chan 2 arrow"/>
          <p:cNvCxnSpPr/>
          <p:nvPr/>
        </p:nvCxnSpPr>
        <p:spPr>
          <a:xfrm>
            <a:off x="5212080" y="4411980"/>
            <a:ext cx="1691640" cy="1165860"/>
          </a:xfrm>
          <a:prstGeom prst="line">
            <a:avLst/>
          </a:prstGeom>
          <a:ln w="3175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Chan 3"/>
          <p:cNvSpPr/>
          <p:nvPr/>
        </p:nvSpPr>
        <p:spPr>
          <a:xfrm>
            <a:off x="1257300" y="5120640"/>
            <a:ext cx="3931920" cy="9601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2" name="Chan 3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08760" y="5326380"/>
            <a:ext cx="548640" cy="548640"/>
          </a:xfrm>
          <a:prstGeom prst="rect">
            <a:avLst/>
          </a:prstGeom>
        </p:spPr>
      </p:pic>
      <p:sp>
        <p:nvSpPr>
          <p:cNvPr id="13" name="Chan 3 text"/>
          <p:cNvSpPr txBox="1"/>
          <p:nvPr/>
        </p:nvSpPr>
        <p:spPr>
          <a:xfrm>
            <a:off x="2286000" y="5120640"/>
            <a:ext cx="2834640" cy="960120"/>
          </a:xfrm>
          <a:prstGeom prst="rect">
            <a:avLst/>
          </a:prstGeom>
          <a:noFill/>
        </p:spPr>
        <p:txBody>
          <a:bodyPr wrap="square" lIns="0" tIns="0" rIns="0" bIns="0" anchor="ctr">
            <a:spAutoFit/>
          </a:bodyPr>
          <a:lstStyle/>
          <a:p>
            <a:pPr algn="l">
              <a:spcAft>
                <a:spcPts val="600"/>
              </a:spcAft>
            </a:pPr>
            <a:r>
              <a:rPr sz="1900" b="1" i="0">
                <a:solidFill>
                  <a:srgbClr val="000000"/>
                </a:solidFill>
                <a:latin typeface="Helvetica Neue"/>
                <a:ea typeface="Helvetica Neue"/>
                <a:cs typeface="Helvetica Neue"/>
              </a:rPr>
              <a:t>Online and mobile</a:t>
            </a:r>
          </a:p>
        </p:txBody>
      </p:sp>
      <p:cxnSp>
        <p:nvCxnSpPr>
          <p:cNvPr id="14" name="Chan 3 arrow"/>
          <p:cNvCxnSpPr/>
          <p:nvPr/>
        </p:nvCxnSpPr>
        <p:spPr>
          <a:xfrm flipV="1">
            <a:off x="5212080" y="5577840"/>
            <a:ext cx="1691640" cy="22860"/>
          </a:xfrm>
          <a:prstGeom prst="line">
            <a:avLst/>
          </a:prstGeom>
          <a:ln w="3175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Chan 4"/>
          <p:cNvSpPr/>
          <p:nvPr/>
        </p:nvSpPr>
        <p:spPr>
          <a:xfrm>
            <a:off x="1257300" y="6309360"/>
            <a:ext cx="3931920" cy="9601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6" name="Chan 4 icon"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08760" y="6515100"/>
            <a:ext cx="548640" cy="548640"/>
          </a:xfrm>
          <a:prstGeom prst="rect">
            <a:avLst/>
          </a:prstGeom>
        </p:spPr>
      </p:pic>
      <p:sp>
        <p:nvSpPr>
          <p:cNvPr id="17" name="Chan 4 text"/>
          <p:cNvSpPr txBox="1"/>
          <p:nvPr/>
        </p:nvSpPr>
        <p:spPr>
          <a:xfrm>
            <a:off x="2286000" y="6309360"/>
            <a:ext cx="2834640" cy="960120"/>
          </a:xfrm>
          <a:prstGeom prst="rect">
            <a:avLst/>
          </a:prstGeom>
          <a:noFill/>
        </p:spPr>
        <p:txBody>
          <a:bodyPr wrap="square" lIns="0" tIns="0" rIns="0" bIns="0" anchor="ctr">
            <a:spAutoFit/>
          </a:bodyPr>
          <a:lstStyle/>
          <a:p>
            <a:pPr algn="l">
              <a:spcAft>
                <a:spcPts val="600"/>
              </a:spcAft>
            </a:pPr>
            <a:r>
              <a:rPr sz="1900" b="1" i="0">
                <a:solidFill>
                  <a:srgbClr val="000000"/>
                </a:solidFill>
                <a:latin typeface="Helvetica Neue"/>
                <a:ea typeface="Helvetica Neue"/>
                <a:cs typeface="Helvetica Neue"/>
              </a:rPr>
              <a:t>ACH and wires</a:t>
            </a:r>
          </a:p>
        </p:txBody>
      </p:sp>
      <p:cxnSp>
        <p:nvCxnSpPr>
          <p:cNvPr id="18" name="Chan 4 arrow"/>
          <p:cNvCxnSpPr/>
          <p:nvPr/>
        </p:nvCxnSpPr>
        <p:spPr>
          <a:xfrm flipV="1">
            <a:off x="5212080" y="5577840"/>
            <a:ext cx="1691640" cy="1211580"/>
          </a:xfrm>
          <a:prstGeom prst="line">
            <a:avLst/>
          </a:prstGeom>
          <a:ln w="3175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Chan 5"/>
          <p:cNvSpPr/>
          <p:nvPr/>
        </p:nvSpPr>
        <p:spPr>
          <a:xfrm>
            <a:off x="1257300" y="7498079"/>
            <a:ext cx="3931920" cy="9601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0" name="Chan 5 icon"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08760" y="7703819"/>
            <a:ext cx="548640" cy="548640"/>
          </a:xfrm>
          <a:prstGeom prst="rect">
            <a:avLst/>
          </a:prstGeom>
        </p:spPr>
      </p:pic>
      <p:sp>
        <p:nvSpPr>
          <p:cNvPr id="21" name="Chan 5 text"/>
          <p:cNvSpPr txBox="1"/>
          <p:nvPr/>
        </p:nvSpPr>
        <p:spPr>
          <a:xfrm>
            <a:off x="2286000" y="7498079"/>
            <a:ext cx="2834640" cy="960120"/>
          </a:xfrm>
          <a:prstGeom prst="rect">
            <a:avLst/>
          </a:prstGeom>
          <a:noFill/>
        </p:spPr>
        <p:txBody>
          <a:bodyPr wrap="square" lIns="0" tIns="0" rIns="0" bIns="0" anchor="ctr">
            <a:spAutoFit/>
          </a:bodyPr>
          <a:lstStyle/>
          <a:p>
            <a:pPr algn="l">
              <a:spcAft>
                <a:spcPts val="600"/>
              </a:spcAft>
            </a:pPr>
            <a:r>
              <a:rPr sz="1900" b="1" i="0">
                <a:solidFill>
                  <a:srgbClr val="000000"/>
                </a:solidFill>
                <a:latin typeface="Helvetica Neue"/>
                <a:ea typeface="Helvetica Neue"/>
                <a:cs typeface="Helvetica Neue"/>
              </a:rPr>
              <a:t>Card networks</a:t>
            </a:r>
          </a:p>
        </p:txBody>
      </p:sp>
      <p:cxnSp>
        <p:nvCxnSpPr>
          <p:cNvPr id="22" name="Chan 5 arrow"/>
          <p:cNvCxnSpPr/>
          <p:nvPr/>
        </p:nvCxnSpPr>
        <p:spPr>
          <a:xfrm flipV="1">
            <a:off x="5212080" y="5577840"/>
            <a:ext cx="1691640" cy="2400300"/>
          </a:xfrm>
          <a:prstGeom prst="line">
            <a:avLst/>
          </a:prstGeom>
          <a:ln w="3175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Channels label"/>
          <p:cNvSpPr txBox="1"/>
          <p:nvPr/>
        </p:nvSpPr>
        <p:spPr>
          <a:xfrm>
            <a:off x="1257300" y="8732520"/>
            <a:ext cx="3931920" cy="411480"/>
          </a:xfrm>
          <a:prstGeom prst="rect">
            <a:avLst/>
          </a:prstGeom>
          <a:noFill/>
        </p:spPr>
        <p:txBody>
          <a:bodyPr wrap="square" lIns="0" tIns="0" rIns="0" bIns="0" anchor="t">
            <a:spAutoFit/>
          </a:bodyPr>
          <a:lstStyle/>
          <a:p>
            <a:pPr algn="ctr">
              <a:spcAft>
                <a:spcPts val="600"/>
              </a:spcAft>
            </a:pPr>
            <a:r>
              <a:rPr sz="1700" b="1" i="0">
                <a:solidFill>
                  <a:srgbClr val="ED7D31"/>
                </a:solidFill>
                <a:latin typeface="Helvetica Neue"/>
                <a:ea typeface="Helvetica Neue"/>
                <a:cs typeface="Helvetica Neue"/>
              </a:rPr>
              <a:t>Channels feed it</a:t>
            </a:r>
          </a:p>
        </p:txBody>
      </p:sp>
      <p:sp>
        <p:nvSpPr>
          <p:cNvPr id="24" name="Core box"/>
          <p:cNvSpPr/>
          <p:nvPr/>
        </p:nvSpPr>
        <p:spPr>
          <a:xfrm>
            <a:off x="6949440" y="4023360"/>
            <a:ext cx="4023360" cy="3108960"/>
          </a:xfrm>
          <a:prstGeom prst="round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5" name="Core icon" descr="image.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458200" y="4297680"/>
            <a:ext cx="1005840" cy="1005840"/>
          </a:xfrm>
          <a:prstGeom prst="rect">
            <a:avLst/>
          </a:prstGeom>
        </p:spPr>
      </p:pic>
      <p:sp>
        <p:nvSpPr>
          <p:cNvPr id="26" name="Core text"/>
          <p:cNvSpPr txBox="1"/>
          <p:nvPr/>
        </p:nvSpPr>
        <p:spPr>
          <a:xfrm>
            <a:off x="7132320" y="5486400"/>
            <a:ext cx="3657600" cy="1554480"/>
          </a:xfrm>
          <a:prstGeom prst="rect">
            <a:avLst/>
          </a:prstGeom>
          <a:noFill/>
        </p:spPr>
        <p:txBody>
          <a:bodyPr wrap="square" lIns="0" tIns="0" rIns="0" bIns="0" anchor="t">
            <a:spAutoFit/>
          </a:bodyPr>
          <a:lstStyle/>
          <a:p>
            <a:pPr algn="ctr">
              <a:spcAft>
                <a:spcPts val="200"/>
              </a:spcAft>
            </a:pPr>
            <a:r>
              <a:rPr sz="3000" b="1" i="0">
                <a:solidFill>
                  <a:srgbClr val="FFFFFF"/>
                </a:solidFill>
                <a:latin typeface="Helvetica Neue"/>
                <a:ea typeface="Helvetica Neue"/>
                <a:cs typeface="Helvetica Neue"/>
              </a:rPr>
              <a:t>The core</a:t>
            </a:r>
          </a:p>
          <a:p>
            <a:pPr algn="ctr">
              <a:spcAft>
                <a:spcPts val="200"/>
              </a:spcAft>
            </a:pPr>
            <a:r>
              <a:rPr sz="1700" b="0" i="0">
                <a:solidFill>
                  <a:srgbClr val="FFFFFF"/>
                </a:solidFill>
                <a:latin typeface="Helvetica Neue"/>
                <a:ea typeface="Helvetica Neue"/>
                <a:cs typeface="Helvetica Neue"/>
              </a:rPr>
              <a:t>the bank's system of record</a:t>
            </a:r>
          </a:p>
        </p:txBody>
      </p:sp>
      <p:cxnSp>
        <p:nvCxnSpPr>
          <p:cNvPr id="27" name="Rec 1 arrow"/>
          <p:cNvCxnSpPr/>
          <p:nvPr/>
        </p:nvCxnSpPr>
        <p:spPr>
          <a:xfrm flipV="1">
            <a:off x="11018520" y="3154680"/>
            <a:ext cx="1554480" cy="2423160"/>
          </a:xfrm>
          <a:prstGeom prst="line">
            <a:avLst/>
          </a:prstGeom>
          <a:ln w="3175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 1"/>
          <p:cNvSpPr/>
          <p:nvPr/>
        </p:nvSpPr>
        <p:spPr>
          <a:xfrm>
            <a:off x="12618720" y="2743200"/>
            <a:ext cx="4411980" cy="822960"/>
          </a:xfrm>
          <a:prstGeom prst="round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800" b="0" i="0">
                <a:solidFill>
                  <a:srgbClr val="000000"/>
                </a:solidFill>
                <a:latin typeface="Helvetica Neue"/>
                <a:ea typeface="Helvetica Neue"/>
                <a:cs typeface="Helvetica Neue"/>
              </a:rPr>
              <a:t>Deposit accounts</a:t>
            </a:r>
          </a:p>
        </p:txBody>
      </p:sp>
      <p:cxnSp>
        <p:nvCxnSpPr>
          <p:cNvPr id="29" name="Rec 2 arrow"/>
          <p:cNvCxnSpPr/>
          <p:nvPr/>
        </p:nvCxnSpPr>
        <p:spPr>
          <a:xfrm flipV="1">
            <a:off x="11018520" y="4142232"/>
            <a:ext cx="1554480" cy="1435608"/>
          </a:xfrm>
          <a:prstGeom prst="line">
            <a:avLst/>
          </a:prstGeom>
          <a:ln w="3175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ec 2"/>
          <p:cNvSpPr/>
          <p:nvPr/>
        </p:nvSpPr>
        <p:spPr>
          <a:xfrm>
            <a:off x="12618720" y="3730752"/>
            <a:ext cx="4411980" cy="822960"/>
          </a:xfrm>
          <a:prstGeom prst="round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800" b="0" i="0">
                <a:solidFill>
                  <a:srgbClr val="000000"/>
                </a:solidFill>
                <a:latin typeface="Helvetica Neue"/>
                <a:ea typeface="Helvetica Neue"/>
                <a:cs typeface="Helvetica Neue"/>
              </a:rPr>
              <a:t>Loan accounts</a:t>
            </a:r>
          </a:p>
        </p:txBody>
      </p:sp>
      <p:cxnSp>
        <p:nvCxnSpPr>
          <p:cNvPr id="31" name="Rec 3 arrow"/>
          <p:cNvCxnSpPr/>
          <p:nvPr/>
        </p:nvCxnSpPr>
        <p:spPr>
          <a:xfrm flipV="1">
            <a:off x="11018520" y="5129784"/>
            <a:ext cx="1554480" cy="448056"/>
          </a:xfrm>
          <a:prstGeom prst="line">
            <a:avLst/>
          </a:prstGeom>
          <a:ln w="3175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 3"/>
          <p:cNvSpPr/>
          <p:nvPr/>
        </p:nvSpPr>
        <p:spPr>
          <a:xfrm>
            <a:off x="12618720" y="4718304"/>
            <a:ext cx="4411980" cy="822960"/>
          </a:xfrm>
          <a:prstGeom prst="round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800" b="0" i="0">
                <a:solidFill>
                  <a:srgbClr val="000000"/>
                </a:solidFill>
                <a:latin typeface="Helvetica Neue"/>
                <a:ea typeface="Helvetica Neue"/>
                <a:cs typeface="Helvetica Neue"/>
              </a:rPr>
              <a:t>Customer information file</a:t>
            </a:r>
          </a:p>
        </p:txBody>
      </p:sp>
      <p:cxnSp>
        <p:nvCxnSpPr>
          <p:cNvPr id="33" name="Rec 4 arrow"/>
          <p:cNvCxnSpPr/>
          <p:nvPr/>
        </p:nvCxnSpPr>
        <p:spPr>
          <a:xfrm>
            <a:off x="11018520" y="5577840"/>
            <a:ext cx="1554480" cy="539496"/>
          </a:xfrm>
          <a:prstGeom prst="line">
            <a:avLst/>
          </a:prstGeom>
          <a:ln w="3175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ec 4"/>
          <p:cNvSpPr/>
          <p:nvPr/>
        </p:nvSpPr>
        <p:spPr>
          <a:xfrm>
            <a:off x="12618720" y="5705856"/>
            <a:ext cx="4411980" cy="822960"/>
          </a:xfrm>
          <a:prstGeom prst="round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800" b="0" i="0">
                <a:solidFill>
                  <a:srgbClr val="000000"/>
                </a:solidFill>
                <a:latin typeface="Helvetica Neue"/>
                <a:ea typeface="Helvetica Neue"/>
                <a:cs typeface="Helvetica Neue"/>
              </a:rPr>
              <a:t>Interest and fees</a:t>
            </a:r>
          </a:p>
        </p:txBody>
      </p:sp>
      <p:cxnSp>
        <p:nvCxnSpPr>
          <p:cNvPr id="35" name="Rec 5 arrow"/>
          <p:cNvCxnSpPr/>
          <p:nvPr/>
        </p:nvCxnSpPr>
        <p:spPr>
          <a:xfrm>
            <a:off x="11018520" y="5577840"/>
            <a:ext cx="1554480" cy="1527048"/>
          </a:xfrm>
          <a:prstGeom prst="line">
            <a:avLst/>
          </a:prstGeom>
          <a:ln w="3175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 5"/>
          <p:cNvSpPr/>
          <p:nvPr/>
        </p:nvSpPr>
        <p:spPr>
          <a:xfrm>
            <a:off x="12618720" y="6693408"/>
            <a:ext cx="4411980" cy="822960"/>
          </a:xfrm>
          <a:prstGeom prst="round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800" b="0" i="0">
                <a:solidFill>
                  <a:srgbClr val="000000"/>
                </a:solidFill>
                <a:latin typeface="Helvetica Neue"/>
                <a:ea typeface="Helvetica Neue"/>
                <a:cs typeface="Helvetica Neue"/>
              </a:rPr>
              <a:t>General ledger</a:t>
            </a:r>
          </a:p>
        </p:txBody>
      </p:sp>
      <p:cxnSp>
        <p:nvCxnSpPr>
          <p:cNvPr id="37" name="Rec 6 arrow"/>
          <p:cNvCxnSpPr/>
          <p:nvPr/>
        </p:nvCxnSpPr>
        <p:spPr>
          <a:xfrm>
            <a:off x="11018520" y="5577840"/>
            <a:ext cx="1554480" cy="2514600"/>
          </a:xfrm>
          <a:prstGeom prst="line">
            <a:avLst/>
          </a:prstGeom>
          <a:ln w="3175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ec 6"/>
          <p:cNvSpPr/>
          <p:nvPr/>
        </p:nvSpPr>
        <p:spPr>
          <a:xfrm>
            <a:off x="12618720" y="7680960"/>
            <a:ext cx="4411980" cy="822960"/>
          </a:xfrm>
          <a:prstGeom prst="round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800" b="0" i="0">
                <a:solidFill>
                  <a:srgbClr val="000000"/>
                </a:solidFill>
                <a:latin typeface="Helvetica Neue"/>
                <a:ea typeface="Helvetica Neue"/>
                <a:cs typeface="Helvetica Neue"/>
              </a:rPr>
              <a:t>Statements and notices</a:t>
            </a:r>
          </a:p>
        </p:txBody>
      </p:sp>
      <p:sp>
        <p:nvSpPr>
          <p:cNvPr id="39" name="Records label"/>
          <p:cNvSpPr txBox="1"/>
          <p:nvPr/>
        </p:nvSpPr>
        <p:spPr>
          <a:xfrm>
            <a:off x="12618720" y="8732520"/>
            <a:ext cx="4411980" cy="411480"/>
          </a:xfrm>
          <a:prstGeom prst="rect">
            <a:avLst/>
          </a:prstGeom>
          <a:noFill/>
        </p:spPr>
        <p:txBody>
          <a:bodyPr wrap="square" lIns="0" tIns="0" rIns="0" bIns="0" anchor="t">
            <a:spAutoFit/>
          </a:bodyPr>
          <a:lstStyle/>
          <a:p>
            <a:pPr algn="ctr">
              <a:spcAft>
                <a:spcPts val="600"/>
              </a:spcAft>
            </a:pPr>
            <a:r>
              <a:rPr sz="1700" b="1" i="0">
                <a:solidFill>
                  <a:srgbClr val="2F75B5"/>
                </a:solidFill>
                <a:latin typeface="Helvetica Neue"/>
                <a:ea typeface="Helvetica Neue"/>
                <a:cs typeface="Helvetica Neue"/>
              </a:rPr>
              <a:t>What it keeps</a:t>
            </a:r>
          </a:p>
        </p:txBody>
      </p:sp>
      <p:sp>
        <p:nvSpPr>
          <p:cNvPr id="40" name="Core down"/>
          <p:cNvSpPr/>
          <p:nvPr/>
        </p:nvSpPr>
        <p:spPr>
          <a:xfrm>
            <a:off x="6035040" y="7589520"/>
            <a:ext cx="5852160" cy="155448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1" name="Core down text"/>
          <p:cNvSpPr txBox="1"/>
          <p:nvPr/>
        </p:nvSpPr>
        <p:spPr>
          <a:xfrm>
            <a:off x="6263640" y="7680960"/>
            <a:ext cx="5394960" cy="1371600"/>
          </a:xfrm>
          <a:prstGeom prst="rect">
            <a:avLst/>
          </a:prstGeom>
          <a:noFill/>
        </p:spPr>
        <p:txBody>
          <a:bodyPr wrap="square" lIns="0" tIns="0" rIns="0" bIns="0" anchor="ctr">
            <a:spAutoFit/>
          </a:bodyPr>
          <a:lstStyle/>
          <a:p>
            <a:pPr algn="ctr">
              <a:spcAft>
                <a:spcPts val="0"/>
              </a:spcAft>
            </a:pPr>
            <a:r>
              <a:rPr sz="1800" b="1" i="0">
                <a:solidFill>
                  <a:srgbClr val="000000"/>
                </a:solidFill>
                <a:latin typeface="Helvetica Neue"/>
                <a:ea typeface="Helvetica Neue"/>
                <a:cs typeface="Helvetica Neue"/>
              </a:rPr>
              <a:t>If the core is down, or the path to it is,</a:t>
            </a:r>
          </a:p>
          <a:p>
            <a:pPr algn="ctr">
              <a:spcAft>
                <a:spcPts val="0"/>
              </a:spcAft>
            </a:pPr>
            <a:r>
              <a:rPr sz="1800" b="1" i="0">
                <a:solidFill>
                  <a:srgbClr val="000000"/>
                </a:solidFill>
                <a:latin typeface="Helvetica Neue"/>
                <a:ea typeface="Helvetica Neue"/>
                <a:cs typeface="Helvetica Neue"/>
              </a:rPr>
              <a:t>the bank can't post a transaction.</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The Big Core Providers: Jack Henry, Fiserv, FIS</a:t>
            </a:r>
          </a:p>
        </p:txBody>
      </p:sp>
      <p:sp>
        <p:nvSpPr>
          <p:cNvPr id="3" name="Core Fiserv card"/>
          <p:cNvSpPr/>
          <p:nvPr/>
        </p:nvSpPr>
        <p:spPr>
          <a:xfrm>
            <a:off x="1257300" y="2697480"/>
            <a:ext cx="5029200" cy="51206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Core Fiserv band"/>
          <p:cNvSpPr/>
          <p:nvPr/>
        </p:nvSpPr>
        <p:spPr>
          <a:xfrm>
            <a:off x="1531620" y="2926080"/>
            <a:ext cx="4480560" cy="109728"/>
          </a:xfrm>
          <a:prstGeom prst="rect">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5" name="Core Fiserv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83480" y="3268980"/>
            <a:ext cx="777240" cy="777240"/>
          </a:xfrm>
          <a:prstGeom prst="rect">
            <a:avLst/>
          </a:prstGeom>
        </p:spPr>
      </p:pic>
      <p:sp>
        <p:nvSpPr>
          <p:cNvPr id="6" name="Core Fiserv name"/>
          <p:cNvSpPr txBox="1"/>
          <p:nvPr/>
        </p:nvSpPr>
        <p:spPr>
          <a:xfrm>
            <a:off x="1577340" y="3246120"/>
            <a:ext cx="3566160" cy="731520"/>
          </a:xfrm>
          <a:prstGeom prst="rect">
            <a:avLst/>
          </a:prstGeom>
          <a:noFill/>
        </p:spPr>
        <p:txBody>
          <a:bodyPr wrap="square" lIns="0" tIns="0" rIns="0" bIns="0" anchor="t">
            <a:spAutoFit/>
          </a:bodyPr>
          <a:lstStyle/>
          <a:p>
            <a:pPr algn="l">
              <a:spcAft>
                <a:spcPts val="600"/>
              </a:spcAft>
            </a:pPr>
            <a:r>
              <a:rPr sz="3200" b="1" i="0">
                <a:solidFill>
                  <a:srgbClr val="000000"/>
                </a:solidFill>
                <a:latin typeface="Helvetica Neue"/>
                <a:ea typeface="Helvetica Neue"/>
                <a:cs typeface="Helvetica Neue"/>
              </a:rPr>
              <a:t>Fiserv</a:t>
            </a:r>
          </a:p>
        </p:txBody>
      </p:sp>
      <p:sp>
        <p:nvSpPr>
          <p:cNvPr id="7" name="Core Fiserv share"/>
          <p:cNvSpPr txBox="1"/>
          <p:nvPr/>
        </p:nvSpPr>
        <p:spPr>
          <a:xfrm>
            <a:off x="1577340" y="4343400"/>
            <a:ext cx="4389120" cy="1097280"/>
          </a:xfrm>
          <a:prstGeom prst="rect">
            <a:avLst/>
          </a:prstGeom>
          <a:noFill/>
        </p:spPr>
        <p:txBody>
          <a:bodyPr wrap="square" lIns="0" tIns="0" rIns="0" bIns="0" anchor="t">
            <a:spAutoFit/>
          </a:bodyPr>
          <a:lstStyle/>
          <a:p>
            <a:pPr algn="l">
              <a:spcAft>
                <a:spcPts val="600"/>
              </a:spcAft>
            </a:pPr>
            <a:r>
              <a:rPr sz="6000" b="1" i="0">
                <a:solidFill>
                  <a:srgbClr val="F2A33A"/>
                </a:solidFill>
                <a:latin typeface="Helvetica Neue"/>
                <a:ea typeface="Helvetica Neue"/>
                <a:cs typeface="Helvetica Neue"/>
              </a:rPr>
              <a:t>~42%</a:t>
            </a:r>
          </a:p>
        </p:txBody>
      </p:sp>
      <p:sp>
        <p:nvSpPr>
          <p:cNvPr id="8" name="Core Fiserv share label"/>
          <p:cNvSpPr txBox="1"/>
          <p:nvPr/>
        </p:nvSpPr>
        <p:spPr>
          <a:xfrm>
            <a:off x="1577340" y="5440680"/>
            <a:ext cx="4389120" cy="365760"/>
          </a:xfrm>
          <a:prstGeom prst="rect">
            <a:avLst/>
          </a:prstGeom>
          <a:noFill/>
        </p:spPr>
        <p:txBody>
          <a:bodyPr wrap="square" lIns="0" tIns="0" rIns="0" bIns="0" anchor="t">
            <a:spAutoFit/>
          </a:bodyPr>
          <a:lstStyle/>
          <a:p>
            <a:pPr algn="l">
              <a:spcAft>
                <a:spcPts val="600"/>
              </a:spcAft>
            </a:pPr>
            <a:r>
              <a:rPr sz="1500" b="0" i="0">
                <a:solidFill>
                  <a:srgbClr val="595959"/>
                </a:solidFill>
                <a:latin typeface="Helvetica Neue"/>
                <a:ea typeface="Helvetica Neue"/>
                <a:cs typeface="Helvetica Neue"/>
              </a:rPr>
              <a:t>of U.S. banks</a:t>
            </a:r>
          </a:p>
        </p:txBody>
      </p:sp>
      <p:sp>
        <p:nvSpPr>
          <p:cNvPr id="9" name="Core Fiserv body"/>
          <p:cNvSpPr txBox="1"/>
          <p:nvPr/>
        </p:nvSpPr>
        <p:spPr>
          <a:xfrm>
            <a:off x="1577340" y="5943600"/>
            <a:ext cx="4389120" cy="1737360"/>
          </a:xfrm>
          <a:prstGeom prst="rect">
            <a:avLst/>
          </a:prstGeom>
          <a:noFill/>
        </p:spPr>
        <p:txBody>
          <a:bodyPr wrap="square" lIns="0" tIns="0" rIns="0" bIns="0" anchor="t">
            <a:spAutoFit/>
          </a:bodyPr>
          <a:lstStyle/>
          <a:p>
            <a:pPr algn="l">
              <a:spcAft>
                <a:spcPts val="600"/>
              </a:spcAft>
            </a:pPr>
            <a:r>
              <a:rPr sz="2000" b="0" i="0">
                <a:solidFill>
                  <a:srgbClr val="000000"/>
                </a:solidFill>
                <a:latin typeface="Helvetica Neue"/>
                <a:ea typeface="Helvetica Neue"/>
                <a:cs typeface="Helvetica Neue"/>
              </a:rPr>
              <a:t>Largest by number of banks. Several core platforms, many from acquisitions.</a:t>
            </a:r>
          </a:p>
        </p:txBody>
      </p:sp>
      <p:sp>
        <p:nvSpPr>
          <p:cNvPr id="10" name="Core Jack Henry card"/>
          <p:cNvSpPr/>
          <p:nvPr/>
        </p:nvSpPr>
        <p:spPr>
          <a:xfrm>
            <a:off x="6629400" y="2697480"/>
            <a:ext cx="5029200" cy="51206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1" name="Core Jack Henry band"/>
          <p:cNvSpPr/>
          <p:nvPr/>
        </p:nvSpPr>
        <p:spPr>
          <a:xfrm>
            <a:off x="6903720" y="2926080"/>
            <a:ext cx="4480560" cy="109728"/>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2" name="Core Jack Henry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55580" y="3268980"/>
            <a:ext cx="777240" cy="777240"/>
          </a:xfrm>
          <a:prstGeom prst="rect">
            <a:avLst/>
          </a:prstGeom>
        </p:spPr>
      </p:pic>
      <p:sp>
        <p:nvSpPr>
          <p:cNvPr id="13" name="Core Jack Henry name"/>
          <p:cNvSpPr txBox="1"/>
          <p:nvPr/>
        </p:nvSpPr>
        <p:spPr>
          <a:xfrm>
            <a:off x="6949440" y="3246120"/>
            <a:ext cx="3566160" cy="731520"/>
          </a:xfrm>
          <a:prstGeom prst="rect">
            <a:avLst/>
          </a:prstGeom>
          <a:noFill/>
        </p:spPr>
        <p:txBody>
          <a:bodyPr wrap="square" lIns="0" tIns="0" rIns="0" bIns="0" anchor="t">
            <a:spAutoFit/>
          </a:bodyPr>
          <a:lstStyle/>
          <a:p>
            <a:pPr algn="l">
              <a:spcAft>
                <a:spcPts val="600"/>
              </a:spcAft>
            </a:pPr>
            <a:r>
              <a:rPr sz="3200" b="1" i="0">
                <a:solidFill>
                  <a:srgbClr val="000000"/>
                </a:solidFill>
                <a:latin typeface="Helvetica Neue"/>
                <a:ea typeface="Helvetica Neue"/>
                <a:cs typeface="Helvetica Neue"/>
              </a:rPr>
              <a:t>Jack Henry</a:t>
            </a:r>
          </a:p>
        </p:txBody>
      </p:sp>
      <p:sp>
        <p:nvSpPr>
          <p:cNvPr id="14" name="Core Jack Henry share"/>
          <p:cNvSpPr txBox="1"/>
          <p:nvPr/>
        </p:nvSpPr>
        <p:spPr>
          <a:xfrm>
            <a:off x="6949440" y="4343400"/>
            <a:ext cx="4389120" cy="1097280"/>
          </a:xfrm>
          <a:prstGeom prst="rect">
            <a:avLst/>
          </a:prstGeom>
          <a:noFill/>
        </p:spPr>
        <p:txBody>
          <a:bodyPr wrap="square" lIns="0" tIns="0" rIns="0" bIns="0" anchor="t">
            <a:spAutoFit/>
          </a:bodyPr>
          <a:lstStyle/>
          <a:p>
            <a:pPr algn="l">
              <a:spcAft>
                <a:spcPts val="600"/>
              </a:spcAft>
            </a:pPr>
            <a:r>
              <a:rPr sz="6000" b="1" i="0">
                <a:solidFill>
                  <a:srgbClr val="2F75B5"/>
                </a:solidFill>
                <a:latin typeface="Helvetica Neue"/>
                <a:ea typeface="Helvetica Neue"/>
                <a:cs typeface="Helvetica Neue"/>
              </a:rPr>
              <a:t>~21%</a:t>
            </a:r>
          </a:p>
        </p:txBody>
      </p:sp>
      <p:sp>
        <p:nvSpPr>
          <p:cNvPr id="15" name="Core Jack Henry share label"/>
          <p:cNvSpPr txBox="1"/>
          <p:nvPr/>
        </p:nvSpPr>
        <p:spPr>
          <a:xfrm>
            <a:off x="6949440" y="5440680"/>
            <a:ext cx="4389120" cy="365760"/>
          </a:xfrm>
          <a:prstGeom prst="rect">
            <a:avLst/>
          </a:prstGeom>
          <a:noFill/>
        </p:spPr>
        <p:txBody>
          <a:bodyPr wrap="square" lIns="0" tIns="0" rIns="0" bIns="0" anchor="t">
            <a:spAutoFit/>
          </a:bodyPr>
          <a:lstStyle/>
          <a:p>
            <a:pPr algn="l">
              <a:spcAft>
                <a:spcPts val="600"/>
              </a:spcAft>
            </a:pPr>
            <a:r>
              <a:rPr sz="1500" b="0" i="0">
                <a:solidFill>
                  <a:srgbClr val="595959"/>
                </a:solidFill>
                <a:latin typeface="Helvetica Neue"/>
                <a:ea typeface="Helvetica Neue"/>
                <a:cs typeface="Helvetica Neue"/>
              </a:rPr>
              <a:t>of U.S. banks</a:t>
            </a:r>
          </a:p>
        </p:txBody>
      </p:sp>
      <p:sp>
        <p:nvSpPr>
          <p:cNvPr id="16" name="Core Jack Henry body"/>
          <p:cNvSpPr txBox="1"/>
          <p:nvPr/>
        </p:nvSpPr>
        <p:spPr>
          <a:xfrm>
            <a:off x="6949440" y="5943600"/>
            <a:ext cx="4389120" cy="1737360"/>
          </a:xfrm>
          <a:prstGeom prst="rect">
            <a:avLst/>
          </a:prstGeom>
          <a:noFill/>
        </p:spPr>
        <p:txBody>
          <a:bodyPr wrap="square" lIns="0" tIns="0" rIns="0" bIns="0" anchor="t">
            <a:spAutoFit/>
          </a:bodyPr>
          <a:lstStyle/>
          <a:p>
            <a:pPr algn="l">
              <a:spcAft>
                <a:spcPts val="600"/>
              </a:spcAft>
            </a:pPr>
            <a:r>
              <a:rPr sz="2000" b="0" i="0">
                <a:solidFill>
                  <a:srgbClr val="000000"/>
                </a:solidFill>
                <a:latin typeface="Helvetica Neue"/>
                <a:ea typeface="Helvetica Neue"/>
                <a:cs typeface="Helvetica Neue"/>
              </a:rPr>
              <a:t>Focused on community banks and credit unions. Building a cloud-native core.</a:t>
            </a:r>
          </a:p>
        </p:txBody>
      </p:sp>
      <p:sp>
        <p:nvSpPr>
          <p:cNvPr id="17" name="Core FIS card"/>
          <p:cNvSpPr/>
          <p:nvPr/>
        </p:nvSpPr>
        <p:spPr>
          <a:xfrm>
            <a:off x="12001500" y="2697480"/>
            <a:ext cx="5029200" cy="51206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8" name="Core FIS band"/>
          <p:cNvSpPr/>
          <p:nvPr/>
        </p:nvSpPr>
        <p:spPr>
          <a:xfrm>
            <a:off x="12275820" y="2926080"/>
            <a:ext cx="4480560" cy="10972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9" name="Core FIS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727680" y="3268980"/>
            <a:ext cx="777240" cy="777240"/>
          </a:xfrm>
          <a:prstGeom prst="rect">
            <a:avLst/>
          </a:prstGeom>
        </p:spPr>
      </p:pic>
      <p:sp>
        <p:nvSpPr>
          <p:cNvPr id="20" name="Core FIS name"/>
          <p:cNvSpPr txBox="1"/>
          <p:nvPr/>
        </p:nvSpPr>
        <p:spPr>
          <a:xfrm>
            <a:off x="12321540" y="3246120"/>
            <a:ext cx="3566160" cy="731520"/>
          </a:xfrm>
          <a:prstGeom prst="rect">
            <a:avLst/>
          </a:prstGeom>
          <a:noFill/>
        </p:spPr>
        <p:txBody>
          <a:bodyPr wrap="square" lIns="0" tIns="0" rIns="0" bIns="0" anchor="t">
            <a:spAutoFit/>
          </a:bodyPr>
          <a:lstStyle/>
          <a:p>
            <a:pPr algn="l">
              <a:spcAft>
                <a:spcPts val="600"/>
              </a:spcAft>
            </a:pPr>
            <a:r>
              <a:rPr sz="3200" b="1" i="0">
                <a:solidFill>
                  <a:srgbClr val="000000"/>
                </a:solidFill>
                <a:latin typeface="Helvetica Neue"/>
                <a:ea typeface="Helvetica Neue"/>
                <a:cs typeface="Helvetica Neue"/>
              </a:rPr>
              <a:t>FIS</a:t>
            </a:r>
          </a:p>
        </p:txBody>
      </p:sp>
      <p:sp>
        <p:nvSpPr>
          <p:cNvPr id="21" name="Core FIS share"/>
          <p:cNvSpPr txBox="1"/>
          <p:nvPr/>
        </p:nvSpPr>
        <p:spPr>
          <a:xfrm>
            <a:off x="12321540" y="4343400"/>
            <a:ext cx="4389120" cy="1097280"/>
          </a:xfrm>
          <a:prstGeom prst="rect">
            <a:avLst/>
          </a:prstGeom>
          <a:noFill/>
        </p:spPr>
        <p:txBody>
          <a:bodyPr wrap="square" lIns="0" tIns="0" rIns="0" bIns="0" anchor="t">
            <a:spAutoFit/>
          </a:bodyPr>
          <a:lstStyle/>
          <a:p>
            <a:pPr algn="l">
              <a:spcAft>
                <a:spcPts val="600"/>
              </a:spcAft>
            </a:pPr>
            <a:r>
              <a:rPr sz="6000" b="1" i="0">
                <a:solidFill>
                  <a:srgbClr val="2E7D32"/>
                </a:solidFill>
                <a:latin typeface="Helvetica Neue"/>
                <a:ea typeface="Helvetica Neue"/>
                <a:cs typeface="Helvetica Neue"/>
              </a:rPr>
              <a:t>~9%</a:t>
            </a:r>
          </a:p>
        </p:txBody>
      </p:sp>
      <p:sp>
        <p:nvSpPr>
          <p:cNvPr id="22" name="Core FIS share label"/>
          <p:cNvSpPr txBox="1"/>
          <p:nvPr/>
        </p:nvSpPr>
        <p:spPr>
          <a:xfrm>
            <a:off x="12321540" y="5440680"/>
            <a:ext cx="4389120" cy="365760"/>
          </a:xfrm>
          <a:prstGeom prst="rect">
            <a:avLst/>
          </a:prstGeom>
          <a:noFill/>
        </p:spPr>
        <p:txBody>
          <a:bodyPr wrap="square" lIns="0" tIns="0" rIns="0" bIns="0" anchor="t">
            <a:spAutoFit/>
          </a:bodyPr>
          <a:lstStyle/>
          <a:p>
            <a:pPr algn="l">
              <a:spcAft>
                <a:spcPts val="600"/>
              </a:spcAft>
            </a:pPr>
            <a:r>
              <a:rPr sz="1500" b="0" i="0">
                <a:solidFill>
                  <a:srgbClr val="595959"/>
                </a:solidFill>
                <a:latin typeface="Helvetica Neue"/>
                <a:ea typeface="Helvetica Neue"/>
                <a:cs typeface="Helvetica Neue"/>
              </a:rPr>
              <a:t>of U.S. banks</a:t>
            </a:r>
          </a:p>
        </p:txBody>
      </p:sp>
      <p:sp>
        <p:nvSpPr>
          <p:cNvPr id="23" name="Core FIS body"/>
          <p:cNvSpPr txBox="1"/>
          <p:nvPr/>
        </p:nvSpPr>
        <p:spPr>
          <a:xfrm>
            <a:off x="12321540" y="5943600"/>
            <a:ext cx="4389120" cy="1737360"/>
          </a:xfrm>
          <a:prstGeom prst="rect">
            <a:avLst/>
          </a:prstGeom>
          <a:noFill/>
        </p:spPr>
        <p:txBody>
          <a:bodyPr wrap="square" lIns="0" tIns="0" rIns="0" bIns="0" anchor="t">
            <a:spAutoFit/>
          </a:bodyPr>
          <a:lstStyle/>
          <a:p>
            <a:pPr algn="l">
              <a:spcAft>
                <a:spcPts val="600"/>
              </a:spcAft>
            </a:pPr>
            <a:r>
              <a:rPr sz="2000" b="0" i="0">
                <a:solidFill>
                  <a:srgbClr val="000000"/>
                </a:solidFill>
                <a:latin typeface="Helvetica Neue"/>
                <a:ea typeface="Helvetica Neue"/>
                <a:cs typeface="Helvetica Neue"/>
              </a:rPr>
              <a:t>Stronger among larger banks. Also a major card and payments processor.</a:t>
            </a:r>
          </a:p>
        </p:txBody>
      </p:sp>
      <p:sp>
        <p:nvSpPr>
          <p:cNvPr id="24" name="Core banner"/>
          <p:cNvSpPr/>
          <p:nvPr/>
        </p:nvSpPr>
        <p:spPr>
          <a:xfrm>
            <a:off x="1257300" y="8183879"/>
            <a:ext cx="15773400" cy="100584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5" name="Core banner text"/>
          <p:cNvSpPr txBox="1"/>
          <p:nvPr/>
        </p:nvSpPr>
        <p:spPr>
          <a:xfrm>
            <a:off x="1554480" y="8229600"/>
            <a:ext cx="15179040" cy="914400"/>
          </a:xfrm>
          <a:prstGeom prst="rect">
            <a:avLst/>
          </a:prstGeom>
          <a:noFill/>
        </p:spPr>
        <p:txBody>
          <a:bodyPr wrap="square" lIns="0" tIns="0" rIns="0" bIns="0" anchor="ctr">
            <a:spAutoFit/>
          </a:bodyPr>
          <a:lstStyle/>
          <a:p>
            <a:pPr algn="ctr">
              <a:spcAft>
                <a:spcPts val="600"/>
              </a:spcAft>
            </a:pPr>
            <a:r>
              <a:rPr sz="2100" b="1" i="0">
                <a:solidFill>
                  <a:srgbClr val="000000"/>
                </a:solidFill>
                <a:latin typeface="Helvetica Neue"/>
                <a:ea typeface="Helvetica Neue"/>
                <a:cs typeface="Helvetica Neue"/>
              </a:rPr>
              <a:t>Together, the core provider for more than 70% of U.S. banks: concentration risk, in one slide.</a:t>
            </a:r>
          </a:p>
        </p:txBody>
      </p:sp>
      <p:sp>
        <p:nvSpPr>
          <p:cNvPr id="26"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Source: Federal Reserve Bank of Kansas City, "Market Structure of Core Banking Services Providers" (2022 data). Shares are approximate.</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How the Branch Talks to the Core: The Network Path of a Transaction</a:t>
            </a:r>
          </a:p>
        </p:txBody>
      </p:sp>
      <p:sp>
        <p:nvSpPr>
          <p:cNvPr id="3" name="Path 1"/>
          <p:cNvSpPr/>
          <p:nvPr/>
        </p:nvSpPr>
        <p:spPr>
          <a:xfrm>
            <a:off x="1257300" y="2834640"/>
            <a:ext cx="2743200" cy="23774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Path num 1"/>
          <p:cNvSpPr/>
          <p:nvPr/>
        </p:nvSpPr>
        <p:spPr>
          <a:xfrm>
            <a:off x="1394460" y="2971800"/>
            <a:ext cx="411480" cy="41148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1</a:t>
            </a:r>
          </a:p>
        </p:txBody>
      </p:sp>
      <p:pic>
        <p:nvPicPr>
          <p:cNvPr id="5" name="Path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17420" y="3200400"/>
            <a:ext cx="822960" cy="822960"/>
          </a:xfrm>
          <a:prstGeom prst="rect">
            <a:avLst/>
          </a:prstGeom>
        </p:spPr>
      </p:pic>
      <p:sp>
        <p:nvSpPr>
          <p:cNvPr id="6" name="Path 1 text"/>
          <p:cNvSpPr txBox="1"/>
          <p:nvPr/>
        </p:nvSpPr>
        <p:spPr>
          <a:xfrm>
            <a:off x="1394460" y="4160520"/>
            <a:ext cx="2468880" cy="1005840"/>
          </a:xfrm>
          <a:prstGeom prst="rect">
            <a:avLst/>
          </a:prstGeom>
          <a:noFill/>
        </p:spPr>
        <p:txBody>
          <a:bodyPr wrap="square" lIns="0" tIns="0" rIns="0" bIns="0" anchor="t">
            <a:spAutoFit/>
          </a:bodyPr>
          <a:lstStyle/>
          <a:p>
            <a:pPr algn="ctr">
              <a:spcAft>
                <a:spcPts val="200"/>
              </a:spcAft>
            </a:pPr>
            <a:r>
              <a:rPr sz="2000" b="1" i="0">
                <a:solidFill>
                  <a:srgbClr val="000000"/>
                </a:solidFill>
                <a:latin typeface="Helvetica Neue"/>
                <a:ea typeface="Helvetica Neue"/>
                <a:cs typeface="Helvetica Neue"/>
              </a:rPr>
              <a:t>Teller PC</a:t>
            </a:r>
          </a:p>
          <a:p>
            <a:pPr algn="ctr">
              <a:spcAft>
                <a:spcPts val="200"/>
              </a:spcAft>
            </a:pPr>
            <a:r>
              <a:rPr sz="1500" b="0" i="0">
                <a:solidFill>
                  <a:srgbClr val="404040"/>
                </a:solidFill>
                <a:latin typeface="Helvetica Neue"/>
                <a:ea typeface="Helvetica Neue"/>
                <a:cs typeface="Helvetica Neue"/>
              </a:rPr>
              <a:t>Deposit entered</a:t>
            </a:r>
          </a:p>
        </p:txBody>
      </p:sp>
      <p:cxnSp>
        <p:nvCxnSpPr>
          <p:cNvPr id="7" name="Path arrow 1"/>
          <p:cNvCxnSpPr/>
          <p:nvPr/>
        </p:nvCxnSpPr>
        <p:spPr>
          <a:xfrm>
            <a:off x="4046220" y="4023360"/>
            <a:ext cx="422910" cy="0"/>
          </a:xfrm>
          <a:prstGeom prst="line">
            <a:avLst/>
          </a:prstGeom>
          <a:ln w="3810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Path 2"/>
          <p:cNvSpPr/>
          <p:nvPr/>
        </p:nvSpPr>
        <p:spPr>
          <a:xfrm>
            <a:off x="4514850" y="2834640"/>
            <a:ext cx="2743200" cy="23774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9" name="Path num 2"/>
          <p:cNvSpPr/>
          <p:nvPr/>
        </p:nvSpPr>
        <p:spPr>
          <a:xfrm>
            <a:off x="4652010" y="2971800"/>
            <a:ext cx="411480" cy="41148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2</a:t>
            </a:r>
          </a:p>
        </p:txBody>
      </p:sp>
      <p:pic>
        <p:nvPicPr>
          <p:cNvPr id="10" name="Path 2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4970" y="3200400"/>
            <a:ext cx="822960" cy="822960"/>
          </a:xfrm>
          <a:prstGeom prst="rect">
            <a:avLst/>
          </a:prstGeom>
        </p:spPr>
      </p:pic>
      <p:sp>
        <p:nvSpPr>
          <p:cNvPr id="11" name="Path 2 text"/>
          <p:cNvSpPr txBox="1"/>
          <p:nvPr/>
        </p:nvSpPr>
        <p:spPr>
          <a:xfrm>
            <a:off x="4652010" y="4160520"/>
            <a:ext cx="2468880" cy="1005840"/>
          </a:xfrm>
          <a:prstGeom prst="rect">
            <a:avLst/>
          </a:prstGeom>
          <a:noFill/>
        </p:spPr>
        <p:txBody>
          <a:bodyPr wrap="square" lIns="0" tIns="0" rIns="0" bIns="0" anchor="t">
            <a:spAutoFit/>
          </a:bodyPr>
          <a:lstStyle/>
          <a:p>
            <a:pPr algn="ctr">
              <a:spcAft>
                <a:spcPts val="200"/>
              </a:spcAft>
            </a:pPr>
            <a:r>
              <a:rPr sz="2000" b="1" i="0">
                <a:solidFill>
                  <a:srgbClr val="000000"/>
                </a:solidFill>
                <a:latin typeface="Helvetica Neue"/>
                <a:ea typeface="Helvetica Neue"/>
                <a:cs typeface="Helvetica Neue"/>
              </a:rPr>
              <a:t>Branch router</a:t>
            </a:r>
          </a:p>
          <a:p>
            <a:pPr algn="ctr">
              <a:spcAft>
                <a:spcPts val="200"/>
              </a:spcAft>
            </a:pPr>
            <a:r>
              <a:rPr sz="1500" b="0" i="0">
                <a:solidFill>
                  <a:srgbClr val="404040"/>
                </a:solidFill>
                <a:latin typeface="Helvetica Neue"/>
                <a:ea typeface="Helvetica Neue"/>
                <a:cs typeface="Helvetica Neue"/>
              </a:rPr>
              <a:t>Leaves the LAN</a:t>
            </a:r>
          </a:p>
        </p:txBody>
      </p:sp>
      <p:cxnSp>
        <p:nvCxnSpPr>
          <p:cNvPr id="12" name="Path arrow 2"/>
          <p:cNvCxnSpPr/>
          <p:nvPr/>
        </p:nvCxnSpPr>
        <p:spPr>
          <a:xfrm>
            <a:off x="7303770" y="4023360"/>
            <a:ext cx="422909" cy="0"/>
          </a:xfrm>
          <a:prstGeom prst="line">
            <a:avLst/>
          </a:prstGeom>
          <a:ln w="3810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Path 3"/>
          <p:cNvSpPr/>
          <p:nvPr/>
        </p:nvSpPr>
        <p:spPr>
          <a:xfrm>
            <a:off x="7772400" y="2834640"/>
            <a:ext cx="2743200" cy="23774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4" name="Path num 3"/>
          <p:cNvSpPr/>
          <p:nvPr/>
        </p:nvSpPr>
        <p:spPr>
          <a:xfrm>
            <a:off x="7909560" y="2971800"/>
            <a:ext cx="411480" cy="41148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3</a:t>
            </a:r>
          </a:p>
        </p:txBody>
      </p:sp>
      <p:pic>
        <p:nvPicPr>
          <p:cNvPr id="15" name="Path 3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32520" y="3200400"/>
            <a:ext cx="822960" cy="822960"/>
          </a:xfrm>
          <a:prstGeom prst="rect">
            <a:avLst/>
          </a:prstGeom>
        </p:spPr>
      </p:pic>
      <p:sp>
        <p:nvSpPr>
          <p:cNvPr id="16" name="Path 3 text"/>
          <p:cNvSpPr txBox="1"/>
          <p:nvPr/>
        </p:nvSpPr>
        <p:spPr>
          <a:xfrm>
            <a:off x="7909560" y="4160520"/>
            <a:ext cx="2468880" cy="1005840"/>
          </a:xfrm>
          <a:prstGeom prst="rect">
            <a:avLst/>
          </a:prstGeom>
          <a:noFill/>
        </p:spPr>
        <p:txBody>
          <a:bodyPr wrap="square" lIns="0" tIns="0" rIns="0" bIns="0" anchor="t">
            <a:spAutoFit/>
          </a:bodyPr>
          <a:lstStyle/>
          <a:p>
            <a:pPr algn="ctr">
              <a:spcAft>
                <a:spcPts val="200"/>
              </a:spcAft>
            </a:pPr>
            <a:r>
              <a:rPr sz="2000" b="1" i="0">
                <a:solidFill>
                  <a:srgbClr val="000000"/>
                </a:solidFill>
                <a:latin typeface="Helvetica Neue"/>
                <a:ea typeface="Helvetica Neue"/>
                <a:cs typeface="Helvetica Neue"/>
              </a:rPr>
              <a:t>WAN</a:t>
            </a:r>
          </a:p>
          <a:p>
            <a:pPr algn="ctr">
              <a:spcAft>
                <a:spcPts val="200"/>
              </a:spcAft>
            </a:pPr>
            <a:r>
              <a:rPr sz="1500" b="0" i="0">
                <a:solidFill>
                  <a:srgbClr val="404040"/>
                </a:solidFill>
                <a:latin typeface="Helvetica Neue"/>
                <a:ea typeface="Helvetica Neue"/>
                <a:cs typeface="Helvetica Neue"/>
              </a:rPr>
              <a:t>MPLS, SD-WAN or VPN</a:t>
            </a:r>
          </a:p>
        </p:txBody>
      </p:sp>
      <p:cxnSp>
        <p:nvCxnSpPr>
          <p:cNvPr id="17" name="Path arrow 3"/>
          <p:cNvCxnSpPr/>
          <p:nvPr/>
        </p:nvCxnSpPr>
        <p:spPr>
          <a:xfrm>
            <a:off x="10561320" y="4023360"/>
            <a:ext cx="422910" cy="0"/>
          </a:xfrm>
          <a:prstGeom prst="line">
            <a:avLst/>
          </a:prstGeom>
          <a:ln w="3810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Path 4"/>
          <p:cNvSpPr/>
          <p:nvPr/>
        </p:nvSpPr>
        <p:spPr>
          <a:xfrm>
            <a:off x="11029950" y="2834640"/>
            <a:ext cx="2743200" cy="23774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9" name="Path num 4"/>
          <p:cNvSpPr/>
          <p:nvPr/>
        </p:nvSpPr>
        <p:spPr>
          <a:xfrm>
            <a:off x="11167110" y="2971800"/>
            <a:ext cx="411480" cy="41148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4</a:t>
            </a:r>
          </a:p>
        </p:txBody>
      </p:sp>
      <p:pic>
        <p:nvPicPr>
          <p:cNvPr id="20" name="Path 4 icon"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990070" y="3200400"/>
            <a:ext cx="822960" cy="822960"/>
          </a:xfrm>
          <a:prstGeom prst="rect">
            <a:avLst/>
          </a:prstGeom>
        </p:spPr>
      </p:pic>
      <p:sp>
        <p:nvSpPr>
          <p:cNvPr id="21" name="Path 4 text"/>
          <p:cNvSpPr txBox="1"/>
          <p:nvPr/>
        </p:nvSpPr>
        <p:spPr>
          <a:xfrm>
            <a:off x="11167110" y="4160520"/>
            <a:ext cx="2468880" cy="1005840"/>
          </a:xfrm>
          <a:prstGeom prst="rect">
            <a:avLst/>
          </a:prstGeom>
          <a:noFill/>
        </p:spPr>
        <p:txBody>
          <a:bodyPr wrap="square" lIns="0" tIns="0" rIns="0" bIns="0" anchor="t">
            <a:spAutoFit/>
          </a:bodyPr>
          <a:lstStyle/>
          <a:p>
            <a:pPr algn="ctr">
              <a:spcAft>
                <a:spcPts val="200"/>
              </a:spcAft>
            </a:pPr>
            <a:r>
              <a:rPr sz="2000" b="1" i="0">
                <a:solidFill>
                  <a:srgbClr val="000000"/>
                </a:solidFill>
                <a:latin typeface="Helvetica Neue"/>
                <a:ea typeface="Helvetica Neue"/>
                <a:cs typeface="Helvetica Neue"/>
              </a:rPr>
              <a:t>Processor</a:t>
            </a:r>
          </a:p>
          <a:p>
            <a:pPr algn="ctr">
              <a:spcAft>
                <a:spcPts val="200"/>
              </a:spcAft>
            </a:pPr>
            <a:r>
              <a:rPr sz="1500" b="0" i="0">
                <a:solidFill>
                  <a:srgbClr val="404040"/>
                </a:solidFill>
                <a:latin typeface="Helvetica Neue"/>
                <a:ea typeface="Helvetica Neue"/>
                <a:cs typeface="Helvetica Neue"/>
              </a:rPr>
              <a:t>Data center</a:t>
            </a:r>
          </a:p>
        </p:txBody>
      </p:sp>
      <p:cxnSp>
        <p:nvCxnSpPr>
          <p:cNvPr id="22" name="Path arrow 4"/>
          <p:cNvCxnSpPr/>
          <p:nvPr/>
        </p:nvCxnSpPr>
        <p:spPr>
          <a:xfrm>
            <a:off x="13818870" y="4023360"/>
            <a:ext cx="422910" cy="0"/>
          </a:xfrm>
          <a:prstGeom prst="line">
            <a:avLst/>
          </a:prstGeom>
          <a:ln w="3810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Path 5"/>
          <p:cNvSpPr/>
          <p:nvPr/>
        </p:nvSpPr>
        <p:spPr>
          <a:xfrm>
            <a:off x="14287500" y="2834640"/>
            <a:ext cx="2743200" cy="2377440"/>
          </a:xfrm>
          <a:prstGeom prst="roundRect">
            <a:avLst/>
          </a:prstGeom>
          <a:solidFill>
            <a:srgbClr val="EEF2F8"/>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4" name="Path num 5"/>
          <p:cNvSpPr/>
          <p:nvPr/>
        </p:nvSpPr>
        <p:spPr>
          <a:xfrm>
            <a:off x="14424660" y="2971800"/>
            <a:ext cx="411480" cy="41148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5</a:t>
            </a:r>
          </a:p>
        </p:txBody>
      </p:sp>
      <p:pic>
        <p:nvPicPr>
          <p:cNvPr id="25" name="Path 5 icon"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247620" y="3200400"/>
            <a:ext cx="822960" cy="822960"/>
          </a:xfrm>
          <a:prstGeom prst="rect">
            <a:avLst/>
          </a:prstGeom>
        </p:spPr>
      </p:pic>
      <p:sp>
        <p:nvSpPr>
          <p:cNvPr id="26" name="Path 5 text"/>
          <p:cNvSpPr txBox="1"/>
          <p:nvPr/>
        </p:nvSpPr>
        <p:spPr>
          <a:xfrm>
            <a:off x="14424660" y="4160520"/>
            <a:ext cx="2468880" cy="1005840"/>
          </a:xfrm>
          <a:prstGeom prst="rect">
            <a:avLst/>
          </a:prstGeom>
          <a:noFill/>
        </p:spPr>
        <p:txBody>
          <a:bodyPr wrap="square" lIns="0" tIns="0" rIns="0" bIns="0" anchor="t">
            <a:spAutoFit/>
          </a:bodyPr>
          <a:lstStyle/>
          <a:p>
            <a:pPr algn="ctr">
              <a:spcAft>
                <a:spcPts val="200"/>
              </a:spcAft>
            </a:pPr>
            <a:r>
              <a:rPr sz="2000" b="1" i="0">
                <a:solidFill>
                  <a:srgbClr val="000000"/>
                </a:solidFill>
                <a:latin typeface="Helvetica Neue"/>
                <a:ea typeface="Helvetica Neue"/>
                <a:cs typeface="Helvetica Neue"/>
              </a:rPr>
              <a:t>Core</a:t>
            </a:r>
          </a:p>
          <a:p>
            <a:pPr algn="ctr">
              <a:spcAft>
                <a:spcPts val="200"/>
              </a:spcAft>
            </a:pPr>
            <a:r>
              <a:rPr sz="1500" b="0" i="0">
                <a:solidFill>
                  <a:srgbClr val="404040"/>
                </a:solidFill>
                <a:latin typeface="Helvetica Neue"/>
                <a:ea typeface="Helvetica Neue"/>
                <a:cs typeface="Helvetica Neue"/>
              </a:rPr>
              <a:t>Posts and replies</a:t>
            </a:r>
          </a:p>
        </p:txBody>
      </p:sp>
      <p:sp>
        <p:nvSpPr>
          <p:cNvPr id="27" name="Round trip"/>
          <p:cNvSpPr txBox="1"/>
          <p:nvPr/>
        </p:nvSpPr>
        <p:spPr>
          <a:xfrm>
            <a:off x="1257300" y="5440680"/>
            <a:ext cx="15773400" cy="548640"/>
          </a:xfrm>
          <a:prstGeom prst="rect">
            <a:avLst/>
          </a:prstGeom>
          <a:noFill/>
        </p:spPr>
        <p:txBody>
          <a:bodyPr wrap="square" lIns="0" tIns="0" rIns="0" bIns="0" anchor="t">
            <a:spAutoFit/>
          </a:bodyPr>
          <a:lstStyle/>
          <a:p>
            <a:pPr algn="ctr">
              <a:spcAft>
                <a:spcPts val="600"/>
              </a:spcAft>
            </a:pPr>
            <a:r>
              <a:rPr sz="2200" b="1" i="0">
                <a:solidFill>
                  <a:srgbClr val="ED7D31"/>
                </a:solidFill>
                <a:latin typeface="Helvetica Neue"/>
                <a:ea typeface="Helvetica Neue"/>
                <a:cs typeface="Helvetica Neue"/>
              </a:rPr>
              <a:t>Round trip: well under a second, hundreds of times a day per branch.</a:t>
            </a:r>
          </a:p>
        </p:txBody>
      </p:sp>
      <p:sp>
        <p:nvSpPr>
          <p:cNvPr id="28" name="Breaks heading"/>
          <p:cNvSpPr txBox="1"/>
          <p:nvPr/>
        </p:nvSpPr>
        <p:spPr>
          <a:xfrm>
            <a:off x="1257300" y="6172200"/>
            <a:ext cx="15773400" cy="45720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What breaks it</a:t>
            </a:r>
          </a:p>
        </p:txBody>
      </p:sp>
      <p:sp>
        <p:nvSpPr>
          <p:cNvPr id="29" name="Break 1"/>
          <p:cNvSpPr/>
          <p:nvPr/>
        </p:nvSpPr>
        <p:spPr>
          <a:xfrm>
            <a:off x="1257300" y="6720840"/>
            <a:ext cx="3703320" cy="20574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0" name="Break 1 text"/>
          <p:cNvSpPr txBox="1"/>
          <p:nvPr/>
        </p:nvSpPr>
        <p:spPr>
          <a:xfrm>
            <a:off x="1513332" y="6922007"/>
            <a:ext cx="3191256" cy="169164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Branch circuit</a:t>
            </a:r>
          </a:p>
          <a:p>
            <a:pPr algn="l">
              <a:spcAft>
                <a:spcPts val="700"/>
              </a:spcAft>
            </a:pPr>
            <a:r>
              <a:rPr sz="1700" b="0" i="0">
                <a:solidFill>
                  <a:srgbClr val="000000"/>
                </a:solidFill>
                <a:latin typeface="Helvetica Neue"/>
                <a:ea typeface="Helvetica Neue"/>
                <a:cs typeface="Helvetica Neue"/>
              </a:rPr>
              <a:t>No backup path means no transactions</a:t>
            </a:r>
          </a:p>
        </p:txBody>
      </p:sp>
      <p:sp>
        <p:nvSpPr>
          <p:cNvPr id="31" name="Break 2"/>
          <p:cNvSpPr/>
          <p:nvPr/>
        </p:nvSpPr>
        <p:spPr>
          <a:xfrm>
            <a:off x="5280659" y="6720840"/>
            <a:ext cx="3703320" cy="20574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2" name="Break 2 text"/>
          <p:cNvSpPr txBox="1"/>
          <p:nvPr/>
        </p:nvSpPr>
        <p:spPr>
          <a:xfrm>
            <a:off x="5536692" y="6922007"/>
            <a:ext cx="3191256" cy="169164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Tunnel or circuit to the processor</a:t>
            </a:r>
          </a:p>
          <a:p>
            <a:pPr algn="l">
              <a:spcAft>
                <a:spcPts val="700"/>
              </a:spcAft>
            </a:pPr>
            <a:r>
              <a:rPr sz="1700" b="0" i="0">
                <a:solidFill>
                  <a:srgbClr val="000000"/>
                </a:solidFill>
                <a:latin typeface="Helvetica Neue"/>
                <a:ea typeface="Helvetica Neue"/>
                <a:cs typeface="Helvetica Neue"/>
              </a:rPr>
              <a:t>Down at the bank end or the processor end</a:t>
            </a:r>
          </a:p>
        </p:txBody>
      </p:sp>
      <p:sp>
        <p:nvSpPr>
          <p:cNvPr id="33" name="Break 3"/>
          <p:cNvSpPr/>
          <p:nvPr/>
        </p:nvSpPr>
        <p:spPr>
          <a:xfrm>
            <a:off x="9304019" y="6720840"/>
            <a:ext cx="3703320" cy="20574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4" name="Break 3 text"/>
          <p:cNvSpPr txBox="1"/>
          <p:nvPr/>
        </p:nvSpPr>
        <p:spPr>
          <a:xfrm>
            <a:off x="9560051" y="6922007"/>
            <a:ext cx="3191256" cy="169164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Processor outage</a:t>
            </a:r>
          </a:p>
          <a:p>
            <a:pPr algn="l">
              <a:spcAft>
                <a:spcPts val="700"/>
              </a:spcAft>
            </a:pPr>
            <a:r>
              <a:rPr sz="1700" b="0" i="0">
                <a:solidFill>
                  <a:srgbClr val="000000"/>
                </a:solidFill>
                <a:latin typeface="Helvetica Neue"/>
                <a:ea typeface="Helvetica Neue"/>
                <a:cs typeface="Helvetica Neue"/>
              </a:rPr>
              <a:t>Hundreds of banks at once</a:t>
            </a:r>
          </a:p>
        </p:txBody>
      </p:sp>
      <p:sp>
        <p:nvSpPr>
          <p:cNvPr id="35" name="Break 4"/>
          <p:cNvSpPr/>
          <p:nvPr/>
        </p:nvSpPr>
        <p:spPr>
          <a:xfrm>
            <a:off x="13327380" y="6720840"/>
            <a:ext cx="3703320" cy="20574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6" name="Break 4 text"/>
          <p:cNvSpPr txBox="1"/>
          <p:nvPr/>
        </p:nvSpPr>
        <p:spPr>
          <a:xfrm>
            <a:off x="13583411" y="6922007"/>
            <a:ext cx="3191256" cy="169164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The quiet ones</a:t>
            </a:r>
          </a:p>
          <a:p>
            <a:pPr algn="l">
              <a:spcAft>
                <a:spcPts val="700"/>
              </a:spcAft>
            </a:pPr>
            <a:r>
              <a:rPr sz="1700" b="0" i="0">
                <a:solidFill>
                  <a:srgbClr val="000000"/>
                </a:solidFill>
                <a:latin typeface="Helvetica Neue"/>
                <a:ea typeface="Helvetica Neue"/>
                <a:cs typeface="Helvetica Neue"/>
              </a:rPr>
              <a:t>An expired certificate, a DNS error, a bad firewall change</a:t>
            </a:r>
          </a:p>
        </p:txBody>
      </p:sp>
      <p:sp>
        <p:nvSpPr>
          <p:cNvPr id="37" name="Offline banner"/>
          <p:cNvSpPr/>
          <p:nvPr/>
        </p:nvSpPr>
        <p:spPr>
          <a:xfrm>
            <a:off x="1257300" y="8915400"/>
            <a:ext cx="15773400" cy="54864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8" name="Offline banner text"/>
          <p:cNvSpPr txBox="1"/>
          <p:nvPr/>
        </p:nvSpPr>
        <p:spPr>
          <a:xfrm>
            <a:off x="1554480" y="8961120"/>
            <a:ext cx="15179040" cy="457200"/>
          </a:xfrm>
          <a:prstGeom prst="rect">
            <a:avLst/>
          </a:prstGeom>
          <a:noFill/>
        </p:spPr>
        <p:txBody>
          <a:bodyPr wrap="square" lIns="0" tIns="0" rIns="0" bIns="0" anchor="ctr">
            <a:spAutoFit/>
          </a:bodyPr>
          <a:lstStyle/>
          <a:p>
            <a:pPr algn="ctr">
              <a:spcAft>
                <a:spcPts val="600"/>
              </a:spcAft>
            </a:pPr>
            <a:r>
              <a:rPr sz="1800" b="1" i="0">
                <a:solidFill>
                  <a:srgbClr val="000000"/>
                </a:solidFill>
                <a:latin typeface="Helvetica Neue"/>
                <a:ea typeface="Helvetica Neue"/>
                <a:cs typeface="Helvetica Neue"/>
              </a:rPr>
              <a:t>Ask: does the teller system have an offline mode, and when was it last used?</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From Service Bureau to Cloud: How Core Delivery Has Changed</a:t>
            </a:r>
          </a:p>
        </p:txBody>
      </p:sp>
      <p:cxnSp>
        <p:nvCxnSpPr>
          <p:cNvPr id="3" name="Era line"/>
          <p:cNvCxnSpPr/>
          <p:nvPr/>
        </p:nvCxnSpPr>
        <p:spPr>
          <a:xfrm>
            <a:off x="1257300" y="3291840"/>
            <a:ext cx="15773400" cy="0"/>
          </a:xfrm>
          <a:prstGeom prst="line">
            <a:avLst/>
          </a:prstGeom>
          <a:ln w="38100">
            <a:solidFill>
              <a:srgbClr val="7F7F7F"/>
            </a:solidFill>
          </a:ln>
        </p:spPr>
        <p:style>
          <a:lnRef idx="2">
            <a:schemeClr val="accent1"/>
          </a:lnRef>
          <a:fillRef idx="0">
            <a:schemeClr val="accent1"/>
          </a:fillRef>
          <a:effectRef idx="1">
            <a:schemeClr val="accent1"/>
          </a:effectRef>
          <a:fontRef idx="minor">
            <a:schemeClr val="tx1"/>
          </a:fontRef>
        </p:style>
      </p:cxnSp>
      <p:sp>
        <p:nvSpPr>
          <p:cNvPr id="4" name="Era 1 disc"/>
          <p:cNvSpPr/>
          <p:nvPr/>
        </p:nvSpPr>
        <p:spPr>
          <a:xfrm>
            <a:off x="2560320" y="2743200"/>
            <a:ext cx="1097280" cy="1097280"/>
          </a:xfrm>
          <a:prstGeom prst="ellipse">
            <a:avLst/>
          </a:prstGeom>
          <a:solidFill>
            <a:srgbClr val="FFFFFF"/>
          </a:solidFill>
          <a:ln w="3175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5" name="Era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66060" y="2948940"/>
            <a:ext cx="685800" cy="685800"/>
          </a:xfrm>
          <a:prstGeom prst="rect">
            <a:avLst/>
          </a:prstGeom>
        </p:spPr>
      </p:pic>
      <p:sp>
        <p:nvSpPr>
          <p:cNvPr id="6" name="Era 1 head"/>
          <p:cNvSpPr txBox="1"/>
          <p:nvPr/>
        </p:nvSpPr>
        <p:spPr>
          <a:xfrm>
            <a:off x="1257300" y="3977639"/>
            <a:ext cx="3703320" cy="457200"/>
          </a:xfrm>
          <a:prstGeom prst="rect">
            <a:avLst/>
          </a:prstGeom>
          <a:noFill/>
        </p:spPr>
        <p:txBody>
          <a:bodyPr wrap="square" lIns="0" tIns="0" rIns="0" bIns="0" anchor="t">
            <a:spAutoFit/>
          </a:bodyPr>
          <a:lstStyle/>
          <a:p>
            <a:pPr algn="ctr">
              <a:spcAft>
                <a:spcPts val="600"/>
              </a:spcAft>
            </a:pPr>
            <a:r>
              <a:rPr sz="2300" b="1" i="0">
                <a:solidFill>
                  <a:srgbClr val="000000"/>
                </a:solidFill>
                <a:latin typeface="Helvetica Neue"/>
                <a:ea typeface="Helvetica Neue"/>
                <a:cs typeface="Helvetica Neue"/>
              </a:rPr>
              <a:t>In-house</a:t>
            </a:r>
          </a:p>
        </p:txBody>
      </p:sp>
      <p:sp>
        <p:nvSpPr>
          <p:cNvPr id="7" name="Era 1 box"/>
          <p:cNvSpPr/>
          <p:nvPr/>
        </p:nvSpPr>
        <p:spPr>
          <a:xfrm>
            <a:off x="1257300" y="4572000"/>
            <a:ext cx="3703320" cy="27432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8" name="Era 1 body"/>
          <p:cNvSpPr txBox="1"/>
          <p:nvPr/>
        </p:nvSpPr>
        <p:spPr>
          <a:xfrm>
            <a:off x="1485900" y="4754880"/>
            <a:ext cx="3246120" cy="1280160"/>
          </a:xfrm>
          <a:prstGeom prst="rect">
            <a:avLst/>
          </a:prstGeom>
          <a:noFill/>
        </p:spPr>
        <p:txBody>
          <a:bodyPr wrap="square" lIns="0" tIns="0" rIns="0" bIns="0" anchor="t">
            <a:spAutoFit/>
          </a:bodyPr>
          <a:lstStyle/>
          <a:p>
            <a:pPr algn="l">
              <a:spcAft>
                <a:spcPts val="600"/>
              </a:spcAft>
            </a:pPr>
            <a:r>
              <a:rPr sz="2000" b="0" i="0">
                <a:solidFill>
                  <a:srgbClr val="000000"/>
                </a:solidFill>
                <a:latin typeface="Helvetica Neue"/>
                <a:ea typeface="Helvetica Neue"/>
                <a:cs typeface="Helvetica Neue"/>
              </a:rPr>
              <a:t>Bank's own hardware and staff</a:t>
            </a:r>
          </a:p>
        </p:txBody>
      </p:sp>
      <p:sp>
        <p:nvSpPr>
          <p:cNvPr id="9" name="Era 1 conn"/>
          <p:cNvSpPr/>
          <p:nvPr/>
        </p:nvSpPr>
        <p:spPr>
          <a:xfrm>
            <a:off x="1485900" y="6172200"/>
            <a:ext cx="3246120" cy="9144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0" name="Era 1 conn text"/>
          <p:cNvSpPr txBox="1"/>
          <p:nvPr/>
        </p:nvSpPr>
        <p:spPr>
          <a:xfrm>
            <a:off x="1577340" y="6172200"/>
            <a:ext cx="3063239" cy="914400"/>
          </a:xfrm>
          <a:prstGeom prst="rect">
            <a:avLst/>
          </a:prstGeom>
          <a:noFill/>
        </p:spPr>
        <p:txBody>
          <a:bodyPr wrap="square" lIns="0" tIns="0" rIns="0" bIns="0" anchor="ctr">
            <a:spAutoFit/>
          </a:bodyPr>
          <a:lstStyle/>
          <a:p>
            <a:pPr algn="l">
              <a:spcAft>
                <a:spcPts val="0"/>
              </a:spcAft>
            </a:pPr>
            <a:r>
              <a:rPr sz="1300" b="1" i="0">
                <a:solidFill>
                  <a:srgbClr val="2F75B5"/>
                </a:solidFill>
                <a:latin typeface="Helvetica Neue"/>
                <a:ea typeface="Helvetica Neue"/>
                <a:cs typeface="Helvetica Neue"/>
              </a:rPr>
              <a:t>Connects by</a:t>
            </a:r>
          </a:p>
          <a:p>
            <a:pPr algn="l">
              <a:spcAft>
                <a:spcPts val="0"/>
              </a:spcAft>
            </a:pPr>
            <a:r>
              <a:rPr sz="1600" b="0" i="0">
                <a:solidFill>
                  <a:srgbClr val="000000"/>
                </a:solidFill>
                <a:latin typeface="Helvetica Neue"/>
                <a:ea typeface="Helvetica Neue"/>
                <a:cs typeface="Helvetica Neue"/>
              </a:rPr>
              <a:t>Inside the bank's LAN</a:t>
            </a:r>
          </a:p>
        </p:txBody>
      </p:sp>
      <p:sp>
        <p:nvSpPr>
          <p:cNvPr id="11" name="Era 2 disc"/>
          <p:cNvSpPr/>
          <p:nvPr/>
        </p:nvSpPr>
        <p:spPr>
          <a:xfrm>
            <a:off x="6583679" y="2743200"/>
            <a:ext cx="1097280" cy="1097280"/>
          </a:xfrm>
          <a:prstGeom prst="ellipse">
            <a:avLst/>
          </a:prstGeom>
          <a:solidFill>
            <a:srgbClr val="FFFFFF"/>
          </a:solidFill>
          <a:ln w="3175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2" name="Era 2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89419" y="2948940"/>
            <a:ext cx="685800" cy="685800"/>
          </a:xfrm>
          <a:prstGeom prst="rect">
            <a:avLst/>
          </a:prstGeom>
        </p:spPr>
      </p:pic>
      <p:sp>
        <p:nvSpPr>
          <p:cNvPr id="13" name="Era 2 head"/>
          <p:cNvSpPr txBox="1"/>
          <p:nvPr/>
        </p:nvSpPr>
        <p:spPr>
          <a:xfrm>
            <a:off x="5280659" y="3977639"/>
            <a:ext cx="3703320" cy="457200"/>
          </a:xfrm>
          <a:prstGeom prst="rect">
            <a:avLst/>
          </a:prstGeom>
          <a:noFill/>
        </p:spPr>
        <p:txBody>
          <a:bodyPr wrap="square" lIns="0" tIns="0" rIns="0" bIns="0" anchor="t">
            <a:spAutoFit/>
          </a:bodyPr>
          <a:lstStyle/>
          <a:p>
            <a:pPr algn="ctr">
              <a:spcAft>
                <a:spcPts val="600"/>
              </a:spcAft>
            </a:pPr>
            <a:r>
              <a:rPr sz="2300" b="1" i="0">
                <a:solidFill>
                  <a:srgbClr val="000000"/>
                </a:solidFill>
                <a:latin typeface="Helvetica Neue"/>
                <a:ea typeface="Helvetica Neue"/>
                <a:cs typeface="Helvetica Neue"/>
              </a:rPr>
              <a:t>Service bureau</a:t>
            </a:r>
          </a:p>
        </p:txBody>
      </p:sp>
      <p:sp>
        <p:nvSpPr>
          <p:cNvPr id="14" name="Era 2 box"/>
          <p:cNvSpPr/>
          <p:nvPr/>
        </p:nvSpPr>
        <p:spPr>
          <a:xfrm>
            <a:off x="5280659" y="4572000"/>
            <a:ext cx="3703320" cy="27432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5" name="Era 2 body"/>
          <p:cNvSpPr txBox="1"/>
          <p:nvPr/>
        </p:nvSpPr>
        <p:spPr>
          <a:xfrm>
            <a:off x="5509259" y="4754880"/>
            <a:ext cx="3246120" cy="1280160"/>
          </a:xfrm>
          <a:prstGeom prst="rect">
            <a:avLst/>
          </a:prstGeom>
          <a:noFill/>
        </p:spPr>
        <p:txBody>
          <a:bodyPr wrap="square" lIns="0" tIns="0" rIns="0" bIns="0" anchor="t">
            <a:spAutoFit/>
          </a:bodyPr>
          <a:lstStyle/>
          <a:p>
            <a:pPr algn="l">
              <a:spcAft>
                <a:spcPts val="600"/>
              </a:spcAft>
            </a:pPr>
            <a:r>
              <a:rPr sz="2000" b="0" i="0">
                <a:solidFill>
                  <a:srgbClr val="000000"/>
                </a:solidFill>
                <a:latin typeface="Helvetica Neue"/>
                <a:ea typeface="Helvetica Neue"/>
                <a:cs typeface="Helvetica Neue"/>
              </a:rPr>
              <a:t>Processor runs one system for many banks</a:t>
            </a:r>
          </a:p>
        </p:txBody>
      </p:sp>
      <p:sp>
        <p:nvSpPr>
          <p:cNvPr id="16" name="Era 2 conn"/>
          <p:cNvSpPr/>
          <p:nvPr/>
        </p:nvSpPr>
        <p:spPr>
          <a:xfrm>
            <a:off x="5509259" y="6172200"/>
            <a:ext cx="3246120" cy="9144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7" name="Era 2 conn text"/>
          <p:cNvSpPr txBox="1"/>
          <p:nvPr/>
        </p:nvSpPr>
        <p:spPr>
          <a:xfrm>
            <a:off x="5600699" y="6172200"/>
            <a:ext cx="3063239" cy="914400"/>
          </a:xfrm>
          <a:prstGeom prst="rect">
            <a:avLst/>
          </a:prstGeom>
          <a:noFill/>
        </p:spPr>
        <p:txBody>
          <a:bodyPr wrap="square" lIns="0" tIns="0" rIns="0" bIns="0" anchor="ctr">
            <a:spAutoFit/>
          </a:bodyPr>
          <a:lstStyle/>
          <a:p>
            <a:pPr algn="l">
              <a:spcAft>
                <a:spcPts val="0"/>
              </a:spcAft>
            </a:pPr>
            <a:r>
              <a:rPr sz="1300" b="1" i="0">
                <a:solidFill>
                  <a:srgbClr val="2F75B5"/>
                </a:solidFill>
                <a:latin typeface="Helvetica Neue"/>
                <a:ea typeface="Helvetica Neue"/>
                <a:cs typeface="Helvetica Neue"/>
              </a:rPr>
              <a:t>Connects by</a:t>
            </a:r>
          </a:p>
          <a:p>
            <a:pPr algn="l">
              <a:spcAft>
                <a:spcPts val="0"/>
              </a:spcAft>
            </a:pPr>
            <a:r>
              <a:rPr sz="1600" b="0" i="0">
                <a:solidFill>
                  <a:srgbClr val="000000"/>
                </a:solidFill>
                <a:latin typeface="Helvetica Neue"/>
                <a:ea typeface="Helvetica Neue"/>
                <a:cs typeface="Helvetica Neue"/>
              </a:rPr>
              <a:t>Leased line to the processor</a:t>
            </a:r>
          </a:p>
        </p:txBody>
      </p:sp>
      <p:sp>
        <p:nvSpPr>
          <p:cNvPr id="18" name="Era 3 disc"/>
          <p:cNvSpPr/>
          <p:nvPr/>
        </p:nvSpPr>
        <p:spPr>
          <a:xfrm>
            <a:off x="10607040" y="2743200"/>
            <a:ext cx="1097280" cy="1097280"/>
          </a:xfrm>
          <a:prstGeom prst="ellipse">
            <a:avLst/>
          </a:prstGeom>
          <a:solidFill>
            <a:srgbClr val="FFFFFF"/>
          </a:solidFill>
          <a:ln w="3175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9" name="Era 3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812780" y="2948940"/>
            <a:ext cx="685800" cy="685800"/>
          </a:xfrm>
          <a:prstGeom prst="rect">
            <a:avLst/>
          </a:prstGeom>
        </p:spPr>
      </p:pic>
      <p:sp>
        <p:nvSpPr>
          <p:cNvPr id="20" name="Era 3 head"/>
          <p:cNvSpPr txBox="1"/>
          <p:nvPr/>
        </p:nvSpPr>
        <p:spPr>
          <a:xfrm>
            <a:off x="9304019" y="3977639"/>
            <a:ext cx="3703320" cy="457200"/>
          </a:xfrm>
          <a:prstGeom prst="rect">
            <a:avLst/>
          </a:prstGeom>
          <a:noFill/>
        </p:spPr>
        <p:txBody>
          <a:bodyPr wrap="square" lIns="0" tIns="0" rIns="0" bIns="0" anchor="t">
            <a:spAutoFit/>
          </a:bodyPr>
          <a:lstStyle/>
          <a:p>
            <a:pPr algn="ctr">
              <a:spcAft>
                <a:spcPts val="600"/>
              </a:spcAft>
            </a:pPr>
            <a:r>
              <a:rPr sz="2300" b="1" i="0">
                <a:solidFill>
                  <a:srgbClr val="000000"/>
                </a:solidFill>
                <a:latin typeface="Helvetica Neue"/>
                <a:ea typeface="Helvetica Neue"/>
                <a:cs typeface="Helvetica Neue"/>
              </a:rPr>
              <a:t>Hosted</a:t>
            </a:r>
          </a:p>
        </p:txBody>
      </p:sp>
      <p:sp>
        <p:nvSpPr>
          <p:cNvPr id="21" name="Era 3 box"/>
          <p:cNvSpPr/>
          <p:nvPr/>
        </p:nvSpPr>
        <p:spPr>
          <a:xfrm>
            <a:off x="9304019" y="4572000"/>
            <a:ext cx="3703320" cy="27432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2" name="Era 3 body"/>
          <p:cNvSpPr txBox="1"/>
          <p:nvPr/>
        </p:nvSpPr>
        <p:spPr>
          <a:xfrm>
            <a:off x="9532619" y="4754880"/>
            <a:ext cx="3246120" cy="1280160"/>
          </a:xfrm>
          <a:prstGeom prst="rect">
            <a:avLst/>
          </a:prstGeom>
          <a:noFill/>
        </p:spPr>
        <p:txBody>
          <a:bodyPr wrap="square" lIns="0" tIns="0" rIns="0" bIns="0" anchor="t">
            <a:spAutoFit/>
          </a:bodyPr>
          <a:lstStyle/>
          <a:p>
            <a:pPr algn="l">
              <a:spcAft>
                <a:spcPts val="600"/>
              </a:spcAft>
            </a:pPr>
            <a:r>
              <a:rPr sz="2000" b="0" i="0">
                <a:solidFill>
                  <a:srgbClr val="000000"/>
                </a:solidFill>
                <a:latin typeface="Helvetica Neue"/>
                <a:ea typeface="Helvetica Neue"/>
                <a:cs typeface="Helvetica Neue"/>
              </a:rPr>
              <a:t>The bank's own instance, in the vendor's data center</a:t>
            </a:r>
          </a:p>
        </p:txBody>
      </p:sp>
      <p:sp>
        <p:nvSpPr>
          <p:cNvPr id="23" name="Era 3 conn"/>
          <p:cNvSpPr/>
          <p:nvPr/>
        </p:nvSpPr>
        <p:spPr>
          <a:xfrm>
            <a:off x="9532619" y="6172200"/>
            <a:ext cx="3246120" cy="9144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4" name="Era 3 conn text"/>
          <p:cNvSpPr txBox="1"/>
          <p:nvPr/>
        </p:nvSpPr>
        <p:spPr>
          <a:xfrm>
            <a:off x="9624059" y="6172200"/>
            <a:ext cx="3063239" cy="914400"/>
          </a:xfrm>
          <a:prstGeom prst="rect">
            <a:avLst/>
          </a:prstGeom>
          <a:noFill/>
        </p:spPr>
        <p:txBody>
          <a:bodyPr wrap="square" lIns="0" tIns="0" rIns="0" bIns="0" anchor="ctr">
            <a:spAutoFit/>
          </a:bodyPr>
          <a:lstStyle/>
          <a:p>
            <a:pPr algn="l">
              <a:spcAft>
                <a:spcPts val="0"/>
              </a:spcAft>
            </a:pPr>
            <a:r>
              <a:rPr sz="1300" b="1" i="0">
                <a:solidFill>
                  <a:srgbClr val="2F75B5"/>
                </a:solidFill>
                <a:latin typeface="Helvetica Neue"/>
                <a:ea typeface="Helvetica Neue"/>
                <a:cs typeface="Helvetica Neue"/>
              </a:rPr>
              <a:t>Connects by</a:t>
            </a:r>
          </a:p>
          <a:p>
            <a:pPr algn="l">
              <a:spcAft>
                <a:spcPts val="0"/>
              </a:spcAft>
            </a:pPr>
            <a:r>
              <a:rPr sz="1600" b="0" i="0">
                <a:solidFill>
                  <a:srgbClr val="000000"/>
                </a:solidFill>
                <a:latin typeface="Helvetica Neue"/>
                <a:ea typeface="Helvetica Neue"/>
                <a:cs typeface="Helvetica Neue"/>
              </a:rPr>
              <a:t>Private circuit or VPN</a:t>
            </a:r>
          </a:p>
        </p:txBody>
      </p:sp>
      <p:sp>
        <p:nvSpPr>
          <p:cNvPr id="25" name="Era 4 disc"/>
          <p:cNvSpPr/>
          <p:nvPr/>
        </p:nvSpPr>
        <p:spPr>
          <a:xfrm>
            <a:off x="14630399" y="2743200"/>
            <a:ext cx="1097280" cy="1097280"/>
          </a:xfrm>
          <a:prstGeom prst="ellipse">
            <a:avLst/>
          </a:prstGeom>
          <a:solidFill>
            <a:srgbClr val="FFFFFF"/>
          </a:solidFill>
          <a:ln w="3175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6" name="Era 4 icon"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836139" y="2948940"/>
            <a:ext cx="685800" cy="685800"/>
          </a:xfrm>
          <a:prstGeom prst="rect">
            <a:avLst/>
          </a:prstGeom>
        </p:spPr>
      </p:pic>
      <p:sp>
        <p:nvSpPr>
          <p:cNvPr id="27" name="Era 4 head"/>
          <p:cNvSpPr txBox="1"/>
          <p:nvPr/>
        </p:nvSpPr>
        <p:spPr>
          <a:xfrm>
            <a:off x="13327380" y="3977639"/>
            <a:ext cx="3703320" cy="457200"/>
          </a:xfrm>
          <a:prstGeom prst="rect">
            <a:avLst/>
          </a:prstGeom>
          <a:noFill/>
        </p:spPr>
        <p:txBody>
          <a:bodyPr wrap="square" lIns="0" tIns="0" rIns="0" bIns="0" anchor="t">
            <a:spAutoFit/>
          </a:bodyPr>
          <a:lstStyle/>
          <a:p>
            <a:pPr algn="ctr">
              <a:spcAft>
                <a:spcPts val="600"/>
              </a:spcAft>
            </a:pPr>
            <a:r>
              <a:rPr sz="2300" b="1" i="0">
                <a:solidFill>
                  <a:srgbClr val="000000"/>
                </a:solidFill>
                <a:latin typeface="Helvetica Neue"/>
                <a:ea typeface="Helvetica Neue"/>
                <a:cs typeface="Helvetica Neue"/>
              </a:rPr>
              <a:t>Cloud-delivered</a:t>
            </a:r>
          </a:p>
        </p:txBody>
      </p:sp>
      <p:sp>
        <p:nvSpPr>
          <p:cNvPr id="28" name="Era 4 box"/>
          <p:cNvSpPr/>
          <p:nvPr/>
        </p:nvSpPr>
        <p:spPr>
          <a:xfrm>
            <a:off x="13327380" y="4572000"/>
            <a:ext cx="3703320" cy="27432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9" name="Era 4 body"/>
          <p:cNvSpPr txBox="1"/>
          <p:nvPr/>
        </p:nvSpPr>
        <p:spPr>
          <a:xfrm>
            <a:off x="13555980" y="4754880"/>
            <a:ext cx="3246120" cy="1280160"/>
          </a:xfrm>
          <a:prstGeom prst="rect">
            <a:avLst/>
          </a:prstGeom>
          <a:noFill/>
        </p:spPr>
        <p:txBody>
          <a:bodyPr wrap="square" lIns="0" tIns="0" rIns="0" bIns="0" anchor="t">
            <a:spAutoFit/>
          </a:bodyPr>
          <a:lstStyle/>
          <a:p>
            <a:pPr algn="l">
              <a:spcAft>
                <a:spcPts val="600"/>
              </a:spcAft>
            </a:pPr>
            <a:r>
              <a:rPr sz="2000" b="0" i="0">
                <a:solidFill>
                  <a:srgbClr val="000000"/>
                </a:solidFill>
                <a:latin typeface="Helvetica Neue"/>
                <a:ea typeface="Helvetica Neue"/>
                <a:cs typeface="Helvetica Neue"/>
              </a:rPr>
              <a:t>Vendor runs it in its cloud or a public cloud</a:t>
            </a:r>
          </a:p>
        </p:txBody>
      </p:sp>
      <p:sp>
        <p:nvSpPr>
          <p:cNvPr id="30" name="Era 4 conn"/>
          <p:cNvSpPr/>
          <p:nvPr/>
        </p:nvSpPr>
        <p:spPr>
          <a:xfrm>
            <a:off x="13555980" y="6172200"/>
            <a:ext cx="3246120" cy="9144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1" name="Era 4 conn text"/>
          <p:cNvSpPr txBox="1"/>
          <p:nvPr/>
        </p:nvSpPr>
        <p:spPr>
          <a:xfrm>
            <a:off x="13647419" y="6172200"/>
            <a:ext cx="3063239" cy="914400"/>
          </a:xfrm>
          <a:prstGeom prst="rect">
            <a:avLst/>
          </a:prstGeom>
          <a:noFill/>
        </p:spPr>
        <p:txBody>
          <a:bodyPr wrap="square" lIns="0" tIns="0" rIns="0" bIns="0" anchor="ctr">
            <a:spAutoFit/>
          </a:bodyPr>
          <a:lstStyle/>
          <a:p>
            <a:pPr algn="l">
              <a:spcAft>
                <a:spcPts val="0"/>
              </a:spcAft>
            </a:pPr>
            <a:r>
              <a:rPr sz="1300" b="1" i="0">
                <a:solidFill>
                  <a:srgbClr val="2F75B5"/>
                </a:solidFill>
                <a:latin typeface="Helvetica Neue"/>
                <a:ea typeface="Helvetica Neue"/>
                <a:cs typeface="Helvetica Neue"/>
              </a:rPr>
              <a:t>Connects by</a:t>
            </a:r>
          </a:p>
          <a:p>
            <a:pPr algn="l">
              <a:spcAft>
                <a:spcPts val="0"/>
              </a:spcAft>
            </a:pPr>
            <a:r>
              <a:rPr sz="1600" b="0" i="0">
                <a:solidFill>
                  <a:srgbClr val="000000"/>
                </a:solidFill>
                <a:latin typeface="Helvetica Neue"/>
                <a:ea typeface="Helvetica Neue"/>
                <a:cs typeface="Helvetica Neue"/>
              </a:rPr>
              <a:t>Internet, VPN and APIs</a:t>
            </a:r>
          </a:p>
        </p:txBody>
      </p:sp>
      <p:cxnSp>
        <p:nvCxnSpPr>
          <p:cNvPr id="32" name="Era arrow"/>
          <p:cNvCxnSpPr/>
          <p:nvPr/>
        </p:nvCxnSpPr>
        <p:spPr>
          <a:xfrm>
            <a:off x="1257300" y="7635240"/>
            <a:ext cx="15773400" cy="0"/>
          </a:xfrm>
          <a:prstGeom prst="line">
            <a:avLst/>
          </a:prstGeom>
          <a:ln w="31750">
            <a:solidFill>
              <a:srgbClr val="A6A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Era arrow label"/>
          <p:cNvSpPr txBox="1"/>
          <p:nvPr/>
        </p:nvSpPr>
        <p:spPr>
          <a:xfrm>
            <a:off x="1257300" y="7726679"/>
            <a:ext cx="15773400" cy="365760"/>
          </a:xfrm>
          <a:prstGeom prst="rect">
            <a:avLst/>
          </a:prstGeom>
          <a:noFill/>
        </p:spPr>
        <p:txBody>
          <a:bodyPr wrap="square" lIns="0" tIns="0" rIns="0" bIns="0" anchor="t">
            <a:spAutoFit/>
          </a:bodyPr>
          <a:lstStyle/>
          <a:p>
            <a:pPr algn="ctr">
              <a:spcAft>
                <a:spcPts val="600"/>
              </a:spcAft>
            </a:pPr>
            <a:r>
              <a:rPr sz="1500" b="0" i="0">
                <a:solidFill>
                  <a:srgbClr val="595959"/>
                </a:solidFill>
                <a:latin typeface="Helvetica Neue"/>
                <a:ea typeface="Helvetica Neue"/>
                <a:cs typeface="Helvetica Neue"/>
              </a:rPr>
              <a:t>Older  →  newer.  All four still exist today.</a:t>
            </a:r>
          </a:p>
        </p:txBody>
      </p:sp>
      <p:sp>
        <p:nvSpPr>
          <p:cNvPr id="34" name="Era banner"/>
          <p:cNvSpPr/>
          <p:nvPr/>
        </p:nvSpPr>
        <p:spPr>
          <a:xfrm>
            <a:off x="1257300" y="8412480"/>
            <a:ext cx="15773400" cy="86868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5" name="Era banner text"/>
          <p:cNvSpPr txBox="1"/>
          <p:nvPr/>
        </p:nvSpPr>
        <p:spPr>
          <a:xfrm>
            <a:off x="1554480" y="8458200"/>
            <a:ext cx="15179040" cy="777240"/>
          </a:xfrm>
          <a:prstGeom prst="rect">
            <a:avLst/>
          </a:prstGeom>
          <a:noFill/>
        </p:spPr>
        <p:txBody>
          <a:bodyPr wrap="square" lIns="0" tIns="0" rIns="0" bIns="0" anchor="ctr">
            <a:spAutoFit/>
          </a:bodyPr>
          <a:lstStyle/>
          <a:p>
            <a:pPr algn="ctr">
              <a:spcAft>
                <a:spcPts val="600"/>
              </a:spcAft>
            </a:pPr>
            <a:r>
              <a:rPr sz="1900" b="1" i="0">
                <a:solidFill>
                  <a:srgbClr val="000000"/>
                </a:solidFill>
                <a:latin typeface="Helvetica Neue"/>
                <a:ea typeface="Helvetica Neue"/>
                <a:cs typeface="Helvetica Neue"/>
              </a:rPr>
              <a:t>The connection to the processor became the bank's most important circuit, and its backup just as important.</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What's Next for Core: APIs and Modular Cores</a:t>
            </a:r>
          </a:p>
        </p:txBody>
      </p:sp>
      <p:sp>
        <p:nvSpPr>
          <p:cNvPr id="3" name="Mono head"/>
          <p:cNvSpPr txBox="1"/>
          <p:nvPr/>
        </p:nvSpPr>
        <p:spPr>
          <a:xfrm>
            <a:off x="1257300" y="2697480"/>
            <a:ext cx="6949440" cy="45720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Traditional: one big system</a:t>
            </a:r>
          </a:p>
        </p:txBody>
      </p:sp>
      <p:sp>
        <p:nvSpPr>
          <p:cNvPr id="4" name="Monolith"/>
          <p:cNvSpPr/>
          <p:nvPr/>
        </p:nvSpPr>
        <p:spPr>
          <a:xfrm>
            <a:off x="1257300" y="3291840"/>
            <a:ext cx="6949440" cy="3200400"/>
          </a:xfrm>
          <a:prstGeom prst="roundRect">
            <a:avLst/>
          </a:prstGeom>
          <a:solidFill>
            <a:srgbClr val="D9D9D9"/>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5" name="Mono part 1"/>
          <p:cNvSpPr/>
          <p:nvPr/>
        </p:nvSpPr>
        <p:spPr>
          <a:xfrm>
            <a:off x="1554480" y="3611880"/>
            <a:ext cx="1965960" cy="1097280"/>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Deposits</a:t>
            </a:r>
          </a:p>
        </p:txBody>
      </p:sp>
      <p:sp>
        <p:nvSpPr>
          <p:cNvPr id="6" name="Mono part 2"/>
          <p:cNvSpPr/>
          <p:nvPr/>
        </p:nvSpPr>
        <p:spPr>
          <a:xfrm>
            <a:off x="3703320" y="3611880"/>
            <a:ext cx="1965960" cy="1097280"/>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Loans</a:t>
            </a:r>
          </a:p>
        </p:txBody>
      </p:sp>
      <p:sp>
        <p:nvSpPr>
          <p:cNvPr id="7" name="Mono part 3"/>
          <p:cNvSpPr/>
          <p:nvPr/>
        </p:nvSpPr>
        <p:spPr>
          <a:xfrm>
            <a:off x="5852160" y="3611880"/>
            <a:ext cx="1965960" cy="1097280"/>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Customers</a:t>
            </a:r>
          </a:p>
        </p:txBody>
      </p:sp>
      <p:sp>
        <p:nvSpPr>
          <p:cNvPr id="8" name="Mono part 4"/>
          <p:cNvSpPr/>
          <p:nvPr/>
        </p:nvSpPr>
        <p:spPr>
          <a:xfrm>
            <a:off x="1554480" y="4983480"/>
            <a:ext cx="1965960" cy="1097280"/>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Ledger</a:t>
            </a:r>
          </a:p>
        </p:txBody>
      </p:sp>
      <p:sp>
        <p:nvSpPr>
          <p:cNvPr id="9" name="Mono part 5"/>
          <p:cNvSpPr/>
          <p:nvPr/>
        </p:nvSpPr>
        <p:spPr>
          <a:xfrm>
            <a:off x="3703320" y="4983480"/>
            <a:ext cx="1965960" cy="1097280"/>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Payments</a:t>
            </a:r>
          </a:p>
        </p:txBody>
      </p:sp>
      <p:sp>
        <p:nvSpPr>
          <p:cNvPr id="10" name="Mono part 6"/>
          <p:cNvSpPr/>
          <p:nvPr/>
        </p:nvSpPr>
        <p:spPr>
          <a:xfrm>
            <a:off x="5852160" y="4983480"/>
            <a:ext cx="1965960" cy="1097280"/>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Reports</a:t>
            </a:r>
          </a:p>
        </p:txBody>
      </p:sp>
      <p:sp>
        <p:nvSpPr>
          <p:cNvPr id="11" name="Mono note"/>
          <p:cNvSpPr txBox="1"/>
          <p:nvPr/>
        </p:nvSpPr>
        <p:spPr>
          <a:xfrm>
            <a:off x="1257300" y="6583680"/>
            <a:ext cx="6949440" cy="457200"/>
          </a:xfrm>
          <a:prstGeom prst="rect">
            <a:avLst/>
          </a:prstGeom>
          <a:noFill/>
        </p:spPr>
        <p:txBody>
          <a:bodyPr wrap="square" lIns="0" tIns="0" rIns="0" bIns="0" anchor="t">
            <a:spAutoFit/>
          </a:bodyPr>
          <a:lstStyle/>
          <a:p>
            <a:pPr algn="ctr">
              <a:spcAft>
                <a:spcPts val="600"/>
              </a:spcAft>
            </a:pPr>
            <a:r>
              <a:rPr sz="1600" b="0" i="1">
                <a:solidFill>
                  <a:srgbClr val="595959"/>
                </a:solidFill>
                <a:latin typeface="Helvetica Neue"/>
                <a:ea typeface="Helvetica Neue"/>
                <a:cs typeface="Helvetica Neue"/>
              </a:rPr>
              <a:t>Integrations go through the core vendor</a:t>
            </a:r>
          </a:p>
        </p:txBody>
      </p:sp>
      <p:sp>
        <p:nvSpPr>
          <p:cNvPr id="12" name="Mod head"/>
          <p:cNvSpPr txBox="1"/>
          <p:nvPr/>
        </p:nvSpPr>
        <p:spPr>
          <a:xfrm>
            <a:off x="9144000" y="2697480"/>
            <a:ext cx="7886700" cy="457200"/>
          </a:xfrm>
          <a:prstGeom prst="rect">
            <a:avLst/>
          </a:prstGeom>
          <a:noFill/>
        </p:spPr>
        <p:txBody>
          <a:bodyPr wrap="square" lIns="0" tIns="0" rIns="0" bIns="0" anchor="t">
            <a:spAutoFit/>
          </a:bodyPr>
          <a:lstStyle/>
          <a:p>
            <a:pPr algn="l">
              <a:spcAft>
                <a:spcPts val="600"/>
              </a:spcAft>
            </a:pPr>
            <a:r>
              <a:rPr sz="2200" b="1" i="0">
                <a:solidFill>
                  <a:srgbClr val="2F75B5"/>
                </a:solidFill>
                <a:latin typeface="Helvetica Neue"/>
                <a:ea typeface="Helvetica Neue"/>
                <a:cs typeface="Helvetica Neue"/>
              </a:rPr>
              <a:t>Modular: components linked by APIs</a:t>
            </a:r>
          </a:p>
        </p:txBody>
      </p:sp>
      <p:sp>
        <p:nvSpPr>
          <p:cNvPr id="13" name="API layer"/>
          <p:cNvSpPr/>
          <p:nvPr/>
        </p:nvSpPr>
        <p:spPr>
          <a:xfrm>
            <a:off x="9144000" y="4617720"/>
            <a:ext cx="7886700" cy="548640"/>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1" i="0">
                <a:solidFill>
                  <a:srgbClr val="FFFFFF"/>
                </a:solidFill>
                <a:latin typeface="Helvetica Neue"/>
                <a:ea typeface="Helvetica Neue"/>
                <a:cs typeface="Helvetica Neue"/>
              </a:rPr>
              <a:t>API layer</a:t>
            </a:r>
          </a:p>
        </p:txBody>
      </p:sp>
      <p:sp>
        <p:nvSpPr>
          <p:cNvPr id="14" name="Mod part 1"/>
          <p:cNvSpPr/>
          <p:nvPr/>
        </p:nvSpPr>
        <p:spPr>
          <a:xfrm>
            <a:off x="9144000" y="3291840"/>
            <a:ext cx="1851660" cy="1005840"/>
          </a:xfrm>
          <a:prstGeom prst="roundRect">
            <a:avLst/>
          </a:prstGeom>
          <a:solidFill>
            <a:srgbClr val="EEF2F8"/>
          </a:solidFill>
          <a:ln w="1905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Deposits</a:t>
            </a:r>
          </a:p>
        </p:txBody>
      </p:sp>
      <p:cxnSp>
        <p:nvCxnSpPr>
          <p:cNvPr id="15" name="Mod link 1"/>
          <p:cNvCxnSpPr/>
          <p:nvPr/>
        </p:nvCxnSpPr>
        <p:spPr>
          <a:xfrm>
            <a:off x="10067544" y="4297680"/>
            <a:ext cx="0" cy="320040"/>
          </a:xfrm>
          <a:prstGeom prst="line">
            <a:avLst/>
          </a:prstGeom>
          <a:ln w="25400">
            <a:solidFill>
              <a:srgbClr val="2F75B5"/>
            </a:solidFill>
          </a:ln>
        </p:spPr>
        <p:style>
          <a:lnRef idx="2">
            <a:schemeClr val="accent1"/>
          </a:lnRef>
          <a:fillRef idx="0">
            <a:schemeClr val="accent1"/>
          </a:fillRef>
          <a:effectRef idx="1">
            <a:schemeClr val="accent1"/>
          </a:effectRef>
          <a:fontRef idx="minor">
            <a:schemeClr val="tx1"/>
          </a:fontRef>
        </p:style>
      </p:cxnSp>
      <p:sp>
        <p:nvSpPr>
          <p:cNvPr id="16" name="Mod part 2"/>
          <p:cNvSpPr/>
          <p:nvPr/>
        </p:nvSpPr>
        <p:spPr>
          <a:xfrm>
            <a:off x="11155680" y="3291840"/>
            <a:ext cx="1851660" cy="1005840"/>
          </a:xfrm>
          <a:prstGeom prst="roundRect">
            <a:avLst/>
          </a:prstGeom>
          <a:solidFill>
            <a:srgbClr val="EEF2F8"/>
          </a:solidFill>
          <a:ln w="1905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Lending</a:t>
            </a:r>
          </a:p>
        </p:txBody>
      </p:sp>
      <p:cxnSp>
        <p:nvCxnSpPr>
          <p:cNvPr id="17" name="Mod link 2"/>
          <p:cNvCxnSpPr/>
          <p:nvPr/>
        </p:nvCxnSpPr>
        <p:spPr>
          <a:xfrm>
            <a:off x="12079224" y="4297680"/>
            <a:ext cx="0" cy="320040"/>
          </a:xfrm>
          <a:prstGeom prst="line">
            <a:avLst/>
          </a:prstGeom>
          <a:ln w="25400">
            <a:solidFill>
              <a:srgbClr val="2F75B5"/>
            </a:solidFill>
          </a:ln>
        </p:spPr>
        <p:style>
          <a:lnRef idx="2">
            <a:schemeClr val="accent1"/>
          </a:lnRef>
          <a:fillRef idx="0">
            <a:schemeClr val="accent1"/>
          </a:fillRef>
          <a:effectRef idx="1">
            <a:schemeClr val="accent1"/>
          </a:effectRef>
          <a:fontRef idx="minor">
            <a:schemeClr val="tx1"/>
          </a:fontRef>
        </p:style>
      </p:cxnSp>
      <p:sp>
        <p:nvSpPr>
          <p:cNvPr id="18" name="Mod part 3"/>
          <p:cNvSpPr/>
          <p:nvPr/>
        </p:nvSpPr>
        <p:spPr>
          <a:xfrm>
            <a:off x="13167360" y="3291840"/>
            <a:ext cx="1851660" cy="1005840"/>
          </a:xfrm>
          <a:prstGeom prst="roundRect">
            <a:avLst/>
          </a:prstGeom>
          <a:solidFill>
            <a:srgbClr val="EEF2F8"/>
          </a:solidFill>
          <a:ln w="1905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Payments</a:t>
            </a:r>
          </a:p>
        </p:txBody>
      </p:sp>
      <p:cxnSp>
        <p:nvCxnSpPr>
          <p:cNvPr id="19" name="Mod link 3"/>
          <p:cNvCxnSpPr/>
          <p:nvPr/>
        </p:nvCxnSpPr>
        <p:spPr>
          <a:xfrm>
            <a:off x="14090904" y="4297680"/>
            <a:ext cx="0" cy="320040"/>
          </a:xfrm>
          <a:prstGeom prst="line">
            <a:avLst/>
          </a:prstGeom>
          <a:ln w="25400">
            <a:solidFill>
              <a:srgbClr val="2F75B5"/>
            </a:solidFill>
          </a:ln>
        </p:spPr>
        <p:style>
          <a:lnRef idx="2">
            <a:schemeClr val="accent1"/>
          </a:lnRef>
          <a:fillRef idx="0">
            <a:schemeClr val="accent1"/>
          </a:fillRef>
          <a:effectRef idx="1">
            <a:schemeClr val="accent1"/>
          </a:effectRef>
          <a:fontRef idx="minor">
            <a:schemeClr val="tx1"/>
          </a:fontRef>
        </p:style>
      </p:cxnSp>
      <p:sp>
        <p:nvSpPr>
          <p:cNvPr id="20" name="Mod part 4"/>
          <p:cNvSpPr/>
          <p:nvPr/>
        </p:nvSpPr>
        <p:spPr>
          <a:xfrm>
            <a:off x="15179040" y="3291840"/>
            <a:ext cx="1851660" cy="1005840"/>
          </a:xfrm>
          <a:prstGeom prst="roundRect">
            <a:avLst/>
          </a:prstGeom>
          <a:solidFill>
            <a:srgbClr val="EEF2F8"/>
          </a:solidFill>
          <a:ln w="1905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Ledger</a:t>
            </a:r>
          </a:p>
        </p:txBody>
      </p:sp>
      <p:cxnSp>
        <p:nvCxnSpPr>
          <p:cNvPr id="21" name="Mod link 4"/>
          <p:cNvCxnSpPr/>
          <p:nvPr/>
        </p:nvCxnSpPr>
        <p:spPr>
          <a:xfrm>
            <a:off x="16102584" y="4297680"/>
            <a:ext cx="0" cy="320040"/>
          </a:xfrm>
          <a:prstGeom prst="line">
            <a:avLst/>
          </a:prstGeom>
          <a:ln w="25400">
            <a:solidFill>
              <a:srgbClr val="2F75B5"/>
            </a:solidFill>
          </a:ln>
        </p:spPr>
        <p:style>
          <a:lnRef idx="2">
            <a:schemeClr val="accent1"/>
          </a:lnRef>
          <a:fillRef idx="0">
            <a:schemeClr val="accent1"/>
          </a:fillRef>
          <a:effectRef idx="1">
            <a:schemeClr val="accent1"/>
          </a:effectRef>
          <a:fontRef idx="minor">
            <a:schemeClr val="tx1"/>
          </a:fontRef>
        </p:style>
      </p:cxnSp>
      <p:cxnSp>
        <p:nvCxnSpPr>
          <p:cNvPr id="22" name="Out link 1"/>
          <p:cNvCxnSpPr/>
          <p:nvPr/>
        </p:nvCxnSpPr>
        <p:spPr>
          <a:xfrm>
            <a:off x="10378440" y="5166360"/>
            <a:ext cx="0" cy="320040"/>
          </a:xfrm>
          <a:prstGeom prst="line">
            <a:avLst/>
          </a:prstGeom>
          <a:ln w="25400">
            <a:solidFill>
              <a:srgbClr val="ED7D31"/>
            </a:solidFill>
          </a:ln>
        </p:spPr>
        <p:style>
          <a:lnRef idx="2">
            <a:schemeClr val="accent1"/>
          </a:lnRef>
          <a:fillRef idx="0">
            <a:schemeClr val="accent1"/>
          </a:fillRef>
          <a:effectRef idx="1">
            <a:schemeClr val="accent1"/>
          </a:effectRef>
          <a:fontRef idx="minor">
            <a:schemeClr val="tx1"/>
          </a:fontRef>
        </p:style>
      </p:cxnSp>
      <p:sp>
        <p:nvSpPr>
          <p:cNvPr id="23" name="Out part 1"/>
          <p:cNvSpPr/>
          <p:nvPr/>
        </p:nvSpPr>
        <p:spPr>
          <a:xfrm>
            <a:off x="9144000" y="5486400"/>
            <a:ext cx="2468880" cy="1005840"/>
          </a:xfrm>
          <a:prstGeom prst="roundRect">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Digital banking</a:t>
            </a:r>
          </a:p>
        </p:txBody>
      </p:sp>
      <p:cxnSp>
        <p:nvCxnSpPr>
          <p:cNvPr id="24" name="Out link 2"/>
          <p:cNvCxnSpPr/>
          <p:nvPr/>
        </p:nvCxnSpPr>
        <p:spPr>
          <a:xfrm>
            <a:off x="13075919" y="5166360"/>
            <a:ext cx="0" cy="320040"/>
          </a:xfrm>
          <a:prstGeom prst="line">
            <a:avLst/>
          </a:prstGeom>
          <a:ln w="25400">
            <a:solidFill>
              <a:srgbClr val="ED7D31"/>
            </a:solidFill>
          </a:ln>
        </p:spPr>
        <p:style>
          <a:lnRef idx="2">
            <a:schemeClr val="accent1"/>
          </a:lnRef>
          <a:fillRef idx="0">
            <a:schemeClr val="accent1"/>
          </a:fillRef>
          <a:effectRef idx="1">
            <a:schemeClr val="accent1"/>
          </a:effectRef>
          <a:fontRef idx="minor">
            <a:schemeClr val="tx1"/>
          </a:fontRef>
        </p:style>
      </p:cxnSp>
      <p:sp>
        <p:nvSpPr>
          <p:cNvPr id="25" name="Out part 2"/>
          <p:cNvSpPr/>
          <p:nvPr/>
        </p:nvSpPr>
        <p:spPr>
          <a:xfrm>
            <a:off x="11841480" y="5486400"/>
            <a:ext cx="2468880" cy="1005840"/>
          </a:xfrm>
          <a:prstGeom prst="roundRect">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Fintech partner</a:t>
            </a:r>
          </a:p>
        </p:txBody>
      </p:sp>
      <p:cxnSp>
        <p:nvCxnSpPr>
          <p:cNvPr id="26" name="Out link 3"/>
          <p:cNvCxnSpPr/>
          <p:nvPr/>
        </p:nvCxnSpPr>
        <p:spPr>
          <a:xfrm>
            <a:off x="15773400" y="5166360"/>
            <a:ext cx="0" cy="320040"/>
          </a:xfrm>
          <a:prstGeom prst="line">
            <a:avLst/>
          </a:prstGeom>
          <a:ln w="25400">
            <a:solidFill>
              <a:srgbClr val="ED7D31"/>
            </a:solidFill>
          </a:ln>
        </p:spPr>
        <p:style>
          <a:lnRef idx="2">
            <a:schemeClr val="accent1"/>
          </a:lnRef>
          <a:fillRef idx="0">
            <a:schemeClr val="accent1"/>
          </a:fillRef>
          <a:effectRef idx="1">
            <a:schemeClr val="accent1"/>
          </a:effectRef>
          <a:fontRef idx="minor">
            <a:schemeClr val="tx1"/>
          </a:fontRef>
        </p:style>
      </p:cxnSp>
      <p:sp>
        <p:nvSpPr>
          <p:cNvPr id="27" name="Out part 3"/>
          <p:cNvSpPr/>
          <p:nvPr/>
        </p:nvSpPr>
        <p:spPr>
          <a:xfrm>
            <a:off x="14538960" y="5486400"/>
            <a:ext cx="2468880" cy="1005840"/>
          </a:xfrm>
          <a:prstGeom prst="roundRect">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0" i="0">
                <a:solidFill>
                  <a:srgbClr val="000000"/>
                </a:solidFill>
                <a:latin typeface="Helvetica Neue"/>
                <a:ea typeface="Helvetica Neue"/>
                <a:cs typeface="Helvetica Neue"/>
              </a:rPr>
              <a:t>Analytics</a:t>
            </a:r>
          </a:p>
        </p:txBody>
      </p:sp>
      <p:sp>
        <p:nvSpPr>
          <p:cNvPr id="28" name="Mod note"/>
          <p:cNvSpPr txBox="1"/>
          <p:nvPr/>
        </p:nvSpPr>
        <p:spPr>
          <a:xfrm>
            <a:off x="9144000" y="6583680"/>
            <a:ext cx="7886700" cy="457200"/>
          </a:xfrm>
          <a:prstGeom prst="rect">
            <a:avLst/>
          </a:prstGeom>
          <a:noFill/>
        </p:spPr>
        <p:txBody>
          <a:bodyPr wrap="square" lIns="0" tIns="0" rIns="0" bIns="0" anchor="t">
            <a:spAutoFit/>
          </a:bodyPr>
          <a:lstStyle/>
          <a:p>
            <a:pPr algn="ctr">
              <a:spcAft>
                <a:spcPts val="600"/>
              </a:spcAft>
            </a:pPr>
            <a:r>
              <a:rPr sz="1600" b="0" i="1">
                <a:solidFill>
                  <a:srgbClr val="595959"/>
                </a:solidFill>
                <a:latin typeface="Helvetica Neue"/>
                <a:ea typeface="Helvetica Neue"/>
                <a:cs typeface="Helvetica Neue"/>
              </a:rPr>
              <a:t>Add a product or partner without waiting on one vendor</a:t>
            </a:r>
          </a:p>
        </p:txBody>
      </p:sp>
      <p:sp>
        <p:nvSpPr>
          <p:cNvPr id="29" name="Core net 1"/>
          <p:cNvSpPr/>
          <p:nvPr/>
        </p:nvSpPr>
        <p:spPr>
          <a:xfrm>
            <a:off x="1257300" y="7269480"/>
            <a:ext cx="3703320" cy="21031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0" name="Core net 1 text"/>
          <p:cNvSpPr txBox="1"/>
          <p:nvPr/>
        </p:nvSpPr>
        <p:spPr>
          <a:xfrm>
            <a:off x="1513332" y="7470648"/>
            <a:ext cx="3191256" cy="173736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More API traffic</a:t>
            </a:r>
          </a:p>
          <a:p>
            <a:pPr algn="l">
              <a:spcAft>
                <a:spcPts val="700"/>
              </a:spcAft>
            </a:pPr>
            <a:r>
              <a:rPr sz="1700" b="0" i="0">
                <a:solidFill>
                  <a:srgbClr val="000000"/>
                </a:solidFill>
                <a:latin typeface="Helvetica Neue"/>
                <a:ea typeface="Helvetica Neue"/>
                <a:cs typeface="Helvetica Neue"/>
              </a:rPr>
              <a:t>Much of it over the internet</a:t>
            </a:r>
          </a:p>
        </p:txBody>
      </p:sp>
      <p:sp>
        <p:nvSpPr>
          <p:cNvPr id="31" name="Core net 2"/>
          <p:cNvSpPr/>
          <p:nvPr/>
        </p:nvSpPr>
        <p:spPr>
          <a:xfrm>
            <a:off x="5280659" y="7269480"/>
            <a:ext cx="3703320" cy="21031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2" name="Core net 2 text"/>
          <p:cNvSpPr txBox="1"/>
          <p:nvPr/>
        </p:nvSpPr>
        <p:spPr>
          <a:xfrm>
            <a:off x="5536692" y="7470648"/>
            <a:ext cx="3191256" cy="173736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More parties in the path</a:t>
            </a:r>
          </a:p>
          <a:p>
            <a:pPr algn="l">
              <a:spcAft>
                <a:spcPts val="700"/>
              </a:spcAft>
            </a:pPr>
            <a:r>
              <a:rPr sz="1700" b="0" i="0">
                <a:solidFill>
                  <a:srgbClr val="000000"/>
                </a:solidFill>
                <a:latin typeface="Helvetica Neue"/>
                <a:ea typeface="Helvetica Neue"/>
                <a:cs typeface="Helvetica Neue"/>
              </a:rPr>
              <a:t>Each one a vendor to manage</a:t>
            </a:r>
          </a:p>
        </p:txBody>
      </p:sp>
      <p:sp>
        <p:nvSpPr>
          <p:cNvPr id="33" name="Core net 3"/>
          <p:cNvSpPr/>
          <p:nvPr/>
        </p:nvSpPr>
        <p:spPr>
          <a:xfrm>
            <a:off x="9304019" y="7269480"/>
            <a:ext cx="3703320" cy="21031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4" name="Core net 3 text"/>
          <p:cNvSpPr txBox="1"/>
          <p:nvPr/>
        </p:nvSpPr>
        <p:spPr>
          <a:xfrm>
            <a:off x="9560051" y="7470648"/>
            <a:ext cx="3191256" cy="173736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Keys and tokens</a:t>
            </a:r>
          </a:p>
          <a:p>
            <a:pPr algn="l">
              <a:spcAft>
                <a:spcPts val="700"/>
              </a:spcAft>
            </a:pPr>
            <a:r>
              <a:rPr sz="1700" b="0" i="0">
                <a:solidFill>
                  <a:srgbClr val="000000"/>
                </a:solidFill>
                <a:latin typeface="Helvetica Neue"/>
                <a:ea typeface="Helvetica Neue"/>
                <a:cs typeface="Helvetica Neue"/>
              </a:rPr>
              <a:t>The new credentials to protect</a:t>
            </a:r>
          </a:p>
        </p:txBody>
      </p:sp>
      <p:sp>
        <p:nvSpPr>
          <p:cNvPr id="35" name="Core net 4"/>
          <p:cNvSpPr/>
          <p:nvPr/>
        </p:nvSpPr>
        <p:spPr>
          <a:xfrm>
            <a:off x="13327380" y="7269480"/>
            <a:ext cx="3703320" cy="21031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6" name="Core net 4 text"/>
          <p:cNvSpPr txBox="1"/>
          <p:nvPr/>
        </p:nvSpPr>
        <p:spPr>
          <a:xfrm>
            <a:off x="13583411" y="7470648"/>
            <a:ext cx="3191256" cy="173736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Which ledger is official?</a:t>
            </a:r>
          </a:p>
          <a:p>
            <a:pPr algn="l">
              <a:spcAft>
                <a:spcPts val="700"/>
              </a:spcAft>
            </a:pPr>
            <a:r>
              <a:rPr sz="1700" b="0" i="0">
                <a:solidFill>
                  <a:srgbClr val="000000"/>
                </a:solidFill>
                <a:latin typeface="Helvetica Neue"/>
                <a:ea typeface="Helvetica Neue"/>
                <a:cs typeface="Helvetica Neue"/>
              </a:rPr>
              <a:t>Remember Synapse</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Open Banking and the API Economy: The Network View</a:t>
            </a:r>
          </a:p>
        </p:txBody>
      </p:sp>
      <p:sp>
        <p:nvSpPr>
          <p:cNvPr id="3" name="Old head"/>
          <p:cNvSpPr txBox="1"/>
          <p:nvPr/>
        </p:nvSpPr>
        <p:spPr>
          <a:xfrm>
            <a:off x="1257300" y="2697480"/>
            <a:ext cx="7680960" cy="457200"/>
          </a:xfrm>
          <a:prstGeom prst="rect">
            <a:avLst/>
          </a:prstGeom>
          <a:noFill/>
        </p:spPr>
        <p:txBody>
          <a:bodyPr wrap="square" lIns="0" tIns="0" rIns="0" bIns="0" anchor="t">
            <a:spAutoFit/>
          </a:bodyPr>
          <a:lstStyle/>
          <a:p>
            <a:pPr algn="l">
              <a:spcAft>
                <a:spcPts val="600"/>
              </a:spcAft>
            </a:pPr>
            <a:r>
              <a:rPr sz="2200" b="1" i="0">
                <a:solidFill>
                  <a:srgbClr val="C00000"/>
                </a:solidFill>
                <a:latin typeface="Helvetica Neue"/>
                <a:ea typeface="Helvetica Neue"/>
                <a:cs typeface="Helvetica Neue"/>
              </a:rPr>
              <a:t>Screen scraping</a:t>
            </a:r>
          </a:p>
        </p:txBody>
      </p:sp>
      <p:sp>
        <p:nvSpPr>
          <p:cNvPr id="4" name="Old panel"/>
          <p:cNvSpPr/>
          <p:nvPr/>
        </p:nvSpPr>
        <p:spPr>
          <a:xfrm>
            <a:off x="1257300" y="3246120"/>
            <a:ext cx="7680960" cy="301752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5" name="Old phone"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83080" y="3794759"/>
            <a:ext cx="822960" cy="822960"/>
          </a:xfrm>
          <a:prstGeom prst="rect">
            <a:avLst/>
          </a:prstGeom>
        </p:spPr>
      </p:pic>
      <p:pic>
        <p:nvPicPr>
          <p:cNvPr id="6" name="Old app"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40580" y="3771900"/>
            <a:ext cx="868680" cy="868680"/>
          </a:xfrm>
          <a:prstGeom prst="rect">
            <a:avLst/>
          </a:prstGeom>
        </p:spPr>
      </p:pic>
      <p:pic>
        <p:nvPicPr>
          <p:cNvPr id="7" name="Old bank"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20940" y="3771900"/>
            <a:ext cx="868680" cy="868680"/>
          </a:xfrm>
          <a:prstGeom prst="rect">
            <a:avLst/>
          </a:prstGeom>
        </p:spPr>
      </p:pic>
      <p:cxnSp>
        <p:nvCxnSpPr>
          <p:cNvPr id="8" name="Old a1"/>
          <p:cNvCxnSpPr/>
          <p:nvPr/>
        </p:nvCxnSpPr>
        <p:spPr>
          <a:xfrm>
            <a:off x="2697480" y="4206240"/>
            <a:ext cx="1828800" cy="0"/>
          </a:xfrm>
          <a:prstGeom prst="line">
            <a:avLst/>
          </a:prstGeom>
          <a:ln w="3175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Old a2"/>
          <p:cNvCxnSpPr/>
          <p:nvPr/>
        </p:nvCxnSpPr>
        <p:spPr>
          <a:xfrm>
            <a:off x="5623560" y="4206240"/>
            <a:ext cx="1783080" cy="0"/>
          </a:xfrm>
          <a:prstGeom prst="line">
            <a:avLst/>
          </a:prstGeom>
          <a:ln w="3175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Old l1"/>
          <p:cNvSpPr txBox="1"/>
          <p:nvPr/>
        </p:nvSpPr>
        <p:spPr>
          <a:xfrm>
            <a:off x="2377440" y="3383280"/>
            <a:ext cx="2560320" cy="457200"/>
          </a:xfrm>
          <a:prstGeom prst="rect">
            <a:avLst/>
          </a:prstGeom>
          <a:noFill/>
        </p:spPr>
        <p:txBody>
          <a:bodyPr wrap="square" lIns="0" tIns="0" rIns="0" bIns="0" anchor="t">
            <a:spAutoFit/>
          </a:bodyPr>
          <a:lstStyle/>
          <a:p>
            <a:pPr algn="ctr">
              <a:spcAft>
                <a:spcPts val="600"/>
              </a:spcAft>
            </a:pPr>
            <a:r>
              <a:rPr sz="1500" b="1" i="0">
                <a:solidFill>
                  <a:srgbClr val="C00000"/>
                </a:solidFill>
                <a:latin typeface="Helvetica Neue"/>
                <a:ea typeface="Helvetica Neue"/>
                <a:cs typeface="Helvetica Neue"/>
              </a:rPr>
              <a:t>password</a:t>
            </a:r>
          </a:p>
        </p:txBody>
      </p:sp>
      <p:sp>
        <p:nvSpPr>
          <p:cNvPr id="11" name="Old l2"/>
          <p:cNvSpPr txBox="1"/>
          <p:nvPr/>
        </p:nvSpPr>
        <p:spPr>
          <a:xfrm>
            <a:off x="5349240" y="3383280"/>
            <a:ext cx="2377440" cy="457200"/>
          </a:xfrm>
          <a:prstGeom prst="rect">
            <a:avLst/>
          </a:prstGeom>
          <a:noFill/>
        </p:spPr>
        <p:txBody>
          <a:bodyPr wrap="square" lIns="0" tIns="0" rIns="0" bIns="0" anchor="t">
            <a:spAutoFit/>
          </a:bodyPr>
          <a:lstStyle/>
          <a:p>
            <a:pPr algn="ctr">
              <a:spcAft>
                <a:spcPts val="600"/>
              </a:spcAft>
            </a:pPr>
            <a:r>
              <a:rPr sz="1500" b="1" i="0">
                <a:solidFill>
                  <a:srgbClr val="C00000"/>
                </a:solidFill>
                <a:latin typeface="Helvetica Neue"/>
                <a:ea typeface="Helvetica Neue"/>
                <a:cs typeface="Helvetica Neue"/>
              </a:rPr>
              <a:t>logs in as you</a:t>
            </a:r>
          </a:p>
        </p:txBody>
      </p:sp>
      <p:sp>
        <p:nvSpPr>
          <p:cNvPr id="12" name="Old body"/>
          <p:cNvSpPr txBox="1"/>
          <p:nvPr/>
        </p:nvSpPr>
        <p:spPr>
          <a:xfrm>
            <a:off x="1554480" y="4983480"/>
            <a:ext cx="7132320" cy="1234440"/>
          </a:xfrm>
          <a:prstGeom prst="rect">
            <a:avLst/>
          </a:prstGeom>
          <a:noFill/>
        </p:spPr>
        <p:txBody>
          <a:bodyPr wrap="square" lIns="0" tIns="0" rIns="0" bIns="0" anchor="t">
            <a:spAutoFit/>
          </a:bodyPr>
          <a:lstStyle/>
          <a:p>
            <a:pPr algn="l">
              <a:spcAft>
                <a:spcPts val="600"/>
              </a:spcAft>
            </a:pPr>
            <a:r>
              <a:rPr sz="1700" b="0" i="0">
                <a:solidFill>
                  <a:srgbClr val="000000"/>
                </a:solidFill>
                <a:latin typeface="Helvetica Neue"/>
                <a:ea typeface="Helvetica Neue"/>
                <a:cs typeface="Helvetica Neue"/>
              </a:rPr>
              <a:t>The app holds the customer's password. The bank can't tell the app from the customer.</a:t>
            </a:r>
          </a:p>
        </p:txBody>
      </p:sp>
      <p:sp>
        <p:nvSpPr>
          <p:cNvPr id="13" name="New head"/>
          <p:cNvSpPr txBox="1"/>
          <p:nvPr/>
        </p:nvSpPr>
        <p:spPr>
          <a:xfrm>
            <a:off x="9349740" y="2697480"/>
            <a:ext cx="7680960" cy="457200"/>
          </a:xfrm>
          <a:prstGeom prst="rect">
            <a:avLst/>
          </a:prstGeom>
          <a:noFill/>
        </p:spPr>
        <p:txBody>
          <a:bodyPr wrap="square" lIns="0" tIns="0" rIns="0" bIns="0" anchor="t">
            <a:spAutoFit/>
          </a:bodyPr>
          <a:lstStyle/>
          <a:p>
            <a:pPr algn="l">
              <a:spcAft>
                <a:spcPts val="600"/>
              </a:spcAft>
            </a:pPr>
            <a:r>
              <a:rPr sz="2200" b="1" i="0">
                <a:solidFill>
                  <a:srgbClr val="2E7D32"/>
                </a:solidFill>
                <a:latin typeface="Helvetica Neue"/>
                <a:ea typeface="Helvetica Neue"/>
                <a:cs typeface="Helvetica Neue"/>
              </a:rPr>
              <a:t>API with a token</a:t>
            </a:r>
          </a:p>
        </p:txBody>
      </p:sp>
      <p:sp>
        <p:nvSpPr>
          <p:cNvPr id="14" name="New panel"/>
          <p:cNvSpPr/>
          <p:nvPr/>
        </p:nvSpPr>
        <p:spPr>
          <a:xfrm>
            <a:off x="9349740" y="3246120"/>
            <a:ext cx="7680960" cy="3017520"/>
          </a:xfrm>
          <a:prstGeom prst="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5" name="New phone"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75520" y="3794759"/>
            <a:ext cx="822960" cy="822960"/>
          </a:xfrm>
          <a:prstGeom prst="rect">
            <a:avLst/>
          </a:prstGeom>
        </p:spPr>
      </p:pic>
      <p:pic>
        <p:nvPicPr>
          <p:cNvPr id="16" name="New app"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733020" y="3771900"/>
            <a:ext cx="868680" cy="868680"/>
          </a:xfrm>
          <a:prstGeom prst="rect">
            <a:avLst/>
          </a:prstGeom>
        </p:spPr>
      </p:pic>
      <p:pic>
        <p:nvPicPr>
          <p:cNvPr id="17" name="New bank"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613380" y="3771900"/>
            <a:ext cx="868680" cy="868680"/>
          </a:xfrm>
          <a:prstGeom prst="rect">
            <a:avLst/>
          </a:prstGeom>
        </p:spPr>
      </p:pic>
      <p:cxnSp>
        <p:nvCxnSpPr>
          <p:cNvPr id="18" name="New a1"/>
          <p:cNvCxnSpPr/>
          <p:nvPr/>
        </p:nvCxnSpPr>
        <p:spPr>
          <a:xfrm>
            <a:off x="10789920" y="4206240"/>
            <a:ext cx="1828800" cy="0"/>
          </a:xfrm>
          <a:prstGeom prst="line">
            <a:avLst/>
          </a:prstGeom>
          <a:ln w="3175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New a2"/>
          <p:cNvCxnSpPr/>
          <p:nvPr/>
        </p:nvCxnSpPr>
        <p:spPr>
          <a:xfrm>
            <a:off x="13716000" y="4206240"/>
            <a:ext cx="1783080" cy="0"/>
          </a:xfrm>
          <a:prstGeom prst="line">
            <a:avLst/>
          </a:prstGeom>
          <a:ln w="3175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New l1"/>
          <p:cNvSpPr txBox="1"/>
          <p:nvPr/>
        </p:nvSpPr>
        <p:spPr>
          <a:xfrm>
            <a:off x="10469880" y="3383280"/>
            <a:ext cx="2560320" cy="457200"/>
          </a:xfrm>
          <a:prstGeom prst="rect">
            <a:avLst/>
          </a:prstGeom>
          <a:noFill/>
        </p:spPr>
        <p:txBody>
          <a:bodyPr wrap="square" lIns="0" tIns="0" rIns="0" bIns="0" anchor="t">
            <a:spAutoFit/>
          </a:bodyPr>
          <a:lstStyle/>
          <a:p>
            <a:pPr algn="ctr">
              <a:spcAft>
                <a:spcPts val="600"/>
              </a:spcAft>
            </a:pPr>
            <a:r>
              <a:rPr sz="1500" b="1" i="0">
                <a:solidFill>
                  <a:srgbClr val="2E7D32"/>
                </a:solidFill>
                <a:latin typeface="Helvetica Neue"/>
                <a:ea typeface="Helvetica Neue"/>
                <a:cs typeface="Helvetica Neue"/>
              </a:rPr>
              <a:t>approves</a:t>
            </a:r>
          </a:p>
        </p:txBody>
      </p:sp>
      <p:sp>
        <p:nvSpPr>
          <p:cNvPr id="21" name="New l2"/>
          <p:cNvSpPr txBox="1"/>
          <p:nvPr/>
        </p:nvSpPr>
        <p:spPr>
          <a:xfrm>
            <a:off x="13441680" y="3383280"/>
            <a:ext cx="2377440" cy="457200"/>
          </a:xfrm>
          <a:prstGeom prst="rect">
            <a:avLst/>
          </a:prstGeom>
          <a:noFill/>
        </p:spPr>
        <p:txBody>
          <a:bodyPr wrap="square" lIns="0" tIns="0" rIns="0" bIns="0" anchor="t">
            <a:spAutoFit/>
          </a:bodyPr>
          <a:lstStyle/>
          <a:p>
            <a:pPr algn="ctr">
              <a:spcAft>
                <a:spcPts val="600"/>
              </a:spcAft>
            </a:pPr>
            <a:r>
              <a:rPr sz="1500" b="1" i="0">
                <a:solidFill>
                  <a:srgbClr val="2E7D32"/>
                </a:solidFill>
                <a:latin typeface="Helvetica Neue"/>
                <a:ea typeface="Helvetica Neue"/>
                <a:cs typeface="Helvetica Neue"/>
              </a:rPr>
              <a:t>API + token</a:t>
            </a:r>
          </a:p>
        </p:txBody>
      </p:sp>
      <p:sp>
        <p:nvSpPr>
          <p:cNvPr id="22" name="New body"/>
          <p:cNvSpPr txBox="1"/>
          <p:nvPr/>
        </p:nvSpPr>
        <p:spPr>
          <a:xfrm>
            <a:off x="9646920" y="4983480"/>
            <a:ext cx="7132320" cy="1234440"/>
          </a:xfrm>
          <a:prstGeom prst="rect">
            <a:avLst/>
          </a:prstGeom>
          <a:noFill/>
        </p:spPr>
        <p:txBody>
          <a:bodyPr wrap="square" lIns="0" tIns="0" rIns="0" bIns="0" anchor="t">
            <a:spAutoFit/>
          </a:bodyPr>
          <a:lstStyle/>
          <a:p>
            <a:pPr algn="l">
              <a:spcAft>
                <a:spcPts val="600"/>
              </a:spcAft>
            </a:pPr>
            <a:r>
              <a:rPr sz="1700" b="0" i="0">
                <a:solidFill>
                  <a:srgbClr val="000000"/>
                </a:solidFill>
                <a:latin typeface="Helvetica Neue"/>
                <a:ea typeface="Helvetica Neue"/>
                <a:cs typeface="Helvetica Neue"/>
              </a:rPr>
              <a:t>A limited token instead of the password. The bank sees who's calling and can revoke it.</a:t>
            </a:r>
          </a:p>
        </p:txBody>
      </p:sp>
      <p:sp>
        <p:nvSpPr>
          <p:cNvPr id="23" name="Rule panel"/>
          <p:cNvSpPr/>
          <p:nvPr/>
        </p:nvSpPr>
        <p:spPr>
          <a:xfrm>
            <a:off x="1257300" y="6583680"/>
            <a:ext cx="7680960" cy="27889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4" name="Rule text"/>
          <p:cNvSpPr txBox="1"/>
          <p:nvPr/>
        </p:nvSpPr>
        <p:spPr>
          <a:xfrm>
            <a:off x="1554480" y="6720840"/>
            <a:ext cx="7132320" cy="2560320"/>
          </a:xfrm>
          <a:prstGeom prst="rect">
            <a:avLst/>
          </a:prstGeom>
          <a:noFill/>
        </p:spPr>
        <p:txBody>
          <a:bodyPr wrap="square" lIns="0" tIns="0" rIns="0" bIns="0" anchor="t">
            <a:spAutoFit/>
          </a:bodyPr>
          <a:lstStyle/>
          <a:p>
            <a:pPr algn="l">
              <a:spcAft>
                <a:spcPts val="600"/>
              </a:spcAft>
            </a:pPr>
            <a:r>
              <a:rPr sz="2100" b="1" i="0">
                <a:solidFill>
                  <a:srgbClr val="000000"/>
                </a:solidFill>
                <a:latin typeface="Helvetica Neue"/>
                <a:ea typeface="Helvetica Neue"/>
                <a:cs typeface="Helvetica Neue"/>
              </a:rPr>
              <a:t>CFPB Section 1033 rule</a:t>
            </a:r>
          </a:p>
          <a:p>
            <a:pPr algn="l">
              <a:spcAft>
                <a:spcPts val="600"/>
              </a:spcAft>
            </a:pPr>
            <a:r>
              <a:rPr sz="1700" b="0" i="0">
                <a:solidFill>
                  <a:srgbClr val="000000"/>
                </a:solidFill>
                <a:latin typeface="Helvetica Neue"/>
                <a:ea typeface="Helvetica Neue"/>
                <a:cs typeface="Helvetica Neue"/>
              </a:rPr>
              <a:t>Finalized October 2024. Being rewritten since 2025; a court blocked enforcement in October 2025.</a:t>
            </a:r>
          </a:p>
          <a:p>
            <a:pPr algn="l">
              <a:spcAft>
                <a:spcPts val="600"/>
              </a:spcAft>
            </a:pPr>
            <a:r>
              <a:rPr sz="1700" b="1" i="0">
                <a:solidFill>
                  <a:srgbClr val="ED7D31"/>
                </a:solidFill>
                <a:latin typeface="Helvetica Neue"/>
                <a:ea typeface="Helvetica Neue"/>
                <a:cs typeface="Helvetica Neue"/>
              </a:rPr>
              <a:t>Deadlines effectively on hold. Check the news before class.</a:t>
            </a:r>
          </a:p>
        </p:txBody>
      </p:sp>
      <p:sp>
        <p:nvSpPr>
          <p:cNvPr id="25" name="Net panel"/>
          <p:cNvSpPr/>
          <p:nvPr/>
        </p:nvSpPr>
        <p:spPr>
          <a:xfrm>
            <a:off x="9349740" y="6583680"/>
            <a:ext cx="7680960" cy="278892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6" name="Net list"/>
          <p:cNvSpPr txBox="1"/>
          <p:nvPr/>
        </p:nvSpPr>
        <p:spPr>
          <a:xfrm>
            <a:off x="9646920" y="6720840"/>
            <a:ext cx="7132320" cy="2560320"/>
          </a:xfrm>
          <a:prstGeom prst="rect">
            <a:avLst/>
          </a:prstGeom>
          <a:noFill/>
        </p:spPr>
        <p:txBody>
          <a:bodyPr wrap="square" lIns="0" tIns="0" rIns="0" bIns="0">
            <a:spAutoFit/>
          </a:bodyPr>
          <a:lstStyle/>
          <a:p>
            <a:pPr>
              <a:spcAft>
                <a:spcPts val="800"/>
              </a:spcAft>
            </a:pPr>
            <a:r>
              <a:rPr sz="2100" b="1" i="0">
                <a:solidFill>
                  <a:srgbClr val="000000"/>
                </a:solidFill>
                <a:latin typeface="Helvetica Neue"/>
                <a:ea typeface="Helvetica Neue"/>
                <a:cs typeface="Helvetica Neue"/>
              </a:rPr>
              <a:t>Either way, the network needs</a:t>
            </a:r>
          </a:p>
          <a:p>
            <a:pPr marL="274320" indent="-274320">
              <a:spcAft>
                <a:spcPts val="600"/>
              </a:spcAft>
              <a:buFont typeface="Arial"/>
              <a:buChar char="•"/>
            </a:pPr>
            <a:r>
              <a:rPr sz="1800" b="0" i="0">
                <a:solidFill>
                  <a:srgbClr val="000000"/>
                </a:solidFill>
                <a:latin typeface="Helvetica Neue"/>
                <a:ea typeface="Helvetica Neue"/>
                <a:cs typeface="Helvetica Neue"/>
              </a:rPr>
              <a:t>An API gateway in front of the bank's data</a:t>
            </a:r>
          </a:p>
          <a:p>
            <a:pPr marL="274320" indent="-274320">
              <a:spcAft>
                <a:spcPts val="600"/>
              </a:spcAft>
              <a:buFont typeface="Arial"/>
              <a:buChar char="•"/>
            </a:pPr>
            <a:r>
              <a:rPr sz="1800" b="0" i="0">
                <a:solidFill>
                  <a:srgbClr val="000000"/>
                </a:solidFill>
                <a:latin typeface="Helvetica Neue"/>
                <a:ea typeface="Helvetica Neue"/>
                <a:cs typeface="Helvetica Neue"/>
              </a:rPr>
              <a:t>Rate limits and monitoring</a:t>
            </a:r>
          </a:p>
          <a:p>
            <a:pPr marL="274320" indent="-274320">
              <a:spcAft>
                <a:spcPts val="600"/>
              </a:spcAft>
              <a:buFont typeface="Arial"/>
              <a:buChar char="•"/>
            </a:pPr>
            <a:r>
              <a:rPr sz="1800" b="0" i="0">
                <a:solidFill>
                  <a:srgbClr val="000000"/>
                </a:solidFill>
                <a:latin typeface="Helvetica Neue"/>
                <a:ea typeface="Helvetica Neue"/>
                <a:cs typeface="Helvetica Neue"/>
              </a:rPr>
              <a:t>A clear answer to who is calling</a:t>
            </a:r>
          </a:p>
        </p:txBody>
      </p:sp>
      <p:sp>
        <p:nvSpPr>
          <p:cNvPr id="27"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Sources: CFPB Personal Financial Data Rights rule (Oct 2024); Open Banking Tracker, Section 1033 status (June 2026)</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InTREx Tie-In: Core Processing</a:t>
            </a:r>
          </a:p>
        </p:txBody>
      </p:sp>
      <p:sp>
        <p:nvSpPr>
          <p:cNvPr id="3" name="Form frame"/>
          <p:cNvSpPr/>
          <p:nvPr/>
        </p:nvSpPr>
        <p:spPr>
          <a:xfrm>
            <a:off x="1257300" y="2514600"/>
            <a:ext cx="7863840" cy="3794760"/>
          </a:xfrm>
          <a:prstGeom prst="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Form header band"/>
          <p:cNvSpPr/>
          <p:nvPr/>
        </p:nvSpPr>
        <p:spPr>
          <a:xfrm>
            <a:off x="1257300" y="2514600"/>
            <a:ext cx="7863840" cy="548640"/>
          </a:xfrm>
          <a:prstGeom prst="rect">
            <a:avLst/>
          </a:prstGeom>
          <a:solidFill>
            <a:srgbClr val="D9D9D9"/>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5" name="Form header"/>
          <p:cNvSpPr txBox="1"/>
          <p:nvPr/>
        </p:nvSpPr>
        <p:spPr>
          <a:xfrm>
            <a:off x="1485900" y="2606040"/>
            <a:ext cx="6766559" cy="411480"/>
          </a:xfrm>
          <a:prstGeom prst="rect">
            <a:avLst/>
          </a:prstGeom>
          <a:noFill/>
        </p:spPr>
        <p:txBody>
          <a:bodyPr wrap="square" lIns="0" tIns="0" rIns="0" bIns="0" anchor="ctr">
            <a:spAutoFit/>
          </a:bodyPr>
          <a:lstStyle/>
          <a:p>
            <a:pPr algn="l">
              <a:spcAft>
                <a:spcPts val="600"/>
              </a:spcAft>
            </a:pPr>
            <a:r>
              <a:rPr sz="1800" b="1" i="0">
                <a:solidFill>
                  <a:srgbClr val="000000"/>
                </a:solidFill>
                <a:latin typeface="Helvetica Neue"/>
                <a:ea typeface="Helvetica Neue"/>
                <a:cs typeface="Helvetica Neue"/>
              </a:rPr>
              <a:t>Information Technology Profile  ·  Core Processing</a:t>
            </a:r>
          </a:p>
        </p:txBody>
      </p:sp>
      <p:pic>
        <p:nvPicPr>
          <p:cNvPr id="6" name="Form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12480" y="2583179"/>
            <a:ext cx="411480" cy="411480"/>
          </a:xfrm>
          <a:prstGeom prst="rect">
            <a:avLst/>
          </a:prstGeom>
        </p:spPr>
      </p:pic>
      <p:sp>
        <p:nvSpPr>
          <p:cNvPr id="7" name="Form question"/>
          <p:cNvSpPr txBox="1"/>
          <p:nvPr/>
        </p:nvSpPr>
        <p:spPr>
          <a:xfrm>
            <a:off x="1577340" y="3291840"/>
            <a:ext cx="7223759" cy="822960"/>
          </a:xfrm>
          <a:prstGeom prst="rect">
            <a:avLst/>
          </a:prstGeom>
          <a:noFill/>
        </p:spPr>
        <p:txBody>
          <a:bodyPr wrap="square" lIns="0" tIns="0" rIns="0" bIns="0" anchor="t">
            <a:spAutoFit/>
          </a:bodyPr>
          <a:lstStyle/>
          <a:p>
            <a:pPr algn="l">
              <a:spcAft>
                <a:spcPts val="600"/>
              </a:spcAft>
            </a:pPr>
            <a:r>
              <a:rPr sz="2000" b="0" i="0">
                <a:solidFill>
                  <a:srgbClr val="000000"/>
                </a:solidFill>
                <a:latin typeface="Helvetica Neue"/>
                <a:ea typeface="Helvetica Neue"/>
                <a:cs typeface="Helvetica Neue"/>
              </a:rPr>
              <a:t>1.  Indicate whether core applications are outsourced or hosted in-house. (Each: Outsourced or In-House)</a:t>
            </a:r>
          </a:p>
        </p:txBody>
      </p:sp>
      <p:sp>
        <p:nvSpPr>
          <p:cNvPr id="8" name="Checkbox 1"/>
          <p:cNvSpPr/>
          <p:nvPr/>
        </p:nvSpPr>
        <p:spPr>
          <a:xfrm>
            <a:off x="1805940" y="4261103"/>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9" name="Option 1"/>
          <p:cNvSpPr txBox="1"/>
          <p:nvPr/>
        </p:nvSpPr>
        <p:spPr>
          <a:xfrm>
            <a:off x="2263140" y="4206240"/>
            <a:ext cx="2971799" cy="41148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General Ledger</a:t>
            </a:r>
          </a:p>
        </p:txBody>
      </p:sp>
      <p:sp>
        <p:nvSpPr>
          <p:cNvPr id="10" name="Checkbox 2"/>
          <p:cNvSpPr/>
          <p:nvPr/>
        </p:nvSpPr>
        <p:spPr>
          <a:xfrm>
            <a:off x="5326379" y="4261103"/>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1" name="Option 2"/>
          <p:cNvSpPr txBox="1"/>
          <p:nvPr/>
        </p:nvSpPr>
        <p:spPr>
          <a:xfrm>
            <a:off x="5783579" y="4206240"/>
            <a:ext cx="2971799" cy="41148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Loans</a:t>
            </a:r>
          </a:p>
        </p:txBody>
      </p:sp>
      <p:sp>
        <p:nvSpPr>
          <p:cNvPr id="12" name="Checkbox 3"/>
          <p:cNvSpPr/>
          <p:nvPr/>
        </p:nvSpPr>
        <p:spPr>
          <a:xfrm>
            <a:off x="1805940" y="4828031"/>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3" name="Option 3"/>
          <p:cNvSpPr txBox="1"/>
          <p:nvPr/>
        </p:nvSpPr>
        <p:spPr>
          <a:xfrm>
            <a:off x="2263140" y="4773168"/>
            <a:ext cx="2971799" cy="41148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Deposits</a:t>
            </a:r>
          </a:p>
        </p:txBody>
      </p:sp>
      <p:sp>
        <p:nvSpPr>
          <p:cNvPr id="14" name="Checkbox 4"/>
          <p:cNvSpPr/>
          <p:nvPr/>
        </p:nvSpPr>
        <p:spPr>
          <a:xfrm>
            <a:off x="5326379" y="4828031"/>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5" name="Option 4"/>
          <p:cNvSpPr txBox="1"/>
          <p:nvPr/>
        </p:nvSpPr>
        <p:spPr>
          <a:xfrm>
            <a:off x="5783579" y="4773168"/>
            <a:ext cx="2971799" cy="41148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Investments</a:t>
            </a:r>
          </a:p>
        </p:txBody>
      </p:sp>
      <p:sp>
        <p:nvSpPr>
          <p:cNvPr id="16" name="Checkbox 5"/>
          <p:cNvSpPr/>
          <p:nvPr/>
        </p:nvSpPr>
        <p:spPr>
          <a:xfrm>
            <a:off x="1805940" y="5394959"/>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7" name="Option 5"/>
          <p:cNvSpPr txBox="1"/>
          <p:nvPr/>
        </p:nvSpPr>
        <p:spPr>
          <a:xfrm>
            <a:off x="2263140" y="5340096"/>
            <a:ext cx="2971799" cy="41148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Trust</a:t>
            </a:r>
          </a:p>
        </p:txBody>
      </p:sp>
      <p:sp>
        <p:nvSpPr>
          <p:cNvPr id="18" name="Quote panel"/>
          <p:cNvSpPr/>
          <p:nvPr/>
        </p:nvSpPr>
        <p:spPr>
          <a:xfrm>
            <a:off x="9692640" y="2514600"/>
            <a:ext cx="7315200" cy="379476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9" name="Quote mark"/>
          <p:cNvSpPr txBox="1"/>
          <p:nvPr/>
        </p:nvSpPr>
        <p:spPr>
          <a:xfrm>
            <a:off x="9966960" y="2560320"/>
            <a:ext cx="914400" cy="914400"/>
          </a:xfrm>
          <a:prstGeom prst="rect">
            <a:avLst/>
          </a:prstGeom>
          <a:noFill/>
        </p:spPr>
        <p:txBody>
          <a:bodyPr wrap="square" lIns="0" tIns="0" rIns="0" bIns="0" anchor="t">
            <a:spAutoFit/>
          </a:bodyPr>
          <a:lstStyle/>
          <a:p>
            <a:pPr algn="l">
              <a:spcAft>
                <a:spcPts val="600"/>
              </a:spcAft>
            </a:pPr>
            <a:r>
              <a:rPr sz="9600" b="1" i="0">
                <a:solidFill>
                  <a:srgbClr val="8EA9DB"/>
                </a:solidFill>
                <a:latin typeface="Helvetica Neue"/>
                <a:ea typeface="Helvetica Neue"/>
                <a:cs typeface="Helvetica Neue"/>
              </a:rPr>
              <a:t>“</a:t>
            </a:r>
          </a:p>
        </p:txBody>
      </p:sp>
      <p:sp>
        <p:nvSpPr>
          <p:cNvPr id="20" name="Quote text"/>
          <p:cNvSpPr txBox="1"/>
          <p:nvPr/>
        </p:nvSpPr>
        <p:spPr>
          <a:xfrm>
            <a:off x="10149840" y="3291840"/>
            <a:ext cx="6400800" cy="1600200"/>
          </a:xfrm>
          <a:prstGeom prst="rect">
            <a:avLst/>
          </a:prstGeom>
          <a:noFill/>
        </p:spPr>
        <p:txBody>
          <a:bodyPr wrap="square" lIns="0" tIns="0" rIns="0" bIns="0" anchor="t">
            <a:spAutoFit/>
          </a:bodyPr>
          <a:lstStyle/>
          <a:p>
            <a:pPr algn="l">
              <a:spcAft>
                <a:spcPts val="600"/>
              </a:spcAft>
            </a:pPr>
            <a:r>
              <a:rPr sz="2200" b="0" i="1">
                <a:solidFill>
                  <a:srgbClr val="000000"/>
                </a:solidFill>
                <a:latin typeface="Helvetica Neue"/>
                <a:ea typeface="Helvetica Neue"/>
                <a:cs typeface="Helvetica Neue"/>
              </a:rPr>
              <a:t>The critical business processes that are dependent on external connectivity have been identified.</a:t>
            </a:r>
          </a:p>
        </p:txBody>
      </p:sp>
      <p:sp>
        <p:nvSpPr>
          <p:cNvPr id="21" name="Quote source"/>
          <p:cNvSpPr txBox="1"/>
          <p:nvPr/>
        </p:nvSpPr>
        <p:spPr>
          <a:xfrm>
            <a:off x="10149840" y="4937760"/>
            <a:ext cx="6400800" cy="365760"/>
          </a:xfrm>
          <a:prstGeom prst="rect">
            <a:avLst/>
          </a:prstGeom>
          <a:noFill/>
        </p:spPr>
        <p:txBody>
          <a:bodyPr wrap="square" lIns="0" tIns="0" rIns="0" bIns="0" anchor="t">
            <a:spAutoFit/>
          </a:bodyPr>
          <a:lstStyle/>
          <a:p>
            <a:pPr algn="l">
              <a:spcAft>
                <a:spcPts val="600"/>
              </a:spcAft>
            </a:pPr>
            <a:r>
              <a:rPr sz="1600" b="0" i="0">
                <a:solidFill>
                  <a:srgbClr val="595959"/>
                </a:solidFill>
                <a:latin typeface="Helvetica Neue"/>
                <a:ea typeface="Helvetica Neue"/>
                <a:cs typeface="Helvetica Neue"/>
              </a:rPr>
              <a:t>InTREx Management module baseline statement</a:t>
            </a:r>
          </a:p>
        </p:txBody>
      </p:sp>
      <p:sp>
        <p:nvSpPr>
          <p:cNvPr id="22" name="Quote prompt"/>
          <p:cNvSpPr txBox="1"/>
          <p:nvPr/>
        </p:nvSpPr>
        <p:spPr>
          <a:xfrm>
            <a:off x="10149840" y="5440680"/>
            <a:ext cx="6400800" cy="731520"/>
          </a:xfrm>
          <a:prstGeom prst="rect">
            <a:avLst/>
          </a:prstGeom>
          <a:noFill/>
        </p:spPr>
        <p:txBody>
          <a:bodyPr wrap="square" lIns="0" tIns="0" rIns="0" bIns="0" anchor="t">
            <a:spAutoFit/>
          </a:bodyPr>
          <a:lstStyle/>
          <a:p>
            <a:pPr algn="l">
              <a:spcAft>
                <a:spcPts val="600"/>
              </a:spcAft>
            </a:pPr>
            <a:r>
              <a:rPr sz="2400" b="1" i="0">
                <a:solidFill>
                  <a:srgbClr val="000000"/>
                </a:solidFill>
                <a:latin typeface="Helvetica Neue"/>
                <a:ea typeface="Helvetica Neue"/>
                <a:cs typeface="Helvetica Neue"/>
              </a:rPr>
              <a:t>If the circuit to the core went down at 10 a.m.?</a:t>
            </a:r>
          </a:p>
        </p:txBody>
      </p:sp>
      <p:sp>
        <p:nvSpPr>
          <p:cNvPr id="23" name="Leads heading"/>
          <p:cNvSpPr txBox="1"/>
          <p:nvPr/>
        </p:nvSpPr>
        <p:spPr>
          <a:xfrm>
            <a:off x="1257300" y="6675120"/>
            <a:ext cx="15544800" cy="457200"/>
          </a:xfrm>
          <a:prstGeom prst="rect">
            <a:avLst/>
          </a:prstGeom>
          <a:noFill/>
        </p:spPr>
        <p:txBody>
          <a:bodyPr wrap="square" lIns="0" tIns="0" rIns="0" bIns="0" anchor="t">
            <a:spAutoFit/>
          </a:bodyPr>
          <a:lstStyle/>
          <a:p>
            <a:pPr algn="l">
              <a:spcAft>
                <a:spcPts val="600"/>
              </a:spcAft>
            </a:pPr>
            <a:r>
              <a:rPr sz="2400" b="1" i="0">
                <a:solidFill>
                  <a:srgbClr val="000000"/>
                </a:solidFill>
                <a:latin typeface="Helvetica Neue"/>
                <a:ea typeface="Helvetica Neue"/>
                <a:cs typeface="Helvetica Neue"/>
              </a:rPr>
              <a:t>Where question 1 leads</a:t>
            </a:r>
          </a:p>
        </p:txBody>
      </p:sp>
      <p:sp>
        <p:nvSpPr>
          <p:cNvPr id="24" name="Card 1"/>
          <p:cNvSpPr/>
          <p:nvPr/>
        </p:nvSpPr>
        <p:spPr>
          <a:xfrm>
            <a:off x="1257300"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5" name="Card 1 text"/>
          <p:cNvSpPr txBox="1"/>
          <p:nvPr/>
        </p:nvSpPr>
        <p:spPr>
          <a:xfrm>
            <a:off x="1513332"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Vendor management</a:t>
            </a:r>
          </a:p>
          <a:p>
            <a:pPr algn="l">
              <a:spcAft>
                <a:spcPts val="700"/>
              </a:spcAft>
            </a:pPr>
            <a:r>
              <a:rPr sz="1600" b="0" i="0">
                <a:solidFill>
                  <a:srgbClr val="000000"/>
                </a:solidFill>
                <a:latin typeface="Helvetica Neue"/>
                <a:ea typeface="Helvetica Neue"/>
                <a:cs typeface="Helvetica Neue"/>
              </a:rPr>
              <a:t>Due diligence, contracts and monitoring of the core processor</a:t>
            </a:r>
          </a:p>
        </p:txBody>
      </p:sp>
      <p:sp>
        <p:nvSpPr>
          <p:cNvPr id="26" name="Card 2"/>
          <p:cNvSpPr/>
          <p:nvPr/>
        </p:nvSpPr>
        <p:spPr>
          <a:xfrm>
            <a:off x="5280659"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7" name="Card 2 text"/>
          <p:cNvSpPr txBox="1"/>
          <p:nvPr/>
        </p:nvSpPr>
        <p:spPr>
          <a:xfrm>
            <a:off x="5536692"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Network path</a:t>
            </a:r>
          </a:p>
          <a:p>
            <a:pPr algn="l">
              <a:spcAft>
                <a:spcPts val="700"/>
              </a:spcAft>
            </a:pPr>
            <a:r>
              <a:rPr sz="1600" b="0" i="0">
                <a:solidFill>
                  <a:srgbClr val="000000"/>
                </a:solidFill>
                <a:latin typeface="Helvetica Neue"/>
                <a:ea typeface="Helvetica Neue"/>
                <a:cs typeface="Helvetica Neue"/>
              </a:rPr>
              <a:t>The circuit to the processor, and its backup</a:t>
            </a:r>
          </a:p>
        </p:txBody>
      </p:sp>
      <p:sp>
        <p:nvSpPr>
          <p:cNvPr id="28" name="Card 3"/>
          <p:cNvSpPr/>
          <p:nvPr/>
        </p:nvSpPr>
        <p:spPr>
          <a:xfrm>
            <a:off x="9304019"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9" name="Card 3 text"/>
          <p:cNvSpPr txBox="1"/>
          <p:nvPr/>
        </p:nvSpPr>
        <p:spPr>
          <a:xfrm>
            <a:off x="9560051"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Business continuity</a:t>
            </a:r>
          </a:p>
          <a:p>
            <a:pPr algn="l">
              <a:spcAft>
                <a:spcPts val="700"/>
              </a:spcAft>
            </a:pPr>
            <a:r>
              <a:rPr sz="1600" b="0" i="0">
                <a:solidFill>
                  <a:srgbClr val="000000"/>
                </a:solidFill>
                <a:latin typeface="Helvetica Neue"/>
                <a:ea typeface="Helvetica Neue"/>
                <a:cs typeface="Helvetica Neue"/>
              </a:rPr>
              <a:t>What the branches do when the core is unreachable</a:t>
            </a:r>
          </a:p>
        </p:txBody>
      </p:sp>
      <p:sp>
        <p:nvSpPr>
          <p:cNvPr id="30" name="Card 4"/>
          <p:cNvSpPr/>
          <p:nvPr/>
        </p:nvSpPr>
        <p:spPr>
          <a:xfrm>
            <a:off x="13327380"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1" name="Card 4 text"/>
          <p:cNvSpPr txBox="1"/>
          <p:nvPr/>
        </p:nvSpPr>
        <p:spPr>
          <a:xfrm>
            <a:off x="13583411"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Data flow diagrams</a:t>
            </a:r>
          </a:p>
          <a:p>
            <a:pPr algn="l">
              <a:spcAft>
                <a:spcPts val="700"/>
              </a:spcAft>
            </a:pPr>
            <a:r>
              <a:rPr sz="1600" b="0" i="0">
                <a:solidFill>
                  <a:srgbClr val="000000"/>
                </a:solidFill>
                <a:latin typeface="Helvetica Neue"/>
                <a:ea typeface="Helvetica Neue"/>
                <a:cs typeface="Helvetica Neue"/>
              </a:rPr>
              <a:t>Baseline: information flow to external parties is documented</a:t>
            </a:r>
          </a:p>
        </p:txBody>
      </p:sp>
      <p:sp>
        <p:nvSpPr>
          <p:cNvPr id="32"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Source: InTREx Information Technology Profile and Management module (September 2023 version)</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Chapter 25: </a:t>
            </a:r>
            <a:br>
              <a:rPr lang="en-US" dirty="0"/>
            </a:br>
            <a:r>
              <a:rPr dirty="0"/>
              <a:t>SaaS and Business Applications</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Microsoft 365: Email, Files, and Identity in the Cloud</a:t>
            </a:r>
          </a:p>
        </p:txBody>
      </p:sp>
      <p:sp>
        <p:nvSpPr>
          <p:cNvPr id="3" name="M365 cloud panel"/>
          <p:cNvSpPr/>
          <p:nvPr/>
        </p:nvSpPr>
        <p:spPr>
          <a:xfrm>
            <a:off x="5669280" y="2697480"/>
            <a:ext cx="6949440" cy="4206240"/>
          </a:xfrm>
          <a:prstGeom prst="roundRect">
            <a:avLst/>
          </a:prstGeom>
          <a:solidFill>
            <a:srgbClr val="EEF2F8"/>
          </a:solidFill>
          <a:ln w="28575">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4" name="M365 cloud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35040" y="2880360"/>
            <a:ext cx="731520" cy="731520"/>
          </a:xfrm>
          <a:prstGeom prst="rect">
            <a:avLst/>
          </a:prstGeom>
        </p:spPr>
      </p:pic>
      <p:sp>
        <p:nvSpPr>
          <p:cNvPr id="5" name="M365 head"/>
          <p:cNvSpPr txBox="1"/>
          <p:nvPr/>
        </p:nvSpPr>
        <p:spPr>
          <a:xfrm>
            <a:off x="6949440" y="2926080"/>
            <a:ext cx="5486400" cy="640080"/>
          </a:xfrm>
          <a:prstGeom prst="rect">
            <a:avLst/>
          </a:prstGeom>
          <a:noFill/>
        </p:spPr>
        <p:txBody>
          <a:bodyPr wrap="square" lIns="0" tIns="0" rIns="0" bIns="0" anchor="ctr">
            <a:spAutoFit/>
          </a:bodyPr>
          <a:lstStyle/>
          <a:p>
            <a:pPr algn="l">
              <a:spcAft>
                <a:spcPts val="600"/>
              </a:spcAft>
            </a:pPr>
            <a:r>
              <a:rPr sz="2600" b="1" i="0">
                <a:solidFill>
                  <a:srgbClr val="2F75B5"/>
                </a:solidFill>
                <a:latin typeface="Helvetica Neue"/>
                <a:ea typeface="Helvetica Neue"/>
                <a:cs typeface="Helvetica Neue"/>
              </a:rPr>
              <a:t>Microsoft 365</a:t>
            </a:r>
          </a:p>
        </p:txBody>
      </p:sp>
      <p:sp>
        <p:nvSpPr>
          <p:cNvPr id="6" name="M365 part 1"/>
          <p:cNvSpPr/>
          <p:nvPr/>
        </p:nvSpPr>
        <p:spPr>
          <a:xfrm>
            <a:off x="5943600" y="3794760"/>
            <a:ext cx="2011680" cy="1325880"/>
          </a:xfrm>
          <a:prstGeom prst="round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7" name="M365 part 1 text"/>
          <p:cNvSpPr txBox="1"/>
          <p:nvPr/>
        </p:nvSpPr>
        <p:spPr>
          <a:xfrm>
            <a:off x="6035040" y="3840480"/>
            <a:ext cx="1828800" cy="1234440"/>
          </a:xfrm>
          <a:prstGeom prst="rect">
            <a:avLst/>
          </a:prstGeom>
          <a:noFill/>
        </p:spPr>
        <p:txBody>
          <a:bodyPr wrap="square" lIns="0" tIns="0" rIns="0" bIns="0" anchor="ctr">
            <a:spAutoFit/>
          </a:bodyPr>
          <a:lstStyle/>
          <a:p>
            <a:pPr algn="ctr">
              <a:spcAft>
                <a:spcPts val="200"/>
              </a:spcAft>
            </a:pPr>
            <a:r>
              <a:rPr sz="1600" b="1" i="0">
                <a:solidFill>
                  <a:srgbClr val="000000"/>
                </a:solidFill>
                <a:latin typeface="Helvetica Neue"/>
                <a:ea typeface="Helvetica Neue"/>
                <a:cs typeface="Helvetica Neue"/>
              </a:rPr>
              <a:t>Exchange Online</a:t>
            </a:r>
          </a:p>
          <a:p>
            <a:pPr algn="ctr">
              <a:spcAft>
                <a:spcPts val="200"/>
              </a:spcAft>
            </a:pPr>
            <a:r>
              <a:rPr sz="1400" b="0" i="0">
                <a:solidFill>
                  <a:srgbClr val="404040"/>
                </a:solidFill>
                <a:latin typeface="Helvetica Neue"/>
                <a:ea typeface="Helvetica Neue"/>
                <a:cs typeface="Helvetica Neue"/>
              </a:rPr>
              <a:t>email</a:t>
            </a:r>
          </a:p>
        </p:txBody>
      </p:sp>
      <p:sp>
        <p:nvSpPr>
          <p:cNvPr id="8" name="M365 part 2"/>
          <p:cNvSpPr/>
          <p:nvPr/>
        </p:nvSpPr>
        <p:spPr>
          <a:xfrm>
            <a:off x="8138160" y="3794760"/>
            <a:ext cx="2011680" cy="1325880"/>
          </a:xfrm>
          <a:prstGeom prst="round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9" name="M365 part 2 text"/>
          <p:cNvSpPr txBox="1"/>
          <p:nvPr/>
        </p:nvSpPr>
        <p:spPr>
          <a:xfrm>
            <a:off x="8229600" y="3840480"/>
            <a:ext cx="1828800" cy="1234440"/>
          </a:xfrm>
          <a:prstGeom prst="rect">
            <a:avLst/>
          </a:prstGeom>
          <a:noFill/>
        </p:spPr>
        <p:txBody>
          <a:bodyPr wrap="square" lIns="0" tIns="0" rIns="0" bIns="0" anchor="ctr">
            <a:spAutoFit/>
          </a:bodyPr>
          <a:lstStyle/>
          <a:p>
            <a:pPr algn="ctr">
              <a:spcAft>
                <a:spcPts val="200"/>
              </a:spcAft>
            </a:pPr>
            <a:r>
              <a:rPr sz="1600" b="1" i="0">
                <a:solidFill>
                  <a:srgbClr val="000000"/>
                </a:solidFill>
                <a:latin typeface="Helvetica Neue"/>
                <a:ea typeface="Helvetica Neue"/>
                <a:cs typeface="Helvetica Neue"/>
              </a:rPr>
              <a:t>SharePoint and OneDrive</a:t>
            </a:r>
          </a:p>
          <a:p>
            <a:pPr algn="ctr">
              <a:spcAft>
                <a:spcPts val="200"/>
              </a:spcAft>
            </a:pPr>
            <a:r>
              <a:rPr sz="1400" b="0" i="0">
                <a:solidFill>
                  <a:srgbClr val="404040"/>
                </a:solidFill>
                <a:latin typeface="Helvetica Neue"/>
                <a:ea typeface="Helvetica Neue"/>
                <a:cs typeface="Helvetica Neue"/>
              </a:rPr>
              <a:t>files</a:t>
            </a:r>
          </a:p>
        </p:txBody>
      </p:sp>
      <p:sp>
        <p:nvSpPr>
          <p:cNvPr id="10" name="M365 part 3"/>
          <p:cNvSpPr/>
          <p:nvPr/>
        </p:nvSpPr>
        <p:spPr>
          <a:xfrm>
            <a:off x="10332720" y="3794760"/>
            <a:ext cx="2011680" cy="1325880"/>
          </a:xfrm>
          <a:prstGeom prst="round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1" name="M365 part 3 text"/>
          <p:cNvSpPr txBox="1"/>
          <p:nvPr/>
        </p:nvSpPr>
        <p:spPr>
          <a:xfrm>
            <a:off x="10424160" y="3840480"/>
            <a:ext cx="1828800" cy="1234440"/>
          </a:xfrm>
          <a:prstGeom prst="rect">
            <a:avLst/>
          </a:prstGeom>
          <a:noFill/>
        </p:spPr>
        <p:txBody>
          <a:bodyPr wrap="square" lIns="0" tIns="0" rIns="0" bIns="0" anchor="ctr">
            <a:spAutoFit/>
          </a:bodyPr>
          <a:lstStyle/>
          <a:p>
            <a:pPr algn="ctr">
              <a:spcAft>
                <a:spcPts val="200"/>
              </a:spcAft>
            </a:pPr>
            <a:r>
              <a:rPr sz="1600" b="1" i="0">
                <a:solidFill>
                  <a:srgbClr val="000000"/>
                </a:solidFill>
                <a:latin typeface="Helvetica Neue"/>
                <a:ea typeface="Helvetica Neue"/>
                <a:cs typeface="Helvetica Neue"/>
              </a:rPr>
              <a:t>Teams</a:t>
            </a:r>
          </a:p>
          <a:p>
            <a:pPr algn="ctr">
              <a:spcAft>
                <a:spcPts val="200"/>
              </a:spcAft>
            </a:pPr>
            <a:r>
              <a:rPr sz="1400" b="0" i="0">
                <a:solidFill>
                  <a:srgbClr val="404040"/>
                </a:solidFill>
                <a:latin typeface="Helvetica Neue"/>
                <a:ea typeface="Helvetica Neue"/>
                <a:cs typeface="Helvetica Neue"/>
              </a:rPr>
              <a:t>chat, meetings, calls</a:t>
            </a:r>
          </a:p>
        </p:txBody>
      </p:sp>
      <p:sp>
        <p:nvSpPr>
          <p:cNvPr id="12" name="Entra"/>
          <p:cNvSpPr/>
          <p:nvPr/>
        </p:nvSpPr>
        <p:spPr>
          <a:xfrm>
            <a:off x="5943600" y="5349240"/>
            <a:ext cx="6400800" cy="1280160"/>
          </a:xfrm>
          <a:prstGeom prst="round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3" name="Entra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63640" y="5669280"/>
            <a:ext cx="640080" cy="640080"/>
          </a:xfrm>
          <a:prstGeom prst="rect">
            <a:avLst/>
          </a:prstGeom>
        </p:spPr>
      </p:pic>
      <p:sp>
        <p:nvSpPr>
          <p:cNvPr id="14" name="Entra text"/>
          <p:cNvSpPr txBox="1"/>
          <p:nvPr/>
        </p:nvSpPr>
        <p:spPr>
          <a:xfrm>
            <a:off x="7086600" y="5394960"/>
            <a:ext cx="5120640" cy="1188720"/>
          </a:xfrm>
          <a:prstGeom prst="rect">
            <a:avLst/>
          </a:prstGeom>
          <a:noFill/>
        </p:spPr>
        <p:txBody>
          <a:bodyPr wrap="square" lIns="0" tIns="0" rIns="0" bIns="0" anchor="ctr">
            <a:spAutoFit/>
          </a:bodyPr>
          <a:lstStyle/>
          <a:p>
            <a:pPr algn="l">
              <a:spcAft>
                <a:spcPts val="200"/>
              </a:spcAft>
            </a:pPr>
            <a:r>
              <a:rPr sz="2000" b="1" i="0">
                <a:solidFill>
                  <a:srgbClr val="FFFFFF"/>
                </a:solidFill>
                <a:latin typeface="Helvetica Neue"/>
                <a:ea typeface="Helvetica Neue"/>
                <a:cs typeface="Helvetica Neue"/>
              </a:rPr>
              <a:t>Entra ID: identity</a:t>
            </a:r>
          </a:p>
          <a:p>
            <a:pPr algn="l">
              <a:spcAft>
                <a:spcPts val="200"/>
              </a:spcAft>
            </a:pPr>
            <a:r>
              <a:rPr sz="1500" b="0" i="0">
                <a:solidFill>
                  <a:srgbClr val="FFFFFF"/>
                </a:solidFill>
                <a:latin typeface="Helvetica Neue"/>
                <a:ea typeface="Helvetica Neue"/>
                <a:cs typeface="Helvetica Neue"/>
              </a:rPr>
              <a:t>One login for all of it, and often other SaaS apps too</a:t>
            </a:r>
          </a:p>
        </p:txBody>
      </p:sp>
      <p:pic>
        <p:nvPicPr>
          <p:cNvPr id="15" name="User 1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63040" y="3108960"/>
            <a:ext cx="731520" cy="731520"/>
          </a:xfrm>
          <a:prstGeom prst="rect">
            <a:avLst/>
          </a:prstGeom>
        </p:spPr>
      </p:pic>
      <p:sp>
        <p:nvSpPr>
          <p:cNvPr id="16" name="User 1 text"/>
          <p:cNvSpPr txBox="1"/>
          <p:nvPr/>
        </p:nvSpPr>
        <p:spPr>
          <a:xfrm>
            <a:off x="2377440" y="3200400"/>
            <a:ext cx="1828800" cy="548640"/>
          </a:xfrm>
          <a:prstGeom prst="rect">
            <a:avLst/>
          </a:prstGeom>
          <a:noFill/>
        </p:spPr>
        <p:txBody>
          <a:bodyPr wrap="square" lIns="0" tIns="0" rIns="0" bIns="0" anchor="ctr">
            <a:spAutoFit/>
          </a:bodyPr>
          <a:lstStyle/>
          <a:p>
            <a:pPr algn="l">
              <a:spcAft>
                <a:spcPts val="600"/>
              </a:spcAft>
            </a:pPr>
            <a:r>
              <a:rPr sz="1700" b="1" i="0">
                <a:solidFill>
                  <a:srgbClr val="000000"/>
                </a:solidFill>
                <a:latin typeface="Helvetica Neue"/>
                <a:ea typeface="Helvetica Neue"/>
                <a:cs typeface="Helvetica Neue"/>
              </a:rPr>
              <a:t>Branch</a:t>
            </a:r>
          </a:p>
        </p:txBody>
      </p:sp>
      <p:cxnSp>
        <p:nvCxnSpPr>
          <p:cNvPr id="17" name="User 1 arrow"/>
          <p:cNvCxnSpPr/>
          <p:nvPr/>
        </p:nvCxnSpPr>
        <p:spPr>
          <a:xfrm>
            <a:off x="4023360" y="3474720"/>
            <a:ext cx="1600200" cy="1325880"/>
          </a:xfrm>
          <a:prstGeom prst="line">
            <a:avLst/>
          </a:prstGeom>
          <a:ln w="3175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8" name="User 2 icon"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63040" y="4297680"/>
            <a:ext cx="731520" cy="731520"/>
          </a:xfrm>
          <a:prstGeom prst="rect">
            <a:avLst/>
          </a:prstGeom>
        </p:spPr>
      </p:pic>
      <p:sp>
        <p:nvSpPr>
          <p:cNvPr id="19" name="User 2 text"/>
          <p:cNvSpPr txBox="1"/>
          <p:nvPr/>
        </p:nvSpPr>
        <p:spPr>
          <a:xfrm>
            <a:off x="2377440" y="4389120"/>
            <a:ext cx="1828800" cy="548640"/>
          </a:xfrm>
          <a:prstGeom prst="rect">
            <a:avLst/>
          </a:prstGeom>
          <a:noFill/>
        </p:spPr>
        <p:txBody>
          <a:bodyPr wrap="square" lIns="0" tIns="0" rIns="0" bIns="0" anchor="ctr">
            <a:spAutoFit/>
          </a:bodyPr>
          <a:lstStyle/>
          <a:p>
            <a:pPr algn="l">
              <a:spcAft>
                <a:spcPts val="600"/>
              </a:spcAft>
            </a:pPr>
            <a:r>
              <a:rPr sz="1700" b="1" i="0">
                <a:solidFill>
                  <a:srgbClr val="000000"/>
                </a:solidFill>
                <a:latin typeface="Helvetica Neue"/>
                <a:ea typeface="Helvetica Neue"/>
                <a:cs typeface="Helvetica Neue"/>
              </a:rPr>
              <a:t>Home office</a:t>
            </a:r>
          </a:p>
        </p:txBody>
      </p:sp>
      <p:cxnSp>
        <p:nvCxnSpPr>
          <p:cNvPr id="20" name="User 2 arrow"/>
          <p:cNvCxnSpPr/>
          <p:nvPr/>
        </p:nvCxnSpPr>
        <p:spPr>
          <a:xfrm>
            <a:off x="4023360" y="4663440"/>
            <a:ext cx="1600200" cy="137160"/>
          </a:xfrm>
          <a:prstGeom prst="line">
            <a:avLst/>
          </a:prstGeom>
          <a:ln w="3175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21" name="User 3 icon"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63040" y="5486400"/>
            <a:ext cx="731520" cy="731520"/>
          </a:xfrm>
          <a:prstGeom prst="rect">
            <a:avLst/>
          </a:prstGeom>
        </p:spPr>
      </p:pic>
      <p:sp>
        <p:nvSpPr>
          <p:cNvPr id="22" name="User 3 text"/>
          <p:cNvSpPr txBox="1"/>
          <p:nvPr/>
        </p:nvSpPr>
        <p:spPr>
          <a:xfrm>
            <a:off x="2377440" y="5577840"/>
            <a:ext cx="1828800" cy="548640"/>
          </a:xfrm>
          <a:prstGeom prst="rect">
            <a:avLst/>
          </a:prstGeom>
          <a:noFill/>
        </p:spPr>
        <p:txBody>
          <a:bodyPr wrap="square" lIns="0" tIns="0" rIns="0" bIns="0" anchor="ctr">
            <a:spAutoFit/>
          </a:bodyPr>
          <a:lstStyle/>
          <a:p>
            <a:pPr algn="l">
              <a:spcAft>
                <a:spcPts val="600"/>
              </a:spcAft>
            </a:pPr>
            <a:r>
              <a:rPr sz="1700" b="1" i="0">
                <a:solidFill>
                  <a:srgbClr val="000000"/>
                </a:solidFill>
                <a:latin typeface="Helvetica Neue"/>
                <a:ea typeface="Helvetica Neue"/>
                <a:cs typeface="Helvetica Neue"/>
              </a:rPr>
              <a:t>Anywhere</a:t>
            </a:r>
          </a:p>
        </p:txBody>
      </p:sp>
      <p:cxnSp>
        <p:nvCxnSpPr>
          <p:cNvPr id="23" name="User 3 arrow"/>
          <p:cNvCxnSpPr/>
          <p:nvPr/>
        </p:nvCxnSpPr>
        <p:spPr>
          <a:xfrm flipV="1">
            <a:off x="4023360" y="4800600"/>
            <a:ext cx="1600200" cy="1051560"/>
          </a:xfrm>
          <a:prstGeom prst="line">
            <a:avLst/>
          </a:prstGeom>
          <a:ln w="3175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Users note"/>
          <p:cNvSpPr txBox="1"/>
          <p:nvPr/>
        </p:nvSpPr>
        <p:spPr>
          <a:xfrm>
            <a:off x="1257300" y="6400800"/>
            <a:ext cx="4206240" cy="457200"/>
          </a:xfrm>
          <a:prstGeom prst="rect">
            <a:avLst/>
          </a:prstGeom>
          <a:noFill/>
        </p:spPr>
        <p:txBody>
          <a:bodyPr wrap="square" lIns="0" tIns="0" rIns="0" bIns="0" anchor="t">
            <a:spAutoFit/>
          </a:bodyPr>
          <a:lstStyle/>
          <a:p>
            <a:pPr algn="ctr">
              <a:spcAft>
                <a:spcPts val="600"/>
              </a:spcAft>
            </a:pPr>
            <a:r>
              <a:rPr sz="1500" b="0" i="1">
                <a:solidFill>
                  <a:srgbClr val="ED7D31"/>
                </a:solidFill>
                <a:latin typeface="Helvetica Neue"/>
                <a:ea typeface="Helvetica Neue"/>
                <a:cs typeface="Helvetica Neue"/>
              </a:rPr>
              <a:t>Over the internet, from anywhere</a:t>
            </a:r>
          </a:p>
        </p:txBody>
      </p:sp>
      <p:sp>
        <p:nvSpPr>
          <p:cNvPr id="25" name="Perimeter panel"/>
          <p:cNvSpPr/>
          <p:nvPr/>
        </p:nvSpPr>
        <p:spPr>
          <a:xfrm>
            <a:off x="12984480" y="2697480"/>
            <a:ext cx="4046220" cy="420624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6" name="Perimeter text"/>
          <p:cNvSpPr txBox="1"/>
          <p:nvPr/>
        </p:nvSpPr>
        <p:spPr>
          <a:xfrm>
            <a:off x="13258800" y="2880360"/>
            <a:ext cx="3520440" cy="3931920"/>
          </a:xfrm>
          <a:prstGeom prst="rect">
            <a:avLst/>
          </a:prstGeom>
          <a:noFill/>
        </p:spPr>
        <p:txBody>
          <a:bodyPr wrap="square" lIns="0" tIns="0" rIns="0" bIns="0" anchor="t">
            <a:spAutoFit/>
          </a:bodyPr>
          <a:lstStyle/>
          <a:p>
            <a:pPr algn="l">
              <a:spcAft>
                <a:spcPts val="1000"/>
              </a:spcAft>
            </a:pPr>
            <a:r>
              <a:rPr sz="2200" b="1" i="0">
                <a:solidFill>
                  <a:srgbClr val="000000"/>
                </a:solidFill>
                <a:latin typeface="Helvetica Neue"/>
                <a:ea typeface="Helvetica Neue"/>
                <a:cs typeface="Helvetica Neue"/>
              </a:rPr>
              <a:t>Identity is the new perimeter</a:t>
            </a:r>
          </a:p>
          <a:p>
            <a:pPr algn="l">
              <a:spcAft>
                <a:spcPts val="1000"/>
              </a:spcAft>
            </a:pPr>
            <a:r>
              <a:rPr sz="1700" b="0" i="0">
                <a:solidFill>
                  <a:srgbClr val="000000"/>
                </a:solidFill>
                <a:latin typeface="Helvetica Neue"/>
                <a:ea typeface="Helvetica Neue"/>
                <a:cs typeface="Helvetica Neue"/>
              </a:rPr>
              <a:t>A stolen password without MFA opens email, files and more, from anywhere, without touching the bank's firewall.</a:t>
            </a:r>
          </a:p>
        </p:txBody>
      </p:sp>
      <p:sp>
        <p:nvSpPr>
          <p:cNvPr id="27" name="M365 ask 1"/>
          <p:cNvSpPr/>
          <p:nvPr/>
        </p:nvSpPr>
        <p:spPr>
          <a:xfrm>
            <a:off x="1257300" y="722376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8" name="M365 ask 1 text"/>
          <p:cNvSpPr txBox="1"/>
          <p:nvPr/>
        </p:nvSpPr>
        <p:spPr>
          <a:xfrm>
            <a:off x="1513332" y="7424928"/>
            <a:ext cx="3191256" cy="178308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MFA and conditional access</a:t>
            </a:r>
          </a:p>
          <a:p>
            <a:pPr algn="l">
              <a:spcAft>
                <a:spcPts val="700"/>
              </a:spcAft>
            </a:pPr>
            <a:r>
              <a:rPr sz="1600" b="0" i="0">
                <a:solidFill>
                  <a:srgbClr val="000000"/>
                </a:solidFill>
                <a:latin typeface="Helvetica Neue"/>
                <a:ea typeface="Helvetica Neue"/>
                <a:cs typeface="Helvetica Neue"/>
              </a:rPr>
              <a:t>Who can log in, from what device, from where</a:t>
            </a:r>
          </a:p>
        </p:txBody>
      </p:sp>
      <p:sp>
        <p:nvSpPr>
          <p:cNvPr id="29" name="M365 ask 2"/>
          <p:cNvSpPr/>
          <p:nvPr/>
        </p:nvSpPr>
        <p:spPr>
          <a:xfrm>
            <a:off x="5280659" y="722376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0" name="M365 ask 2 text"/>
          <p:cNvSpPr txBox="1"/>
          <p:nvPr/>
        </p:nvSpPr>
        <p:spPr>
          <a:xfrm>
            <a:off x="5536692" y="7424928"/>
            <a:ext cx="3191256" cy="178308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Tenant configuration</a:t>
            </a:r>
          </a:p>
          <a:p>
            <a:pPr algn="l">
              <a:spcAft>
                <a:spcPts val="700"/>
              </a:spcAft>
            </a:pPr>
            <a:r>
              <a:rPr sz="1600" b="0" i="0">
                <a:solidFill>
                  <a:srgbClr val="000000"/>
                </a:solidFill>
                <a:latin typeface="Helvetica Neue"/>
                <a:ea typeface="Helvetica Neue"/>
                <a:cs typeface="Helvetica Neue"/>
              </a:rPr>
              <a:t>The bank's side of shared responsibility</a:t>
            </a:r>
          </a:p>
        </p:txBody>
      </p:sp>
      <p:sp>
        <p:nvSpPr>
          <p:cNvPr id="31" name="M365 ask 3"/>
          <p:cNvSpPr/>
          <p:nvPr/>
        </p:nvSpPr>
        <p:spPr>
          <a:xfrm>
            <a:off x="9304019" y="722376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2" name="M365 ask 3 text"/>
          <p:cNvSpPr txBox="1"/>
          <p:nvPr/>
        </p:nvSpPr>
        <p:spPr>
          <a:xfrm>
            <a:off x="9560051" y="7424928"/>
            <a:ext cx="3191256" cy="178308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Outages</a:t>
            </a:r>
          </a:p>
          <a:p>
            <a:pPr algn="l">
              <a:spcAft>
                <a:spcPts val="700"/>
              </a:spcAft>
            </a:pPr>
            <a:r>
              <a:rPr sz="1600" b="0" i="0">
                <a:solidFill>
                  <a:srgbClr val="000000"/>
                </a:solidFill>
                <a:latin typeface="Helvetica Neue"/>
                <a:ea typeface="Helvetica Neue"/>
                <a:cs typeface="Helvetica Neue"/>
              </a:rPr>
              <a:t>No email, files or Teams: what's the plan?</a:t>
            </a:r>
          </a:p>
        </p:txBody>
      </p:sp>
      <p:sp>
        <p:nvSpPr>
          <p:cNvPr id="33" name="M365 ask 4"/>
          <p:cNvSpPr/>
          <p:nvPr/>
        </p:nvSpPr>
        <p:spPr>
          <a:xfrm>
            <a:off x="13327380" y="722376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4" name="M365 ask 4 text"/>
          <p:cNvSpPr txBox="1"/>
          <p:nvPr/>
        </p:nvSpPr>
        <p:spPr>
          <a:xfrm>
            <a:off x="13583411" y="7424928"/>
            <a:ext cx="3191256" cy="178308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Backup</a:t>
            </a:r>
          </a:p>
          <a:p>
            <a:pPr algn="l">
              <a:spcAft>
                <a:spcPts val="700"/>
              </a:spcAft>
            </a:pPr>
            <a:r>
              <a:rPr sz="1600" b="0" i="0">
                <a:solidFill>
                  <a:srgbClr val="000000"/>
                </a:solidFill>
                <a:latin typeface="Helvetica Neue"/>
                <a:ea typeface="Helvetica Neue"/>
                <a:cs typeface="Helvetica Neue"/>
              </a:rPr>
              <a:t>Retention isn't backup; many banks add a third-party backup</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62" name="Rectangle 2"/>
          <p:cNvSpPr>
            <a:spLocks noGrp="1" noChangeArrowheads="1"/>
          </p:cNvSpPr>
          <p:nvPr>
            <p:ph type="title"/>
          </p:nvPr>
        </p:nvSpPr>
        <p:spPr>
          <a:xfrm>
            <a:off x="1257300" y="331793"/>
            <a:ext cx="15773400" cy="1988345"/>
          </a:xfrm>
        </p:spPr>
        <p:txBody>
          <a:bodyPr/>
          <a:lstStyle/>
          <a:p>
            <a:r>
              <a:rPr lang="en-US" b="1">
                <a:latin typeface="Helvetica Neue Condensed" panose="02000503000000020004" pitchFamily="2" charset="0"/>
                <a:ea typeface="Helvetica Neue Condensed" panose="02000503000000020004" pitchFamily="2" charset="0"/>
                <a:cs typeface="Helvetica Neue Condensed" panose="02000503000000020004" pitchFamily="2" charset="0"/>
              </a:rPr>
              <a:t>Email Services</a:t>
            </a:r>
          </a:p>
        </p:txBody>
      </p:sp>
      <p:sp>
        <p:nvSpPr>
          <p:cNvPr id="13" name="Slide Number Placeholder 12"/>
          <p:cNvSpPr>
            <a:spLocks noGrp="1"/>
          </p:cNvSpPr>
          <p:nvPr>
            <p:ph type="sldNum" sz="quarter" idx="10"/>
          </p:nvPr>
        </p:nvSpPr>
        <p:spPr>
          <a:xfrm>
            <a:off x="11972925" y="9534527"/>
            <a:ext cx="3086100" cy="547688"/>
          </a:xfrm>
          <a:prstGeom prst="rect">
            <a:avLst/>
          </a:prstGeom>
        </p:spPr>
        <p:txBody>
          <a:bodyPr/>
          <a:lstStyle/>
          <a:p>
            <a:fld id="{52B67DA5-9DD9-4BCA-8370-9CA784C1DE92}" type="slidenum">
              <a:rPr lang="en-US" smtClean="0"/>
              <a:pPr/>
              <a:t>198</a:t>
            </a:fld>
            <a:endParaRPr lang="en-US"/>
          </a:p>
        </p:txBody>
      </p:sp>
      <p:pic>
        <p:nvPicPr>
          <p:cNvPr id="1679363" name="Picture 3" descr="MCj00787290000[1]"/>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762500" y="1902620"/>
            <a:ext cx="8277225" cy="6224588"/>
          </a:xfrm>
          <a:prstGeom prst="rect">
            <a:avLst/>
          </a:prstGeom>
          <a:noFill/>
        </p:spPr>
      </p:pic>
      <p:sp>
        <p:nvSpPr>
          <p:cNvPr id="1679364" name="Text Box 4"/>
          <p:cNvSpPr txBox="1">
            <a:spLocks noChangeArrowheads="1"/>
          </p:cNvSpPr>
          <p:nvPr/>
        </p:nvSpPr>
        <p:spPr bwMode="auto">
          <a:xfrm>
            <a:off x="4743450" y="8977313"/>
            <a:ext cx="6945556" cy="830997"/>
          </a:xfrm>
          <a:prstGeom prst="rect">
            <a:avLst/>
          </a:prstGeom>
          <a:noFill/>
          <a:ln w="28575" algn="ctr">
            <a:noFill/>
            <a:miter lim="800000"/>
            <a:headEnd/>
            <a:tailEnd/>
          </a:ln>
          <a:effectLst/>
        </p:spPr>
        <p:txBody>
          <a:bodyPr wrap="none" anchorCtr="1">
            <a:spAutoFit/>
          </a:bodyPr>
          <a:lstStyle/>
          <a:p>
            <a:r>
              <a:rPr lang="en-US" sz="4800">
                <a:solidFill>
                  <a:srgbClr val="CC0000"/>
                </a:solidFill>
              </a:rPr>
              <a:t>Your_Name</a:t>
            </a:r>
            <a:r>
              <a:rPr lang="en-US" sz="4800"/>
              <a:t>@</a:t>
            </a:r>
            <a:r>
              <a:rPr lang="en-US" sz="4800">
                <a:solidFill>
                  <a:schemeClr val="accent2"/>
                </a:solidFill>
              </a:rPr>
              <a:t>aDomain.TLD</a:t>
            </a:r>
          </a:p>
        </p:txBody>
      </p:sp>
      <p:grpSp>
        <p:nvGrpSpPr>
          <p:cNvPr id="2" name="Group 5"/>
          <p:cNvGrpSpPr>
            <a:grpSpLocks/>
          </p:cNvGrpSpPr>
          <p:nvPr/>
        </p:nvGrpSpPr>
        <p:grpSpPr bwMode="auto">
          <a:xfrm>
            <a:off x="9551194" y="7703343"/>
            <a:ext cx="2543175" cy="1078706"/>
            <a:chOff x="2763" y="3091"/>
            <a:chExt cx="1068" cy="453"/>
          </a:xfrm>
        </p:grpSpPr>
        <p:sp>
          <p:nvSpPr>
            <p:cNvPr id="1679366" name="AutoShape 6"/>
            <p:cNvSpPr>
              <a:spLocks/>
            </p:cNvSpPr>
            <p:nvPr/>
          </p:nvSpPr>
          <p:spPr bwMode="auto">
            <a:xfrm rot="15042902" flipV="1">
              <a:off x="3607" y="3067"/>
              <a:ext cx="200" cy="248"/>
            </a:xfrm>
            <a:prstGeom prst="leftBrace">
              <a:avLst>
                <a:gd name="adj1" fmla="val 47000"/>
                <a:gd name="adj2" fmla="val 50000"/>
              </a:avLst>
            </a:prstGeom>
            <a:noFill/>
            <a:ln w="38100">
              <a:solidFill>
                <a:schemeClr val="accent2"/>
              </a:solidFill>
              <a:round/>
              <a:headEnd/>
              <a:tailEnd/>
            </a:ln>
            <a:effectLst/>
          </p:spPr>
          <p:txBody>
            <a:bodyPr anchor="ctr">
              <a:spAutoFit/>
            </a:bodyPr>
            <a:lstStyle/>
            <a:p>
              <a:endParaRPr lang="en-US" sz="2700"/>
            </a:p>
          </p:txBody>
        </p:sp>
        <p:sp>
          <p:nvSpPr>
            <p:cNvPr id="1679367" name="Freeform 7"/>
            <p:cNvSpPr>
              <a:spLocks/>
            </p:cNvSpPr>
            <p:nvPr/>
          </p:nvSpPr>
          <p:spPr bwMode="auto">
            <a:xfrm>
              <a:off x="2763" y="3331"/>
              <a:ext cx="78" cy="213"/>
            </a:xfrm>
            <a:custGeom>
              <a:avLst/>
              <a:gdLst/>
              <a:ahLst/>
              <a:cxnLst>
                <a:cxn ang="0">
                  <a:pos x="997" y="0"/>
                </a:cxn>
                <a:cxn ang="0">
                  <a:pos x="934" y="195"/>
                </a:cxn>
                <a:cxn ang="0">
                  <a:pos x="140" y="109"/>
                </a:cxn>
                <a:cxn ang="0">
                  <a:pos x="94" y="304"/>
                </a:cxn>
              </a:cxnLst>
              <a:rect l="0" t="0" r="r" b="b"/>
              <a:pathLst>
                <a:path w="1077" h="304">
                  <a:moveTo>
                    <a:pt x="997" y="0"/>
                  </a:moveTo>
                  <a:cubicBezTo>
                    <a:pt x="1037" y="88"/>
                    <a:pt x="1077" y="177"/>
                    <a:pt x="934" y="195"/>
                  </a:cubicBezTo>
                  <a:cubicBezTo>
                    <a:pt x="791" y="213"/>
                    <a:pt x="280" y="91"/>
                    <a:pt x="140" y="109"/>
                  </a:cubicBezTo>
                  <a:cubicBezTo>
                    <a:pt x="0" y="127"/>
                    <a:pt x="47" y="215"/>
                    <a:pt x="94" y="304"/>
                  </a:cubicBezTo>
                </a:path>
              </a:pathLst>
            </a:custGeom>
            <a:noFill/>
            <a:ln w="38100" cap="flat" cmpd="sng">
              <a:solidFill>
                <a:schemeClr val="accent2"/>
              </a:solidFill>
              <a:prstDash val="solid"/>
              <a:round/>
              <a:headEnd type="none" w="med" len="med"/>
              <a:tailEnd type="triangle" w="med" len="med"/>
            </a:ln>
            <a:effectLst/>
          </p:spPr>
          <p:txBody>
            <a:bodyPr wrap="none" anchorCtr="1">
              <a:spAutoFit/>
            </a:bodyPr>
            <a:lstStyle/>
            <a:p>
              <a:endParaRPr lang="en-US" sz="2700"/>
            </a:p>
          </p:txBody>
        </p:sp>
      </p:grpSp>
      <p:grpSp>
        <p:nvGrpSpPr>
          <p:cNvPr id="3" name="Group 8"/>
          <p:cNvGrpSpPr>
            <a:grpSpLocks/>
          </p:cNvGrpSpPr>
          <p:nvPr/>
        </p:nvGrpSpPr>
        <p:grpSpPr bwMode="auto">
          <a:xfrm>
            <a:off x="5972175" y="4748212"/>
            <a:ext cx="3069432" cy="1366837"/>
            <a:chOff x="1260" y="1850"/>
            <a:chExt cx="1289" cy="574"/>
          </a:xfrm>
        </p:grpSpPr>
        <p:sp>
          <p:nvSpPr>
            <p:cNvPr id="1679369" name="Oval 9"/>
            <p:cNvSpPr>
              <a:spLocks noChangeArrowheads="1"/>
            </p:cNvSpPr>
            <p:nvPr/>
          </p:nvSpPr>
          <p:spPr bwMode="auto">
            <a:xfrm rot="1396737">
              <a:off x="2440" y="1850"/>
              <a:ext cx="109" cy="300"/>
            </a:xfrm>
            <a:prstGeom prst="ellipse">
              <a:avLst/>
            </a:prstGeom>
            <a:noFill/>
            <a:ln w="38100" algn="ctr">
              <a:solidFill>
                <a:srgbClr val="CC0000"/>
              </a:solidFill>
              <a:round/>
              <a:headEnd/>
              <a:tailEnd/>
            </a:ln>
            <a:effectLst/>
          </p:spPr>
          <p:txBody>
            <a:bodyPr wrap="none" anchor="ctr">
              <a:spAutoFit/>
            </a:bodyPr>
            <a:lstStyle/>
            <a:p>
              <a:endParaRPr lang="en-US" sz="2700"/>
            </a:p>
          </p:txBody>
        </p:sp>
        <p:sp>
          <p:nvSpPr>
            <p:cNvPr id="1679370" name="Freeform 10"/>
            <p:cNvSpPr>
              <a:spLocks/>
            </p:cNvSpPr>
            <p:nvPr/>
          </p:nvSpPr>
          <p:spPr bwMode="auto">
            <a:xfrm>
              <a:off x="1260" y="2211"/>
              <a:ext cx="78" cy="213"/>
            </a:xfrm>
            <a:custGeom>
              <a:avLst/>
              <a:gdLst/>
              <a:ahLst/>
              <a:cxnLst>
                <a:cxn ang="0">
                  <a:pos x="1246" y="0"/>
                </a:cxn>
                <a:cxn ang="0">
                  <a:pos x="1005" y="1035"/>
                </a:cxn>
                <a:cxn ang="0">
                  <a:pos x="149" y="1120"/>
                </a:cxn>
                <a:cxn ang="0">
                  <a:pos x="110" y="1424"/>
                </a:cxn>
              </a:cxnLst>
              <a:rect l="0" t="0" r="r" b="b"/>
              <a:pathLst>
                <a:path w="1246" h="1424">
                  <a:moveTo>
                    <a:pt x="1246" y="0"/>
                  </a:moveTo>
                  <a:cubicBezTo>
                    <a:pt x="1217" y="424"/>
                    <a:pt x="1188" y="848"/>
                    <a:pt x="1005" y="1035"/>
                  </a:cubicBezTo>
                  <a:cubicBezTo>
                    <a:pt x="822" y="1222"/>
                    <a:pt x="298" y="1055"/>
                    <a:pt x="149" y="1120"/>
                  </a:cubicBezTo>
                  <a:cubicBezTo>
                    <a:pt x="0" y="1185"/>
                    <a:pt x="55" y="1304"/>
                    <a:pt x="110" y="1424"/>
                  </a:cubicBezTo>
                </a:path>
              </a:pathLst>
            </a:custGeom>
            <a:noFill/>
            <a:ln w="38100" cap="flat" cmpd="sng">
              <a:solidFill>
                <a:srgbClr val="CC0000"/>
              </a:solidFill>
              <a:prstDash val="solid"/>
              <a:round/>
              <a:headEnd type="none" w="med" len="med"/>
              <a:tailEnd type="triangle" w="med" len="med"/>
            </a:ln>
            <a:effectLst/>
          </p:spPr>
          <p:txBody>
            <a:bodyPr wrap="none" anchorCtr="1">
              <a:spAutoFit/>
            </a:bodyPr>
            <a:lstStyle/>
            <a:p>
              <a:endParaRPr lang="en-US" sz="2700"/>
            </a:p>
          </p:txBody>
        </p:sp>
      </p:grpSp>
      <p:sp>
        <p:nvSpPr>
          <p:cNvPr id="1679371" name="Line 11"/>
          <p:cNvSpPr>
            <a:spLocks noChangeShapeType="1"/>
          </p:cNvSpPr>
          <p:nvPr/>
        </p:nvSpPr>
        <p:spPr bwMode="auto">
          <a:xfrm>
            <a:off x="4836320" y="9029700"/>
            <a:ext cx="2671763" cy="0"/>
          </a:xfrm>
          <a:prstGeom prst="line">
            <a:avLst/>
          </a:prstGeom>
          <a:noFill/>
          <a:ln w="38100">
            <a:solidFill>
              <a:srgbClr val="CC0000"/>
            </a:solidFill>
            <a:round/>
            <a:headEnd/>
            <a:tailEnd/>
          </a:ln>
          <a:effectLst/>
        </p:spPr>
        <p:txBody>
          <a:bodyPr wrap="none" anchorCtr="1">
            <a:spAutoFit/>
          </a:bodyPr>
          <a:lstStyle/>
          <a:p>
            <a:endParaRPr lang="en-US" sz="2700"/>
          </a:p>
        </p:txBody>
      </p:sp>
      <p:sp>
        <p:nvSpPr>
          <p:cNvPr id="1679372" name="Line 12"/>
          <p:cNvSpPr>
            <a:spLocks noChangeShapeType="1"/>
          </p:cNvSpPr>
          <p:nvPr/>
        </p:nvSpPr>
        <p:spPr bwMode="auto">
          <a:xfrm>
            <a:off x="8174833" y="9010650"/>
            <a:ext cx="3059906" cy="0"/>
          </a:xfrm>
          <a:prstGeom prst="line">
            <a:avLst/>
          </a:prstGeom>
          <a:noFill/>
          <a:ln w="38100">
            <a:solidFill>
              <a:schemeClr val="accent2"/>
            </a:solidFill>
            <a:round/>
            <a:headEnd/>
            <a:tailEnd/>
          </a:ln>
          <a:effectLst/>
        </p:spPr>
        <p:txBody>
          <a:bodyPr anchorCtr="1">
            <a:spAutoFit/>
          </a:bodyPr>
          <a:lstStyle/>
          <a:p>
            <a:endParaRPr lang="en-US" sz="2700"/>
          </a:p>
        </p:txBody>
      </p:sp>
    </p:spTree>
    <p:custDataLst>
      <p:tags r:id="rId1"/>
    </p:custDataLst>
    <p:extLst>
      <p:ext uri="{BB962C8B-B14F-4D97-AF65-F5344CB8AC3E}">
        <p14:creationId xmlns:p14="http://schemas.microsoft.com/office/powerpoint/2010/main" val="2261826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944016"/>
            <a:ext cx="18288000" cy="5342984"/>
            <a:chOff x="0" y="3296011"/>
            <a:chExt cx="12192000" cy="3561989"/>
          </a:xfrm>
          <a:effectLst>
            <a:outerShdw blurRad="254000" dist="152400" dir="16200000" rotWithShape="0">
              <a:prstClr val="black">
                <a:alpha val="10000"/>
              </a:prstClr>
            </a:outerShdw>
          </a:effectLst>
        </p:grpSpPr>
        <p:grpSp>
          <p:nvGrpSpPr>
            <p:cNvPr id="13" name="Group 12">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7" name="Freeform: Shape 16">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4" name="Group 13">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5" name="Freeform: Shape 14">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3">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4" name="Title 3">
            <a:extLst>
              <a:ext uri="{FF2B5EF4-FFF2-40B4-BE49-F238E27FC236}">
                <a16:creationId xmlns:a16="http://schemas.microsoft.com/office/drawing/2014/main" id="{9A3B4ED1-FD16-1D4E-AF19-2B492AEA70DD}"/>
              </a:ext>
            </a:extLst>
          </p:cNvPr>
          <p:cNvSpPr>
            <a:spLocks noGrp="1"/>
          </p:cNvSpPr>
          <p:nvPr>
            <p:ph type="ctrTitle"/>
          </p:nvPr>
        </p:nvSpPr>
        <p:spPr>
          <a:xfrm>
            <a:off x="1257298" y="1681014"/>
            <a:ext cx="10532270" cy="3462486"/>
          </a:xfrm>
        </p:spPr>
        <p:txBody>
          <a:bodyPr>
            <a:normAutofit/>
          </a:bodyPr>
          <a:lstStyle/>
          <a:p>
            <a:pPr algn="l"/>
            <a:r>
              <a:rPr lang="en-US" sz="1080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Let me ask you…</a:t>
            </a:r>
          </a:p>
        </p:txBody>
      </p:sp>
      <p:sp>
        <p:nvSpPr>
          <p:cNvPr id="5" name="Subtitle 4">
            <a:extLst>
              <a:ext uri="{FF2B5EF4-FFF2-40B4-BE49-F238E27FC236}">
                <a16:creationId xmlns:a16="http://schemas.microsoft.com/office/drawing/2014/main" id="{7C79960F-3A4B-EC4E-825C-7D94F0C534DF}"/>
              </a:ext>
            </a:extLst>
          </p:cNvPr>
          <p:cNvSpPr>
            <a:spLocks noGrp="1"/>
          </p:cNvSpPr>
          <p:nvPr>
            <p:ph type="subTitle" idx="1"/>
          </p:nvPr>
        </p:nvSpPr>
        <p:spPr>
          <a:xfrm>
            <a:off x="1252536" y="5714998"/>
            <a:ext cx="14547445" cy="1519167"/>
          </a:xfrm>
        </p:spPr>
        <p:txBody>
          <a:bodyPr>
            <a:normAutofit/>
          </a:bodyPr>
          <a:lstStyle/>
          <a:p>
            <a:pPr algn="l"/>
            <a:r>
              <a:rPr lang="en-US" sz="330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rPr>
              <a:t>Is Google Gmail an email service, a WWW service or something else?</a:t>
            </a:r>
          </a:p>
          <a:p>
            <a:pPr algn="l"/>
            <a:endParaRPr lang="en-US" sz="3300">
              <a:solidFill>
                <a:schemeClr val="bg1"/>
              </a:solidFill>
            </a:endParaRPr>
          </a:p>
        </p:txBody>
      </p:sp>
    </p:spTree>
    <p:extLst>
      <p:ext uri="{BB962C8B-B14F-4D97-AF65-F5344CB8AC3E}">
        <p14:creationId xmlns:p14="http://schemas.microsoft.com/office/powerpoint/2010/main" val="307732478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1410" name="Rectangle 2"/>
          <p:cNvSpPr>
            <a:spLocks noGrp="1" noChangeArrowheads="1"/>
          </p:cNvSpPr>
          <p:nvPr>
            <p:ph type="title"/>
          </p:nvPr>
        </p:nvSpPr>
        <p:spPr/>
        <p:txBody>
          <a:bodyPr/>
          <a:lstStyle/>
          <a:p>
            <a:r>
              <a:rPr lang="en-US"/>
              <a:t>Simple Mail Transfer Protocol</a:t>
            </a:r>
          </a:p>
        </p:txBody>
      </p:sp>
      <p:sp>
        <p:nvSpPr>
          <p:cNvPr id="1681411" name="Rectangle 3"/>
          <p:cNvSpPr>
            <a:spLocks noGrp="1" noChangeArrowheads="1"/>
          </p:cNvSpPr>
          <p:nvPr>
            <p:ph idx="1"/>
          </p:nvPr>
        </p:nvSpPr>
        <p:spPr>
          <a:xfrm>
            <a:off x="1257300" y="4242193"/>
            <a:ext cx="15773400" cy="5987653"/>
          </a:xfrm>
        </p:spPr>
        <p:txBody>
          <a:bodyPr>
            <a:normAutofit fontScale="92500" lnSpcReduction="10000"/>
          </a:bodyPr>
          <a:lstStyle/>
          <a:p>
            <a:pPr marL="0" indent="0">
              <a:lnSpc>
                <a:spcPct val="90000"/>
              </a:lnSpc>
              <a:buNone/>
            </a:pPr>
            <a:endParaRPr lang="en-US"/>
          </a:p>
          <a:p>
            <a:pPr>
              <a:lnSpc>
                <a:spcPct val="90000"/>
              </a:lnSpc>
            </a:pPr>
            <a:r>
              <a:rPr lang="en-US" sz="3900"/>
              <a:t>Client/server model</a:t>
            </a:r>
          </a:p>
          <a:p>
            <a:pPr>
              <a:lnSpc>
                <a:spcPct val="90000"/>
              </a:lnSpc>
            </a:pPr>
            <a:r>
              <a:rPr lang="en-US" sz="3900"/>
              <a:t>Simple, text-based command language</a:t>
            </a:r>
          </a:p>
          <a:p>
            <a:pPr lvl="1">
              <a:lnSpc>
                <a:spcPct val="90000"/>
              </a:lnSpc>
            </a:pPr>
            <a:r>
              <a:rPr lang="en-US" sz="3500"/>
              <a:t>Identify sender and receiver(s), transmit message, and provide confirmation</a:t>
            </a:r>
          </a:p>
          <a:p>
            <a:pPr>
              <a:lnSpc>
                <a:spcPct val="90000"/>
              </a:lnSpc>
            </a:pPr>
            <a:r>
              <a:rPr lang="en-US" sz="3900"/>
              <a:t>Developed to transport simple text notes only</a:t>
            </a:r>
          </a:p>
          <a:p>
            <a:pPr lvl="1">
              <a:lnSpc>
                <a:spcPct val="90000"/>
              </a:lnSpc>
            </a:pPr>
            <a:r>
              <a:rPr lang="en-US" sz="3500"/>
              <a:t>Extended using MIME to include attachments</a:t>
            </a:r>
          </a:p>
          <a:p>
            <a:pPr>
              <a:lnSpc>
                <a:spcPct val="90000"/>
              </a:lnSpc>
            </a:pPr>
            <a:r>
              <a:rPr lang="en-US" sz="3900"/>
              <a:t>Requires retrieval protocols</a:t>
            </a:r>
          </a:p>
          <a:p>
            <a:pPr lvl="1">
              <a:lnSpc>
                <a:spcPct val="90000"/>
              </a:lnSpc>
            </a:pPr>
            <a:r>
              <a:rPr lang="en-US" sz="3500"/>
              <a:t>Post Office Protocol v3 (POP3)</a:t>
            </a:r>
          </a:p>
          <a:p>
            <a:pPr lvl="1">
              <a:lnSpc>
                <a:spcPct val="90000"/>
              </a:lnSpc>
            </a:pPr>
            <a:r>
              <a:rPr lang="en-US" sz="3500"/>
              <a:t>Internet Message Access Protocol (IMAP)</a:t>
            </a:r>
          </a:p>
          <a:p>
            <a:pPr lvl="1">
              <a:lnSpc>
                <a:spcPct val="90000"/>
              </a:lnSpc>
            </a:pPr>
            <a:r>
              <a:rPr lang="en-US" sz="3500" err="1"/>
              <a:t>HyperText</a:t>
            </a:r>
            <a:r>
              <a:rPr lang="en-US" sz="3500"/>
              <a:t> Transfer Protocol (HTTP) for web-based access</a:t>
            </a:r>
          </a:p>
        </p:txBody>
      </p:sp>
      <p:sp>
        <p:nvSpPr>
          <p:cNvPr id="25" name="Slide Number Placeholder 24"/>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200</a:t>
            </a:fld>
            <a:endParaRPr lang="en-US">
              <a:solidFill>
                <a:schemeClr val="tx1">
                  <a:lumMod val="50000"/>
                  <a:lumOff val="50000"/>
                </a:schemeClr>
              </a:solidFill>
            </a:endParaRPr>
          </a:p>
        </p:txBody>
      </p:sp>
      <p:grpSp>
        <p:nvGrpSpPr>
          <p:cNvPr id="9" name="Group 8">
            <a:extLst>
              <a:ext uri="{FF2B5EF4-FFF2-40B4-BE49-F238E27FC236}">
                <a16:creationId xmlns:a16="http://schemas.microsoft.com/office/drawing/2014/main" id="{91AC2269-41E0-90F7-C193-ABB4EDB958E9}"/>
              </a:ext>
            </a:extLst>
          </p:cNvPr>
          <p:cNvGrpSpPr/>
          <p:nvPr/>
        </p:nvGrpSpPr>
        <p:grpSpPr>
          <a:xfrm>
            <a:off x="2857502" y="1899051"/>
            <a:ext cx="12863507" cy="2643185"/>
            <a:chOff x="2743202" y="2083596"/>
            <a:chExt cx="12863507" cy="2643185"/>
          </a:xfrm>
        </p:grpSpPr>
        <p:grpSp>
          <p:nvGrpSpPr>
            <p:cNvPr id="2" name="Group 4"/>
            <p:cNvGrpSpPr>
              <a:grpSpLocks/>
            </p:cNvGrpSpPr>
            <p:nvPr/>
          </p:nvGrpSpPr>
          <p:grpSpPr bwMode="auto">
            <a:xfrm>
              <a:off x="2743202" y="2290762"/>
              <a:ext cx="2119311" cy="2407444"/>
              <a:chOff x="102" y="1021"/>
              <a:chExt cx="890" cy="1011"/>
            </a:xfrm>
          </p:grpSpPr>
          <p:pic>
            <p:nvPicPr>
              <p:cNvPr id="1681413" name="Picture 5"/>
              <p:cNvPicPr>
                <a:picLocks noChangeArrowheads="1"/>
              </p:cNvPicPr>
              <p:nvPr/>
            </p:nvPicPr>
            <p:blipFill>
              <a:blip r:embed="rId4" cstate="email">
                <a:extLst>
                  <a:ext uri="{28A0092B-C50C-407E-A947-70E740481C1C}">
                    <a14:useLocalDpi xmlns:a14="http://schemas.microsoft.com/office/drawing/2010/main"/>
                  </a:ext>
                </a:extLst>
              </a:blip>
              <a:stretch>
                <a:fillRect/>
              </a:stretch>
            </p:blipFill>
            <p:spPr bwMode="auto">
              <a:xfrm>
                <a:off x="102" y="1021"/>
                <a:ext cx="890" cy="642"/>
              </a:xfrm>
              <a:prstGeom prst="rect">
                <a:avLst/>
              </a:prstGeom>
              <a:noFill/>
            </p:spPr>
          </p:pic>
          <p:sp>
            <p:nvSpPr>
              <p:cNvPr id="1681414" name="Text Box 6"/>
              <p:cNvSpPr txBox="1">
                <a:spLocks noChangeArrowheads="1"/>
              </p:cNvSpPr>
              <p:nvPr/>
            </p:nvSpPr>
            <p:spPr bwMode="auto">
              <a:xfrm>
                <a:off x="234" y="1631"/>
                <a:ext cx="651" cy="401"/>
              </a:xfrm>
              <a:prstGeom prst="rect">
                <a:avLst/>
              </a:prstGeom>
              <a:noFill/>
              <a:ln w="28575" algn="ctr">
                <a:noFill/>
                <a:miter lim="800000"/>
                <a:headEnd/>
                <a:tailEnd/>
              </a:ln>
              <a:effectLst/>
            </p:spPr>
            <p:txBody>
              <a:bodyPr wrap="none">
                <a:spAutoFit/>
              </a:bodyPr>
              <a:lstStyle/>
              <a:p>
                <a:pPr algn="ctr" defTabSz="1540670"/>
                <a: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t>Sending</a:t>
                </a:r>
                <a:b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br>
                <a: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t>Client</a:t>
                </a:r>
              </a:p>
            </p:txBody>
          </p:sp>
        </p:grpSp>
        <p:grpSp>
          <p:nvGrpSpPr>
            <p:cNvPr id="3" name="Group 7"/>
            <p:cNvGrpSpPr>
              <a:grpSpLocks/>
            </p:cNvGrpSpPr>
            <p:nvPr/>
          </p:nvGrpSpPr>
          <p:grpSpPr bwMode="auto">
            <a:xfrm>
              <a:off x="13487398" y="2357436"/>
              <a:ext cx="2119311" cy="2369344"/>
              <a:chOff x="4614" y="1049"/>
              <a:chExt cx="890" cy="995"/>
            </a:xfrm>
          </p:grpSpPr>
          <p:pic>
            <p:nvPicPr>
              <p:cNvPr id="1681416" name="Picture 8"/>
              <p:cNvPicPr>
                <a:picLocks noChangeArrowheads="1"/>
              </p:cNvPicPr>
              <p:nvPr/>
            </p:nvPicPr>
            <p:blipFill>
              <a:blip r:embed="rId4" cstate="email">
                <a:extLst>
                  <a:ext uri="{28A0092B-C50C-407E-A947-70E740481C1C}">
                    <a14:useLocalDpi xmlns:a14="http://schemas.microsoft.com/office/drawing/2010/main"/>
                  </a:ext>
                </a:extLst>
              </a:blip>
              <a:stretch>
                <a:fillRect/>
              </a:stretch>
            </p:blipFill>
            <p:spPr bwMode="auto">
              <a:xfrm>
                <a:off x="4614" y="1049"/>
                <a:ext cx="890" cy="642"/>
              </a:xfrm>
              <a:prstGeom prst="rect">
                <a:avLst/>
              </a:prstGeom>
              <a:noFill/>
            </p:spPr>
          </p:pic>
          <p:sp>
            <p:nvSpPr>
              <p:cNvPr id="1681417" name="Text Box 9"/>
              <p:cNvSpPr txBox="1">
                <a:spLocks noChangeArrowheads="1"/>
              </p:cNvSpPr>
              <p:nvPr/>
            </p:nvSpPr>
            <p:spPr bwMode="auto">
              <a:xfrm>
                <a:off x="4717" y="1643"/>
                <a:ext cx="739" cy="401"/>
              </a:xfrm>
              <a:prstGeom prst="rect">
                <a:avLst/>
              </a:prstGeom>
              <a:noFill/>
              <a:ln w="28575" algn="ctr">
                <a:noFill/>
                <a:miter lim="800000"/>
                <a:headEnd/>
                <a:tailEnd/>
              </a:ln>
              <a:effectLst/>
            </p:spPr>
            <p:txBody>
              <a:bodyPr wrap="none">
                <a:spAutoFit/>
              </a:bodyPr>
              <a:lstStyle/>
              <a:p>
                <a:pPr algn="ctr" defTabSz="1540670"/>
                <a: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t>Intended</a:t>
                </a:r>
                <a:b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br>
                <a: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t>Recipient</a:t>
                </a:r>
              </a:p>
            </p:txBody>
          </p:sp>
        </p:grpSp>
        <p:grpSp>
          <p:nvGrpSpPr>
            <p:cNvPr id="4" name="Group 10"/>
            <p:cNvGrpSpPr>
              <a:grpSpLocks/>
            </p:cNvGrpSpPr>
            <p:nvPr/>
          </p:nvGrpSpPr>
          <p:grpSpPr bwMode="auto">
            <a:xfrm>
              <a:off x="6500816" y="2197893"/>
              <a:ext cx="1628776" cy="2528888"/>
              <a:chOff x="1787" y="982"/>
              <a:chExt cx="684" cy="1062"/>
            </a:xfrm>
          </p:grpSpPr>
          <p:pic>
            <p:nvPicPr>
              <p:cNvPr id="1681419" name="Picture 11"/>
              <p:cNvPicPr>
                <a:picLocks noChangeArrowheads="1"/>
              </p:cNvPicPr>
              <p:nvPr/>
            </p:nvPicPr>
            <p:blipFill>
              <a:blip r:embed="rId5" cstate="email">
                <a:extLst>
                  <a:ext uri="{28A0092B-C50C-407E-A947-70E740481C1C}">
                    <a14:useLocalDpi xmlns:a14="http://schemas.microsoft.com/office/drawing/2010/main"/>
                  </a:ext>
                </a:extLst>
              </a:blip>
              <a:stretch>
                <a:fillRect/>
              </a:stretch>
            </p:blipFill>
            <p:spPr bwMode="auto">
              <a:xfrm>
                <a:off x="1841" y="982"/>
                <a:ext cx="609" cy="769"/>
              </a:xfrm>
              <a:prstGeom prst="rect">
                <a:avLst/>
              </a:prstGeom>
              <a:noFill/>
            </p:spPr>
          </p:pic>
          <p:sp>
            <p:nvSpPr>
              <p:cNvPr id="1681420" name="Text Box 12"/>
              <p:cNvSpPr txBox="1">
                <a:spLocks noChangeArrowheads="1"/>
              </p:cNvSpPr>
              <p:nvPr/>
            </p:nvSpPr>
            <p:spPr bwMode="auto">
              <a:xfrm>
                <a:off x="1787" y="1643"/>
                <a:ext cx="684" cy="401"/>
              </a:xfrm>
              <a:prstGeom prst="rect">
                <a:avLst/>
              </a:prstGeom>
              <a:noFill/>
              <a:ln w="28575" algn="ctr">
                <a:noFill/>
                <a:miter lim="800000"/>
                <a:headEnd/>
                <a:tailEnd/>
              </a:ln>
              <a:effectLst/>
            </p:spPr>
            <p:txBody>
              <a:bodyPr wrap="none">
                <a:spAutoFit/>
              </a:bodyPr>
              <a:lstStyle/>
              <a:p>
                <a:pPr algn="ctr" defTabSz="1540670"/>
                <a: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t>Sender’s</a:t>
                </a:r>
                <a:b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br>
                <a: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t>Server</a:t>
                </a:r>
              </a:p>
            </p:txBody>
          </p:sp>
        </p:grpSp>
        <p:grpSp>
          <p:nvGrpSpPr>
            <p:cNvPr id="5" name="Group 13"/>
            <p:cNvGrpSpPr>
              <a:grpSpLocks/>
            </p:cNvGrpSpPr>
            <p:nvPr/>
          </p:nvGrpSpPr>
          <p:grpSpPr bwMode="auto">
            <a:xfrm>
              <a:off x="9941724" y="2197893"/>
              <a:ext cx="2016919" cy="2528888"/>
              <a:chOff x="3160" y="982"/>
              <a:chExt cx="847" cy="1062"/>
            </a:xfrm>
          </p:grpSpPr>
          <p:pic>
            <p:nvPicPr>
              <p:cNvPr id="1681422" name="Picture 14"/>
              <p:cNvPicPr>
                <a:picLocks noChangeArrowheads="1"/>
              </p:cNvPicPr>
              <p:nvPr/>
            </p:nvPicPr>
            <p:blipFill>
              <a:blip r:embed="rId5" cstate="email">
                <a:extLst>
                  <a:ext uri="{28A0092B-C50C-407E-A947-70E740481C1C}">
                    <a14:useLocalDpi xmlns:a14="http://schemas.microsoft.com/office/drawing/2010/main"/>
                  </a:ext>
                </a:extLst>
              </a:blip>
              <a:stretch>
                <a:fillRect/>
              </a:stretch>
            </p:blipFill>
            <p:spPr bwMode="auto">
              <a:xfrm>
                <a:off x="3257" y="982"/>
                <a:ext cx="609" cy="769"/>
              </a:xfrm>
              <a:prstGeom prst="rect">
                <a:avLst/>
              </a:prstGeom>
              <a:noFill/>
            </p:spPr>
          </p:pic>
          <p:sp>
            <p:nvSpPr>
              <p:cNvPr id="1681423" name="Text Box 15"/>
              <p:cNvSpPr txBox="1">
                <a:spLocks noChangeArrowheads="1"/>
              </p:cNvSpPr>
              <p:nvPr/>
            </p:nvSpPr>
            <p:spPr bwMode="auto">
              <a:xfrm>
                <a:off x="3160" y="1643"/>
                <a:ext cx="847" cy="401"/>
              </a:xfrm>
              <a:prstGeom prst="rect">
                <a:avLst/>
              </a:prstGeom>
              <a:noFill/>
              <a:ln w="28575" algn="ctr">
                <a:noFill/>
                <a:miter lim="800000"/>
                <a:headEnd/>
                <a:tailEnd/>
              </a:ln>
              <a:effectLst/>
            </p:spPr>
            <p:txBody>
              <a:bodyPr wrap="none">
                <a:spAutoFit/>
              </a:bodyPr>
              <a:lstStyle/>
              <a:p>
                <a:pPr algn="ctr" defTabSz="1540670"/>
                <a: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t>Recipient’s</a:t>
                </a:r>
                <a:b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br>
                <a: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t>Server</a:t>
                </a:r>
              </a:p>
            </p:txBody>
          </p:sp>
        </p:grpSp>
        <p:grpSp>
          <p:nvGrpSpPr>
            <p:cNvPr id="6" name="Group 16"/>
            <p:cNvGrpSpPr>
              <a:grpSpLocks/>
            </p:cNvGrpSpPr>
            <p:nvPr/>
          </p:nvGrpSpPr>
          <p:grpSpPr bwMode="auto">
            <a:xfrm>
              <a:off x="4755358" y="2707481"/>
              <a:ext cx="1745456" cy="523874"/>
              <a:chOff x="934" y="1154"/>
              <a:chExt cx="733" cy="220"/>
            </a:xfrm>
          </p:grpSpPr>
          <p:sp>
            <p:nvSpPr>
              <p:cNvPr id="1681425" name="Text Box 17"/>
              <p:cNvSpPr txBox="1">
                <a:spLocks noChangeArrowheads="1"/>
              </p:cNvSpPr>
              <p:nvPr/>
            </p:nvSpPr>
            <p:spPr bwMode="auto">
              <a:xfrm>
                <a:off x="1118" y="1154"/>
                <a:ext cx="421" cy="181"/>
              </a:xfrm>
              <a:prstGeom prst="rect">
                <a:avLst/>
              </a:prstGeom>
              <a:noFill/>
              <a:ln w="28575" algn="ctr">
                <a:noFill/>
                <a:miter lim="800000"/>
                <a:headEnd/>
                <a:tailEnd/>
              </a:ln>
              <a:effectLst/>
            </p:spPr>
            <p:txBody>
              <a:bodyPr wrap="none" lIns="0" tIns="0" rIns="0" bIns="0" anchor="ctr" anchorCtr="1">
                <a:spAutoFit/>
              </a:bodyPr>
              <a:lstStyle/>
              <a:p>
                <a:pPr algn="ctr" defTabSz="1540670"/>
                <a: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t>SMTP</a:t>
                </a:r>
              </a:p>
            </p:txBody>
          </p:sp>
          <p:sp>
            <p:nvSpPr>
              <p:cNvPr id="1681426" name="Line 18"/>
              <p:cNvSpPr>
                <a:spLocks noChangeShapeType="1"/>
              </p:cNvSpPr>
              <p:nvPr/>
            </p:nvSpPr>
            <p:spPr bwMode="auto">
              <a:xfrm>
                <a:off x="934" y="1374"/>
                <a:ext cx="733" cy="0"/>
              </a:xfrm>
              <a:prstGeom prst="line">
                <a:avLst/>
              </a:prstGeom>
              <a:noFill/>
              <a:ln w="76200">
                <a:solidFill>
                  <a:srgbClr val="333333"/>
                </a:solidFill>
                <a:round/>
                <a:headEnd/>
                <a:tailEnd type="triangle" w="med" len="med"/>
              </a:ln>
              <a:effectLst/>
            </p:spPr>
            <p:txBody>
              <a:bodyPr wrap="none">
                <a:spAutoFit/>
              </a:bodyPr>
              <a:lstStyle/>
              <a:p>
                <a:pPr algn="ctr"/>
                <a:endParaRPr lang="en-US" sz="28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grpSp>
        <p:grpSp>
          <p:nvGrpSpPr>
            <p:cNvPr id="7" name="Group 19"/>
            <p:cNvGrpSpPr>
              <a:grpSpLocks/>
            </p:cNvGrpSpPr>
            <p:nvPr/>
          </p:nvGrpSpPr>
          <p:grpSpPr bwMode="auto">
            <a:xfrm>
              <a:off x="8229600" y="2664616"/>
              <a:ext cx="1745457" cy="566736"/>
              <a:chOff x="2373" y="1154"/>
              <a:chExt cx="733" cy="238"/>
            </a:xfrm>
          </p:grpSpPr>
          <p:sp>
            <p:nvSpPr>
              <p:cNvPr id="1681428" name="Text Box 20"/>
              <p:cNvSpPr txBox="1">
                <a:spLocks noChangeArrowheads="1"/>
              </p:cNvSpPr>
              <p:nvPr/>
            </p:nvSpPr>
            <p:spPr bwMode="auto">
              <a:xfrm>
                <a:off x="2557" y="1154"/>
                <a:ext cx="421" cy="181"/>
              </a:xfrm>
              <a:prstGeom prst="rect">
                <a:avLst/>
              </a:prstGeom>
              <a:noFill/>
              <a:ln w="28575" algn="ctr">
                <a:noFill/>
                <a:miter lim="800000"/>
                <a:headEnd/>
                <a:tailEnd/>
              </a:ln>
              <a:effectLst/>
            </p:spPr>
            <p:txBody>
              <a:bodyPr wrap="none" lIns="0" tIns="0" rIns="0" bIns="0" anchor="ctr" anchorCtr="1">
                <a:spAutoFit/>
              </a:bodyPr>
              <a:lstStyle/>
              <a:p>
                <a:pPr algn="ctr" defTabSz="1540670"/>
                <a: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t>SMTP</a:t>
                </a:r>
              </a:p>
            </p:txBody>
          </p:sp>
          <p:sp>
            <p:nvSpPr>
              <p:cNvPr id="1681429" name="Line 21"/>
              <p:cNvSpPr>
                <a:spLocks noChangeShapeType="1"/>
              </p:cNvSpPr>
              <p:nvPr/>
            </p:nvSpPr>
            <p:spPr bwMode="auto">
              <a:xfrm>
                <a:off x="2373" y="1392"/>
                <a:ext cx="733" cy="0"/>
              </a:xfrm>
              <a:prstGeom prst="line">
                <a:avLst/>
              </a:prstGeom>
              <a:noFill/>
              <a:ln w="76200">
                <a:solidFill>
                  <a:srgbClr val="333333"/>
                </a:solidFill>
                <a:round/>
                <a:headEnd/>
                <a:tailEnd type="triangle" w="med" len="med"/>
              </a:ln>
              <a:effectLst/>
            </p:spPr>
            <p:txBody>
              <a:bodyPr wrap="none">
                <a:spAutoFit/>
              </a:bodyPr>
              <a:lstStyle/>
              <a:p>
                <a:pPr algn="ctr"/>
                <a:endParaRPr lang="en-US" sz="28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grpSp>
        <p:grpSp>
          <p:nvGrpSpPr>
            <p:cNvPr id="8" name="Group 22"/>
            <p:cNvGrpSpPr>
              <a:grpSpLocks/>
            </p:cNvGrpSpPr>
            <p:nvPr/>
          </p:nvGrpSpPr>
          <p:grpSpPr bwMode="auto">
            <a:xfrm>
              <a:off x="11749090" y="2083596"/>
              <a:ext cx="1745458" cy="1147764"/>
              <a:chOff x="3818" y="981"/>
              <a:chExt cx="733" cy="482"/>
            </a:xfrm>
          </p:grpSpPr>
          <p:sp>
            <p:nvSpPr>
              <p:cNvPr id="1681431" name="Text Box 23"/>
              <p:cNvSpPr txBox="1">
                <a:spLocks noChangeArrowheads="1"/>
              </p:cNvSpPr>
              <p:nvPr/>
            </p:nvSpPr>
            <p:spPr bwMode="auto">
              <a:xfrm>
                <a:off x="3991" y="981"/>
                <a:ext cx="441" cy="362"/>
              </a:xfrm>
              <a:prstGeom prst="rect">
                <a:avLst/>
              </a:prstGeom>
              <a:noFill/>
              <a:ln w="28575" algn="ctr">
                <a:noFill/>
                <a:miter lim="800000"/>
                <a:headEnd/>
                <a:tailEnd/>
              </a:ln>
              <a:effectLst/>
            </p:spPr>
            <p:txBody>
              <a:bodyPr wrap="none" lIns="0" tIns="0" rIns="0" bIns="0" anchor="ctr" anchorCtr="1">
                <a:spAutoFit/>
              </a:bodyPr>
              <a:lstStyle/>
              <a:p>
                <a:pPr algn="ctr" defTabSz="1540670"/>
                <a: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t>POP3,</a:t>
                </a:r>
                <a:b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br>
                <a:r>
                  <a:rPr lang="en-US" sz="2800">
                    <a:latin typeface="Helvetica Neue Medium" panose="02000503000000020004" pitchFamily="2" charset="0"/>
                    <a:ea typeface="Helvetica Neue Medium" panose="02000503000000020004" pitchFamily="2" charset="0"/>
                    <a:cs typeface="Helvetica Neue Medium" panose="02000503000000020004" pitchFamily="2" charset="0"/>
                  </a:rPr>
                  <a:t>IMAP</a:t>
                </a:r>
              </a:p>
            </p:txBody>
          </p:sp>
          <p:sp>
            <p:nvSpPr>
              <p:cNvPr id="1681432" name="Line 24"/>
              <p:cNvSpPr>
                <a:spLocks noChangeShapeType="1"/>
              </p:cNvSpPr>
              <p:nvPr/>
            </p:nvSpPr>
            <p:spPr bwMode="auto">
              <a:xfrm flipH="1">
                <a:off x="3818" y="1463"/>
                <a:ext cx="733" cy="0"/>
              </a:xfrm>
              <a:prstGeom prst="line">
                <a:avLst/>
              </a:prstGeom>
              <a:noFill/>
              <a:ln w="76200">
                <a:solidFill>
                  <a:srgbClr val="333333"/>
                </a:solidFill>
                <a:round/>
                <a:headEnd/>
                <a:tailEnd type="triangle" w="med" len="med"/>
              </a:ln>
              <a:effectLst/>
            </p:spPr>
            <p:txBody>
              <a:bodyPr wrap="none">
                <a:spAutoFit/>
              </a:bodyPr>
              <a:lstStyle/>
              <a:p>
                <a:pPr algn="ctr"/>
                <a:endParaRPr lang="en-US" sz="280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grpSp>
      </p:grpSp>
    </p:spTree>
    <p:custDataLst>
      <p:tags r:id="rId1"/>
    </p:custDataLst>
    <p:extLst>
      <p:ext uri="{BB962C8B-B14F-4D97-AF65-F5344CB8AC3E}">
        <p14:creationId xmlns:p14="http://schemas.microsoft.com/office/powerpoint/2010/main" val="2097406422"/>
      </p:ext>
    </p:extLst>
  </p:cSld>
  <p:clrMapOvr>
    <a:masterClrMapping/>
  </p:clrMapOvr>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Internet and Mobile Banking: Usually Someone Else's Servers</a:t>
            </a:r>
          </a:p>
        </p:txBody>
      </p:sp>
      <p:sp>
        <p:nvSpPr>
          <p:cNvPr id="3" name="Dig 1"/>
          <p:cNvSpPr/>
          <p:nvPr/>
        </p:nvSpPr>
        <p:spPr>
          <a:xfrm>
            <a:off x="1188720" y="2743200"/>
            <a:ext cx="2377440" cy="25146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4" name="Dig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20240" y="3017520"/>
            <a:ext cx="914400" cy="914400"/>
          </a:xfrm>
          <a:prstGeom prst="rect">
            <a:avLst/>
          </a:prstGeom>
        </p:spPr>
      </p:pic>
      <p:sp>
        <p:nvSpPr>
          <p:cNvPr id="5" name="Dig 1 text"/>
          <p:cNvSpPr txBox="1"/>
          <p:nvPr/>
        </p:nvSpPr>
        <p:spPr>
          <a:xfrm>
            <a:off x="1280160" y="4069080"/>
            <a:ext cx="2194560" cy="1097280"/>
          </a:xfrm>
          <a:prstGeom prst="rect">
            <a:avLst/>
          </a:prstGeom>
          <a:noFill/>
        </p:spPr>
        <p:txBody>
          <a:bodyPr wrap="square" lIns="0" tIns="0" rIns="0" bIns="0" anchor="t">
            <a:spAutoFit/>
          </a:bodyPr>
          <a:lstStyle/>
          <a:p>
            <a:pPr algn="ctr">
              <a:spcAft>
                <a:spcPts val="200"/>
              </a:spcAft>
            </a:pPr>
            <a:r>
              <a:rPr sz="1900" b="1" i="0">
                <a:solidFill>
                  <a:srgbClr val="000000"/>
                </a:solidFill>
                <a:latin typeface="Helvetica Neue"/>
                <a:ea typeface="Helvetica Neue"/>
                <a:cs typeface="Helvetica Neue"/>
              </a:rPr>
              <a:t>Customer</a:t>
            </a:r>
          </a:p>
          <a:p>
            <a:pPr algn="ctr">
              <a:spcAft>
                <a:spcPts val="200"/>
              </a:spcAft>
            </a:pPr>
            <a:r>
              <a:rPr sz="1400" b="0" i="0">
                <a:solidFill>
                  <a:srgbClr val="404040"/>
                </a:solidFill>
                <a:latin typeface="Helvetica Neue"/>
                <a:ea typeface="Helvetica Neue"/>
                <a:cs typeface="Helvetica Neue"/>
              </a:rPr>
              <a:t>Phone or browser</a:t>
            </a:r>
          </a:p>
        </p:txBody>
      </p:sp>
      <p:sp>
        <p:nvSpPr>
          <p:cNvPr id="6" name="Dig 2"/>
          <p:cNvSpPr/>
          <p:nvPr/>
        </p:nvSpPr>
        <p:spPr>
          <a:xfrm>
            <a:off x="4754880" y="2743200"/>
            <a:ext cx="2377440" cy="25146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7" name="Dig 2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86400" y="3017520"/>
            <a:ext cx="914400" cy="914400"/>
          </a:xfrm>
          <a:prstGeom prst="rect">
            <a:avLst/>
          </a:prstGeom>
        </p:spPr>
      </p:pic>
      <p:sp>
        <p:nvSpPr>
          <p:cNvPr id="8" name="Dig 2 text"/>
          <p:cNvSpPr txBox="1"/>
          <p:nvPr/>
        </p:nvSpPr>
        <p:spPr>
          <a:xfrm>
            <a:off x="4846320" y="4069080"/>
            <a:ext cx="2194560" cy="1097280"/>
          </a:xfrm>
          <a:prstGeom prst="rect">
            <a:avLst/>
          </a:prstGeom>
          <a:noFill/>
        </p:spPr>
        <p:txBody>
          <a:bodyPr wrap="square" lIns="0" tIns="0" rIns="0" bIns="0" anchor="t">
            <a:spAutoFit/>
          </a:bodyPr>
          <a:lstStyle/>
          <a:p>
            <a:pPr algn="ctr">
              <a:spcAft>
                <a:spcPts val="200"/>
              </a:spcAft>
            </a:pPr>
            <a:r>
              <a:rPr sz="1900" b="1" i="0">
                <a:solidFill>
                  <a:srgbClr val="000000"/>
                </a:solidFill>
                <a:latin typeface="Helvetica Neue"/>
                <a:ea typeface="Helvetica Neue"/>
                <a:cs typeface="Helvetica Neue"/>
              </a:rPr>
              <a:t>Internet</a:t>
            </a:r>
          </a:p>
        </p:txBody>
      </p:sp>
      <p:sp>
        <p:nvSpPr>
          <p:cNvPr id="9" name="Dig 3"/>
          <p:cNvSpPr/>
          <p:nvPr/>
        </p:nvSpPr>
        <p:spPr>
          <a:xfrm>
            <a:off x="8412480" y="2743200"/>
            <a:ext cx="3291840" cy="2514600"/>
          </a:xfrm>
          <a:prstGeom prst="roundRect">
            <a:avLst/>
          </a:prstGeom>
          <a:solidFill>
            <a:srgbClr val="EEF2F8"/>
          </a:solidFill>
          <a:ln w="2540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0" name="Dig 3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01200" y="3017520"/>
            <a:ext cx="914400" cy="914400"/>
          </a:xfrm>
          <a:prstGeom prst="rect">
            <a:avLst/>
          </a:prstGeom>
        </p:spPr>
      </p:pic>
      <p:sp>
        <p:nvSpPr>
          <p:cNvPr id="11" name="Dig 3 text"/>
          <p:cNvSpPr txBox="1"/>
          <p:nvPr/>
        </p:nvSpPr>
        <p:spPr>
          <a:xfrm>
            <a:off x="8503919" y="4069080"/>
            <a:ext cx="3108960" cy="1097280"/>
          </a:xfrm>
          <a:prstGeom prst="rect">
            <a:avLst/>
          </a:prstGeom>
          <a:noFill/>
        </p:spPr>
        <p:txBody>
          <a:bodyPr wrap="square" lIns="0" tIns="0" rIns="0" bIns="0" anchor="t">
            <a:spAutoFit/>
          </a:bodyPr>
          <a:lstStyle/>
          <a:p>
            <a:pPr algn="ctr">
              <a:spcAft>
                <a:spcPts val="200"/>
              </a:spcAft>
            </a:pPr>
            <a:r>
              <a:rPr sz="1900" b="1" i="0">
                <a:solidFill>
                  <a:srgbClr val="000000"/>
                </a:solidFill>
                <a:latin typeface="Helvetica Neue"/>
                <a:ea typeface="Helvetica Neue"/>
                <a:cs typeface="Helvetica Neue"/>
              </a:rPr>
              <a:t>Digital banking vendor</a:t>
            </a:r>
          </a:p>
          <a:p>
            <a:pPr algn="ctr">
              <a:spcAft>
                <a:spcPts val="200"/>
              </a:spcAft>
            </a:pPr>
            <a:r>
              <a:rPr sz="1400" b="0" i="0">
                <a:solidFill>
                  <a:srgbClr val="404040"/>
                </a:solidFill>
                <a:latin typeface="Helvetica Neue"/>
                <a:ea typeface="Helvetica Neue"/>
                <a:cs typeface="Helvetica Neue"/>
              </a:rPr>
              <a:t>Vendor data center or public cloud</a:t>
            </a:r>
          </a:p>
        </p:txBody>
      </p:sp>
      <p:sp>
        <p:nvSpPr>
          <p:cNvPr id="12" name="Dig 4"/>
          <p:cNvSpPr/>
          <p:nvPr/>
        </p:nvSpPr>
        <p:spPr>
          <a:xfrm>
            <a:off x="13533120" y="2743200"/>
            <a:ext cx="2377440" cy="25146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3" name="Dig 4 icon"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264640" y="3017520"/>
            <a:ext cx="914400" cy="914400"/>
          </a:xfrm>
          <a:prstGeom prst="rect">
            <a:avLst/>
          </a:prstGeom>
        </p:spPr>
      </p:pic>
      <p:sp>
        <p:nvSpPr>
          <p:cNvPr id="14" name="Dig 4 text"/>
          <p:cNvSpPr txBox="1"/>
          <p:nvPr/>
        </p:nvSpPr>
        <p:spPr>
          <a:xfrm>
            <a:off x="13624560" y="4069080"/>
            <a:ext cx="2194560" cy="1097280"/>
          </a:xfrm>
          <a:prstGeom prst="rect">
            <a:avLst/>
          </a:prstGeom>
          <a:noFill/>
        </p:spPr>
        <p:txBody>
          <a:bodyPr wrap="square" lIns="0" tIns="0" rIns="0" bIns="0" anchor="t">
            <a:spAutoFit/>
          </a:bodyPr>
          <a:lstStyle/>
          <a:p>
            <a:pPr algn="ctr">
              <a:spcAft>
                <a:spcPts val="200"/>
              </a:spcAft>
            </a:pPr>
            <a:r>
              <a:rPr sz="1900" b="1" i="0">
                <a:solidFill>
                  <a:srgbClr val="000000"/>
                </a:solidFill>
                <a:latin typeface="Helvetica Neue"/>
                <a:ea typeface="Helvetica Neue"/>
                <a:cs typeface="Helvetica Neue"/>
              </a:rPr>
              <a:t>Core</a:t>
            </a:r>
          </a:p>
          <a:p>
            <a:pPr algn="ctr">
              <a:spcAft>
                <a:spcPts val="200"/>
              </a:spcAft>
            </a:pPr>
            <a:r>
              <a:rPr sz="1400" b="0" i="0">
                <a:solidFill>
                  <a:srgbClr val="404040"/>
                </a:solidFill>
                <a:latin typeface="Helvetica Neue"/>
                <a:ea typeface="Helvetica Neue"/>
                <a:cs typeface="Helvetica Neue"/>
              </a:rPr>
              <a:t>Core processor</a:t>
            </a:r>
          </a:p>
        </p:txBody>
      </p:sp>
      <p:cxnSp>
        <p:nvCxnSpPr>
          <p:cNvPr id="15" name="Dig arrow 1"/>
          <p:cNvCxnSpPr/>
          <p:nvPr/>
        </p:nvCxnSpPr>
        <p:spPr>
          <a:xfrm>
            <a:off x="3611880" y="3977639"/>
            <a:ext cx="1097280" cy="0"/>
          </a:xfrm>
          <a:prstGeom prst="line">
            <a:avLst/>
          </a:prstGeom>
          <a:ln w="3810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Dig arrow 2"/>
          <p:cNvCxnSpPr/>
          <p:nvPr/>
        </p:nvCxnSpPr>
        <p:spPr>
          <a:xfrm>
            <a:off x="7178040" y="3977639"/>
            <a:ext cx="1188719" cy="0"/>
          </a:xfrm>
          <a:prstGeom prst="line">
            <a:avLst/>
          </a:prstGeom>
          <a:ln w="3810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Dig arrow 3"/>
          <p:cNvCxnSpPr/>
          <p:nvPr/>
        </p:nvCxnSpPr>
        <p:spPr>
          <a:xfrm>
            <a:off x="11750040" y="3977639"/>
            <a:ext cx="1737360" cy="0"/>
          </a:xfrm>
          <a:prstGeom prst="line">
            <a:avLst/>
          </a:prstGeom>
          <a:ln w="3810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VPN label"/>
          <p:cNvSpPr txBox="1"/>
          <p:nvPr/>
        </p:nvSpPr>
        <p:spPr>
          <a:xfrm>
            <a:off x="11750040" y="3429000"/>
            <a:ext cx="1828800" cy="457200"/>
          </a:xfrm>
          <a:prstGeom prst="rect">
            <a:avLst/>
          </a:prstGeom>
          <a:noFill/>
        </p:spPr>
        <p:txBody>
          <a:bodyPr wrap="square" lIns="0" tIns="0" rIns="0" bIns="0" anchor="t">
            <a:spAutoFit/>
          </a:bodyPr>
          <a:lstStyle/>
          <a:p>
            <a:pPr algn="ctr">
              <a:spcAft>
                <a:spcPts val="600"/>
              </a:spcAft>
            </a:pPr>
            <a:r>
              <a:rPr sz="1300" b="1" i="0">
                <a:solidFill>
                  <a:srgbClr val="ED7D31"/>
                </a:solidFill>
                <a:latin typeface="Helvetica Neue"/>
                <a:ea typeface="Helvetica Neue"/>
                <a:cs typeface="Helvetica Neue"/>
              </a:rPr>
              <a:t>VPN, circuit or API</a:t>
            </a:r>
          </a:p>
        </p:txBody>
      </p:sp>
      <p:pic>
        <p:nvPicPr>
          <p:cNvPr id="19" name="Bank aside"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56080" y="5806440"/>
            <a:ext cx="731520" cy="731520"/>
          </a:xfrm>
          <a:prstGeom prst="rect">
            <a:avLst/>
          </a:prstGeom>
        </p:spPr>
      </p:pic>
      <p:sp>
        <p:nvSpPr>
          <p:cNvPr id="20" name="Bank aside text"/>
          <p:cNvSpPr txBox="1"/>
          <p:nvPr/>
        </p:nvSpPr>
        <p:spPr>
          <a:xfrm>
            <a:off x="12527280" y="6629400"/>
            <a:ext cx="4480560" cy="548640"/>
          </a:xfrm>
          <a:prstGeom prst="rect">
            <a:avLst/>
          </a:prstGeom>
          <a:noFill/>
        </p:spPr>
        <p:txBody>
          <a:bodyPr wrap="square" lIns="0" tIns="0" rIns="0" bIns="0" anchor="t">
            <a:spAutoFit/>
          </a:bodyPr>
          <a:lstStyle/>
          <a:p>
            <a:pPr algn="ctr">
              <a:spcAft>
                <a:spcPts val="600"/>
              </a:spcAft>
            </a:pPr>
            <a:r>
              <a:rPr sz="1500" b="1" i="1">
                <a:solidFill>
                  <a:srgbClr val="595959"/>
                </a:solidFill>
                <a:latin typeface="Helvetica Neue"/>
                <a:ea typeface="Helvetica Neue"/>
                <a:cs typeface="Helvetica Neue"/>
              </a:rPr>
              <a:t>The bank's own network: often not in the path</a:t>
            </a:r>
          </a:p>
        </p:txBody>
      </p:sp>
      <p:sp>
        <p:nvSpPr>
          <p:cNvPr id="21" name="ITP6 panel"/>
          <p:cNvSpPr/>
          <p:nvPr/>
        </p:nvSpPr>
        <p:spPr>
          <a:xfrm>
            <a:off x="1257300" y="5669280"/>
            <a:ext cx="10058400" cy="1417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2" name="ITP6 text"/>
          <p:cNvSpPr txBox="1"/>
          <p:nvPr/>
        </p:nvSpPr>
        <p:spPr>
          <a:xfrm>
            <a:off x="1554480" y="5760720"/>
            <a:ext cx="9509760" cy="1280160"/>
          </a:xfrm>
          <a:prstGeom prst="rect">
            <a:avLst/>
          </a:prstGeom>
          <a:noFill/>
        </p:spPr>
        <p:txBody>
          <a:bodyPr wrap="square" lIns="0" tIns="0" rIns="0" bIns="0" anchor="t">
            <a:spAutoFit/>
          </a:bodyPr>
          <a:lstStyle/>
          <a:p>
            <a:pPr algn="l">
              <a:spcAft>
                <a:spcPts val="300"/>
              </a:spcAft>
            </a:pPr>
            <a:r>
              <a:rPr sz="1800" b="1" i="0">
                <a:solidFill>
                  <a:srgbClr val="000000"/>
                </a:solidFill>
                <a:latin typeface="Helvetica Neue"/>
                <a:ea typeface="Helvetica Neue"/>
                <a:cs typeface="Helvetica Neue"/>
              </a:rPr>
              <a:t>IT Profile question 6</a:t>
            </a:r>
          </a:p>
          <a:p>
            <a:pPr algn="l">
              <a:spcAft>
                <a:spcPts val="300"/>
              </a:spcAft>
            </a:pPr>
            <a:r>
              <a:rPr sz="1600" b="0" i="0">
                <a:solidFill>
                  <a:srgbClr val="000000"/>
                </a:solidFill>
                <a:latin typeface="Helvetica Neue"/>
                <a:ea typeface="Helvetica Neue"/>
                <a:cs typeface="Helvetica Neue"/>
              </a:rPr>
              <a:t>Consumer and commercial internet banking, mobile banking, mobile deposit, remote deposit capture: outsourced or in-house? Expect “outsourced.”</a:t>
            </a:r>
          </a:p>
        </p:txBody>
      </p:sp>
      <p:sp>
        <p:nvSpPr>
          <p:cNvPr id="23" name="Dig ask 1"/>
          <p:cNvSpPr/>
          <p:nvPr/>
        </p:nvSpPr>
        <p:spPr>
          <a:xfrm>
            <a:off x="1257300" y="7406640"/>
            <a:ext cx="3703320" cy="19659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4" name="Dig ask 1 text"/>
          <p:cNvSpPr txBox="1"/>
          <p:nvPr/>
        </p:nvSpPr>
        <p:spPr>
          <a:xfrm>
            <a:off x="1513332" y="7607808"/>
            <a:ext cx="3191256" cy="160020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Front-door protection</a:t>
            </a:r>
          </a:p>
          <a:p>
            <a:pPr algn="l">
              <a:spcAft>
                <a:spcPts val="700"/>
              </a:spcAft>
            </a:pPr>
            <a:r>
              <a:rPr sz="1600" b="0" i="0">
                <a:solidFill>
                  <a:srgbClr val="000000"/>
                </a:solidFill>
                <a:latin typeface="Helvetica Neue"/>
                <a:ea typeface="Helvetica Neue"/>
                <a:cs typeface="Helvetica Neue"/>
              </a:rPr>
              <a:t>Who handles DDoS and bot attacks?</a:t>
            </a:r>
          </a:p>
        </p:txBody>
      </p:sp>
      <p:sp>
        <p:nvSpPr>
          <p:cNvPr id="25" name="Dig ask 2"/>
          <p:cNvSpPr/>
          <p:nvPr/>
        </p:nvSpPr>
        <p:spPr>
          <a:xfrm>
            <a:off x="5280659" y="7406640"/>
            <a:ext cx="3703320" cy="19659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6" name="Dig ask 2 text"/>
          <p:cNvSpPr txBox="1"/>
          <p:nvPr/>
        </p:nvSpPr>
        <p:spPr>
          <a:xfrm>
            <a:off x="5536692" y="7607808"/>
            <a:ext cx="3191256" cy="160020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Customer authentication</a:t>
            </a:r>
          </a:p>
          <a:p>
            <a:pPr algn="l">
              <a:spcAft>
                <a:spcPts val="700"/>
              </a:spcAft>
            </a:pPr>
            <a:r>
              <a:rPr sz="1600" b="0" i="0">
                <a:solidFill>
                  <a:srgbClr val="000000"/>
                </a:solidFill>
                <a:latin typeface="Helvetica Neue"/>
                <a:ea typeface="Helvetica Neue"/>
                <a:cs typeface="Helvetica Neue"/>
              </a:rPr>
              <a:t>MFA, device recognition, step-up for risky actions</a:t>
            </a:r>
          </a:p>
        </p:txBody>
      </p:sp>
      <p:sp>
        <p:nvSpPr>
          <p:cNvPr id="27" name="Dig ask 3"/>
          <p:cNvSpPr/>
          <p:nvPr/>
        </p:nvSpPr>
        <p:spPr>
          <a:xfrm>
            <a:off x="9304019" y="7406640"/>
            <a:ext cx="3703320" cy="19659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8" name="Dig ask 3 text"/>
          <p:cNvSpPr txBox="1"/>
          <p:nvPr/>
        </p:nvSpPr>
        <p:spPr>
          <a:xfrm>
            <a:off x="9560051" y="7607808"/>
            <a:ext cx="3191256" cy="160020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Always on</a:t>
            </a:r>
          </a:p>
          <a:p>
            <a:pPr algn="l">
              <a:spcAft>
                <a:spcPts val="700"/>
              </a:spcAft>
            </a:pPr>
            <a:r>
              <a:rPr sz="1600" b="0" i="0">
                <a:solidFill>
                  <a:srgbClr val="000000"/>
                </a:solidFill>
                <a:latin typeface="Helvetica Neue"/>
                <a:ea typeface="Helvetica Neue"/>
                <a:cs typeface="Helvetica Neue"/>
              </a:rPr>
              <a:t>Customers expect 24x7; what does the SLA promise?</a:t>
            </a:r>
          </a:p>
        </p:txBody>
      </p:sp>
      <p:sp>
        <p:nvSpPr>
          <p:cNvPr id="29" name="Dig ask 4"/>
          <p:cNvSpPr/>
          <p:nvPr/>
        </p:nvSpPr>
        <p:spPr>
          <a:xfrm>
            <a:off x="13327380" y="7406640"/>
            <a:ext cx="3703320" cy="19659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0" name="Dig ask 4 text"/>
          <p:cNvSpPr txBox="1"/>
          <p:nvPr/>
        </p:nvSpPr>
        <p:spPr>
          <a:xfrm>
            <a:off x="13583411" y="7607808"/>
            <a:ext cx="3191256" cy="160020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Real or fake?</a:t>
            </a:r>
          </a:p>
          <a:p>
            <a:pPr algn="l">
              <a:spcAft>
                <a:spcPts val="700"/>
              </a:spcAft>
            </a:pPr>
            <a:r>
              <a:rPr sz="1600" b="0" i="0">
                <a:solidFill>
                  <a:srgbClr val="000000"/>
                </a:solidFill>
                <a:latin typeface="Helvetica Neue"/>
                <a:ea typeface="Helvetica Neue"/>
                <a:cs typeface="Helvetica Neue"/>
              </a:rPr>
              <a:t>FDIC digital sign on the login page by April 1, 2027</a:t>
            </a:r>
          </a:p>
        </p:txBody>
      </p:sp>
      <p:sp>
        <p:nvSpPr>
          <p:cNvPr id="31"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Sources: InTREx IT Profile Q6 (September 2023 version); FDIC final rule amending 12 CFR Part 328 (Federal Register, January 29, 2026)</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CRM, HR, and the Rest of the SaaS Stack</a:t>
            </a:r>
          </a:p>
        </p:txBody>
      </p:sp>
      <p:sp>
        <p:nvSpPr>
          <p:cNvPr id="3" name="App 1"/>
          <p:cNvSpPr/>
          <p:nvPr/>
        </p:nvSpPr>
        <p:spPr>
          <a:xfrm>
            <a:off x="1257300" y="2697480"/>
            <a:ext cx="3703320" cy="22402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4" name="App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31619" y="2971800"/>
            <a:ext cx="640080" cy="640080"/>
          </a:xfrm>
          <a:prstGeom prst="rect">
            <a:avLst/>
          </a:prstGeom>
        </p:spPr>
      </p:pic>
      <p:sp>
        <p:nvSpPr>
          <p:cNvPr id="5" name="App 1 head"/>
          <p:cNvSpPr txBox="1"/>
          <p:nvPr/>
        </p:nvSpPr>
        <p:spPr>
          <a:xfrm>
            <a:off x="2308860" y="2971800"/>
            <a:ext cx="2514600" cy="685800"/>
          </a:xfrm>
          <a:prstGeom prst="rect">
            <a:avLst/>
          </a:prstGeom>
          <a:noFill/>
        </p:spPr>
        <p:txBody>
          <a:bodyPr wrap="square" lIns="0" tIns="0" rIns="0" bIns="0" anchor="ctr">
            <a:spAutoFit/>
          </a:bodyPr>
          <a:lstStyle/>
          <a:p>
            <a:pPr algn="l">
              <a:spcAft>
                <a:spcPts val="600"/>
              </a:spcAft>
            </a:pPr>
            <a:r>
              <a:rPr sz="2000" b="1" i="0">
                <a:solidFill>
                  <a:srgbClr val="000000"/>
                </a:solidFill>
                <a:latin typeface="Helvetica Neue"/>
                <a:ea typeface="Helvetica Neue"/>
                <a:cs typeface="Helvetica Neue"/>
              </a:rPr>
              <a:t>CRM</a:t>
            </a:r>
          </a:p>
        </p:txBody>
      </p:sp>
      <p:sp>
        <p:nvSpPr>
          <p:cNvPr id="6" name="App 1 body"/>
          <p:cNvSpPr txBox="1"/>
          <p:nvPr/>
        </p:nvSpPr>
        <p:spPr>
          <a:xfrm>
            <a:off x="1531620" y="3840480"/>
            <a:ext cx="3154679" cy="1005840"/>
          </a:xfrm>
          <a:prstGeom prst="rect">
            <a:avLst/>
          </a:prstGeom>
          <a:noFill/>
        </p:spPr>
        <p:txBody>
          <a:bodyPr wrap="square" lIns="0" tIns="0" rIns="0" bIns="0" anchor="t">
            <a:spAutoFit/>
          </a:bodyPr>
          <a:lstStyle/>
          <a:p>
            <a:pPr algn="l">
              <a:spcAft>
                <a:spcPts val="600"/>
              </a:spcAft>
            </a:pPr>
            <a:r>
              <a:rPr sz="1700" b="0" i="0">
                <a:solidFill>
                  <a:srgbClr val="404040"/>
                </a:solidFill>
                <a:latin typeface="Helvetica Neue"/>
                <a:ea typeface="Helvetica Neue"/>
                <a:cs typeface="Helvetica Neue"/>
              </a:rPr>
              <a:t>Holds: Customer contacts, sales pipeline</a:t>
            </a:r>
          </a:p>
        </p:txBody>
      </p:sp>
      <p:sp>
        <p:nvSpPr>
          <p:cNvPr id="7" name="App 2"/>
          <p:cNvSpPr/>
          <p:nvPr/>
        </p:nvSpPr>
        <p:spPr>
          <a:xfrm>
            <a:off x="5280659" y="2697480"/>
            <a:ext cx="3703320" cy="22402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8" name="App 2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4980" y="2971800"/>
            <a:ext cx="640080" cy="640080"/>
          </a:xfrm>
          <a:prstGeom prst="rect">
            <a:avLst/>
          </a:prstGeom>
        </p:spPr>
      </p:pic>
      <p:sp>
        <p:nvSpPr>
          <p:cNvPr id="9" name="App 2 head"/>
          <p:cNvSpPr txBox="1"/>
          <p:nvPr/>
        </p:nvSpPr>
        <p:spPr>
          <a:xfrm>
            <a:off x="6332219" y="2971800"/>
            <a:ext cx="2514600" cy="685800"/>
          </a:xfrm>
          <a:prstGeom prst="rect">
            <a:avLst/>
          </a:prstGeom>
          <a:noFill/>
        </p:spPr>
        <p:txBody>
          <a:bodyPr wrap="square" lIns="0" tIns="0" rIns="0" bIns="0" anchor="ctr">
            <a:spAutoFit/>
          </a:bodyPr>
          <a:lstStyle/>
          <a:p>
            <a:pPr algn="l">
              <a:spcAft>
                <a:spcPts val="600"/>
              </a:spcAft>
            </a:pPr>
            <a:r>
              <a:rPr sz="2000" b="1" i="0">
                <a:solidFill>
                  <a:srgbClr val="000000"/>
                </a:solidFill>
                <a:latin typeface="Helvetica Neue"/>
                <a:ea typeface="Helvetica Neue"/>
                <a:cs typeface="Helvetica Neue"/>
              </a:rPr>
              <a:t>HR and payroll</a:t>
            </a:r>
          </a:p>
        </p:txBody>
      </p:sp>
      <p:sp>
        <p:nvSpPr>
          <p:cNvPr id="10" name="App 2 body"/>
          <p:cNvSpPr txBox="1"/>
          <p:nvPr/>
        </p:nvSpPr>
        <p:spPr>
          <a:xfrm>
            <a:off x="5554979" y="3840480"/>
            <a:ext cx="3154679" cy="1005840"/>
          </a:xfrm>
          <a:prstGeom prst="rect">
            <a:avLst/>
          </a:prstGeom>
          <a:noFill/>
        </p:spPr>
        <p:txBody>
          <a:bodyPr wrap="square" lIns="0" tIns="0" rIns="0" bIns="0" anchor="t">
            <a:spAutoFit/>
          </a:bodyPr>
          <a:lstStyle/>
          <a:p>
            <a:pPr algn="l">
              <a:spcAft>
                <a:spcPts val="600"/>
              </a:spcAft>
            </a:pPr>
            <a:r>
              <a:rPr sz="1700" b="0" i="0">
                <a:solidFill>
                  <a:srgbClr val="404040"/>
                </a:solidFill>
                <a:latin typeface="Helvetica Neue"/>
                <a:ea typeface="Helvetica Neue"/>
                <a:cs typeface="Helvetica Neue"/>
              </a:rPr>
              <a:t>Holds: Employee SSNs and bank accounts</a:t>
            </a:r>
          </a:p>
        </p:txBody>
      </p:sp>
      <p:sp>
        <p:nvSpPr>
          <p:cNvPr id="11" name="App 3"/>
          <p:cNvSpPr/>
          <p:nvPr/>
        </p:nvSpPr>
        <p:spPr>
          <a:xfrm>
            <a:off x="9304019" y="2697480"/>
            <a:ext cx="3703320" cy="22402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2" name="App 3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78340" y="2971800"/>
            <a:ext cx="640080" cy="640080"/>
          </a:xfrm>
          <a:prstGeom prst="rect">
            <a:avLst/>
          </a:prstGeom>
        </p:spPr>
      </p:pic>
      <p:sp>
        <p:nvSpPr>
          <p:cNvPr id="13" name="App 3 head"/>
          <p:cNvSpPr txBox="1"/>
          <p:nvPr/>
        </p:nvSpPr>
        <p:spPr>
          <a:xfrm>
            <a:off x="10355580" y="2971800"/>
            <a:ext cx="2514600" cy="685800"/>
          </a:xfrm>
          <a:prstGeom prst="rect">
            <a:avLst/>
          </a:prstGeom>
          <a:noFill/>
        </p:spPr>
        <p:txBody>
          <a:bodyPr wrap="square" lIns="0" tIns="0" rIns="0" bIns="0" anchor="ctr">
            <a:spAutoFit/>
          </a:bodyPr>
          <a:lstStyle/>
          <a:p>
            <a:pPr algn="l">
              <a:spcAft>
                <a:spcPts val="600"/>
              </a:spcAft>
            </a:pPr>
            <a:r>
              <a:rPr sz="2000" b="1" i="0">
                <a:solidFill>
                  <a:srgbClr val="000000"/>
                </a:solidFill>
                <a:latin typeface="Helvetica Neue"/>
                <a:ea typeface="Helvetica Neue"/>
                <a:cs typeface="Helvetica Neue"/>
              </a:rPr>
              <a:t>Loan origination</a:t>
            </a:r>
          </a:p>
        </p:txBody>
      </p:sp>
      <p:sp>
        <p:nvSpPr>
          <p:cNvPr id="14" name="App 3 body"/>
          <p:cNvSpPr txBox="1"/>
          <p:nvPr/>
        </p:nvSpPr>
        <p:spPr>
          <a:xfrm>
            <a:off x="9578340" y="3840480"/>
            <a:ext cx="3154679" cy="1005840"/>
          </a:xfrm>
          <a:prstGeom prst="rect">
            <a:avLst/>
          </a:prstGeom>
          <a:noFill/>
        </p:spPr>
        <p:txBody>
          <a:bodyPr wrap="square" lIns="0" tIns="0" rIns="0" bIns="0" anchor="t">
            <a:spAutoFit/>
          </a:bodyPr>
          <a:lstStyle/>
          <a:p>
            <a:pPr algn="l">
              <a:spcAft>
                <a:spcPts val="600"/>
              </a:spcAft>
            </a:pPr>
            <a:r>
              <a:rPr sz="1700" b="0" i="0">
                <a:solidFill>
                  <a:srgbClr val="404040"/>
                </a:solidFill>
                <a:latin typeface="Helvetica Neue"/>
                <a:ea typeface="Helvetica Neue"/>
                <a:cs typeface="Helvetica Neue"/>
              </a:rPr>
              <a:t>Holds: Full credit files</a:t>
            </a:r>
          </a:p>
        </p:txBody>
      </p:sp>
      <p:sp>
        <p:nvSpPr>
          <p:cNvPr id="15" name="App 4"/>
          <p:cNvSpPr/>
          <p:nvPr/>
        </p:nvSpPr>
        <p:spPr>
          <a:xfrm>
            <a:off x="13327380" y="2697480"/>
            <a:ext cx="3703320" cy="22402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6" name="App 4 icon"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601700" y="2971800"/>
            <a:ext cx="640080" cy="640080"/>
          </a:xfrm>
          <a:prstGeom prst="rect">
            <a:avLst/>
          </a:prstGeom>
        </p:spPr>
      </p:pic>
      <p:sp>
        <p:nvSpPr>
          <p:cNvPr id="17" name="App 4 head"/>
          <p:cNvSpPr txBox="1"/>
          <p:nvPr/>
        </p:nvSpPr>
        <p:spPr>
          <a:xfrm>
            <a:off x="14378940" y="2971800"/>
            <a:ext cx="2514600" cy="685800"/>
          </a:xfrm>
          <a:prstGeom prst="rect">
            <a:avLst/>
          </a:prstGeom>
          <a:noFill/>
        </p:spPr>
        <p:txBody>
          <a:bodyPr wrap="square" lIns="0" tIns="0" rIns="0" bIns="0" anchor="ctr">
            <a:spAutoFit/>
          </a:bodyPr>
          <a:lstStyle/>
          <a:p>
            <a:pPr algn="l">
              <a:spcAft>
                <a:spcPts val="600"/>
              </a:spcAft>
            </a:pPr>
            <a:r>
              <a:rPr sz="2000" b="1" i="0">
                <a:solidFill>
                  <a:srgbClr val="000000"/>
                </a:solidFill>
                <a:latin typeface="Helvetica Neue"/>
                <a:ea typeface="Helvetica Neue"/>
                <a:cs typeface="Helvetica Neue"/>
              </a:rPr>
              <a:t>Board portal</a:t>
            </a:r>
          </a:p>
        </p:txBody>
      </p:sp>
      <p:sp>
        <p:nvSpPr>
          <p:cNvPr id="18" name="App 4 body"/>
          <p:cNvSpPr txBox="1"/>
          <p:nvPr/>
        </p:nvSpPr>
        <p:spPr>
          <a:xfrm>
            <a:off x="13601700" y="3840480"/>
            <a:ext cx="3154679" cy="1005840"/>
          </a:xfrm>
          <a:prstGeom prst="rect">
            <a:avLst/>
          </a:prstGeom>
          <a:noFill/>
        </p:spPr>
        <p:txBody>
          <a:bodyPr wrap="square" lIns="0" tIns="0" rIns="0" bIns="0" anchor="t">
            <a:spAutoFit/>
          </a:bodyPr>
          <a:lstStyle/>
          <a:p>
            <a:pPr algn="l">
              <a:spcAft>
                <a:spcPts val="600"/>
              </a:spcAft>
            </a:pPr>
            <a:r>
              <a:rPr sz="1700" b="0" i="0">
                <a:solidFill>
                  <a:srgbClr val="404040"/>
                </a:solidFill>
                <a:latin typeface="Helvetica Neue"/>
                <a:ea typeface="Helvetica Neue"/>
                <a:cs typeface="Helvetica Neue"/>
              </a:rPr>
              <a:t>Holds: Minutes, exam findings</a:t>
            </a:r>
          </a:p>
        </p:txBody>
      </p:sp>
      <p:sp>
        <p:nvSpPr>
          <p:cNvPr id="19" name="App 5"/>
          <p:cNvSpPr/>
          <p:nvPr/>
        </p:nvSpPr>
        <p:spPr>
          <a:xfrm>
            <a:off x="1257300" y="5212080"/>
            <a:ext cx="3703320" cy="22402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0" name="App 5 icon"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31619" y="5486400"/>
            <a:ext cx="640080" cy="640080"/>
          </a:xfrm>
          <a:prstGeom prst="rect">
            <a:avLst/>
          </a:prstGeom>
        </p:spPr>
      </p:pic>
      <p:sp>
        <p:nvSpPr>
          <p:cNvPr id="21" name="App 5 head"/>
          <p:cNvSpPr txBox="1"/>
          <p:nvPr/>
        </p:nvSpPr>
        <p:spPr>
          <a:xfrm>
            <a:off x="2308860" y="5486400"/>
            <a:ext cx="2514600" cy="685800"/>
          </a:xfrm>
          <a:prstGeom prst="rect">
            <a:avLst/>
          </a:prstGeom>
          <a:noFill/>
        </p:spPr>
        <p:txBody>
          <a:bodyPr wrap="square" lIns="0" tIns="0" rIns="0" bIns="0" anchor="ctr">
            <a:spAutoFit/>
          </a:bodyPr>
          <a:lstStyle/>
          <a:p>
            <a:pPr algn="l">
              <a:spcAft>
                <a:spcPts val="600"/>
              </a:spcAft>
            </a:pPr>
            <a:r>
              <a:rPr sz="2000" b="1" i="0">
                <a:solidFill>
                  <a:srgbClr val="000000"/>
                </a:solidFill>
                <a:latin typeface="Helvetica Neue"/>
                <a:ea typeface="Helvetica Neue"/>
                <a:cs typeface="Helvetica Neue"/>
              </a:rPr>
              <a:t>E-signature</a:t>
            </a:r>
          </a:p>
        </p:txBody>
      </p:sp>
      <p:sp>
        <p:nvSpPr>
          <p:cNvPr id="22" name="App 5 body"/>
          <p:cNvSpPr txBox="1"/>
          <p:nvPr/>
        </p:nvSpPr>
        <p:spPr>
          <a:xfrm>
            <a:off x="1531620" y="6355080"/>
            <a:ext cx="3154679" cy="1005840"/>
          </a:xfrm>
          <a:prstGeom prst="rect">
            <a:avLst/>
          </a:prstGeom>
          <a:noFill/>
        </p:spPr>
        <p:txBody>
          <a:bodyPr wrap="square" lIns="0" tIns="0" rIns="0" bIns="0" anchor="t">
            <a:spAutoFit/>
          </a:bodyPr>
          <a:lstStyle/>
          <a:p>
            <a:pPr algn="l">
              <a:spcAft>
                <a:spcPts val="600"/>
              </a:spcAft>
            </a:pPr>
            <a:r>
              <a:rPr sz="1700" b="0" i="0">
                <a:solidFill>
                  <a:srgbClr val="404040"/>
                </a:solidFill>
                <a:latin typeface="Helvetica Neue"/>
                <a:ea typeface="Helvetica Neue"/>
                <a:cs typeface="Helvetica Neue"/>
              </a:rPr>
              <a:t>Holds: Signed loan and account documents</a:t>
            </a:r>
          </a:p>
        </p:txBody>
      </p:sp>
      <p:sp>
        <p:nvSpPr>
          <p:cNvPr id="23" name="App 6"/>
          <p:cNvSpPr/>
          <p:nvPr/>
        </p:nvSpPr>
        <p:spPr>
          <a:xfrm>
            <a:off x="5280659" y="5212080"/>
            <a:ext cx="3703320" cy="22402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4" name="App 6 icon" descr="image.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554980" y="5486400"/>
            <a:ext cx="640080" cy="640080"/>
          </a:xfrm>
          <a:prstGeom prst="rect">
            <a:avLst/>
          </a:prstGeom>
        </p:spPr>
      </p:pic>
      <p:sp>
        <p:nvSpPr>
          <p:cNvPr id="25" name="App 6 head"/>
          <p:cNvSpPr txBox="1"/>
          <p:nvPr/>
        </p:nvSpPr>
        <p:spPr>
          <a:xfrm>
            <a:off x="6332219" y="5486400"/>
            <a:ext cx="2514600" cy="685800"/>
          </a:xfrm>
          <a:prstGeom prst="rect">
            <a:avLst/>
          </a:prstGeom>
          <a:noFill/>
        </p:spPr>
        <p:txBody>
          <a:bodyPr wrap="square" lIns="0" tIns="0" rIns="0" bIns="0" anchor="ctr">
            <a:spAutoFit/>
          </a:bodyPr>
          <a:lstStyle/>
          <a:p>
            <a:pPr algn="l">
              <a:spcAft>
                <a:spcPts val="600"/>
              </a:spcAft>
            </a:pPr>
            <a:r>
              <a:rPr sz="2000" b="1" i="0">
                <a:solidFill>
                  <a:srgbClr val="000000"/>
                </a:solidFill>
                <a:latin typeface="Helvetica Neue"/>
                <a:ea typeface="Helvetica Neue"/>
                <a:cs typeface="Helvetica Neue"/>
              </a:rPr>
              <a:t>Accounting and AP</a:t>
            </a:r>
          </a:p>
        </p:txBody>
      </p:sp>
      <p:sp>
        <p:nvSpPr>
          <p:cNvPr id="26" name="App 6 body"/>
          <p:cNvSpPr txBox="1"/>
          <p:nvPr/>
        </p:nvSpPr>
        <p:spPr>
          <a:xfrm>
            <a:off x="5554979" y="6355080"/>
            <a:ext cx="3154679" cy="1005840"/>
          </a:xfrm>
          <a:prstGeom prst="rect">
            <a:avLst/>
          </a:prstGeom>
          <a:noFill/>
        </p:spPr>
        <p:txBody>
          <a:bodyPr wrap="square" lIns="0" tIns="0" rIns="0" bIns="0" anchor="t">
            <a:spAutoFit/>
          </a:bodyPr>
          <a:lstStyle/>
          <a:p>
            <a:pPr algn="l">
              <a:spcAft>
                <a:spcPts val="600"/>
              </a:spcAft>
            </a:pPr>
            <a:r>
              <a:rPr sz="1700" b="0" i="0">
                <a:solidFill>
                  <a:srgbClr val="404040"/>
                </a:solidFill>
                <a:latin typeface="Helvetica Neue"/>
                <a:ea typeface="Helvetica Neue"/>
                <a:cs typeface="Helvetica Neue"/>
              </a:rPr>
              <a:t>Holds: Vendor payments</a:t>
            </a:r>
          </a:p>
        </p:txBody>
      </p:sp>
      <p:sp>
        <p:nvSpPr>
          <p:cNvPr id="27" name="App 7"/>
          <p:cNvSpPr/>
          <p:nvPr/>
        </p:nvSpPr>
        <p:spPr>
          <a:xfrm>
            <a:off x="9304019" y="5212080"/>
            <a:ext cx="3703320" cy="22402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8" name="App 7 icon" descr="image.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578340" y="5486400"/>
            <a:ext cx="640080" cy="640080"/>
          </a:xfrm>
          <a:prstGeom prst="rect">
            <a:avLst/>
          </a:prstGeom>
        </p:spPr>
      </p:pic>
      <p:sp>
        <p:nvSpPr>
          <p:cNvPr id="29" name="App 7 head"/>
          <p:cNvSpPr txBox="1"/>
          <p:nvPr/>
        </p:nvSpPr>
        <p:spPr>
          <a:xfrm>
            <a:off x="10355580" y="5486400"/>
            <a:ext cx="2514600" cy="685800"/>
          </a:xfrm>
          <a:prstGeom prst="rect">
            <a:avLst/>
          </a:prstGeom>
          <a:noFill/>
        </p:spPr>
        <p:txBody>
          <a:bodyPr wrap="square" lIns="0" tIns="0" rIns="0" bIns="0" anchor="ctr">
            <a:spAutoFit/>
          </a:bodyPr>
          <a:lstStyle/>
          <a:p>
            <a:pPr algn="l">
              <a:spcAft>
                <a:spcPts val="600"/>
              </a:spcAft>
            </a:pPr>
            <a:r>
              <a:rPr sz="2000" b="1" i="0">
                <a:solidFill>
                  <a:srgbClr val="000000"/>
                </a:solidFill>
                <a:latin typeface="Helvetica Neue"/>
                <a:ea typeface="Helvetica Neue"/>
                <a:cs typeface="Helvetica Neue"/>
              </a:rPr>
              <a:t>Training</a:t>
            </a:r>
          </a:p>
        </p:txBody>
      </p:sp>
      <p:sp>
        <p:nvSpPr>
          <p:cNvPr id="30" name="App 7 body"/>
          <p:cNvSpPr txBox="1"/>
          <p:nvPr/>
        </p:nvSpPr>
        <p:spPr>
          <a:xfrm>
            <a:off x="9578340" y="6355080"/>
            <a:ext cx="3154679" cy="1005840"/>
          </a:xfrm>
          <a:prstGeom prst="rect">
            <a:avLst/>
          </a:prstGeom>
          <a:noFill/>
        </p:spPr>
        <p:txBody>
          <a:bodyPr wrap="square" lIns="0" tIns="0" rIns="0" bIns="0" anchor="t">
            <a:spAutoFit/>
          </a:bodyPr>
          <a:lstStyle/>
          <a:p>
            <a:pPr algn="l">
              <a:spcAft>
                <a:spcPts val="600"/>
              </a:spcAft>
            </a:pPr>
            <a:r>
              <a:rPr sz="1700" b="0" i="0">
                <a:solidFill>
                  <a:srgbClr val="404040"/>
                </a:solidFill>
                <a:latin typeface="Helvetica Neue"/>
                <a:ea typeface="Helvetica Neue"/>
                <a:cs typeface="Helvetica Neue"/>
              </a:rPr>
              <a:t>Holds: Staff records</a:t>
            </a:r>
          </a:p>
        </p:txBody>
      </p:sp>
      <p:sp>
        <p:nvSpPr>
          <p:cNvPr id="31" name="App 8"/>
          <p:cNvSpPr/>
          <p:nvPr/>
        </p:nvSpPr>
        <p:spPr>
          <a:xfrm>
            <a:off x="13327380" y="5212080"/>
            <a:ext cx="3703320" cy="22402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32" name="App 8 icon" descr="image.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3601700" y="5486400"/>
            <a:ext cx="640080" cy="640080"/>
          </a:xfrm>
          <a:prstGeom prst="rect">
            <a:avLst/>
          </a:prstGeom>
        </p:spPr>
      </p:pic>
      <p:sp>
        <p:nvSpPr>
          <p:cNvPr id="33" name="App 8 head"/>
          <p:cNvSpPr txBox="1"/>
          <p:nvPr/>
        </p:nvSpPr>
        <p:spPr>
          <a:xfrm>
            <a:off x="14378940" y="5486400"/>
            <a:ext cx="2514600" cy="685800"/>
          </a:xfrm>
          <a:prstGeom prst="rect">
            <a:avLst/>
          </a:prstGeom>
          <a:noFill/>
        </p:spPr>
        <p:txBody>
          <a:bodyPr wrap="square" lIns="0" tIns="0" rIns="0" bIns="0" anchor="ctr">
            <a:spAutoFit/>
          </a:bodyPr>
          <a:lstStyle/>
          <a:p>
            <a:pPr algn="l">
              <a:spcAft>
                <a:spcPts val="600"/>
              </a:spcAft>
            </a:pPr>
            <a:r>
              <a:rPr sz="2000" b="1" i="0">
                <a:solidFill>
                  <a:srgbClr val="000000"/>
                </a:solidFill>
                <a:latin typeface="Helvetica Neue"/>
                <a:ea typeface="Helvetica Neue"/>
                <a:cs typeface="Helvetica Neue"/>
              </a:rPr>
              <a:t>Marketing email</a:t>
            </a:r>
          </a:p>
        </p:txBody>
      </p:sp>
      <p:sp>
        <p:nvSpPr>
          <p:cNvPr id="34" name="App 8 body"/>
          <p:cNvSpPr txBox="1"/>
          <p:nvPr/>
        </p:nvSpPr>
        <p:spPr>
          <a:xfrm>
            <a:off x="13601700" y="6355080"/>
            <a:ext cx="3154679" cy="1005840"/>
          </a:xfrm>
          <a:prstGeom prst="rect">
            <a:avLst/>
          </a:prstGeom>
          <a:noFill/>
        </p:spPr>
        <p:txBody>
          <a:bodyPr wrap="square" lIns="0" tIns="0" rIns="0" bIns="0" anchor="t">
            <a:spAutoFit/>
          </a:bodyPr>
          <a:lstStyle/>
          <a:p>
            <a:pPr algn="l">
              <a:spcAft>
                <a:spcPts val="600"/>
              </a:spcAft>
            </a:pPr>
            <a:r>
              <a:rPr sz="1700" b="0" i="0">
                <a:solidFill>
                  <a:srgbClr val="404040"/>
                </a:solidFill>
                <a:latin typeface="Helvetica Neue"/>
                <a:ea typeface="Helvetica Neue"/>
                <a:cs typeface="Helvetica Neue"/>
              </a:rPr>
              <a:t>Holds: Customer email lists</a:t>
            </a:r>
          </a:p>
        </p:txBody>
      </p:sp>
      <p:sp>
        <p:nvSpPr>
          <p:cNvPr id="35" name="SaaS banner"/>
          <p:cNvSpPr/>
          <p:nvPr/>
        </p:nvSpPr>
        <p:spPr>
          <a:xfrm>
            <a:off x="1257300" y="7863840"/>
            <a:ext cx="15773400" cy="73152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6" name="SaaS banner text"/>
          <p:cNvSpPr txBox="1"/>
          <p:nvPr/>
        </p:nvSpPr>
        <p:spPr>
          <a:xfrm>
            <a:off x="1554480" y="7909560"/>
            <a:ext cx="15179040" cy="640080"/>
          </a:xfrm>
          <a:prstGeom prst="rect">
            <a:avLst/>
          </a:prstGeom>
          <a:noFill/>
        </p:spPr>
        <p:txBody>
          <a:bodyPr wrap="square" lIns="0" tIns="0" rIns="0" bIns="0" anchor="ctr">
            <a:spAutoFit/>
          </a:bodyPr>
          <a:lstStyle/>
          <a:p>
            <a:pPr algn="ctr">
              <a:spcAft>
                <a:spcPts val="600"/>
              </a:spcAft>
            </a:pPr>
            <a:r>
              <a:rPr sz="2100" b="1" i="0">
                <a:solidFill>
                  <a:srgbClr val="000000"/>
                </a:solidFill>
                <a:latin typeface="Helvetica Neue"/>
                <a:ea typeface="Helvetica Neue"/>
                <a:cs typeface="Helvetica Neue"/>
              </a:rPr>
              <a:t>Each holds bank data, each is a vendor, each is reached over HTTPS.</a:t>
            </a:r>
          </a:p>
        </p:txBody>
      </p:sp>
      <p:sp>
        <p:nvSpPr>
          <p:cNvPr id="37" name="SaaS ask"/>
          <p:cNvSpPr txBox="1"/>
          <p:nvPr/>
        </p:nvSpPr>
        <p:spPr>
          <a:xfrm>
            <a:off x="1257300" y="8732520"/>
            <a:ext cx="15773400" cy="548640"/>
          </a:xfrm>
          <a:prstGeom prst="rect">
            <a:avLst/>
          </a:prstGeom>
          <a:noFill/>
        </p:spPr>
        <p:txBody>
          <a:bodyPr wrap="square" lIns="0" tIns="0" rIns="0" bIns="0" anchor="t">
            <a:spAutoFit/>
          </a:bodyPr>
          <a:lstStyle/>
          <a:p>
            <a:pPr algn="ctr">
              <a:spcAft>
                <a:spcPts val="600"/>
              </a:spcAft>
            </a:pPr>
            <a:r>
              <a:rPr sz="1800" b="1" i="0">
                <a:solidFill>
                  <a:srgbClr val="2F75B5"/>
                </a:solidFill>
                <a:latin typeface="Helvetica Neue"/>
                <a:ea typeface="Helvetica Neue"/>
                <a:cs typeface="Helvetica Neue"/>
              </a:rPr>
              <a:t>Single sign-on and MFA help. Is every one of these in the vendor inventory?</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Chapter 26: DNS In Depth</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0A70A-C467-EB05-A83B-3672BDC09238}"/>
              </a:ext>
            </a:extLst>
          </p:cNvPr>
          <p:cNvSpPr>
            <a:spLocks noGrp="1"/>
          </p:cNvSpPr>
          <p:nvPr>
            <p:ph type="title"/>
          </p:nvPr>
        </p:nvSpPr>
        <p:spPr/>
        <p:txBody>
          <a:bodyPr/>
          <a:lstStyle/>
          <a:p>
            <a:r>
              <a:rPr lang="en-US"/>
              <a:t>How Do We find Applications?</a:t>
            </a:r>
          </a:p>
        </p:txBody>
      </p:sp>
      <p:sp>
        <p:nvSpPr>
          <p:cNvPr id="3" name="Content Placeholder 2">
            <a:extLst>
              <a:ext uri="{FF2B5EF4-FFF2-40B4-BE49-F238E27FC236}">
                <a16:creationId xmlns:a16="http://schemas.microsoft.com/office/drawing/2014/main" id="{A050D0BA-0020-62EA-8C77-0569277852E2}"/>
              </a:ext>
            </a:extLst>
          </p:cNvPr>
          <p:cNvSpPr>
            <a:spLocks noGrp="1"/>
          </p:cNvSpPr>
          <p:nvPr>
            <p:ph idx="1"/>
          </p:nvPr>
        </p:nvSpPr>
        <p:spPr/>
        <p:txBody>
          <a:bodyPr/>
          <a:lstStyle/>
          <a:p>
            <a:r>
              <a:rPr lang="en-US"/>
              <a:t>The Domain Name System (DNS) provides a distributed directory of internet resources</a:t>
            </a:r>
          </a:p>
          <a:p>
            <a:r>
              <a:rPr lang="en-US"/>
              <a:t>Essentially the directory assistance of the internet</a:t>
            </a:r>
          </a:p>
          <a:p>
            <a:r>
              <a:rPr lang="en-US"/>
              <a:t>Converts </a:t>
            </a:r>
            <a:r>
              <a:rPr lang="en-US" i="1"/>
              <a:t>uniform resource locators</a:t>
            </a:r>
            <a:r>
              <a:rPr lang="en-US"/>
              <a:t> (URLs) to IP addresses</a:t>
            </a:r>
          </a:p>
          <a:p>
            <a:r>
              <a:rPr lang="en-US"/>
              <a:t>Registries are databases that contain the domain names under the </a:t>
            </a:r>
            <a:r>
              <a:rPr lang="en-US" i="1"/>
              <a:t>top-level domains</a:t>
            </a:r>
            <a:r>
              <a:rPr lang="en-US"/>
              <a:t> they administer</a:t>
            </a:r>
          </a:p>
          <a:p>
            <a:r>
              <a:rPr lang="en-US"/>
              <a:t>Registrars are accredited companies that delegate domain names to interested parties</a:t>
            </a:r>
          </a:p>
          <a:p>
            <a:endParaRPr lang="en-US"/>
          </a:p>
        </p:txBody>
      </p:sp>
    </p:spTree>
    <p:extLst>
      <p:ext uri="{BB962C8B-B14F-4D97-AF65-F5344CB8AC3E}">
        <p14:creationId xmlns:p14="http://schemas.microsoft.com/office/powerpoint/2010/main" val="202501660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Resolving a Name, Step by Step</a:t>
            </a:r>
          </a:p>
        </p:txBody>
      </p:sp>
      <p:pic>
        <p:nvPicPr>
          <p:cNvPr id="3" name="Res laptop"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08760" y="4617720"/>
            <a:ext cx="1005840" cy="1005840"/>
          </a:xfrm>
          <a:prstGeom prst="rect">
            <a:avLst/>
          </a:prstGeom>
        </p:spPr>
      </p:pic>
      <p:sp>
        <p:nvSpPr>
          <p:cNvPr id="4" name="Res laptop text"/>
          <p:cNvSpPr txBox="1"/>
          <p:nvPr/>
        </p:nvSpPr>
        <p:spPr>
          <a:xfrm>
            <a:off x="1257300" y="5715000"/>
            <a:ext cx="1554480" cy="731520"/>
          </a:xfrm>
          <a:prstGeom prst="rect">
            <a:avLst/>
          </a:prstGeom>
          <a:noFill/>
        </p:spPr>
        <p:txBody>
          <a:bodyPr wrap="square" lIns="0" tIns="0" rIns="0" bIns="0" anchor="t">
            <a:spAutoFit/>
          </a:bodyPr>
          <a:lstStyle/>
          <a:p>
            <a:pPr algn="ctr">
              <a:spcAft>
                <a:spcPts val="600"/>
              </a:spcAft>
            </a:pPr>
            <a:r>
              <a:rPr sz="1600" b="1" i="0">
                <a:solidFill>
                  <a:srgbClr val="000000"/>
                </a:solidFill>
                <a:latin typeface="Helvetica Neue"/>
                <a:ea typeface="Helvetica Neue"/>
                <a:cs typeface="Helvetica Neue"/>
              </a:rPr>
              <a:t>Teller laptop</a:t>
            </a:r>
          </a:p>
        </p:txBody>
      </p:sp>
      <p:sp>
        <p:nvSpPr>
          <p:cNvPr id="5" name="Resolver"/>
          <p:cNvSpPr/>
          <p:nvPr/>
        </p:nvSpPr>
        <p:spPr>
          <a:xfrm>
            <a:off x="4206240" y="4343400"/>
            <a:ext cx="3108960" cy="1554480"/>
          </a:xfrm>
          <a:prstGeom prst="roundRect">
            <a:avLst/>
          </a:prstGeom>
          <a:solidFill>
            <a:srgbClr val="EEF2F8"/>
          </a:solidFill>
          <a:ln w="2540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6" name="Resolver text"/>
          <p:cNvSpPr txBox="1"/>
          <p:nvPr/>
        </p:nvSpPr>
        <p:spPr>
          <a:xfrm>
            <a:off x="4297680" y="4389120"/>
            <a:ext cx="2926080" cy="1463040"/>
          </a:xfrm>
          <a:prstGeom prst="rect">
            <a:avLst/>
          </a:prstGeom>
          <a:noFill/>
        </p:spPr>
        <p:txBody>
          <a:bodyPr wrap="square" lIns="0" tIns="0" rIns="0" bIns="0" anchor="ctr">
            <a:spAutoFit/>
          </a:bodyPr>
          <a:lstStyle/>
          <a:p>
            <a:pPr algn="ctr">
              <a:spcAft>
                <a:spcPts val="100"/>
              </a:spcAft>
            </a:pPr>
            <a:r>
              <a:rPr sz="2000" b="1" i="0">
                <a:solidFill>
                  <a:srgbClr val="2F75B5"/>
                </a:solidFill>
                <a:latin typeface="Helvetica Neue"/>
                <a:ea typeface="Helvetica Neue"/>
                <a:cs typeface="Helvetica Neue"/>
              </a:rPr>
              <a:t>Resolver</a:t>
            </a:r>
          </a:p>
          <a:p>
            <a:pPr algn="ctr">
              <a:spcAft>
                <a:spcPts val="100"/>
              </a:spcAft>
            </a:pPr>
            <a:r>
              <a:rPr sz="1400" b="0" i="0">
                <a:solidFill>
                  <a:srgbClr val="000000"/>
                </a:solidFill>
                <a:latin typeface="Helvetica Neue"/>
                <a:ea typeface="Helvetica Neue"/>
                <a:cs typeface="Helvetica Neue"/>
              </a:rPr>
              <a:t>bank DNS, ISP, or protective DNS</a:t>
            </a:r>
          </a:p>
          <a:p>
            <a:pPr algn="ctr">
              <a:spcAft>
                <a:spcPts val="100"/>
              </a:spcAft>
            </a:pPr>
            <a:r>
              <a:rPr sz="1400" b="0" i="1">
                <a:solidFill>
                  <a:srgbClr val="595959"/>
                </a:solidFill>
                <a:latin typeface="Helvetica Neue"/>
                <a:ea typeface="Helvetica Neue"/>
                <a:cs typeface="Helvetica Neue"/>
              </a:rPr>
              <a:t>caches answers</a:t>
            </a:r>
          </a:p>
        </p:txBody>
      </p:sp>
      <p:cxnSp>
        <p:nvCxnSpPr>
          <p:cNvPr id="7" name="Res a1"/>
          <p:cNvCxnSpPr/>
          <p:nvPr/>
        </p:nvCxnSpPr>
        <p:spPr>
          <a:xfrm>
            <a:off x="2651760" y="4983480"/>
            <a:ext cx="1508760" cy="0"/>
          </a:xfrm>
          <a:prstGeom prst="line">
            <a:avLst/>
          </a:prstGeom>
          <a:ln w="3175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s n1"/>
          <p:cNvSpPr txBox="1"/>
          <p:nvPr/>
        </p:nvSpPr>
        <p:spPr>
          <a:xfrm>
            <a:off x="2834640" y="4480560"/>
            <a:ext cx="1188720" cy="411480"/>
          </a:xfrm>
          <a:prstGeom prst="rect">
            <a:avLst/>
          </a:prstGeom>
          <a:noFill/>
        </p:spPr>
        <p:txBody>
          <a:bodyPr wrap="square" lIns="0" tIns="0" rIns="0" bIns="0" anchor="t">
            <a:spAutoFit/>
          </a:bodyPr>
          <a:lstStyle/>
          <a:p>
            <a:pPr algn="ctr">
              <a:spcAft>
                <a:spcPts val="600"/>
              </a:spcAft>
            </a:pPr>
            <a:r>
              <a:rPr sz="1600" b="1" i="0">
                <a:solidFill>
                  <a:srgbClr val="ED7D31"/>
                </a:solidFill>
                <a:latin typeface="Helvetica Neue"/>
                <a:ea typeface="Helvetica Neue"/>
                <a:cs typeface="Helvetica Neue"/>
              </a:rPr>
              <a:t>1</a:t>
            </a:r>
          </a:p>
        </p:txBody>
      </p:sp>
      <p:cxnSp>
        <p:nvCxnSpPr>
          <p:cNvPr id="9" name="Res a8"/>
          <p:cNvCxnSpPr/>
          <p:nvPr/>
        </p:nvCxnSpPr>
        <p:spPr>
          <a:xfrm flipH="1">
            <a:off x="2651760" y="5349240"/>
            <a:ext cx="1508760" cy="0"/>
          </a:xfrm>
          <a:prstGeom prst="line">
            <a:avLst/>
          </a:prstGeom>
          <a:ln w="3175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s n8"/>
          <p:cNvSpPr txBox="1"/>
          <p:nvPr/>
        </p:nvSpPr>
        <p:spPr>
          <a:xfrm>
            <a:off x="2834640" y="5394960"/>
            <a:ext cx="1188720" cy="411480"/>
          </a:xfrm>
          <a:prstGeom prst="rect">
            <a:avLst/>
          </a:prstGeom>
          <a:noFill/>
        </p:spPr>
        <p:txBody>
          <a:bodyPr wrap="square" lIns="0" tIns="0" rIns="0" bIns="0" anchor="t">
            <a:spAutoFit/>
          </a:bodyPr>
          <a:lstStyle/>
          <a:p>
            <a:pPr algn="ctr">
              <a:spcAft>
                <a:spcPts val="600"/>
              </a:spcAft>
            </a:pPr>
            <a:r>
              <a:rPr sz="1600" b="1" i="0">
                <a:solidFill>
                  <a:srgbClr val="2E7D32"/>
                </a:solidFill>
                <a:latin typeface="Helvetica Neue"/>
                <a:ea typeface="Helvetica Neue"/>
                <a:cs typeface="Helvetica Neue"/>
              </a:rPr>
              <a:t>8</a:t>
            </a:r>
          </a:p>
        </p:txBody>
      </p:sp>
      <p:sp>
        <p:nvSpPr>
          <p:cNvPr id="11" name="Srv 1"/>
          <p:cNvSpPr/>
          <p:nvPr/>
        </p:nvSpPr>
        <p:spPr>
          <a:xfrm>
            <a:off x="10607040" y="2743200"/>
            <a:ext cx="4023360" cy="13258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2" name="Srv 1 text"/>
          <p:cNvSpPr txBox="1"/>
          <p:nvPr/>
        </p:nvSpPr>
        <p:spPr>
          <a:xfrm>
            <a:off x="10744200" y="2788920"/>
            <a:ext cx="3749039" cy="1234440"/>
          </a:xfrm>
          <a:prstGeom prst="rect">
            <a:avLst/>
          </a:prstGeom>
          <a:noFill/>
        </p:spPr>
        <p:txBody>
          <a:bodyPr wrap="square" lIns="0" tIns="0" rIns="0" bIns="0" anchor="ctr">
            <a:spAutoFit/>
          </a:bodyPr>
          <a:lstStyle/>
          <a:p>
            <a:pPr algn="ctr">
              <a:spcAft>
                <a:spcPts val="200"/>
              </a:spcAft>
            </a:pPr>
            <a:r>
              <a:rPr sz="1800" b="1" i="0">
                <a:solidFill>
                  <a:srgbClr val="000000"/>
                </a:solidFill>
                <a:latin typeface="Helvetica Neue"/>
                <a:ea typeface="Helvetica Neue"/>
                <a:cs typeface="Helvetica Neue"/>
              </a:rPr>
              <a:t>Root servers</a:t>
            </a:r>
          </a:p>
          <a:p>
            <a:pPr algn="ctr">
              <a:spcAft>
                <a:spcPts val="200"/>
              </a:spcAft>
            </a:pPr>
            <a:r>
              <a:rPr sz="1500" b="0" i="1">
                <a:solidFill>
                  <a:srgbClr val="2E7D32"/>
                </a:solidFill>
                <a:latin typeface="Helvetica Neue"/>
                <a:ea typeface="Helvetica Neue"/>
                <a:cs typeface="Helvetica Neue"/>
              </a:rPr>
              <a:t>“Ask .com”</a:t>
            </a:r>
          </a:p>
        </p:txBody>
      </p:sp>
      <p:cxnSp>
        <p:nvCxnSpPr>
          <p:cNvPr id="13" name="Srv ask 1"/>
          <p:cNvCxnSpPr/>
          <p:nvPr/>
        </p:nvCxnSpPr>
        <p:spPr>
          <a:xfrm flipV="1">
            <a:off x="7360920" y="3200400"/>
            <a:ext cx="3200400" cy="1645920"/>
          </a:xfrm>
          <a:prstGeom prst="line">
            <a:avLst/>
          </a:prstGeom>
          <a:ln w="2540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Srv ans 1"/>
          <p:cNvCxnSpPr/>
          <p:nvPr/>
        </p:nvCxnSpPr>
        <p:spPr>
          <a:xfrm flipH="1">
            <a:off x="7360920" y="3611880"/>
            <a:ext cx="3200400" cy="1645920"/>
          </a:xfrm>
          <a:prstGeom prst="line">
            <a:avLst/>
          </a:prstGeom>
          <a:ln w="2540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5" name="Srv n 1"/>
          <p:cNvSpPr txBox="1"/>
          <p:nvPr/>
        </p:nvSpPr>
        <p:spPr>
          <a:xfrm>
            <a:off x="14767559" y="3108960"/>
            <a:ext cx="2194560" cy="548640"/>
          </a:xfrm>
          <a:prstGeom prst="rect">
            <a:avLst/>
          </a:prstGeom>
          <a:noFill/>
        </p:spPr>
        <p:txBody>
          <a:bodyPr wrap="square" lIns="0" tIns="0" rIns="0" bIns="0" anchor="t">
            <a:spAutoFit/>
          </a:bodyPr>
          <a:lstStyle/>
          <a:p>
            <a:pPr algn="l">
              <a:spcAft>
                <a:spcPts val="600"/>
              </a:spcAft>
            </a:pPr>
            <a:r>
              <a:rPr sz="1500" b="1" i="0">
                <a:solidFill>
                  <a:srgbClr val="595959"/>
                </a:solidFill>
                <a:latin typeface="Helvetica Neue"/>
                <a:ea typeface="Helvetica Neue"/>
                <a:cs typeface="Helvetica Neue"/>
              </a:rPr>
              <a:t>steps 2–3</a:t>
            </a:r>
          </a:p>
        </p:txBody>
      </p:sp>
      <p:sp>
        <p:nvSpPr>
          <p:cNvPr id="16" name="Srv 2"/>
          <p:cNvSpPr/>
          <p:nvPr/>
        </p:nvSpPr>
        <p:spPr>
          <a:xfrm>
            <a:off x="10607040" y="4572000"/>
            <a:ext cx="4023360" cy="13258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7" name="Srv 2 text"/>
          <p:cNvSpPr txBox="1"/>
          <p:nvPr/>
        </p:nvSpPr>
        <p:spPr>
          <a:xfrm>
            <a:off x="10744200" y="4617720"/>
            <a:ext cx="3749039" cy="1234440"/>
          </a:xfrm>
          <a:prstGeom prst="rect">
            <a:avLst/>
          </a:prstGeom>
          <a:noFill/>
        </p:spPr>
        <p:txBody>
          <a:bodyPr wrap="square" lIns="0" tIns="0" rIns="0" bIns="0" anchor="ctr">
            <a:spAutoFit/>
          </a:bodyPr>
          <a:lstStyle/>
          <a:p>
            <a:pPr algn="ctr">
              <a:spcAft>
                <a:spcPts val="200"/>
              </a:spcAft>
            </a:pPr>
            <a:r>
              <a:rPr sz="1800" b="1" i="0">
                <a:solidFill>
                  <a:srgbClr val="000000"/>
                </a:solidFill>
                <a:latin typeface="Helvetica Neue"/>
                <a:ea typeface="Helvetica Neue"/>
                <a:cs typeface="Helvetica Neue"/>
              </a:rPr>
              <a:t>The .com servers</a:t>
            </a:r>
          </a:p>
          <a:p>
            <a:pPr algn="ctr">
              <a:spcAft>
                <a:spcPts val="200"/>
              </a:spcAft>
            </a:pPr>
            <a:r>
              <a:rPr sz="1500" b="0" i="1">
                <a:solidFill>
                  <a:srgbClr val="2E7D32"/>
                </a:solidFill>
                <a:latin typeface="Helvetica Neue"/>
                <a:ea typeface="Helvetica Neue"/>
                <a:cs typeface="Helvetica Neue"/>
              </a:rPr>
              <a:t>“Ask examplebank's servers”</a:t>
            </a:r>
          </a:p>
        </p:txBody>
      </p:sp>
      <p:cxnSp>
        <p:nvCxnSpPr>
          <p:cNvPr id="18" name="Srv ask 2"/>
          <p:cNvCxnSpPr/>
          <p:nvPr/>
        </p:nvCxnSpPr>
        <p:spPr>
          <a:xfrm>
            <a:off x="7360920" y="4846320"/>
            <a:ext cx="3200400" cy="182880"/>
          </a:xfrm>
          <a:prstGeom prst="line">
            <a:avLst/>
          </a:prstGeom>
          <a:ln w="2540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Srv ans 2"/>
          <p:cNvCxnSpPr/>
          <p:nvPr/>
        </p:nvCxnSpPr>
        <p:spPr>
          <a:xfrm flipH="1" flipV="1">
            <a:off x="7360920" y="5257800"/>
            <a:ext cx="3200400" cy="182880"/>
          </a:xfrm>
          <a:prstGeom prst="line">
            <a:avLst/>
          </a:prstGeom>
          <a:ln w="2540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Srv n 2"/>
          <p:cNvSpPr txBox="1"/>
          <p:nvPr/>
        </p:nvSpPr>
        <p:spPr>
          <a:xfrm>
            <a:off x="14767559" y="4937760"/>
            <a:ext cx="2194560" cy="548640"/>
          </a:xfrm>
          <a:prstGeom prst="rect">
            <a:avLst/>
          </a:prstGeom>
          <a:noFill/>
        </p:spPr>
        <p:txBody>
          <a:bodyPr wrap="square" lIns="0" tIns="0" rIns="0" bIns="0" anchor="t">
            <a:spAutoFit/>
          </a:bodyPr>
          <a:lstStyle/>
          <a:p>
            <a:pPr algn="l">
              <a:spcAft>
                <a:spcPts val="600"/>
              </a:spcAft>
            </a:pPr>
            <a:r>
              <a:rPr sz="1500" b="1" i="0">
                <a:solidFill>
                  <a:srgbClr val="595959"/>
                </a:solidFill>
                <a:latin typeface="Helvetica Neue"/>
                <a:ea typeface="Helvetica Neue"/>
                <a:cs typeface="Helvetica Neue"/>
              </a:rPr>
              <a:t>steps 4–5</a:t>
            </a:r>
          </a:p>
        </p:txBody>
      </p:sp>
      <p:sp>
        <p:nvSpPr>
          <p:cNvPr id="21" name="Srv 3"/>
          <p:cNvSpPr/>
          <p:nvPr/>
        </p:nvSpPr>
        <p:spPr>
          <a:xfrm>
            <a:off x="10607040" y="6400800"/>
            <a:ext cx="4023360" cy="13258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2" name="Srv 3 text"/>
          <p:cNvSpPr txBox="1"/>
          <p:nvPr/>
        </p:nvSpPr>
        <p:spPr>
          <a:xfrm>
            <a:off x="10744200" y="6446520"/>
            <a:ext cx="3749039" cy="1234440"/>
          </a:xfrm>
          <a:prstGeom prst="rect">
            <a:avLst/>
          </a:prstGeom>
          <a:noFill/>
        </p:spPr>
        <p:txBody>
          <a:bodyPr wrap="square" lIns="0" tIns="0" rIns="0" bIns="0" anchor="ctr">
            <a:spAutoFit/>
          </a:bodyPr>
          <a:lstStyle/>
          <a:p>
            <a:pPr algn="ctr">
              <a:spcAft>
                <a:spcPts val="200"/>
              </a:spcAft>
            </a:pPr>
            <a:r>
              <a:rPr sz="1800" b="1" i="0">
                <a:solidFill>
                  <a:srgbClr val="000000"/>
                </a:solidFill>
                <a:latin typeface="Helvetica Neue"/>
                <a:ea typeface="Helvetica Neue"/>
                <a:cs typeface="Helvetica Neue"/>
              </a:rPr>
              <a:t>examplebank.com authoritative</a:t>
            </a:r>
          </a:p>
          <a:p>
            <a:pPr algn="ctr">
              <a:spcAft>
                <a:spcPts val="200"/>
              </a:spcAft>
            </a:pPr>
            <a:r>
              <a:rPr sz="1500" b="0" i="1">
                <a:solidFill>
                  <a:srgbClr val="2E7D32"/>
                </a:solidFill>
                <a:latin typeface="Helvetica Neue"/>
                <a:ea typeface="Helvetica Neue"/>
                <a:cs typeface="Helvetica Neue"/>
              </a:rPr>
              <a:t>“Here's the address”</a:t>
            </a:r>
          </a:p>
        </p:txBody>
      </p:sp>
      <p:cxnSp>
        <p:nvCxnSpPr>
          <p:cNvPr id="23" name="Srv ask 3"/>
          <p:cNvCxnSpPr/>
          <p:nvPr/>
        </p:nvCxnSpPr>
        <p:spPr>
          <a:xfrm>
            <a:off x="7360920" y="4846320"/>
            <a:ext cx="3200400" cy="2011680"/>
          </a:xfrm>
          <a:prstGeom prst="line">
            <a:avLst/>
          </a:prstGeom>
          <a:ln w="2540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Srv ans 3"/>
          <p:cNvCxnSpPr/>
          <p:nvPr/>
        </p:nvCxnSpPr>
        <p:spPr>
          <a:xfrm flipH="1" flipV="1">
            <a:off x="7360920" y="5257800"/>
            <a:ext cx="3200400" cy="2011680"/>
          </a:xfrm>
          <a:prstGeom prst="line">
            <a:avLst/>
          </a:prstGeom>
          <a:ln w="2540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Srv n 3"/>
          <p:cNvSpPr txBox="1"/>
          <p:nvPr/>
        </p:nvSpPr>
        <p:spPr>
          <a:xfrm>
            <a:off x="14767559" y="6766560"/>
            <a:ext cx="2194560" cy="548640"/>
          </a:xfrm>
          <a:prstGeom prst="rect">
            <a:avLst/>
          </a:prstGeom>
          <a:noFill/>
        </p:spPr>
        <p:txBody>
          <a:bodyPr wrap="square" lIns="0" tIns="0" rIns="0" bIns="0" anchor="t">
            <a:spAutoFit/>
          </a:bodyPr>
          <a:lstStyle/>
          <a:p>
            <a:pPr algn="l">
              <a:spcAft>
                <a:spcPts val="600"/>
              </a:spcAft>
            </a:pPr>
            <a:r>
              <a:rPr sz="1500" b="1" i="0">
                <a:solidFill>
                  <a:srgbClr val="595959"/>
                </a:solidFill>
                <a:latin typeface="Helvetica Neue"/>
                <a:ea typeface="Helvetica Neue"/>
                <a:cs typeface="Helvetica Neue"/>
              </a:rPr>
              <a:t>steps 6–7</a:t>
            </a:r>
          </a:p>
        </p:txBody>
      </p:sp>
      <p:sp>
        <p:nvSpPr>
          <p:cNvPr id="26" name="Res query"/>
          <p:cNvSpPr txBox="1"/>
          <p:nvPr/>
        </p:nvSpPr>
        <p:spPr>
          <a:xfrm>
            <a:off x="4206240" y="2743200"/>
            <a:ext cx="3108960" cy="1280160"/>
          </a:xfrm>
          <a:prstGeom prst="rect">
            <a:avLst/>
          </a:prstGeom>
          <a:noFill/>
        </p:spPr>
        <p:txBody>
          <a:bodyPr wrap="square" lIns="0" tIns="0" rIns="0" bIns="0" anchor="b">
            <a:spAutoFit/>
          </a:bodyPr>
          <a:lstStyle/>
          <a:p>
            <a:pPr algn="ctr">
              <a:spcAft>
                <a:spcPts val="100"/>
              </a:spcAft>
            </a:pPr>
            <a:r>
              <a:rPr sz="1500" b="0" i="0">
                <a:solidFill>
                  <a:srgbClr val="595959"/>
                </a:solidFill>
                <a:latin typeface="Helvetica Neue"/>
                <a:ea typeface="Helvetica Neue"/>
                <a:cs typeface="Helvetica Neue"/>
              </a:rPr>
              <a:t>Looking up</a:t>
            </a:r>
          </a:p>
          <a:p>
            <a:pPr algn="ctr">
              <a:spcAft>
                <a:spcPts val="100"/>
              </a:spcAft>
            </a:pPr>
            <a:r>
              <a:rPr sz="1600" b="1" i="0">
                <a:solidFill>
                  <a:srgbClr val="000000"/>
                </a:solidFill>
                <a:latin typeface="Helvetica Neue"/>
                <a:ea typeface="Helvetica Neue"/>
                <a:cs typeface="Helvetica Neue"/>
              </a:rPr>
              <a:t>online.examplebank.com</a:t>
            </a:r>
          </a:p>
        </p:txBody>
      </p:sp>
      <p:sp>
        <p:nvSpPr>
          <p:cNvPr id="27" name="Res take 1"/>
          <p:cNvSpPr/>
          <p:nvPr/>
        </p:nvSpPr>
        <p:spPr>
          <a:xfrm>
            <a:off x="1257300" y="8092440"/>
            <a:ext cx="5044440" cy="13258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8" name="Res take 1 text"/>
          <p:cNvSpPr txBox="1"/>
          <p:nvPr/>
        </p:nvSpPr>
        <p:spPr>
          <a:xfrm>
            <a:off x="1513332" y="8293608"/>
            <a:ext cx="4532376" cy="960119"/>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The resolver sees every lookup</a:t>
            </a:r>
          </a:p>
        </p:txBody>
      </p:sp>
      <p:sp>
        <p:nvSpPr>
          <p:cNvPr id="29" name="Res take 2"/>
          <p:cNvSpPr/>
          <p:nvPr/>
        </p:nvSpPr>
        <p:spPr>
          <a:xfrm>
            <a:off x="6621780" y="8092440"/>
            <a:ext cx="5044440" cy="13258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0" name="Res take 2 text"/>
          <p:cNvSpPr txBox="1"/>
          <p:nvPr/>
        </p:nvSpPr>
        <p:spPr>
          <a:xfrm>
            <a:off x="6877812" y="8293608"/>
            <a:ext cx="4532376" cy="960119"/>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Caching is why changes take time</a:t>
            </a:r>
          </a:p>
        </p:txBody>
      </p:sp>
      <p:sp>
        <p:nvSpPr>
          <p:cNvPr id="31" name="Res take 3"/>
          <p:cNvSpPr/>
          <p:nvPr/>
        </p:nvSpPr>
        <p:spPr>
          <a:xfrm>
            <a:off x="11986260" y="8092440"/>
            <a:ext cx="5044440" cy="13258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2" name="Res take 3 text"/>
          <p:cNvSpPr txBox="1"/>
          <p:nvPr/>
        </p:nvSpPr>
        <p:spPr>
          <a:xfrm>
            <a:off x="12242291" y="8293608"/>
            <a:ext cx="4532376" cy="960119"/>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Control any step, redirect everyone</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Who Controls the Bank's Domain</a:t>
            </a:r>
          </a:p>
        </p:txBody>
      </p:sp>
      <p:sp>
        <p:nvSpPr>
          <p:cNvPr id="3" name="Role 1"/>
          <p:cNvSpPr/>
          <p:nvPr/>
        </p:nvSpPr>
        <p:spPr>
          <a:xfrm>
            <a:off x="1257300" y="2697480"/>
            <a:ext cx="3703320" cy="2971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4" name="Role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66060" y="2926080"/>
            <a:ext cx="685800" cy="685800"/>
          </a:xfrm>
          <a:prstGeom prst="rect">
            <a:avLst/>
          </a:prstGeom>
        </p:spPr>
      </p:pic>
      <p:sp>
        <p:nvSpPr>
          <p:cNvPr id="5" name="Role 1 text"/>
          <p:cNvSpPr txBox="1"/>
          <p:nvPr/>
        </p:nvSpPr>
        <p:spPr>
          <a:xfrm>
            <a:off x="1440180" y="3749039"/>
            <a:ext cx="3337560" cy="1828800"/>
          </a:xfrm>
          <a:prstGeom prst="rect">
            <a:avLst/>
          </a:prstGeom>
          <a:noFill/>
        </p:spPr>
        <p:txBody>
          <a:bodyPr wrap="square" lIns="0" tIns="0" rIns="0" bIns="0" anchor="t">
            <a:spAutoFit/>
          </a:bodyPr>
          <a:lstStyle/>
          <a:p>
            <a:pPr algn="ctr">
              <a:spcAft>
                <a:spcPts val="300"/>
              </a:spcAft>
            </a:pPr>
            <a:r>
              <a:rPr sz="2200" b="1" i="0">
                <a:solidFill>
                  <a:srgbClr val="000000"/>
                </a:solidFill>
                <a:latin typeface="Helvetica Neue"/>
                <a:ea typeface="Helvetica Neue"/>
                <a:cs typeface="Helvetica Neue"/>
              </a:rPr>
              <a:t>Registry</a:t>
            </a:r>
          </a:p>
          <a:p>
            <a:pPr algn="ctr">
              <a:spcAft>
                <a:spcPts val="300"/>
              </a:spcAft>
            </a:pPr>
            <a:r>
              <a:rPr sz="1600" b="0" i="0">
                <a:solidFill>
                  <a:srgbClr val="404040"/>
                </a:solidFill>
                <a:latin typeface="Helvetica Neue"/>
                <a:ea typeface="Helvetica Neue"/>
                <a:cs typeface="Helvetica Neue"/>
              </a:rPr>
              <a:t>Runs the top-level domain. Verisign runs .com; fTLD runs .bank</a:t>
            </a:r>
          </a:p>
        </p:txBody>
      </p:sp>
      <p:sp>
        <p:nvSpPr>
          <p:cNvPr id="6" name="Role 2"/>
          <p:cNvSpPr/>
          <p:nvPr/>
        </p:nvSpPr>
        <p:spPr>
          <a:xfrm>
            <a:off x="5280659" y="2697480"/>
            <a:ext cx="3703320" cy="2971800"/>
          </a:xfrm>
          <a:prstGeom prst="roundRect">
            <a:avLst/>
          </a:prstGeom>
          <a:solidFill>
            <a:srgbClr val="EEF2F8"/>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7" name="Role 2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89419" y="2926080"/>
            <a:ext cx="685800" cy="685800"/>
          </a:xfrm>
          <a:prstGeom prst="rect">
            <a:avLst/>
          </a:prstGeom>
        </p:spPr>
      </p:pic>
      <p:sp>
        <p:nvSpPr>
          <p:cNvPr id="8" name="Role 2 text"/>
          <p:cNvSpPr txBox="1"/>
          <p:nvPr/>
        </p:nvSpPr>
        <p:spPr>
          <a:xfrm>
            <a:off x="5463540" y="3749039"/>
            <a:ext cx="3337560" cy="1828800"/>
          </a:xfrm>
          <a:prstGeom prst="rect">
            <a:avLst/>
          </a:prstGeom>
          <a:noFill/>
        </p:spPr>
        <p:txBody>
          <a:bodyPr wrap="square" lIns="0" tIns="0" rIns="0" bIns="0" anchor="t">
            <a:spAutoFit/>
          </a:bodyPr>
          <a:lstStyle/>
          <a:p>
            <a:pPr algn="ctr">
              <a:spcAft>
                <a:spcPts val="300"/>
              </a:spcAft>
            </a:pPr>
            <a:r>
              <a:rPr sz="2200" b="1" i="0">
                <a:solidFill>
                  <a:srgbClr val="000000"/>
                </a:solidFill>
                <a:latin typeface="Helvetica Neue"/>
                <a:ea typeface="Helvetica Neue"/>
                <a:cs typeface="Helvetica Neue"/>
              </a:rPr>
              <a:t>Registrar</a:t>
            </a:r>
          </a:p>
          <a:p>
            <a:pPr algn="ctr">
              <a:spcAft>
                <a:spcPts val="300"/>
              </a:spcAft>
            </a:pPr>
            <a:r>
              <a:rPr sz="1600" b="0" i="0">
                <a:solidFill>
                  <a:srgbClr val="404040"/>
                </a:solidFill>
                <a:latin typeface="Helvetica Neue"/>
                <a:ea typeface="Helvetica Neue"/>
                <a:cs typeface="Helvetica Neue"/>
              </a:rPr>
              <a:t>Sells and manages the registration. The account that controls the domain</a:t>
            </a:r>
          </a:p>
        </p:txBody>
      </p:sp>
      <p:sp>
        <p:nvSpPr>
          <p:cNvPr id="9" name="Role 3"/>
          <p:cNvSpPr/>
          <p:nvPr/>
        </p:nvSpPr>
        <p:spPr>
          <a:xfrm>
            <a:off x="9304019" y="2697480"/>
            <a:ext cx="3703320" cy="2971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0" name="Role 3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812780" y="2926080"/>
            <a:ext cx="685800" cy="685800"/>
          </a:xfrm>
          <a:prstGeom prst="rect">
            <a:avLst/>
          </a:prstGeom>
        </p:spPr>
      </p:pic>
      <p:sp>
        <p:nvSpPr>
          <p:cNvPr id="11" name="Role 3 text"/>
          <p:cNvSpPr txBox="1"/>
          <p:nvPr/>
        </p:nvSpPr>
        <p:spPr>
          <a:xfrm>
            <a:off x="9486899" y="3749039"/>
            <a:ext cx="3337560" cy="1828800"/>
          </a:xfrm>
          <a:prstGeom prst="rect">
            <a:avLst/>
          </a:prstGeom>
          <a:noFill/>
        </p:spPr>
        <p:txBody>
          <a:bodyPr wrap="square" lIns="0" tIns="0" rIns="0" bIns="0" anchor="t">
            <a:spAutoFit/>
          </a:bodyPr>
          <a:lstStyle/>
          <a:p>
            <a:pPr algn="ctr">
              <a:spcAft>
                <a:spcPts val="300"/>
              </a:spcAft>
            </a:pPr>
            <a:r>
              <a:rPr sz="2200" b="1" i="0">
                <a:solidFill>
                  <a:srgbClr val="000000"/>
                </a:solidFill>
                <a:latin typeface="Helvetica Neue"/>
                <a:ea typeface="Helvetica Neue"/>
                <a:cs typeface="Helvetica Neue"/>
              </a:rPr>
              <a:t>Registrant</a:t>
            </a:r>
          </a:p>
          <a:p>
            <a:pPr algn="ctr">
              <a:spcAft>
                <a:spcPts val="300"/>
              </a:spcAft>
            </a:pPr>
            <a:r>
              <a:rPr sz="1600" b="0" i="0">
                <a:solidFill>
                  <a:srgbClr val="404040"/>
                </a:solidFill>
                <a:latin typeface="Helvetica Neue"/>
                <a:ea typeface="Helvetica Neue"/>
                <a:cs typeface="Helvetica Neue"/>
              </a:rPr>
              <a:t>The legal owner. Should be the bank, not a person</a:t>
            </a:r>
          </a:p>
        </p:txBody>
      </p:sp>
      <p:sp>
        <p:nvSpPr>
          <p:cNvPr id="12" name="Role 4"/>
          <p:cNvSpPr/>
          <p:nvPr/>
        </p:nvSpPr>
        <p:spPr>
          <a:xfrm>
            <a:off x="13327380" y="2697480"/>
            <a:ext cx="3703320" cy="2971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3" name="Role 4 icon"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836139" y="2926080"/>
            <a:ext cx="685800" cy="685800"/>
          </a:xfrm>
          <a:prstGeom prst="rect">
            <a:avLst/>
          </a:prstGeom>
        </p:spPr>
      </p:pic>
      <p:sp>
        <p:nvSpPr>
          <p:cNvPr id="14" name="Role 4 text"/>
          <p:cNvSpPr txBox="1"/>
          <p:nvPr/>
        </p:nvSpPr>
        <p:spPr>
          <a:xfrm>
            <a:off x="13510259" y="3749039"/>
            <a:ext cx="3337560" cy="1828800"/>
          </a:xfrm>
          <a:prstGeom prst="rect">
            <a:avLst/>
          </a:prstGeom>
          <a:noFill/>
        </p:spPr>
        <p:txBody>
          <a:bodyPr wrap="square" lIns="0" tIns="0" rIns="0" bIns="0" anchor="t">
            <a:spAutoFit/>
          </a:bodyPr>
          <a:lstStyle/>
          <a:p>
            <a:pPr algn="ctr">
              <a:spcAft>
                <a:spcPts val="300"/>
              </a:spcAft>
            </a:pPr>
            <a:r>
              <a:rPr sz="2200" b="1" i="0">
                <a:solidFill>
                  <a:srgbClr val="000000"/>
                </a:solidFill>
                <a:latin typeface="Helvetica Neue"/>
                <a:ea typeface="Helvetica Neue"/>
                <a:cs typeface="Helvetica Neue"/>
              </a:rPr>
              <a:t>DNS host</a:t>
            </a:r>
          </a:p>
          <a:p>
            <a:pPr algn="ctr">
              <a:spcAft>
                <a:spcPts val="300"/>
              </a:spcAft>
            </a:pPr>
            <a:r>
              <a:rPr sz="1600" b="0" i="0">
                <a:solidFill>
                  <a:srgbClr val="404040"/>
                </a:solidFill>
                <a:latin typeface="Helvetica Neue"/>
                <a:ea typeface="Helvetica Neue"/>
                <a:cs typeface="Helvetica Neue"/>
              </a:rPr>
              <a:t>Runs the authoritative servers. May be another company again</a:t>
            </a:r>
          </a:p>
        </p:txBody>
      </p:sp>
      <p:sp>
        <p:nvSpPr>
          <p:cNvPr id="15" name="Fail heading"/>
          <p:cNvSpPr txBox="1"/>
          <p:nvPr/>
        </p:nvSpPr>
        <p:spPr>
          <a:xfrm>
            <a:off x="1257300" y="5943600"/>
            <a:ext cx="10058400" cy="45720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How banks lose control of their domain</a:t>
            </a:r>
          </a:p>
        </p:txBody>
      </p:sp>
      <p:sp>
        <p:nvSpPr>
          <p:cNvPr id="16" name="Fail list"/>
          <p:cNvSpPr txBox="1"/>
          <p:nvPr/>
        </p:nvSpPr>
        <p:spPr>
          <a:xfrm>
            <a:off x="1257300" y="6492240"/>
            <a:ext cx="10058400" cy="2834640"/>
          </a:xfrm>
          <a:prstGeom prst="rect">
            <a:avLst/>
          </a:prstGeom>
          <a:noFill/>
        </p:spPr>
        <p:txBody>
          <a:bodyPr wrap="square" lIns="0" tIns="0" rIns="0" bIns="0">
            <a:spAutoFit/>
          </a:bodyPr>
          <a:lstStyle/>
          <a:p>
            <a:pPr marL="274320" indent="-274320">
              <a:spcAft>
                <a:spcPts val="600"/>
              </a:spcAft>
              <a:buFont typeface="Arial"/>
              <a:buChar char="•"/>
            </a:pPr>
            <a:r>
              <a:rPr sz="1800" b="0" i="0">
                <a:solidFill>
                  <a:srgbClr val="000000"/>
                </a:solidFill>
                <a:latin typeface="Helvetica Neue"/>
                <a:ea typeface="Helvetica Neue"/>
                <a:cs typeface="Helvetica Neue"/>
              </a:rPr>
              <a:t>Registered years ago by a former employee or web designer, on a personal email</a:t>
            </a:r>
          </a:p>
          <a:p>
            <a:pPr marL="274320" indent="-274320">
              <a:spcAft>
                <a:spcPts val="600"/>
              </a:spcAft>
              <a:buFont typeface="Arial"/>
              <a:buChar char="•"/>
            </a:pPr>
            <a:r>
              <a:rPr sz="1800" b="0" i="0">
                <a:solidFill>
                  <a:srgbClr val="000000"/>
                </a:solidFill>
                <a:latin typeface="Helvetica Neue"/>
                <a:ea typeface="Helvetica Neue"/>
                <a:cs typeface="Helvetica Neue"/>
              </a:rPr>
              <a:t>Expired because the renewal card expired</a:t>
            </a:r>
          </a:p>
          <a:p>
            <a:pPr marL="274320" indent="-274320">
              <a:spcAft>
                <a:spcPts val="600"/>
              </a:spcAft>
              <a:buFont typeface="Arial"/>
              <a:buChar char="•"/>
            </a:pPr>
            <a:r>
              <a:rPr sz="1800" b="0" i="0">
                <a:solidFill>
                  <a:srgbClr val="000000"/>
                </a:solidFill>
                <a:latin typeface="Helvetica Neue"/>
                <a:ea typeface="Helvetica Neue"/>
                <a:cs typeface="Helvetica Neue"/>
              </a:rPr>
              <a:t>Registrar account phished, no MFA</a:t>
            </a:r>
          </a:p>
          <a:p>
            <a:pPr marL="274320" indent="-274320">
              <a:spcAft>
                <a:spcPts val="600"/>
              </a:spcAft>
              <a:buFont typeface="Arial"/>
              <a:buChar char="•"/>
            </a:pPr>
            <a:r>
              <a:rPr sz="1800" b="0" i="0">
                <a:solidFill>
                  <a:srgbClr val="000000"/>
                </a:solidFill>
                <a:latin typeface="Helvetica Neue"/>
                <a:ea typeface="Helvetica Neue"/>
                <a:cs typeface="Helvetica Neue"/>
              </a:rPr>
              <a:t>Records changed with no alert</a:t>
            </a:r>
          </a:p>
        </p:txBody>
      </p:sp>
      <p:sp>
        <p:nvSpPr>
          <p:cNvPr id="17" name="Ask panel"/>
          <p:cNvSpPr/>
          <p:nvPr/>
        </p:nvSpPr>
        <p:spPr>
          <a:xfrm>
            <a:off x="11704320" y="5943600"/>
            <a:ext cx="5326380" cy="342900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8" name="Ask list"/>
          <p:cNvSpPr txBox="1"/>
          <p:nvPr/>
        </p:nvSpPr>
        <p:spPr>
          <a:xfrm>
            <a:off x="11978640" y="6126480"/>
            <a:ext cx="4846320" cy="3200400"/>
          </a:xfrm>
          <a:prstGeom prst="rect">
            <a:avLst/>
          </a:prstGeom>
          <a:noFill/>
        </p:spPr>
        <p:txBody>
          <a:bodyPr wrap="square" lIns="0" tIns="0" rIns="0" bIns="0">
            <a:spAutoFit/>
          </a:bodyPr>
          <a:lstStyle/>
          <a:p>
            <a:pPr>
              <a:spcAft>
                <a:spcPts val="800"/>
              </a:spcAft>
            </a:pPr>
            <a:r>
              <a:rPr sz="2100" b="1" i="0">
                <a:solidFill>
                  <a:srgbClr val="000000"/>
                </a:solidFill>
                <a:latin typeface="Helvetica Neue"/>
                <a:ea typeface="Helvetica Neue"/>
                <a:cs typeface="Helvetica Neue"/>
              </a:rPr>
              <a:t>Ask</a:t>
            </a:r>
          </a:p>
          <a:p>
            <a:pPr marL="274320" indent="-274320">
              <a:spcAft>
                <a:spcPts val="600"/>
              </a:spcAft>
              <a:buFont typeface="Arial"/>
              <a:buChar char="•"/>
            </a:pPr>
            <a:r>
              <a:rPr sz="1700" b="0" i="0">
                <a:solidFill>
                  <a:srgbClr val="000000"/>
                </a:solidFill>
                <a:latin typeface="Helvetica Neue"/>
                <a:ea typeface="Helvetica Neue"/>
                <a:cs typeface="Helvetica Neue"/>
              </a:rPr>
              <a:t>Whose name and email is the registrar account in?</a:t>
            </a:r>
          </a:p>
          <a:p>
            <a:pPr marL="274320" indent="-274320">
              <a:spcAft>
                <a:spcPts val="600"/>
              </a:spcAft>
              <a:buFont typeface="Arial"/>
              <a:buChar char="•"/>
            </a:pPr>
            <a:r>
              <a:rPr sz="1700" b="0" i="0">
                <a:solidFill>
                  <a:srgbClr val="000000"/>
                </a:solidFill>
                <a:latin typeface="Helvetica Neue"/>
                <a:ea typeface="Helvetica Neue"/>
                <a:cs typeface="Helvetica Neue"/>
              </a:rPr>
              <a:t>Is MFA on? Auto-renew?</a:t>
            </a:r>
          </a:p>
          <a:p>
            <a:pPr marL="274320" indent="-274320">
              <a:spcAft>
                <a:spcPts val="600"/>
              </a:spcAft>
              <a:buFont typeface="Arial"/>
              <a:buChar char="•"/>
            </a:pPr>
            <a:r>
              <a:rPr sz="1700" b="0" i="0">
                <a:solidFill>
                  <a:srgbClr val="000000"/>
                </a:solidFill>
                <a:latin typeface="Helvetica Neue"/>
                <a:ea typeface="Helvetica Neue"/>
                <a:cs typeface="Helvetica Neue"/>
              </a:rPr>
              <a:t>Is registry lock enabled?</a:t>
            </a:r>
          </a:p>
          <a:p>
            <a:pPr marL="274320" indent="-274320">
              <a:spcAft>
                <a:spcPts val="600"/>
              </a:spcAft>
              <a:buFont typeface="Arial"/>
              <a:buChar char="•"/>
            </a:pPr>
            <a:r>
              <a:rPr sz="1700" b="0" i="0">
                <a:solidFill>
                  <a:srgbClr val="000000"/>
                </a:solidFill>
                <a:latin typeface="Helvetica Neue"/>
                <a:ea typeface="Helvetica Neue"/>
                <a:cs typeface="Helvetica Neue"/>
              </a:rPr>
              <a:t>Who gets alerted to changes?</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DNS Records That Matter to a Bank</a:t>
            </a:r>
          </a:p>
        </p:txBody>
      </p:sp>
      <p:sp>
        <p:nvSpPr>
          <p:cNvPr id="3" name="Rec h1"/>
          <p:cNvSpPr txBox="1"/>
          <p:nvPr/>
        </p:nvSpPr>
        <p:spPr>
          <a:xfrm>
            <a:off x="1257300" y="2697480"/>
            <a:ext cx="2194560" cy="457200"/>
          </a:xfrm>
          <a:prstGeom prst="rect">
            <a:avLst/>
          </a:prstGeom>
          <a:noFill/>
        </p:spPr>
        <p:txBody>
          <a:bodyPr wrap="square" lIns="0" tIns="0" rIns="0" bIns="0" anchor="t">
            <a:spAutoFit/>
          </a:bodyPr>
          <a:lstStyle/>
          <a:p>
            <a:pPr algn="l">
              <a:spcAft>
                <a:spcPts val="600"/>
              </a:spcAft>
            </a:pPr>
            <a:r>
              <a:rPr sz="1800" b="1" i="0">
                <a:solidFill>
                  <a:srgbClr val="595959"/>
                </a:solidFill>
                <a:latin typeface="Helvetica Neue"/>
                <a:ea typeface="Helvetica Neue"/>
                <a:cs typeface="Helvetica Neue"/>
              </a:rPr>
              <a:t>Record</a:t>
            </a:r>
          </a:p>
        </p:txBody>
      </p:sp>
      <p:sp>
        <p:nvSpPr>
          <p:cNvPr id="4" name="Rec h2"/>
          <p:cNvSpPr txBox="1"/>
          <p:nvPr/>
        </p:nvSpPr>
        <p:spPr>
          <a:xfrm>
            <a:off x="3611880" y="2697480"/>
            <a:ext cx="7863840" cy="457200"/>
          </a:xfrm>
          <a:prstGeom prst="rect">
            <a:avLst/>
          </a:prstGeom>
          <a:noFill/>
        </p:spPr>
        <p:txBody>
          <a:bodyPr wrap="square" lIns="0" tIns="0" rIns="0" bIns="0" anchor="t">
            <a:spAutoFit/>
          </a:bodyPr>
          <a:lstStyle/>
          <a:p>
            <a:pPr algn="l">
              <a:spcAft>
                <a:spcPts val="600"/>
              </a:spcAft>
            </a:pPr>
            <a:r>
              <a:rPr sz="1800" b="1" i="0">
                <a:solidFill>
                  <a:srgbClr val="595959"/>
                </a:solidFill>
                <a:latin typeface="Helvetica Neue"/>
                <a:ea typeface="Helvetica Neue"/>
                <a:cs typeface="Helvetica Neue"/>
              </a:rPr>
              <a:t>Example</a:t>
            </a:r>
          </a:p>
        </p:txBody>
      </p:sp>
      <p:sp>
        <p:nvSpPr>
          <p:cNvPr id="5" name="Rec h3"/>
          <p:cNvSpPr txBox="1"/>
          <p:nvPr/>
        </p:nvSpPr>
        <p:spPr>
          <a:xfrm>
            <a:off x="11750040" y="2697480"/>
            <a:ext cx="5280660" cy="457200"/>
          </a:xfrm>
          <a:prstGeom prst="rect">
            <a:avLst/>
          </a:prstGeom>
          <a:noFill/>
        </p:spPr>
        <p:txBody>
          <a:bodyPr wrap="square" lIns="0" tIns="0" rIns="0" bIns="0" anchor="t">
            <a:spAutoFit/>
          </a:bodyPr>
          <a:lstStyle/>
          <a:p>
            <a:pPr algn="l">
              <a:spcAft>
                <a:spcPts val="600"/>
              </a:spcAft>
            </a:pPr>
            <a:r>
              <a:rPr sz="1800" b="1" i="0">
                <a:solidFill>
                  <a:srgbClr val="595959"/>
                </a:solidFill>
                <a:latin typeface="Helvetica Neue"/>
                <a:ea typeface="Helvetica Neue"/>
                <a:cs typeface="Helvetica Neue"/>
              </a:rPr>
              <a:t>Why it matters to a bank</a:t>
            </a:r>
          </a:p>
        </p:txBody>
      </p:sp>
      <p:cxnSp>
        <p:nvCxnSpPr>
          <p:cNvPr id="6" name="Rec rule"/>
          <p:cNvCxnSpPr/>
          <p:nvPr/>
        </p:nvCxnSpPr>
        <p:spPr>
          <a:xfrm>
            <a:off x="1257300" y="3200400"/>
            <a:ext cx="15773400" cy="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Rec 1 tag"/>
          <p:cNvSpPr/>
          <p:nvPr/>
        </p:nvSpPr>
        <p:spPr>
          <a:xfrm>
            <a:off x="1257300" y="3474720"/>
            <a:ext cx="2103120" cy="777240"/>
          </a:xfrm>
          <a:prstGeom prst="round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900" b="1" i="0">
                <a:solidFill>
                  <a:srgbClr val="FFFFFF"/>
                </a:solidFill>
                <a:latin typeface="Helvetica Neue"/>
                <a:ea typeface="Helvetica Neue"/>
                <a:cs typeface="Helvetica Neue"/>
              </a:rPr>
              <a:t>A / AAAA</a:t>
            </a:r>
          </a:p>
        </p:txBody>
      </p:sp>
      <p:sp>
        <p:nvSpPr>
          <p:cNvPr id="8" name="Rec 1 ex"/>
          <p:cNvSpPr txBox="1"/>
          <p:nvPr/>
        </p:nvSpPr>
        <p:spPr>
          <a:xfrm>
            <a:off x="3611880" y="3337560"/>
            <a:ext cx="7955279" cy="1051560"/>
          </a:xfrm>
          <a:prstGeom prst="rect">
            <a:avLst/>
          </a:prstGeom>
          <a:noFill/>
        </p:spPr>
        <p:txBody>
          <a:bodyPr wrap="square" lIns="0" tIns="0" rIns="0" bIns="0" anchor="ctr">
            <a:spAutoFit/>
          </a:bodyPr>
          <a:lstStyle/>
          <a:p>
            <a:pPr algn="l">
              <a:spcAft>
                <a:spcPts val="600"/>
              </a:spcAft>
            </a:pPr>
            <a:r>
              <a:rPr sz="1600" b="0" i="0">
                <a:solidFill>
                  <a:srgbClr val="000000"/>
                </a:solidFill>
                <a:latin typeface="Menlo"/>
                <a:ea typeface="Menlo"/>
                <a:cs typeface="Menlo"/>
              </a:rPr>
              <a:t>www.examplebank.com  →  203.0.113.10</a:t>
            </a:r>
          </a:p>
        </p:txBody>
      </p:sp>
      <p:sp>
        <p:nvSpPr>
          <p:cNvPr id="9" name="Rec 1 why"/>
          <p:cNvSpPr txBox="1"/>
          <p:nvPr/>
        </p:nvSpPr>
        <p:spPr>
          <a:xfrm>
            <a:off x="11750040" y="3337560"/>
            <a:ext cx="5280660" cy="105156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Where the website is</a:t>
            </a:r>
          </a:p>
        </p:txBody>
      </p:sp>
      <p:cxnSp>
        <p:nvCxnSpPr>
          <p:cNvPr id="10" name="Rec rule 1"/>
          <p:cNvCxnSpPr/>
          <p:nvPr/>
        </p:nvCxnSpPr>
        <p:spPr>
          <a:xfrm>
            <a:off x="1257300" y="4471416"/>
            <a:ext cx="1577340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1" name="Rec 2 tag"/>
          <p:cNvSpPr/>
          <p:nvPr/>
        </p:nvSpPr>
        <p:spPr>
          <a:xfrm>
            <a:off x="1257300" y="4681728"/>
            <a:ext cx="2103120" cy="777240"/>
          </a:xfrm>
          <a:prstGeom prst="round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900" b="1" i="0">
                <a:solidFill>
                  <a:srgbClr val="FFFFFF"/>
                </a:solidFill>
                <a:latin typeface="Helvetica Neue"/>
                <a:ea typeface="Helvetica Neue"/>
                <a:cs typeface="Helvetica Neue"/>
              </a:rPr>
              <a:t>MX</a:t>
            </a:r>
          </a:p>
        </p:txBody>
      </p:sp>
      <p:sp>
        <p:nvSpPr>
          <p:cNvPr id="12" name="Rec 2 ex"/>
          <p:cNvSpPr txBox="1"/>
          <p:nvPr/>
        </p:nvSpPr>
        <p:spPr>
          <a:xfrm>
            <a:off x="3611880" y="4544568"/>
            <a:ext cx="7955279" cy="1051560"/>
          </a:xfrm>
          <a:prstGeom prst="rect">
            <a:avLst/>
          </a:prstGeom>
          <a:noFill/>
        </p:spPr>
        <p:txBody>
          <a:bodyPr wrap="square" lIns="0" tIns="0" rIns="0" bIns="0" anchor="ctr">
            <a:spAutoFit/>
          </a:bodyPr>
          <a:lstStyle/>
          <a:p>
            <a:pPr algn="l">
              <a:spcAft>
                <a:spcPts val="600"/>
              </a:spcAft>
            </a:pPr>
            <a:r>
              <a:rPr sz="1600" b="0" i="0">
                <a:solidFill>
                  <a:srgbClr val="000000"/>
                </a:solidFill>
                <a:latin typeface="Menlo"/>
                <a:ea typeface="Menlo"/>
                <a:cs typeface="Menlo"/>
              </a:rPr>
              <a:t>examplebank.com  →  mail.protection.outlook.com</a:t>
            </a:r>
          </a:p>
        </p:txBody>
      </p:sp>
      <p:sp>
        <p:nvSpPr>
          <p:cNvPr id="13" name="Rec 2 why"/>
          <p:cNvSpPr txBox="1"/>
          <p:nvPr/>
        </p:nvSpPr>
        <p:spPr>
          <a:xfrm>
            <a:off x="11750040" y="4544568"/>
            <a:ext cx="5280660" cy="105156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Where email is delivered</a:t>
            </a:r>
          </a:p>
        </p:txBody>
      </p:sp>
      <p:cxnSp>
        <p:nvCxnSpPr>
          <p:cNvPr id="14" name="Rec rule 2"/>
          <p:cNvCxnSpPr/>
          <p:nvPr/>
        </p:nvCxnSpPr>
        <p:spPr>
          <a:xfrm>
            <a:off x="1257300" y="5678424"/>
            <a:ext cx="1577340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5" name="Rec 3 tag"/>
          <p:cNvSpPr/>
          <p:nvPr/>
        </p:nvSpPr>
        <p:spPr>
          <a:xfrm>
            <a:off x="1257300" y="5888736"/>
            <a:ext cx="2103120" cy="777240"/>
          </a:xfrm>
          <a:prstGeom prst="round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900" b="1" i="0">
                <a:solidFill>
                  <a:srgbClr val="FFFFFF"/>
                </a:solidFill>
                <a:latin typeface="Helvetica Neue"/>
                <a:ea typeface="Helvetica Neue"/>
                <a:cs typeface="Helvetica Neue"/>
              </a:rPr>
              <a:t>CNAME</a:t>
            </a:r>
          </a:p>
        </p:txBody>
      </p:sp>
      <p:sp>
        <p:nvSpPr>
          <p:cNvPr id="16" name="Rec 3 ex"/>
          <p:cNvSpPr txBox="1"/>
          <p:nvPr/>
        </p:nvSpPr>
        <p:spPr>
          <a:xfrm>
            <a:off x="3611880" y="5751576"/>
            <a:ext cx="7955279" cy="1051560"/>
          </a:xfrm>
          <a:prstGeom prst="rect">
            <a:avLst/>
          </a:prstGeom>
          <a:noFill/>
        </p:spPr>
        <p:txBody>
          <a:bodyPr wrap="square" lIns="0" tIns="0" rIns="0" bIns="0" anchor="ctr">
            <a:spAutoFit/>
          </a:bodyPr>
          <a:lstStyle/>
          <a:p>
            <a:pPr algn="l">
              <a:spcAft>
                <a:spcPts val="600"/>
              </a:spcAft>
            </a:pPr>
            <a:r>
              <a:rPr sz="1600" b="0" i="0">
                <a:solidFill>
                  <a:srgbClr val="000000"/>
                </a:solidFill>
                <a:latin typeface="Menlo"/>
                <a:ea typeface="Menlo"/>
                <a:cs typeface="Menlo"/>
              </a:rPr>
              <a:t>online.examplebank.com  →  bankname.digitalvendor.com</a:t>
            </a:r>
          </a:p>
        </p:txBody>
      </p:sp>
      <p:sp>
        <p:nvSpPr>
          <p:cNvPr id="17" name="Rec 3 why"/>
          <p:cNvSpPr txBox="1"/>
          <p:nvPr/>
        </p:nvSpPr>
        <p:spPr>
          <a:xfrm>
            <a:off x="11750040" y="5751576"/>
            <a:ext cx="5280660" cy="1051560"/>
          </a:xfrm>
          <a:prstGeom prst="rect">
            <a:avLst/>
          </a:prstGeom>
          <a:noFill/>
        </p:spPr>
        <p:txBody>
          <a:bodyPr wrap="square" lIns="0" tIns="0" rIns="0" bIns="0" anchor="ctr">
            <a:spAutoFit/>
          </a:bodyPr>
          <a:lstStyle/>
          <a:p>
            <a:pPr algn="l">
              <a:spcAft>
                <a:spcPts val="600"/>
              </a:spcAft>
            </a:pPr>
            <a:r>
              <a:rPr sz="1800" b="1" i="0">
                <a:solidFill>
                  <a:srgbClr val="C00000"/>
                </a:solidFill>
                <a:latin typeface="Helvetica Neue"/>
                <a:ea typeface="Helvetica Neue"/>
                <a:cs typeface="Helvetica Neue"/>
              </a:rPr>
              <a:t>Points to a vendor; dangling after a vendor change</a:t>
            </a:r>
          </a:p>
        </p:txBody>
      </p:sp>
      <p:cxnSp>
        <p:nvCxnSpPr>
          <p:cNvPr id="18" name="Rec rule 3"/>
          <p:cNvCxnSpPr/>
          <p:nvPr/>
        </p:nvCxnSpPr>
        <p:spPr>
          <a:xfrm>
            <a:off x="1257300" y="6885432"/>
            <a:ext cx="1577340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9" name="Rec 4 tag"/>
          <p:cNvSpPr/>
          <p:nvPr/>
        </p:nvSpPr>
        <p:spPr>
          <a:xfrm>
            <a:off x="1257300" y="7095744"/>
            <a:ext cx="2103120" cy="777240"/>
          </a:xfrm>
          <a:prstGeom prst="round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900" b="1" i="0">
                <a:solidFill>
                  <a:srgbClr val="FFFFFF"/>
                </a:solidFill>
                <a:latin typeface="Helvetica Neue"/>
                <a:ea typeface="Helvetica Neue"/>
                <a:cs typeface="Helvetica Neue"/>
              </a:rPr>
              <a:t>TXT</a:t>
            </a:r>
          </a:p>
        </p:txBody>
      </p:sp>
      <p:sp>
        <p:nvSpPr>
          <p:cNvPr id="20" name="Rec 4 ex"/>
          <p:cNvSpPr txBox="1"/>
          <p:nvPr/>
        </p:nvSpPr>
        <p:spPr>
          <a:xfrm>
            <a:off x="3611880" y="6958583"/>
            <a:ext cx="7955279" cy="1051560"/>
          </a:xfrm>
          <a:prstGeom prst="rect">
            <a:avLst/>
          </a:prstGeom>
          <a:noFill/>
        </p:spPr>
        <p:txBody>
          <a:bodyPr wrap="square" lIns="0" tIns="0" rIns="0" bIns="0" anchor="ctr">
            <a:spAutoFit/>
          </a:bodyPr>
          <a:lstStyle/>
          <a:p>
            <a:pPr algn="l">
              <a:spcAft>
                <a:spcPts val="600"/>
              </a:spcAft>
            </a:pPr>
            <a:r>
              <a:rPr sz="1600" b="0" i="0">
                <a:solidFill>
                  <a:srgbClr val="000000"/>
                </a:solidFill>
                <a:latin typeface="Menlo"/>
                <a:ea typeface="Menlo"/>
                <a:cs typeface="Menlo"/>
              </a:rPr>
              <a:t>v=spf1 include:spf.protection.outlook.com -all</a:t>
            </a:r>
          </a:p>
        </p:txBody>
      </p:sp>
      <p:sp>
        <p:nvSpPr>
          <p:cNvPr id="21" name="Rec 4 why"/>
          <p:cNvSpPr txBox="1"/>
          <p:nvPr/>
        </p:nvSpPr>
        <p:spPr>
          <a:xfrm>
            <a:off x="11750040" y="6958583"/>
            <a:ext cx="5280660" cy="105156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Email authentication and ownership proof</a:t>
            </a:r>
          </a:p>
        </p:txBody>
      </p:sp>
      <p:cxnSp>
        <p:nvCxnSpPr>
          <p:cNvPr id="22" name="Rec rule 4"/>
          <p:cNvCxnSpPr/>
          <p:nvPr/>
        </p:nvCxnSpPr>
        <p:spPr>
          <a:xfrm>
            <a:off x="1257300" y="8092440"/>
            <a:ext cx="1577340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23" name="Rec 5 tag"/>
          <p:cNvSpPr/>
          <p:nvPr/>
        </p:nvSpPr>
        <p:spPr>
          <a:xfrm>
            <a:off x="1257300" y="8302752"/>
            <a:ext cx="2103120" cy="777240"/>
          </a:xfrm>
          <a:prstGeom prst="round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900" b="1" i="0">
                <a:solidFill>
                  <a:srgbClr val="FFFFFF"/>
                </a:solidFill>
                <a:latin typeface="Helvetica Neue"/>
                <a:ea typeface="Helvetica Neue"/>
                <a:cs typeface="Helvetica Neue"/>
              </a:rPr>
              <a:t>NS</a:t>
            </a:r>
          </a:p>
        </p:txBody>
      </p:sp>
      <p:sp>
        <p:nvSpPr>
          <p:cNvPr id="24" name="Rec 5 ex"/>
          <p:cNvSpPr txBox="1"/>
          <p:nvPr/>
        </p:nvSpPr>
        <p:spPr>
          <a:xfrm>
            <a:off x="3611880" y="8165592"/>
            <a:ext cx="7955279" cy="1051560"/>
          </a:xfrm>
          <a:prstGeom prst="rect">
            <a:avLst/>
          </a:prstGeom>
          <a:noFill/>
        </p:spPr>
        <p:txBody>
          <a:bodyPr wrap="square" lIns="0" tIns="0" rIns="0" bIns="0" anchor="ctr">
            <a:spAutoFit/>
          </a:bodyPr>
          <a:lstStyle/>
          <a:p>
            <a:pPr algn="l">
              <a:spcAft>
                <a:spcPts val="600"/>
              </a:spcAft>
            </a:pPr>
            <a:r>
              <a:rPr sz="1600" b="0" i="0">
                <a:solidFill>
                  <a:srgbClr val="000000"/>
                </a:solidFill>
                <a:latin typeface="Menlo"/>
                <a:ea typeface="Menlo"/>
                <a:cs typeface="Menlo"/>
              </a:rPr>
              <a:t>examplebank.com  →  ns1.dnshost.net</a:t>
            </a:r>
          </a:p>
        </p:txBody>
      </p:sp>
      <p:sp>
        <p:nvSpPr>
          <p:cNvPr id="25" name="Rec 5 why"/>
          <p:cNvSpPr txBox="1"/>
          <p:nvPr/>
        </p:nvSpPr>
        <p:spPr>
          <a:xfrm>
            <a:off x="11750040" y="8165592"/>
            <a:ext cx="5280660" cy="1051560"/>
          </a:xfrm>
          <a:prstGeom prst="rect">
            <a:avLst/>
          </a:prstGeom>
          <a:noFill/>
        </p:spPr>
        <p:txBody>
          <a:bodyPr wrap="square" lIns="0" tIns="0" rIns="0" bIns="0" anchor="ctr">
            <a:spAutoFit/>
          </a:bodyPr>
          <a:lstStyle/>
          <a:p>
            <a:pPr algn="l">
              <a:spcAft>
                <a:spcPts val="600"/>
              </a:spcAft>
            </a:pPr>
            <a:r>
              <a:rPr sz="1800" b="0" i="0">
                <a:solidFill>
                  <a:srgbClr val="000000"/>
                </a:solidFill>
                <a:latin typeface="Helvetica Neue"/>
                <a:ea typeface="Helvetica Neue"/>
                <a:cs typeface="Helvetica Neue"/>
              </a:rPr>
              <a:t>Who's in charge of the domain</a:t>
            </a:r>
          </a:p>
        </p:txBody>
      </p:sp>
      <p:sp>
        <p:nvSpPr>
          <p:cNvPr id="26" name="Rec banner"/>
          <p:cNvSpPr/>
          <p:nvPr/>
        </p:nvSpPr>
        <p:spPr>
          <a:xfrm>
            <a:off x="1257300" y="9144000"/>
            <a:ext cx="15773400" cy="45720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7" name="Rec banner text"/>
          <p:cNvSpPr txBox="1"/>
          <p:nvPr/>
        </p:nvSpPr>
        <p:spPr>
          <a:xfrm>
            <a:off x="1554480" y="9189720"/>
            <a:ext cx="15179040" cy="365760"/>
          </a:xfrm>
          <a:prstGeom prst="rect">
            <a:avLst/>
          </a:prstGeom>
          <a:noFill/>
        </p:spPr>
        <p:txBody>
          <a:bodyPr wrap="square" lIns="0" tIns="0" rIns="0" bIns="0" anchor="ctr">
            <a:spAutoFit/>
          </a:bodyPr>
          <a:lstStyle/>
          <a:p>
            <a:pPr algn="ctr">
              <a:spcAft>
                <a:spcPts val="600"/>
              </a:spcAft>
            </a:pPr>
            <a:r>
              <a:rPr sz="1700" b="1" i="0">
                <a:solidFill>
                  <a:srgbClr val="000000"/>
                </a:solidFill>
                <a:latin typeface="Helvetica Neue"/>
                <a:ea typeface="Helvetica Neue"/>
                <a:cs typeface="Helvetica Neue"/>
              </a:rPr>
              <a:t>Someone should know what records exist, and clean them up when vendors change.</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00"/>
                </a:solidFill>
                <a:latin typeface="Helvetica Neue Condensed Bold"/>
                <a:ea typeface="Helvetica Neue Condensed Bold"/>
                <a:cs typeface="Helvetica Neue Condensed Bold"/>
              </a:rPr>
              <a:t>DNS Email Authentication: </a:t>
            </a:r>
            <a:r>
              <a:rPr lang="en-US" sz="6600" b="1" i="0" dirty="0">
                <a:solidFill>
                  <a:srgbClr val="000000"/>
                </a:solidFill>
                <a:latin typeface="Helvetica Neue Condensed Bold"/>
                <a:ea typeface="Helvetica Neue Condensed Bold"/>
                <a:cs typeface="Helvetica Neue Condensed Bold"/>
              </a:rPr>
              <a:t>SPF, DKIM, DMARC</a:t>
            </a:r>
          </a:p>
        </p:txBody>
      </p:sp>
      <p:sp>
        <p:nvSpPr>
          <p:cNvPr id="3" name="Auth 1"/>
          <p:cNvSpPr/>
          <p:nvPr/>
        </p:nvSpPr>
        <p:spPr>
          <a:xfrm>
            <a:off x="1257300" y="2697480"/>
            <a:ext cx="5029200" cy="2743200"/>
          </a:xfrm>
          <a:prstGeom prst="roundRect">
            <a:avLst/>
          </a:prstGeom>
          <a:solidFill>
            <a:srgbClr val="FFFFFF"/>
          </a:solidFill>
          <a:ln w="3175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Auth 1 text"/>
          <p:cNvSpPr txBox="1"/>
          <p:nvPr/>
        </p:nvSpPr>
        <p:spPr>
          <a:xfrm>
            <a:off x="1577340" y="2880360"/>
            <a:ext cx="4389120" cy="2468880"/>
          </a:xfrm>
          <a:prstGeom prst="rect">
            <a:avLst/>
          </a:prstGeom>
          <a:noFill/>
        </p:spPr>
        <p:txBody>
          <a:bodyPr wrap="square" lIns="0" tIns="0" rIns="0" bIns="0" anchor="t">
            <a:spAutoFit/>
          </a:bodyPr>
          <a:lstStyle/>
          <a:p>
            <a:pPr algn="l">
              <a:spcAft>
                <a:spcPts val="600"/>
              </a:spcAft>
            </a:pPr>
            <a:r>
              <a:rPr sz="3400" b="1" i="0">
                <a:solidFill>
                  <a:srgbClr val="2F75B5"/>
                </a:solidFill>
                <a:latin typeface="Helvetica Neue"/>
                <a:ea typeface="Helvetica Neue"/>
                <a:cs typeface="Helvetica Neue"/>
              </a:rPr>
              <a:t>SPF</a:t>
            </a:r>
          </a:p>
          <a:p>
            <a:pPr algn="l">
              <a:spcAft>
                <a:spcPts val="600"/>
              </a:spcAft>
            </a:pPr>
            <a:r>
              <a:rPr sz="2100" b="1" i="0">
                <a:solidFill>
                  <a:srgbClr val="000000"/>
                </a:solidFill>
                <a:latin typeface="Helvetica Neue"/>
                <a:ea typeface="Helvetica Neue"/>
                <a:cs typeface="Helvetica Neue"/>
              </a:rPr>
              <a:t>Who may send for us</a:t>
            </a:r>
          </a:p>
          <a:p>
            <a:pPr algn="l">
              <a:spcAft>
                <a:spcPts val="600"/>
              </a:spcAft>
            </a:pPr>
            <a:r>
              <a:rPr sz="1900" b="0" i="0">
                <a:solidFill>
                  <a:srgbClr val="404040"/>
                </a:solidFill>
                <a:latin typeface="Helvetica Neue"/>
                <a:ea typeface="Helvetica Neue"/>
                <a:cs typeface="Helvetica Neue"/>
              </a:rPr>
              <a:t>A list of allowed sending servers</a:t>
            </a:r>
          </a:p>
        </p:txBody>
      </p:sp>
      <p:sp>
        <p:nvSpPr>
          <p:cNvPr id="5" name="Auth 2"/>
          <p:cNvSpPr/>
          <p:nvPr/>
        </p:nvSpPr>
        <p:spPr>
          <a:xfrm>
            <a:off x="6629400" y="2697480"/>
            <a:ext cx="5029200" cy="2743200"/>
          </a:xfrm>
          <a:prstGeom prst="roundRect">
            <a:avLst/>
          </a:prstGeom>
          <a:solidFill>
            <a:srgbClr val="FFFFFF"/>
          </a:solidFill>
          <a:ln w="3175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6" name="Auth 2 text"/>
          <p:cNvSpPr txBox="1"/>
          <p:nvPr/>
        </p:nvSpPr>
        <p:spPr>
          <a:xfrm>
            <a:off x="6949440" y="2880360"/>
            <a:ext cx="4389120" cy="2468880"/>
          </a:xfrm>
          <a:prstGeom prst="rect">
            <a:avLst/>
          </a:prstGeom>
          <a:noFill/>
        </p:spPr>
        <p:txBody>
          <a:bodyPr wrap="square" lIns="0" tIns="0" rIns="0" bIns="0" anchor="t">
            <a:spAutoFit/>
          </a:bodyPr>
          <a:lstStyle/>
          <a:p>
            <a:pPr algn="l">
              <a:spcAft>
                <a:spcPts val="600"/>
              </a:spcAft>
            </a:pPr>
            <a:r>
              <a:rPr sz="3400" b="1" i="0">
                <a:solidFill>
                  <a:srgbClr val="2E7D32"/>
                </a:solidFill>
                <a:latin typeface="Helvetica Neue"/>
                <a:ea typeface="Helvetica Neue"/>
                <a:cs typeface="Helvetica Neue"/>
              </a:rPr>
              <a:t>DKIM</a:t>
            </a:r>
          </a:p>
          <a:p>
            <a:pPr algn="l">
              <a:spcAft>
                <a:spcPts val="600"/>
              </a:spcAft>
            </a:pPr>
            <a:r>
              <a:rPr sz="2100" b="1" i="0">
                <a:solidFill>
                  <a:srgbClr val="000000"/>
                </a:solidFill>
                <a:latin typeface="Helvetica Neue"/>
                <a:ea typeface="Helvetica Neue"/>
                <a:cs typeface="Helvetica Neue"/>
              </a:rPr>
              <a:t>Proof it came from us</a:t>
            </a:r>
          </a:p>
          <a:p>
            <a:pPr algn="l">
              <a:spcAft>
                <a:spcPts val="600"/>
              </a:spcAft>
            </a:pPr>
            <a:r>
              <a:rPr sz="1900" b="0" i="0">
                <a:solidFill>
                  <a:srgbClr val="404040"/>
                </a:solidFill>
                <a:latin typeface="Helvetica Neue"/>
                <a:ea typeface="Helvetica Neue"/>
                <a:cs typeface="Helvetica Neue"/>
              </a:rPr>
              <a:t>A signature on each message; the key is in DNS</a:t>
            </a:r>
          </a:p>
        </p:txBody>
      </p:sp>
      <p:sp>
        <p:nvSpPr>
          <p:cNvPr id="7" name="Auth 3"/>
          <p:cNvSpPr/>
          <p:nvPr/>
        </p:nvSpPr>
        <p:spPr>
          <a:xfrm>
            <a:off x="12001500" y="2697480"/>
            <a:ext cx="5029200" cy="2743200"/>
          </a:xfrm>
          <a:prstGeom prst="roundRect">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8" name="Auth 3 text"/>
          <p:cNvSpPr txBox="1"/>
          <p:nvPr/>
        </p:nvSpPr>
        <p:spPr>
          <a:xfrm>
            <a:off x="12321540" y="2880360"/>
            <a:ext cx="4389120" cy="2468880"/>
          </a:xfrm>
          <a:prstGeom prst="rect">
            <a:avLst/>
          </a:prstGeom>
          <a:noFill/>
        </p:spPr>
        <p:txBody>
          <a:bodyPr wrap="square" lIns="0" tIns="0" rIns="0" bIns="0" anchor="t">
            <a:spAutoFit/>
          </a:bodyPr>
          <a:lstStyle/>
          <a:p>
            <a:pPr algn="l">
              <a:spcAft>
                <a:spcPts val="600"/>
              </a:spcAft>
            </a:pPr>
            <a:r>
              <a:rPr sz="3400" b="1" i="0">
                <a:solidFill>
                  <a:srgbClr val="ED7D31"/>
                </a:solidFill>
                <a:latin typeface="Helvetica Neue"/>
                <a:ea typeface="Helvetica Neue"/>
                <a:cs typeface="Helvetica Neue"/>
              </a:rPr>
              <a:t>DMARC</a:t>
            </a:r>
          </a:p>
          <a:p>
            <a:pPr algn="l">
              <a:spcAft>
                <a:spcPts val="600"/>
              </a:spcAft>
            </a:pPr>
            <a:r>
              <a:rPr sz="2100" b="1" i="0">
                <a:solidFill>
                  <a:srgbClr val="000000"/>
                </a:solidFill>
                <a:latin typeface="Helvetica Neue"/>
                <a:ea typeface="Helvetica Neue"/>
                <a:cs typeface="Helvetica Neue"/>
              </a:rPr>
              <a:t>What to do if checks fail</a:t>
            </a:r>
          </a:p>
          <a:p>
            <a:pPr algn="l">
              <a:spcAft>
                <a:spcPts val="600"/>
              </a:spcAft>
            </a:pPr>
            <a:r>
              <a:rPr sz="1900" b="0" i="0">
                <a:solidFill>
                  <a:srgbClr val="404040"/>
                </a:solidFill>
                <a:latin typeface="Helvetica Neue"/>
                <a:ea typeface="Helvetica Neue"/>
                <a:cs typeface="Helvetica Neue"/>
              </a:rPr>
              <a:t>None, quarantine or reject, plus reports to the bank</a:t>
            </a:r>
          </a:p>
        </p:txBody>
      </p:sp>
      <p:sp>
        <p:nvSpPr>
          <p:cNvPr id="9" name="Auth example box"/>
          <p:cNvSpPr/>
          <p:nvPr/>
        </p:nvSpPr>
        <p:spPr>
          <a:xfrm>
            <a:off x="1257300" y="5715000"/>
            <a:ext cx="15773400" cy="1600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0" name="Auth example"/>
          <p:cNvSpPr txBox="1"/>
          <p:nvPr/>
        </p:nvSpPr>
        <p:spPr>
          <a:xfrm>
            <a:off x="1485900" y="5852160"/>
            <a:ext cx="15316200" cy="1325880"/>
          </a:xfrm>
          <a:prstGeom prst="rect">
            <a:avLst/>
          </a:prstGeom>
          <a:noFill/>
        </p:spPr>
        <p:txBody>
          <a:bodyPr wrap="square" lIns="0" tIns="0" rIns="0" bIns="0" anchor="t">
            <a:spAutoFit/>
          </a:bodyPr>
          <a:lstStyle/>
          <a:p>
            <a:pPr algn="l">
              <a:spcAft>
                <a:spcPts val="200"/>
              </a:spcAft>
            </a:pPr>
            <a:r>
              <a:rPr sz="1900" b="0" i="0">
                <a:solidFill>
                  <a:srgbClr val="000000"/>
                </a:solidFill>
                <a:latin typeface="Menlo"/>
                <a:ea typeface="Menlo"/>
                <a:cs typeface="Menlo"/>
              </a:rPr>
              <a:t>examplebank.com              TXT  "v=spf1 include:spf.protection.outlook.com -all"</a:t>
            </a:r>
          </a:p>
          <a:p>
            <a:pPr algn="l">
              <a:spcAft>
                <a:spcPts val="200"/>
              </a:spcAft>
            </a:pPr>
            <a:r>
              <a:rPr sz="1900" b="0" i="0">
                <a:solidFill>
                  <a:srgbClr val="000000"/>
                </a:solidFill>
                <a:latin typeface="Menlo"/>
                <a:ea typeface="Menlo"/>
                <a:cs typeface="Menlo"/>
              </a:rPr>
              <a:t>_dmarc.examplebank.com       TXT  "v=DMARC1; p=reject; rua=mailto:dmarc@examplebank.com"</a:t>
            </a:r>
          </a:p>
        </p:txBody>
      </p:sp>
      <p:sp>
        <p:nvSpPr>
          <p:cNvPr id="11" name="Trap"/>
          <p:cNvSpPr/>
          <p:nvPr/>
        </p:nvSpPr>
        <p:spPr>
          <a:xfrm>
            <a:off x="1257300" y="7589520"/>
            <a:ext cx="7680960" cy="178308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2" name="Trap text"/>
          <p:cNvSpPr txBox="1"/>
          <p:nvPr/>
        </p:nvSpPr>
        <p:spPr>
          <a:xfrm>
            <a:off x="1554480" y="7680960"/>
            <a:ext cx="7132320" cy="1600200"/>
          </a:xfrm>
          <a:prstGeom prst="rect">
            <a:avLst/>
          </a:prstGeom>
          <a:noFill/>
        </p:spPr>
        <p:txBody>
          <a:bodyPr wrap="square" lIns="0" tIns="0" rIns="0" bIns="0" anchor="t">
            <a:spAutoFit/>
          </a:bodyPr>
          <a:lstStyle/>
          <a:p>
            <a:pPr algn="l">
              <a:spcAft>
                <a:spcPts val="400"/>
              </a:spcAft>
            </a:pPr>
            <a:r>
              <a:rPr sz="2100" b="1" i="0">
                <a:solidFill>
                  <a:srgbClr val="C00000"/>
                </a:solidFill>
                <a:latin typeface="Helvetica Neue"/>
                <a:ea typeface="Helvetica Neue"/>
                <a:cs typeface="Helvetica Neue"/>
              </a:rPr>
              <a:t>p=none is monitoring, not protection.</a:t>
            </a:r>
          </a:p>
          <a:p>
            <a:pPr algn="l">
              <a:spcAft>
                <a:spcPts val="400"/>
              </a:spcAft>
            </a:pPr>
            <a:r>
              <a:rPr sz="1700" b="0" i="0">
                <a:solidFill>
                  <a:srgbClr val="000000"/>
                </a:solidFill>
                <a:latin typeface="Helvetica Neue"/>
                <a:ea typeface="Helvetica Neue"/>
                <a:cs typeface="Helvetica Neue"/>
              </a:rPr>
              <a:t>Ask what the bank's DMARC policy is, and how long it's been there.</a:t>
            </a:r>
          </a:p>
        </p:txBody>
      </p:sp>
      <p:sp>
        <p:nvSpPr>
          <p:cNvPr id="13" name="Lookalike"/>
          <p:cNvSpPr/>
          <p:nvPr/>
        </p:nvSpPr>
        <p:spPr>
          <a:xfrm>
            <a:off x="9349740" y="7589520"/>
            <a:ext cx="7680960" cy="178308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4" name="Lookalike text"/>
          <p:cNvSpPr txBox="1"/>
          <p:nvPr/>
        </p:nvSpPr>
        <p:spPr>
          <a:xfrm>
            <a:off x="9646920" y="7680960"/>
            <a:ext cx="7132320" cy="1600200"/>
          </a:xfrm>
          <a:prstGeom prst="rect">
            <a:avLst/>
          </a:prstGeom>
          <a:noFill/>
        </p:spPr>
        <p:txBody>
          <a:bodyPr wrap="square" lIns="0" tIns="0" rIns="0" bIns="0" anchor="t">
            <a:spAutoFit/>
          </a:bodyPr>
          <a:lstStyle/>
          <a:p>
            <a:pPr algn="l">
              <a:spcAft>
                <a:spcPts val="400"/>
              </a:spcAft>
            </a:pPr>
            <a:r>
              <a:rPr sz="2100" b="1" i="0">
                <a:solidFill>
                  <a:srgbClr val="2F75B5"/>
                </a:solidFill>
                <a:latin typeface="Helvetica Neue"/>
                <a:ea typeface="Helvetica Neue"/>
                <a:cs typeface="Helvetica Neue"/>
              </a:rPr>
              <a:t>Protects the bank's own domain.</a:t>
            </a:r>
          </a:p>
          <a:p>
            <a:pPr algn="l">
              <a:spcAft>
                <a:spcPts val="400"/>
              </a:spcAft>
            </a:pPr>
            <a:r>
              <a:rPr sz="1700" b="0" i="0">
                <a:solidFill>
                  <a:srgbClr val="000000"/>
                </a:solidFill>
                <a:latin typeface="Helvetica Neue"/>
                <a:ea typeface="Helvetica Neue"/>
                <a:cs typeface="Helvetica Neue"/>
              </a:rPr>
              <a:t>Does nothing against examp1ebank.com. That's Exercise 4.</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When DNS Fails: Outages, Hijacking, and Lookalike Domains</a:t>
            </a:r>
          </a:p>
        </p:txBody>
      </p:sp>
      <p:sp>
        <p:nvSpPr>
          <p:cNvPr id="3" name="Fail 1"/>
          <p:cNvSpPr/>
          <p:nvPr/>
        </p:nvSpPr>
        <p:spPr>
          <a:xfrm>
            <a:off x="1257300" y="2697480"/>
            <a:ext cx="5029200" cy="6675120"/>
          </a:xfrm>
          <a:prstGeom prst="roundRect">
            <a:avLst/>
          </a:prstGeom>
          <a:solidFill>
            <a:srgbClr val="FFFFFF"/>
          </a:solidFill>
          <a:ln w="31750">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Fail 1 band"/>
          <p:cNvSpPr/>
          <p:nvPr/>
        </p:nvSpPr>
        <p:spPr>
          <a:xfrm>
            <a:off x="1531620" y="2926080"/>
            <a:ext cx="4480560" cy="109728"/>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5" name="Fail 1 text"/>
          <p:cNvSpPr txBox="1"/>
          <p:nvPr/>
        </p:nvSpPr>
        <p:spPr>
          <a:xfrm>
            <a:off x="1577340" y="3200400"/>
            <a:ext cx="4389120" cy="3291840"/>
          </a:xfrm>
          <a:prstGeom prst="rect">
            <a:avLst/>
          </a:prstGeom>
          <a:noFill/>
        </p:spPr>
        <p:txBody>
          <a:bodyPr wrap="square" lIns="0" tIns="0" rIns="0" bIns="0" anchor="t">
            <a:spAutoFit/>
          </a:bodyPr>
          <a:lstStyle/>
          <a:p>
            <a:pPr algn="l">
              <a:spcAft>
                <a:spcPts val="800"/>
              </a:spcAft>
            </a:pPr>
            <a:r>
              <a:rPr sz="2800" b="1" i="0">
                <a:solidFill>
                  <a:srgbClr val="000000"/>
                </a:solidFill>
                <a:latin typeface="Helvetica Neue"/>
                <a:ea typeface="Helvetica Neue"/>
                <a:cs typeface="Helvetica Neue"/>
              </a:rPr>
              <a:t>Outages</a:t>
            </a:r>
          </a:p>
          <a:p>
            <a:pPr algn="l">
              <a:spcAft>
                <a:spcPts val="800"/>
              </a:spcAft>
            </a:pPr>
            <a:r>
              <a:rPr sz="2100" b="0" i="0">
                <a:solidFill>
                  <a:srgbClr val="000000"/>
                </a:solidFill>
                <a:latin typeface="Helvetica Neue"/>
                <a:ea typeface="Helvetica Neue"/>
                <a:cs typeface="Helvetica Neue"/>
              </a:rPr>
              <a:t>Names stop resolving; working servers become unreachable.</a:t>
            </a:r>
          </a:p>
          <a:p>
            <a:pPr algn="l">
              <a:spcAft>
                <a:spcPts val="800"/>
              </a:spcAft>
            </a:pPr>
            <a:r>
              <a:rPr sz="1600" b="1" i="0">
                <a:solidFill>
                  <a:srgbClr val="595959"/>
                </a:solidFill>
                <a:latin typeface="Helvetica Neue"/>
                <a:ea typeface="Helvetica Neue"/>
                <a:cs typeface="Helvetica Neue"/>
              </a:rPr>
              <a:t>Example</a:t>
            </a:r>
          </a:p>
          <a:p>
            <a:pPr algn="l">
              <a:spcAft>
                <a:spcPts val="800"/>
              </a:spcAft>
            </a:pPr>
            <a:r>
              <a:rPr sz="1900" b="0" i="1">
                <a:solidFill>
                  <a:srgbClr val="000000"/>
                </a:solidFill>
                <a:latin typeface="Helvetica Neue"/>
                <a:ea typeface="Helvetica Neue"/>
                <a:cs typeface="Helvetica Neue"/>
              </a:rPr>
              <a:t>Dyn, 2016; AWS, October 2025</a:t>
            </a:r>
          </a:p>
        </p:txBody>
      </p:sp>
      <p:sp>
        <p:nvSpPr>
          <p:cNvPr id="6" name="Fail 1 fix"/>
          <p:cNvSpPr/>
          <p:nvPr/>
        </p:nvSpPr>
        <p:spPr>
          <a:xfrm>
            <a:off x="1531620" y="6858000"/>
            <a:ext cx="4480560" cy="224028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7" name="Fail 1 fix text"/>
          <p:cNvSpPr txBox="1"/>
          <p:nvPr/>
        </p:nvSpPr>
        <p:spPr>
          <a:xfrm>
            <a:off x="1760220" y="6995160"/>
            <a:ext cx="4023360" cy="2011680"/>
          </a:xfrm>
          <a:prstGeom prst="rect">
            <a:avLst/>
          </a:prstGeom>
          <a:noFill/>
        </p:spPr>
        <p:txBody>
          <a:bodyPr wrap="square" lIns="0" tIns="0" rIns="0" bIns="0" anchor="t">
            <a:spAutoFit/>
          </a:bodyPr>
          <a:lstStyle/>
          <a:p>
            <a:pPr algn="l">
              <a:spcAft>
                <a:spcPts val="400"/>
              </a:spcAft>
            </a:pPr>
            <a:r>
              <a:rPr sz="1600" b="1" i="0">
                <a:solidFill>
                  <a:srgbClr val="2F75B5"/>
                </a:solidFill>
                <a:latin typeface="Helvetica Neue"/>
                <a:ea typeface="Helvetica Neue"/>
                <a:cs typeface="Helvetica Neue"/>
              </a:rPr>
              <a:t>What helps</a:t>
            </a:r>
          </a:p>
          <a:p>
            <a:pPr algn="l">
              <a:spcAft>
                <a:spcPts val="400"/>
              </a:spcAft>
            </a:pPr>
            <a:r>
              <a:rPr sz="1800" b="0" i="0">
                <a:solidFill>
                  <a:srgbClr val="000000"/>
                </a:solidFill>
                <a:latin typeface="Helvetica Neue"/>
                <a:ea typeface="Helvetica Neue"/>
                <a:cs typeface="Helvetica Neue"/>
              </a:rPr>
              <a:t>Redundant DNS hosting</a:t>
            </a:r>
          </a:p>
        </p:txBody>
      </p:sp>
      <p:sp>
        <p:nvSpPr>
          <p:cNvPr id="8" name="Fail 2"/>
          <p:cNvSpPr/>
          <p:nvPr/>
        </p:nvSpPr>
        <p:spPr>
          <a:xfrm>
            <a:off x="6629400" y="2697480"/>
            <a:ext cx="5029200" cy="6675120"/>
          </a:xfrm>
          <a:prstGeom prst="roundRect">
            <a:avLst/>
          </a:prstGeom>
          <a:solidFill>
            <a:srgbClr val="FFFFFF"/>
          </a:solid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9" name="Fail 2 band"/>
          <p:cNvSpPr/>
          <p:nvPr/>
        </p:nvSpPr>
        <p:spPr>
          <a:xfrm>
            <a:off x="6903720" y="2926080"/>
            <a:ext cx="4480560" cy="1097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0" name="Fail 2 text"/>
          <p:cNvSpPr txBox="1"/>
          <p:nvPr/>
        </p:nvSpPr>
        <p:spPr>
          <a:xfrm>
            <a:off x="6949440" y="3200400"/>
            <a:ext cx="4389120" cy="3291840"/>
          </a:xfrm>
          <a:prstGeom prst="rect">
            <a:avLst/>
          </a:prstGeom>
          <a:noFill/>
        </p:spPr>
        <p:txBody>
          <a:bodyPr wrap="square" lIns="0" tIns="0" rIns="0" bIns="0" anchor="t">
            <a:spAutoFit/>
          </a:bodyPr>
          <a:lstStyle/>
          <a:p>
            <a:pPr algn="l">
              <a:spcAft>
                <a:spcPts val="800"/>
              </a:spcAft>
            </a:pPr>
            <a:r>
              <a:rPr sz="2800" b="1" i="0">
                <a:solidFill>
                  <a:srgbClr val="000000"/>
                </a:solidFill>
                <a:latin typeface="Helvetica Neue"/>
                <a:ea typeface="Helvetica Neue"/>
                <a:cs typeface="Helvetica Neue"/>
              </a:rPr>
              <a:t>Hijacking</a:t>
            </a:r>
          </a:p>
          <a:p>
            <a:pPr algn="l">
              <a:spcAft>
                <a:spcPts val="800"/>
              </a:spcAft>
            </a:pPr>
            <a:r>
              <a:rPr sz="2100" b="0" i="0">
                <a:solidFill>
                  <a:srgbClr val="000000"/>
                </a:solidFill>
                <a:latin typeface="Helvetica Neue"/>
                <a:ea typeface="Helvetica Neue"/>
                <a:cs typeface="Helvetica Neue"/>
              </a:rPr>
              <a:t>Attacker changes where the bank's name points.</a:t>
            </a:r>
          </a:p>
          <a:p>
            <a:pPr algn="l">
              <a:spcAft>
                <a:spcPts val="800"/>
              </a:spcAft>
            </a:pPr>
            <a:r>
              <a:rPr sz="1600" b="1" i="0">
                <a:solidFill>
                  <a:srgbClr val="595959"/>
                </a:solidFill>
                <a:latin typeface="Helvetica Neue"/>
                <a:ea typeface="Helvetica Neue"/>
                <a:cs typeface="Helvetica Neue"/>
              </a:rPr>
              <a:t>Example</a:t>
            </a:r>
          </a:p>
          <a:p>
            <a:pPr algn="l">
              <a:spcAft>
                <a:spcPts val="800"/>
              </a:spcAft>
            </a:pPr>
            <a:r>
              <a:rPr sz="1900" b="0" i="1">
                <a:solidFill>
                  <a:srgbClr val="000000"/>
                </a:solidFill>
                <a:latin typeface="Helvetica Neue"/>
                <a:ea typeface="Helvetica Neue"/>
                <a:cs typeface="Helvetica Neue"/>
              </a:rPr>
              <a:t>Registrar or DNS host account taken over</a:t>
            </a:r>
          </a:p>
        </p:txBody>
      </p:sp>
      <p:sp>
        <p:nvSpPr>
          <p:cNvPr id="11" name="Fail 2 fix"/>
          <p:cNvSpPr/>
          <p:nvPr/>
        </p:nvSpPr>
        <p:spPr>
          <a:xfrm>
            <a:off x="6903720" y="6858000"/>
            <a:ext cx="4480560" cy="224028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2" name="Fail 2 fix text"/>
          <p:cNvSpPr txBox="1"/>
          <p:nvPr/>
        </p:nvSpPr>
        <p:spPr>
          <a:xfrm>
            <a:off x="7132320" y="6995160"/>
            <a:ext cx="4023360" cy="2011680"/>
          </a:xfrm>
          <a:prstGeom prst="rect">
            <a:avLst/>
          </a:prstGeom>
          <a:noFill/>
        </p:spPr>
        <p:txBody>
          <a:bodyPr wrap="square" lIns="0" tIns="0" rIns="0" bIns="0" anchor="t">
            <a:spAutoFit/>
          </a:bodyPr>
          <a:lstStyle/>
          <a:p>
            <a:pPr algn="l">
              <a:spcAft>
                <a:spcPts val="400"/>
              </a:spcAft>
            </a:pPr>
            <a:r>
              <a:rPr sz="1600" b="1" i="0">
                <a:solidFill>
                  <a:srgbClr val="2F75B5"/>
                </a:solidFill>
                <a:latin typeface="Helvetica Neue"/>
                <a:ea typeface="Helvetica Neue"/>
                <a:cs typeface="Helvetica Neue"/>
              </a:rPr>
              <a:t>What helps</a:t>
            </a:r>
          </a:p>
          <a:p>
            <a:pPr algn="l">
              <a:spcAft>
                <a:spcPts val="400"/>
              </a:spcAft>
            </a:pPr>
            <a:r>
              <a:rPr sz="1800" b="0" i="0">
                <a:solidFill>
                  <a:srgbClr val="000000"/>
                </a:solidFill>
                <a:latin typeface="Helvetica Neue"/>
                <a:ea typeface="Helvetica Neue"/>
                <a:cs typeface="Helvetica Neue"/>
              </a:rPr>
              <a:t>Registry lock, MFA, DNSSEC, change alerts</a:t>
            </a:r>
          </a:p>
        </p:txBody>
      </p:sp>
      <p:sp>
        <p:nvSpPr>
          <p:cNvPr id="13" name="Fail 3"/>
          <p:cNvSpPr/>
          <p:nvPr/>
        </p:nvSpPr>
        <p:spPr>
          <a:xfrm>
            <a:off x="12001500" y="2697480"/>
            <a:ext cx="5029200" cy="6675120"/>
          </a:xfrm>
          <a:prstGeom prst="roundRect">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4" name="Fail 3 band"/>
          <p:cNvSpPr/>
          <p:nvPr/>
        </p:nvSpPr>
        <p:spPr>
          <a:xfrm>
            <a:off x="12275820" y="2926080"/>
            <a:ext cx="4480560" cy="109728"/>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5" name="Fail 3 text"/>
          <p:cNvSpPr txBox="1"/>
          <p:nvPr/>
        </p:nvSpPr>
        <p:spPr>
          <a:xfrm>
            <a:off x="12321540" y="3200400"/>
            <a:ext cx="4389120" cy="3291840"/>
          </a:xfrm>
          <a:prstGeom prst="rect">
            <a:avLst/>
          </a:prstGeom>
          <a:noFill/>
        </p:spPr>
        <p:txBody>
          <a:bodyPr wrap="square" lIns="0" tIns="0" rIns="0" bIns="0" anchor="t">
            <a:spAutoFit/>
          </a:bodyPr>
          <a:lstStyle/>
          <a:p>
            <a:pPr algn="l">
              <a:spcAft>
                <a:spcPts val="800"/>
              </a:spcAft>
            </a:pPr>
            <a:r>
              <a:rPr sz="2800" b="1" i="0">
                <a:solidFill>
                  <a:srgbClr val="000000"/>
                </a:solidFill>
                <a:latin typeface="Helvetica Neue"/>
                <a:ea typeface="Helvetica Neue"/>
                <a:cs typeface="Helvetica Neue"/>
              </a:rPr>
              <a:t>Lookalike domains</a:t>
            </a:r>
          </a:p>
          <a:p>
            <a:pPr algn="l">
              <a:spcAft>
                <a:spcPts val="800"/>
              </a:spcAft>
            </a:pPr>
            <a:r>
              <a:rPr sz="2100" b="0" i="0">
                <a:solidFill>
                  <a:srgbClr val="000000"/>
                </a:solidFill>
                <a:latin typeface="Helvetica Neue"/>
                <a:ea typeface="Helvetica Neue"/>
                <a:cs typeface="Helvetica Neue"/>
              </a:rPr>
              <a:t>Attacker registers a name that looks like the bank's.</a:t>
            </a:r>
          </a:p>
          <a:p>
            <a:pPr algn="l">
              <a:spcAft>
                <a:spcPts val="800"/>
              </a:spcAft>
            </a:pPr>
            <a:r>
              <a:rPr sz="1600" b="1" i="0">
                <a:solidFill>
                  <a:srgbClr val="595959"/>
                </a:solidFill>
                <a:latin typeface="Helvetica Neue"/>
                <a:ea typeface="Helvetica Neue"/>
                <a:cs typeface="Helvetica Neue"/>
              </a:rPr>
              <a:t>Example</a:t>
            </a:r>
          </a:p>
          <a:p>
            <a:pPr algn="l">
              <a:spcAft>
                <a:spcPts val="800"/>
              </a:spcAft>
            </a:pPr>
            <a:r>
              <a:rPr sz="1900" b="0" i="1">
                <a:solidFill>
                  <a:srgbClr val="000000"/>
                </a:solidFill>
                <a:latin typeface="Helvetica Neue"/>
                <a:ea typeface="Helvetica Neue"/>
                <a:cs typeface="Helvetica Neue"/>
              </a:rPr>
              <a:t>examp1ebank.com, examplebank-secure.com</a:t>
            </a:r>
          </a:p>
        </p:txBody>
      </p:sp>
      <p:sp>
        <p:nvSpPr>
          <p:cNvPr id="16" name="Fail 3 fix"/>
          <p:cNvSpPr/>
          <p:nvPr/>
        </p:nvSpPr>
        <p:spPr>
          <a:xfrm>
            <a:off x="12275820" y="6858000"/>
            <a:ext cx="4480560" cy="224028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7" name="Fail 3 fix text"/>
          <p:cNvSpPr txBox="1"/>
          <p:nvPr/>
        </p:nvSpPr>
        <p:spPr>
          <a:xfrm>
            <a:off x="12504420" y="6995160"/>
            <a:ext cx="4023360" cy="2011680"/>
          </a:xfrm>
          <a:prstGeom prst="rect">
            <a:avLst/>
          </a:prstGeom>
          <a:noFill/>
        </p:spPr>
        <p:txBody>
          <a:bodyPr wrap="square" lIns="0" tIns="0" rIns="0" bIns="0" anchor="t">
            <a:spAutoFit/>
          </a:bodyPr>
          <a:lstStyle/>
          <a:p>
            <a:pPr algn="l">
              <a:spcAft>
                <a:spcPts val="400"/>
              </a:spcAft>
            </a:pPr>
            <a:r>
              <a:rPr sz="1600" b="1" i="0">
                <a:solidFill>
                  <a:srgbClr val="2F75B5"/>
                </a:solidFill>
                <a:latin typeface="Helvetica Neue"/>
                <a:ea typeface="Helvetica Neue"/>
                <a:cs typeface="Helvetica Neue"/>
              </a:rPr>
              <a:t>What helps</a:t>
            </a:r>
          </a:p>
          <a:p>
            <a:pPr algn="l">
              <a:spcAft>
                <a:spcPts val="400"/>
              </a:spcAft>
            </a:pPr>
            <a:r>
              <a:rPr sz="1800" b="0" i="0">
                <a:solidFill>
                  <a:srgbClr val="000000"/>
                </a:solidFill>
                <a:latin typeface="Helvetica Neue"/>
                <a:ea typeface="Helvetica Neue"/>
                <a:cs typeface="Helvetica Neue"/>
              </a:rPr>
              <a:t>Lookalike monitoring, sender warnings, call-back checks</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Protective DNS and Filtering</a:t>
            </a:r>
          </a:p>
        </p:txBody>
      </p:sp>
      <p:pic>
        <p:nvPicPr>
          <p:cNvPr id="3" name="PD laptop"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54480" y="3566160"/>
            <a:ext cx="914400" cy="914400"/>
          </a:xfrm>
          <a:prstGeom prst="rect">
            <a:avLst/>
          </a:prstGeom>
        </p:spPr>
      </p:pic>
      <p:sp>
        <p:nvSpPr>
          <p:cNvPr id="4" name="PD q"/>
          <p:cNvSpPr txBox="1"/>
          <p:nvPr/>
        </p:nvSpPr>
        <p:spPr>
          <a:xfrm>
            <a:off x="1257300" y="2743200"/>
            <a:ext cx="3291840" cy="548640"/>
          </a:xfrm>
          <a:prstGeom prst="rect">
            <a:avLst/>
          </a:prstGeom>
          <a:noFill/>
        </p:spPr>
        <p:txBody>
          <a:bodyPr wrap="square" lIns="0" tIns="0" rIns="0" bIns="0" anchor="t">
            <a:spAutoFit/>
          </a:bodyPr>
          <a:lstStyle/>
          <a:p>
            <a:pPr algn="ctr">
              <a:spcAft>
                <a:spcPts val="600"/>
              </a:spcAft>
            </a:pPr>
            <a:r>
              <a:rPr sz="1600" b="1" i="1">
                <a:solidFill>
                  <a:srgbClr val="000000"/>
                </a:solidFill>
                <a:latin typeface="Helvetica Neue"/>
                <a:ea typeface="Helvetica Neue"/>
                <a:cs typeface="Helvetica Neue"/>
              </a:rPr>
              <a:t>“Where is badsite.com?”</a:t>
            </a:r>
          </a:p>
        </p:txBody>
      </p:sp>
      <p:cxnSp>
        <p:nvCxnSpPr>
          <p:cNvPr id="5" name="PD a1"/>
          <p:cNvCxnSpPr/>
          <p:nvPr/>
        </p:nvCxnSpPr>
        <p:spPr>
          <a:xfrm>
            <a:off x="2651760" y="4023360"/>
            <a:ext cx="2286000" cy="0"/>
          </a:xfrm>
          <a:prstGeom prst="line">
            <a:avLst/>
          </a:prstGeom>
          <a:ln w="3810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PD resolver"/>
          <p:cNvSpPr/>
          <p:nvPr/>
        </p:nvSpPr>
        <p:spPr>
          <a:xfrm>
            <a:off x="4983480" y="2926080"/>
            <a:ext cx="4206240" cy="2194560"/>
          </a:xfrm>
          <a:prstGeom prst="roundRect">
            <a:avLst/>
          </a:prstGeom>
          <a:solidFill>
            <a:srgbClr val="EEF2F8"/>
          </a:solidFill>
          <a:ln w="28575">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7" name="PD shield"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80660" y="3634740"/>
            <a:ext cx="777240" cy="777240"/>
          </a:xfrm>
          <a:prstGeom prst="rect">
            <a:avLst/>
          </a:prstGeom>
        </p:spPr>
      </p:pic>
      <p:sp>
        <p:nvSpPr>
          <p:cNvPr id="8" name="PD resolver text"/>
          <p:cNvSpPr txBox="1"/>
          <p:nvPr/>
        </p:nvSpPr>
        <p:spPr>
          <a:xfrm>
            <a:off x="6217920" y="3017520"/>
            <a:ext cx="2880360" cy="2011680"/>
          </a:xfrm>
          <a:prstGeom prst="rect">
            <a:avLst/>
          </a:prstGeom>
          <a:noFill/>
        </p:spPr>
        <p:txBody>
          <a:bodyPr wrap="square" lIns="0" tIns="0" rIns="0" bIns="0" anchor="ctr">
            <a:spAutoFit/>
          </a:bodyPr>
          <a:lstStyle/>
          <a:p>
            <a:pPr algn="l">
              <a:spcAft>
                <a:spcPts val="300"/>
              </a:spcAft>
            </a:pPr>
            <a:r>
              <a:rPr sz="2000" b="1" i="0">
                <a:solidFill>
                  <a:srgbClr val="2F75B5"/>
                </a:solidFill>
                <a:latin typeface="Helvetica Neue"/>
                <a:ea typeface="Helvetica Neue"/>
                <a:cs typeface="Helvetica Neue"/>
              </a:rPr>
              <a:t>Protective DNS</a:t>
            </a:r>
          </a:p>
          <a:p>
            <a:pPr algn="l">
              <a:spcAft>
                <a:spcPts val="300"/>
              </a:spcAft>
            </a:pPr>
            <a:r>
              <a:rPr sz="1500" b="0" i="0">
                <a:solidFill>
                  <a:srgbClr val="000000"/>
                </a:solidFill>
                <a:latin typeface="Helvetica Neue"/>
                <a:ea typeface="Helvetica Neue"/>
                <a:cs typeface="Helvetica Neue"/>
              </a:rPr>
              <a:t>Checks every lookup against threat intelligence</a:t>
            </a:r>
          </a:p>
        </p:txBody>
      </p:sp>
      <p:cxnSp>
        <p:nvCxnSpPr>
          <p:cNvPr id="9" name="PD a2"/>
          <p:cNvCxnSpPr/>
          <p:nvPr/>
        </p:nvCxnSpPr>
        <p:spPr>
          <a:xfrm flipV="1">
            <a:off x="9235440" y="3108960"/>
            <a:ext cx="2194560" cy="457200"/>
          </a:xfrm>
          <a:prstGeom prst="line">
            <a:avLst/>
          </a:prstGeom>
          <a:ln w="3810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PD ok"/>
          <p:cNvSpPr/>
          <p:nvPr/>
        </p:nvSpPr>
        <p:spPr>
          <a:xfrm>
            <a:off x="11475720" y="2697480"/>
            <a:ext cx="5554980" cy="914400"/>
          </a:xfrm>
          <a:prstGeom prst="round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800" b="1" i="0">
                <a:solidFill>
                  <a:srgbClr val="000000"/>
                </a:solidFill>
                <a:latin typeface="Helvetica Neue"/>
                <a:ea typeface="Helvetica Neue"/>
                <a:cs typeface="Helvetica Neue"/>
              </a:rPr>
              <a:t>Normal site: answered</a:t>
            </a:r>
          </a:p>
        </p:txBody>
      </p:sp>
      <p:cxnSp>
        <p:nvCxnSpPr>
          <p:cNvPr id="11" name="PD a3"/>
          <p:cNvCxnSpPr/>
          <p:nvPr/>
        </p:nvCxnSpPr>
        <p:spPr>
          <a:xfrm>
            <a:off x="9235440" y="4480560"/>
            <a:ext cx="2194560" cy="457200"/>
          </a:xfrm>
          <a:prstGeom prst="line">
            <a:avLst/>
          </a:prstGeom>
          <a:ln w="381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PD block"/>
          <p:cNvSpPr/>
          <p:nvPr/>
        </p:nvSpPr>
        <p:spPr>
          <a:xfrm>
            <a:off x="11475720" y="4480560"/>
            <a:ext cx="5554980" cy="914400"/>
          </a:xfrm>
          <a:prstGeom prst="round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800" b="1" i="0">
                <a:solidFill>
                  <a:srgbClr val="000000"/>
                </a:solidFill>
                <a:latin typeface="Helvetica Neue"/>
                <a:ea typeface="Helvetica Neue"/>
                <a:cs typeface="Helvetica Neue"/>
              </a:rPr>
              <a:t>Known bad or brand-new domain: blocked</a:t>
            </a:r>
          </a:p>
        </p:txBody>
      </p:sp>
      <p:cxnSp>
        <p:nvCxnSpPr>
          <p:cNvPr id="13" name="PD log line"/>
          <p:cNvCxnSpPr/>
          <p:nvPr/>
        </p:nvCxnSpPr>
        <p:spPr>
          <a:xfrm>
            <a:off x="7086600" y="5166360"/>
            <a:ext cx="0" cy="548640"/>
          </a:xfrm>
          <a:prstGeom prst="line">
            <a:avLst/>
          </a:prstGeom>
          <a:ln w="25400">
            <a:solidFill>
              <a:srgbClr val="7F7F7F"/>
            </a:solidFill>
            <a:prstDash val="dash"/>
          </a:ln>
        </p:spPr>
        <p:style>
          <a:lnRef idx="2">
            <a:schemeClr val="accent1"/>
          </a:lnRef>
          <a:fillRef idx="0">
            <a:schemeClr val="accent1"/>
          </a:fillRef>
          <a:effectRef idx="1">
            <a:schemeClr val="accent1"/>
          </a:effectRef>
          <a:fontRef idx="minor">
            <a:schemeClr val="tx1"/>
          </a:fontRef>
        </p:style>
      </p:cxnSp>
      <p:sp>
        <p:nvSpPr>
          <p:cNvPr id="14" name="PD log"/>
          <p:cNvSpPr/>
          <p:nvPr/>
        </p:nvSpPr>
        <p:spPr>
          <a:xfrm>
            <a:off x="4983480" y="5715000"/>
            <a:ext cx="4206240" cy="7315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700" b="1" i="0">
                <a:solidFill>
                  <a:srgbClr val="000000"/>
                </a:solidFill>
                <a:latin typeface="Helvetica Neue"/>
                <a:ea typeface="Helvetica Neue"/>
                <a:cs typeface="Helvetica Neue"/>
              </a:rPr>
              <a:t>Every lookup logged</a:t>
            </a:r>
          </a:p>
        </p:txBody>
      </p:sp>
      <p:sp>
        <p:nvSpPr>
          <p:cNvPr id="15" name="PD row 1"/>
          <p:cNvSpPr/>
          <p:nvPr/>
        </p:nvSpPr>
        <p:spPr>
          <a:xfrm>
            <a:off x="1257300" y="6812280"/>
            <a:ext cx="3703320" cy="25603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6" name="PD row 1 text"/>
          <p:cNvSpPr txBox="1"/>
          <p:nvPr/>
        </p:nvSpPr>
        <p:spPr>
          <a:xfrm>
            <a:off x="1513332" y="7013448"/>
            <a:ext cx="3191256" cy="219456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Blocks</a:t>
            </a:r>
          </a:p>
          <a:p>
            <a:pPr algn="l">
              <a:spcAft>
                <a:spcPts val="700"/>
              </a:spcAft>
            </a:pPr>
            <a:r>
              <a:rPr sz="1700" b="0" i="0">
                <a:solidFill>
                  <a:srgbClr val="000000"/>
                </a:solidFill>
                <a:latin typeface="Helvetica Neue"/>
                <a:ea typeface="Helvetica Neue"/>
                <a:cs typeface="Helvetica Neue"/>
              </a:rPr>
              <a:t>Phishing sites, malware call-backs, newly registered domains</a:t>
            </a:r>
          </a:p>
        </p:txBody>
      </p:sp>
      <p:sp>
        <p:nvSpPr>
          <p:cNvPr id="17" name="PD row 2"/>
          <p:cNvSpPr/>
          <p:nvPr/>
        </p:nvSpPr>
        <p:spPr>
          <a:xfrm>
            <a:off x="5280659" y="6812280"/>
            <a:ext cx="3703320" cy="25603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8" name="PD row 2 text"/>
          <p:cNvSpPr txBox="1"/>
          <p:nvPr/>
        </p:nvSpPr>
        <p:spPr>
          <a:xfrm>
            <a:off x="5536692" y="7013448"/>
            <a:ext cx="3191256" cy="219456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Logs</a:t>
            </a:r>
          </a:p>
          <a:p>
            <a:pPr algn="l">
              <a:spcAft>
                <a:spcPts val="700"/>
              </a:spcAft>
            </a:pPr>
            <a:r>
              <a:rPr sz="1700" b="0" i="0">
                <a:solidFill>
                  <a:srgbClr val="000000"/>
                </a:solidFill>
                <a:latin typeface="Helvetica Neue"/>
                <a:ea typeface="Helvetica Neue"/>
                <a:cs typeface="Helvetica Neue"/>
              </a:rPr>
              <a:t>What staff and devices actually reach: shadow IT, incident evidence</a:t>
            </a:r>
          </a:p>
        </p:txBody>
      </p:sp>
      <p:sp>
        <p:nvSpPr>
          <p:cNvPr id="19" name="PD row 3"/>
          <p:cNvSpPr/>
          <p:nvPr/>
        </p:nvSpPr>
        <p:spPr>
          <a:xfrm>
            <a:off x="9304019" y="6812280"/>
            <a:ext cx="3703320" cy="25603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0" name="PD row 3 text"/>
          <p:cNvSpPr txBox="1"/>
          <p:nvPr/>
        </p:nvSpPr>
        <p:spPr>
          <a:xfrm>
            <a:off x="9560051" y="7013448"/>
            <a:ext cx="3191256" cy="219456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Bypassed by</a:t>
            </a:r>
          </a:p>
          <a:p>
            <a:pPr algn="l">
              <a:spcAft>
                <a:spcPts val="700"/>
              </a:spcAft>
            </a:pPr>
            <a:r>
              <a:rPr sz="1700" b="0" i="0">
                <a:solidFill>
                  <a:srgbClr val="000000"/>
                </a:solidFill>
                <a:latin typeface="Helvetica Neue"/>
                <a:ea typeface="Helvetica Neue"/>
                <a:cs typeface="Helvetica Neue"/>
              </a:rPr>
              <a:t>Laptops at home, phones on cellular, browsers using encrypted DNS</a:t>
            </a:r>
          </a:p>
        </p:txBody>
      </p:sp>
      <p:sp>
        <p:nvSpPr>
          <p:cNvPr id="21" name="PD row 4"/>
          <p:cNvSpPr/>
          <p:nvPr/>
        </p:nvSpPr>
        <p:spPr>
          <a:xfrm>
            <a:off x="13327380" y="6812280"/>
            <a:ext cx="3703320" cy="25603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2" name="PD row 4 text"/>
          <p:cNvSpPr txBox="1"/>
          <p:nvPr/>
        </p:nvSpPr>
        <p:spPr>
          <a:xfrm>
            <a:off x="13583411" y="7013448"/>
            <a:ext cx="3191256" cy="219456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Who provides it</a:t>
            </a:r>
          </a:p>
          <a:p>
            <a:pPr algn="l">
              <a:spcAft>
                <a:spcPts val="700"/>
              </a:spcAft>
            </a:pPr>
            <a:r>
              <a:rPr sz="1700" b="0" i="0">
                <a:solidFill>
                  <a:srgbClr val="000000"/>
                </a:solidFill>
                <a:latin typeface="Helvetica Neue"/>
                <a:ea typeface="Helvetica Neue"/>
                <a:cs typeface="Helvetica Neue"/>
              </a:rPr>
              <a:t>Usually the firewall vendor or MSSP</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Exercise 4: The Lookalike Domain</a:t>
            </a:r>
          </a:p>
        </p:txBody>
      </p:sp>
      <p:sp>
        <p:nvSpPr>
          <p:cNvPr id="3" name="Ex4 email"/>
          <p:cNvSpPr/>
          <p:nvPr/>
        </p:nvSpPr>
        <p:spPr>
          <a:xfrm>
            <a:off x="1257300" y="2697480"/>
            <a:ext cx="7680960" cy="3154680"/>
          </a:xfrm>
          <a:prstGeom prst="round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Ex4 email bar"/>
          <p:cNvSpPr/>
          <p:nvPr/>
        </p:nvSpPr>
        <p:spPr>
          <a:xfrm>
            <a:off x="1257300" y="2697480"/>
            <a:ext cx="7680960" cy="457200"/>
          </a:xfrm>
          <a:prstGeom prst="rect">
            <a:avLst/>
          </a:prstGeom>
          <a:solidFill>
            <a:srgbClr val="D9D9D9"/>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5" name="Ex4 email bar text"/>
          <p:cNvSpPr txBox="1"/>
          <p:nvPr/>
        </p:nvSpPr>
        <p:spPr>
          <a:xfrm>
            <a:off x="1508760" y="2724912"/>
            <a:ext cx="7132320" cy="411480"/>
          </a:xfrm>
          <a:prstGeom prst="rect">
            <a:avLst/>
          </a:prstGeom>
          <a:noFill/>
        </p:spPr>
        <p:txBody>
          <a:bodyPr wrap="square" lIns="0" tIns="0" rIns="0" bIns="0" anchor="ctr">
            <a:spAutoFit/>
          </a:bodyPr>
          <a:lstStyle/>
          <a:p>
            <a:pPr algn="l">
              <a:spcAft>
                <a:spcPts val="600"/>
              </a:spcAft>
            </a:pPr>
            <a:r>
              <a:rPr sz="1500" b="1" i="0">
                <a:solidFill>
                  <a:srgbClr val="000000"/>
                </a:solidFill>
                <a:latin typeface="Helvetica Neue"/>
                <a:ea typeface="Helvetica Neue"/>
                <a:cs typeface="Helvetica Neue"/>
              </a:rPr>
              <a:t>Monday, 9:12 a.m.</a:t>
            </a:r>
          </a:p>
        </p:txBody>
      </p:sp>
      <p:sp>
        <p:nvSpPr>
          <p:cNvPr id="6" name="Ex4 headers"/>
          <p:cNvSpPr txBox="1"/>
          <p:nvPr/>
        </p:nvSpPr>
        <p:spPr>
          <a:xfrm>
            <a:off x="1554480" y="3291840"/>
            <a:ext cx="7132320" cy="914400"/>
          </a:xfrm>
          <a:prstGeom prst="rect">
            <a:avLst/>
          </a:prstGeom>
          <a:noFill/>
        </p:spPr>
        <p:txBody>
          <a:bodyPr wrap="square" lIns="0" tIns="0" rIns="0" bIns="0" anchor="t">
            <a:spAutoFit/>
          </a:bodyPr>
          <a:lstStyle/>
          <a:p>
            <a:pPr algn="l">
              <a:spcAft>
                <a:spcPts val="100"/>
              </a:spcAft>
            </a:pPr>
            <a:r>
              <a:rPr sz="1500" b="0" i="0">
                <a:solidFill>
                  <a:srgbClr val="000000"/>
                </a:solidFill>
                <a:latin typeface="Menlo"/>
                <a:ea typeface="Menlo"/>
                <a:cs typeface="Menlo"/>
              </a:rPr>
              <a:t>From: Tom Reilly, CEO  &lt;ceo@examp1ebank.com&gt;</a:t>
            </a:r>
          </a:p>
          <a:p>
            <a:pPr algn="l">
              <a:spcAft>
                <a:spcPts val="100"/>
              </a:spcAft>
            </a:pPr>
            <a:r>
              <a:rPr sz="1500" b="0" i="0">
                <a:solidFill>
                  <a:srgbClr val="000000"/>
                </a:solidFill>
                <a:latin typeface="Menlo"/>
                <a:ea typeface="Menlo"/>
                <a:cs typeface="Menlo"/>
              </a:rPr>
              <a:t>To: CFO</a:t>
            </a:r>
          </a:p>
        </p:txBody>
      </p:sp>
      <p:sp>
        <p:nvSpPr>
          <p:cNvPr id="7" name="Ex4 body"/>
          <p:cNvSpPr txBox="1"/>
          <p:nvPr/>
        </p:nvSpPr>
        <p:spPr>
          <a:xfrm>
            <a:off x="1554480" y="4160520"/>
            <a:ext cx="7132320" cy="1645920"/>
          </a:xfrm>
          <a:prstGeom prst="rect">
            <a:avLst/>
          </a:prstGeom>
          <a:noFill/>
        </p:spPr>
        <p:txBody>
          <a:bodyPr wrap="square" lIns="0" tIns="0" rIns="0" bIns="0" anchor="t">
            <a:spAutoFit/>
          </a:bodyPr>
          <a:lstStyle/>
          <a:p>
            <a:pPr algn="l">
              <a:spcAft>
                <a:spcPts val="600"/>
              </a:spcAft>
            </a:pPr>
            <a:r>
              <a:rPr sz="1800" b="0" i="1">
                <a:solidFill>
                  <a:srgbClr val="000000"/>
                </a:solidFill>
                <a:latin typeface="Helvetica Neue"/>
                <a:ea typeface="Helvetica Neue"/>
                <a:cs typeface="Helvetica Neue"/>
              </a:rPr>
              <a:t>Need a wire of $48,000 to our new title company today. I'm traveling and can't talk. Instructions attached. Thanks, Tom</a:t>
            </a:r>
          </a:p>
        </p:txBody>
      </p:sp>
      <p:sp>
        <p:nvSpPr>
          <p:cNvPr id="8" name="Ex4 hint"/>
          <p:cNvSpPr txBox="1"/>
          <p:nvPr/>
        </p:nvSpPr>
        <p:spPr>
          <a:xfrm>
            <a:off x="1257300" y="5943600"/>
            <a:ext cx="7680960" cy="457200"/>
          </a:xfrm>
          <a:prstGeom prst="rect">
            <a:avLst/>
          </a:prstGeom>
          <a:noFill/>
        </p:spPr>
        <p:txBody>
          <a:bodyPr wrap="square" lIns="0" tIns="0" rIns="0" bIns="0" anchor="t">
            <a:spAutoFit/>
          </a:bodyPr>
          <a:lstStyle/>
          <a:p>
            <a:pPr algn="l">
              <a:spcAft>
                <a:spcPts val="600"/>
              </a:spcAft>
            </a:pPr>
            <a:r>
              <a:rPr sz="1700" b="1" i="0">
                <a:solidFill>
                  <a:srgbClr val="C00000"/>
                </a:solidFill>
                <a:latin typeface="Helvetica Neue"/>
                <a:ea typeface="Helvetica Neue"/>
                <a:cs typeface="Helvetica Neue"/>
              </a:rPr>
              <a:t>The real domain is examplebank.com.</a:t>
            </a:r>
          </a:p>
        </p:txBody>
      </p:sp>
      <p:sp>
        <p:nvSpPr>
          <p:cNvPr id="9" name="Ex4 num 1"/>
          <p:cNvSpPr/>
          <p:nvPr/>
        </p:nvSpPr>
        <p:spPr>
          <a:xfrm>
            <a:off x="9372600" y="2788920"/>
            <a:ext cx="594360" cy="59436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1</a:t>
            </a:r>
          </a:p>
        </p:txBody>
      </p:sp>
      <p:sp>
        <p:nvSpPr>
          <p:cNvPr id="10" name="Ex4 q 1"/>
          <p:cNvSpPr txBox="1"/>
          <p:nvPr/>
        </p:nvSpPr>
        <p:spPr>
          <a:xfrm>
            <a:off x="10195560" y="2697480"/>
            <a:ext cx="6835140" cy="1143000"/>
          </a:xfrm>
          <a:prstGeom prst="rect">
            <a:avLst/>
          </a:prstGeom>
          <a:noFill/>
        </p:spPr>
        <p:txBody>
          <a:bodyPr wrap="square" lIns="0" tIns="0" rIns="0" bIns="0" anchor="t">
            <a:spAutoFit/>
          </a:bodyPr>
          <a:lstStyle/>
          <a:p>
            <a:pPr algn="l">
              <a:spcAft>
                <a:spcPts val="100"/>
              </a:spcAft>
            </a:pPr>
            <a:r>
              <a:rPr sz="2000" b="1" i="0">
                <a:solidFill>
                  <a:srgbClr val="000000"/>
                </a:solidFill>
                <a:latin typeface="Helvetica Neue"/>
                <a:ea typeface="Helvetica Neue"/>
                <a:cs typeface="Helvetica Neue"/>
              </a:rPr>
              <a:t>Would SPF, DKIM or DMARC have stopped it?</a:t>
            </a:r>
          </a:p>
          <a:p>
            <a:pPr algn="l">
              <a:spcAft>
                <a:spcPts val="100"/>
              </a:spcAft>
            </a:pPr>
            <a:r>
              <a:rPr sz="1600" b="0" i="0">
                <a:solidFill>
                  <a:srgbClr val="404040"/>
                </a:solidFill>
                <a:latin typeface="Helvetica Neue"/>
                <a:ea typeface="Helvetica Neue"/>
                <a:cs typeface="Helvetica Neue"/>
              </a:rPr>
              <a:t>On the bank's real domain</a:t>
            </a:r>
          </a:p>
        </p:txBody>
      </p:sp>
      <p:sp>
        <p:nvSpPr>
          <p:cNvPr id="11" name="Ex4 num 2"/>
          <p:cNvSpPr/>
          <p:nvPr/>
        </p:nvSpPr>
        <p:spPr>
          <a:xfrm>
            <a:off x="9372600" y="3995928"/>
            <a:ext cx="594360" cy="59436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2</a:t>
            </a:r>
          </a:p>
        </p:txBody>
      </p:sp>
      <p:sp>
        <p:nvSpPr>
          <p:cNvPr id="12" name="Ex4 q 2"/>
          <p:cNvSpPr txBox="1"/>
          <p:nvPr/>
        </p:nvSpPr>
        <p:spPr>
          <a:xfrm>
            <a:off x="10195560" y="3904488"/>
            <a:ext cx="6835140" cy="1143000"/>
          </a:xfrm>
          <a:prstGeom prst="rect">
            <a:avLst/>
          </a:prstGeom>
          <a:noFill/>
        </p:spPr>
        <p:txBody>
          <a:bodyPr wrap="square" lIns="0" tIns="0" rIns="0" bIns="0" anchor="t">
            <a:spAutoFit/>
          </a:bodyPr>
          <a:lstStyle/>
          <a:p>
            <a:pPr algn="l">
              <a:spcAft>
                <a:spcPts val="100"/>
              </a:spcAft>
            </a:pPr>
            <a:r>
              <a:rPr sz="2000" b="1" i="0">
                <a:solidFill>
                  <a:srgbClr val="000000"/>
                </a:solidFill>
                <a:latin typeface="Helvetica Neue"/>
                <a:ea typeface="Helvetica Neue"/>
                <a:cs typeface="Helvetica Neue"/>
              </a:rPr>
              <a:t>What could have flagged it?</a:t>
            </a:r>
          </a:p>
          <a:p>
            <a:pPr algn="l">
              <a:spcAft>
                <a:spcPts val="100"/>
              </a:spcAft>
            </a:pPr>
            <a:r>
              <a:rPr sz="1600" b="0" i="0">
                <a:solidFill>
                  <a:srgbClr val="404040"/>
                </a:solidFill>
                <a:latin typeface="Helvetica Neue"/>
                <a:ea typeface="Helvetica Neue"/>
                <a:cs typeface="Helvetica Neue"/>
              </a:rPr>
              <a:t>Email, DNS and monitoring controls</a:t>
            </a:r>
          </a:p>
        </p:txBody>
      </p:sp>
      <p:sp>
        <p:nvSpPr>
          <p:cNvPr id="13" name="Ex4 num 3"/>
          <p:cNvSpPr/>
          <p:nvPr/>
        </p:nvSpPr>
        <p:spPr>
          <a:xfrm>
            <a:off x="9372600" y="5202936"/>
            <a:ext cx="594360" cy="59436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3</a:t>
            </a:r>
          </a:p>
        </p:txBody>
      </p:sp>
      <p:sp>
        <p:nvSpPr>
          <p:cNvPr id="14" name="Ex4 q 3"/>
          <p:cNvSpPr txBox="1"/>
          <p:nvPr/>
        </p:nvSpPr>
        <p:spPr>
          <a:xfrm>
            <a:off x="10195560" y="5111496"/>
            <a:ext cx="6835140" cy="1143000"/>
          </a:xfrm>
          <a:prstGeom prst="rect">
            <a:avLst/>
          </a:prstGeom>
          <a:noFill/>
        </p:spPr>
        <p:txBody>
          <a:bodyPr wrap="square" lIns="0" tIns="0" rIns="0" bIns="0" anchor="t">
            <a:spAutoFit/>
          </a:bodyPr>
          <a:lstStyle/>
          <a:p>
            <a:pPr algn="l">
              <a:spcAft>
                <a:spcPts val="100"/>
              </a:spcAft>
            </a:pPr>
            <a:r>
              <a:rPr sz="2000" b="1" i="0">
                <a:solidFill>
                  <a:srgbClr val="000000"/>
                </a:solidFill>
                <a:latin typeface="Helvetica Neue"/>
                <a:ea typeface="Helvetica Neue"/>
                <a:cs typeface="Helvetica Neue"/>
              </a:rPr>
              <a:t>What would stop the wire anyway?</a:t>
            </a:r>
          </a:p>
          <a:p>
            <a:pPr algn="l">
              <a:spcAft>
                <a:spcPts val="100"/>
              </a:spcAft>
            </a:pPr>
            <a:r>
              <a:rPr sz="1600" b="0" i="0">
                <a:solidFill>
                  <a:srgbClr val="404040"/>
                </a:solidFill>
                <a:latin typeface="Helvetica Neue"/>
                <a:ea typeface="Helvetica Neue"/>
                <a:cs typeface="Helvetica Neue"/>
              </a:rPr>
              <a:t>Process controls</a:t>
            </a:r>
          </a:p>
        </p:txBody>
      </p:sp>
      <p:sp>
        <p:nvSpPr>
          <p:cNvPr id="15" name="Ex4 num 4"/>
          <p:cNvSpPr/>
          <p:nvPr/>
        </p:nvSpPr>
        <p:spPr>
          <a:xfrm>
            <a:off x="9372600" y="6409944"/>
            <a:ext cx="594360" cy="59436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4</a:t>
            </a:r>
          </a:p>
        </p:txBody>
      </p:sp>
      <p:sp>
        <p:nvSpPr>
          <p:cNvPr id="16" name="Ex4 q 4"/>
          <p:cNvSpPr txBox="1"/>
          <p:nvPr/>
        </p:nvSpPr>
        <p:spPr>
          <a:xfrm>
            <a:off x="10195560" y="6318504"/>
            <a:ext cx="6835140" cy="1143000"/>
          </a:xfrm>
          <a:prstGeom prst="rect">
            <a:avLst/>
          </a:prstGeom>
          <a:noFill/>
        </p:spPr>
        <p:txBody>
          <a:bodyPr wrap="square" lIns="0" tIns="0" rIns="0" bIns="0" anchor="t">
            <a:spAutoFit/>
          </a:bodyPr>
          <a:lstStyle/>
          <a:p>
            <a:pPr algn="l">
              <a:spcAft>
                <a:spcPts val="100"/>
              </a:spcAft>
            </a:pPr>
            <a:r>
              <a:rPr sz="2000" b="1" i="0">
                <a:solidFill>
                  <a:srgbClr val="000000"/>
                </a:solidFill>
                <a:latin typeface="Helvetica Neue"/>
                <a:ea typeface="Helvetica Neue"/>
                <a:cs typeface="Helvetica Neue"/>
              </a:rPr>
              <a:t>If the wire already went out, who do you call first?</a:t>
            </a:r>
          </a:p>
          <a:p>
            <a:pPr algn="l">
              <a:spcAft>
                <a:spcPts val="100"/>
              </a:spcAft>
            </a:pPr>
            <a:r>
              <a:rPr sz="1600" b="0" i="0">
                <a:solidFill>
                  <a:srgbClr val="404040"/>
                </a:solidFill>
                <a:latin typeface="Helvetica Neue"/>
                <a:ea typeface="Helvetica Neue"/>
                <a:cs typeface="Helvetica Neue"/>
              </a:rPr>
              <a:t>In order</a:t>
            </a:r>
          </a:p>
        </p:txBody>
      </p:sp>
      <p:sp>
        <p:nvSpPr>
          <p:cNvPr id="17" name="Ex4 time"/>
          <p:cNvSpPr/>
          <p:nvPr/>
        </p:nvSpPr>
        <p:spPr>
          <a:xfrm>
            <a:off x="1257300" y="6766560"/>
            <a:ext cx="7680960" cy="26060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8" name="Ex4 time text"/>
          <p:cNvSpPr txBox="1"/>
          <p:nvPr/>
        </p:nvSpPr>
        <p:spPr>
          <a:xfrm>
            <a:off x="1554480" y="6903720"/>
            <a:ext cx="7132320" cy="2377440"/>
          </a:xfrm>
          <a:prstGeom prst="rect">
            <a:avLst/>
          </a:prstGeom>
          <a:noFill/>
        </p:spPr>
        <p:txBody>
          <a:bodyPr wrap="square" lIns="0" tIns="0" rIns="0" bIns="0" anchor="t">
            <a:spAutoFit/>
          </a:bodyPr>
          <a:lstStyle/>
          <a:p>
            <a:pPr algn="l">
              <a:spcAft>
                <a:spcPts val="500"/>
              </a:spcAft>
            </a:pPr>
            <a:r>
              <a:rPr sz="2400" b="1" i="0">
                <a:solidFill>
                  <a:srgbClr val="000000"/>
                </a:solidFill>
                <a:latin typeface="Helvetica Neue"/>
                <a:ea typeface="Helvetica Neue"/>
                <a:cs typeface="Helvetica Neue"/>
              </a:rPr>
              <a:t>About 30 minutes</a:t>
            </a:r>
          </a:p>
          <a:p>
            <a:pPr algn="l">
              <a:spcAft>
                <a:spcPts val="500"/>
              </a:spcAft>
            </a:pPr>
            <a:r>
              <a:rPr sz="1800" b="0" i="0">
                <a:solidFill>
                  <a:srgbClr val="404040"/>
                </a:solidFill>
                <a:latin typeface="Helvetica Neue"/>
                <a:ea typeface="Helvetica Neue"/>
                <a:cs typeface="Helvetica Neue"/>
              </a:rPr>
              <a:t>20 at tables, 10 report-out</a:t>
            </a:r>
          </a:p>
          <a:p>
            <a:pPr algn="l">
              <a:spcAft>
                <a:spcPts val="500"/>
              </a:spcAft>
            </a:pPr>
            <a:r>
              <a:rPr sz="1800" b="0" i="0">
                <a:solidFill>
                  <a:srgbClr val="404040"/>
                </a:solidFill>
                <a:latin typeface="Helvetica Neue"/>
                <a:ea typeface="Helvetica Neue"/>
                <a:cs typeface="Helvetica Neue"/>
              </a:rPr>
              <a:t>No diagram needed for this one</a:t>
            </a:r>
          </a:p>
        </p:txBody>
      </p:sp>
      <p:sp>
        <p:nvSpPr>
          <p:cNvPr id="19" name="Ex4 out"/>
          <p:cNvSpPr/>
          <p:nvPr/>
        </p:nvSpPr>
        <p:spPr>
          <a:xfrm>
            <a:off x="9349740" y="7635240"/>
            <a:ext cx="7680960" cy="173736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0" name="Ex4 out text"/>
          <p:cNvSpPr txBox="1"/>
          <p:nvPr/>
        </p:nvSpPr>
        <p:spPr>
          <a:xfrm>
            <a:off x="9646920" y="7726679"/>
            <a:ext cx="7132320" cy="1554480"/>
          </a:xfrm>
          <a:prstGeom prst="rect">
            <a:avLst/>
          </a:prstGeom>
          <a:noFill/>
        </p:spPr>
        <p:txBody>
          <a:bodyPr wrap="square" lIns="0" tIns="0" rIns="0" bIns="0" anchor="t">
            <a:spAutoFit/>
          </a:bodyPr>
          <a:lstStyle/>
          <a:p>
            <a:pPr algn="l">
              <a:spcAft>
                <a:spcPts val="400"/>
              </a:spcAft>
            </a:pPr>
            <a:r>
              <a:rPr sz="2200" b="1" i="0">
                <a:solidFill>
                  <a:srgbClr val="000000"/>
                </a:solidFill>
                <a:latin typeface="Helvetica Neue"/>
                <a:ea typeface="Helvetica Neue"/>
                <a:cs typeface="Helvetica Neue"/>
              </a:rPr>
              <a:t>Report out</a:t>
            </a:r>
          </a:p>
          <a:p>
            <a:pPr algn="l">
              <a:spcAft>
                <a:spcPts val="400"/>
              </a:spcAft>
            </a:pPr>
            <a:r>
              <a:rPr sz="1800" b="0" i="0">
                <a:solidFill>
                  <a:srgbClr val="000000"/>
                </a:solidFill>
                <a:latin typeface="Helvetica Neue"/>
                <a:ea typeface="Helvetica Neue"/>
                <a:cs typeface="Helvetica Neue"/>
              </a:rPr>
              <a:t>Your answer to question 4, and the one control you'd add first</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Chapter 27: Voice</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3027" name="Rectangle 3"/>
          <p:cNvSpPr>
            <a:spLocks noGrp="1" noChangeArrowheads="1"/>
          </p:cNvSpPr>
          <p:nvPr>
            <p:ph type="title"/>
          </p:nvPr>
        </p:nvSpPr>
        <p:spPr/>
        <p:txBody>
          <a:bodyPr/>
          <a:lstStyle/>
          <a:p>
            <a:r>
              <a:rPr lang="en-US"/>
              <a:t>Thoughts on Telephony </a:t>
            </a:r>
          </a:p>
        </p:txBody>
      </p:sp>
      <p:sp>
        <p:nvSpPr>
          <p:cNvPr id="1153028" name="Rectangle 4"/>
          <p:cNvSpPr>
            <a:spLocks noGrp="1" noChangeArrowheads="1"/>
          </p:cNvSpPr>
          <p:nvPr>
            <p:ph idx="1"/>
          </p:nvPr>
        </p:nvSpPr>
        <p:spPr>
          <a:xfrm>
            <a:off x="1257300" y="2193130"/>
            <a:ext cx="15773400" cy="7341395"/>
          </a:xfrm>
        </p:spPr>
        <p:txBody>
          <a:bodyPr>
            <a:normAutofit lnSpcReduction="10000"/>
          </a:bodyPr>
          <a:lstStyle/>
          <a:p>
            <a:r>
              <a:rPr lang="en-US"/>
              <a:t>It changed the world</a:t>
            </a:r>
          </a:p>
          <a:p>
            <a:r>
              <a:rPr lang="en-US"/>
              <a:t>Ability to talk in real time over long distances changed society</a:t>
            </a:r>
          </a:p>
          <a:p>
            <a:pPr lvl="1"/>
            <a:r>
              <a:rPr lang="en-US"/>
              <a:t>News could be learned in real time</a:t>
            </a:r>
          </a:p>
          <a:p>
            <a:pPr lvl="1"/>
            <a:r>
              <a:rPr lang="en-US"/>
              <a:t>Commerce could be conducted quickly</a:t>
            </a:r>
          </a:p>
          <a:p>
            <a:pPr lvl="1"/>
            <a:r>
              <a:rPr lang="en-US"/>
              <a:t>Relationships made and maintained</a:t>
            </a:r>
          </a:p>
          <a:p>
            <a:r>
              <a:rPr lang="en-US"/>
              <a:t>Spurred technology innovation</a:t>
            </a:r>
          </a:p>
          <a:p>
            <a:pPr lvl="1"/>
            <a:r>
              <a:rPr lang="en-US"/>
              <a:t>AT&amp;T Bell Labs was a global leader in invention and development</a:t>
            </a:r>
          </a:p>
          <a:p>
            <a:pPr lvl="1"/>
            <a:r>
              <a:rPr lang="en-US"/>
              <a:t>AT&amp;T competition was equally inventive</a:t>
            </a:r>
          </a:p>
          <a:p>
            <a:r>
              <a:rPr lang="en-US"/>
              <a:t>Was the home of tech giants in its heyday </a:t>
            </a:r>
          </a:p>
          <a:p>
            <a:r>
              <a:rPr lang="en-US"/>
              <a:t>Telephone networks were used to connect computers</a:t>
            </a:r>
          </a:p>
          <a:p>
            <a:r>
              <a:rPr lang="en-US"/>
              <a:t>Now relegated to being an application in a world of data</a:t>
            </a:r>
          </a:p>
          <a:p>
            <a:pPr lvl="1"/>
            <a:endParaRPr lang="en-US"/>
          </a:p>
        </p:txBody>
      </p:sp>
      <p:sp>
        <p:nvSpPr>
          <p:cNvPr id="5" name="Slide Number Placeholder 4"/>
          <p:cNvSpPr>
            <a:spLocks noGrp="1"/>
          </p:cNvSpPr>
          <p:nvPr>
            <p:ph type="sldNum" sz="quarter" idx="10"/>
          </p:nvPr>
        </p:nvSpPr>
        <p:spPr>
          <a:prstGeom prst="rect">
            <a:avLst/>
          </a:prstGeom>
        </p:spPr>
        <p:txBody>
          <a:bodyPr/>
          <a:lstStyle/>
          <a:p>
            <a:fld id="{76E8DCF4-EBDD-4FE1-8465-FD383573D554}" type="slidenum">
              <a:rPr lang="en-US" smtClean="0"/>
              <a:pPr/>
              <a:t>213</a:t>
            </a:fld>
            <a:endParaRPr lang="en-US"/>
          </a:p>
        </p:txBody>
      </p:sp>
    </p:spTree>
    <p:custDataLst>
      <p:tags r:id="rId1"/>
    </p:custDataLst>
    <p:extLst>
      <p:ext uri="{BB962C8B-B14F-4D97-AF65-F5344CB8AC3E}">
        <p14:creationId xmlns:p14="http://schemas.microsoft.com/office/powerpoint/2010/main" val="881655648"/>
      </p:ext>
    </p:extLst>
  </p:cSld>
  <p:clrMapOvr>
    <a:masterClrMapping/>
  </p:clrMapOvr>
  <p:transition/>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C160D4D6-6583-2845-C6BB-1C33BA6111ED}"/>
              </a:ext>
            </a:extLst>
          </p:cNvPr>
          <p:cNvPicPr>
            <a:picLocks noChangeAspect="1"/>
          </p:cNvPicPr>
          <p:nvPr/>
        </p:nvPicPr>
        <p:blipFill>
          <a:blip r:embed="rId3"/>
          <a:stretch>
            <a:fillRect/>
          </a:stretch>
        </p:blipFill>
        <p:spPr>
          <a:xfrm>
            <a:off x="947594" y="2106383"/>
            <a:ext cx="16392811" cy="7168263"/>
          </a:xfrm>
          <a:prstGeom prst="rect">
            <a:avLst/>
          </a:prstGeom>
        </p:spPr>
      </p:pic>
      <p:sp>
        <p:nvSpPr>
          <p:cNvPr id="2" name="Title 1">
            <a:extLst>
              <a:ext uri="{FF2B5EF4-FFF2-40B4-BE49-F238E27FC236}">
                <a16:creationId xmlns:a16="http://schemas.microsoft.com/office/drawing/2014/main" id="{CB99D675-7148-E3AD-9539-3CE36804CF99}"/>
              </a:ext>
            </a:extLst>
          </p:cNvPr>
          <p:cNvSpPr>
            <a:spLocks noGrp="1"/>
          </p:cNvSpPr>
          <p:nvPr>
            <p:ph type="title"/>
          </p:nvPr>
        </p:nvSpPr>
        <p:spPr>
          <a:xfrm>
            <a:off x="1095010" y="319482"/>
            <a:ext cx="15773400" cy="1988345"/>
          </a:xfrm>
        </p:spPr>
        <p:txBody>
          <a:bodyPr/>
          <a:lstStyle/>
          <a:p>
            <a:r>
              <a:rPr lang="en-US" b="1">
                <a:latin typeface="Helvetica Neue" panose="02000503000000020004" pitchFamily="2" charset="0"/>
                <a:ea typeface="Helvetica Neue" panose="02000503000000020004" pitchFamily="2" charset="0"/>
                <a:cs typeface="Helvetica Neue" panose="02000503000000020004" pitchFamily="2" charset="0"/>
              </a:rPr>
              <a:t>Telephone Network Elements</a:t>
            </a:r>
          </a:p>
        </p:txBody>
      </p:sp>
      <p:sp>
        <p:nvSpPr>
          <p:cNvPr id="3" name="Slide Number Placeholder 2">
            <a:extLst>
              <a:ext uri="{FF2B5EF4-FFF2-40B4-BE49-F238E27FC236}">
                <a16:creationId xmlns:a16="http://schemas.microsoft.com/office/drawing/2014/main" id="{38DA9DAB-2834-544F-8CC3-9FB5181D0437}"/>
              </a:ext>
            </a:extLst>
          </p:cNvPr>
          <p:cNvSpPr>
            <a:spLocks noGrp="1"/>
          </p:cNvSpPr>
          <p:nvPr>
            <p:ph type="sldNum" sz="quarter" idx="12"/>
          </p:nvPr>
        </p:nvSpPr>
        <p:spPr/>
        <p:txBody>
          <a:bodyPr/>
          <a:lstStyle/>
          <a:p>
            <a:fld id="{E12D0507-9F86-7A45-BE8E-43760B9F92AA}" type="slidenum">
              <a:rPr lang="en-US" smtClean="0"/>
              <a:pPr/>
              <a:t>214</a:t>
            </a:fld>
            <a:endParaRPr lang="en-US"/>
          </a:p>
        </p:txBody>
      </p:sp>
      <p:grpSp>
        <p:nvGrpSpPr>
          <p:cNvPr id="11" name="Group 10">
            <a:extLst>
              <a:ext uri="{FF2B5EF4-FFF2-40B4-BE49-F238E27FC236}">
                <a16:creationId xmlns:a16="http://schemas.microsoft.com/office/drawing/2014/main" id="{1B168E23-110B-55B1-2B37-CE521FB68AC2}"/>
              </a:ext>
            </a:extLst>
          </p:cNvPr>
          <p:cNvGrpSpPr/>
          <p:nvPr/>
        </p:nvGrpSpPr>
        <p:grpSpPr>
          <a:xfrm>
            <a:off x="7789762" y="3955416"/>
            <a:ext cx="3565006" cy="1065701"/>
            <a:chOff x="7675255" y="4610077"/>
            <a:chExt cx="3919448" cy="1065701"/>
          </a:xfrm>
        </p:grpSpPr>
        <p:sp>
          <p:nvSpPr>
            <p:cNvPr id="5" name="Rectangle 4">
              <a:extLst>
                <a:ext uri="{FF2B5EF4-FFF2-40B4-BE49-F238E27FC236}">
                  <a16:creationId xmlns:a16="http://schemas.microsoft.com/office/drawing/2014/main" id="{1F30F5F7-DC0B-7F77-370B-2653DBCA3BDF}"/>
                </a:ext>
              </a:extLst>
            </p:cNvPr>
            <p:cNvSpPr/>
            <p:nvPr/>
          </p:nvSpPr>
          <p:spPr>
            <a:xfrm>
              <a:off x="7675255" y="5440102"/>
              <a:ext cx="3919448" cy="235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C16DE33-DAC8-67B0-7798-DE14EBB69B75}"/>
                </a:ext>
              </a:extLst>
            </p:cNvPr>
            <p:cNvSpPr txBox="1"/>
            <p:nvPr/>
          </p:nvSpPr>
          <p:spPr>
            <a:xfrm>
              <a:off x="8868330" y="4610077"/>
              <a:ext cx="1271887" cy="646331"/>
            </a:xfrm>
            <a:prstGeom prst="rect">
              <a:avLst/>
            </a:prstGeom>
            <a:noFill/>
          </p:spPr>
          <p:txBody>
            <a:bodyPr wrap="none" rtlCol="0">
              <a:spAutoFit/>
            </a:bodyPr>
            <a:lstStyle/>
            <a:p>
              <a:r>
                <a:rPr lang="en-US" sz="3600" b="1"/>
                <a:t>Trunk</a:t>
              </a:r>
            </a:p>
          </p:txBody>
        </p:sp>
      </p:grpSp>
    </p:spTree>
    <p:extLst>
      <p:ext uri="{BB962C8B-B14F-4D97-AF65-F5344CB8AC3E}">
        <p14:creationId xmlns:p14="http://schemas.microsoft.com/office/powerpoint/2010/main" val="1109577523"/>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9" name="Rectangle 2"/>
          <p:cNvSpPr>
            <a:spLocks noGrp="1" noChangeArrowheads="1"/>
          </p:cNvSpPr>
          <p:nvPr>
            <p:ph type="title"/>
          </p:nvPr>
        </p:nvSpPr>
        <p:spPr/>
        <p:txBody>
          <a:bodyPr/>
          <a:lstStyle/>
          <a:p>
            <a:r>
              <a:rPr lang="en-US"/>
              <a:t>Private Branch Exchange</a:t>
            </a:r>
          </a:p>
        </p:txBody>
      </p:sp>
      <p:sp>
        <p:nvSpPr>
          <p:cNvPr id="54280" name="Rectangle 3"/>
          <p:cNvSpPr>
            <a:spLocks noGrp="1" noChangeArrowheads="1"/>
          </p:cNvSpPr>
          <p:nvPr>
            <p:ph idx="1"/>
          </p:nvPr>
        </p:nvSpPr>
        <p:spPr/>
        <p:txBody>
          <a:bodyPr>
            <a:normAutofit/>
          </a:bodyPr>
          <a:lstStyle/>
          <a:p>
            <a:r>
              <a:rPr lang="en-US"/>
              <a:t>PBX places telephone switch on business site</a:t>
            </a:r>
          </a:p>
          <a:p>
            <a:pPr lvl="1"/>
            <a:r>
              <a:rPr lang="en-US" err="1"/>
              <a:t>CapEx</a:t>
            </a:r>
            <a:r>
              <a:rPr lang="en-US"/>
              <a:t> reduces </a:t>
            </a:r>
            <a:r>
              <a:rPr lang="en-US" err="1"/>
              <a:t>OpEx</a:t>
            </a:r>
            <a:endParaRPr lang="en-US"/>
          </a:p>
          <a:p>
            <a:r>
              <a:rPr lang="en-US"/>
              <a:t>Phones connect to switch using premises wiring</a:t>
            </a:r>
          </a:p>
          <a:p>
            <a:r>
              <a:rPr lang="en-US"/>
              <a:t>Switch connects to the PSTN using a trunk</a:t>
            </a:r>
          </a:p>
          <a:p>
            <a:r>
              <a:rPr lang="en-US"/>
              <a:t>Offered lots of features</a:t>
            </a:r>
          </a:p>
          <a:p>
            <a:r>
              <a:rPr lang="en-US"/>
              <a:t>Very popular 1980s to early 2000s</a:t>
            </a:r>
          </a:p>
          <a:p>
            <a:r>
              <a:rPr lang="en-US"/>
              <a:t>Many business have migrated to </a:t>
            </a:r>
            <a:r>
              <a:rPr lang="en-US" i="1"/>
              <a:t>hosted</a:t>
            </a:r>
            <a:r>
              <a:rPr lang="en-US"/>
              <a:t> solutions</a:t>
            </a:r>
          </a:p>
          <a:p>
            <a:endParaRPr lang="en-US"/>
          </a:p>
          <a:p>
            <a:endParaRPr lang="en-US"/>
          </a:p>
          <a:p>
            <a:endParaRPr lang="en-US"/>
          </a:p>
          <a:p>
            <a:endParaRPr lang="en-US"/>
          </a:p>
        </p:txBody>
      </p:sp>
      <p:sp>
        <p:nvSpPr>
          <p:cNvPr id="16" name="Slide Number Placeholder 15"/>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215</a:t>
            </a:fld>
            <a:endParaRPr lang="en-US">
              <a:solidFill>
                <a:schemeClr val="tx1">
                  <a:lumMod val="50000"/>
                  <a:lumOff val="50000"/>
                </a:schemeClr>
              </a:solidFill>
            </a:endParaRPr>
          </a:p>
        </p:txBody>
      </p:sp>
      <p:pic>
        <p:nvPicPr>
          <p:cNvPr id="3" name="Graphic 2" descr="Building with solid fill">
            <a:extLst>
              <a:ext uri="{FF2B5EF4-FFF2-40B4-BE49-F238E27FC236}">
                <a16:creationId xmlns:a16="http://schemas.microsoft.com/office/drawing/2014/main" id="{8B07436E-D6B0-3B3F-BC8A-284A2A4B50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802810" y="4605277"/>
            <a:ext cx="3578024" cy="3578024"/>
          </a:xfrm>
          <a:prstGeom prst="rect">
            <a:avLst/>
          </a:prstGeom>
        </p:spPr>
      </p:pic>
    </p:spTree>
    <p:custDataLst>
      <p:tags r:id="rId1"/>
    </p:custDataLst>
    <p:extLst>
      <p:ext uri="{BB962C8B-B14F-4D97-AF65-F5344CB8AC3E}">
        <p14:creationId xmlns:p14="http://schemas.microsoft.com/office/powerpoint/2010/main" val="3111310747"/>
      </p:ext>
    </p:extLst>
  </p:cSld>
  <p:clrMapOvr>
    <a:masterClrMapping/>
  </p:clrMapOvr>
  <p:transition/>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Key Systems: The Small-Office Phone System</a:t>
            </a:r>
          </a:p>
        </p:txBody>
      </p:sp>
      <p:sp>
        <p:nvSpPr>
          <p:cNvPr id="3" name="KS carrier"/>
          <p:cNvSpPr/>
          <p:nvPr/>
        </p:nvSpPr>
        <p:spPr>
          <a:xfrm>
            <a:off x="1257300" y="3108960"/>
            <a:ext cx="2560320" cy="23774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4" name="KS carrier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25979" y="3337559"/>
            <a:ext cx="822960" cy="822960"/>
          </a:xfrm>
          <a:prstGeom prst="rect">
            <a:avLst/>
          </a:prstGeom>
        </p:spPr>
      </p:pic>
      <p:sp>
        <p:nvSpPr>
          <p:cNvPr id="5" name="KS carrier text"/>
          <p:cNvSpPr txBox="1"/>
          <p:nvPr/>
        </p:nvSpPr>
        <p:spPr>
          <a:xfrm>
            <a:off x="1371600" y="4297680"/>
            <a:ext cx="2331720" cy="1097280"/>
          </a:xfrm>
          <a:prstGeom prst="rect">
            <a:avLst/>
          </a:prstGeom>
          <a:noFill/>
        </p:spPr>
        <p:txBody>
          <a:bodyPr wrap="square" lIns="0" tIns="0" rIns="0" bIns="0" anchor="t">
            <a:spAutoFit/>
          </a:bodyPr>
          <a:lstStyle/>
          <a:p>
            <a:pPr algn="ctr">
              <a:spcAft>
                <a:spcPts val="100"/>
              </a:spcAft>
            </a:pPr>
            <a:r>
              <a:rPr sz="1800" b="1" i="0">
                <a:solidFill>
                  <a:srgbClr val="000000"/>
                </a:solidFill>
                <a:latin typeface="Helvetica Neue"/>
                <a:ea typeface="Helvetica Neue"/>
                <a:cs typeface="Helvetica Neue"/>
              </a:rPr>
              <a:t>Carrier</a:t>
            </a:r>
          </a:p>
          <a:p>
            <a:pPr algn="ctr">
              <a:spcAft>
                <a:spcPts val="100"/>
              </a:spcAft>
            </a:pPr>
            <a:r>
              <a:rPr sz="1500" b="0" i="0">
                <a:solidFill>
                  <a:srgbClr val="404040"/>
                </a:solidFill>
                <a:latin typeface="Helvetica Neue"/>
                <a:ea typeface="Helvetica Neue"/>
                <a:cs typeface="Helvetica Neue"/>
              </a:rPr>
              <a:t>copper lines</a:t>
            </a:r>
          </a:p>
        </p:txBody>
      </p:sp>
      <p:cxnSp>
        <p:nvCxnSpPr>
          <p:cNvPr id="6" name="KS line 1"/>
          <p:cNvCxnSpPr/>
          <p:nvPr/>
        </p:nvCxnSpPr>
        <p:spPr>
          <a:xfrm>
            <a:off x="3840480" y="3840480"/>
            <a:ext cx="1737360" cy="0"/>
          </a:xfrm>
          <a:prstGeom prst="line">
            <a:avLst/>
          </a:prstGeom>
          <a:ln w="38100">
            <a:solidFill>
              <a:srgbClr val="8B5A2B"/>
            </a:solidFill>
          </a:ln>
        </p:spPr>
        <p:style>
          <a:lnRef idx="2">
            <a:schemeClr val="accent1"/>
          </a:lnRef>
          <a:fillRef idx="0">
            <a:schemeClr val="accent1"/>
          </a:fillRef>
          <a:effectRef idx="1">
            <a:schemeClr val="accent1"/>
          </a:effectRef>
          <a:fontRef idx="minor">
            <a:schemeClr val="tx1"/>
          </a:fontRef>
        </p:style>
      </p:cxnSp>
      <p:cxnSp>
        <p:nvCxnSpPr>
          <p:cNvPr id="7" name="KS line 2"/>
          <p:cNvCxnSpPr/>
          <p:nvPr/>
        </p:nvCxnSpPr>
        <p:spPr>
          <a:xfrm>
            <a:off x="3840480" y="4206240"/>
            <a:ext cx="1737360" cy="0"/>
          </a:xfrm>
          <a:prstGeom prst="line">
            <a:avLst/>
          </a:prstGeom>
          <a:ln w="38100">
            <a:solidFill>
              <a:srgbClr val="8B5A2B"/>
            </a:solidFill>
          </a:ln>
        </p:spPr>
        <p:style>
          <a:lnRef idx="2">
            <a:schemeClr val="accent1"/>
          </a:lnRef>
          <a:fillRef idx="0">
            <a:schemeClr val="accent1"/>
          </a:fillRef>
          <a:effectRef idx="1">
            <a:schemeClr val="accent1"/>
          </a:effectRef>
          <a:fontRef idx="minor">
            <a:schemeClr val="tx1"/>
          </a:fontRef>
        </p:style>
      </p:cxnSp>
      <p:cxnSp>
        <p:nvCxnSpPr>
          <p:cNvPr id="8" name="KS line 3"/>
          <p:cNvCxnSpPr/>
          <p:nvPr/>
        </p:nvCxnSpPr>
        <p:spPr>
          <a:xfrm>
            <a:off x="3840480" y="4572000"/>
            <a:ext cx="1737360" cy="0"/>
          </a:xfrm>
          <a:prstGeom prst="line">
            <a:avLst/>
          </a:prstGeom>
          <a:ln w="38100">
            <a:solidFill>
              <a:srgbClr val="8B5A2B"/>
            </a:solidFill>
          </a:ln>
        </p:spPr>
        <p:style>
          <a:lnRef idx="2">
            <a:schemeClr val="accent1"/>
          </a:lnRef>
          <a:fillRef idx="0">
            <a:schemeClr val="accent1"/>
          </a:fillRef>
          <a:effectRef idx="1">
            <a:schemeClr val="accent1"/>
          </a:effectRef>
          <a:fontRef idx="minor">
            <a:schemeClr val="tx1"/>
          </a:fontRef>
        </p:style>
      </p:cxnSp>
      <p:sp>
        <p:nvSpPr>
          <p:cNvPr id="9" name="KS lines label"/>
          <p:cNvSpPr txBox="1"/>
          <p:nvPr/>
        </p:nvSpPr>
        <p:spPr>
          <a:xfrm>
            <a:off x="3840480" y="3108960"/>
            <a:ext cx="1737360" cy="457200"/>
          </a:xfrm>
          <a:prstGeom prst="rect">
            <a:avLst/>
          </a:prstGeom>
          <a:noFill/>
        </p:spPr>
        <p:txBody>
          <a:bodyPr wrap="square" lIns="0" tIns="0" rIns="0" bIns="0" anchor="t">
            <a:spAutoFit/>
          </a:bodyPr>
          <a:lstStyle/>
          <a:p>
            <a:pPr algn="ctr">
              <a:spcAft>
                <a:spcPts val="600"/>
              </a:spcAft>
            </a:pPr>
            <a:r>
              <a:rPr sz="1500" b="1" i="0">
                <a:solidFill>
                  <a:srgbClr val="8B5A2B"/>
                </a:solidFill>
                <a:latin typeface="Helvetica Neue"/>
                <a:ea typeface="Helvetica Neue"/>
                <a:cs typeface="Helvetica Neue"/>
              </a:rPr>
              <a:t>3 lines</a:t>
            </a:r>
          </a:p>
        </p:txBody>
      </p:sp>
      <p:sp>
        <p:nvSpPr>
          <p:cNvPr id="10" name="KSU"/>
          <p:cNvSpPr/>
          <p:nvPr/>
        </p:nvSpPr>
        <p:spPr>
          <a:xfrm>
            <a:off x="5577840" y="3291840"/>
            <a:ext cx="2011680" cy="2011680"/>
          </a:xfrm>
          <a:prstGeom prst="rect">
            <a:avLst/>
          </a:prstGeom>
          <a:solidFill>
            <a:srgbClr val="EEF2F8"/>
          </a:solidFill>
          <a:ln w="2540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1" name="KSU text"/>
          <p:cNvSpPr txBox="1"/>
          <p:nvPr/>
        </p:nvSpPr>
        <p:spPr>
          <a:xfrm>
            <a:off x="5623560" y="3337560"/>
            <a:ext cx="1920240" cy="1920240"/>
          </a:xfrm>
          <a:prstGeom prst="rect">
            <a:avLst/>
          </a:prstGeom>
          <a:noFill/>
        </p:spPr>
        <p:txBody>
          <a:bodyPr wrap="square" lIns="0" tIns="0" rIns="0" bIns="0" anchor="ctr">
            <a:spAutoFit/>
          </a:bodyPr>
          <a:lstStyle/>
          <a:p>
            <a:pPr algn="ctr">
              <a:spcAft>
                <a:spcPts val="100"/>
              </a:spcAft>
            </a:pPr>
            <a:r>
              <a:rPr sz="1700" b="1" i="0">
                <a:solidFill>
                  <a:srgbClr val="2F75B5"/>
                </a:solidFill>
                <a:latin typeface="Helvetica Neue"/>
                <a:ea typeface="Helvetica Neue"/>
                <a:cs typeface="Helvetica Neue"/>
              </a:rPr>
              <a:t>Key system unit</a:t>
            </a:r>
          </a:p>
          <a:p>
            <a:pPr algn="ctr">
              <a:spcAft>
                <a:spcPts val="100"/>
              </a:spcAft>
            </a:pPr>
            <a:r>
              <a:rPr sz="1400" b="0" i="0">
                <a:solidFill>
                  <a:srgbClr val="000000"/>
                </a:solidFill>
                <a:latin typeface="Helvetica Neue"/>
                <a:ea typeface="Helvetica Neue"/>
                <a:cs typeface="Helvetica Neue"/>
              </a:rPr>
              <a:t>in the closet</a:t>
            </a:r>
          </a:p>
        </p:txBody>
      </p:sp>
      <p:cxnSp>
        <p:nvCxnSpPr>
          <p:cNvPr id="12" name="KS ext 1"/>
          <p:cNvCxnSpPr/>
          <p:nvPr/>
        </p:nvCxnSpPr>
        <p:spPr>
          <a:xfrm flipV="1">
            <a:off x="7589520" y="3063240"/>
            <a:ext cx="1188720" cy="123444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pic>
        <p:nvPicPr>
          <p:cNvPr id="13" name="KS phone 1"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69680" y="2788920"/>
            <a:ext cx="548640" cy="548640"/>
          </a:xfrm>
          <a:prstGeom prst="rect">
            <a:avLst/>
          </a:prstGeom>
        </p:spPr>
      </p:pic>
      <p:sp>
        <p:nvSpPr>
          <p:cNvPr id="14" name="KS btn 1-1"/>
          <p:cNvSpPr/>
          <p:nvPr/>
        </p:nvSpPr>
        <p:spPr>
          <a:xfrm>
            <a:off x="9601200" y="2880360"/>
            <a:ext cx="411480" cy="365760"/>
          </a:xfrm>
          <a:prstGeom prst="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0" i="0">
                <a:solidFill>
                  <a:srgbClr val="000000"/>
                </a:solidFill>
                <a:latin typeface="Helvetica Neue"/>
                <a:ea typeface="Helvetica Neue"/>
                <a:cs typeface="Helvetica Neue"/>
              </a:rPr>
              <a:t>L1</a:t>
            </a:r>
          </a:p>
        </p:txBody>
      </p:sp>
      <p:sp>
        <p:nvSpPr>
          <p:cNvPr id="15" name="KS btn 1-2"/>
          <p:cNvSpPr/>
          <p:nvPr/>
        </p:nvSpPr>
        <p:spPr>
          <a:xfrm>
            <a:off x="10104120" y="2880360"/>
            <a:ext cx="411480" cy="365760"/>
          </a:xfrm>
          <a:prstGeom prst="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0" i="0">
                <a:solidFill>
                  <a:srgbClr val="000000"/>
                </a:solidFill>
                <a:latin typeface="Helvetica Neue"/>
                <a:ea typeface="Helvetica Neue"/>
                <a:cs typeface="Helvetica Neue"/>
              </a:rPr>
              <a:t>L2</a:t>
            </a:r>
          </a:p>
        </p:txBody>
      </p:sp>
      <p:sp>
        <p:nvSpPr>
          <p:cNvPr id="16" name="KS btn 1-3"/>
          <p:cNvSpPr/>
          <p:nvPr/>
        </p:nvSpPr>
        <p:spPr>
          <a:xfrm>
            <a:off x="10607040" y="2880360"/>
            <a:ext cx="411480" cy="365760"/>
          </a:xfrm>
          <a:prstGeom prst="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0" i="0">
                <a:solidFill>
                  <a:srgbClr val="000000"/>
                </a:solidFill>
                <a:latin typeface="Helvetica Neue"/>
                <a:ea typeface="Helvetica Neue"/>
                <a:cs typeface="Helvetica Neue"/>
              </a:rPr>
              <a:t>L3</a:t>
            </a:r>
          </a:p>
        </p:txBody>
      </p:sp>
      <p:cxnSp>
        <p:nvCxnSpPr>
          <p:cNvPr id="17" name="KS ext 2"/>
          <p:cNvCxnSpPr/>
          <p:nvPr/>
        </p:nvCxnSpPr>
        <p:spPr>
          <a:xfrm flipV="1">
            <a:off x="7589520" y="3886200"/>
            <a:ext cx="1188720" cy="41148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pic>
        <p:nvPicPr>
          <p:cNvPr id="18" name="KS phone 2"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69680" y="3611880"/>
            <a:ext cx="548640" cy="548640"/>
          </a:xfrm>
          <a:prstGeom prst="rect">
            <a:avLst/>
          </a:prstGeom>
        </p:spPr>
      </p:pic>
      <p:sp>
        <p:nvSpPr>
          <p:cNvPr id="19" name="KS btn 2-1"/>
          <p:cNvSpPr/>
          <p:nvPr/>
        </p:nvSpPr>
        <p:spPr>
          <a:xfrm>
            <a:off x="9601200" y="3703320"/>
            <a:ext cx="411480" cy="365760"/>
          </a:xfrm>
          <a:prstGeom prst="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0" i="0">
                <a:solidFill>
                  <a:srgbClr val="000000"/>
                </a:solidFill>
                <a:latin typeface="Helvetica Neue"/>
                <a:ea typeface="Helvetica Neue"/>
                <a:cs typeface="Helvetica Neue"/>
              </a:rPr>
              <a:t>L1</a:t>
            </a:r>
          </a:p>
        </p:txBody>
      </p:sp>
      <p:sp>
        <p:nvSpPr>
          <p:cNvPr id="20" name="KS btn 2-2"/>
          <p:cNvSpPr/>
          <p:nvPr/>
        </p:nvSpPr>
        <p:spPr>
          <a:xfrm>
            <a:off x="10104120" y="3703320"/>
            <a:ext cx="411480" cy="365760"/>
          </a:xfrm>
          <a:prstGeom prst="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0" i="0">
                <a:solidFill>
                  <a:srgbClr val="000000"/>
                </a:solidFill>
                <a:latin typeface="Helvetica Neue"/>
                <a:ea typeface="Helvetica Neue"/>
                <a:cs typeface="Helvetica Neue"/>
              </a:rPr>
              <a:t>L2</a:t>
            </a:r>
          </a:p>
        </p:txBody>
      </p:sp>
      <p:sp>
        <p:nvSpPr>
          <p:cNvPr id="21" name="KS btn 2-3"/>
          <p:cNvSpPr/>
          <p:nvPr/>
        </p:nvSpPr>
        <p:spPr>
          <a:xfrm>
            <a:off x="10607040" y="3703320"/>
            <a:ext cx="411480" cy="365760"/>
          </a:xfrm>
          <a:prstGeom prst="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0" i="0">
                <a:solidFill>
                  <a:srgbClr val="000000"/>
                </a:solidFill>
                <a:latin typeface="Helvetica Neue"/>
                <a:ea typeface="Helvetica Neue"/>
                <a:cs typeface="Helvetica Neue"/>
              </a:rPr>
              <a:t>L3</a:t>
            </a:r>
          </a:p>
        </p:txBody>
      </p:sp>
      <p:cxnSp>
        <p:nvCxnSpPr>
          <p:cNvPr id="22" name="KS ext 3"/>
          <p:cNvCxnSpPr/>
          <p:nvPr/>
        </p:nvCxnSpPr>
        <p:spPr>
          <a:xfrm>
            <a:off x="7589520" y="4297680"/>
            <a:ext cx="1188720" cy="411479"/>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pic>
        <p:nvPicPr>
          <p:cNvPr id="23" name="KS phone 3"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69680" y="4434840"/>
            <a:ext cx="548640" cy="548640"/>
          </a:xfrm>
          <a:prstGeom prst="rect">
            <a:avLst/>
          </a:prstGeom>
        </p:spPr>
      </p:pic>
      <p:sp>
        <p:nvSpPr>
          <p:cNvPr id="24" name="KS btn 3-1"/>
          <p:cNvSpPr/>
          <p:nvPr/>
        </p:nvSpPr>
        <p:spPr>
          <a:xfrm>
            <a:off x="9601200" y="4526280"/>
            <a:ext cx="411480" cy="365760"/>
          </a:xfrm>
          <a:prstGeom prst="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0" i="0">
                <a:solidFill>
                  <a:srgbClr val="000000"/>
                </a:solidFill>
                <a:latin typeface="Helvetica Neue"/>
                <a:ea typeface="Helvetica Neue"/>
                <a:cs typeface="Helvetica Neue"/>
              </a:rPr>
              <a:t>L1</a:t>
            </a:r>
          </a:p>
        </p:txBody>
      </p:sp>
      <p:sp>
        <p:nvSpPr>
          <p:cNvPr id="25" name="KS btn 3-2"/>
          <p:cNvSpPr/>
          <p:nvPr/>
        </p:nvSpPr>
        <p:spPr>
          <a:xfrm>
            <a:off x="10104120" y="4526280"/>
            <a:ext cx="411480" cy="365760"/>
          </a:xfrm>
          <a:prstGeom prst="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0" i="0">
                <a:solidFill>
                  <a:srgbClr val="000000"/>
                </a:solidFill>
                <a:latin typeface="Helvetica Neue"/>
                <a:ea typeface="Helvetica Neue"/>
                <a:cs typeface="Helvetica Neue"/>
              </a:rPr>
              <a:t>L2</a:t>
            </a:r>
          </a:p>
        </p:txBody>
      </p:sp>
      <p:sp>
        <p:nvSpPr>
          <p:cNvPr id="26" name="KS btn 3-3"/>
          <p:cNvSpPr/>
          <p:nvPr/>
        </p:nvSpPr>
        <p:spPr>
          <a:xfrm>
            <a:off x="10607040" y="4526280"/>
            <a:ext cx="411480" cy="365760"/>
          </a:xfrm>
          <a:prstGeom prst="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0" i="0">
                <a:solidFill>
                  <a:srgbClr val="000000"/>
                </a:solidFill>
                <a:latin typeface="Helvetica Neue"/>
                <a:ea typeface="Helvetica Neue"/>
                <a:cs typeface="Helvetica Neue"/>
              </a:rPr>
              <a:t>L3</a:t>
            </a:r>
          </a:p>
        </p:txBody>
      </p:sp>
      <p:cxnSp>
        <p:nvCxnSpPr>
          <p:cNvPr id="27" name="KS ext 4"/>
          <p:cNvCxnSpPr/>
          <p:nvPr/>
        </p:nvCxnSpPr>
        <p:spPr>
          <a:xfrm>
            <a:off x="7589520" y="4297680"/>
            <a:ext cx="1188720" cy="123444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pic>
        <p:nvPicPr>
          <p:cNvPr id="28" name="KS phone 4"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69680" y="5257800"/>
            <a:ext cx="548640" cy="548640"/>
          </a:xfrm>
          <a:prstGeom prst="rect">
            <a:avLst/>
          </a:prstGeom>
        </p:spPr>
      </p:pic>
      <p:sp>
        <p:nvSpPr>
          <p:cNvPr id="29" name="KS btn 4-1"/>
          <p:cNvSpPr/>
          <p:nvPr/>
        </p:nvSpPr>
        <p:spPr>
          <a:xfrm>
            <a:off x="9601200" y="5349240"/>
            <a:ext cx="411480" cy="365760"/>
          </a:xfrm>
          <a:prstGeom prst="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0" i="0">
                <a:solidFill>
                  <a:srgbClr val="000000"/>
                </a:solidFill>
                <a:latin typeface="Helvetica Neue"/>
                <a:ea typeface="Helvetica Neue"/>
                <a:cs typeface="Helvetica Neue"/>
              </a:rPr>
              <a:t>L1</a:t>
            </a:r>
          </a:p>
        </p:txBody>
      </p:sp>
      <p:sp>
        <p:nvSpPr>
          <p:cNvPr id="30" name="KS btn 4-2"/>
          <p:cNvSpPr/>
          <p:nvPr/>
        </p:nvSpPr>
        <p:spPr>
          <a:xfrm>
            <a:off x="10104120" y="5349240"/>
            <a:ext cx="411480" cy="365760"/>
          </a:xfrm>
          <a:prstGeom prst="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0" i="0">
                <a:solidFill>
                  <a:srgbClr val="000000"/>
                </a:solidFill>
                <a:latin typeface="Helvetica Neue"/>
                <a:ea typeface="Helvetica Neue"/>
                <a:cs typeface="Helvetica Neue"/>
              </a:rPr>
              <a:t>L2</a:t>
            </a:r>
          </a:p>
        </p:txBody>
      </p:sp>
      <p:sp>
        <p:nvSpPr>
          <p:cNvPr id="31" name="KS btn 4-3"/>
          <p:cNvSpPr/>
          <p:nvPr/>
        </p:nvSpPr>
        <p:spPr>
          <a:xfrm>
            <a:off x="10607040" y="5349240"/>
            <a:ext cx="411480" cy="365760"/>
          </a:xfrm>
          <a:prstGeom prst="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0" i="0">
                <a:solidFill>
                  <a:srgbClr val="000000"/>
                </a:solidFill>
                <a:latin typeface="Helvetica Neue"/>
                <a:ea typeface="Helvetica Neue"/>
                <a:cs typeface="Helvetica Neue"/>
              </a:rPr>
              <a:t>L3</a:t>
            </a:r>
          </a:p>
        </p:txBody>
      </p:sp>
      <p:sp>
        <p:nvSpPr>
          <p:cNvPr id="32" name="KS phones note"/>
          <p:cNvSpPr txBox="1"/>
          <p:nvPr/>
        </p:nvSpPr>
        <p:spPr>
          <a:xfrm>
            <a:off x="8778240" y="5989320"/>
            <a:ext cx="3657600" cy="457200"/>
          </a:xfrm>
          <a:prstGeom prst="rect">
            <a:avLst/>
          </a:prstGeom>
          <a:noFill/>
        </p:spPr>
        <p:txBody>
          <a:bodyPr wrap="square" lIns="0" tIns="0" rIns="0" bIns="0" anchor="t">
            <a:spAutoFit/>
          </a:bodyPr>
          <a:lstStyle/>
          <a:p>
            <a:pPr algn="l">
              <a:spcAft>
                <a:spcPts val="600"/>
              </a:spcAft>
            </a:pPr>
            <a:r>
              <a:rPr sz="1500" b="0" i="1">
                <a:solidFill>
                  <a:srgbClr val="404040"/>
                </a:solidFill>
                <a:latin typeface="Helvetica Neue"/>
                <a:ea typeface="Helvetica Neue"/>
                <a:cs typeface="Helvetica Neue"/>
              </a:rPr>
              <a:t>Every phone has a button for every line</a:t>
            </a:r>
          </a:p>
        </p:txBody>
      </p:sp>
      <p:sp>
        <p:nvSpPr>
          <p:cNvPr id="33" name="Copper panel"/>
          <p:cNvSpPr/>
          <p:nvPr/>
        </p:nvSpPr>
        <p:spPr>
          <a:xfrm>
            <a:off x="12710160" y="2697480"/>
            <a:ext cx="4320540" cy="365760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4" name="Copper list"/>
          <p:cNvSpPr txBox="1"/>
          <p:nvPr/>
        </p:nvSpPr>
        <p:spPr>
          <a:xfrm>
            <a:off x="12984480" y="2880360"/>
            <a:ext cx="3840480" cy="3383280"/>
          </a:xfrm>
          <a:prstGeom prst="rect">
            <a:avLst/>
          </a:prstGeom>
          <a:noFill/>
        </p:spPr>
        <p:txBody>
          <a:bodyPr wrap="square" lIns="0" tIns="0" rIns="0" bIns="0">
            <a:spAutoFit/>
          </a:bodyPr>
          <a:lstStyle/>
          <a:p>
            <a:pPr>
              <a:spcAft>
                <a:spcPts val="800"/>
              </a:spcAft>
            </a:pPr>
            <a:r>
              <a:rPr sz="2000" b="1" i="0">
                <a:solidFill>
                  <a:srgbClr val="000000"/>
                </a:solidFill>
                <a:latin typeface="Helvetica Neue"/>
                <a:ea typeface="Helvetica Neue"/>
                <a:cs typeface="Helvetica Neue"/>
              </a:rPr>
              <a:t>Also on copper, same closet</a:t>
            </a:r>
          </a:p>
          <a:p>
            <a:pPr marL="274320" indent="-274320">
              <a:spcAft>
                <a:spcPts val="600"/>
              </a:spcAft>
              <a:buFont typeface="Arial"/>
              <a:buChar char="•"/>
            </a:pPr>
            <a:r>
              <a:rPr sz="1800" b="0" i="0">
                <a:solidFill>
                  <a:srgbClr val="000000"/>
                </a:solidFill>
                <a:latin typeface="Helvetica Neue"/>
                <a:ea typeface="Helvetica Neue"/>
                <a:cs typeface="Helvetica Neue"/>
              </a:rPr>
              <a:t>Alarm and fire panels</a:t>
            </a:r>
          </a:p>
          <a:p>
            <a:pPr marL="274320" indent="-274320">
              <a:spcAft>
                <a:spcPts val="600"/>
              </a:spcAft>
              <a:buFont typeface="Arial"/>
              <a:buChar char="•"/>
            </a:pPr>
            <a:r>
              <a:rPr sz="1800" b="0" i="0">
                <a:solidFill>
                  <a:srgbClr val="000000"/>
                </a:solidFill>
                <a:latin typeface="Helvetica Neue"/>
                <a:ea typeface="Helvetica Neue"/>
                <a:cs typeface="Helvetica Neue"/>
              </a:rPr>
              <a:t>Elevator phones</a:t>
            </a:r>
          </a:p>
          <a:p>
            <a:pPr marL="274320" indent="-274320">
              <a:spcAft>
                <a:spcPts val="600"/>
              </a:spcAft>
              <a:buFont typeface="Arial"/>
              <a:buChar char="•"/>
            </a:pPr>
            <a:r>
              <a:rPr sz="1800" b="0" i="0">
                <a:solidFill>
                  <a:srgbClr val="000000"/>
                </a:solidFill>
                <a:latin typeface="Helvetica Neue"/>
                <a:ea typeface="Helvetica Neue"/>
                <a:cs typeface="Helvetica Neue"/>
              </a:rPr>
              <a:t>Fax machines</a:t>
            </a:r>
          </a:p>
          <a:p>
            <a:pPr marL="274320" indent="-274320">
              <a:spcAft>
                <a:spcPts val="600"/>
              </a:spcAft>
              <a:buFont typeface="Arial"/>
              <a:buChar char="•"/>
            </a:pPr>
            <a:r>
              <a:rPr sz="1800" b="0" i="0">
                <a:solidFill>
                  <a:srgbClr val="000000"/>
                </a:solidFill>
                <a:latin typeface="Helvetica Neue"/>
                <a:ea typeface="Helvetica Neue"/>
                <a:cs typeface="Helvetica Neue"/>
              </a:rPr>
              <a:t>Backup dial lines</a:t>
            </a:r>
          </a:p>
        </p:txBody>
      </p:sp>
      <p:sp>
        <p:nvSpPr>
          <p:cNvPr id="35" name="Copper banner"/>
          <p:cNvSpPr/>
          <p:nvPr/>
        </p:nvSpPr>
        <p:spPr>
          <a:xfrm>
            <a:off x="1257300" y="6720840"/>
            <a:ext cx="15773400" cy="1005840"/>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6" name="Copper banner text"/>
          <p:cNvSpPr txBox="1"/>
          <p:nvPr/>
        </p:nvSpPr>
        <p:spPr>
          <a:xfrm>
            <a:off x="1554480" y="6766559"/>
            <a:ext cx="15179040" cy="914400"/>
          </a:xfrm>
          <a:prstGeom prst="rect">
            <a:avLst/>
          </a:prstGeom>
          <a:noFill/>
        </p:spPr>
        <p:txBody>
          <a:bodyPr wrap="square" lIns="0" tIns="0" rIns="0" bIns="0" anchor="ctr">
            <a:spAutoFit/>
          </a:bodyPr>
          <a:lstStyle/>
          <a:p>
            <a:pPr algn="ctr">
              <a:spcAft>
                <a:spcPts val="600"/>
              </a:spcAft>
            </a:pPr>
            <a:r>
              <a:rPr sz="2200" b="1" i="0">
                <a:solidFill>
                  <a:srgbClr val="FFFFFF"/>
                </a:solidFill>
                <a:latin typeface="Helvetica Neue"/>
                <a:ea typeface="Helvetica Neue"/>
                <a:cs typeface="Helvetica Neue"/>
              </a:rPr>
              <a:t>Carriers are retiring copper phone lines. Everything on them needs a new path.</a:t>
            </a:r>
          </a:p>
        </p:txBody>
      </p:sp>
      <p:sp>
        <p:nvSpPr>
          <p:cNvPr id="37" name="KS ask 1"/>
          <p:cNvSpPr/>
          <p:nvPr/>
        </p:nvSpPr>
        <p:spPr>
          <a:xfrm>
            <a:off x="1257300" y="8001000"/>
            <a:ext cx="5044440" cy="13716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8" name="KS ask 1 text"/>
          <p:cNvSpPr txBox="1"/>
          <p:nvPr/>
        </p:nvSpPr>
        <p:spPr>
          <a:xfrm>
            <a:off x="1513332" y="8202168"/>
            <a:ext cx="4532376" cy="100584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Is there an inventory of copper lines?</a:t>
            </a:r>
          </a:p>
        </p:txBody>
      </p:sp>
      <p:sp>
        <p:nvSpPr>
          <p:cNvPr id="39" name="KS ask 2"/>
          <p:cNvSpPr/>
          <p:nvPr/>
        </p:nvSpPr>
        <p:spPr>
          <a:xfrm>
            <a:off x="6621780" y="8001000"/>
            <a:ext cx="5044440" cy="13716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0" name="KS ask 2 text"/>
          <p:cNvSpPr txBox="1"/>
          <p:nvPr/>
        </p:nvSpPr>
        <p:spPr>
          <a:xfrm>
            <a:off x="6877812" y="8202168"/>
            <a:ext cx="4532376" cy="100584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What is each one for?</a:t>
            </a:r>
          </a:p>
        </p:txBody>
      </p:sp>
      <p:sp>
        <p:nvSpPr>
          <p:cNvPr id="41" name="KS ask 3"/>
          <p:cNvSpPr/>
          <p:nvPr/>
        </p:nvSpPr>
        <p:spPr>
          <a:xfrm>
            <a:off x="11986260" y="8001000"/>
            <a:ext cx="5044440" cy="13716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2" name="KS ask 3 text"/>
          <p:cNvSpPr txBox="1"/>
          <p:nvPr/>
        </p:nvSpPr>
        <p:spPr>
          <a:xfrm>
            <a:off x="12242291" y="8202168"/>
            <a:ext cx="4532376" cy="1005840"/>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What replaces it: cellular or VoIP?</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7065" name="Rectangle 9"/>
          <p:cNvSpPr>
            <a:spLocks noGrp="1" noChangeArrowheads="1"/>
          </p:cNvSpPr>
          <p:nvPr>
            <p:ph type="title"/>
          </p:nvPr>
        </p:nvSpPr>
        <p:spPr/>
        <p:txBody>
          <a:bodyPr/>
          <a:lstStyle/>
          <a:p>
            <a:r>
              <a:rPr lang="en-US"/>
              <a:t>Voice moves to IP</a:t>
            </a:r>
          </a:p>
        </p:txBody>
      </p:sp>
      <p:sp>
        <p:nvSpPr>
          <p:cNvPr id="1197066" name="Rectangle 10"/>
          <p:cNvSpPr>
            <a:spLocks noGrp="1" noChangeArrowheads="1"/>
          </p:cNvSpPr>
          <p:nvPr>
            <p:ph idx="1"/>
          </p:nvPr>
        </p:nvSpPr>
        <p:spPr>
          <a:xfrm>
            <a:off x="1257300" y="2193130"/>
            <a:ext cx="13789789" cy="7726374"/>
          </a:xfrm>
        </p:spPr>
        <p:txBody>
          <a:bodyPr>
            <a:normAutofit/>
          </a:bodyPr>
          <a:lstStyle/>
          <a:p>
            <a:r>
              <a:rPr lang="en-US"/>
              <a:t>The 1990s saw the commercialization of the internet</a:t>
            </a:r>
          </a:p>
          <a:p>
            <a:r>
              <a:rPr lang="en-US"/>
              <a:t>As the internet took off, millions of users were looking for things to do in this new world</a:t>
            </a:r>
          </a:p>
          <a:p>
            <a:r>
              <a:rPr lang="en-US"/>
              <a:t>Innovation drove significant advances in technology of networking, computing and applications</a:t>
            </a:r>
          </a:p>
          <a:p>
            <a:r>
              <a:rPr lang="en-US"/>
              <a:t>As corporate networks moved to IP technology, so did the world of telephony</a:t>
            </a:r>
          </a:p>
          <a:p>
            <a:r>
              <a:rPr lang="en-US"/>
              <a:t>Voice over IP (VoIP) has almost completely replaced the old phones and switching systems</a:t>
            </a:r>
          </a:p>
          <a:p>
            <a:r>
              <a:rPr lang="en-US"/>
              <a:t>VoIP may, or may not, use the internet for connection and transport</a:t>
            </a:r>
          </a:p>
        </p:txBody>
      </p:sp>
      <p:sp>
        <p:nvSpPr>
          <p:cNvPr id="29" name="Slide Number Placeholder 28"/>
          <p:cNvSpPr>
            <a:spLocks noGrp="1"/>
          </p:cNvSpPr>
          <p:nvPr>
            <p:ph type="sldNum" sz="quarter" idx="10"/>
          </p:nvPr>
        </p:nvSpPr>
        <p:spPr>
          <a:prstGeom prst="rect">
            <a:avLst/>
          </a:prstGeom>
        </p:spPr>
        <p:txBody>
          <a:bodyPr/>
          <a:lstStyle/>
          <a:p>
            <a:fld id="{76E8DCF4-EBDD-4FE1-8465-FD383573D554}" type="slidenum">
              <a:rPr lang="en-US" smtClean="0"/>
              <a:pPr/>
              <a:t>217</a:t>
            </a:fld>
            <a:endParaRPr lang="en-US"/>
          </a:p>
        </p:txBody>
      </p:sp>
    </p:spTree>
    <p:custDataLst>
      <p:tags r:id="rId1"/>
    </p:custDataLst>
    <p:extLst>
      <p:ext uri="{BB962C8B-B14F-4D97-AF65-F5344CB8AC3E}">
        <p14:creationId xmlns:p14="http://schemas.microsoft.com/office/powerpoint/2010/main" val="180644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197066">
                                            <p:txEl>
                                              <p:pRg st="0" end="0"/>
                                            </p:txEl>
                                          </p:spTgt>
                                        </p:tgtEl>
                                        <p:attrNameLst>
                                          <p:attrName>style.visibility</p:attrName>
                                        </p:attrNameLst>
                                      </p:cBhvr>
                                      <p:to>
                                        <p:strVal val="visible"/>
                                      </p:to>
                                    </p:set>
                                    <p:anim calcmode="lin" valueType="num">
                                      <p:cBhvr additive="base">
                                        <p:cTn id="7" dur="1000" fill="hold"/>
                                        <p:tgtEl>
                                          <p:spTgt spid="1197066">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119706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97066">
                                            <p:txEl>
                                              <p:pRg st="1" end="1"/>
                                            </p:txEl>
                                          </p:spTgt>
                                        </p:tgtEl>
                                        <p:attrNameLst>
                                          <p:attrName>style.visibility</p:attrName>
                                        </p:attrNameLst>
                                      </p:cBhvr>
                                      <p:to>
                                        <p:strVal val="visible"/>
                                      </p:to>
                                    </p:set>
                                    <p:anim calcmode="lin" valueType="num">
                                      <p:cBhvr additive="base">
                                        <p:cTn id="13" dur="1000" fill="hold"/>
                                        <p:tgtEl>
                                          <p:spTgt spid="1197066">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119706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97066">
                                            <p:txEl>
                                              <p:pRg st="2" end="2"/>
                                            </p:txEl>
                                          </p:spTgt>
                                        </p:tgtEl>
                                        <p:attrNameLst>
                                          <p:attrName>style.visibility</p:attrName>
                                        </p:attrNameLst>
                                      </p:cBhvr>
                                      <p:to>
                                        <p:strVal val="visible"/>
                                      </p:to>
                                    </p:set>
                                    <p:anim calcmode="lin" valueType="num">
                                      <p:cBhvr additive="base">
                                        <p:cTn id="19" dur="1000" fill="hold"/>
                                        <p:tgtEl>
                                          <p:spTgt spid="1197066">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119706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97066">
                                            <p:txEl>
                                              <p:pRg st="3" end="3"/>
                                            </p:txEl>
                                          </p:spTgt>
                                        </p:tgtEl>
                                        <p:attrNameLst>
                                          <p:attrName>style.visibility</p:attrName>
                                        </p:attrNameLst>
                                      </p:cBhvr>
                                      <p:to>
                                        <p:strVal val="visible"/>
                                      </p:to>
                                    </p:set>
                                    <p:anim calcmode="lin" valueType="num">
                                      <p:cBhvr additive="base">
                                        <p:cTn id="25" dur="1000" fill="hold"/>
                                        <p:tgtEl>
                                          <p:spTgt spid="1197066">
                                            <p:txEl>
                                              <p:pRg st="3" end="3"/>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119706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97066">
                                            <p:txEl>
                                              <p:pRg st="4" end="4"/>
                                            </p:txEl>
                                          </p:spTgt>
                                        </p:tgtEl>
                                        <p:attrNameLst>
                                          <p:attrName>style.visibility</p:attrName>
                                        </p:attrNameLst>
                                      </p:cBhvr>
                                      <p:to>
                                        <p:strVal val="visible"/>
                                      </p:to>
                                    </p:set>
                                    <p:anim calcmode="lin" valueType="num">
                                      <p:cBhvr additive="base">
                                        <p:cTn id="31" dur="1000" fill="hold"/>
                                        <p:tgtEl>
                                          <p:spTgt spid="1197066">
                                            <p:txEl>
                                              <p:pRg st="4" end="4"/>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119706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97066">
                                            <p:txEl>
                                              <p:pRg st="5" end="5"/>
                                            </p:txEl>
                                          </p:spTgt>
                                        </p:tgtEl>
                                        <p:attrNameLst>
                                          <p:attrName>style.visibility</p:attrName>
                                        </p:attrNameLst>
                                      </p:cBhvr>
                                      <p:to>
                                        <p:strVal val="visible"/>
                                      </p:to>
                                    </p:set>
                                    <p:anim calcmode="lin" valueType="num">
                                      <p:cBhvr additive="base">
                                        <p:cTn id="37" dur="1000" fill="hold"/>
                                        <p:tgtEl>
                                          <p:spTgt spid="1197066">
                                            <p:txEl>
                                              <p:pRg st="5" end="5"/>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119706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7066" grpId="0" build="p"/>
    </p:bld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71367-DAA6-B837-20E2-BD5F27781B4A}"/>
              </a:ext>
            </a:extLst>
          </p:cNvPr>
          <p:cNvSpPr>
            <a:spLocks noGrp="1"/>
          </p:cNvSpPr>
          <p:nvPr>
            <p:ph type="title"/>
          </p:nvPr>
        </p:nvSpPr>
        <p:spPr/>
        <p:txBody>
          <a:bodyPr/>
          <a:lstStyle/>
          <a:p>
            <a:r>
              <a:rPr lang="en-US"/>
              <a:t>VoIP Brings New Capabilities</a:t>
            </a:r>
          </a:p>
        </p:txBody>
      </p:sp>
      <p:sp>
        <p:nvSpPr>
          <p:cNvPr id="3" name="Content Placeholder 2">
            <a:extLst>
              <a:ext uri="{FF2B5EF4-FFF2-40B4-BE49-F238E27FC236}">
                <a16:creationId xmlns:a16="http://schemas.microsoft.com/office/drawing/2014/main" id="{9C31B89C-CFE4-06F7-A6A0-AEA9529F1B10}"/>
              </a:ext>
            </a:extLst>
          </p:cNvPr>
          <p:cNvSpPr>
            <a:spLocks noGrp="1"/>
          </p:cNvSpPr>
          <p:nvPr>
            <p:ph idx="1"/>
          </p:nvPr>
        </p:nvSpPr>
        <p:spPr/>
        <p:txBody>
          <a:bodyPr/>
          <a:lstStyle/>
          <a:p>
            <a:r>
              <a:rPr lang="en-US"/>
              <a:t>Greater call control capabilities managed via a portal</a:t>
            </a:r>
          </a:p>
          <a:p>
            <a:r>
              <a:rPr lang="en-US"/>
              <a:t>Allows simple call forwarding to other devices (phones, apps)</a:t>
            </a:r>
          </a:p>
          <a:p>
            <a:pPr lvl="1"/>
            <a:r>
              <a:rPr lang="en-US"/>
              <a:t>One number, many devices, anywhere</a:t>
            </a:r>
          </a:p>
          <a:p>
            <a:r>
              <a:rPr lang="en-US"/>
              <a:t>Mobile phone apps allow calling from the </a:t>
            </a:r>
            <a:r>
              <a:rPr lang="en-US" i="1"/>
              <a:t>office number</a:t>
            </a:r>
            <a:r>
              <a:rPr lang="en-US"/>
              <a:t> within the app</a:t>
            </a:r>
          </a:p>
          <a:p>
            <a:r>
              <a:rPr lang="en-US"/>
              <a:t>Rich in traditional telephony features, simpler to use</a:t>
            </a:r>
          </a:p>
          <a:p>
            <a:r>
              <a:rPr lang="en-US"/>
              <a:t>Integration with conferencing capabilities (video, chat/IM, etc.)</a:t>
            </a:r>
          </a:p>
          <a:p>
            <a:r>
              <a:rPr lang="en-US"/>
              <a:t>Improved business continuity options</a:t>
            </a:r>
          </a:p>
          <a:p>
            <a:endParaRPr lang="en-US"/>
          </a:p>
          <a:p>
            <a:endParaRPr lang="en-US"/>
          </a:p>
        </p:txBody>
      </p:sp>
    </p:spTree>
    <p:extLst>
      <p:ext uri="{BB962C8B-B14F-4D97-AF65-F5344CB8AC3E}">
        <p14:creationId xmlns:p14="http://schemas.microsoft.com/office/powerpoint/2010/main" val="3346961001"/>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82" name="Rectangle 2"/>
          <p:cNvSpPr>
            <a:spLocks noGrp="1" noChangeArrowheads="1"/>
          </p:cNvSpPr>
          <p:nvPr>
            <p:ph type="title"/>
          </p:nvPr>
        </p:nvSpPr>
        <p:spPr/>
        <p:txBody>
          <a:bodyPr/>
          <a:lstStyle/>
          <a:p>
            <a:r>
              <a:rPr lang="en-US"/>
              <a:t>Signaling Control: The Role of SIP</a:t>
            </a:r>
          </a:p>
        </p:txBody>
      </p:sp>
      <p:sp>
        <p:nvSpPr>
          <p:cNvPr id="1198083" name="Rectangle 3"/>
          <p:cNvSpPr>
            <a:spLocks noGrp="1" noChangeArrowheads="1"/>
          </p:cNvSpPr>
          <p:nvPr>
            <p:ph idx="1"/>
          </p:nvPr>
        </p:nvSpPr>
        <p:spPr/>
        <p:txBody>
          <a:bodyPr/>
          <a:lstStyle/>
          <a:p>
            <a:r>
              <a:rPr lang="en-US"/>
              <a:t>Signaling protocol for multimedia sessions</a:t>
            </a:r>
          </a:p>
          <a:p>
            <a:r>
              <a:rPr lang="en-US"/>
              <a:t>Dominant IPT signaling protocol</a:t>
            </a:r>
          </a:p>
        </p:txBody>
      </p:sp>
      <p:sp>
        <p:nvSpPr>
          <p:cNvPr id="15" name="Slide Number Placeholder 14"/>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219</a:t>
            </a:fld>
            <a:endParaRPr lang="en-US">
              <a:solidFill>
                <a:schemeClr val="tx1">
                  <a:lumMod val="50000"/>
                  <a:lumOff val="50000"/>
                </a:schemeClr>
              </a:solidFill>
            </a:endParaRPr>
          </a:p>
        </p:txBody>
      </p:sp>
      <p:sp>
        <p:nvSpPr>
          <p:cNvPr id="1198084" name="Line 4"/>
          <p:cNvSpPr>
            <a:spLocks noChangeShapeType="1"/>
          </p:cNvSpPr>
          <p:nvPr/>
        </p:nvSpPr>
        <p:spPr bwMode="auto">
          <a:xfrm flipV="1">
            <a:off x="5931695" y="6207920"/>
            <a:ext cx="4543425" cy="14288"/>
          </a:xfrm>
          <a:prstGeom prst="line">
            <a:avLst/>
          </a:prstGeom>
          <a:noFill/>
          <a:ln w="28575">
            <a:solidFill>
              <a:schemeClr val="bg2"/>
            </a:solidFill>
            <a:round/>
            <a:headEnd/>
            <a:tailEnd/>
          </a:ln>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198085" name="Line 5"/>
          <p:cNvSpPr>
            <a:spLocks noChangeShapeType="1"/>
          </p:cNvSpPr>
          <p:nvPr/>
        </p:nvSpPr>
        <p:spPr bwMode="auto">
          <a:xfrm flipH="1" flipV="1">
            <a:off x="11127583" y="6222208"/>
            <a:ext cx="2700338" cy="14288"/>
          </a:xfrm>
          <a:prstGeom prst="line">
            <a:avLst/>
          </a:prstGeom>
          <a:noFill/>
          <a:ln w="19050">
            <a:solidFill>
              <a:schemeClr val="tx1"/>
            </a:solidFill>
            <a:round/>
            <a:headEnd/>
            <a:tailEnd/>
          </a:ln>
          <a:effectLst/>
        </p:spPr>
        <p:txBody>
          <a:bodyPr anchorCtr="1">
            <a:spAutoFit/>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pic>
        <p:nvPicPr>
          <p:cNvPr id="1198086" name="Picture 6" descr="AS 400"/>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3284995" y="5434013"/>
            <a:ext cx="933450" cy="1571625"/>
          </a:xfrm>
          <a:prstGeom prst="rect">
            <a:avLst/>
          </a:prstGeom>
          <a:noFill/>
        </p:spPr>
      </p:pic>
      <p:sp>
        <p:nvSpPr>
          <p:cNvPr id="1198087" name="Cloud"/>
          <p:cNvSpPr>
            <a:spLocks noChangeAspect="1" noEditPoints="1" noChangeArrowheads="1"/>
          </p:cNvSpPr>
          <p:nvPr/>
        </p:nvSpPr>
        <p:spPr bwMode="auto">
          <a:xfrm>
            <a:off x="7853363" y="4814888"/>
            <a:ext cx="4114800" cy="2757488"/>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B4B5DC"/>
          </a:solidFill>
          <a:ln w="9525">
            <a:solidFill>
              <a:srgbClr val="000000"/>
            </a:solidFill>
            <a:miter lim="800000"/>
            <a:headEnd/>
            <a:tailEnd/>
          </a:ln>
          <a:effectLst>
            <a:outerShdw blurRad="50800" dist="38100" dir="2700000" algn="tl" rotWithShape="0">
              <a:prstClr val="black">
                <a:alpha val="40000"/>
              </a:prstClr>
            </a:outerShdw>
          </a:effectLst>
        </p:spPr>
        <p:txBody>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grpSp>
        <p:nvGrpSpPr>
          <p:cNvPr id="2" name="Group 8"/>
          <p:cNvGrpSpPr>
            <a:grpSpLocks/>
          </p:cNvGrpSpPr>
          <p:nvPr/>
        </p:nvGrpSpPr>
        <p:grpSpPr bwMode="auto">
          <a:xfrm>
            <a:off x="3743326" y="4200526"/>
            <a:ext cx="2071688" cy="1385888"/>
            <a:chOff x="493" y="1155"/>
            <a:chExt cx="870" cy="582"/>
          </a:xfrm>
        </p:grpSpPr>
        <p:sp>
          <p:nvSpPr>
            <p:cNvPr id="1198089" name="Text Box 9"/>
            <p:cNvSpPr txBox="1">
              <a:spLocks noChangeArrowheads="1"/>
            </p:cNvSpPr>
            <p:nvPr/>
          </p:nvSpPr>
          <p:spPr bwMode="auto">
            <a:xfrm>
              <a:off x="493" y="1155"/>
              <a:ext cx="749" cy="237"/>
            </a:xfrm>
            <a:prstGeom prst="rect">
              <a:avLst/>
            </a:prstGeom>
            <a:noFill/>
            <a:ln w="28575" algn="ctr">
              <a:noFill/>
              <a:miter lim="800000"/>
              <a:headEnd/>
              <a:tailEnd/>
            </a:ln>
            <a:effectLst/>
          </p:spPr>
          <p:txBody>
            <a:bodyPr wrap="none" anchorCtr="1">
              <a:spAutoFit/>
            </a:bodyPr>
            <a:lstStyle/>
            <a:p>
              <a:pPr algn="r" eaLnBrk="0" fontAlgn="base" hangingPunct="0">
                <a:lnSpc>
                  <a:spcPct val="85000"/>
                </a:lnSpc>
                <a:spcBef>
                  <a:spcPct val="0"/>
                </a:spcBef>
                <a:spcAft>
                  <a:spcPct val="0"/>
                </a:spcAft>
                <a:buClr>
                  <a:srgbClr val="FFCC00"/>
                </a:buClr>
                <a:buSzPct val="75000"/>
                <a:buFont typeface="Wingdings" pitchFamily="2" charset="2"/>
                <a:buNone/>
              </a:pPr>
              <a:r>
                <a:rPr lang="en-US" sz="3600" b="1">
                  <a:solidFill>
                    <a:srgbClr val="000000"/>
                  </a:solidFill>
                  <a:latin typeface="Arial Narrow" pitchFamily="34" charset="0"/>
                </a:rPr>
                <a:t>IP </a:t>
              </a:r>
              <a:r>
                <a:rPr lang="en-US" sz="3600">
                  <a:solidFill>
                    <a:srgbClr val="000000"/>
                  </a:solidFill>
                </a:rPr>
                <a:t>P</a:t>
              </a:r>
              <a:r>
                <a:rPr lang="en-US" sz="3600" b="1">
                  <a:solidFill>
                    <a:srgbClr val="000000"/>
                  </a:solidFill>
                  <a:latin typeface="Arial Narrow" pitchFamily="34" charset="0"/>
                </a:rPr>
                <a:t>hone</a:t>
              </a:r>
            </a:p>
          </p:txBody>
        </p:sp>
        <p:sp>
          <p:nvSpPr>
            <p:cNvPr id="1198090" name="Line 10"/>
            <p:cNvSpPr>
              <a:spLocks noChangeShapeType="1"/>
            </p:cNvSpPr>
            <p:nvPr/>
          </p:nvSpPr>
          <p:spPr bwMode="auto">
            <a:xfrm>
              <a:off x="1071" y="1411"/>
              <a:ext cx="292" cy="326"/>
            </a:xfrm>
            <a:prstGeom prst="line">
              <a:avLst/>
            </a:prstGeom>
            <a:noFill/>
            <a:ln w="57150">
              <a:solidFill>
                <a:schemeClr val="bg2"/>
              </a:solidFill>
              <a:round/>
              <a:headEnd/>
              <a:tailEnd type="triangle" w="med" len="med"/>
            </a:ln>
            <a:effectLst/>
          </p:spPr>
          <p:txBody>
            <a:bodyPr wrap="none" anchorCtr="1">
              <a:spAutoFit/>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grpSp>
      <p:sp>
        <p:nvSpPr>
          <p:cNvPr id="1198091" name="Text Box 11"/>
          <p:cNvSpPr txBox="1">
            <a:spLocks noChangeArrowheads="1"/>
          </p:cNvSpPr>
          <p:nvPr/>
        </p:nvSpPr>
        <p:spPr bwMode="auto">
          <a:xfrm>
            <a:off x="13189417" y="2962276"/>
            <a:ext cx="1888659" cy="1034129"/>
          </a:xfrm>
          <a:prstGeom prst="rect">
            <a:avLst/>
          </a:prstGeom>
          <a:noFill/>
          <a:ln w="28575" algn="ctr">
            <a:noFill/>
            <a:miter lim="800000"/>
            <a:headEnd/>
            <a:tailEnd/>
          </a:ln>
          <a:effectLst/>
        </p:spPr>
        <p:txBody>
          <a:bodyPr wrap="none" anchorCtr="1">
            <a:spAutoFit/>
          </a:bodyPr>
          <a:lstStyle/>
          <a:p>
            <a:pPr algn="r" eaLnBrk="0" fontAlgn="base" hangingPunct="0">
              <a:lnSpc>
                <a:spcPct val="85000"/>
              </a:lnSpc>
              <a:spcBef>
                <a:spcPct val="0"/>
              </a:spcBef>
              <a:spcAft>
                <a:spcPct val="0"/>
              </a:spcAft>
              <a:buClr>
                <a:srgbClr val="FFCC00"/>
              </a:buClr>
              <a:buSzPct val="75000"/>
              <a:buFont typeface="Wingdings" pitchFamily="2" charset="2"/>
              <a:buNone/>
            </a:pPr>
            <a:r>
              <a:rPr lang="en-US" sz="3600" b="1">
                <a:solidFill>
                  <a:srgbClr val="000000"/>
                </a:solidFill>
                <a:latin typeface="Arial Narrow" pitchFamily="34" charset="0"/>
              </a:rPr>
              <a:t>Signaling</a:t>
            </a:r>
            <a:br>
              <a:rPr lang="en-US" sz="3600" b="1">
                <a:solidFill>
                  <a:srgbClr val="000000"/>
                </a:solidFill>
                <a:latin typeface="Arial Narrow" pitchFamily="34" charset="0"/>
              </a:rPr>
            </a:br>
            <a:r>
              <a:rPr lang="en-US" sz="3600" b="1">
                <a:solidFill>
                  <a:srgbClr val="000000"/>
                </a:solidFill>
                <a:latin typeface="Arial Narrow" pitchFamily="34" charset="0"/>
              </a:rPr>
              <a:t>Control</a:t>
            </a:r>
          </a:p>
        </p:txBody>
      </p:sp>
      <p:sp>
        <p:nvSpPr>
          <p:cNvPr id="1198092" name="Line 12"/>
          <p:cNvSpPr>
            <a:spLocks noChangeShapeType="1"/>
          </p:cNvSpPr>
          <p:nvPr/>
        </p:nvSpPr>
        <p:spPr bwMode="auto">
          <a:xfrm flipH="1">
            <a:off x="13735051" y="4033838"/>
            <a:ext cx="483395" cy="1278732"/>
          </a:xfrm>
          <a:prstGeom prst="line">
            <a:avLst/>
          </a:prstGeom>
          <a:noFill/>
          <a:ln w="57150">
            <a:solidFill>
              <a:schemeClr val="bg2"/>
            </a:solidFill>
            <a:round/>
            <a:headEnd/>
            <a:tailEnd type="triangle" w="med" len="med"/>
          </a:ln>
          <a:effectLst/>
        </p:spPr>
        <p:txBody>
          <a:bodyPr anchorCtr="1">
            <a:spAutoFit/>
          </a:bodyPr>
          <a:lstStyle/>
          <a:p>
            <a:pPr algn="ctr" eaLnBrk="0" fontAlgn="base" hangingPunct="0">
              <a:lnSpc>
                <a:spcPct val="85000"/>
              </a:lnSpc>
              <a:spcBef>
                <a:spcPct val="0"/>
              </a:spcBef>
              <a:spcAft>
                <a:spcPct val="0"/>
              </a:spcAft>
              <a:buClr>
                <a:srgbClr val="FFCC00"/>
              </a:buClr>
              <a:buSzPct val="75000"/>
              <a:buFont typeface="Wingdings" pitchFamily="2" charset="2"/>
              <a:buNone/>
            </a:pPr>
            <a:endParaRPr lang="en-US" sz="2700" b="1">
              <a:solidFill>
                <a:srgbClr val="000000"/>
              </a:solidFill>
              <a:latin typeface="Arial Narrow" pitchFamily="34" charset="0"/>
            </a:endParaRPr>
          </a:p>
        </p:txBody>
      </p:sp>
      <p:sp>
        <p:nvSpPr>
          <p:cNvPr id="1198093" name="AutoShape 13"/>
          <p:cNvSpPr>
            <a:spLocks noChangeArrowheads="1"/>
          </p:cNvSpPr>
          <p:nvPr/>
        </p:nvSpPr>
        <p:spPr bwMode="auto">
          <a:xfrm>
            <a:off x="6912770" y="5600701"/>
            <a:ext cx="5893593" cy="1254920"/>
          </a:xfrm>
          <a:prstGeom prst="leftRightArrow">
            <a:avLst>
              <a:gd name="adj1" fmla="val 62426"/>
              <a:gd name="adj2" fmla="val 70272"/>
            </a:avLst>
          </a:prstGeom>
          <a:solidFill>
            <a:srgbClr val="FBDE81"/>
          </a:solidFill>
          <a:ln w="9525" algn="ctr">
            <a:solidFill>
              <a:srgbClr val="000000"/>
            </a:solidFill>
            <a:miter lim="800000"/>
            <a:headEnd/>
            <a:tailEnd/>
          </a:ln>
          <a:effectLst/>
          <a:scene3d>
            <a:camera prst="orthographicFront"/>
            <a:lightRig rig="threePt" dir="t"/>
          </a:scene3d>
          <a:sp3d>
            <a:bevelT w="165100" prst="coolSlant"/>
          </a:sp3d>
        </p:spPr>
        <p:txBody>
          <a:bodyPr wrap="none" anchor="ctr"/>
          <a:lstStyle/>
          <a:p>
            <a:pPr algn="ctr" eaLnBrk="0" fontAlgn="base" hangingPunct="0">
              <a:lnSpc>
                <a:spcPct val="85000"/>
              </a:lnSpc>
              <a:spcBef>
                <a:spcPct val="0"/>
              </a:spcBef>
              <a:spcAft>
                <a:spcPct val="0"/>
              </a:spcAft>
              <a:buClr>
                <a:srgbClr val="FFCC00"/>
              </a:buClr>
              <a:buSzPct val="75000"/>
              <a:buFont typeface="Wingdings" pitchFamily="2" charset="2"/>
              <a:buNone/>
            </a:pPr>
            <a:r>
              <a:rPr lang="en-US" sz="4200" b="1">
                <a:solidFill>
                  <a:srgbClr val="000000"/>
                </a:solidFill>
                <a:latin typeface="Arial Narrow" pitchFamily="34" charset="0"/>
              </a:rPr>
              <a:t>SIP</a:t>
            </a:r>
          </a:p>
        </p:txBody>
      </p:sp>
      <p:pic>
        <p:nvPicPr>
          <p:cNvPr id="16" name="phone left" descr="man_mtbz_char"/>
          <p:cNvPicPr>
            <a:picLocks noChangeAspect="1" noChangeArrowheads="1"/>
          </p:cNvPicPr>
          <p:nvPr/>
        </p:nvPicPr>
        <p:blipFill>
          <a:blip r:embed="rId5"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558904" y="5586413"/>
            <a:ext cx="1935957" cy="1532334"/>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862991426"/>
      </p:ext>
    </p:extLst>
  </p:cSld>
  <p:clrMapOvr>
    <a:masterClrMapping/>
  </p:clrMapOvr>
  <p:transition/>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Line 27">
            <a:extLst>
              <a:ext uri="{FF2B5EF4-FFF2-40B4-BE49-F238E27FC236}">
                <a16:creationId xmlns:a16="http://schemas.microsoft.com/office/drawing/2014/main" id="{DF152340-E7F1-942D-3F7D-45D384F0CDA9}"/>
              </a:ext>
            </a:extLst>
          </p:cNvPr>
          <p:cNvSpPr>
            <a:spLocks noChangeShapeType="1"/>
          </p:cNvSpPr>
          <p:nvPr/>
        </p:nvSpPr>
        <p:spPr bwMode="auto">
          <a:xfrm>
            <a:off x="11315839" y="7915857"/>
            <a:ext cx="1477425" cy="875746"/>
          </a:xfrm>
          <a:prstGeom prst="line">
            <a:avLst/>
          </a:prstGeom>
          <a:noFill/>
          <a:ln w="28575">
            <a:solidFill>
              <a:schemeClr val="tx1"/>
            </a:solidFill>
            <a:round/>
            <a:headEnd/>
            <a:tailEnd/>
          </a:ln>
        </p:spPr>
        <p:txBody>
          <a:bodyPr vert="horz" wrap="square" lIns="137160" tIns="68580" rIns="137160" bIns="68580" numCol="1" anchor="t" anchorCtr="0" compatLnSpc="1">
            <a:prstTxWarp prst="textNoShape">
              <a:avLst/>
            </a:prstTxWarp>
          </a:bodyPr>
          <a:lstStyle/>
          <a:p>
            <a:endParaRPr lang="en-US" sz="2700"/>
          </a:p>
        </p:txBody>
      </p:sp>
      <p:sp>
        <p:nvSpPr>
          <p:cNvPr id="2" name="Title 1"/>
          <p:cNvSpPr>
            <a:spLocks noGrp="1"/>
          </p:cNvSpPr>
          <p:nvPr>
            <p:ph type="title"/>
          </p:nvPr>
        </p:nvSpPr>
        <p:spPr/>
        <p:txBody>
          <a:bodyPr/>
          <a:lstStyle/>
          <a:p>
            <a:r>
              <a:rPr lang="en-US"/>
              <a:t>SIP Trunks</a:t>
            </a:r>
          </a:p>
        </p:txBody>
      </p:sp>
      <p:sp>
        <p:nvSpPr>
          <p:cNvPr id="4" name="Content Placeholder 3"/>
          <p:cNvSpPr>
            <a:spLocks noGrp="1"/>
          </p:cNvSpPr>
          <p:nvPr>
            <p:ph idx="1"/>
          </p:nvPr>
        </p:nvSpPr>
        <p:spPr/>
        <p:txBody>
          <a:bodyPr/>
          <a:lstStyle/>
          <a:p>
            <a:r>
              <a:rPr lang="en-US"/>
              <a:t>An IP telephony (IPT) trunk</a:t>
            </a:r>
          </a:p>
          <a:p>
            <a:r>
              <a:rPr lang="en-US"/>
              <a:t>Designed for use with an IP PBX</a:t>
            </a:r>
          </a:p>
          <a:p>
            <a:r>
              <a:rPr lang="en-US"/>
              <a:t>Typically shares voice and data</a:t>
            </a:r>
          </a:p>
          <a:p>
            <a:pPr lvl="1"/>
            <a:r>
              <a:rPr lang="en-US"/>
              <a:t>Burst data when voice not in use</a:t>
            </a:r>
          </a:p>
          <a:p>
            <a:pPr lvl="1"/>
            <a:r>
              <a:rPr lang="en-US"/>
              <a:t>Maximum concurrent calls configured</a:t>
            </a:r>
          </a:p>
          <a:p>
            <a:r>
              <a:rPr lang="en-US"/>
              <a:t>Call signaling over the trunk is SIP</a:t>
            </a:r>
          </a:p>
        </p:txBody>
      </p:sp>
      <p:sp>
        <p:nvSpPr>
          <p:cNvPr id="56" name="Slide Number Placeholder 55"/>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220</a:t>
            </a:fld>
            <a:endParaRPr lang="en-US">
              <a:solidFill>
                <a:schemeClr val="tx1">
                  <a:lumMod val="50000"/>
                  <a:lumOff val="50000"/>
                </a:schemeClr>
              </a:solidFill>
            </a:endParaRPr>
          </a:p>
        </p:txBody>
      </p:sp>
      <p:sp>
        <p:nvSpPr>
          <p:cNvPr id="2050" name="Line 27"/>
          <p:cNvSpPr>
            <a:spLocks noChangeShapeType="1"/>
          </p:cNvSpPr>
          <p:nvPr/>
        </p:nvSpPr>
        <p:spPr bwMode="auto">
          <a:xfrm>
            <a:off x="9925050" y="7886700"/>
            <a:ext cx="2693193" cy="1654968"/>
          </a:xfrm>
          <a:prstGeom prst="line">
            <a:avLst/>
          </a:prstGeom>
          <a:noFill/>
          <a:ln w="28575">
            <a:solidFill>
              <a:schemeClr val="bg2"/>
            </a:solidFill>
            <a:round/>
            <a:headEnd/>
            <a:tailEnd/>
          </a:ln>
        </p:spPr>
        <p:txBody>
          <a:bodyPr vert="horz" wrap="square" lIns="137160" tIns="68580" rIns="137160" bIns="68580" numCol="1" anchor="t" anchorCtr="0" compatLnSpc="1">
            <a:prstTxWarp prst="textNoShape">
              <a:avLst/>
            </a:prstTxWarp>
          </a:bodyPr>
          <a:lstStyle/>
          <a:p>
            <a:endParaRPr lang="en-US" sz="2700"/>
          </a:p>
        </p:txBody>
      </p:sp>
      <p:sp>
        <p:nvSpPr>
          <p:cNvPr id="2051" name="Line 27"/>
          <p:cNvSpPr>
            <a:spLocks noChangeShapeType="1"/>
          </p:cNvSpPr>
          <p:nvPr/>
        </p:nvSpPr>
        <p:spPr bwMode="auto">
          <a:xfrm flipV="1">
            <a:off x="5579269" y="7636668"/>
            <a:ext cx="5033963" cy="19050"/>
          </a:xfrm>
          <a:prstGeom prst="line">
            <a:avLst/>
          </a:prstGeom>
          <a:noFill/>
          <a:ln w="28575">
            <a:solidFill>
              <a:schemeClr val="tx1"/>
            </a:solidFill>
            <a:round/>
            <a:headEnd/>
            <a:tailEnd/>
          </a:ln>
        </p:spPr>
        <p:txBody>
          <a:bodyPr vert="horz" wrap="square" lIns="137160" tIns="68580" rIns="137160" bIns="68580" numCol="1" anchor="t" anchorCtr="0" compatLnSpc="1">
            <a:prstTxWarp prst="textNoShape">
              <a:avLst/>
            </a:prstTxWarp>
          </a:bodyPr>
          <a:lstStyle/>
          <a:p>
            <a:endParaRPr lang="en-US" sz="2700"/>
          </a:p>
        </p:txBody>
      </p:sp>
      <p:sp>
        <p:nvSpPr>
          <p:cNvPr id="2054" name="Line 35"/>
          <p:cNvSpPr>
            <a:spLocks noChangeShapeType="1"/>
          </p:cNvSpPr>
          <p:nvPr/>
        </p:nvSpPr>
        <p:spPr bwMode="auto">
          <a:xfrm flipV="1">
            <a:off x="6124576" y="8274843"/>
            <a:ext cx="1945481" cy="752475"/>
          </a:xfrm>
          <a:prstGeom prst="line">
            <a:avLst/>
          </a:prstGeom>
          <a:noFill/>
          <a:ln w="19050">
            <a:solidFill>
              <a:schemeClr val="tx1"/>
            </a:solidFill>
            <a:round/>
            <a:headEnd/>
            <a:tailEnd/>
          </a:ln>
        </p:spPr>
        <p:txBody>
          <a:bodyPr vert="horz" wrap="square" lIns="137160" tIns="68580" rIns="137160" bIns="68580" numCol="1" anchor="t" anchorCtr="1" compatLnSpc="1">
            <a:prstTxWarp prst="textNoShape">
              <a:avLst/>
            </a:prstTxWarp>
            <a:spAutoFit/>
          </a:bodyPr>
          <a:lstStyle/>
          <a:p>
            <a:endParaRPr lang="en-US" sz="2700"/>
          </a:p>
        </p:txBody>
      </p:sp>
      <p:pic>
        <p:nvPicPr>
          <p:cNvPr id="2055" name="Picture 36" descr="AS 400"/>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776913" y="8320088"/>
            <a:ext cx="933450" cy="1571625"/>
          </a:xfrm>
          <a:prstGeom prst="rect">
            <a:avLst/>
          </a:prstGeom>
          <a:noFill/>
          <a:ln w="9525">
            <a:noFill/>
            <a:miter lim="800000"/>
            <a:headEnd/>
            <a:tailEnd/>
          </a:ln>
        </p:spPr>
      </p:pic>
      <p:sp>
        <p:nvSpPr>
          <p:cNvPr id="1211434" name="Cloud"/>
          <p:cNvSpPr>
            <a:spLocks noChangeAspect="1" noEditPoints="1" noChangeArrowheads="1"/>
          </p:cNvSpPr>
          <p:nvPr/>
        </p:nvSpPr>
        <p:spPr bwMode="auto">
          <a:xfrm>
            <a:off x="6872288" y="6903245"/>
            <a:ext cx="4852988" cy="2031206"/>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BE7D">
                  <a:gamma/>
                  <a:tint val="0"/>
                  <a:invGamma/>
                </a:srgbClr>
              </a:gs>
              <a:gs pos="100000">
                <a:srgbClr val="FFBE7D"/>
              </a:gs>
            </a:gsLst>
            <a:path path="rect">
              <a:fillToRect l="50000" t="50000" r="50000" b="50000"/>
            </a:path>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57" name="Text Box 43"/>
          <p:cNvSpPr txBox="1">
            <a:spLocks noChangeArrowheads="1"/>
          </p:cNvSpPr>
          <p:nvPr/>
        </p:nvSpPr>
        <p:spPr bwMode="auto">
          <a:xfrm>
            <a:off x="8025968" y="7000876"/>
            <a:ext cx="2548009" cy="1800251"/>
          </a:xfrm>
          <a:prstGeom prst="rect">
            <a:avLst/>
          </a:prstGeom>
          <a:noFill/>
          <a:ln w="9525">
            <a:noFill/>
            <a:miter lim="800000"/>
            <a:headEnd/>
            <a:tailEnd/>
          </a:ln>
        </p:spPr>
        <p:txBody>
          <a:bodyPr vert="horz" wrap="none" lIns="136940" tIns="68460" rIns="136940" bIns="68460" numCol="1" anchor="t" anchorCtr="0" compatLnSpc="1">
            <a:prstTxWarp prst="textNoShape">
              <a:avLst/>
            </a:prstTxWarp>
            <a:spAutoFit/>
          </a:bodyPr>
          <a:lstStyle/>
          <a:p>
            <a:pPr algn="ctr" defTabSz="1371600" fontAlgn="base">
              <a:spcBef>
                <a:spcPct val="0"/>
              </a:spcBef>
              <a:spcAft>
                <a:spcPct val="0"/>
              </a:spcAft>
            </a:pPr>
            <a:r>
              <a:rPr lang="en-US" sz="3600" b="1">
                <a:latin typeface="Arial Narrow" pitchFamily="34" charset="0"/>
                <a:cs typeface="Arial" pitchFamily="34" charset="0"/>
              </a:rPr>
              <a:t>Private</a:t>
            </a:r>
            <a:br>
              <a:rPr lang="en-US" sz="3600" b="1">
                <a:latin typeface="Arial Narrow" pitchFamily="34" charset="0"/>
                <a:cs typeface="Arial" pitchFamily="34" charset="0"/>
              </a:rPr>
            </a:br>
            <a:r>
              <a:rPr lang="en-US" sz="3600" b="1">
                <a:latin typeface="Arial Narrow" pitchFamily="34" charset="0"/>
                <a:cs typeface="Arial" pitchFamily="34" charset="0"/>
              </a:rPr>
              <a:t>Corporate IP</a:t>
            </a:r>
            <a:br>
              <a:rPr lang="en-US" sz="3600" b="1">
                <a:latin typeface="Arial Narrow" pitchFamily="34" charset="0"/>
                <a:cs typeface="Arial" pitchFamily="34" charset="0"/>
              </a:rPr>
            </a:br>
            <a:r>
              <a:rPr lang="en-US" sz="3600" b="1">
                <a:latin typeface="Arial Narrow" pitchFamily="34" charset="0"/>
                <a:cs typeface="Arial" pitchFamily="34" charset="0"/>
              </a:rPr>
              <a:t>Network</a:t>
            </a:r>
            <a:endParaRPr lang="en-US" sz="2700">
              <a:latin typeface="Arial" pitchFamily="34" charset="0"/>
              <a:cs typeface="Arial" pitchFamily="34" charset="0"/>
            </a:endParaRPr>
          </a:p>
        </p:txBody>
      </p:sp>
      <p:sp>
        <p:nvSpPr>
          <p:cNvPr id="2058" name="Line 15"/>
          <p:cNvSpPr>
            <a:spLocks noChangeShapeType="1"/>
          </p:cNvSpPr>
          <p:nvPr/>
        </p:nvSpPr>
        <p:spPr bwMode="auto">
          <a:xfrm flipV="1">
            <a:off x="10784681" y="2514601"/>
            <a:ext cx="2845595" cy="4583906"/>
          </a:xfrm>
          <a:prstGeom prst="line">
            <a:avLst/>
          </a:prstGeom>
          <a:noFill/>
          <a:ln w="76200">
            <a:solidFill>
              <a:schemeClr val="accent2"/>
            </a:solidFill>
            <a:round/>
            <a:headEnd/>
            <a:tailEnd/>
          </a:ln>
        </p:spPr>
        <p:txBody>
          <a:bodyPr vert="horz" wrap="square" lIns="137160" tIns="68580" rIns="137160" bIns="68580" numCol="1" anchor="t" anchorCtr="1" compatLnSpc="1">
            <a:prstTxWarp prst="textNoShape">
              <a:avLst/>
            </a:prstTxWarp>
            <a:spAutoFit/>
          </a:bodyPr>
          <a:lstStyle/>
          <a:p>
            <a:endParaRPr lang="en-US" sz="2700"/>
          </a:p>
        </p:txBody>
      </p:sp>
      <p:grpSp>
        <p:nvGrpSpPr>
          <p:cNvPr id="3" name="Group 20"/>
          <p:cNvGrpSpPr>
            <a:grpSpLocks noChangeAspect="1"/>
          </p:cNvGrpSpPr>
          <p:nvPr/>
        </p:nvGrpSpPr>
        <p:grpSpPr bwMode="auto">
          <a:xfrm>
            <a:off x="10358438" y="6691313"/>
            <a:ext cx="1035843" cy="633413"/>
            <a:chOff x="2372" y="1318"/>
            <a:chExt cx="515" cy="315"/>
          </a:xfrm>
        </p:grpSpPr>
        <p:sp>
          <p:nvSpPr>
            <p:cNvPr id="2060" name="AutoShape 21"/>
            <p:cNvSpPr>
              <a:spLocks noChangeAspect="1" noChangeArrowheads="1"/>
            </p:cNvSpPr>
            <p:nvPr/>
          </p:nvSpPr>
          <p:spPr bwMode="auto">
            <a:xfrm>
              <a:off x="2372" y="1318"/>
              <a:ext cx="515" cy="315"/>
            </a:xfrm>
            <a:prstGeom prst="rect">
              <a:avLst/>
            </a:prstGeom>
            <a:noFill/>
            <a:ln w="9525">
              <a:noFill/>
              <a:miter lim="800000"/>
              <a:headEnd/>
              <a:tailEnd/>
            </a:ln>
          </p:spPr>
          <p:txBody>
            <a:bodyPr vert="horz" wrap="square" lIns="137160" tIns="68580" rIns="137160" bIns="68580" numCol="1" anchor="t" anchorCtr="0" compatLnSpc="1">
              <a:prstTxWarp prst="textNoShape">
                <a:avLst/>
              </a:prstTxWarp>
            </a:bodyPr>
            <a:lstStyle/>
            <a:p>
              <a:endParaRPr lang="en-US" sz="2700"/>
            </a:p>
          </p:txBody>
        </p:sp>
        <p:sp>
          <p:nvSpPr>
            <p:cNvPr id="2061" name="Freeform 22"/>
            <p:cNvSpPr>
              <a:spLocks/>
            </p:cNvSpPr>
            <p:nvPr/>
          </p:nvSpPr>
          <p:spPr bwMode="auto">
            <a:xfrm>
              <a:off x="2400" y="1346"/>
              <a:ext cx="481" cy="281"/>
            </a:xfrm>
            <a:custGeom>
              <a:avLst/>
              <a:gdLst>
                <a:gd name="T0" fmla="*/ 481 w 481"/>
                <a:gd name="T1" fmla="*/ 109 h 281"/>
                <a:gd name="T2" fmla="*/ 481 w 481"/>
                <a:gd name="T3" fmla="*/ 109 h 281"/>
                <a:gd name="T4" fmla="*/ 481 w 481"/>
                <a:gd name="T5" fmla="*/ 97 h 281"/>
                <a:gd name="T6" fmla="*/ 479 w 481"/>
                <a:gd name="T7" fmla="*/ 86 h 281"/>
                <a:gd name="T8" fmla="*/ 473 w 481"/>
                <a:gd name="T9" fmla="*/ 75 h 281"/>
                <a:gd name="T10" fmla="*/ 465 w 481"/>
                <a:gd name="T11" fmla="*/ 67 h 281"/>
                <a:gd name="T12" fmla="*/ 454 w 481"/>
                <a:gd name="T13" fmla="*/ 56 h 281"/>
                <a:gd name="T14" fmla="*/ 442 w 481"/>
                <a:gd name="T15" fmla="*/ 47 h 281"/>
                <a:gd name="T16" fmla="*/ 412 w 481"/>
                <a:gd name="T17" fmla="*/ 31 h 281"/>
                <a:gd name="T18" fmla="*/ 378 w 481"/>
                <a:gd name="T19" fmla="*/ 19 h 281"/>
                <a:gd name="T20" fmla="*/ 337 w 481"/>
                <a:gd name="T21" fmla="*/ 8 h 281"/>
                <a:gd name="T22" fmla="*/ 289 w 481"/>
                <a:gd name="T23" fmla="*/ 3 h 281"/>
                <a:gd name="T24" fmla="*/ 242 w 481"/>
                <a:gd name="T25" fmla="*/ 0 h 281"/>
                <a:gd name="T26" fmla="*/ 242 w 481"/>
                <a:gd name="T27" fmla="*/ 0 h 281"/>
                <a:gd name="T28" fmla="*/ 192 w 481"/>
                <a:gd name="T29" fmla="*/ 3 h 281"/>
                <a:gd name="T30" fmla="*/ 147 w 481"/>
                <a:gd name="T31" fmla="*/ 8 h 281"/>
                <a:gd name="T32" fmla="*/ 106 w 481"/>
                <a:gd name="T33" fmla="*/ 19 h 281"/>
                <a:gd name="T34" fmla="*/ 69 w 481"/>
                <a:gd name="T35" fmla="*/ 31 h 281"/>
                <a:gd name="T36" fmla="*/ 42 w 481"/>
                <a:gd name="T37" fmla="*/ 47 h 281"/>
                <a:gd name="T38" fmla="*/ 28 w 481"/>
                <a:gd name="T39" fmla="*/ 56 h 281"/>
                <a:gd name="T40" fmla="*/ 19 w 481"/>
                <a:gd name="T41" fmla="*/ 67 h 281"/>
                <a:gd name="T42" fmla="*/ 11 w 481"/>
                <a:gd name="T43" fmla="*/ 75 h 281"/>
                <a:gd name="T44" fmla="*/ 5 w 481"/>
                <a:gd name="T45" fmla="*/ 86 h 281"/>
                <a:gd name="T46" fmla="*/ 0 w 481"/>
                <a:gd name="T47" fmla="*/ 97 h 281"/>
                <a:gd name="T48" fmla="*/ 0 w 481"/>
                <a:gd name="T49" fmla="*/ 109 h 281"/>
                <a:gd name="T50" fmla="*/ 0 w 481"/>
                <a:gd name="T51" fmla="*/ 111 h 281"/>
                <a:gd name="T52" fmla="*/ 0 w 481"/>
                <a:gd name="T53" fmla="*/ 173 h 281"/>
                <a:gd name="T54" fmla="*/ 0 w 481"/>
                <a:gd name="T55" fmla="*/ 173 h 281"/>
                <a:gd name="T56" fmla="*/ 0 w 481"/>
                <a:gd name="T57" fmla="*/ 184 h 281"/>
                <a:gd name="T58" fmla="*/ 5 w 481"/>
                <a:gd name="T59" fmla="*/ 195 h 281"/>
                <a:gd name="T60" fmla="*/ 11 w 481"/>
                <a:gd name="T61" fmla="*/ 206 h 281"/>
                <a:gd name="T62" fmla="*/ 19 w 481"/>
                <a:gd name="T63" fmla="*/ 215 h 281"/>
                <a:gd name="T64" fmla="*/ 28 w 481"/>
                <a:gd name="T65" fmla="*/ 226 h 281"/>
                <a:gd name="T66" fmla="*/ 42 w 481"/>
                <a:gd name="T67" fmla="*/ 234 h 281"/>
                <a:gd name="T68" fmla="*/ 69 w 481"/>
                <a:gd name="T69" fmla="*/ 251 h 281"/>
                <a:gd name="T70" fmla="*/ 106 w 481"/>
                <a:gd name="T71" fmla="*/ 262 h 281"/>
                <a:gd name="T72" fmla="*/ 147 w 481"/>
                <a:gd name="T73" fmla="*/ 273 h 281"/>
                <a:gd name="T74" fmla="*/ 192 w 481"/>
                <a:gd name="T75" fmla="*/ 279 h 281"/>
                <a:gd name="T76" fmla="*/ 242 w 481"/>
                <a:gd name="T77" fmla="*/ 281 h 281"/>
                <a:gd name="T78" fmla="*/ 242 w 481"/>
                <a:gd name="T79" fmla="*/ 281 h 281"/>
                <a:gd name="T80" fmla="*/ 289 w 481"/>
                <a:gd name="T81" fmla="*/ 279 h 281"/>
                <a:gd name="T82" fmla="*/ 337 w 481"/>
                <a:gd name="T83" fmla="*/ 273 h 281"/>
                <a:gd name="T84" fmla="*/ 378 w 481"/>
                <a:gd name="T85" fmla="*/ 262 h 281"/>
                <a:gd name="T86" fmla="*/ 412 w 481"/>
                <a:gd name="T87" fmla="*/ 251 h 281"/>
                <a:gd name="T88" fmla="*/ 442 w 481"/>
                <a:gd name="T89" fmla="*/ 234 h 281"/>
                <a:gd name="T90" fmla="*/ 454 w 481"/>
                <a:gd name="T91" fmla="*/ 226 h 281"/>
                <a:gd name="T92" fmla="*/ 465 w 481"/>
                <a:gd name="T93" fmla="*/ 215 h 281"/>
                <a:gd name="T94" fmla="*/ 473 w 481"/>
                <a:gd name="T95" fmla="*/ 206 h 281"/>
                <a:gd name="T96" fmla="*/ 479 w 481"/>
                <a:gd name="T97" fmla="*/ 195 h 281"/>
                <a:gd name="T98" fmla="*/ 481 w 481"/>
                <a:gd name="T99" fmla="*/ 184 h 281"/>
                <a:gd name="T100" fmla="*/ 481 w 481"/>
                <a:gd name="T101" fmla="*/ 173 h 281"/>
                <a:gd name="T102" fmla="*/ 481 w 481"/>
                <a:gd name="T103" fmla="*/ 111 h 281"/>
                <a:gd name="T104" fmla="*/ 481 w 481"/>
                <a:gd name="T105" fmla="*/ 111 h 281"/>
                <a:gd name="T106" fmla="*/ 481 w 481"/>
                <a:gd name="T107" fmla="*/ 109 h 281"/>
                <a:gd name="T108" fmla="*/ 481 w 481"/>
                <a:gd name="T109" fmla="*/ 109 h 28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481"/>
                <a:gd name="T166" fmla="*/ 0 h 281"/>
                <a:gd name="T167" fmla="*/ 481 w 481"/>
                <a:gd name="T168" fmla="*/ 281 h 281"/>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481" h="281">
                  <a:moveTo>
                    <a:pt x="481" y="109"/>
                  </a:moveTo>
                  <a:lnTo>
                    <a:pt x="481" y="109"/>
                  </a:lnTo>
                  <a:lnTo>
                    <a:pt x="481" y="97"/>
                  </a:lnTo>
                  <a:lnTo>
                    <a:pt x="479" y="86"/>
                  </a:lnTo>
                  <a:lnTo>
                    <a:pt x="473" y="75"/>
                  </a:lnTo>
                  <a:lnTo>
                    <a:pt x="465" y="67"/>
                  </a:lnTo>
                  <a:lnTo>
                    <a:pt x="454" y="56"/>
                  </a:lnTo>
                  <a:lnTo>
                    <a:pt x="442" y="47"/>
                  </a:lnTo>
                  <a:lnTo>
                    <a:pt x="412" y="31"/>
                  </a:lnTo>
                  <a:lnTo>
                    <a:pt x="378" y="19"/>
                  </a:lnTo>
                  <a:lnTo>
                    <a:pt x="337" y="8"/>
                  </a:lnTo>
                  <a:lnTo>
                    <a:pt x="289" y="3"/>
                  </a:lnTo>
                  <a:lnTo>
                    <a:pt x="242" y="0"/>
                  </a:lnTo>
                  <a:lnTo>
                    <a:pt x="192" y="3"/>
                  </a:lnTo>
                  <a:lnTo>
                    <a:pt x="147" y="8"/>
                  </a:lnTo>
                  <a:lnTo>
                    <a:pt x="106" y="19"/>
                  </a:lnTo>
                  <a:lnTo>
                    <a:pt x="69" y="31"/>
                  </a:lnTo>
                  <a:lnTo>
                    <a:pt x="42" y="47"/>
                  </a:lnTo>
                  <a:lnTo>
                    <a:pt x="28" y="56"/>
                  </a:lnTo>
                  <a:lnTo>
                    <a:pt x="19" y="67"/>
                  </a:lnTo>
                  <a:lnTo>
                    <a:pt x="11" y="75"/>
                  </a:lnTo>
                  <a:lnTo>
                    <a:pt x="5" y="86"/>
                  </a:lnTo>
                  <a:lnTo>
                    <a:pt x="0" y="97"/>
                  </a:lnTo>
                  <a:lnTo>
                    <a:pt x="0" y="109"/>
                  </a:lnTo>
                  <a:lnTo>
                    <a:pt x="0" y="111"/>
                  </a:lnTo>
                  <a:lnTo>
                    <a:pt x="0" y="173"/>
                  </a:lnTo>
                  <a:lnTo>
                    <a:pt x="0" y="184"/>
                  </a:lnTo>
                  <a:lnTo>
                    <a:pt x="5" y="195"/>
                  </a:lnTo>
                  <a:lnTo>
                    <a:pt x="11" y="206"/>
                  </a:lnTo>
                  <a:lnTo>
                    <a:pt x="19" y="215"/>
                  </a:lnTo>
                  <a:lnTo>
                    <a:pt x="28" y="226"/>
                  </a:lnTo>
                  <a:lnTo>
                    <a:pt x="42" y="234"/>
                  </a:lnTo>
                  <a:lnTo>
                    <a:pt x="69" y="251"/>
                  </a:lnTo>
                  <a:lnTo>
                    <a:pt x="106" y="262"/>
                  </a:lnTo>
                  <a:lnTo>
                    <a:pt x="147" y="273"/>
                  </a:lnTo>
                  <a:lnTo>
                    <a:pt x="192" y="279"/>
                  </a:lnTo>
                  <a:lnTo>
                    <a:pt x="242" y="281"/>
                  </a:lnTo>
                  <a:lnTo>
                    <a:pt x="289" y="279"/>
                  </a:lnTo>
                  <a:lnTo>
                    <a:pt x="337" y="273"/>
                  </a:lnTo>
                  <a:lnTo>
                    <a:pt x="378" y="262"/>
                  </a:lnTo>
                  <a:lnTo>
                    <a:pt x="412" y="251"/>
                  </a:lnTo>
                  <a:lnTo>
                    <a:pt x="442" y="234"/>
                  </a:lnTo>
                  <a:lnTo>
                    <a:pt x="454" y="226"/>
                  </a:lnTo>
                  <a:lnTo>
                    <a:pt x="465" y="215"/>
                  </a:lnTo>
                  <a:lnTo>
                    <a:pt x="473" y="206"/>
                  </a:lnTo>
                  <a:lnTo>
                    <a:pt x="479" y="195"/>
                  </a:lnTo>
                  <a:lnTo>
                    <a:pt x="481" y="184"/>
                  </a:lnTo>
                  <a:lnTo>
                    <a:pt x="481" y="173"/>
                  </a:lnTo>
                  <a:lnTo>
                    <a:pt x="481" y="111"/>
                  </a:lnTo>
                  <a:lnTo>
                    <a:pt x="481" y="109"/>
                  </a:lnTo>
                  <a:close/>
                </a:path>
              </a:pathLst>
            </a:custGeom>
            <a:solidFill>
              <a:srgbClr val="0000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62" name="Freeform 23"/>
            <p:cNvSpPr>
              <a:spLocks/>
            </p:cNvSpPr>
            <p:nvPr/>
          </p:nvSpPr>
          <p:spPr bwMode="auto">
            <a:xfrm>
              <a:off x="2389" y="1335"/>
              <a:ext cx="459" cy="259"/>
            </a:xfrm>
            <a:custGeom>
              <a:avLst/>
              <a:gdLst>
                <a:gd name="T0" fmla="*/ 459 w 459"/>
                <a:gd name="T1" fmla="*/ 97 h 259"/>
                <a:gd name="T2" fmla="*/ 459 w 459"/>
                <a:gd name="T3" fmla="*/ 97 h 259"/>
                <a:gd name="T4" fmla="*/ 459 w 459"/>
                <a:gd name="T5" fmla="*/ 86 h 259"/>
                <a:gd name="T6" fmla="*/ 456 w 459"/>
                <a:gd name="T7" fmla="*/ 78 h 259"/>
                <a:gd name="T8" fmla="*/ 451 w 459"/>
                <a:gd name="T9" fmla="*/ 69 h 259"/>
                <a:gd name="T10" fmla="*/ 442 w 459"/>
                <a:gd name="T11" fmla="*/ 58 h 259"/>
                <a:gd name="T12" fmla="*/ 420 w 459"/>
                <a:gd name="T13" fmla="*/ 42 h 259"/>
                <a:gd name="T14" fmla="*/ 392 w 459"/>
                <a:gd name="T15" fmla="*/ 28 h 259"/>
                <a:gd name="T16" fmla="*/ 359 w 459"/>
                <a:gd name="T17" fmla="*/ 16 h 259"/>
                <a:gd name="T18" fmla="*/ 320 w 459"/>
                <a:gd name="T19" fmla="*/ 8 h 259"/>
                <a:gd name="T20" fmla="*/ 275 w 459"/>
                <a:gd name="T21" fmla="*/ 3 h 259"/>
                <a:gd name="T22" fmla="*/ 231 w 459"/>
                <a:gd name="T23" fmla="*/ 0 h 259"/>
                <a:gd name="T24" fmla="*/ 231 w 459"/>
                <a:gd name="T25" fmla="*/ 0 h 259"/>
                <a:gd name="T26" fmla="*/ 183 w 459"/>
                <a:gd name="T27" fmla="*/ 3 h 259"/>
                <a:gd name="T28" fmla="*/ 139 w 459"/>
                <a:gd name="T29" fmla="*/ 8 h 259"/>
                <a:gd name="T30" fmla="*/ 100 w 459"/>
                <a:gd name="T31" fmla="*/ 16 h 259"/>
                <a:gd name="T32" fmla="*/ 67 w 459"/>
                <a:gd name="T33" fmla="*/ 28 h 259"/>
                <a:gd name="T34" fmla="*/ 39 w 459"/>
                <a:gd name="T35" fmla="*/ 42 h 259"/>
                <a:gd name="T36" fmla="*/ 16 w 459"/>
                <a:gd name="T37" fmla="*/ 58 h 259"/>
                <a:gd name="T38" fmla="*/ 11 w 459"/>
                <a:gd name="T39" fmla="*/ 69 h 259"/>
                <a:gd name="T40" fmla="*/ 5 w 459"/>
                <a:gd name="T41" fmla="*/ 78 h 259"/>
                <a:gd name="T42" fmla="*/ 0 w 459"/>
                <a:gd name="T43" fmla="*/ 86 h 259"/>
                <a:gd name="T44" fmla="*/ 0 w 459"/>
                <a:gd name="T45" fmla="*/ 97 h 259"/>
                <a:gd name="T46" fmla="*/ 0 w 459"/>
                <a:gd name="T47" fmla="*/ 97 h 259"/>
                <a:gd name="T48" fmla="*/ 0 w 459"/>
                <a:gd name="T49" fmla="*/ 100 h 259"/>
                <a:gd name="T50" fmla="*/ 0 w 459"/>
                <a:gd name="T51" fmla="*/ 100 h 259"/>
                <a:gd name="T52" fmla="*/ 0 w 459"/>
                <a:gd name="T53" fmla="*/ 161 h 259"/>
                <a:gd name="T54" fmla="*/ 0 w 459"/>
                <a:gd name="T55" fmla="*/ 161 h 259"/>
                <a:gd name="T56" fmla="*/ 0 w 459"/>
                <a:gd name="T57" fmla="*/ 170 h 259"/>
                <a:gd name="T58" fmla="*/ 5 w 459"/>
                <a:gd name="T59" fmla="*/ 181 h 259"/>
                <a:gd name="T60" fmla="*/ 11 w 459"/>
                <a:gd name="T61" fmla="*/ 189 h 259"/>
                <a:gd name="T62" fmla="*/ 16 w 459"/>
                <a:gd name="T63" fmla="*/ 198 h 259"/>
                <a:gd name="T64" fmla="*/ 39 w 459"/>
                <a:gd name="T65" fmla="*/ 214 h 259"/>
                <a:gd name="T66" fmla="*/ 67 w 459"/>
                <a:gd name="T67" fmla="*/ 231 h 259"/>
                <a:gd name="T68" fmla="*/ 100 w 459"/>
                <a:gd name="T69" fmla="*/ 242 h 259"/>
                <a:gd name="T70" fmla="*/ 139 w 459"/>
                <a:gd name="T71" fmla="*/ 251 h 259"/>
                <a:gd name="T72" fmla="*/ 183 w 459"/>
                <a:gd name="T73" fmla="*/ 256 h 259"/>
                <a:gd name="T74" fmla="*/ 231 w 459"/>
                <a:gd name="T75" fmla="*/ 259 h 259"/>
                <a:gd name="T76" fmla="*/ 231 w 459"/>
                <a:gd name="T77" fmla="*/ 259 h 259"/>
                <a:gd name="T78" fmla="*/ 275 w 459"/>
                <a:gd name="T79" fmla="*/ 256 h 259"/>
                <a:gd name="T80" fmla="*/ 320 w 459"/>
                <a:gd name="T81" fmla="*/ 251 h 259"/>
                <a:gd name="T82" fmla="*/ 359 w 459"/>
                <a:gd name="T83" fmla="*/ 242 h 259"/>
                <a:gd name="T84" fmla="*/ 392 w 459"/>
                <a:gd name="T85" fmla="*/ 231 h 259"/>
                <a:gd name="T86" fmla="*/ 420 w 459"/>
                <a:gd name="T87" fmla="*/ 214 h 259"/>
                <a:gd name="T88" fmla="*/ 442 w 459"/>
                <a:gd name="T89" fmla="*/ 198 h 259"/>
                <a:gd name="T90" fmla="*/ 451 w 459"/>
                <a:gd name="T91" fmla="*/ 189 h 259"/>
                <a:gd name="T92" fmla="*/ 456 w 459"/>
                <a:gd name="T93" fmla="*/ 181 h 259"/>
                <a:gd name="T94" fmla="*/ 459 w 459"/>
                <a:gd name="T95" fmla="*/ 170 h 259"/>
                <a:gd name="T96" fmla="*/ 459 w 459"/>
                <a:gd name="T97" fmla="*/ 161 h 259"/>
                <a:gd name="T98" fmla="*/ 459 w 459"/>
                <a:gd name="T99" fmla="*/ 100 h 259"/>
                <a:gd name="T100" fmla="*/ 459 w 459"/>
                <a:gd name="T101" fmla="*/ 100 h 259"/>
                <a:gd name="T102" fmla="*/ 459 w 459"/>
                <a:gd name="T103" fmla="*/ 100 h 259"/>
                <a:gd name="T104" fmla="*/ 459 w 459"/>
                <a:gd name="T105" fmla="*/ 97 h 259"/>
                <a:gd name="T106" fmla="*/ 459 w 459"/>
                <a:gd name="T107" fmla="*/ 97 h 25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459"/>
                <a:gd name="T163" fmla="*/ 0 h 259"/>
                <a:gd name="T164" fmla="*/ 459 w 459"/>
                <a:gd name="T165" fmla="*/ 259 h 259"/>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459" h="259">
                  <a:moveTo>
                    <a:pt x="459" y="97"/>
                  </a:moveTo>
                  <a:lnTo>
                    <a:pt x="459" y="97"/>
                  </a:lnTo>
                  <a:lnTo>
                    <a:pt x="459" y="86"/>
                  </a:lnTo>
                  <a:lnTo>
                    <a:pt x="456" y="78"/>
                  </a:lnTo>
                  <a:lnTo>
                    <a:pt x="451" y="69"/>
                  </a:lnTo>
                  <a:lnTo>
                    <a:pt x="442" y="58"/>
                  </a:lnTo>
                  <a:lnTo>
                    <a:pt x="420" y="42"/>
                  </a:lnTo>
                  <a:lnTo>
                    <a:pt x="392" y="28"/>
                  </a:lnTo>
                  <a:lnTo>
                    <a:pt x="359" y="16"/>
                  </a:lnTo>
                  <a:lnTo>
                    <a:pt x="320" y="8"/>
                  </a:lnTo>
                  <a:lnTo>
                    <a:pt x="275" y="3"/>
                  </a:lnTo>
                  <a:lnTo>
                    <a:pt x="231" y="0"/>
                  </a:lnTo>
                  <a:lnTo>
                    <a:pt x="183" y="3"/>
                  </a:lnTo>
                  <a:lnTo>
                    <a:pt x="139" y="8"/>
                  </a:lnTo>
                  <a:lnTo>
                    <a:pt x="100" y="16"/>
                  </a:lnTo>
                  <a:lnTo>
                    <a:pt x="67" y="28"/>
                  </a:lnTo>
                  <a:lnTo>
                    <a:pt x="39" y="42"/>
                  </a:lnTo>
                  <a:lnTo>
                    <a:pt x="16" y="58"/>
                  </a:lnTo>
                  <a:lnTo>
                    <a:pt x="11" y="69"/>
                  </a:lnTo>
                  <a:lnTo>
                    <a:pt x="5" y="78"/>
                  </a:lnTo>
                  <a:lnTo>
                    <a:pt x="0" y="86"/>
                  </a:lnTo>
                  <a:lnTo>
                    <a:pt x="0" y="97"/>
                  </a:lnTo>
                  <a:lnTo>
                    <a:pt x="0" y="100"/>
                  </a:lnTo>
                  <a:lnTo>
                    <a:pt x="0" y="161"/>
                  </a:lnTo>
                  <a:lnTo>
                    <a:pt x="0" y="170"/>
                  </a:lnTo>
                  <a:lnTo>
                    <a:pt x="5" y="181"/>
                  </a:lnTo>
                  <a:lnTo>
                    <a:pt x="11" y="189"/>
                  </a:lnTo>
                  <a:lnTo>
                    <a:pt x="16" y="198"/>
                  </a:lnTo>
                  <a:lnTo>
                    <a:pt x="39" y="214"/>
                  </a:lnTo>
                  <a:lnTo>
                    <a:pt x="67" y="231"/>
                  </a:lnTo>
                  <a:lnTo>
                    <a:pt x="100" y="242"/>
                  </a:lnTo>
                  <a:lnTo>
                    <a:pt x="139" y="251"/>
                  </a:lnTo>
                  <a:lnTo>
                    <a:pt x="183" y="256"/>
                  </a:lnTo>
                  <a:lnTo>
                    <a:pt x="231" y="259"/>
                  </a:lnTo>
                  <a:lnTo>
                    <a:pt x="275" y="256"/>
                  </a:lnTo>
                  <a:lnTo>
                    <a:pt x="320" y="251"/>
                  </a:lnTo>
                  <a:lnTo>
                    <a:pt x="359" y="242"/>
                  </a:lnTo>
                  <a:lnTo>
                    <a:pt x="392" y="231"/>
                  </a:lnTo>
                  <a:lnTo>
                    <a:pt x="420" y="214"/>
                  </a:lnTo>
                  <a:lnTo>
                    <a:pt x="442" y="198"/>
                  </a:lnTo>
                  <a:lnTo>
                    <a:pt x="451" y="189"/>
                  </a:lnTo>
                  <a:lnTo>
                    <a:pt x="456" y="181"/>
                  </a:lnTo>
                  <a:lnTo>
                    <a:pt x="459" y="170"/>
                  </a:lnTo>
                  <a:lnTo>
                    <a:pt x="459" y="161"/>
                  </a:lnTo>
                  <a:lnTo>
                    <a:pt x="459" y="100"/>
                  </a:lnTo>
                  <a:lnTo>
                    <a:pt x="459" y="97"/>
                  </a:lnTo>
                  <a:close/>
                </a:path>
              </a:pathLst>
            </a:custGeom>
            <a:solidFill>
              <a:srgbClr val="2699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63" name="Freeform 24"/>
            <p:cNvSpPr>
              <a:spLocks noEditPoints="1"/>
            </p:cNvSpPr>
            <p:nvPr/>
          </p:nvSpPr>
          <p:spPr bwMode="auto">
            <a:xfrm>
              <a:off x="2378" y="1324"/>
              <a:ext cx="481" cy="281"/>
            </a:xfrm>
            <a:custGeom>
              <a:avLst/>
              <a:gdLst>
                <a:gd name="T0" fmla="*/ 0 w 481"/>
                <a:gd name="T1" fmla="*/ 111 h 281"/>
                <a:gd name="T2" fmla="*/ 0 w 481"/>
                <a:gd name="T3" fmla="*/ 172 h 281"/>
                <a:gd name="T4" fmla="*/ 5 w 481"/>
                <a:gd name="T5" fmla="*/ 195 h 281"/>
                <a:gd name="T6" fmla="*/ 19 w 481"/>
                <a:gd name="T7" fmla="*/ 214 h 281"/>
                <a:gd name="T8" fmla="*/ 41 w 481"/>
                <a:gd name="T9" fmla="*/ 234 h 281"/>
                <a:gd name="T10" fmla="*/ 105 w 481"/>
                <a:gd name="T11" fmla="*/ 262 h 281"/>
                <a:gd name="T12" fmla="*/ 192 w 481"/>
                <a:gd name="T13" fmla="*/ 278 h 281"/>
                <a:gd name="T14" fmla="*/ 242 w 481"/>
                <a:gd name="T15" fmla="*/ 281 h 281"/>
                <a:gd name="T16" fmla="*/ 336 w 481"/>
                <a:gd name="T17" fmla="*/ 273 h 281"/>
                <a:gd name="T18" fmla="*/ 412 w 481"/>
                <a:gd name="T19" fmla="*/ 248 h 281"/>
                <a:gd name="T20" fmla="*/ 453 w 481"/>
                <a:gd name="T21" fmla="*/ 225 h 281"/>
                <a:gd name="T22" fmla="*/ 473 w 481"/>
                <a:gd name="T23" fmla="*/ 203 h 281"/>
                <a:gd name="T24" fmla="*/ 481 w 481"/>
                <a:gd name="T25" fmla="*/ 184 h 281"/>
                <a:gd name="T26" fmla="*/ 481 w 481"/>
                <a:gd name="T27" fmla="*/ 111 h 281"/>
                <a:gd name="T28" fmla="*/ 481 w 481"/>
                <a:gd name="T29" fmla="*/ 108 h 281"/>
                <a:gd name="T30" fmla="*/ 481 w 481"/>
                <a:gd name="T31" fmla="*/ 97 h 281"/>
                <a:gd name="T32" fmla="*/ 473 w 481"/>
                <a:gd name="T33" fmla="*/ 75 h 281"/>
                <a:gd name="T34" fmla="*/ 453 w 481"/>
                <a:gd name="T35" fmla="*/ 55 h 281"/>
                <a:gd name="T36" fmla="*/ 412 w 481"/>
                <a:gd name="T37" fmla="*/ 30 h 281"/>
                <a:gd name="T38" fmla="*/ 336 w 481"/>
                <a:gd name="T39" fmla="*/ 8 h 281"/>
                <a:gd name="T40" fmla="*/ 242 w 481"/>
                <a:gd name="T41" fmla="*/ 0 h 281"/>
                <a:gd name="T42" fmla="*/ 192 w 481"/>
                <a:gd name="T43" fmla="*/ 2 h 281"/>
                <a:gd name="T44" fmla="*/ 105 w 481"/>
                <a:gd name="T45" fmla="*/ 19 h 281"/>
                <a:gd name="T46" fmla="*/ 41 w 481"/>
                <a:gd name="T47" fmla="*/ 47 h 281"/>
                <a:gd name="T48" fmla="*/ 19 w 481"/>
                <a:gd name="T49" fmla="*/ 66 h 281"/>
                <a:gd name="T50" fmla="*/ 5 w 481"/>
                <a:gd name="T51" fmla="*/ 86 h 281"/>
                <a:gd name="T52" fmla="*/ 0 w 481"/>
                <a:gd name="T53" fmla="*/ 108 h 281"/>
                <a:gd name="T54" fmla="*/ 22 w 481"/>
                <a:gd name="T55" fmla="*/ 172 h 281"/>
                <a:gd name="T56" fmla="*/ 22 w 481"/>
                <a:gd name="T57" fmla="*/ 108 h 281"/>
                <a:gd name="T58" fmla="*/ 22 w 481"/>
                <a:gd name="T59" fmla="*/ 100 h 281"/>
                <a:gd name="T60" fmla="*/ 39 w 481"/>
                <a:gd name="T61" fmla="*/ 78 h 281"/>
                <a:gd name="T62" fmla="*/ 83 w 481"/>
                <a:gd name="T63" fmla="*/ 50 h 281"/>
                <a:gd name="T64" fmla="*/ 153 w 481"/>
                <a:gd name="T65" fmla="*/ 30 h 281"/>
                <a:gd name="T66" fmla="*/ 242 w 481"/>
                <a:gd name="T67" fmla="*/ 22 h 281"/>
                <a:gd name="T68" fmla="*/ 289 w 481"/>
                <a:gd name="T69" fmla="*/ 25 h 281"/>
                <a:gd name="T70" fmla="*/ 367 w 481"/>
                <a:gd name="T71" fmla="*/ 39 h 281"/>
                <a:gd name="T72" fmla="*/ 425 w 481"/>
                <a:gd name="T73" fmla="*/ 64 h 281"/>
                <a:gd name="T74" fmla="*/ 456 w 481"/>
                <a:gd name="T75" fmla="*/ 92 h 281"/>
                <a:gd name="T76" fmla="*/ 459 w 481"/>
                <a:gd name="T77" fmla="*/ 108 h 281"/>
                <a:gd name="T78" fmla="*/ 459 w 481"/>
                <a:gd name="T79" fmla="*/ 172 h 281"/>
                <a:gd name="T80" fmla="*/ 456 w 481"/>
                <a:gd name="T81" fmla="*/ 186 h 281"/>
                <a:gd name="T82" fmla="*/ 425 w 481"/>
                <a:gd name="T83" fmla="*/ 217 h 281"/>
                <a:gd name="T84" fmla="*/ 367 w 481"/>
                <a:gd name="T85" fmla="*/ 242 h 281"/>
                <a:gd name="T86" fmla="*/ 289 w 481"/>
                <a:gd name="T87" fmla="*/ 256 h 281"/>
                <a:gd name="T88" fmla="*/ 242 w 481"/>
                <a:gd name="T89" fmla="*/ 259 h 281"/>
                <a:gd name="T90" fmla="*/ 153 w 481"/>
                <a:gd name="T91" fmla="*/ 250 h 281"/>
                <a:gd name="T92" fmla="*/ 83 w 481"/>
                <a:gd name="T93" fmla="*/ 231 h 281"/>
                <a:gd name="T94" fmla="*/ 39 w 481"/>
                <a:gd name="T95" fmla="*/ 203 h 281"/>
                <a:gd name="T96" fmla="*/ 22 w 481"/>
                <a:gd name="T97" fmla="*/ 181 h 281"/>
                <a:gd name="T98" fmla="*/ 22 w 481"/>
                <a:gd name="T99" fmla="*/ 172 h 2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81"/>
                <a:gd name="T151" fmla="*/ 0 h 281"/>
                <a:gd name="T152" fmla="*/ 481 w 481"/>
                <a:gd name="T153" fmla="*/ 281 h 2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81" h="281">
                  <a:moveTo>
                    <a:pt x="0" y="108"/>
                  </a:moveTo>
                  <a:lnTo>
                    <a:pt x="0" y="111"/>
                  </a:lnTo>
                  <a:lnTo>
                    <a:pt x="0" y="172"/>
                  </a:lnTo>
                  <a:lnTo>
                    <a:pt x="0" y="184"/>
                  </a:lnTo>
                  <a:lnTo>
                    <a:pt x="5" y="195"/>
                  </a:lnTo>
                  <a:lnTo>
                    <a:pt x="11" y="203"/>
                  </a:lnTo>
                  <a:lnTo>
                    <a:pt x="19" y="214"/>
                  </a:lnTo>
                  <a:lnTo>
                    <a:pt x="27" y="225"/>
                  </a:lnTo>
                  <a:lnTo>
                    <a:pt x="41" y="234"/>
                  </a:lnTo>
                  <a:lnTo>
                    <a:pt x="69" y="248"/>
                  </a:lnTo>
                  <a:lnTo>
                    <a:pt x="105" y="262"/>
                  </a:lnTo>
                  <a:lnTo>
                    <a:pt x="147" y="273"/>
                  </a:lnTo>
                  <a:lnTo>
                    <a:pt x="192" y="278"/>
                  </a:lnTo>
                  <a:lnTo>
                    <a:pt x="242" y="281"/>
                  </a:lnTo>
                  <a:lnTo>
                    <a:pt x="289" y="278"/>
                  </a:lnTo>
                  <a:lnTo>
                    <a:pt x="336" y="273"/>
                  </a:lnTo>
                  <a:lnTo>
                    <a:pt x="375" y="262"/>
                  </a:lnTo>
                  <a:lnTo>
                    <a:pt x="412" y="248"/>
                  </a:lnTo>
                  <a:lnTo>
                    <a:pt x="442" y="234"/>
                  </a:lnTo>
                  <a:lnTo>
                    <a:pt x="453" y="225"/>
                  </a:lnTo>
                  <a:lnTo>
                    <a:pt x="464" y="214"/>
                  </a:lnTo>
                  <a:lnTo>
                    <a:pt x="473" y="203"/>
                  </a:lnTo>
                  <a:lnTo>
                    <a:pt x="478" y="195"/>
                  </a:lnTo>
                  <a:lnTo>
                    <a:pt x="481" y="184"/>
                  </a:lnTo>
                  <a:lnTo>
                    <a:pt x="481" y="172"/>
                  </a:lnTo>
                  <a:lnTo>
                    <a:pt x="481" y="111"/>
                  </a:lnTo>
                  <a:lnTo>
                    <a:pt x="481" y="108"/>
                  </a:lnTo>
                  <a:lnTo>
                    <a:pt x="481" y="97"/>
                  </a:lnTo>
                  <a:lnTo>
                    <a:pt x="478" y="86"/>
                  </a:lnTo>
                  <a:lnTo>
                    <a:pt x="473" y="75"/>
                  </a:lnTo>
                  <a:lnTo>
                    <a:pt x="464" y="66"/>
                  </a:lnTo>
                  <a:lnTo>
                    <a:pt x="453" y="55"/>
                  </a:lnTo>
                  <a:lnTo>
                    <a:pt x="442" y="47"/>
                  </a:lnTo>
                  <a:lnTo>
                    <a:pt x="412" y="30"/>
                  </a:lnTo>
                  <a:lnTo>
                    <a:pt x="375" y="19"/>
                  </a:lnTo>
                  <a:lnTo>
                    <a:pt x="336" y="8"/>
                  </a:lnTo>
                  <a:lnTo>
                    <a:pt x="289" y="2"/>
                  </a:lnTo>
                  <a:lnTo>
                    <a:pt x="242" y="0"/>
                  </a:lnTo>
                  <a:lnTo>
                    <a:pt x="192" y="2"/>
                  </a:lnTo>
                  <a:lnTo>
                    <a:pt x="147" y="8"/>
                  </a:lnTo>
                  <a:lnTo>
                    <a:pt x="105" y="19"/>
                  </a:lnTo>
                  <a:lnTo>
                    <a:pt x="69" y="30"/>
                  </a:lnTo>
                  <a:lnTo>
                    <a:pt x="41" y="47"/>
                  </a:lnTo>
                  <a:lnTo>
                    <a:pt x="27" y="55"/>
                  </a:lnTo>
                  <a:lnTo>
                    <a:pt x="19" y="66"/>
                  </a:lnTo>
                  <a:lnTo>
                    <a:pt x="11" y="75"/>
                  </a:lnTo>
                  <a:lnTo>
                    <a:pt x="5" y="86"/>
                  </a:lnTo>
                  <a:lnTo>
                    <a:pt x="0" y="97"/>
                  </a:lnTo>
                  <a:lnTo>
                    <a:pt x="0" y="108"/>
                  </a:lnTo>
                  <a:close/>
                  <a:moveTo>
                    <a:pt x="22" y="172"/>
                  </a:moveTo>
                  <a:lnTo>
                    <a:pt x="22" y="108"/>
                  </a:lnTo>
                  <a:lnTo>
                    <a:pt x="22" y="100"/>
                  </a:lnTo>
                  <a:lnTo>
                    <a:pt x="25" y="92"/>
                  </a:lnTo>
                  <a:lnTo>
                    <a:pt x="39" y="78"/>
                  </a:lnTo>
                  <a:lnTo>
                    <a:pt x="55" y="64"/>
                  </a:lnTo>
                  <a:lnTo>
                    <a:pt x="83" y="50"/>
                  </a:lnTo>
                  <a:lnTo>
                    <a:pt x="114" y="39"/>
                  </a:lnTo>
                  <a:lnTo>
                    <a:pt x="153" y="30"/>
                  </a:lnTo>
                  <a:lnTo>
                    <a:pt x="194" y="25"/>
                  </a:lnTo>
                  <a:lnTo>
                    <a:pt x="242" y="22"/>
                  </a:lnTo>
                  <a:lnTo>
                    <a:pt x="289" y="25"/>
                  </a:lnTo>
                  <a:lnTo>
                    <a:pt x="331" y="30"/>
                  </a:lnTo>
                  <a:lnTo>
                    <a:pt x="367" y="39"/>
                  </a:lnTo>
                  <a:lnTo>
                    <a:pt x="400" y="50"/>
                  </a:lnTo>
                  <a:lnTo>
                    <a:pt x="425" y="64"/>
                  </a:lnTo>
                  <a:lnTo>
                    <a:pt x="445" y="78"/>
                  </a:lnTo>
                  <a:lnTo>
                    <a:pt x="456" y="92"/>
                  </a:lnTo>
                  <a:lnTo>
                    <a:pt x="459" y="100"/>
                  </a:lnTo>
                  <a:lnTo>
                    <a:pt x="459" y="108"/>
                  </a:lnTo>
                  <a:lnTo>
                    <a:pt x="459" y="172"/>
                  </a:lnTo>
                  <a:lnTo>
                    <a:pt x="459" y="181"/>
                  </a:lnTo>
                  <a:lnTo>
                    <a:pt x="456" y="186"/>
                  </a:lnTo>
                  <a:lnTo>
                    <a:pt x="445" y="203"/>
                  </a:lnTo>
                  <a:lnTo>
                    <a:pt x="425" y="217"/>
                  </a:lnTo>
                  <a:lnTo>
                    <a:pt x="400" y="231"/>
                  </a:lnTo>
                  <a:lnTo>
                    <a:pt x="367" y="242"/>
                  </a:lnTo>
                  <a:lnTo>
                    <a:pt x="331" y="250"/>
                  </a:lnTo>
                  <a:lnTo>
                    <a:pt x="289" y="256"/>
                  </a:lnTo>
                  <a:lnTo>
                    <a:pt x="242" y="259"/>
                  </a:lnTo>
                  <a:lnTo>
                    <a:pt x="194" y="256"/>
                  </a:lnTo>
                  <a:lnTo>
                    <a:pt x="153" y="250"/>
                  </a:lnTo>
                  <a:lnTo>
                    <a:pt x="114" y="242"/>
                  </a:lnTo>
                  <a:lnTo>
                    <a:pt x="83" y="231"/>
                  </a:lnTo>
                  <a:lnTo>
                    <a:pt x="55" y="217"/>
                  </a:lnTo>
                  <a:lnTo>
                    <a:pt x="39" y="203"/>
                  </a:lnTo>
                  <a:lnTo>
                    <a:pt x="25" y="186"/>
                  </a:lnTo>
                  <a:lnTo>
                    <a:pt x="22" y="181"/>
                  </a:lnTo>
                  <a:lnTo>
                    <a:pt x="22" y="172"/>
                  </a:lnTo>
                  <a:close/>
                </a:path>
              </a:pathLst>
            </a:custGeom>
            <a:solidFill>
              <a:srgbClr val="0000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64" name="Freeform 25"/>
            <p:cNvSpPr>
              <a:spLocks/>
            </p:cNvSpPr>
            <p:nvPr/>
          </p:nvSpPr>
          <p:spPr bwMode="auto">
            <a:xfrm>
              <a:off x="2389" y="1435"/>
              <a:ext cx="53" cy="123"/>
            </a:xfrm>
            <a:custGeom>
              <a:avLst/>
              <a:gdLst>
                <a:gd name="T0" fmla="*/ 53 w 53"/>
                <a:gd name="T1" fmla="*/ 0 h 123"/>
                <a:gd name="T2" fmla="*/ 0 w 53"/>
                <a:gd name="T3" fmla="*/ 0 h 123"/>
                <a:gd name="T4" fmla="*/ 0 w 53"/>
                <a:gd name="T5" fmla="*/ 61 h 123"/>
                <a:gd name="T6" fmla="*/ 0 w 53"/>
                <a:gd name="T7" fmla="*/ 61 h 123"/>
                <a:gd name="T8" fmla="*/ 0 w 53"/>
                <a:gd name="T9" fmla="*/ 70 h 123"/>
                <a:gd name="T10" fmla="*/ 2 w 53"/>
                <a:gd name="T11" fmla="*/ 78 h 123"/>
                <a:gd name="T12" fmla="*/ 14 w 53"/>
                <a:gd name="T13" fmla="*/ 95 h 123"/>
                <a:gd name="T14" fmla="*/ 30 w 53"/>
                <a:gd name="T15" fmla="*/ 109 h 123"/>
                <a:gd name="T16" fmla="*/ 53 w 53"/>
                <a:gd name="T17" fmla="*/ 123 h 123"/>
                <a:gd name="T18" fmla="*/ 53 w 53"/>
                <a:gd name="T19" fmla="*/ 0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3"/>
                <a:gd name="T31" fmla="*/ 0 h 123"/>
                <a:gd name="T32" fmla="*/ 53 w 53"/>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3" h="123">
                  <a:moveTo>
                    <a:pt x="53" y="0"/>
                  </a:moveTo>
                  <a:lnTo>
                    <a:pt x="0" y="0"/>
                  </a:lnTo>
                  <a:lnTo>
                    <a:pt x="0" y="61"/>
                  </a:lnTo>
                  <a:lnTo>
                    <a:pt x="0" y="70"/>
                  </a:lnTo>
                  <a:lnTo>
                    <a:pt x="2" y="78"/>
                  </a:lnTo>
                  <a:lnTo>
                    <a:pt x="14" y="95"/>
                  </a:lnTo>
                  <a:lnTo>
                    <a:pt x="30" y="109"/>
                  </a:lnTo>
                  <a:lnTo>
                    <a:pt x="53" y="123"/>
                  </a:lnTo>
                  <a:lnTo>
                    <a:pt x="53" y="0"/>
                  </a:lnTo>
                  <a:close/>
                </a:path>
              </a:pathLst>
            </a:custGeom>
            <a:solidFill>
              <a:srgbClr val="33CC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65" name="Freeform 26"/>
            <p:cNvSpPr>
              <a:spLocks/>
            </p:cNvSpPr>
            <p:nvPr/>
          </p:nvSpPr>
          <p:spPr bwMode="auto">
            <a:xfrm>
              <a:off x="2442" y="1435"/>
              <a:ext cx="91" cy="151"/>
            </a:xfrm>
            <a:custGeom>
              <a:avLst/>
              <a:gdLst>
                <a:gd name="T0" fmla="*/ 91 w 91"/>
                <a:gd name="T1" fmla="*/ 0 h 151"/>
                <a:gd name="T2" fmla="*/ 0 w 91"/>
                <a:gd name="T3" fmla="*/ 0 h 151"/>
                <a:gd name="T4" fmla="*/ 0 w 91"/>
                <a:gd name="T5" fmla="*/ 123 h 151"/>
                <a:gd name="T6" fmla="*/ 0 w 91"/>
                <a:gd name="T7" fmla="*/ 123 h 151"/>
                <a:gd name="T8" fmla="*/ 19 w 91"/>
                <a:gd name="T9" fmla="*/ 131 h 151"/>
                <a:gd name="T10" fmla="*/ 41 w 91"/>
                <a:gd name="T11" fmla="*/ 139 h 151"/>
                <a:gd name="T12" fmla="*/ 66 w 91"/>
                <a:gd name="T13" fmla="*/ 148 h 151"/>
                <a:gd name="T14" fmla="*/ 91 w 91"/>
                <a:gd name="T15" fmla="*/ 151 h 151"/>
                <a:gd name="T16" fmla="*/ 91 w 91"/>
                <a:gd name="T17" fmla="*/ 0 h 1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1"/>
                <a:gd name="T28" fmla="*/ 0 h 151"/>
                <a:gd name="T29" fmla="*/ 91 w 91"/>
                <a:gd name="T30" fmla="*/ 151 h 1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1" h="151">
                  <a:moveTo>
                    <a:pt x="91" y="0"/>
                  </a:moveTo>
                  <a:lnTo>
                    <a:pt x="0" y="0"/>
                  </a:lnTo>
                  <a:lnTo>
                    <a:pt x="0" y="123"/>
                  </a:lnTo>
                  <a:lnTo>
                    <a:pt x="19" y="131"/>
                  </a:lnTo>
                  <a:lnTo>
                    <a:pt x="41" y="139"/>
                  </a:lnTo>
                  <a:lnTo>
                    <a:pt x="66" y="148"/>
                  </a:lnTo>
                  <a:lnTo>
                    <a:pt x="91" y="151"/>
                  </a:lnTo>
                  <a:lnTo>
                    <a:pt x="91" y="0"/>
                  </a:lnTo>
                  <a:close/>
                </a:path>
              </a:pathLst>
            </a:custGeom>
            <a:solidFill>
              <a:srgbClr val="8CFF66"/>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66" name="Freeform 27"/>
            <p:cNvSpPr>
              <a:spLocks/>
            </p:cNvSpPr>
            <p:nvPr/>
          </p:nvSpPr>
          <p:spPr bwMode="auto">
            <a:xfrm>
              <a:off x="2533" y="1435"/>
              <a:ext cx="140" cy="159"/>
            </a:xfrm>
            <a:custGeom>
              <a:avLst/>
              <a:gdLst>
                <a:gd name="T0" fmla="*/ 140 w 140"/>
                <a:gd name="T1" fmla="*/ 0 h 159"/>
                <a:gd name="T2" fmla="*/ 0 w 140"/>
                <a:gd name="T3" fmla="*/ 0 h 159"/>
                <a:gd name="T4" fmla="*/ 0 w 140"/>
                <a:gd name="T5" fmla="*/ 151 h 159"/>
                <a:gd name="T6" fmla="*/ 0 w 140"/>
                <a:gd name="T7" fmla="*/ 151 h 159"/>
                <a:gd name="T8" fmla="*/ 42 w 140"/>
                <a:gd name="T9" fmla="*/ 156 h 159"/>
                <a:gd name="T10" fmla="*/ 87 w 140"/>
                <a:gd name="T11" fmla="*/ 159 h 159"/>
                <a:gd name="T12" fmla="*/ 87 w 140"/>
                <a:gd name="T13" fmla="*/ 159 h 159"/>
                <a:gd name="T14" fmla="*/ 140 w 140"/>
                <a:gd name="T15" fmla="*/ 156 h 159"/>
                <a:gd name="T16" fmla="*/ 140 w 140"/>
                <a:gd name="T17" fmla="*/ 0 h 15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0"/>
                <a:gd name="T28" fmla="*/ 0 h 159"/>
                <a:gd name="T29" fmla="*/ 140 w 140"/>
                <a:gd name="T30" fmla="*/ 159 h 15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0" h="159">
                  <a:moveTo>
                    <a:pt x="140" y="0"/>
                  </a:moveTo>
                  <a:lnTo>
                    <a:pt x="0" y="0"/>
                  </a:lnTo>
                  <a:lnTo>
                    <a:pt x="0" y="151"/>
                  </a:lnTo>
                  <a:lnTo>
                    <a:pt x="42" y="156"/>
                  </a:lnTo>
                  <a:lnTo>
                    <a:pt x="87" y="159"/>
                  </a:lnTo>
                  <a:lnTo>
                    <a:pt x="140" y="156"/>
                  </a:lnTo>
                  <a:lnTo>
                    <a:pt x="140" y="0"/>
                  </a:lnTo>
                  <a:close/>
                </a:path>
              </a:pathLst>
            </a:custGeom>
            <a:solidFill>
              <a:srgbClr val="33CC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67" name="Freeform 28"/>
            <p:cNvSpPr>
              <a:spLocks/>
            </p:cNvSpPr>
            <p:nvPr/>
          </p:nvSpPr>
          <p:spPr bwMode="auto">
            <a:xfrm>
              <a:off x="2773" y="1435"/>
              <a:ext cx="75" cy="134"/>
            </a:xfrm>
            <a:custGeom>
              <a:avLst/>
              <a:gdLst>
                <a:gd name="T0" fmla="*/ 0 w 75"/>
                <a:gd name="T1" fmla="*/ 134 h 134"/>
                <a:gd name="T2" fmla="*/ 0 w 75"/>
                <a:gd name="T3" fmla="*/ 134 h 134"/>
                <a:gd name="T4" fmla="*/ 30 w 75"/>
                <a:gd name="T5" fmla="*/ 120 h 134"/>
                <a:gd name="T6" fmla="*/ 44 w 75"/>
                <a:gd name="T7" fmla="*/ 112 h 134"/>
                <a:gd name="T8" fmla="*/ 56 w 75"/>
                <a:gd name="T9" fmla="*/ 100 h 134"/>
                <a:gd name="T10" fmla="*/ 64 w 75"/>
                <a:gd name="T11" fmla="*/ 92 h 134"/>
                <a:gd name="T12" fmla="*/ 69 w 75"/>
                <a:gd name="T13" fmla="*/ 81 h 134"/>
                <a:gd name="T14" fmla="*/ 75 w 75"/>
                <a:gd name="T15" fmla="*/ 73 h 134"/>
                <a:gd name="T16" fmla="*/ 75 w 75"/>
                <a:gd name="T17" fmla="*/ 61 h 134"/>
                <a:gd name="T18" fmla="*/ 75 w 75"/>
                <a:gd name="T19" fmla="*/ 0 h 134"/>
                <a:gd name="T20" fmla="*/ 0 w 75"/>
                <a:gd name="T21" fmla="*/ 0 h 134"/>
                <a:gd name="T22" fmla="*/ 0 w 75"/>
                <a:gd name="T23" fmla="*/ 134 h 1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5"/>
                <a:gd name="T37" fmla="*/ 0 h 134"/>
                <a:gd name="T38" fmla="*/ 75 w 75"/>
                <a:gd name="T39" fmla="*/ 134 h 1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5" h="134">
                  <a:moveTo>
                    <a:pt x="0" y="134"/>
                  </a:moveTo>
                  <a:lnTo>
                    <a:pt x="0" y="134"/>
                  </a:lnTo>
                  <a:lnTo>
                    <a:pt x="30" y="120"/>
                  </a:lnTo>
                  <a:lnTo>
                    <a:pt x="44" y="112"/>
                  </a:lnTo>
                  <a:lnTo>
                    <a:pt x="56" y="100"/>
                  </a:lnTo>
                  <a:lnTo>
                    <a:pt x="64" y="92"/>
                  </a:lnTo>
                  <a:lnTo>
                    <a:pt x="69" y="81"/>
                  </a:lnTo>
                  <a:lnTo>
                    <a:pt x="75" y="73"/>
                  </a:lnTo>
                  <a:lnTo>
                    <a:pt x="75" y="61"/>
                  </a:lnTo>
                  <a:lnTo>
                    <a:pt x="75" y="0"/>
                  </a:lnTo>
                  <a:lnTo>
                    <a:pt x="0" y="0"/>
                  </a:lnTo>
                  <a:lnTo>
                    <a:pt x="0" y="134"/>
                  </a:lnTo>
                  <a:close/>
                </a:path>
              </a:pathLst>
            </a:custGeom>
            <a:solidFill>
              <a:srgbClr val="134D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68" name="Freeform 29"/>
            <p:cNvSpPr>
              <a:spLocks/>
            </p:cNvSpPr>
            <p:nvPr/>
          </p:nvSpPr>
          <p:spPr bwMode="auto">
            <a:xfrm>
              <a:off x="2673" y="1435"/>
              <a:ext cx="100" cy="156"/>
            </a:xfrm>
            <a:custGeom>
              <a:avLst/>
              <a:gdLst>
                <a:gd name="T0" fmla="*/ 100 w 100"/>
                <a:gd name="T1" fmla="*/ 0 h 156"/>
                <a:gd name="T2" fmla="*/ 0 w 100"/>
                <a:gd name="T3" fmla="*/ 0 h 156"/>
                <a:gd name="T4" fmla="*/ 0 w 100"/>
                <a:gd name="T5" fmla="*/ 156 h 156"/>
                <a:gd name="T6" fmla="*/ 0 w 100"/>
                <a:gd name="T7" fmla="*/ 156 h 156"/>
                <a:gd name="T8" fmla="*/ 53 w 100"/>
                <a:gd name="T9" fmla="*/ 148 h 156"/>
                <a:gd name="T10" fmla="*/ 78 w 100"/>
                <a:gd name="T11" fmla="*/ 142 h 156"/>
                <a:gd name="T12" fmla="*/ 100 w 100"/>
                <a:gd name="T13" fmla="*/ 134 h 156"/>
                <a:gd name="T14" fmla="*/ 100 w 100"/>
                <a:gd name="T15" fmla="*/ 0 h 156"/>
                <a:gd name="T16" fmla="*/ 0 60000 65536"/>
                <a:gd name="T17" fmla="*/ 0 60000 65536"/>
                <a:gd name="T18" fmla="*/ 0 60000 65536"/>
                <a:gd name="T19" fmla="*/ 0 60000 65536"/>
                <a:gd name="T20" fmla="*/ 0 60000 65536"/>
                <a:gd name="T21" fmla="*/ 0 60000 65536"/>
                <a:gd name="T22" fmla="*/ 0 60000 65536"/>
                <a:gd name="T23" fmla="*/ 0 60000 65536"/>
                <a:gd name="T24" fmla="*/ 0 w 100"/>
                <a:gd name="T25" fmla="*/ 0 h 156"/>
                <a:gd name="T26" fmla="*/ 100 w 100"/>
                <a:gd name="T27" fmla="*/ 156 h 1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0" h="156">
                  <a:moveTo>
                    <a:pt x="100" y="0"/>
                  </a:moveTo>
                  <a:lnTo>
                    <a:pt x="0" y="0"/>
                  </a:lnTo>
                  <a:lnTo>
                    <a:pt x="0" y="156"/>
                  </a:lnTo>
                  <a:lnTo>
                    <a:pt x="53" y="148"/>
                  </a:lnTo>
                  <a:lnTo>
                    <a:pt x="78" y="142"/>
                  </a:lnTo>
                  <a:lnTo>
                    <a:pt x="100" y="134"/>
                  </a:lnTo>
                  <a:lnTo>
                    <a:pt x="100" y="0"/>
                  </a:lnTo>
                  <a:close/>
                </a:path>
              </a:pathLst>
            </a:custGeom>
            <a:solidFill>
              <a:srgbClr val="2699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69" name="Freeform 30"/>
            <p:cNvSpPr>
              <a:spLocks noEditPoints="1"/>
            </p:cNvSpPr>
            <p:nvPr/>
          </p:nvSpPr>
          <p:spPr bwMode="auto">
            <a:xfrm>
              <a:off x="2383" y="1430"/>
              <a:ext cx="471" cy="170"/>
            </a:xfrm>
            <a:custGeom>
              <a:avLst/>
              <a:gdLst>
                <a:gd name="T0" fmla="*/ 465 w 471"/>
                <a:gd name="T1" fmla="*/ 0 h 170"/>
                <a:gd name="T2" fmla="*/ 0 w 471"/>
                <a:gd name="T3" fmla="*/ 0 h 170"/>
                <a:gd name="T4" fmla="*/ 0 w 471"/>
                <a:gd name="T5" fmla="*/ 66 h 170"/>
                <a:gd name="T6" fmla="*/ 0 w 471"/>
                <a:gd name="T7" fmla="*/ 66 h 170"/>
                <a:gd name="T8" fmla="*/ 0 w 471"/>
                <a:gd name="T9" fmla="*/ 78 h 170"/>
                <a:gd name="T10" fmla="*/ 6 w 471"/>
                <a:gd name="T11" fmla="*/ 86 h 170"/>
                <a:gd name="T12" fmla="*/ 11 w 471"/>
                <a:gd name="T13" fmla="*/ 97 h 170"/>
                <a:gd name="T14" fmla="*/ 20 w 471"/>
                <a:gd name="T15" fmla="*/ 105 h 170"/>
                <a:gd name="T16" fmla="*/ 39 w 471"/>
                <a:gd name="T17" fmla="*/ 125 h 170"/>
                <a:gd name="T18" fmla="*/ 67 w 471"/>
                <a:gd name="T19" fmla="*/ 139 h 170"/>
                <a:gd name="T20" fmla="*/ 103 w 471"/>
                <a:gd name="T21" fmla="*/ 153 h 170"/>
                <a:gd name="T22" fmla="*/ 142 w 471"/>
                <a:gd name="T23" fmla="*/ 161 h 170"/>
                <a:gd name="T24" fmla="*/ 187 w 471"/>
                <a:gd name="T25" fmla="*/ 167 h 170"/>
                <a:gd name="T26" fmla="*/ 237 w 471"/>
                <a:gd name="T27" fmla="*/ 170 h 170"/>
                <a:gd name="T28" fmla="*/ 237 w 471"/>
                <a:gd name="T29" fmla="*/ 170 h 170"/>
                <a:gd name="T30" fmla="*/ 284 w 471"/>
                <a:gd name="T31" fmla="*/ 167 h 170"/>
                <a:gd name="T32" fmla="*/ 329 w 471"/>
                <a:gd name="T33" fmla="*/ 161 h 170"/>
                <a:gd name="T34" fmla="*/ 368 w 471"/>
                <a:gd name="T35" fmla="*/ 153 h 170"/>
                <a:gd name="T36" fmla="*/ 404 w 471"/>
                <a:gd name="T37" fmla="*/ 139 h 170"/>
                <a:gd name="T38" fmla="*/ 432 w 471"/>
                <a:gd name="T39" fmla="*/ 125 h 170"/>
                <a:gd name="T40" fmla="*/ 454 w 471"/>
                <a:gd name="T41" fmla="*/ 105 h 170"/>
                <a:gd name="T42" fmla="*/ 462 w 471"/>
                <a:gd name="T43" fmla="*/ 97 h 170"/>
                <a:gd name="T44" fmla="*/ 468 w 471"/>
                <a:gd name="T45" fmla="*/ 86 h 170"/>
                <a:gd name="T46" fmla="*/ 471 w 471"/>
                <a:gd name="T47" fmla="*/ 78 h 170"/>
                <a:gd name="T48" fmla="*/ 471 w 471"/>
                <a:gd name="T49" fmla="*/ 66 h 170"/>
                <a:gd name="T50" fmla="*/ 471 w 471"/>
                <a:gd name="T51" fmla="*/ 0 h 170"/>
                <a:gd name="T52" fmla="*/ 465 w 471"/>
                <a:gd name="T53" fmla="*/ 0 h 170"/>
                <a:gd name="T54" fmla="*/ 459 w 471"/>
                <a:gd name="T55" fmla="*/ 11 h 170"/>
                <a:gd name="T56" fmla="*/ 459 w 471"/>
                <a:gd name="T57" fmla="*/ 11 h 170"/>
                <a:gd name="T58" fmla="*/ 459 w 471"/>
                <a:gd name="T59" fmla="*/ 66 h 170"/>
                <a:gd name="T60" fmla="*/ 459 w 471"/>
                <a:gd name="T61" fmla="*/ 66 h 170"/>
                <a:gd name="T62" fmla="*/ 459 w 471"/>
                <a:gd name="T63" fmla="*/ 75 h 170"/>
                <a:gd name="T64" fmla="*/ 457 w 471"/>
                <a:gd name="T65" fmla="*/ 83 h 170"/>
                <a:gd name="T66" fmla="*/ 451 w 471"/>
                <a:gd name="T67" fmla="*/ 91 h 170"/>
                <a:gd name="T68" fmla="*/ 443 w 471"/>
                <a:gd name="T69" fmla="*/ 100 h 170"/>
                <a:gd name="T70" fmla="*/ 420 w 471"/>
                <a:gd name="T71" fmla="*/ 117 h 170"/>
                <a:gd name="T72" fmla="*/ 393 w 471"/>
                <a:gd name="T73" fmla="*/ 131 h 170"/>
                <a:gd name="T74" fmla="*/ 359 w 471"/>
                <a:gd name="T75" fmla="*/ 142 h 170"/>
                <a:gd name="T76" fmla="*/ 323 w 471"/>
                <a:gd name="T77" fmla="*/ 150 h 170"/>
                <a:gd name="T78" fmla="*/ 281 w 471"/>
                <a:gd name="T79" fmla="*/ 156 h 170"/>
                <a:gd name="T80" fmla="*/ 237 w 471"/>
                <a:gd name="T81" fmla="*/ 158 h 170"/>
                <a:gd name="T82" fmla="*/ 237 w 471"/>
                <a:gd name="T83" fmla="*/ 158 h 170"/>
                <a:gd name="T84" fmla="*/ 192 w 471"/>
                <a:gd name="T85" fmla="*/ 156 h 170"/>
                <a:gd name="T86" fmla="*/ 150 w 471"/>
                <a:gd name="T87" fmla="*/ 150 h 170"/>
                <a:gd name="T88" fmla="*/ 111 w 471"/>
                <a:gd name="T89" fmla="*/ 142 h 170"/>
                <a:gd name="T90" fmla="*/ 78 w 471"/>
                <a:gd name="T91" fmla="*/ 131 h 170"/>
                <a:gd name="T92" fmla="*/ 50 w 471"/>
                <a:gd name="T93" fmla="*/ 117 h 170"/>
                <a:gd name="T94" fmla="*/ 28 w 471"/>
                <a:gd name="T95" fmla="*/ 100 h 170"/>
                <a:gd name="T96" fmla="*/ 22 w 471"/>
                <a:gd name="T97" fmla="*/ 91 h 170"/>
                <a:gd name="T98" fmla="*/ 17 w 471"/>
                <a:gd name="T99" fmla="*/ 83 h 170"/>
                <a:gd name="T100" fmla="*/ 11 w 471"/>
                <a:gd name="T101" fmla="*/ 75 h 170"/>
                <a:gd name="T102" fmla="*/ 11 w 471"/>
                <a:gd name="T103" fmla="*/ 66 h 170"/>
                <a:gd name="T104" fmla="*/ 11 w 471"/>
                <a:gd name="T105" fmla="*/ 66 h 170"/>
                <a:gd name="T106" fmla="*/ 11 w 471"/>
                <a:gd name="T107" fmla="*/ 11 h 170"/>
                <a:gd name="T108" fmla="*/ 11 w 471"/>
                <a:gd name="T109" fmla="*/ 11 h 170"/>
                <a:gd name="T110" fmla="*/ 459 w 471"/>
                <a:gd name="T111" fmla="*/ 11 h 170"/>
                <a:gd name="T112" fmla="*/ 459 w 471"/>
                <a:gd name="T113" fmla="*/ 11 h 1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71"/>
                <a:gd name="T172" fmla="*/ 0 h 170"/>
                <a:gd name="T173" fmla="*/ 471 w 471"/>
                <a:gd name="T174" fmla="*/ 170 h 17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71" h="170">
                  <a:moveTo>
                    <a:pt x="465" y="0"/>
                  </a:moveTo>
                  <a:lnTo>
                    <a:pt x="0" y="0"/>
                  </a:lnTo>
                  <a:lnTo>
                    <a:pt x="0" y="66"/>
                  </a:lnTo>
                  <a:lnTo>
                    <a:pt x="0" y="78"/>
                  </a:lnTo>
                  <a:lnTo>
                    <a:pt x="6" y="86"/>
                  </a:lnTo>
                  <a:lnTo>
                    <a:pt x="11" y="97"/>
                  </a:lnTo>
                  <a:lnTo>
                    <a:pt x="20" y="105"/>
                  </a:lnTo>
                  <a:lnTo>
                    <a:pt x="39" y="125"/>
                  </a:lnTo>
                  <a:lnTo>
                    <a:pt x="67" y="139"/>
                  </a:lnTo>
                  <a:lnTo>
                    <a:pt x="103" y="153"/>
                  </a:lnTo>
                  <a:lnTo>
                    <a:pt x="142" y="161"/>
                  </a:lnTo>
                  <a:lnTo>
                    <a:pt x="187" y="167"/>
                  </a:lnTo>
                  <a:lnTo>
                    <a:pt x="237" y="170"/>
                  </a:lnTo>
                  <a:lnTo>
                    <a:pt x="284" y="167"/>
                  </a:lnTo>
                  <a:lnTo>
                    <a:pt x="329" y="161"/>
                  </a:lnTo>
                  <a:lnTo>
                    <a:pt x="368" y="153"/>
                  </a:lnTo>
                  <a:lnTo>
                    <a:pt x="404" y="139"/>
                  </a:lnTo>
                  <a:lnTo>
                    <a:pt x="432" y="125"/>
                  </a:lnTo>
                  <a:lnTo>
                    <a:pt x="454" y="105"/>
                  </a:lnTo>
                  <a:lnTo>
                    <a:pt x="462" y="97"/>
                  </a:lnTo>
                  <a:lnTo>
                    <a:pt x="468" y="86"/>
                  </a:lnTo>
                  <a:lnTo>
                    <a:pt x="471" y="78"/>
                  </a:lnTo>
                  <a:lnTo>
                    <a:pt x="471" y="66"/>
                  </a:lnTo>
                  <a:lnTo>
                    <a:pt x="471" y="0"/>
                  </a:lnTo>
                  <a:lnTo>
                    <a:pt x="465" y="0"/>
                  </a:lnTo>
                  <a:close/>
                  <a:moveTo>
                    <a:pt x="459" y="11"/>
                  </a:moveTo>
                  <a:lnTo>
                    <a:pt x="459" y="11"/>
                  </a:lnTo>
                  <a:lnTo>
                    <a:pt x="459" y="66"/>
                  </a:lnTo>
                  <a:lnTo>
                    <a:pt x="459" y="75"/>
                  </a:lnTo>
                  <a:lnTo>
                    <a:pt x="457" y="83"/>
                  </a:lnTo>
                  <a:lnTo>
                    <a:pt x="451" y="91"/>
                  </a:lnTo>
                  <a:lnTo>
                    <a:pt x="443" y="100"/>
                  </a:lnTo>
                  <a:lnTo>
                    <a:pt x="420" y="117"/>
                  </a:lnTo>
                  <a:lnTo>
                    <a:pt x="393" y="131"/>
                  </a:lnTo>
                  <a:lnTo>
                    <a:pt x="359" y="142"/>
                  </a:lnTo>
                  <a:lnTo>
                    <a:pt x="323" y="150"/>
                  </a:lnTo>
                  <a:lnTo>
                    <a:pt x="281" y="156"/>
                  </a:lnTo>
                  <a:lnTo>
                    <a:pt x="237" y="158"/>
                  </a:lnTo>
                  <a:lnTo>
                    <a:pt x="192" y="156"/>
                  </a:lnTo>
                  <a:lnTo>
                    <a:pt x="150" y="150"/>
                  </a:lnTo>
                  <a:lnTo>
                    <a:pt x="111" y="142"/>
                  </a:lnTo>
                  <a:lnTo>
                    <a:pt x="78" y="131"/>
                  </a:lnTo>
                  <a:lnTo>
                    <a:pt x="50" y="117"/>
                  </a:lnTo>
                  <a:lnTo>
                    <a:pt x="28" y="100"/>
                  </a:lnTo>
                  <a:lnTo>
                    <a:pt x="22" y="91"/>
                  </a:lnTo>
                  <a:lnTo>
                    <a:pt x="17" y="83"/>
                  </a:lnTo>
                  <a:lnTo>
                    <a:pt x="11" y="75"/>
                  </a:lnTo>
                  <a:lnTo>
                    <a:pt x="11" y="66"/>
                  </a:lnTo>
                  <a:lnTo>
                    <a:pt x="11" y="11"/>
                  </a:lnTo>
                  <a:lnTo>
                    <a:pt x="459" y="11"/>
                  </a:lnTo>
                  <a:close/>
                </a:path>
              </a:pathLst>
            </a:custGeom>
            <a:solidFill>
              <a:srgbClr val="0000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70" name="Freeform 31"/>
            <p:cNvSpPr>
              <a:spLocks/>
            </p:cNvSpPr>
            <p:nvPr/>
          </p:nvSpPr>
          <p:spPr bwMode="auto">
            <a:xfrm>
              <a:off x="2389" y="1335"/>
              <a:ext cx="459" cy="195"/>
            </a:xfrm>
            <a:custGeom>
              <a:avLst/>
              <a:gdLst>
                <a:gd name="T0" fmla="*/ 459 w 459"/>
                <a:gd name="T1" fmla="*/ 97 h 195"/>
                <a:gd name="T2" fmla="*/ 459 w 459"/>
                <a:gd name="T3" fmla="*/ 97 h 195"/>
                <a:gd name="T4" fmla="*/ 459 w 459"/>
                <a:gd name="T5" fmla="*/ 108 h 195"/>
                <a:gd name="T6" fmla="*/ 456 w 459"/>
                <a:gd name="T7" fmla="*/ 117 h 195"/>
                <a:gd name="T8" fmla="*/ 451 w 459"/>
                <a:gd name="T9" fmla="*/ 125 h 195"/>
                <a:gd name="T10" fmla="*/ 442 w 459"/>
                <a:gd name="T11" fmla="*/ 136 h 195"/>
                <a:gd name="T12" fmla="*/ 420 w 459"/>
                <a:gd name="T13" fmla="*/ 153 h 195"/>
                <a:gd name="T14" fmla="*/ 392 w 459"/>
                <a:gd name="T15" fmla="*/ 167 h 195"/>
                <a:gd name="T16" fmla="*/ 359 w 459"/>
                <a:gd name="T17" fmla="*/ 178 h 195"/>
                <a:gd name="T18" fmla="*/ 320 w 459"/>
                <a:gd name="T19" fmla="*/ 186 h 195"/>
                <a:gd name="T20" fmla="*/ 275 w 459"/>
                <a:gd name="T21" fmla="*/ 192 h 195"/>
                <a:gd name="T22" fmla="*/ 231 w 459"/>
                <a:gd name="T23" fmla="*/ 195 h 195"/>
                <a:gd name="T24" fmla="*/ 231 w 459"/>
                <a:gd name="T25" fmla="*/ 195 h 195"/>
                <a:gd name="T26" fmla="*/ 183 w 459"/>
                <a:gd name="T27" fmla="*/ 192 h 195"/>
                <a:gd name="T28" fmla="*/ 139 w 459"/>
                <a:gd name="T29" fmla="*/ 186 h 195"/>
                <a:gd name="T30" fmla="*/ 100 w 459"/>
                <a:gd name="T31" fmla="*/ 178 h 195"/>
                <a:gd name="T32" fmla="*/ 67 w 459"/>
                <a:gd name="T33" fmla="*/ 167 h 195"/>
                <a:gd name="T34" fmla="*/ 39 w 459"/>
                <a:gd name="T35" fmla="*/ 153 h 195"/>
                <a:gd name="T36" fmla="*/ 16 w 459"/>
                <a:gd name="T37" fmla="*/ 136 h 195"/>
                <a:gd name="T38" fmla="*/ 11 w 459"/>
                <a:gd name="T39" fmla="*/ 125 h 195"/>
                <a:gd name="T40" fmla="*/ 5 w 459"/>
                <a:gd name="T41" fmla="*/ 117 h 195"/>
                <a:gd name="T42" fmla="*/ 0 w 459"/>
                <a:gd name="T43" fmla="*/ 108 h 195"/>
                <a:gd name="T44" fmla="*/ 0 w 459"/>
                <a:gd name="T45" fmla="*/ 97 h 195"/>
                <a:gd name="T46" fmla="*/ 0 w 459"/>
                <a:gd name="T47" fmla="*/ 97 h 195"/>
                <a:gd name="T48" fmla="*/ 0 w 459"/>
                <a:gd name="T49" fmla="*/ 86 h 195"/>
                <a:gd name="T50" fmla="*/ 5 w 459"/>
                <a:gd name="T51" fmla="*/ 78 h 195"/>
                <a:gd name="T52" fmla="*/ 11 w 459"/>
                <a:gd name="T53" fmla="*/ 69 h 195"/>
                <a:gd name="T54" fmla="*/ 16 w 459"/>
                <a:gd name="T55" fmla="*/ 58 h 195"/>
                <a:gd name="T56" fmla="*/ 39 w 459"/>
                <a:gd name="T57" fmla="*/ 42 h 195"/>
                <a:gd name="T58" fmla="*/ 67 w 459"/>
                <a:gd name="T59" fmla="*/ 28 h 195"/>
                <a:gd name="T60" fmla="*/ 100 w 459"/>
                <a:gd name="T61" fmla="*/ 16 h 195"/>
                <a:gd name="T62" fmla="*/ 139 w 459"/>
                <a:gd name="T63" fmla="*/ 8 h 195"/>
                <a:gd name="T64" fmla="*/ 183 w 459"/>
                <a:gd name="T65" fmla="*/ 3 h 195"/>
                <a:gd name="T66" fmla="*/ 231 w 459"/>
                <a:gd name="T67" fmla="*/ 0 h 195"/>
                <a:gd name="T68" fmla="*/ 231 w 459"/>
                <a:gd name="T69" fmla="*/ 0 h 195"/>
                <a:gd name="T70" fmla="*/ 275 w 459"/>
                <a:gd name="T71" fmla="*/ 3 h 195"/>
                <a:gd name="T72" fmla="*/ 320 w 459"/>
                <a:gd name="T73" fmla="*/ 8 h 195"/>
                <a:gd name="T74" fmla="*/ 359 w 459"/>
                <a:gd name="T75" fmla="*/ 16 h 195"/>
                <a:gd name="T76" fmla="*/ 392 w 459"/>
                <a:gd name="T77" fmla="*/ 28 h 195"/>
                <a:gd name="T78" fmla="*/ 420 w 459"/>
                <a:gd name="T79" fmla="*/ 42 h 195"/>
                <a:gd name="T80" fmla="*/ 442 w 459"/>
                <a:gd name="T81" fmla="*/ 58 h 195"/>
                <a:gd name="T82" fmla="*/ 451 w 459"/>
                <a:gd name="T83" fmla="*/ 69 h 195"/>
                <a:gd name="T84" fmla="*/ 456 w 459"/>
                <a:gd name="T85" fmla="*/ 78 h 195"/>
                <a:gd name="T86" fmla="*/ 459 w 459"/>
                <a:gd name="T87" fmla="*/ 86 h 195"/>
                <a:gd name="T88" fmla="*/ 459 w 459"/>
                <a:gd name="T89" fmla="*/ 97 h 195"/>
                <a:gd name="T90" fmla="*/ 459 w 459"/>
                <a:gd name="T91" fmla="*/ 97 h 19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9"/>
                <a:gd name="T139" fmla="*/ 0 h 195"/>
                <a:gd name="T140" fmla="*/ 459 w 459"/>
                <a:gd name="T141" fmla="*/ 195 h 19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9" h="195">
                  <a:moveTo>
                    <a:pt x="459" y="97"/>
                  </a:moveTo>
                  <a:lnTo>
                    <a:pt x="459" y="97"/>
                  </a:lnTo>
                  <a:lnTo>
                    <a:pt x="459" y="108"/>
                  </a:lnTo>
                  <a:lnTo>
                    <a:pt x="456" y="117"/>
                  </a:lnTo>
                  <a:lnTo>
                    <a:pt x="451" y="125"/>
                  </a:lnTo>
                  <a:lnTo>
                    <a:pt x="442" y="136"/>
                  </a:lnTo>
                  <a:lnTo>
                    <a:pt x="420" y="153"/>
                  </a:lnTo>
                  <a:lnTo>
                    <a:pt x="392" y="167"/>
                  </a:lnTo>
                  <a:lnTo>
                    <a:pt x="359" y="178"/>
                  </a:lnTo>
                  <a:lnTo>
                    <a:pt x="320" y="186"/>
                  </a:lnTo>
                  <a:lnTo>
                    <a:pt x="275" y="192"/>
                  </a:lnTo>
                  <a:lnTo>
                    <a:pt x="231" y="195"/>
                  </a:lnTo>
                  <a:lnTo>
                    <a:pt x="183" y="192"/>
                  </a:lnTo>
                  <a:lnTo>
                    <a:pt x="139" y="186"/>
                  </a:lnTo>
                  <a:lnTo>
                    <a:pt x="100" y="178"/>
                  </a:lnTo>
                  <a:lnTo>
                    <a:pt x="67" y="167"/>
                  </a:lnTo>
                  <a:lnTo>
                    <a:pt x="39" y="153"/>
                  </a:lnTo>
                  <a:lnTo>
                    <a:pt x="16" y="136"/>
                  </a:lnTo>
                  <a:lnTo>
                    <a:pt x="11" y="125"/>
                  </a:lnTo>
                  <a:lnTo>
                    <a:pt x="5" y="117"/>
                  </a:lnTo>
                  <a:lnTo>
                    <a:pt x="0" y="108"/>
                  </a:lnTo>
                  <a:lnTo>
                    <a:pt x="0" y="97"/>
                  </a:lnTo>
                  <a:lnTo>
                    <a:pt x="0" y="86"/>
                  </a:lnTo>
                  <a:lnTo>
                    <a:pt x="5" y="78"/>
                  </a:lnTo>
                  <a:lnTo>
                    <a:pt x="11" y="69"/>
                  </a:lnTo>
                  <a:lnTo>
                    <a:pt x="16" y="58"/>
                  </a:lnTo>
                  <a:lnTo>
                    <a:pt x="39" y="42"/>
                  </a:lnTo>
                  <a:lnTo>
                    <a:pt x="67" y="28"/>
                  </a:lnTo>
                  <a:lnTo>
                    <a:pt x="100" y="16"/>
                  </a:lnTo>
                  <a:lnTo>
                    <a:pt x="139" y="8"/>
                  </a:lnTo>
                  <a:lnTo>
                    <a:pt x="183" y="3"/>
                  </a:lnTo>
                  <a:lnTo>
                    <a:pt x="231" y="0"/>
                  </a:lnTo>
                  <a:lnTo>
                    <a:pt x="275" y="3"/>
                  </a:lnTo>
                  <a:lnTo>
                    <a:pt x="320" y="8"/>
                  </a:lnTo>
                  <a:lnTo>
                    <a:pt x="359" y="16"/>
                  </a:lnTo>
                  <a:lnTo>
                    <a:pt x="392" y="28"/>
                  </a:lnTo>
                  <a:lnTo>
                    <a:pt x="420" y="42"/>
                  </a:lnTo>
                  <a:lnTo>
                    <a:pt x="442" y="58"/>
                  </a:lnTo>
                  <a:lnTo>
                    <a:pt x="451" y="69"/>
                  </a:lnTo>
                  <a:lnTo>
                    <a:pt x="456" y="78"/>
                  </a:lnTo>
                  <a:lnTo>
                    <a:pt x="459" y="86"/>
                  </a:lnTo>
                  <a:lnTo>
                    <a:pt x="459" y="97"/>
                  </a:lnTo>
                  <a:close/>
                </a:path>
              </a:pathLst>
            </a:custGeom>
            <a:solidFill>
              <a:srgbClr val="2699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71" name="Freeform 32"/>
            <p:cNvSpPr>
              <a:spLocks noEditPoints="1"/>
            </p:cNvSpPr>
            <p:nvPr/>
          </p:nvSpPr>
          <p:spPr bwMode="auto">
            <a:xfrm>
              <a:off x="2383" y="1329"/>
              <a:ext cx="471" cy="206"/>
            </a:xfrm>
            <a:custGeom>
              <a:avLst/>
              <a:gdLst>
                <a:gd name="T0" fmla="*/ 0 w 471"/>
                <a:gd name="T1" fmla="*/ 103 h 206"/>
                <a:gd name="T2" fmla="*/ 6 w 471"/>
                <a:gd name="T3" fmla="*/ 126 h 206"/>
                <a:gd name="T4" fmla="*/ 20 w 471"/>
                <a:gd name="T5" fmla="*/ 145 h 206"/>
                <a:gd name="T6" fmla="*/ 67 w 471"/>
                <a:gd name="T7" fmla="*/ 176 h 206"/>
                <a:gd name="T8" fmla="*/ 142 w 471"/>
                <a:gd name="T9" fmla="*/ 198 h 206"/>
                <a:gd name="T10" fmla="*/ 237 w 471"/>
                <a:gd name="T11" fmla="*/ 206 h 206"/>
                <a:gd name="T12" fmla="*/ 284 w 471"/>
                <a:gd name="T13" fmla="*/ 204 h 206"/>
                <a:gd name="T14" fmla="*/ 368 w 471"/>
                <a:gd name="T15" fmla="*/ 190 h 206"/>
                <a:gd name="T16" fmla="*/ 432 w 471"/>
                <a:gd name="T17" fmla="*/ 162 h 206"/>
                <a:gd name="T18" fmla="*/ 462 w 471"/>
                <a:gd name="T19" fmla="*/ 134 h 206"/>
                <a:gd name="T20" fmla="*/ 471 w 471"/>
                <a:gd name="T21" fmla="*/ 114 h 206"/>
                <a:gd name="T22" fmla="*/ 471 w 471"/>
                <a:gd name="T23" fmla="*/ 103 h 206"/>
                <a:gd name="T24" fmla="*/ 468 w 471"/>
                <a:gd name="T25" fmla="*/ 84 h 206"/>
                <a:gd name="T26" fmla="*/ 454 w 471"/>
                <a:gd name="T27" fmla="*/ 64 h 206"/>
                <a:gd name="T28" fmla="*/ 404 w 471"/>
                <a:gd name="T29" fmla="*/ 31 h 206"/>
                <a:gd name="T30" fmla="*/ 329 w 471"/>
                <a:gd name="T31" fmla="*/ 9 h 206"/>
                <a:gd name="T32" fmla="*/ 237 w 471"/>
                <a:gd name="T33" fmla="*/ 0 h 206"/>
                <a:gd name="T34" fmla="*/ 187 w 471"/>
                <a:gd name="T35" fmla="*/ 3 h 206"/>
                <a:gd name="T36" fmla="*/ 103 w 471"/>
                <a:gd name="T37" fmla="*/ 17 h 206"/>
                <a:gd name="T38" fmla="*/ 39 w 471"/>
                <a:gd name="T39" fmla="*/ 45 h 206"/>
                <a:gd name="T40" fmla="*/ 11 w 471"/>
                <a:gd name="T41" fmla="*/ 73 h 206"/>
                <a:gd name="T42" fmla="*/ 0 w 471"/>
                <a:gd name="T43" fmla="*/ 92 h 206"/>
                <a:gd name="T44" fmla="*/ 0 w 471"/>
                <a:gd name="T45" fmla="*/ 103 h 206"/>
                <a:gd name="T46" fmla="*/ 11 w 471"/>
                <a:gd name="T47" fmla="*/ 103 h 206"/>
                <a:gd name="T48" fmla="*/ 17 w 471"/>
                <a:gd name="T49" fmla="*/ 84 h 206"/>
                <a:gd name="T50" fmla="*/ 28 w 471"/>
                <a:gd name="T51" fmla="*/ 67 h 206"/>
                <a:gd name="T52" fmla="*/ 78 w 471"/>
                <a:gd name="T53" fmla="*/ 39 h 206"/>
                <a:gd name="T54" fmla="*/ 150 w 471"/>
                <a:gd name="T55" fmla="*/ 20 h 206"/>
                <a:gd name="T56" fmla="*/ 237 w 471"/>
                <a:gd name="T57" fmla="*/ 11 h 206"/>
                <a:gd name="T58" fmla="*/ 281 w 471"/>
                <a:gd name="T59" fmla="*/ 14 h 206"/>
                <a:gd name="T60" fmla="*/ 359 w 471"/>
                <a:gd name="T61" fmla="*/ 28 h 206"/>
                <a:gd name="T62" fmla="*/ 420 w 471"/>
                <a:gd name="T63" fmla="*/ 53 h 206"/>
                <a:gd name="T64" fmla="*/ 451 w 471"/>
                <a:gd name="T65" fmla="*/ 75 h 206"/>
                <a:gd name="T66" fmla="*/ 459 w 471"/>
                <a:gd name="T67" fmla="*/ 95 h 206"/>
                <a:gd name="T68" fmla="*/ 459 w 471"/>
                <a:gd name="T69" fmla="*/ 103 h 206"/>
                <a:gd name="T70" fmla="*/ 457 w 471"/>
                <a:gd name="T71" fmla="*/ 123 h 206"/>
                <a:gd name="T72" fmla="*/ 443 w 471"/>
                <a:gd name="T73" fmla="*/ 140 h 206"/>
                <a:gd name="T74" fmla="*/ 393 w 471"/>
                <a:gd name="T75" fmla="*/ 167 h 206"/>
                <a:gd name="T76" fmla="*/ 323 w 471"/>
                <a:gd name="T77" fmla="*/ 187 h 206"/>
                <a:gd name="T78" fmla="*/ 237 w 471"/>
                <a:gd name="T79" fmla="*/ 195 h 206"/>
                <a:gd name="T80" fmla="*/ 192 w 471"/>
                <a:gd name="T81" fmla="*/ 192 h 206"/>
                <a:gd name="T82" fmla="*/ 111 w 471"/>
                <a:gd name="T83" fmla="*/ 179 h 206"/>
                <a:gd name="T84" fmla="*/ 50 w 471"/>
                <a:gd name="T85" fmla="*/ 153 h 206"/>
                <a:gd name="T86" fmla="*/ 22 w 471"/>
                <a:gd name="T87" fmla="*/ 131 h 206"/>
                <a:gd name="T88" fmla="*/ 11 w 471"/>
                <a:gd name="T89" fmla="*/ 112 h 206"/>
                <a:gd name="T90" fmla="*/ 11 w 471"/>
                <a:gd name="T91" fmla="*/ 103 h 20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71"/>
                <a:gd name="T139" fmla="*/ 0 h 206"/>
                <a:gd name="T140" fmla="*/ 471 w 471"/>
                <a:gd name="T141" fmla="*/ 206 h 20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71" h="206">
                  <a:moveTo>
                    <a:pt x="0" y="103"/>
                  </a:moveTo>
                  <a:lnTo>
                    <a:pt x="0" y="103"/>
                  </a:lnTo>
                  <a:lnTo>
                    <a:pt x="0" y="114"/>
                  </a:lnTo>
                  <a:lnTo>
                    <a:pt x="6" y="126"/>
                  </a:lnTo>
                  <a:lnTo>
                    <a:pt x="11" y="134"/>
                  </a:lnTo>
                  <a:lnTo>
                    <a:pt x="20" y="145"/>
                  </a:lnTo>
                  <a:lnTo>
                    <a:pt x="39" y="162"/>
                  </a:lnTo>
                  <a:lnTo>
                    <a:pt x="67" y="176"/>
                  </a:lnTo>
                  <a:lnTo>
                    <a:pt x="103" y="190"/>
                  </a:lnTo>
                  <a:lnTo>
                    <a:pt x="142" y="198"/>
                  </a:lnTo>
                  <a:lnTo>
                    <a:pt x="187" y="204"/>
                  </a:lnTo>
                  <a:lnTo>
                    <a:pt x="237" y="206"/>
                  </a:lnTo>
                  <a:lnTo>
                    <a:pt x="284" y="204"/>
                  </a:lnTo>
                  <a:lnTo>
                    <a:pt x="329" y="198"/>
                  </a:lnTo>
                  <a:lnTo>
                    <a:pt x="368" y="190"/>
                  </a:lnTo>
                  <a:lnTo>
                    <a:pt x="404" y="176"/>
                  </a:lnTo>
                  <a:lnTo>
                    <a:pt x="432" y="162"/>
                  </a:lnTo>
                  <a:lnTo>
                    <a:pt x="454" y="145"/>
                  </a:lnTo>
                  <a:lnTo>
                    <a:pt x="462" y="134"/>
                  </a:lnTo>
                  <a:lnTo>
                    <a:pt x="468" y="126"/>
                  </a:lnTo>
                  <a:lnTo>
                    <a:pt x="471" y="114"/>
                  </a:lnTo>
                  <a:lnTo>
                    <a:pt x="471" y="103"/>
                  </a:lnTo>
                  <a:lnTo>
                    <a:pt x="471" y="92"/>
                  </a:lnTo>
                  <a:lnTo>
                    <a:pt x="468" y="84"/>
                  </a:lnTo>
                  <a:lnTo>
                    <a:pt x="462" y="73"/>
                  </a:lnTo>
                  <a:lnTo>
                    <a:pt x="454" y="64"/>
                  </a:lnTo>
                  <a:lnTo>
                    <a:pt x="432" y="45"/>
                  </a:lnTo>
                  <a:lnTo>
                    <a:pt x="404" y="31"/>
                  </a:lnTo>
                  <a:lnTo>
                    <a:pt x="368" y="17"/>
                  </a:lnTo>
                  <a:lnTo>
                    <a:pt x="329" y="9"/>
                  </a:lnTo>
                  <a:lnTo>
                    <a:pt x="284" y="3"/>
                  </a:lnTo>
                  <a:lnTo>
                    <a:pt x="237" y="0"/>
                  </a:lnTo>
                  <a:lnTo>
                    <a:pt x="187" y="3"/>
                  </a:lnTo>
                  <a:lnTo>
                    <a:pt x="142" y="9"/>
                  </a:lnTo>
                  <a:lnTo>
                    <a:pt x="103" y="17"/>
                  </a:lnTo>
                  <a:lnTo>
                    <a:pt x="67" y="31"/>
                  </a:lnTo>
                  <a:lnTo>
                    <a:pt x="39" y="45"/>
                  </a:lnTo>
                  <a:lnTo>
                    <a:pt x="20" y="64"/>
                  </a:lnTo>
                  <a:lnTo>
                    <a:pt x="11" y="73"/>
                  </a:lnTo>
                  <a:lnTo>
                    <a:pt x="6" y="84"/>
                  </a:lnTo>
                  <a:lnTo>
                    <a:pt x="0" y="92"/>
                  </a:lnTo>
                  <a:lnTo>
                    <a:pt x="0" y="103"/>
                  </a:lnTo>
                  <a:close/>
                  <a:moveTo>
                    <a:pt x="11" y="103"/>
                  </a:moveTo>
                  <a:lnTo>
                    <a:pt x="11" y="103"/>
                  </a:lnTo>
                  <a:lnTo>
                    <a:pt x="11" y="95"/>
                  </a:lnTo>
                  <a:lnTo>
                    <a:pt x="17" y="84"/>
                  </a:lnTo>
                  <a:lnTo>
                    <a:pt x="22" y="75"/>
                  </a:lnTo>
                  <a:lnTo>
                    <a:pt x="28" y="67"/>
                  </a:lnTo>
                  <a:lnTo>
                    <a:pt x="50" y="53"/>
                  </a:lnTo>
                  <a:lnTo>
                    <a:pt x="78" y="39"/>
                  </a:lnTo>
                  <a:lnTo>
                    <a:pt x="111" y="28"/>
                  </a:lnTo>
                  <a:lnTo>
                    <a:pt x="150" y="20"/>
                  </a:lnTo>
                  <a:lnTo>
                    <a:pt x="192" y="14"/>
                  </a:lnTo>
                  <a:lnTo>
                    <a:pt x="237" y="11"/>
                  </a:lnTo>
                  <a:lnTo>
                    <a:pt x="281" y="14"/>
                  </a:lnTo>
                  <a:lnTo>
                    <a:pt x="323" y="20"/>
                  </a:lnTo>
                  <a:lnTo>
                    <a:pt x="359" y="28"/>
                  </a:lnTo>
                  <a:lnTo>
                    <a:pt x="393" y="39"/>
                  </a:lnTo>
                  <a:lnTo>
                    <a:pt x="420" y="53"/>
                  </a:lnTo>
                  <a:lnTo>
                    <a:pt x="443" y="67"/>
                  </a:lnTo>
                  <a:lnTo>
                    <a:pt x="451" y="75"/>
                  </a:lnTo>
                  <a:lnTo>
                    <a:pt x="457" y="84"/>
                  </a:lnTo>
                  <a:lnTo>
                    <a:pt x="459" y="95"/>
                  </a:lnTo>
                  <a:lnTo>
                    <a:pt x="459" y="103"/>
                  </a:lnTo>
                  <a:lnTo>
                    <a:pt x="459" y="112"/>
                  </a:lnTo>
                  <a:lnTo>
                    <a:pt x="457" y="123"/>
                  </a:lnTo>
                  <a:lnTo>
                    <a:pt x="451" y="131"/>
                  </a:lnTo>
                  <a:lnTo>
                    <a:pt x="443" y="140"/>
                  </a:lnTo>
                  <a:lnTo>
                    <a:pt x="420" y="153"/>
                  </a:lnTo>
                  <a:lnTo>
                    <a:pt x="393" y="167"/>
                  </a:lnTo>
                  <a:lnTo>
                    <a:pt x="359" y="179"/>
                  </a:lnTo>
                  <a:lnTo>
                    <a:pt x="323" y="187"/>
                  </a:lnTo>
                  <a:lnTo>
                    <a:pt x="281" y="192"/>
                  </a:lnTo>
                  <a:lnTo>
                    <a:pt x="237" y="195"/>
                  </a:lnTo>
                  <a:lnTo>
                    <a:pt x="192" y="192"/>
                  </a:lnTo>
                  <a:lnTo>
                    <a:pt x="150" y="187"/>
                  </a:lnTo>
                  <a:lnTo>
                    <a:pt x="111" y="179"/>
                  </a:lnTo>
                  <a:lnTo>
                    <a:pt x="78" y="167"/>
                  </a:lnTo>
                  <a:lnTo>
                    <a:pt x="50" y="153"/>
                  </a:lnTo>
                  <a:lnTo>
                    <a:pt x="28" y="140"/>
                  </a:lnTo>
                  <a:lnTo>
                    <a:pt x="22" y="131"/>
                  </a:lnTo>
                  <a:lnTo>
                    <a:pt x="17" y="123"/>
                  </a:lnTo>
                  <a:lnTo>
                    <a:pt x="11" y="112"/>
                  </a:lnTo>
                  <a:lnTo>
                    <a:pt x="11" y="103"/>
                  </a:lnTo>
                  <a:close/>
                </a:path>
              </a:pathLst>
            </a:custGeom>
            <a:solidFill>
              <a:srgbClr val="0000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72" name="Freeform 33"/>
            <p:cNvSpPr>
              <a:spLocks noEditPoints="1"/>
            </p:cNvSpPr>
            <p:nvPr/>
          </p:nvSpPr>
          <p:spPr bwMode="auto">
            <a:xfrm>
              <a:off x="2383" y="1430"/>
              <a:ext cx="471" cy="170"/>
            </a:xfrm>
            <a:custGeom>
              <a:avLst/>
              <a:gdLst>
                <a:gd name="T0" fmla="*/ 465 w 471"/>
                <a:gd name="T1" fmla="*/ 0 h 170"/>
                <a:gd name="T2" fmla="*/ 0 w 471"/>
                <a:gd name="T3" fmla="*/ 0 h 170"/>
                <a:gd name="T4" fmla="*/ 0 w 471"/>
                <a:gd name="T5" fmla="*/ 66 h 170"/>
                <a:gd name="T6" fmla="*/ 0 w 471"/>
                <a:gd name="T7" fmla="*/ 66 h 170"/>
                <a:gd name="T8" fmla="*/ 0 w 471"/>
                <a:gd name="T9" fmla="*/ 78 h 170"/>
                <a:gd name="T10" fmla="*/ 6 w 471"/>
                <a:gd name="T11" fmla="*/ 86 h 170"/>
                <a:gd name="T12" fmla="*/ 11 w 471"/>
                <a:gd name="T13" fmla="*/ 97 h 170"/>
                <a:gd name="T14" fmla="*/ 20 w 471"/>
                <a:gd name="T15" fmla="*/ 105 h 170"/>
                <a:gd name="T16" fmla="*/ 39 w 471"/>
                <a:gd name="T17" fmla="*/ 125 h 170"/>
                <a:gd name="T18" fmla="*/ 67 w 471"/>
                <a:gd name="T19" fmla="*/ 139 h 170"/>
                <a:gd name="T20" fmla="*/ 103 w 471"/>
                <a:gd name="T21" fmla="*/ 153 h 170"/>
                <a:gd name="T22" fmla="*/ 142 w 471"/>
                <a:gd name="T23" fmla="*/ 161 h 170"/>
                <a:gd name="T24" fmla="*/ 187 w 471"/>
                <a:gd name="T25" fmla="*/ 167 h 170"/>
                <a:gd name="T26" fmla="*/ 237 w 471"/>
                <a:gd name="T27" fmla="*/ 170 h 170"/>
                <a:gd name="T28" fmla="*/ 237 w 471"/>
                <a:gd name="T29" fmla="*/ 170 h 170"/>
                <a:gd name="T30" fmla="*/ 284 w 471"/>
                <a:gd name="T31" fmla="*/ 167 h 170"/>
                <a:gd name="T32" fmla="*/ 329 w 471"/>
                <a:gd name="T33" fmla="*/ 161 h 170"/>
                <a:gd name="T34" fmla="*/ 368 w 471"/>
                <a:gd name="T35" fmla="*/ 153 h 170"/>
                <a:gd name="T36" fmla="*/ 404 w 471"/>
                <a:gd name="T37" fmla="*/ 139 h 170"/>
                <a:gd name="T38" fmla="*/ 432 w 471"/>
                <a:gd name="T39" fmla="*/ 125 h 170"/>
                <a:gd name="T40" fmla="*/ 454 w 471"/>
                <a:gd name="T41" fmla="*/ 105 h 170"/>
                <a:gd name="T42" fmla="*/ 462 w 471"/>
                <a:gd name="T43" fmla="*/ 97 h 170"/>
                <a:gd name="T44" fmla="*/ 468 w 471"/>
                <a:gd name="T45" fmla="*/ 86 h 170"/>
                <a:gd name="T46" fmla="*/ 471 w 471"/>
                <a:gd name="T47" fmla="*/ 78 h 170"/>
                <a:gd name="T48" fmla="*/ 471 w 471"/>
                <a:gd name="T49" fmla="*/ 66 h 170"/>
                <a:gd name="T50" fmla="*/ 471 w 471"/>
                <a:gd name="T51" fmla="*/ 0 h 170"/>
                <a:gd name="T52" fmla="*/ 465 w 471"/>
                <a:gd name="T53" fmla="*/ 0 h 170"/>
                <a:gd name="T54" fmla="*/ 459 w 471"/>
                <a:gd name="T55" fmla="*/ 11 h 170"/>
                <a:gd name="T56" fmla="*/ 459 w 471"/>
                <a:gd name="T57" fmla="*/ 11 h 170"/>
                <a:gd name="T58" fmla="*/ 459 w 471"/>
                <a:gd name="T59" fmla="*/ 66 h 170"/>
                <a:gd name="T60" fmla="*/ 459 w 471"/>
                <a:gd name="T61" fmla="*/ 66 h 170"/>
                <a:gd name="T62" fmla="*/ 459 w 471"/>
                <a:gd name="T63" fmla="*/ 75 h 170"/>
                <a:gd name="T64" fmla="*/ 457 w 471"/>
                <a:gd name="T65" fmla="*/ 83 h 170"/>
                <a:gd name="T66" fmla="*/ 451 w 471"/>
                <a:gd name="T67" fmla="*/ 91 h 170"/>
                <a:gd name="T68" fmla="*/ 443 w 471"/>
                <a:gd name="T69" fmla="*/ 100 h 170"/>
                <a:gd name="T70" fmla="*/ 420 w 471"/>
                <a:gd name="T71" fmla="*/ 117 h 170"/>
                <a:gd name="T72" fmla="*/ 393 w 471"/>
                <a:gd name="T73" fmla="*/ 131 h 170"/>
                <a:gd name="T74" fmla="*/ 359 w 471"/>
                <a:gd name="T75" fmla="*/ 142 h 170"/>
                <a:gd name="T76" fmla="*/ 323 w 471"/>
                <a:gd name="T77" fmla="*/ 150 h 170"/>
                <a:gd name="T78" fmla="*/ 281 w 471"/>
                <a:gd name="T79" fmla="*/ 156 h 170"/>
                <a:gd name="T80" fmla="*/ 237 w 471"/>
                <a:gd name="T81" fmla="*/ 158 h 170"/>
                <a:gd name="T82" fmla="*/ 237 w 471"/>
                <a:gd name="T83" fmla="*/ 158 h 170"/>
                <a:gd name="T84" fmla="*/ 192 w 471"/>
                <a:gd name="T85" fmla="*/ 156 h 170"/>
                <a:gd name="T86" fmla="*/ 150 w 471"/>
                <a:gd name="T87" fmla="*/ 150 h 170"/>
                <a:gd name="T88" fmla="*/ 111 w 471"/>
                <a:gd name="T89" fmla="*/ 142 h 170"/>
                <a:gd name="T90" fmla="*/ 78 w 471"/>
                <a:gd name="T91" fmla="*/ 131 h 170"/>
                <a:gd name="T92" fmla="*/ 50 w 471"/>
                <a:gd name="T93" fmla="*/ 117 h 170"/>
                <a:gd name="T94" fmla="*/ 28 w 471"/>
                <a:gd name="T95" fmla="*/ 100 h 170"/>
                <a:gd name="T96" fmla="*/ 22 w 471"/>
                <a:gd name="T97" fmla="*/ 91 h 170"/>
                <a:gd name="T98" fmla="*/ 17 w 471"/>
                <a:gd name="T99" fmla="*/ 83 h 170"/>
                <a:gd name="T100" fmla="*/ 11 w 471"/>
                <a:gd name="T101" fmla="*/ 75 h 170"/>
                <a:gd name="T102" fmla="*/ 11 w 471"/>
                <a:gd name="T103" fmla="*/ 66 h 170"/>
                <a:gd name="T104" fmla="*/ 11 w 471"/>
                <a:gd name="T105" fmla="*/ 66 h 170"/>
                <a:gd name="T106" fmla="*/ 11 w 471"/>
                <a:gd name="T107" fmla="*/ 11 h 170"/>
                <a:gd name="T108" fmla="*/ 11 w 471"/>
                <a:gd name="T109" fmla="*/ 11 h 170"/>
                <a:gd name="T110" fmla="*/ 459 w 471"/>
                <a:gd name="T111" fmla="*/ 11 h 170"/>
                <a:gd name="T112" fmla="*/ 459 w 471"/>
                <a:gd name="T113" fmla="*/ 11 h 1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71"/>
                <a:gd name="T172" fmla="*/ 0 h 170"/>
                <a:gd name="T173" fmla="*/ 471 w 471"/>
                <a:gd name="T174" fmla="*/ 170 h 17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71" h="170">
                  <a:moveTo>
                    <a:pt x="465" y="0"/>
                  </a:moveTo>
                  <a:lnTo>
                    <a:pt x="0" y="0"/>
                  </a:lnTo>
                  <a:lnTo>
                    <a:pt x="0" y="66"/>
                  </a:lnTo>
                  <a:lnTo>
                    <a:pt x="0" y="78"/>
                  </a:lnTo>
                  <a:lnTo>
                    <a:pt x="6" y="86"/>
                  </a:lnTo>
                  <a:lnTo>
                    <a:pt x="11" y="97"/>
                  </a:lnTo>
                  <a:lnTo>
                    <a:pt x="20" y="105"/>
                  </a:lnTo>
                  <a:lnTo>
                    <a:pt x="39" y="125"/>
                  </a:lnTo>
                  <a:lnTo>
                    <a:pt x="67" y="139"/>
                  </a:lnTo>
                  <a:lnTo>
                    <a:pt x="103" y="153"/>
                  </a:lnTo>
                  <a:lnTo>
                    <a:pt x="142" y="161"/>
                  </a:lnTo>
                  <a:lnTo>
                    <a:pt x="187" y="167"/>
                  </a:lnTo>
                  <a:lnTo>
                    <a:pt x="237" y="170"/>
                  </a:lnTo>
                  <a:lnTo>
                    <a:pt x="284" y="167"/>
                  </a:lnTo>
                  <a:lnTo>
                    <a:pt x="329" y="161"/>
                  </a:lnTo>
                  <a:lnTo>
                    <a:pt x="368" y="153"/>
                  </a:lnTo>
                  <a:lnTo>
                    <a:pt x="404" y="139"/>
                  </a:lnTo>
                  <a:lnTo>
                    <a:pt x="432" y="125"/>
                  </a:lnTo>
                  <a:lnTo>
                    <a:pt x="454" y="105"/>
                  </a:lnTo>
                  <a:lnTo>
                    <a:pt x="462" y="97"/>
                  </a:lnTo>
                  <a:lnTo>
                    <a:pt x="468" y="86"/>
                  </a:lnTo>
                  <a:lnTo>
                    <a:pt x="471" y="78"/>
                  </a:lnTo>
                  <a:lnTo>
                    <a:pt x="471" y="66"/>
                  </a:lnTo>
                  <a:lnTo>
                    <a:pt x="471" y="0"/>
                  </a:lnTo>
                  <a:lnTo>
                    <a:pt x="465" y="0"/>
                  </a:lnTo>
                  <a:close/>
                  <a:moveTo>
                    <a:pt x="459" y="11"/>
                  </a:moveTo>
                  <a:lnTo>
                    <a:pt x="459" y="11"/>
                  </a:lnTo>
                  <a:lnTo>
                    <a:pt x="459" y="66"/>
                  </a:lnTo>
                  <a:lnTo>
                    <a:pt x="459" y="75"/>
                  </a:lnTo>
                  <a:lnTo>
                    <a:pt x="457" y="83"/>
                  </a:lnTo>
                  <a:lnTo>
                    <a:pt x="451" y="91"/>
                  </a:lnTo>
                  <a:lnTo>
                    <a:pt x="443" y="100"/>
                  </a:lnTo>
                  <a:lnTo>
                    <a:pt x="420" y="117"/>
                  </a:lnTo>
                  <a:lnTo>
                    <a:pt x="393" y="131"/>
                  </a:lnTo>
                  <a:lnTo>
                    <a:pt x="359" y="142"/>
                  </a:lnTo>
                  <a:lnTo>
                    <a:pt x="323" y="150"/>
                  </a:lnTo>
                  <a:lnTo>
                    <a:pt x="281" y="156"/>
                  </a:lnTo>
                  <a:lnTo>
                    <a:pt x="237" y="158"/>
                  </a:lnTo>
                  <a:lnTo>
                    <a:pt x="192" y="156"/>
                  </a:lnTo>
                  <a:lnTo>
                    <a:pt x="150" y="150"/>
                  </a:lnTo>
                  <a:lnTo>
                    <a:pt x="111" y="142"/>
                  </a:lnTo>
                  <a:lnTo>
                    <a:pt x="78" y="131"/>
                  </a:lnTo>
                  <a:lnTo>
                    <a:pt x="50" y="117"/>
                  </a:lnTo>
                  <a:lnTo>
                    <a:pt x="28" y="100"/>
                  </a:lnTo>
                  <a:lnTo>
                    <a:pt x="22" y="91"/>
                  </a:lnTo>
                  <a:lnTo>
                    <a:pt x="17" y="83"/>
                  </a:lnTo>
                  <a:lnTo>
                    <a:pt x="11" y="75"/>
                  </a:lnTo>
                  <a:lnTo>
                    <a:pt x="11" y="66"/>
                  </a:lnTo>
                  <a:lnTo>
                    <a:pt x="11" y="11"/>
                  </a:lnTo>
                  <a:lnTo>
                    <a:pt x="459" y="11"/>
                  </a:lnTo>
                  <a:close/>
                </a:path>
              </a:pathLst>
            </a:custGeom>
            <a:solidFill>
              <a:srgbClr val="FFFF66"/>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73" name="Freeform 34"/>
            <p:cNvSpPr>
              <a:spLocks/>
            </p:cNvSpPr>
            <p:nvPr/>
          </p:nvSpPr>
          <p:spPr bwMode="auto">
            <a:xfrm>
              <a:off x="2389" y="1335"/>
              <a:ext cx="459" cy="195"/>
            </a:xfrm>
            <a:custGeom>
              <a:avLst/>
              <a:gdLst>
                <a:gd name="T0" fmla="*/ 459 w 459"/>
                <a:gd name="T1" fmla="*/ 97 h 195"/>
                <a:gd name="T2" fmla="*/ 459 w 459"/>
                <a:gd name="T3" fmla="*/ 97 h 195"/>
                <a:gd name="T4" fmla="*/ 459 w 459"/>
                <a:gd name="T5" fmla="*/ 108 h 195"/>
                <a:gd name="T6" fmla="*/ 456 w 459"/>
                <a:gd name="T7" fmla="*/ 117 h 195"/>
                <a:gd name="T8" fmla="*/ 451 w 459"/>
                <a:gd name="T9" fmla="*/ 125 h 195"/>
                <a:gd name="T10" fmla="*/ 442 w 459"/>
                <a:gd name="T11" fmla="*/ 136 h 195"/>
                <a:gd name="T12" fmla="*/ 420 w 459"/>
                <a:gd name="T13" fmla="*/ 153 h 195"/>
                <a:gd name="T14" fmla="*/ 392 w 459"/>
                <a:gd name="T15" fmla="*/ 167 h 195"/>
                <a:gd name="T16" fmla="*/ 359 w 459"/>
                <a:gd name="T17" fmla="*/ 178 h 195"/>
                <a:gd name="T18" fmla="*/ 320 w 459"/>
                <a:gd name="T19" fmla="*/ 186 h 195"/>
                <a:gd name="T20" fmla="*/ 275 w 459"/>
                <a:gd name="T21" fmla="*/ 192 h 195"/>
                <a:gd name="T22" fmla="*/ 231 w 459"/>
                <a:gd name="T23" fmla="*/ 195 h 195"/>
                <a:gd name="T24" fmla="*/ 231 w 459"/>
                <a:gd name="T25" fmla="*/ 195 h 195"/>
                <a:gd name="T26" fmla="*/ 183 w 459"/>
                <a:gd name="T27" fmla="*/ 192 h 195"/>
                <a:gd name="T28" fmla="*/ 139 w 459"/>
                <a:gd name="T29" fmla="*/ 186 h 195"/>
                <a:gd name="T30" fmla="*/ 100 w 459"/>
                <a:gd name="T31" fmla="*/ 178 h 195"/>
                <a:gd name="T32" fmla="*/ 67 w 459"/>
                <a:gd name="T33" fmla="*/ 167 h 195"/>
                <a:gd name="T34" fmla="*/ 39 w 459"/>
                <a:gd name="T35" fmla="*/ 153 h 195"/>
                <a:gd name="T36" fmla="*/ 16 w 459"/>
                <a:gd name="T37" fmla="*/ 136 h 195"/>
                <a:gd name="T38" fmla="*/ 11 w 459"/>
                <a:gd name="T39" fmla="*/ 125 h 195"/>
                <a:gd name="T40" fmla="*/ 5 w 459"/>
                <a:gd name="T41" fmla="*/ 117 h 195"/>
                <a:gd name="T42" fmla="*/ 0 w 459"/>
                <a:gd name="T43" fmla="*/ 108 h 195"/>
                <a:gd name="T44" fmla="*/ 0 w 459"/>
                <a:gd name="T45" fmla="*/ 97 h 195"/>
                <a:gd name="T46" fmla="*/ 0 w 459"/>
                <a:gd name="T47" fmla="*/ 97 h 195"/>
                <a:gd name="T48" fmla="*/ 0 w 459"/>
                <a:gd name="T49" fmla="*/ 86 h 195"/>
                <a:gd name="T50" fmla="*/ 5 w 459"/>
                <a:gd name="T51" fmla="*/ 78 h 195"/>
                <a:gd name="T52" fmla="*/ 11 w 459"/>
                <a:gd name="T53" fmla="*/ 69 h 195"/>
                <a:gd name="T54" fmla="*/ 16 w 459"/>
                <a:gd name="T55" fmla="*/ 58 h 195"/>
                <a:gd name="T56" fmla="*/ 39 w 459"/>
                <a:gd name="T57" fmla="*/ 42 h 195"/>
                <a:gd name="T58" fmla="*/ 67 w 459"/>
                <a:gd name="T59" fmla="*/ 28 h 195"/>
                <a:gd name="T60" fmla="*/ 100 w 459"/>
                <a:gd name="T61" fmla="*/ 16 h 195"/>
                <a:gd name="T62" fmla="*/ 139 w 459"/>
                <a:gd name="T63" fmla="*/ 8 h 195"/>
                <a:gd name="T64" fmla="*/ 183 w 459"/>
                <a:gd name="T65" fmla="*/ 3 h 195"/>
                <a:gd name="T66" fmla="*/ 231 w 459"/>
                <a:gd name="T67" fmla="*/ 0 h 195"/>
                <a:gd name="T68" fmla="*/ 231 w 459"/>
                <a:gd name="T69" fmla="*/ 0 h 195"/>
                <a:gd name="T70" fmla="*/ 275 w 459"/>
                <a:gd name="T71" fmla="*/ 3 h 195"/>
                <a:gd name="T72" fmla="*/ 320 w 459"/>
                <a:gd name="T73" fmla="*/ 8 h 195"/>
                <a:gd name="T74" fmla="*/ 359 w 459"/>
                <a:gd name="T75" fmla="*/ 16 h 195"/>
                <a:gd name="T76" fmla="*/ 392 w 459"/>
                <a:gd name="T77" fmla="*/ 28 h 195"/>
                <a:gd name="T78" fmla="*/ 420 w 459"/>
                <a:gd name="T79" fmla="*/ 42 h 195"/>
                <a:gd name="T80" fmla="*/ 442 w 459"/>
                <a:gd name="T81" fmla="*/ 58 h 195"/>
                <a:gd name="T82" fmla="*/ 451 w 459"/>
                <a:gd name="T83" fmla="*/ 69 h 195"/>
                <a:gd name="T84" fmla="*/ 456 w 459"/>
                <a:gd name="T85" fmla="*/ 78 h 195"/>
                <a:gd name="T86" fmla="*/ 459 w 459"/>
                <a:gd name="T87" fmla="*/ 86 h 195"/>
                <a:gd name="T88" fmla="*/ 459 w 459"/>
                <a:gd name="T89" fmla="*/ 97 h 195"/>
                <a:gd name="T90" fmla="*/ 459 w 459"/>
                <a:gd name="T91" fmla="*/ 97 h 19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9"/>
                <a:gd name="T139" fmla="*/ 0 h 195"/>
                <a:gd name="T140" fmla="*/ 459 w 459"/>
                <a:gd name="T141" fmla="*/ 195 h 19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9" h="195">
                  <a:moveTo>
                    <a:pt x="459" y="97"/>
                  </a:moveTo>
                  <a:lnTo>
                    <a:pt x="459" y="97"/>
                  </a:lnTo>
                  <a:lnTo>
                    <a:pt x="459" y="108"/>
                  </a:lnTo>
                  <a:lnTo>
                    <a:pt x="456" y="117"/>
                  </a:lnTo>
                  <a:lnTo>
                    <a:pt x="451" y="125"/>
                  </a:lnTo>
                  <a:lnTo>
                    <a:pt x="442" y="136"/>
                  </a:lnTo>
                  <a:lnTo>
                    <a:pt x="420" y="153"/>
                  </a:lnTo>
                  <a:lnTo>
                    <a:pt x="392" y="167"/>
                  </a:lnTo>
                  <a:lnTo>
                    <a:pt x="359" y="178"/>
                  </a:lnTo>
                  <a:lnTo>
                    <a:pt x="320" y="186"/>
                  </a:lnTo>
                  <a:lnTo>
                    <a:pt x="275" y="192"/>
                  </a:lnTo>
                  <a:lnTo>
                    <a:pt x="231" y="195"/>
                  </a:lnTo>
                  <a:lnTo>
                    <a:pt x="183" y="192"/>
                  </a:lnTo>
                  <a:lnTo>
                    <a:pt x="139" y="186"/>
                  </a:lnTo>
                  <a:lnTo>
                    <a:pt x="100" y="178"/>
                  </a:lnTo>
                  <a:lnTo>
                    <a:pt x="67" y="167"/>
                  </a:lnTo>
                  <a:lnTo>
                    <a:pt x="39" y="153"/>
                  </a:lnTo>
                  <a:lnTo>
                    <a:pt x="16" y="136"/>
                  </a:lnTo>
                  <a:lnTo>
                    <a:pt x="11" y="125"/>
                  </a:lnTo>
                  <a:lnTo>
                    <a:pt x="5" y="117"/>
                  </a:lnTo>
                  <a:lnTo>
                    <a:pt x="0" y="108"/>
                  </a:lnTo>
                  <a:lnTo>
                    <a:pt x="0" y="97"/>
                  </a:lnTo>
                  <a:lnTo>
                    <a:pt x="0" y="86"/>
                  </a:lnTo>
                  <a:lnTo>
                    <a:pt x="5" y="78"/>
                  </a:lnTo>
                  <a:lnTo>
                    <a:pt x="11" y="69"/>
                  </a:lnTo>
                  <a:lnTo>
                    <a:pt x="16" y="58"/>
                  </a:lnTo>
                  <a:lnTo>
                    <a:pt x="39" y="42"/>
                  </a:lnTo>
                  <a:lnTo>
                    <a:pt x="67" y="28"/>
                  </a:lnTo>
                  <a:lnTo>
                    <a:pt x="100" y="16"/>
                  </a:lnTo>
                  <a:lnTo>
                    <a:pt x="139" y="8"/>
                  </a:lnTo>
                  <a:lnTo>
                    <a:pt x="183" y="3"/>
                  </a:lnTo>
                  <a:lnTo>
                    <a:pt x="231" y="0"/>
                  </a:lnTo>
                  <a:lnTo>
                    <a:pt x="275" y="3"/>
                  </a:lnTo>
                  <a:lnTo>
                    <a:pt x="320" y="8"/>
                  </a:lnTo>
                  <a:lnTo>
                    <a:pt x="359" y="16"/>
                  </a:lnTo>
                  <a:lnTo>
                    <a:pt x="392" y="28"/>
                  </a:lnTo>
                  <a:lnTo>
                    <a:pt x="420" y="42"/>
                  </a:lnTo>
                  <a:lnTo>
                    <a:pt x="442" y="58"/>
                  </a:lnTo>
                  <a:lnTo>
                    <a:pt x="451" y="69"/>
                  </a:lnTo>
                  <a:lnTo>
                    <a:pt x="456" y="78"/>
                  </a:lnTo>
                  <a:lnTo>
                    <a:pt x="459" y="86"/>
                  </a:lnTo>
                  <a:lnTo>
                    <a:pt x="459" y="97"/>
                  </a:lnTo>
                  <a:close/>
                </a:path>
              </a:pathLst>
            </a:custGeom>
            <a:solidFill>
              <a:srgbClr val="2699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74" name="Freeform 35"/>
            <p:cNvSpPr>
              <a:spLocks noEditPoints="1"/>
            </p:cNvSpPr>
            <p:nvPr/>
          </p:nvSpPr>
          <p:spPr bwMode="auto">
            <a:xfrm>
              <a:off x="2383" y="1329"/>
              <a:ext cx="471" cy="206"/>
            </a:xfrm>
            <a:custGeom>
              <a:avLst/>
              <a:gdLst>
                <a:gd name="T0" fmla="*/ 0 w 471"/>
                <a:gd name="T1" fmla="*/ 103 h 206"/>
                <a:gd name="T2" fmla="*/ 6 w 471"/>
                <a:gd name="T3" fmla="*/ 126 h 206"/>
                <a:gd name="T4" fmla="*/ 20 w 471"/>
                <a:gd name="T5" fmla="*/ 145 h 206"/>
                <a:gd name="T6" fmla="*/ 67 w 471"/>
                <a:gd name="T7" fmla="*/ 176 h 206"/>
                <a:gd name="T8" fmla="*/ 142 w 471"/>
                <a:gd name="T9" fmla="*/ 198 h 206"/>
                <a:gd name="T10" fmla="*/ 237 w 471"/>
                <a:gd name="T11" fmla="*/ 206 h 206"/>
                <a:gd name="T12" fmla="*/ 284 w 471"/>
                <a:gd name="T13" fmla="*/ 204 h 206"/>
                <a:gd name="T14" fmla="*/ 368 w 471"/>
                <a:gd name="T15" fmla="*/ 190 h 206"/>
                <a:gd name="T16" fmla="*/ 432 w 471"/>
                <a:gd name="T17" fmla="*/ 162 h 206"/>
                <a:gd name="T18" fmla="*/ 462 w 471"/>
                <a:gd name="T19" fmla="*/ 134 h 206"/>
                <a:gd name="T20" fmla="*/ 471 w 471"/>
                <a:gd name="T21" fmla="*/ 114 h 206"/>
                <a:gd name="T22" fmla="*/ 471 w 471"/>
                <a:gd name="T23" fmla="*/ 103 h 206"/>
                <a:gd name="T24" fmla="*/ 468 w 471"/>
                <a:gd name="T25" fmla="*/ 84 h 206"/>
                <a:gd name="T26" fmla="*/ 454 w 471"/>
                <a:gd name="T27" fmla="*/ 64 h 206"/>
                <a:gd name="T28" fmla="*/ 404 w 471"/>
                <a:gd name="T29" fmla="*/ 31 h 206"/>
                <a:gd name="T30" fmla="*/ 329 w 471"/>
                <a:gd name="T31" fmla="*/ 9 h 206"/>
                <a:gd name="T32" fmla="*/ 237 w 471"/>
                <a:gd name="T33" fmla="*/ 0 h 206"/>
                <a:gd name="T34" fmla="*/ 187 w 471"/>
                <a:gd name="T35" fmla="*/ 3 h 206"/>
                <a:gd name="T36" fmla="*/ 103 w 471"/>
                <a:gd name="T37" fmla="*/ 17 h 206"/>
                <a:gd name="T38" fmla="*/ 39 w 471"/>
                <a:gd name="T39" fmla="*/ 45 h 206"/>
                <a:gd name="T40" fmla="*/ 11 w 471"/>
                <a:gd name="T41" fmla="*/ 73 h 206"/>
                <a:gd name="T42" fmla="*/ 0 w 471"/>
                <a:gd name="T43" fmla="*/ 92 h 206"/>
                <a:gd name="T44" fmla="*/ 0 w 471"/>
                <a:gd name="T45" fmla="*/ 103 h 206"/>
                <a:gd name="T46" fmla="*/ 11 w 471"/>
                <a:gd name="T47" fmla="*/ 103 h 206"/>
                <a:gd name="T48" fmla="*/ 17 w 471"/>
                <a:gd name="T49" fmla="*/ 84 h 206"/>
                <a:gd name="T50" fmla="*/ 28 w 471"/>
                <a:gd name="T51" fmla="*/ 67 h 206"/>
                <a:gd name="T52" fmla="*/ 78 w 471"/>
                <a:gd name="T53" fmla="*/ 39 h 206"/>
                <a:gd name="T54" fmla="*/ 150 w 471"/>
                <a:gd name="T55" fmla="*/ 20 h 206"/>
                <a:gd name="T56" fmla="*/ 237 w 471"/>
                <a:gd name="T57" fmla="*/ 11 h 206"/>
                <a:gd name="T58" fmla="*/ 281 w 471"/>
                <a:gd name="T59" fmla="*/ 14 h 206"/>
                <a:gd name="T60" fmla="*/ 359 w 471"/>
                <a:gd name="T61" fmla="*/ 28 h 206"/>
                <a:gd name="T62" fmla="*/ 420 w 471"/>
                <a:gd name="T63" fmla="*/ 53 h 206"/>
                <a:gd name="T64" fmla="*/ 451 w 471"/>
                <a:gd name="T65" fmla="*/ 75 h 206"/>
                <a:gd name="T66" fmla="*/ 459 w 471"/>
                <a:gd name="T67" fmla="*/ 95 h 206"/>
                <a:gd name="T68" fmla="*/ 459 w 471"/>
                <a:gd name="T69" fmla="*/ 103 h 206"/>
                <a:gd name="T70" fmla="*/ 457 w 471"/>
                <a:gd name="T71" fmla="*/ 123 h 206"/>
                <a:gd name="T72" fmla="*/ 443 w 471"/>
                <a:gd name="T73" fmla="*/ 140 h 206"/>
                <a:gd name="T74" fmla="*/ 393 w 471"/>
                <a:gd name="T75" fmla="*/ 167 h 206"/>
                <a:gd name="T76" fmla="*/ 323 w 471"/>
                <a:gd name="T77" fmla="*/ 187 h 206"/>
                <a:gd name="T78" fmla="*/ 237 w 471"/>
                <a:gd name="T79" fmla="*/ 195 h 206"/>
                <a:gd name="T80" fmla="*/ 192 w 471"/>
                <a:gd name="T81" fmla="*/ 192 h 206"/>
                <a:gd name="T82" fmla="*/ 111 w 471"/>
                <a:gd name="T83" fmla="*/ 179 h 206"/>
                <a:gd name="T84" fmla="*/ 50 w 471"/>
                <a:gd name="T85" fmla="*/ 153 h 206"/>
                <a:gd name="T86" fmla="*/ 22 w 471"/>
                <a:gd name="T87" fmla="*/ 131 h 206"/>
                <a:gd name="T88" fmla="*/ 11 w 471"/>
                <a:gd name="T89" fmla="*/ 112 h 206"/>
                <a:gd name="T90" fmla="*/ 11 w 471"/>
                <a:gd name="T91" fmla="*/ 103 h 20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71"/>
                <a:gd name="T139" fmla="*/ 0 h 206"/>
                <a:gd name="T140" fmla="*/ 471 w 471"/>
                <a:gd name="T141" fmla="*/ 206 h 20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71" h="206">
                  <a:moveTo>
                    <a:pt x="0" y="103"/>
                  </a:moveTo>
                  <a:lnTo>
                    <a:pt x="0" y="103"/>
                  </a:lnTo>
                  <a:lnTo>
                    <a:pt x="0" y="114"/>
                  </a:lnTo>
                  <a:lnTo>
                    <a:pt x="6" y="126"/>
                  </a:lnTo>
                  <a:lnTo>
                    <a:pt x="11" y="134"/>
                  </a:lnTo>
                  <a:lnTo>
                    <a:pt x="20" y="145"/>
                  </a:lnTo>
                  <a:lnTo>
                    <a:pt x="39" y="162"/>
                  </a:lnTo>
                  <a:lnTo>
                    <a:pt x="67" y="176"/>
                  </a:lnTo>
                  <a:lnTo>
                    <a:pt x="103" y="190"/>
                  </a:lnTo>
                  <a:lnTo>
                    <a:pt x="142" y="198"/>
                  </a:lnTo>
                  <a:lnTo>
                    <a:pt x="187" y="204"/>
                  </a:lnTo>
                  <a:lnTo>
                    <a:pt x="237" y="206"/>
                  </a:lnTo>
                  <a:lnTo>
                    <a:pt x="284" y="204"/>
                  </a:lnTo>
                  <a:lnTo>
                    <a:pt x="329" y="198"/>
                  </a:lnTo>
                  <a:lnTo>
                    <a:pt x="368" y="190"/>
                  </a:lnTo>
                  <a:lnTo>
                    <a:pt x="404" y="176"/>
                  </a:lnTo>
                  <a:lnTo>
                    <a:pt x="432" y="162"/>
                  </a:lnTo>
                  <a:lnTo>
                    <a:pt x="454" y="145"/>
                  </a:lnTo>
                  <a:lnTo>
                    <a:pt x="462" y="134"/>
                  </a:lnTo>
                  <a:lnTo>
                    <a:pt x="468" y="126"/>
                  </a:lnTo>
                  <a:lnTo>
                    <a:pt x="471" y="114"/>
                  </a:lnTo>
                  <a:lnTo>
                    <a:pt x="471" y="103"/>
                  </a:lnTo>
                  <a:lnTo>
                    <a:pt x="471" y="92"/>
                  </a:lnTo>
                  <a:lnTo>
                    <a:pt x="468" y="84"/>
                  </a:lnTo>
                  <a:lnTo>
                    <a:pt x="462" y="73"/>
                  </a:lnTo>
                  <a:lnTo>
                    <a:pt x="454" y="64"/>
                  </a:lnTo>
                  <a:lnTo>
                    <a:pt x="432" y="45"/>
                  </a:lnTo>
                  <a:lnTo>
                    <a:pt x="404" y="31"/>
                  </a:lnTo>
                  <a:lnTo>
                    <a:pt x="368" y="17"/>
                  </a:lnTo>
                  <a:lnTo>
                    <a:pt x="329" y="9"/>
                  </a:lnTo>
                  <a:lnTo>
                    <a:pt x="284" y="3"/>
                  </a:lnTo>
                  <a:lnTo>
                    <a:pt x="237" y="0"/>
                  </a:lnTo>
                  <a:lnTo>
                    <a:pt x="187" y="3"/>
                  </a:lnTo>
                  <a:lnTo>
                    <a:pt x="142" y="9"/>
                  </a:lnTo>
                  <a:lnTo>
                    <a:pt x="103" y="17"/>
                  </a:lnTo>
                  <a:lnTo>
                    <a:pt x="67" y="31"/>
                  </a:lnTo>
                  <a:lnTo>
                    <a:pt x="39" y="45"/>
                  </a:lnTo>
                  <a:lnTo>
                    <a:pt x="20" y="64"/>
                  </a:lnTo>
                  <a:lnTo>
                    <a:pt x="11" y="73"/>
                  </a:lnTo>
                  <a:lnTo>
                    <a:pt x="6" y="84"/>
                  </a:lnTo>
                  <a:lnTo>
                    <a:pt x="0" y="92"/>
                  </a:lnTo>
                  <a:lnTo>
                    <a:pt x="0" y="103"/>
                  </a:lnTo>
                  <a:close/>
                  <a:moveTo>
                    <a:pt x="11" y="103"/>
                  </a:moveTo>
                  <a:lnTo>
                    <a:pt x="11" y="103"/>
                  </a:lnTo>
                  <a:lnTo>
                    <a:pt x="11" y="95"/>
                  </a:lnTo>
                  <a:lnTo>
                    <a:pt x="17" y="84"/>
                  </a:lnTo>
                  <a:lnTo>
                    <a:pt x="22" y="75"/>
                  </a:lnTo>
                  <a:lnTo>
                    <a:pt x="28" y="67"/>
                  </a:lnTo>
                  <a:lnTo>
                    <a:pt x="50" y="53"/>
                  </a:lnTo>
                  <a:lnTo>
                    <a:pt x="78" y="39"/>
                  </a:lnTo>
                  <a:lnTo>
                    <a:pt x="111" y="28"/>
                  </a:lnTo>
                  <a:lnTo>
                    <a:pt x="150" y="20"/>
                  </a:lnTo>
                  <a:lnTo>
                    <a:pt x="192" y="14"/>
                  </a:lnTo>
                  <a:lnTo>
                    <a:pt x="237" y="11"/>
                  </a:lnTo>
                  <a:lnTo>
                    <a:pt x="281" y="14"/>
                  </a:lnTo>
                  <a:lnTo>
                    <a:pt x="323" y="20"/>
                  </a:lnTo>
                  <a:lnTo>
                    <a:pt x="359" y="28"/>
                  </a:lnTo>
                  <a:lnTo>
                    <a:pt x="393" y="39"/>
                  </a:lnTo>
                  <a:lnTo>
                    <a:pt x="420" y="53"/>
                  </a:lnTo>
                  <a:lnTo>
                    <a:pt x="443" y="67"/>
                  </a:lnTo>
                  <a:lnTo>
                    <a:pt x="451" y="75"/>
                  </a:lnTo>
                  <a:lnTo>
                    <a:pt x="457" y="84"/>
                  </a:lnTo>
                  <a:lnTo>
                    <a:pt x="459" y="95"/>
                  </a:lnTo>
                  <a:lnTo>
                    <a:pt x="459" y="103"/>
                  </a:lnTo>
                  <a:lnTo>
                    <a:pt x="459" y="112"/>
                  </a:lnTo>
                  <a:lnTo>
                    <a:pt x="457" y="123"/>
                  </a:lnTo>
                  <a:lnTo>
                    <a:pt x="451" y="131"/>
                  </a:lnTo>
                  <a:lnTo>
                    <a:pt x="443" y="140"/>
                  </a:lnTo>
                  <a:lnTo>
                    <a:pt x="420" y="153"/>
                  </a:lnTo>
                  <a:lnTo>
                    <a:pt x="393" y="167"/>
                  </a:lnTo>
                  <a:lnTo>
                    <a:pt x="359" y="179"/>
                  </a:lnTo>
                  <a:lnTo>
                    <a:pt x="323" y="187"/>
                  </a:lnTo>
                  <a:lnTo>
                    <a:pt x="281" y="192"/>
                  </a:lnTo>
                  <a:lnTo>
                    <a:pt x="237" y="195"/>
                  </a:lnTo>
                  <a:lnTo>
                    <a:pt x="192" y="192"/>
                  </a:lnTo>
                  <a:lnTo>
                    <a:pt x="150" y="187"/>
                  </a:lnTo>
                  <a:lnTo>
                    <a:pt x="111" y="179"/>
                  </a:lnTo>
                  <a:lnTo>
                    <a:pt x="78" y="167"/>
                  </a:lnTo>
                  <a:lnTo>
                    <a:pt x="50" y="153"/>
                  </a:lnTo>
                  <a:lnTo>
                    <a:pt x="28" y="140"/>
                  </a:lnTo>
                  <a:lnTo>
                    <a:pt x="22" y="131"/>
                  </a:lnTo>
                  <a:lnTo>
                    <a:pt x="17" y="123"/>
                  </a:lnTo>
                  <a:lnTo>
                    <a:pt x="11" y="112"/>
                  </a:lnTo>
                  <a:lnTo>
                    <a:pt x="11" y="103"/>
                  </a:lnTo>
                  <a:close/>
                </a:path>
              </a:pathLst>
            </a:custGeom>
            <a:solidFill>
              <a:srgbClr val="FFFF66"/>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75" name="Freeform 36"/>
            <p:cNvSpPr>
              <a:spLocks/>
            </p:cNvSpPr>
            <p:nvPr/>
          </p:nvSpPr>
          <p:spPr bwMode="auto">
            <a:xfrm>
              <a:off x="2458" y="1368"/>
              <a:ext cx="142" cy="59"/>
            </a:xfrm>
            <a:custGeom>
              <a:avLst/>
              <a:gdLst>
                <a:gd name="T0" fmla="*/ 142 w 142"/>
                <a:gd name="T1" fmla="*/ 59 h 59"/>
                <a:gd name="T2" fmla="*/ 106 w 142"/>
                <a:gd name="T3" fmla="*/ 14 h 59"/>
                <a:gd name="T4" fmla="*/ 78 w 142"/>
                <a:gd name="T5" fmla="*/ 25 h 59"/>
                <a:gd name="T6" fmla="*/ 20 w 142"/>
                <a:gd name="T7" fmla="*/ 0 h 59"/>
                <a:gd name="T8" fmla="*/ 0 w 142"/>
                <a:gd name="T9" fmla="*/ 9 h 59"/>
                <a:gd name="T10" fmla="*/ 59 w 142"/>
                <a:gd name="T11" fmla="*/ 31 h 59"/>
                <a:gd name="T12" fmla="*/ 34 w 142"/>
                <a:gd name="T13" fmla="*/ 42 h 59"/>
                <a:gd name="T14" fmla="*/ 142 w 142"/>
                <a:gd name="T15" fmla="*/ 59 h 59"/>
                <a:gd name="T16" fmla="*/ 0 60000 65536"/>
                <a:gd name="T17" fmla="*/ 0 60000 65536"/>
                <a:gd name="T18" fmla="*/ 0 60000 65536"/>
                <a:gd name="T19" fmla="*/ 0 60000 65536"/>
                <a:gd name="T20" fmla="*/ 0 60000 65536"/>
                <a:gd name="T21" fmla="*/ 0 60000 65536"/>
                <a:gd name="T22" fmla="*/ 0 60000 65536"/>
                <a:gd name="T23" fmla="*/ 0 60000 65536"/>
                <a:gd name="T24" fmla="*/ 0 w 142"/>
                <a:gd name="T25" fmla="*/ 0 h 59"/>
                <a:gd name="T26" fmla="*/ 142 w 142"/>
                <a:gd name="T27" fmla="*/ 59 h 5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2" h="59">
                  <a:moveTo>
                    <a:pt x="142" y="59"/>
                  </a:moveTo>
                  <a:lnTo>
                    <a:pt x="106" y="14"/>
                  </a:lnTo>
                  <a:lnTo>
                    <a:pt x="78" y="25"/>
                  </a:lnTo>
                  <a:lnTo>
                    <a:pt x="20" y="0"/>
                  </a:lnTo>
                  <a:lnTo>
                    <a:pt x="0" y="9"/>
                  </a:lnTo>
                  <a:lnTo>
                    <a:pt x="59" y="31"/>
                  </a:lnTo>
                  <a:lnTo>
                    <a:pt x="34" y="42"/>
                  </a:lnTo>
                  <a:lnTo>
                    <a:pt x="142" y="59"/>
                  </a:lnTo>
                  <a:close/>
                </a:path>
              </a:pathLst>
            </a:custGeom>
            <a:solidFill>
              <a:srgbClr val="FFFFFF"/>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76" name="Freeform 37"/>
            <p:cNvSpPr>
              <a:spLocks noEditPoints="1"/>
            </p:cNvSpPr>
            <p:nvPr/>
          </p:nvSpPr>
          <p:spPr bwMode="auto">
            <a:xfrm>
              <a:off x="2453" y="1363"/>
              <a:ext cx="153" cy="69"/>
            </a:xfrm>
            <a:custGeom>
              <a:avLst/>
              <a:gdLst>
                <a:gd name="T0" fmla="*/ 5 w 153"/>
                <a:gd name="T1" fmla="*/ 8 h 69"/>
                <a:gd name="T2" fmla="*/ 3 w 153"/>
                <a:gd name="T3" fmla="*/ 11 h 69"/>
                <a:gd name="T4" fmla="*/ 0 w 153"/>
                <a:gd name="T5" fmla="*/ 14 h 69"/>
                <a:gd name="T6" fmla="*/ 3 w 153"/>
                <a:gd name="T7" fmla="*/ 16 h 69"/>
                <a:gd name="T8" fmla="*/ 5 w 153"/>
                <a:gd name="T9" fmla="*/ 19 h 69"/>
                <a:gd name="T10" fmla="*/ 50 w 153"/>
                <a:gd name="T11" fmla="*/ 36 h 69"/>
                <a:gd name="T12" fmla="*/ 36 w 153"/>
                <a:gd name="T13" fmla="*/ 41 h 69"/>
                <a:gd name="T14" fmla="*/ 33 w 153"/>
                <a:gd name="T15" fmla="*/ 47 h 69"/>
                <a:gd name="T16" fmla="*/ 33 w 153"/>
                <a:gd name="T17" fmla="*/ 47 h 69"/>
                <a:gd name="T18" fmla="*/ 33 w 153"/>
                <a:gd name="T19" fmla="*/ 53 h 69"/>
                <a:gd name="T20" fmla="*/ 144 w 153"/>
                <a:gd name="T21" fmla="*/ 69 h 69"/>
                <a:gd name="T22" fmla="*/ 150 w 153"/>
                <a:gd name="T23" fmla="*/ 67 h 69"/>
                <a:gd name="T24" fmla="*/ 150 w 153"/>
                <a:gd name="T25" fmla="*/ 64 h 69"/>
                <a:gd name="T26" fmla="*/ 150 w 153"/>
                <a:gd name="T27" fmla="*/ 58 h 69"/>
                <a:gd name="T28" fmla="*/ 114 w 153"/>
                <a:gd name="T29" fmla="*/ 14 h 69"/>
                <a:gd name="T30" fmla="*/ 108 w 153"/>
                <a:gd name="T31" fmla="*/ 14 h 69"/>
                <a:gd name="T32" fmla="*/ 83 w 153"/>
                <a:gd name="T33" fmla="*/ 25 h 69"/>
                <a:gd name="T34" fmla="*/ 28 w 153"/>
                <a:gd name="T35" fmla="*/ 0 h 69"/>
                <a:gd name="T36" fmla="*/ 22 w 153"/>
                <a:gd name="T37" fmla="*/ 0 h 69"/>
                <a:gd name="T38" fmla="*/ 25 w 153"/>
                <a:gd name="T39" fmla="*/ 11 h 69"/>
                <a:gd name="T40" fmla="*/ 80 w 153"/>
                <a:gd name="T41" fmla="*/ 36 h 69"/>
                <a:gd name="T42" fmla="*/ 83 w 153"/>
                <a:gd name="T43" fmla="*/ 36 h 69"/>
                <a:gd name="T44" fmla="*/ 108 w 153"/>
                <a:gd name="T45" fmla="*/ 25 h 69"/>
                <a:gd name="T46" fmla="*/ 133 w 153"/>
                <a:gd name="T47" fmla="*/ 55 h 69"/>
                <a:gd name="T48" fmla="*/ 58 w 153"/>
                <a:gd name="T49" fmla="*/ 44 h 69"/>
                <a:gd name="T50" fmla="*/ 67 w 153"/>
                <a:gd name="T51" fmla="*/ 41 h 69"/>
                <a:gd name="T52" fmla="*/ 69 w 153"/>
                <a:gd name="T53" fmla="*/ 39 h 69"/>
                <a:gd name="T54" fmla="*/ 69 w 153"/>
                <a:gd name="T55" fmla="*/ 36 h 69"/>
                <a:gd name="T56" fmla="*/ 69 w 153"/>
                <a:gd name="T57" fmla="*/ 33 h 69"/>
                <a:gd name="T58" fmla="*/ 67 w 153"/>
                <a:gd name="T59" fmla="*/ 30 h 69"/>
                <a:gd name="T60" fmla="*/ 22 w 153"/>
                <a:gd name="T61" fmla="*/ 14 h 69"/>
                <a:gd name="T62" fmla="*/ 25 w 153"/>
                <a:gd name="T63" fmla="*/ 11 h 6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53"/>
                <a:gd name="T97" fmla="*/ 0 h 69"/>
                <a:gd name="T98" fmla="*/ 153 w 153"/>
                <a:gd name="T99" fmla="*/ 69 h 6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53" h="69">
                  <a:moveTo>
                    <a:pt x="22" y="0"/>
                  </a:moveTo>
                  <a:lnTo>
                    <a:pt x="5" y="8"/>
                  </a:lnTo>
                  <a:lnTo>
                    <a:pt x="3" y="11"/>
                  </a:lnTo>
                  <a:lnTo>
                    <a:pt x="0" y="14"/>
                  </a:lnTo>
                  <a:lnTo>
                    <a:pt x="3" y="16"/>
                  </a:lnTo>
                  <a:lnTo>
                    <a:pt x="5" y="19"/>
                  </a:lnTo>
                  <a:lnTo>
                    <a:pt x="50" y="36"/>
                  </a:lnTo>
                  <a:lnTo>
                    <a:pt x="36" y="41"/>
                  </a:lnTo>
                  <a:lnTo>
                    <a:pt x="33" y="44"/>
                  </a:lnTo>
                  <a:lnTo>
                    <a:pt x="33" y="47"/>
                  </a:lnTo>
                  <a:lnTo>
                    <a:pt x="33" y="53"/>
                  </a:lnTo>
                  <a:lnTo>
                    <a:pt x="39" y="53"/>
                  </a:lnTo>
                  <a:lnTo>
                    <a:pt x="144" y="69"/>
                  </a:lnTo>
                  <a:lnTo>
                    <a:pt x="150" y="67"/>
                  </a:lnTo>
                  <a:lnTo>
                    <a:pt x="150" y="64"/>
                  </a:lnTo>
                  <a:lnTo>
                    <a:pt x="153" y="61"/>
                  </a:lnTo>
                  <a:lnTo>
                    <a:pt x="150" y="58"/>
                  </a:lnTo>
                  <a:lnTo>
                    <a:pt x="114" y="14"/>
                  </a:lnTo>
                  <a:lnTo>
                    <a:pt x="111" y="14"/>
                  </a:lnTo>
                  <a:lnTo>
                    <a:pt x="108" y="14"/>
                  </a:lnTo>
                  <a:lnTo>
                    <a:pt x="83" y="25"/>
                  </a:lnTo>
                  <a:lnTo>
                    <a:pt x="28" y="0"/>
                  </a:lnTo>
                  <a:lnTo>
                    <a:pt x="22" y="0"/>
                  </a:lnTo>
                  <a:close/>
                  <a:moveTo>
                    <a:pt x="25" y="11"/>
                  </a:moveTo>
                  <a:lnTo>
                    <a:pt x="25" y="11"/>
                  </a:lnTo>
                  <a:lnTo>
                    <a:pt x="80" y="36"/>
                  </a:lnTo>
                  <a:lnTo>
                    <a:pt x="83" y="36"/>
                  </a:lnTo>
                  <a:lnTo>
                    <a:pt x="108" y="25"/>
                  </a:lnTo>
                  <a:lnTo>
                    <a:pt x="133" y="55"/>
                  </a:lnTo>
                  <a:lnTo>
                    <a:pt x="58" y="44"/>
                  </a:lnTo>
                  <a:lnTo>
                    <a:pt x="67" y="41"/>
                  </a:lnTo>
                  <a:lnTo>
                    <a:pt x="69" y="39"/>
                  </a:lnTo>
                  <a:lnTo>
                    <a:pt x="69" y="36"/>
                  </a:lnTo>
                  <a:lnTo>
                    <a:pt x="69" y="33"/>
                  </a:lnTo>
                  <a:lnTo>
                    <a:pt x="67" y="30"/>
                  </a:lnTo>
                  <a:lnTo>
                    <a:pt x="22" y="14"/>
                  </a:lnTo>
                  <a:lnTo>
                    <a:pt x="25" y="11"/>
                  </a:lnTo>
                  <a:close/>
                </a:path>
              </a:pathLst>
            </a:custGeom>
            <a:solidFill>
              <a:srgbClr val="0000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77" name="Freeform 38"/>
            <p:cNvSpPr>
              <a:spLocks/>
            </p:cNvSpPr>
            <p:nvPr/>
          </p:nvSpPr>
          <p:spPr bwMode="auto">
            <a:xfrm>
              <a:off x="2625" y="1435"/>
              <a:ext cx="145" cy="59"/>
            </a:xfrm>
            <a:custGeom>
              <a:avLst/>
              <a:gdLst>
                <a:gd name="T0" fmla="*/ 0 w 145"/>
                <a:gd name="T1" fmla="*/ 0 h 59"/>
                <a:gd name="T2" fmla="*/ 37 w 145"/>
                <a:gd name="T3" fmla="*/ 45 h 59"/>
                <a:gd name="T4" fmla="*/ 64 w 145"/>
                <a:gd name="T5" fmla="*/ 34 h 59"/>
                <a:gd name="T6" fmla="*/ 126 w 145"/>
                <a:gd name="T7" fmla="*/ 59 h 59"/>
                <a:gd name="T8" fmla="*/ 145 w 145"/>
                <a:gd name="T9" fmla="*/ 53 h 59"/>
                <a:gd name="T10" fmla="*/ 81 w 145"/>
                <a:gd name="T11" fmla="*/ 28 h 59"/>
                <a:gd name="T12" fmla="*/ 109 w 145"/>
                <a:gd name="T13" fmla="*/ 17 h 59"/>
                <a:gd name="T14" fmla="*/ 0 w 145"/>
                <a:gd name="T15" fmla="*/ 0 h 59"/>
                <a:gd name="T16" fmla="*/ 0 60000 65536"/>
                <a:gd name="T17" fmla="*/ 0 60000 65536"/>
                <a:gd name="T18" fmla="*/ 0 60000 65536"/>
                <a:gd name="T19" fmla="*/ 0 60000 65536"/>
                <a:gd name="T20" fmla="*/ 0 60000 65536"/>
                <a:gd name="T21" fmla="*/ 0 60000 65536"/>
                <a:gd name="T22" fmla="*/ 0 60000 65536"/>
                <a:gd name="T23" fmla="*/ 0 60000 65536"/>
                <a:gd name="T24" fmla="*/ 0 w 145"/>
                <a:gd name="T25" fmla="*/ 0 h 59"/>
                <a:gd name="T26" fmla="*/ 145 w 145"/>
                <a:gd name="T27" fmla="*/ 59 h 5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5" h="59">
                  <a:moveTo>
                    <a:pt x="0" y="0"/>
                  </a:moveTo>
                  <a:lnTo>
                    <a:pt x="37" y="45"/>
                  </a:lnTo>
                  <a:lnTo>
                    <a:pt x="64" y="34"/>
                  </a:lnTo>
                  <a:lnTo>
                    <a:pt x="126" y="59"/>
                  </a:lnTo>
                  <a:lnTo>
                    <a:pt x="145" y="53"/>
                  </a:lnTo>
                  <a:lnTo>
                    <a:pt x="81" y="28"/>
                  </a:lnTo>
                  <a:lnTo>
                    <a:pt x="109" y="17"/>
                  </a:lnTo>
                  <a:lnTo>
                    <a:pt x="0" y="0"/>
                  </a:lnTo>
                  <a:close/>
                </a:path>
              </a:pathLst>
            </a:custGeom>
            <a:solidFill>
              <a:srgbClr val="FFFFFF"/>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78" name="Freeform 39"/>
            <p:cNvSpPr>
              <a:spLocks noEditPoints="1"/>
            </p:cNvSpPr>
            <p:nvPr/>
          </p:nvSpPr>
          <p:spPr bwMode="auto">
            <a:xfrm>
              <a:off x="2620" y="1430"/>
              <a:ext cx="156" cy="69"/>
            </a:xfrm>
            <a:custGeom>
              <a:avLst/>
              <a:gdLst>
                <a:gd name="T0" fmla="*/ 0 w 156"/>
                <a:gd name="T1" fmla="*/ 2 h 69"/>
                <a:gd name="T2" fmla="*/ 3 w 156"/>
                <a:gd name="T3" fmla="*/ 11 h 69"/>
                <a:gd name="T4" fmla="*/ 39 w 156"/>
                <a:gd name="T5" fmla="*/ 52 h 69"/>
                <a:gd name="T6" fmla="*/ 44 w 156"/>
                <a:gd name="T7" fmla="*/ 55 h 69"/>
                <a:gd name="T8" fmla="*/ 69 w 156"/>
                <a:gd name="T9" fmla="*/ 44 h 69"/>
                <a:gd name="T10" fmla="*/ 128 w 156"/>
                <a:gd name="T11" fmla="*/ 69 h 69"/>
                <a:gd name="T12" fmla="*/ 133 w 156"/>
                <a:gd name="T13" fmla="*/ 69 h 69"/>
                <a:gd name="T14" fmla="*/ 150 w 156"/>
                <a:gd name="T15" fmla="*/ 61 h 69"/>
                <a:gd name="T16" fmla="*/ 156 w 156"/>
                <a:gd name="T17" fmla="*/ 58 h 69"/>
                <a:gd name="T18" fmla="*/ 156 w 156"/>
                <a:gd name="T19" fmla="*/ 58 h 69"/>
                <a:gd name="T20" fmla="*/ 150 w 156"/>
                <a:gd name="T21" fmla="*/ 52 h 69"/>
                <a:gd name="T22" fmla="*/ 103 w 156"/>
                <a:gd name="T23" fmla="*/ 33 h 69"/>
                <a:gd name="T24" fmla="*/ 117 w 156"/>
                <a:gd name="T25" fmla="*/ 27 h 69"/>
                <a:gd name="T26" fmla="*/ 119 w 156"/>
                <a:gd name="T27" fmla="*/ 25 h 69"/>
                <a:gd name="T28" fmla="*/ 119 w 156"/>
                <a:gd name="T29" fmla="*/ 22 h 69"/>
                <a:gd name="T30" fmla="*/ 119 w 156"/>
                <a:gd name="T31" fmla="*/ 19 h 69"/>
                <a:gd name="T32" fmla="*/ 114 w 156"/>
                <a:gd name="T33" fmla="*/ 16 h 69"/>
                <a:gd name="T34" fmla="*/ 5 w 156"/>
                <a:gd name="T35" fmla="*/ 0 h 69"/>
                <a:gd name="T36" fmla="*/ 0 w 156"/>
                <a:gd name="T37" fmla="*/ 2 h 69"/>
                <a:gd name="T38" fmla="*/ 19 w 156"/>
                <a:gd name="T39" fmla="*/ 13 h 69"/>
                <a:gd name="T40" fmla="*/ 92 w 156"/>
                <a:gd name="T41" fmla="*/ 25 h 69"/>
                <a:gd name="T42" fmla="*/ 86 w 156"/>
                <a:gd name="T43" fmla="*/ 27 h 69"/>
                <a:gd name="T44" fmla="*/ 83 w 156"/>
                <a:gd name="T45" fmla="*/ 27 h 69"/>
                <a:gd name="T46" fmla="*/ 80 w 156"/>
                <a:gd name="T47" fmla="*/ 33 h 69"/>
                <a:gd name="T48" fmla="*/ 83 w 156"/>
                <a:gd name="T49" fmla="*/ 36 h 69"/>
                <a:gd name="T50" fmla="*/ 86 w 156"/>
                <a:gd name="T51" fmla="*/ 36 h 69"/>
                <a:gd name="T52" fmla="*/ 133 w 156"/>
                <a:gd name="T53" fmla="*/ 58 h 69"/>
                <a:gd name="T54" fmla="*/ 131 w 156"/>
                <a:gd name="T55" fmla="*/ 58 h 69"/>
                <a:gd name="T56" fmla="*/ 72 w 156"/>
                <a:gd name="T57" fmla="*/ 33 h 69"/>
                <a:gd name="T58" fmla="*/ 67 w 156"/>
                <a:gd name="T59" fmla="*/ 33 h 69"/>
                <a:gd name="T60" fmla="*/ 44 w 156"/>
                <a:gd name="T61" fmla="*/ 44 h 69"/>
                <a:gd name="T62" fmla="*/ 19 w 156"/>
                <a:gd name="T63" fmla="*/ 13 h 6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56"/>
                <a:gd name="T97" fmla="*/ 0 h 69"/>
                <a:gd name="T98" fmla="*/ 156 w 156"/>
                <a:gd name="T99" fmla="*/ 69 h 6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56" h="69">
                  <a:moveTo>
                    <a:pt x="0" y="2"/>
                  </a:moveTo>
                  <a:lnTo>
                    <a:pt x="0" y="2"/>
                  </a:lnTo>
                  <a:lnTo>
                    <a:pt x="0" y="8"/>
                  </a:lnTo>
                  <a:lnTo>
                    <a:pt x="3" y="11"/>
                  </a:lnTo>
                  <a:lnTo>
                    <a:pt x="39" y="52"/>
                  </a:lnTo>
                  <a:lnTo>
                    <a:pt x="42" y="55"/>
                  </a:lnTo>
                  <a:lnTo>
                    <a:pt x="44" y="55"/>
                  </a:lnTo>
                  <a:lnTo>
                    <a:pt x="69" y="44"/>
                  </a:lnTo>
                  <a:lnTo>
                    <a:pt x="128" y="69"/>
                  </a:lnTo>
                  <a:lnTo>
                    <a:pt x="133" y="69"/>
                  </a:lnTo>
                  <a:lnTo>
                    <a:pt x="150" y="61"/>
                  </a:lnTo>
                  <a:lnTo>
                    <a:pt x="153" y="61"/>
                  </a:lnTo>
                  <a:lnTo>
                    <a:pt x="156" y="58"/>
                  </a:lnTo>
                  <a:lnTo>
                    <a:pt x="153" y="52"/>
                  </a:lnTo>
                  <a:lnTo>
                    <a:pt x="150" y="52"/>
                  </a:lnTo>
                  <a:lnTo>
                    <a:pt x="103" y="33"/>
                  </a:lnTo>
                  <a:lnTo>
                    <a:pt x="117" y="27"/>
                  </a:lnTo>
                  <a:lnTo>
                    <a:pt x="119" y="25"/>
                  </a:lnTo>
                  <a:lnTo>
                    <a:pt x="119" y="22"/>
                  </a:lnTo>
                  <a:lnTo>
                    <a:pt x="119" y="19"/>
                  </a:lnTo>
                  <a:lnTo>
                    <a:pt x="117" y="16"/>
                  </a:lnTo>
                  <a:lnTo>
                    <a:pt x="114" y="16"/>
                  </a:lnTo>
                  <a:lnTo>
                    <a:pt x="5" y="0"/>
                  </a:lnTo>
                  <a:lnTo>
                    <a:pt x="3" y="2"/>
                  </a:lnTo>
                  <a:lnTo>
                    <a:pt x="0" y="2"/>
                  </a:lnTo>
                  <a:close/>
                  <a:moveTo>
                    <a:pt x="19" y="13"/>
                  </a:moveTo>
                  <a:lnTo>
                    <a:pt x="19" y="13"/>
                  </a:lnTo>
                  <a:lnTo>
                    <a:pt x="92" y="25"/>
                  </a:lnTo>
                  <a:lnTo>
                    <a:pt x="86" y="27"/>
                  </a:lnTo>
                  <a:lnTo>
                    <a:pt x="83" y="27"/>
                  </a:lnTo>
                  <a:lnTo>
                    <a:pt x="80" y="33"/>
                  </a:lnTo>
                  <a:lnTo>
                    <a:pt x="83" y="36"/>
                  </a:lnTo>
                  <a:lnTo>
                    <a:pt x="86" y="36"/>
                  </a:lnTo>
                  <a:lnTo>
                    <a:pt x="133" y="58"/>
                  </a:lnTo>
                  <a:lnTo>
                    <a:pt x="131" y="58"/>
                  </a:lnTo>
                  <a:lnTo>
                    <a:pt x="72" y="33"/>
                  </a:lnTo>
                  <a:lnTo>
                    <a:pt x="67" y="33"/>
                  </a:lnTo>
                  <a:lnTo>
                    <a:pt x="44" y="44"/>
                  </a:lnTo>
                  <a:lnTo>
                    <a:pt x="19" y="13"/>
                  </a:lnTo>
                  <a:close/>
                </a:path>
              </a:pathLst>
            </a:custGeom>
            <a:solidFill>
              <a:srgbClr val="0000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79" name="Freeform 40"/>
            <p:cNvSpPr>
              <a:spLocks/>
            </p:cNvSpPr>
            <p:nvPr/>
          </p:nvSpPr>
          <p:spPr bwMode="auto">
            <a:xfrm>
              <a:off x="2461" y="1438"/>
              <a:ext cx="139" cy="56"/>
            </a:xfrm>
            <a:custGeom>
              <a:avLst/>
              <a:gdLst>
                <a:gd name="T0" fmla="*/ 0 w 139"/>
                <a:gd name="T1" fmla="*/ 56 h 56"/>
                <a:gd name="T2" fmla="*/ 109 w 139"/>
                <a:gd name="T3" fmla="*/ 42 h 56"/>
                <a:gd name="T4" fmla="*/ 81 w 139"/>
                <a:gd name="T5" fmla="*/ 31 h 56"/>
                <a:gd name="T6" fmla="*/ 139 w 139"/>
                <a:gd name="T7" fmla="*/ 5 h 56"/>
                <a:gd name="T8" fmla="*/ 123 w 139"/>
                <a:gd name="T9" fmla="*/ 0 h 56"/>
                <a:gd name="T10" fmla="*/ 64 w 139"/>
                <a:gd name="T11" fmla="*/ 22 h 56"/>
                <a:gd name="T12" fmla="*/ 36 w 139"/>
                <a:gd name="T13" fmla="*/ 11 h 56"/>
                <a:gd name="T14" fmla="*/ 0 w 139"/>
                <a:gd name="T15" fmla="*/ 56 h 56"/>
                <a:gd name="T16" fmla="*/ 0 60000 65536"/>
                <a:gd name="T17" fmla="*/ 0 60000 65536"/>
                <a:gd name="T18" fmla="*/ 0 60000 65536"/>
                <a:gd name="T19" fmla="*/ 0 60000 65536"/>
                <a:gd name="T20" fmla="*/ 0 60000 65536"/>
                <a:gd name="T21" fmla="*/ 0 60000 65536"/>
                <a:gd name="T22" fmla="*/ 0 60000 65536"/>
                <a:gd name="T23" fmla="*/ 0 60000 65536"/>
                <a:gd name="T24" fmla="*/ 0 w 139"/>
                <a:gd name="T25" fmla="*/ 0 h 56"/>
                <a:gd name="T26" fmla="*/ 139 w 139"/>
                <a:gd name="T27" fmla="*/ 56 h 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9" h="56">
                  <a:moveTo>
                    <a:pt x="0" y="56"/>
                  </a:moveTo>
                  <a:lnTo>
                    <a:pt x="109" y="42"/>
                  </a:lnTo>
                  <a:lnTo>
                    <a:pt x="81" y="31"/>
                  </a:lnTo>
                  <a:lnTo>
                    <a:pt x="139" y="5"/>
                  </a:lnTo>
                  <a:lnTo>
                    <a:pt x="123" y="0"/>
                  </a:lnTo>
                  <a:lnTo>
                    <a:pt x="64" y="22"/>
                  </a:lnTo>
                  <a:lnTo>
                    <a:pt x="36" y="11"/>
                  </a:lnTo>
                  <a:lnTo>
                    <a:pt x="0" y="56"/>
                  </a:lnTo>
                  <a:close/>
                </a:path>
              </a:pathLst>
            </a:custGeom>
            <a:solidFill>
              <a:srgbClr val="FFFFFF"/>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80" name="Freeform 41"/>
            <p:cNvSpPr>
              <a:spLocks noEditPoints="1"/>
            </p:cNvSpPr>
            <p:nvPr/>
          </p:nvSpPr>
          <p:spPr bwMode="auto">
            <a:xfrm>
              <a:off x="2456" y="1432"/>
              <a:ext cx="150" cy="67"/>
            </a:xfrm>
            <a:custGeom>
              <a:avLst/>
              <a:gdLst>
                <a:gd name="T0" fmla="*/ 125 w 150"/>
                <a:gd name="T1" fmla="*/ 0 h 67"/>
                <a:gd name="T2" fmla="*/ 69 w 150"/>
                <a:gd name="T3" fmla="*/ 23 h 67"/>
                <a:gd name="T4" fmla="*/ 44 w 150"/>
                <a:gd name="T5" fmla="*/ 11 h 67"/>
                <a:gd name="T6" fmla="*/ 38 w 150"/>
                <a:gd name="T7" fmla="*/ 14 h 67"/>
                <a:gd name="T8" fmla="*/ 0 w 150"/>
                <a:gd name="T9" fmla="*/ 59 h 67"/>
                <a:gd name="T10" fmla="*/ 0 w 150"/>
                <a:gd name="T11" fmla="*/ 64 h 67"/>
                <a:gd name="T12" fmla="*/ 2 w 150"/>
                <a:gd name="T13" fmla="*/ 67 h 67"/>
                <a:gd name="T14" fmla="*/ 114 w 150"/>
                <a:gd name="T15" fmla="*/ 53 h 67"/>
                <a:gd name="T16" fmla="*/ 116 w 150"/>
                <a:gd name="T17" fmla="*/ 50 h 67"/>
                <a:gd name="T18" fmla="*/ 119 w 150"/>
                <a:gd name="T19" fmla="*/ 48 h 67"/>
                <a:gd name="T20" fmla="*/ 119 w 150"/>
                <a:gd name="T21" fmla="*/ 48 h 67"/>
                <a:gd name="T22" fmla="*/ 116 w 150"/>
                <a:gd name="T23" fmla="*/ 42 h 67"/>
                <a:gd name="T24" fmla="*/ 100 w 150"/>
                <a:gd name="T25" fmla="*/ 37 h 67"/>
                <a:gd name="T26" fmla="*/ 147 w 150"/>
                <a:gd name="T27" fmla="*/ 17 h 67"/>
                <a:gd name="T28" fmla="*/ 150 w 150"/>
                <a:gd name="T29" fmla="*/ 14 h 67"/>
                <a:gd name="T30" fmla="*/ 150 w 150"/>
                <a:gd name="T31" fmla="*/ 11 h 67"/>
                <a:gd name="T32" fmla="*/ 150 w 150"/>
                <a:gd name="T33" fmla="*/ 9 h 67"/>
                <a:gd name="T34" fmla="*/ 130 w 150"/>
                <a:gd name="T35" fmla="*/ 0 h 67"/>
                <a:gd name="T36" fmla="*/ 125 w 150"/>
                <a:gd name="T37" fmla="*/ 0 h 67"/>
                <a:gd name="T38" fmla="*/ 69 w 150"/>
                <a:gd name="T39" fmla="*/ 34 h 67"/>
                <a:gd name="T40" fmla="*/ 128 w 150"/>
                <a:gd name="T41" fmla="*/ 11 h 67"/>
                <a:gd name="T42" fmla="*/ 130 w 150"/>
                <a:gd name="T43" fmla="*/ 11 h 67"/>
                <a:gd name="T44" fmla="*/ 83 w 150"/>
                <a:gd name="T45" fmla="*/ 31 h 67"/>
                <a:gd name="T46" fmla="*/ 80 w 150"/>
                <a:gd name="T47" fmla="*/ 34 h 67"/>
                <a:gd name="T48" fmla="*/ 80 w 150"/>
                <a:gd name="T49" fmla="*/ 37 h 67"/>
                <a:gd name="T50" fmla="*/ 80 w 150"/>
                <a:gd name="T51" fmla="*/ 39 h 67"/>
                <a:gd name="T52" fmla="*/ 83 w 150"/>
                <a:gd name="T53" fmla="*/ 42 h 67"/>
                <a:gd name="T54" fmla="*/ 91 w 150"/>
                <a:gd name="T55" fmla="*/ 45 h 67"/>
                <a:gd name="T56" fmla="*/ 19 w 150"/>
                <a:gd name="T57" fmla="*/ 53 h 67"/>
                <a:gd name="T58" fmla="*/ 44 w 150"/>
                <a:gd name="T59" fmla="*/ 25 h 67"/>
                <a:gd name="T60" fmla="*/ 66 w 150"/>
                <a:gd name="T61" fmla="*/ 34 h 67"/>
                <a:gd name="T62" fmla="*/ 69 w 150"/>
                <a:gd name="T63" fmla="*/ 34 h 6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50"/>
                <a:gd name="T97" fmla="*/ 0 h 67"/>
                <a:gd name="T98" fmla="*/ 150 w 150"/>
                <a:gd name="T99" fmla="*/ 67 h 6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50" h="67">
                  <a:moveTo>
                    <a:pt x="125" y="0"/>
                  </a:moveTo>
                  <a:lnTo>
                    <a:pt x="125" y="0"/>
                  </a:lnTo>
                  <a:lnTo>
                    <a:pt x="69" y="23"/>
                  </a:lnTo>
                  <a:lnTo>
                    <a:pt x="44" y="11"/>
                  </a:lnTo>
                  <a:lnTo>
                    <a:pt x="41" y="11"/>
                  </a:lnTo>
                  <a:lnTo>
                    <a:pt x="38" y="14"/>
                  </a:lnTo>
                  <a:lnTo>
                    <a:pt x="0" y="59"/>
                  </a:lnTo>
                  <a:lnTo>
                    <a:pt x="0" y="62"/>
                  </a:lnTo>
                  <a:lnTo>
                    <a:pt x="0" y="64"/>
                  </a:lnTo>
                  <a:lnTo>
                    <a:pt x="2" y="67"/>
                  </a:lnTo>
                  <a:lnTo>
                    <a:pt x="5" y="67"/>
                  </a:lnTo>
                  <a:lnTo>
                    <a:pt x="114" y="53"/>
                  </a:lnTo>
                  <a:lnTo>
                    <a:pt x="116" y="50"/>
                  </a:lnTo>
                  <a:lnTo>
                    <a:pt x="119" y="48"/>
                  </a:lnTo>
                  <a:lnTo>
                    <a:pt x="119" y="45"/>
                  </a:lnTo>
                  <a:lnTo>
                    <a:pt x="116" y="42"/>
                  </a:lnTo>
                  <a:lnTo>
                    <a:pt x="100" y="37"/>
                  </a:lnTo>
                  <a:lnTo>
                    <a:pt x="147" y="17"/>
                  </a:lnTo>
                  <a:lnTo>
                    <a:pt x="150" y="14"/>
                  </a:lnTo>
                  <a:lnTo>
                    <a:pt x="150" y="11"/>
                  </a:lnTo>
                  <a:lnTo>
                    <a:pt x="150" y="9"/>
                  </a:lnTo>
                  <a:lnTo>
                    <a:pt x="147" y="6"/>
                  </a:lnTo>
                  <a:lnTo>
                    <a:pt x="130" y="0"/>
                  </a:lnTo>
                  <a:lnTo>
                    <a:pt x="125" y="0"/>
                  </a:lnTo>
                  <a:close/>
                  <a:moveTo>
                    <a:pt x="69" y="34"/>
                  </a:moveTo>
                  <a:lnTo>
                    <a:pt x="69" y="34"/>
                  </a:lnTo>
                  <a:lnTo>
                    <a:pt x="128" y="11"/>
                  </a:lnTo>
                  <a:lnTo>
                    <a:pt x="130" y="11"/>
                  </a:lnTo>
                  <a:lnTo>
                    <a:pt x="83" y="31"/>
                  </a:lnTo>
                  <a:lnTo>
                    <a:pt x="80" y="34"/>
                  </a:lnTo>
                  <a:lnTo>
                    <a:pt x="80" y="37"/>
                  </a:lnTo>
                  <a:lnTo>
                    <a:pt x="80" y="39"/>
                  </a:lnTo>
                  <a:lnTo>
                    <a:pt x="83" y="42"/>
                  </a:lnTo>
                  <a:lnTo>
                    <a:pt x="91" y="45"/>
                  </a:lnTo>
                  <a:lnTo>
                    <a:pt x="19" y="53"/>
                  </a:lnTo>
                  <a:lnTo>
                    <a:pt x="44" y="25"/>
                  </a:lnTo>
                  <a:lnTo>
                    <a:pt x="66" y="34"/>
                  </a:lnTo>
                  <a:lnTo>
                    <a:pt x="69" y="34"/>
                  </a:lnTo>
                  <a:close/>
                </a:path>
              </a:pathLst>
            </a:custGeom>
            <a:solidFill>
              <a:srgbClr val="0000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81" name="Freeform 42"/>
            <p:cNvSpPr>
              <a:spLocks/>
            </p:cNvSpPr>
            <p:nvPr/>
          </p:nvSpPr>
          <p:spPr bwMode="auto">
            <a:xfrm>
              <a:off x="2625" y="1371"/>
              <a:ext cx="142" cy="56"/>
            </a:xfrm>
            <a:custGeom>
              <a:avLst/>
              <a:gdLst>
                <a:gd name="T0" fmla="*/ 142 w 142"/>
                <a:gd name="T1" fmla="*/ 0 h 56"/>
                <a:gd name="T2" fmla="*/ 34 w 142"/>
                <a:gd name="T3" fmla="*/ 14 h 56"/>
                <a:gd name="T4" fmla="*/ 62 w 142"/>
                <a:gd name="T5" fmla="*/ 25 h 56"/>
                <a:gd name="T6" fmla="*/ 0 w 142"/>
                <a:gd name="T7" fmla="*/ 50 h 56"/>
                <a:gd name="T8" fmla="*/ 17 w 142"/>
                <a:gd name="T9" fmla="*/ 56 h 56"/>
                <a:gd name="T10" fmla="*/ 78 w 142"/>
                <a:gd name="T11" fmla="*/ 33 h 56"/>
                <a:gd name="T12" fmla="*/ 106 w 142"/>
                <a:gd name="T13" fmla="*/ 42 h 56"/>
                <a:gd name="T14" fmla="*/ 142 w 142"/>
                <a:gd name="T15" fmla="*/ 0 h 56"/>
                <a:gd name="T16" fmla="*/ 0 60000 65536"/>
                <a:gd name="T17" fmla="*/ 0 60000 65536"/>
                <a:gd name="T18" fmla="*/ 0 60000 65536"/>
                <a:gd name="T19" fmla="*/ 0 60000 65536"/>
                <a:gd name="T20" fmla="*/ 0 60000 65536"/>
                <a:gd name="T21" fmla="*/ 0 60000 65536"/>
                <a:gd name="T22" fmla="*/ 0 60000 65536"/>
                <a:gd name="T23" fmla="*/ 0 60000 65536"/>
                <a:gd name="T24" fmla="*/ 0 w 142"/>
                <a:gd name="T25" fmla="*/ 0 h 56"/>
                <a:gd name="T26" fmla="*/ 142 w 142"/>
                <a:gd name="T27" fmla="*/ 56 h 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2" h="56">
                  <a:moveTo>
                    <a:pt x="142" y="0"/>
                  </a:moveTo>
                  <a:lnTo>
                    <a:pt x="34" y="14"/>
                  </a:lnTo>
                  <a:lnTo>
                    <a:pt x="62" y="25"/>
                  </a:lnTo>
                  <a:lnTo>
                    <a:pt x="0" y="50"/>
                  </a:lnTo>
                  <a:lnTo>
                    <a:pt x="17" y="56"/>
                  </a:lnTo>
                  <a:lnTo>
                    <a:pt x="78" y="33"/>
                  </a:lnTo>
                  <a:lnTo>
                    <a:pt x="106" y="42"/>
                  </a:lnTo>
                  <a:lnTo>
                    <a:pt x="142" y="0"/>
                  </a:lnTo>
                  <a:close/>
                </a:path>
              </a:pathLst>
            </a:custGeom>
            <a:solidFill>
              <a:srgbClr val="FFFFFF"/>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82" name="Freeform 43"/>
            <p:cNvSpPr>
              <a:spLocks noEditPoints="1"/>
            </p:cNvSpPr>
            <p:nvPr/>
          </p:nvSpPr>
          <p:spPr bwMode="auto">
            <a:xfrm>
              <a:off x="2620" y="1365"/>
              <a:ext cx="153" cy="67"/>
            </a:xfrm>
            <a:custGeom>
              <a:avLst/>
              <a:gdLst>
                <a:gd name="T0" fmla="*/ 36 w 153"/>
                <a:gd name="T1" fmla="*/ 14 h 67"/>
                <a:gd name="T2" fmla="*/ 33 w 153"/>
                <a:gd name="T3" fmla="*/ 17 h 67"/>
                <a:gd name="T4" fmla="*/ 33 w 153"/>
                <a:gd name="T5" fmla="*/ 20 h 67"/>
                <a:gd name="T6" fmla="*/ 33 w 153"/>
                <a:gd name="T7" fmla="*/ 20 h 67"/>
                <a:gd name="T8" fmla="*/ 36 w 153"/>
                <a:gd name="T9" fmla="*/ 25 h 67"/>
                <a:gd name="T10" fmla="*/ 50 w 153"/>
                <a:gd name="T11" fmla="*/ 31 h 67"/>
                <a:gd name="T12" fmla="*/ 3 w 153"/>
                <a:gd name="T13" fmla="*/ 51 h 67"/>
                <a:gd name="T14" fmla="*/ 0 w 153"/>
                <a:gd name="T15" fmla="*/ 53 h 67"/>
                <a:gd name="T16" fmla="*/ 0 w 153"/>
                <a:gd name="T17" fmla="*/ 56 h 67"/>
                <a:gd name="T18" fmla="*/ 0 w 153"/>
                <a:gd name="T19" fmla="*/ 59 h 67"/>
                <a:gd name="T20" fmla="*/ 19 w 153"/>
                <a:gd name="T21" fmla="*/ 67 h 67"/>
                <a:gd name="T22" fmla="*/ 25 w 153"/>
                <a:gd name="T23" fmla="*/ 67 h 67"/>
                <a:gd name="T24" fmla="*/ 83 w 153"/>
                <a:gd name="T25" fmla="*/ 45 h 67"/>
                <a:gd name="T26" fmla="*/ 108 w 153"/>
                <a:gd name="T27" fmla="*/ 53 h 67"/>
                <a:gd name="T28" fmla="*/ 111 w 153"/>
                <a:gd name="T29" fmla="*/ 53 h 67"/>
                <a:gd name="T30" fmla="*/ 150 w 153"/>
                <a:gd name="T31" fmla="*/ 9 h 67"/>
                <a:gd name="T32" fmla="*/ 153 w 153"/>
                <a:gd name="T33" fmla="*/ 6 h 67"/>
                <a:gd name="T34" fmla="*/ 150 w 153"/>
                <a:gd name="T35" fmla="*/ 3 h 67"/>
                <a:gd name="T36" fmla="*/ 145 w 153"/>
                <a:gd name="T37" fmla="*/ 0 h 67"/>
                <a:gd name="T38" fmla="*/ 133 w 153"/>
                <a:gd name="T39" fmla="*/ 12 h 67"/>
                <a:gd name="T40" fmla="*/ 108 w 153"/>
                <a:gd name="T41" fmla="*/ 42 h 67"/>
                <a:gd name="T42" fmla="*/ 86 w 153"/>
                <a:gd name="T43" fmla="*/ 34 h 67"/>
                <a:gd name="T44" fmla="*/ 80 w 153"/>
                <a:gd name="T45" fmla="*/ 34 h 67"/>
                <a:gd name="T46" fmla="*/ 22 w 153"/>
                <a:gd name="T47" fmla="*/ 56 h 67"/>
                <a:gd name="T48" fmla="*/ 19 w 153"/>
                <a:gd name="T49" fmla="*/ 56 h 67"/>
                <a:gd name="T50" fmla="*/ 67 w 153"/>
                <a:gd name="T51" fmla="*/ 37 h 67"/>
                <a:gd name="T52" fmla="*/ 69 w 153"/>
                <a:gd name="T53" fmla="*/ 34 h 67"/>
                <a:gd name="T54" fmla="*/ 72 w 153"/>
                <a:gd name="T55" fmla="*/ 31 h 67"/>
                <a:gd name="T56" fmla="*/ 69 w 153"/>
                <a:gd name="T57" fmla="*/ 28 h 67"/>
                <a:gd name="T58" fmla="*/ 67 w 153"/>
                <a:gd name="T59" fmla="*/ 25 h 67"/>
                <a:gd name="T60" fmla="*/ 58 w 153"/>
                <a:gd name="T61" fmla="*/ 23 h 67"/>
                <a:gd name="T62" fmla="*/ 133 w 153"/>
                <a:gd name="T63" fmla="*/ 12 h 6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53"/>
                <a:gd name="T97" fmla="*/ 0 h 67"/>
                <a:gd name="T98" fmla="*/ 153 w 153"/>
                <a:gd name="T99" fmla="*/ 67 h 6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53" h="67">
                  <a:moveTo>
                    <a:pt x="145" y="0"/>
                  </a:moveTo>
                  <a:lnTo>
                    <a:pt x="36" y="14"/>
                  </a:lnTo>
                  <a:lnTo>
                    <a:pt x="33" y="17"/>
                  </a:lnTo>
                  <a:lnTo>
                    <a:pt x="33" y="20"/>
                  </a:lnTo>
                  <a:lnTo>
                    <a:pt x="33" y="23"/>
                  </a:lnTo>
                  <a:lnTo>
                    <a:pt x="36" y="25"/>
                  </a:lnTo>
                  <a:lnTo>
                    <a:pt x="50" y="31"/>
                  </a:lnTo>
                  <a:lnTo>
                    <a:pt x="3" y="51"/>
                  </a:lnTo>
                  <a:lnTo>
                    <a:pt x="0" y="53"/>
                  </a:lnTo>
                  <a:lnTo>
                    <a:pt x="0" y="56"/>
                  </a:lnTo>
                  <a:lnTo>
                    <a:pt x="0" y="59"/>
                  </a:lnTo>
                  <a:lnTo>
                    <a:pt x="3" y="62"/>
                  </a:lnTo>
                  <a:lnTo>
                    <a:pt x="19" y="67"/>
                  </a:lnTo>
                  <a:lnTo>
                    <a:pt x="25" y="67"/>
                  </a:lnTo>
                  <a:lnTo>
                    <a:pt x="83" y="45"/>
                  </a:lnTo>
                  <a:lnTo>
                    <a:pt x="108" y="53"/>
                  </a:lnTo>
                  <a:lnTo>
                    <a:pt x="111" y="53"/>
                  </a:lnTo>
                  <a:lnTo>
                    <a:pt x="114" y="53"/>
                  </a:lnTo>
                  <a:lnTo>
                    <a:pt x="150" y="9"/>
                  </a:lnTo>
                  <a:lnTo>
                    <a:pt x="153" y="6"/>
                  </a:lnTo>
                  <a:lnTo>
                    <a:pt x="150" y="3"/>
                  </a:lnTo>
                  <a:lnTo>
                    <a:pt x="147" y="0"/>
                  </a:lnTo>
                  <a:lnTo>
                    <a:pt x="145" y="0"/>
                  </a:lnTo>
                  <a:close/>
                  <a:moveTo>
                    <a:pt x="133" y="12"/>
                  </a:moveTo>
                  <a:lnTo>
                    <a:pt x="133" y="12"/>
                  </a:lnTo>
                  <a:lnTo>
                    <a:pt x="108" y="42"/>
                  </a:lnTo>
                  <a:lnTo>
                    <a:pt x="86" y="34"/>
                  </a:lnTo>
                  <a:lnTo>
                    <a:pt x="80" y="34"/>
                  </a:lnTo>
                  <a:lnTo>
                    <a:pt x="22" y="56"/>
                  </a:lnTo>
                  <a:lnTo>
                    <a:pt x="19" y="56"/>
                  </a:lnTo>
                  <a:lnTo>
                    <a:pt x="67" y="37"/>
                  </a:lnTo>
                  <a:lnTo>
                    <a:pt x="69" y="34"/>
                  </a:lnTo>
                  <a:lnTo>
                    <a:pt x="72" y="31"/>
                  </a:lnTo>
                  <a:lnTo>
                    <a:pt x="69" y="28"/>
                  </a:lnTo>
                  <a:lnTo>
                    <a:pt x="67" y="25"/>
                  </a:lnTo>
                  <a:lnTo>
                    <a:pt x="58" y="23"/>
                  </a:lnTo>
                  <a:lnTo>
                    <a:pt x="133" y="12"/>
                  </a:lnTo>
                  <a:close/>
                </a:path>
              </a:pathLst>
            </a:custGeom>
            <a:solidFill>
              <a:srgbClr val="0000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83" name="Freeform 44"/>
            <p:cNvSpPr>
              <a:spLocks/>
            </p:cNvSpPr>
            <p:nvPr/>
          </p:nvSpPr>
          <p:spPr bwMode="auto">
            <a:xfrm>
              <a:off x="2458" y="1365"/>
              <a:ext cx="139" cy="56"/>
            </a:xfrm>
            <a:custGeom>
              <a:avLst/>
              <a:gdLst>
                <a:gd name="T0" fmla="*/ 139 w 139"/>
                <a:gd name="T1" fmla="*/ 56 h 56"/>
                <a:gd name="T2" fmla="*/ 103 w 139"/>
                <a:gd name="T3" fmla="*/ 12 h 56"/>
                <a:gd name="T4" fmla="*/ 78 w 139"/>
                <a:gd name="T5" fmla="*/ 23 h 56"/>
                <a:gd name="T6" fmla="*/ 20 w 139"/>
                <a:gd name="T7" fmla="*/ 0 h 56"/>
                <a:gd name="T8" fmla="*/ 0 w 139"/>
                <a:gd name="T9" fmla="*/ 6 h 56"/>
                <a:gd name="T10" fmla="*/ 59 w 139"/>
                <a:gd name="T11" fmla="*/ 31 h 56"/>
                <a:gd name="T12" fmla="*/ 34 w 139"/>
                <a:gd name="T13" fmla="*/ 42 h 56"/>
                <a:gd name="T14" fmla="*/ 139 w 139"/>
                <a:gd name="T15" fmla="*/ 56 h 56"/>
                <a:gd name="T16" fmla="*/ 0 60000 65536"/>
                <a:gd name="T17" fmla="*/ 0 60000 65536"/>
                <a:gd name="T18" fmla="*/ 0 60000 65536"/>
                <a:gd name="T19" fmla="*/ 0 60000 65536"/>
                <a:gd name="T20" fmla="*/ 0 60000 65536"/>
                <a:gd name="T21" fmla="*/ 0 60000 65536"/>
                <a:gd name="T22" fmla="*/ 0 60000 65536"/>
                <a:gd name="T23" fmla="*/ 0 60000 65536"/>
                <a:gd name="T24" fmla="*/ 0 w 139"/>
                <a:gd name="T25" fmla="*/ 0 h 56"/>
                <a:gd name="T26" fmla="*/ 139 w 139"/>
                <a:gd name="T27" fmla="*/ 56 h 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9" h="56">
                  <a:moveTo>
                    <a:pt x="139" y="56"/>
                  </a:moveTo>
                  <a:lnTo>
                    <a:pt x="103" y="12"/>
                  </a:lnTo>
                  <a:lnTo>
                    <a:pt x="78" y="23"/>
                  </a:lnTo>
                  <a:lnTo>
                    <a:pt x="20" y="0"/>
                  </a:lnTo>
                  <a:lnTo>
                    <a:pt x="0" y="6"/>
                  </a:lnTo>
                  <a:lnTo>
                    <a:pt x="59" y="31"/>
                  </a:lnTo>
                  <a:lnTo>
                    <a:pt x="34" y="42"/>
                  </a:lnTo>
                  <a:lnTo>
                    <a:pt x="139" y="56"/>
                  </a:lnTo>
                  <a:close/>
                </a:path>
              </a:pathLst>
            </a:custGeom>
            <a:solidFill>
              <a:srgbClr val="FFFFFF"/>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84" name="Freeform 45"/>
            <p:cNvSpPr>
              <a:spLocks noEditPoints="1"/>
            </p:cNvSpPr>
            <p:nvPr/>
          </p:nvSpPr>
          <p:spPr bwMode="auto">
            <a:xfrm>
              <a:off x="2453" y="1360"/>
              <a:ext cx="150" cy="67"/>
            </a:xfrm>
            <a:custGeom>
              <a:avLst/>
              <a:gdLst>
                <a:gd name="T0" fmla="*/ 3 w 150"/>
                <a:gd name="T1" fmla="*/ 5 h 67"/>
                <a:gd name="T2" fmla="*/ 3 w 150"/>
                <a:gd name="T3" fmla="*/ 8 h 67"/>
                <a:gd name="T4" fmla="*/ 0 w 150"/>
                <a:gd name="T5" fmla="*/ 11 h 67"/>
                <a:gd name="T6" fmla="*/ 3 w 150"/>
                <a:gd name="T7" fmla="*/ 14 h 67"/>
                <a:gd name="T8" fmla="*/ 3 w 150"/>
                <a:gd name="T9" fmla="*/ 17 h 67"/>
                <a:gd name="T10" fmla="*/ 50 w 150"/>
                <a:gd name="T11" fmla="*/ 36 h 67"/>
                <a:gd name="T12" fmla="*/ 36 w 150"/>
                <a:gd name="T13" fmla="*/ 42 h 67"/>
                <a:gd name="T14" fmla="*/ 33 w 150"/>
                <a:gd name="T15" fmla="*/ 47 h 67"/>
                <a:gd name="T16" fmla="*/ 33 w 150"/>
                <a:gd name="T17" fmla="*/ 47 h 67"/>
                <a:gd name="T18" fmla="*/ 33 w 150"/>
                <a:gd name="T19" fmla="*/ 50 h 67"/>
                <a:gd name="T20" fmla="*/ 144 w 150"/>
                <a:gd name="T21" fmla="*/ 67 h 67"/>
                <a:gd name="T22" fmla="*/ 147 w 150"/>
                <a:gd name="T23" fmla="*/ 67 h 67"/>
                <a:gd name="T24" fmla="*/ 150 w 150"/>
                <a:gd name="T25" fmla="*/ 64 h 67"/>
                <a:gd name="T26" fmla="*/ 150 w 150"/>
                <a:gd name="T27" fmla="*/ 58 h 67"/>
                <a:gd name="T28" fmla="*/ 114 w 150"/>
                <a:gd name="T29" fmla="*/ 14 h 67"/>
                <a:gd name="T30" fmla="*/ 108 w 150"/>
                <a:gd name="T31" fmla="*/ 11 h 67"/>
                <a:gd name="T32" fmla="*/ 83 w 150"/>
                <a:gd name="T33" fmla="*/ 22 h 67"/>
                <a:gd name="T34" fmla="*/ 25 w 150"/>
                <a:gd name="T35" fmla="*/ 0 h 67"/>
                <a:gd name="T36" fmla="*/ 22 w 150"/>
                <a:gd name="T37" fmla="*/ 0 h 67"/>
                <a:gd name="T38" fmla="*/ 25 w 150"/>
                <a:gd name="T39" fmla="*/ 11 h 67"/>
                <a:gd name="T40" fmla="*/ 80 w 150"/>
                <a:gd name="T41" fmla="*/ 33 h 67"/>
                <a:gd name="T42" fmla="*/ 83 w 150"/>
                <a:gd name="T43" fmla="*/ 33 h 67"/>
                <a:gd name="T44" fmla="*/ 108 w 150"/>
                <a:gd name="T45" fmla="*/ 25 h 67"/>
                <a:gd name="T46" fmla="*/ 133 w 150"/>
                <a:gd name="T47" fmla="*/ 53 h 67"/>
                <a:gd name="T48" fmla="*/ 58 w 150"/>
                <a:gd name="T49" fmla="*/ 44 h 67"/>
                <a:gd name="T50" fmla="*/ 67 w 150"/>
                <a:gd name="T51" fmla="*/ 42 h 67"/>
                <a:gd name="T52" fmla="*/ 69 w 150"/>
                <a:gd name="T53" fmla="*/ 39 h 67"/>
                <a:gd name="T54" fmla="*/ 69 w 150"/>
                <a:gd name="T55" fmla="*/ 36 h 67"/>
                <a:gd name="T56" fmla="*/ 69 w 150"/>
                <a:gd name="T57" fmla="*/ 33 h 67"/>
                <a:gd name="T58" fmla="*/ 67 w 150"/>
                <a:gd name="T59" fmla="*/ 30 h 67"/>
                <a:gd name="T60" fmla="*/ 22 w 150"/>
                <a:gd name="T61" fmla="*/ 11 h 67"/>
                <a:gd name="T62" fmla="*/ 25 w 150"/>
                <a:gd name="T63" fmla="*/ 11 h 6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50"/>
                <a:gd name="T97" fmla="*/ 0 h 67"/>
                <a:gd name="T98" fmla="*/ 150 w 150"/>
                <a:gd name="T99" fmla="*/ 67 h 6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50" h="67">
                  <a:moveTo>
                    <a:pt x="22" y="0"/>
                  </a:moveTo>
                  <a:lnTo>
                    <a:pt x="3" y="5"/>
                  </a:lnTo>
                  <a:lnTo>
                    <a:pt x="3" y="8"/>
                  </a:lnTo>
                  <a:lnTo>
                    <a:pt x="0" y="11"/>
                  </a:lnTo>
                  <a:lnTo>
                    <a:pt x="3" y="14"/>
                  </a:lnTo>
                  <a:lnTo>
                    <a:pt x="3" y="17"/>
                  </a:lnTo>
                  <a:lnTo>
                    <a:pt x="50" y="36"/>
                  </a:lnTo>
                  <a:lnTo>
                    <a:pt x="36" y="42"/>
                  </a:lnTo>
                  <a:lnTo>
                    <a:pt x="33" y="42"/>
                  </a:lnTo>
                  <a:lnTo>
                    <a:pt x="33" y="47"/>
                  </a:lnTo>
                  <a:lnTo>
                    <a:pt x="33" y="50"/>
                  </a:lnTo>
                  <a:lnTo>
                    <a:pt x="36" y="53"/>
                  </a:lnTo>
                  <a:lnTo>
                    <a:pt x="144" y="67"/>
                  </a:lnTo>
                  <a:lnTo>
                    <a:pt x="147" y="67"/>
                  </a:lnTo>
                  <a:lnTo>
                    <a:pt x="150" y="64"/>
                  </a:lnTo>
                  <a:lnTo>
                    <a:pt x="150" y="61"/>
                  </a:lnTo>
                  <a:lnTo>
                    <a:pt x="150" y="58"/>
                  </a:lnTo>
                  <a:lnTo>
                    <a:pt x="114" y="14"/>
                  </a:lnTo>
                  <a:lnTo>
                    <a:pt x="111" y="11"/>
                  </a:lnTo>
                  <a:lnTo>
                    <a:pt x="108" y="11"/>
                  </a:lnTo>
                  <a:lnTo>
                    <a:pt x="83" y="22"/>
                  </a:lnTo>
                  <a:lnTo>
                    <a:pt x="25" y="0"/>
                  </a:lnTo>
                  <a:lnTo>
                    <a:pt x="22" y="0"/>
                  </a:lnTo>
                  <a:close/>
                  <a:moveTo>
                    <a:pt x="25" y="11"/>
                  </a:moveTo>
                  <a:lnTo>
                    <a:pt x="25" y="11"/>
                  </a:lnTo>
                  <a:lnTo>
                    <a:pt x="80" y="33"/>
                  </a:lnTo>
                  <a:lnTo>
                    <a:pt x="83" y="33"/>
                  </a:lnTo>
                  <a:lnTo>
                    <a:pt x="108" y="25"/>
                  </a:lnTo>
                  <a:lnTo>
                    <a:pt x="133" y="53"/>
                  </a:lnTo>
                  <a:lnTo>
                    <a:pt x="58" y="44"/>
                  </a:lnTo>
                  <a:lnTo>
                    <a:pt x="67" y="42"/>
                  </a:lnTo>
                  <a:lnTo>
                    <a:pt x="69" y="39"/>
                  </a:lnTo>
                  <a:lnTo>
                    <a:pt x="69" y="36"/>
                  </a:lnTo>
                  <a:lnTo>
                    <a:pt x="69" y="33"/>
                  </a:lnTo>
                  <a:lnTo>
                    <a:pt x="67" y="30"/>
                  </a:lnTo>
                  <a:lnTo>
                    <a:pt x="22" y="11"/>
                  </a:lnTo>
                  <a:lnTo>
                    <a:pt x="25" y="11"/>
                  </a:lnTo>
                  <a:close/>
                </a:path>
              </a:pathLst>
            </a:custGeom>
            <a:solidFill>
              <a:srgbClr val="0000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85" name="Freeform 46"/>
            <p:cNvSpPr>
              <a:spLocks/>
            </p:cNvSpPr>
            <p:nvPr/>
          </p:nvSpPr>
          <p:spPr bwMode="auto">
            <a:xfrm>
              <a:off x="2625" y="1432"/>
              <a:ext cx="142" cy="59"/>
            </a:xfrm>
            <a:custGeom>
              <a:avLst/>
              <a:gdLst>
                <a:gd name="T0" fmla="*/ 0 w 142"/>
                <a:gd name="T1" fmla="*/ 0 h 59"/>
                <a:gd name="T2" fmla="*/ 37 w 142"/>
                <a:gd name="T3" fmla="*/ 45 h 59"/>
                <a:gd name="T4" fmla="*/ 64 w 142"/>
                <a:gd name="T5" fmla="*/ 34 h 59"/>
                <a:gd name="T6" fmla="*/ 126 w 142"/>
                <a:gd name="T7" fmla="*/ 59 h 59"/>
                <a:gd name="T8" fmla="*/ 142 w 142"/>
                <a:gd name="T9" fmla="*/ 50 h 59"/>
                <a:gd name="T10" fmla="*/ 81 w 142"/>
                <a:gd name="T11" fmla="*/ 25 h 59"/>
                <a:gd name="T12" fmla="*/ 109 w 142"/>
                <a:gd name="T13" fmla="*/ 14 h 59"/>
                <a:gd name="T14" fmla="*/ 0 w 142"/>
                <a:gd name="T15" fmla="*/ 0 h 59"/>
                <a:gd name="T16" fmla="*/ 0 60000 65536"/>
                <a:gd name="T17" fmla="*/ 0 60000 65536"/>
                <a:gd name="T18" fmla="*/ 0 60000 65536"/>
                <a:gd name="T19" fmla="*/ 0 60000 65536"/>
                <a:gd name="T20" fmla="*/ 0 60000 65536"/>
                <a:gd name="T21" fmla="*/ 0 60000 65536"/>
                <a:gd name="T22" fmla="*/ 0 60000 65536"/>
                <a:gd name="T23" fmla="*/ 0 60000 65536"/>
                <a:gd name="T24" fmla="*/ 0 w 142"/>
                <a:gd name="T25" fmla="*/ 0 h 59"/>
                <a:gd name="T26" fmla="*/ 142 w 142"/>
                <a:gd name="T27" fmla="*/ 59 h 5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2" h="59">
                  <a:moveTo>
                    <a:pt x="0" y="0"/>
                  </a:moveTo>
                  <a:lnTo>
                    <a:pt x="37" y="45"/>
                  </a:lnTo>
                  <a:lnTo>
                    <a:pt x="64" y="34"/>
                  </a:lnTo>
                  <a:lnTo>
                    <a:pt x="126" y="59"/>
                  </a:lnTo>
                  <a:lnTo>
                    <a:pt x="142" y="50"/>
                  </a:lnTo>
                  <a:lnTo>
                    <a:pt x="81" y="25"/>
                  </a:lnTo>
                  <a:lnTo>
                    <a:pt x="109" y="14"/>
                  </a:lnTo>
                  <a:lnTo>
                    <a:pt x="0" y="0"/>
                  </a:lnTo>
                  <a:close/>
                </a:path>
              </a:pathLst>
            </a:custGeom>
            <a:solidFill>
              <a:srgbClr val="FFFFFF"/>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86" name="Freeform 47"/>
            <p:cNvSpPr>
              <a:spLocks noEditPoints="1"/>
            </p:cNvSpPr>
            <p:nvPr/>
          </p:nvSpPr>
          <p:spPr bwMode="auto">
            <a:xfrm>
              <a:off x="2620" y="1427"/>
              <a:ext cx="153" cy="67"/>
            </a:xfrm>
            <a:custGeom>
              <a:avLst/>
              <a:gdLst>
                <a:gd name="T0" fmla="*/ 0 w 153"/>
                <a:gd name="T1" fmla="*/ 3 h 67"/>
                <a:gd name="T2" fmla="*/ 0 w 153"/>
                <a:gd name="T3" fmla="*/ 8 h 67"/>
                <a:gd name="T4" fmla="*/ 36 w 153"/>
                <a:gd name="T5" fmla="*/ 53 h 67"/>
                <a:gd name="T6" fmla="*/ 44 w 153"/>
                <a:gd name="T7" fmla="*/ 53 h 67"/>
                <a:gd name="T8" fmla="*/ 69 w 153"/>
                <a:gd name="T9" fmla="*/ 44 h 67"/>
                <a:gd name="T10" fmla="*/ 128 w 153"/>
                <a:gd name="T11" fmla="*/ 67 h 67"/>
                <a:gd name="T12" fmla="*/ 133 w 153"/>
                <a:gd name="T13" fmla="*/ 67 h 67"/>
                <a:gd name="T14" fmla="*/ 150 w 153"/>
                <a:gd name="T15" fmla="*/ 61 h 67"/>
                <a:gd name="T16" fmla="*/ 153 w 153"/>
                <a:gd name="T17" fmla="*/ 55 h 67"/>
                <a:gd name="T18" fmla="*/ 153 w 153"/>
                <a:gd name="T19" fmla="*/ 55 h 67"/>
                <a:gd name="T20" fmla="*/ 150 w 153"/>
                <a:gd name="T21" fmla="*/ 50 h 67"/>
                <a:gd name="T22" fmla="*/ 103 w 153"/>
                <a:gd name="T23" fmla="*/ 30 h 67"/>
                <a:gd name="T24" fmla="*/ 117 w 153"/>
                <a:gd name="T25" fmla="*/ 25 h 67"/>
                <a:gd name="T26" fmla="*/ 119 w 153"/>
                <a:gd name="T27" fmla="*/ 22 h 67"/>
                <a:gd name="T28" fmla="*/ 119 w 153"/>
                <a:gd name="T29" fmla="*/ 19 h 67"/>
                <a:gd name="T30" fmla="*/ 119 w 153"/>
                <a:gd name="T31" fmla="*/ 19 h 67"/>
                <a:gd name="T32" fmla="*/ 114 w 153"/>
                <a:gd name="T33" fmla="*/ 14 h 67"/>
                <a:gd name="T34" fmla="*/ 5 w 153"/>
                <a:gd name="T35" fmla="*/ 0 h 67"/>
                <a:gd name="T36" fmla="*/ 0 w 153"/>
                <a:gd name="T37" fmla="*/ 3 h 67"/>
                <a:gd name="T38" fmla="*/ 19 w 153"/>
                <a:gd name="T39" fmla="*/ 11 h 67"/>
                <a:gd name="T40" fmla="*/ 92 w 153"/>
                <a:gd name="T41" fmla="*/ 22 h 67"/>
                <a:gd name="T42" fmla="*/ 86 w 153"/>
                <a:gd name="T43" fmla="*/ 25 h 67"/>
                <a:gd name="T44" fmla="*/ 83 w 153"/>
                <a:gd name="T45" fmla="*/ 28 h 67"/>
                <a:gd name="T46" fmla="*/ 80 w 153"/>
                <a:gd name="T47" fmla="*/ 30 h 67"/>
                <a:gd name="T48" fmla="*/ 83 w 153"/>
                <a:gd name="T49" fmla="*/ 33 h 67"/>
                <a:gd name="T50" fmla="*/ 86 w 153"/>
                <a:gd name="T51" fmla="*/ 36 h 67"/>
                <a:gd name="T52" fmla="*/ 133 w 153"/>
                <a:gd name="T53" fmla="*/ 55 h 67"/>
                <a:gd name="T54" fmla="*/ 131 w 153"/>
                <a:gd name="T55" fmla="*/ 55 h 67"/>
                <a:gd name="T56" fmla="*/ 72 w 153"/>
                <a:gd name="T57" fmla="*/ 33 h 67"/>
                <a:gd name="T58" fmla="*/ 67 w 153"/>
                <a:gd name="T59" fmla="*/ 33 h 67"/>
                <a:gd name="T60" fmla="*/ 44 w 153"/>
                <a:gd name="T61" fmla="*/ 42 h 67"/>
                <a:gd name="T62" fmla="*/ 19 w 153"/>
                <a:gd name="T63" fmla="*/ 11 h 6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53"/>
                <a:gd name="T97" fmla="*/ 0 h 67"/>
                <a:gd name="T98" fmla="*/ 153 w 153"/>
                <a:gd name="T99" fmla="*/ 67 h 6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53" h="67">
                  <a:moveTo>
                    <a:pt x="0" y="3"/>
                  </a:moveTo>
                  <a:lnTo>
                    <a:pt x="0" y="3"/>
                  </a:lnTo>
                  <a:lnTo>
                    <a:pt x="0" y="5"/>
                  </a:lnTo>
                  <a:lnTo>
                    <a:pt x="0" y="8"/>
                  </a:lnTo>
                  <a:lnTo>
                    <a:pt x="36" y="53"/>
                  </a:lnTo>
                  <a:lnTo>
                    <a:pt x="42" y="55"/>
                  </a:lnTo>
                  <a:lnTo>
                    <a:pt x="44" y="53"/>
                  </a:lnTo>
                  <a:lnTo>
                    <a:pt x="69" y="44"/>
                  </a:lnTo>
                  <a:lnTo>
                    <a:pt x="128" y="67"/>
                  </a:lnTo>
                  <a:lnTo>
                    <a:pt x="133" y="67"/>
                  </a:lnTo>
                  <a:lnTo>
                    <a:pt x="150" y="61"/>
                  </a:lnTo>
                  <a:lnTo>
                    <a:pt x="153" y="58"/>
                  </a:lnTo>
                  <a:lnTo>
                    <a:pt x="153" y="55"/>
                  </a:lnTo>
                  <a:lnTo>
                    <a:pt x="153" y="53"/>
                  </a:lnTo>
                  <a:lnTo>
                    <a:pt x="150" y="50"/>
                  </a:lnTo>
                  <a:lnTo>
                    <a:pt x="103" y="30"/>
                  </a:lnTo>
                  <a:lnTo>
                    <a:pt x="117" y="25"/>
                  </a:lnTo>
                  <a:lnTo>
                    <a:pt x="119" y="22"/>
                  </a:lnTo>
                  <a:lnTo>
                    <a:pt x="119" y="19"/>
                  </a:lnTo>
                  <a:lnTo>
                    <a:pt x="117" y="16"/>
                  </a:lnTo>
                  <a:lnTo>
                    <a:pt x="114" y="14"/>
                  </a:lnTo>
                  <a:lnTo>
                    <a:pt x="5" y="0"/>
                  </a:lnTo>
                  <a:lnTo>
                    <a:pt x="3" y="0"/>
                  </a:lnTo>
                  <a:lnTo>
                    <a:pt x="0" y="3"/>
                  </a:lnTo>
                  <a:close/>
                  <a:moveTo>
                    <a:pt x="19" y="11"/>
                  </a:moveTo>
                  <a:lnTo>
                    <a:pt x="19" y="11"/>
                  </a:lnTo>
                  <a:lnTo>
                    <a:pt x="92" y="22"/>
                  </a:lnTo>
                  <a:lnTo>
                    <a:pt x="86" y="25"/>
                  </a:lnTo>
                  <a:lnTo>
                    <a:pt x="83" y="28"/>
                  </a:lnTo>
                  <a:lnTo>
                    <a:pt x="80" y="30"/>
                  </a:lnTo>
                  <a:lnTo>
                    <a:pt x="83" y="33"/>
                  </a:lnTo>
                  <a:lnTo>
                    <a:pt x="86" y="36"/>
                  </a:lnTo>
                  <a:lnTo>
                    <a:pt x="133" y="55"/>
                  </a:lnTo>
                  <a:lnTo>
                    <a:pt x="131" y="55"/>
                  </a:lnTo>
                  <a:lnTo>
                    <a:pt x="72" y="33"/>
                  </a:lnTo>
                  <a:lnTo>
                    <a:pt x="67" y="33"/>
                  </a:lnTo>
                  <a:lnTo>
                    <a:pt x="44" y="42"/>
                  </a:lnTo>
                  <a:lnTo>
                    <a:pt x="19" y="11"/>
                  </a:lnTo>
                  <a:close/>
                </a:path>
              </a:pathLst>
            </a:custGeom>
            <a:solidFill>
              <a:srgbClr val="0000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87" name="Freeform 48"/>
            <p:cNvSpPr>
              <a:spLocks/>
            </p:cNvSpPr>
            <p:nvPr/>
          </p:nvSpPr>
          <p:spPr bwMode="auto">
            <a:xfrm>
              <a:off x="2461" y="1430"/>
              <a:ext cx="142" cy="58"/>
            </a:xfrm>
            <a:custGeom>
              <a:avLst/>
              <a:gdLst>
                <a:gd name="T0" fmla="*/ 0 w 142"/>
                <a:gd name="T1" fmla="*/ 58 h 58"/>
                <a:gd name="T2" fmla="*/ 109 w 142"/>
                <a:gd name="T3" fmla="*/ 44 h 58"/>
                <a:gd name="T4" fmla="*/ 81 w 142"/>
                <a:gd name="T5" fmla="*/ 33 h 58"/>
                <a:gd name="T6" fmla="*/ 142 w 142"/>
                <a:gd name="T7" fmla="*/ 8 h 58"/>
                <a:gd name="T8" fmla="*/ 123 w 142"/>
                <a:gd name="T9" fmla="*/ 0 h 58"/>
                <a:gd name="T10" fmla="*/ 64 w 142"/>
                <a:gd name="T11" fmla="*/ 25 h 58"/>
                <a:gd name="T12" fmla="*/ 36 w 142"/>
                <a:gd name="T13" fmla="*/ 13 h 58"/>
                <a:gd name="T14" fmla="*/ 0 w 142"/>
                <a:gd name="T15" fmla="*/ 58 h 58"/>
                <a:gd name="T16" fmla="*/ 0 60000 65536"/>
                <a:gd name="T17" fmla="*/ 0 60000 65536"/>
                <a:gd name="T18" fmla="*/ 0 60000 65536"/>
                <a:gd name="T19" fmla="*/ 0 60000 65536"/>
                <a:gd name="T20" fmla="*/ 0 60000 65536"/>
                <a:gd name="T21" fmla="*/ 0 60000 65536"/>
                <a:gd name="T22" fmla="*/ 0 60000 65536"/>
                <a:gd name="T23" fmla="*/ 0 60000 65536"/>
                <a:gd name="T24" fmla="*/ 0 w 142"/>
                <a:gd name="T25" fmla="*/ 0 h 58"/>
                <a:gd name="T26" fmla="*/ 142 w 142"/>
                <a:gd name="T27" fmla="*/ 58 h 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2" h="58">
                  <a:moveTo>
                    <a:pt x="0" y="58"/>
                  </a:moveTo>
                  <a:lnTo>
                    <a:pt x="109" y="44"/>
                  </a:lnTo>
                  <a:lnTo>
                    <a:pt x="81" y="33"/>
                  </a:lnTo>
                  <a:lnTo>
                    <a:pt x="142" y="8"/>
                  </a:lnTo>
                  <a:lnTo>
                    <a:pt x="123" y="0"/>
                  </a:lnTo>
                  <a:lnTo>
                    <a:pt x="64" y="25"/>
                  </a:lnTo>
                  <a:lnTo>
                    <a:pt x="36" y="13"/>
                  </a:lnTo>
                  <a:lnTo>
                    <a:pt x="0" y="58"/>
                  </a:lnTo>
                  <a:close/>
                </a:path>
              </a:pathLst>
            </a:custGeom>
            <a:solidFill>
              <a:srgbClr val="FFFFFF"/>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88" name="Freeform 49"/>
            <p:cNvSpPr>
              <a:spLocks noEditPoints="1"/>
            </p:cNvSpPr>
            <p:nvPr/>
          </p:nvSpPr>
          <p:spPr bwMode="auto">
            <a:xfrm>
              <a:off x="2456" y="1424"/>
              <a:ext cx="153" cy="70"/>
            </a:xfrm>
            <a:custGeom>
              <a:avLst/>
              <a:gdLst>
                <a:gd name="T0" fmla="*/ 125 w 153"/>
                <a:gd name="T1" fmla="*/ 0 h 70"/>
                <a:gd name="T2" fmla="*/ 69 w 153"/>
                <a:gd name="T3" fmla="*/ 25 h 70"/>
                <a:gd name="T4" fmla="*/ 44 w 153"/>
                <a:gd name="T5" fmla="*/ 14 h 70"/>
                <a:gd name="T6" fmla="*/ 38 w 153"/>
                <a:gd name="T7" fmla="*/ 17 h 70"/>
                <a:gd name="T8" fmla="*/ 2 w 153"/>
                <a:gd name="T9" fmla="*/ 61 h 70"/>
                <a:gd name="T10" fmla="*/ 0 w 153"/>
                <a:gd name="T11" fmla="*/ 67 h 70"/>
                <a:gd name="T12" fmla="*/ 2 w 153"/>
                <a:gd name="T13" fmla="*/ 70 h 70"/>
                <a:gd name="T14" fmla="*/ 114 w 153"/>
                <a:gd name="T15" fmla="*/ 56 h 70"/>
                <a:gd name="T16" fmla="*/ 119 w 153"/>
                <a:gd name="T17" fmla="*/ 53 h 70"/>
                <a:gd name="T18" fmla="*/ 119 w 153"/>
                <a:gd name="T19" fmla="*/ 50 h 70"/>
                <a:gd name="T20" fmla="*/ 119 w 153"/>
                <a:gd name="T21" fmla="*/ 50 h 70"/>
                <a:gd name="T22" fmla="*/ 116 w 153"/>
                <a:gd name="T23" fmla="*/ 45 h 70"/>
                <a:gd name="T24" fmla="*/ 103 w 153"/>
                <a:gd name="T25" fmla="*/ 39 h 70"/>
                <a:gd name="T26" fmla="*/ 147 w 153"/>
                <a:gd name="T27" fmla="*/ 19 h 70"/>
                <a:gd name="T28" fmla="*/ 150 w 153"/>
                <a:gd name="T29" fmla="*/ 17 h 70"/>
                <a:gd name="T30" fmla="*/ 153 w 153"/>
                <a:gd name="T31" fmla="*/ 14 h 70"/>
                <a:gd name="T32" fmla="*/ 150 w 153"/>
                <a:gd name="T33" fmla="*/ 11 h 70"/>
                <a:gd name="T34" fmla="*/ 130 w 153"/>
                <a:gd name="T35" fmla="*/ 0 h 70"/>
                <a:gd name="T36" fmla="*/ 125 w 153"/>
                <a:gd name="T37" fmla="*/ 0 h 70"/>
                <a:gd name="T38" fmla="*/ 72 w 153"/>
                <a:gd name="T39" fmla="*/ 36 h 70"/>
                <a:gd name="T40" fmla="*/ 128 w 153"/>
                <a:gd name="T41" fmla="*/ 11 h 70"/>
                <a:gd name="T42" fmla="*/ 130 w 153"/>
                <a:gd name="T43" fmla="*/ 14 h 70"/>
                <a:gd name="T44" fmla="*/ 83 w 153"/>
                <a:gd name="T45" fmla="*/ 33 h 70"/>
                <a:gd name="T46" fmla="*/ 83 w 153"/>
                <a:gd name="T47" fmla="*/ 33 h 70"/>
                <a:gd name="T48" fmla="*/ 80 w 153"/>
                <a:gd name="T49" fmla="*/ 39 h 70"/>
                <a:gd name="T50" fmla="*/ 83 w 153"/>
                <a:gd name="T51" fmla="*/ 42 h 70"/>
                <a:gd name="T52" fmla="*/ 83 w 153"/>
                <a:gd name="T53" fmla="*/ 42 h 70"/>
                <a:gd name="T54" fmla="*/ 91 w 153"/>
                <a:gd name="T55" fmla="*/ 47 h 70"/>
                <a:gd name="T56" fmla="*/ 19 w 153"/>
                <a:gd name="T57" fmla="*/ 56 h 70"/>
                <a:gd name="T58" fmla="*/ 44 w 153"/>
                <a:gd name="T59" fmla="*/ 28 h 70"/>
                <a:gd name="T60" fmla="*/ 66 w 153"/>
                <a:gd name="T61" fmla="*/ 36 h 70"/>
                <a:gd name="T62" fmla="*/ 72 w 153"/>
                <a:gd name="T63" fmla="*/ 36 h 7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53"/>
                <a:gd name="T97" fmla="*/ 0 h 70"/>
                <a:gd name="T98" fmla="*/ 153 w 153"/>
                <a:gd name="T99" fmla="*/ 70 h 7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53" h="70">
                  <a:moveTo>
                    <a:pt x="125" y="0"/>
                  </a:moveTo>
                  <a:lnTo>
                    <a:pt x="125" y="0"/>
                  </a:lnTo>
                  <a:lnTo>
                    <a:pt x="69" y="25"/>
                  </a:lnTo>
                  <a:lnTo>
                    <a:pt x="44" y="14"/>
                  </a:lnTo>
                  <a:lnTo>
                    <a:pt x="41" y="14"/>
                  </a:lnTo>
                  <a:lnTo>
                    <a:pt x="38" y="17"/>
                  </a:lnTo>
                  <a:lnTo>
                    <a:pt x="2" y="61"/>
                  </a:lnTo>
                  <a:lnTo>
                    <a:pt x="0" y="64"/>
                  </a:lnTo>
                  <a:lnTo>
                    <a:pt x="0" y="67"/>
                  </a:lnTo>
                  <a:lnTo>
                    <a:pt x="2" y="70"/>
                  </a:lnTo>
                  <a:lnTo>
                    <a:pt x="5" y="70"/>
                  </a:lnTo>
                  <a:lnTo>
                    <a:pt x="114" y="56"/>
                  </a:lnTo>
                  <a:lnTo>
                    <a:pt x="119" y="53"/>
                  </a:lnTo>
                  <a:lnTo>
                    <a:pt x="119" y="50"/>
                  </a:lnTo>
                  <a:lnTo>
                    <a:pt x="119" y="47"/>
                  </a:lnTo>
                  <a:lnTo>
                    <a:pt x="116" y="45"/>
                  </a:lnTo>
                  <a:lnTo>
                    <a:pt x="103" y="39"/>
                  </a:lnTo>
                  <a:lnTo>
                    <a:pt x="147" y="19"/>
                  </a:lnTo>
                  <a:lnTo>
                    <a:pt x="150" y="17"/>
                  </a:lnTo>
                  <a:lnTo>
                    <a:pt x="153" y="14"/>
                  </a:lnTo>
                  <a:lnTo>
                    <a:pt x="150" y="11"/>
                  </a:lnTo>
                  <a:lnTo>
                    <a:pt x="147" y="8"/>
                  </a:lnTo>
                  <a:lnTo>
                    <a:pt x="130" y="0"/>
                  </a:lnTo>
                  <a:lnTo>
                    <a:pt x="125" y="0"/>
                  </a:lnTo>
                  <a:close/>
                  <a:moveTo>
                    <a:pt x="72" y="36"/>
                  </a:moveTo>
                  <a:lnTo>
                    <a:pt x="72" y="36"/>
                  </a:lnTo>
                  <a:lnTo>
                    <a:pt x="128" y="11"/>
                  </a:lnTo>
                  <a:lnTo>
                    <a:pt x="130" y="14"/>
                  </a:lnTo>
                  <a:lnTo>
                    <a:pt x="83" y="33"/>
                  </a:lnTo>
                  <a:lnTo>
                    <a:pt x="80" y="39"/>
                  </a:lnTo>
                  <a:lnTo>
                    <a:pt x="83" y="42"/>
                  </a:lnTo>
                  <a:lnTo>
                    <a:pt x="91" y="47"/>
                  </a:lnTo>
                  <a:lnTo>
                    <a:pt x="19" y="56"/>
                  </a:lnTo>
                  <a:lnTo>
                    <a:pt x="44" y="28"/>
                  </a:lnTo>
                  <a:lnTo>
                    <a:pt x="66" y="36"/>
                  </a:lnTo>
                  <a:lnTo>
                    <a:pt x="72" y="36"/>
                  </a:lnTo>
                  <a:close/>
                </a:path>
              </a:pathLst>
            </a:custGeom>
            <a:solidFill>
              <a:srgbClr val="0000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89" name="Freeform 50"/>
            <p:cNvSpPr>
              <a:spLocks/>
            </p:cNvSpPr>
            <p:nvPr/>
          </p:nvSpPr>
          <p:spPr bwMode="auto">
            <a:xfrm>
              <a:off x="2625" y="1363"/>
              <a:ext cx="142" cy="58"/>
            </a:xfrm>
            <a:custGeom>
              <a:avLst/>
              <a:gdLst>
                <a:gd name="T0" fmla="*/ 142 w 142"/>
                <a:gd name="T1" fmla="*/ 0 h 58"/>
                <a:gd name="T2" fmla="*/ 34 w 142"/>
                <a:gd name="T3" fmla="*/ 16 h 58"/>
                <a:gd name="T4" fmla="*/ 62 w 142"/>
                <a:gd name="T5" fmla="*/ 27 h 58"/>
                <a:gd name="T6" fmla="*/ 0 w 142"/>
                <a:gd name="T7" fmla="*/ 53 h 58"/>
                <a:gd name="T8" fmla="*/ 17 w 142"/>
                <a:gd name="T9" fmla="*/ 58 h 58"/>
                <a:gd name="T10" fmla="*/ 78 w 142"/>
                <a:gd name="T11" fmla="*/ 33 h 58"/>
                <a:gd name="T12" fmla="*/ 106 w 142"/>
                <a:gd name="T13" fmla="*/ 44 h 58"/>
                <a:gd name="T14" fmla="*/ 142 w 142"/>
                <a:gd name="T15" fmla="*/ 0 h 58"/>
                <a:gd name="T16" fmla="*/ 0 60000 65536"/>
                <a:gd name="T17" fmla="*/ 0 60000 65536"/>
                <a:gd name="T18" fmla="*/ 0 60000 65536"/>
                <a:gd name="T19" fmla="*/ 0 60000 65536"/>
                <a:gd name="T20" fmla="*/ 0 60000 65536"/>
                <a:gd name="T21" fmla="*/ 0 60000 65536"/>
                <a:gd name="T22" fmla="*/ 0 60000 65536"/>
                <a:gd name="T23" fmla="*/ 0 60000 65536"/>
                <a:gd name="T24" fmla="*/ 0 w 142"/>
                <a:gd name="T25" fmla="*/ 0 h 58"/>
                <a:gd name="T26" fmla="*/ 142 w 142"/>
                <a:gd name="T27" fmla="*/ 58 h 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2" h="58">
                  <a:moveTo>
                    <a:pt x="142" y="0"/>
                  </a:moveTo>
                  <a:lnTo>
                    <a:pt x="34" y="16"/>
                  </a:lnTo>
                  <a:lnTo>
                    <a:pt x="62" y="27"/>
                  </a:lnTo>
                  <a:lnTo>
                    <a:pt x="0" y="53"/>
                  </a:lnTo>
                  <a:lnTo>
                    <a:pt x="17" y="58"/>
                  </a:lnTo>
                  <a:lnTo>
                    <a:pt x="78" y="33"/>
                  </a:lnTo>
                  <a:lnTo>
                    <a:pt x="106" y="44"/>
                  </a:lnTo>
                  <a:lnTo>
                    <a:pt x="142" y="0"/>
                  </a:lnTo>
                  <a:close/>
                </a:path>
              </a:pathLst>
            </a:custGeom>
            <a:solidFill>
              <a:srgbClr val="FFFFFF"/>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90" name="Freeform 51"/>
            <p:cNvSpPr>
              <a:spLocks noEditPoints="1"/>
            </p:cNvSpPr>
            <p:nvPr/>
          </p:nvSpPr>
          <p:spPr bwMode="auto">
            <a:xfrm>
              <a:off x="2620" y="1357"/>
              <a:ext cx="153" cy="70"/>
            </a:xfrm>
            <a:custGeom>
              <a:avLst/>
              <a:gdLst>
                <a:gd name="T0" fmla="*/ 39 w 153"/>
                <a:gd name="T1" fmla="*/ 17 h 70"/>
                <a:gd name="T2" fmla="*/ 33 w 153"/>
                <a:gd name="T3" fmla="*/ 17 h 70"/>
                <a:gd name="T4" fmla="*/ 33 w 153"/>
                <a:gd name="T5" fmla="*/ 20 h 70"/>
                <a:gd name="T6" fmla="*/ 33 w 153"/>
                <a:gd name="T7" fmla="*/ 22 h 70"/>
                <a:gd name="T8" fmla="*/ 36 w 153"/>
                <a:gd name="T9" fmla="*/ 28 h 70"/>
                <a:gd name="T10" fmla="*/ 50 w 153"/>
                <a:gd name="T11" fmla="*/ 33 h 70"/>
                <a:gd name="T12" fmla="*/ 3 w 153"/>
                <a:gd name="T13" fmla="*/ 53 h 70"/>
                <a:gd name="T14" fmla="*/ 0 w 153"/>
                <a:gd name="T15" fmla="*/ 56 h 70"/>
                <a:gd name="T16" fmla="*/ 0 w 153"/>
                <a:gd name="T17" fmla="*/ 59 h 70"/>
                <a:gd name="T18" fmla="*/ 0 w 153"/>
                <a:gd name="T19" fmla="*/ 61 h 70"/>
                <a:gd name="T20" fmla="*/ 19 w 153"/>
                <a:gd name="T21" fmla="*/ 70 h 70"/>
                <a:gd name="T22" fmla="*/ 25 w 153"/>
                <a:gd name="T23" fmla="*/ 70 h 70"/>
                <a:gd name="T24" fmla="*/ 83 w 153"/>
                <a:gd name="T25" fmla="*/ 45 h 70"/>
                <a:gd name="T26" fmla="*/ 108 w 153"/>
                <a:gd name="T27" fmla="*/ 56 h 70"/>
                <a:gd name="T28" fmla="*/ 111 w 153"/>
                <a:gd name="T29" fmla="*/ 56 h 70"/>
                <a:gd name="T30" fmla="*/ 150 w 153"/>
                <a:gd name="T31" fmla="*/ 11 h 70"/>
                <a:gd name="T32" fmla="*/ 153 w 153"/>
                <a:gd name="T33" fmla="*/ 8 h 70"/>
                <a:gd name="T34" fmla="*/ 153 w 153"/>
                <a:gd name="T35" fmla="*/ 3 h 70"/>
                <a:gd name="T36" fmla="*/ 147 w 153"/>
                <a:gd name="T37" fmla="*/ 0 h 70"/>
                <a:gd name="T38" fmla="*/ 133 w 153"/>
                <a:gd name="T39" fmla="*/ 14 h 70"/>
                <a:gd name="T40" fmla="*/ 108 w 153"/>
                <a:gd name="T41" fmla="*/ 45 h 70"/>
                <a:gd name="T42" fmla="*/ 86 w 153"/>
                <a:gd name="T43" fmla="*/ 33 h 70"/>
                <a:gd name="T44" fmla="*/ 80 w 153"/>
                <a:gd name="T45" fmla="*/ 33 h 70"/>
                <a:gd name="T46" fmla="*/ 22 w 153"/>
                <a:gd name="T47" fmla="*/ 59 h 70"/>
                <a:gd name="T48" fmla="*/ 19 w 153"/>
                <a:gd name="T49" fmla="*/ 59 h 70"/>
                <a:gd name="T50" fmla="*/ 69 w 153"/>
                <a:gd name="T51" fmla="*/ 39 h 70"/>
                <a:gd name="T52" fmla="*/ 69 w 153"/>
                <a:gd name="T53" fmla="*/ 36 h 70"/>
                <a:gd name="T54" fmla="*/ 72 w 153"/>
                <a:gd name="T55" fmla="*/ 33 h 70"/>
                <a:gd name="T56" fmla="*/ 69 w 153"/>
                <a:gd name="T57" fmla="*/ 31 h 70"/>
                <a:gd name="T58" fmla="*/ 69 w 153"/>
                <a:gd name="T59" fmla="*/ 28 h 70"/>
                <a:gd name="T60" fmla="*/ 61 w 153"/>
                <a:gd name="T61" fmla="*/ 25 h 70"/>
                <a:gd name="T62" fmla="*/ 133 w 153"/>
                <a:gd name="T63" fmla="*/ 14 h 7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53"/>
                <a:gd name="T97" fmla="*/ 0 h 70"/>
                <a:gd name="T98" fmla="*/ 153 w 153"/>
                <a:gd name="T99" fmla="*/ 70 h 7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53" h="70">
                  <a:moveTo>
                    <a:pt x="147" y="0"/>
                  </a:moveTo>
                  <a:lnTo>
                    <a:pt x="39" y="17"/>
                  </a:lnTo>
                  <a:lnTo>
                    <a:pt x="33" y="17"/>
                  </a:lnTo>
                  <a:lnTo>
                    <a:pt x="33" y="20"/>
                  </a:lnTo>
                  <a:lnTo>
                    <a:pt x="33" y="22"/>
                  </a:lnTo>
                  <a:lnTo>
                    <a:pt x="33" y="25"/>
                  </a:lnTo>
                  <a:lnTo>
                    <a:pt x="36" y="28"/>
                  </a:lnTo>
                  <a:lnTo>
                    <a:pt x="50" y="33"/>
                  </a:lnTo>
                  <a:lnTo>
                    <a:pt x="3" y="53"/>
                  </a:lnTo>
                  <a:lnTo>
                    <a:pt x="0" y="56"/>
                  </a:lnTo>
                  <a:lnTo>
                    <a:pt x="0" y="59"/>
                  </a:lnTo>
                  <a:lnTo>
                    <a:pt x="0" y="61"/>
                  </a:lnTo>
                  <a:lnTo>
                    <a:pt x="3" y="64"/>
                  </a:lnTo>
                  <a:lnTo>
                    <a:pt x="19" y="70"/>
                  </a:lnTo>
                  <a:lnTo>
                    <a:pt x="25" y="70"/>
                  </a:lnTo>
                  <a:lnTo>
                    <a:pt x="83" y="45"/>
                  </a:lnTo>
                  <a:lnTo>
                    <a:pt x="108" y="56"/>
                  </a:lnTo>
                  <a:lnTo>
                    <a:pt x="111" y="56"/>
                  </a:lnTo>
                  <a:lnTo>
                    <a:pt x="114" y="53"/>
                  </a:lnTo>
                  <a:lnTo>
                    <a:pt x="150" y="11"/>
                  </a:lnTo>
                  <a:lnTo>
                    <a:pt x="153" y="8"/>
                  </a:lnTo>
                  <a:lnTo>
                    <a:pt x="153" y="3"/>
                  </a:lnTo>
                  <a:lnTo>
                    <a:pt x="150" y="3"/>
                  </a:lnTo>
                  <a:lnTo>
                    <a:pt x="147" y="0"/>
                  </a:lnTo>
                  <a:close/>
                  <a:moveTo>
                    <a:pt x="133" y="14"/>
                  </a:moveTo>
                  <a:lnTo>
                    <a:pt x="133" y="14"/>
                  </a:lnTo>
                  <a:lnTo>
                    <a:pt x="108" y="45"/>
                  </a:lnTo>
                  <a:lnTo>
                    <a:pt x="86" y="33"/>
                  </a:lnTo>
                  <a:lnTo>
                    <a:pt x="80" y="33"/>
                  </a:lnTo>
                  <a:lnTo>
                    <a:pt x="22" y="59"/>
                  </a:lnTo>
                  <a:lnTo>
                    <a:pt x="19" y="59"/>
                  </a:lnTo>
                  <a:lnTo>
                    <a:pt x="69" y="39"/>
                  </a:lnTo>
                  <a:lnTo>
                    <a:pt x="69" y="36"/>
                  </a:lnTo>
                  <a:lnTo>
                    <a:pt x="72" y="33"/>
                  </a:lnTo>
                  <a:lnTo>
                    <a:pt x="69" y="31"/>
                  </a:lnTo>
                  <a:lnTo>
                    <a:pt x="69" y="28"/>
                  </a:lnTo>
                  <a:lnTo>
                    <a:pt x="61" y="25"/>
                  </a:lnTo>
                  <a:lnTo>
                    <a:pt x="133" y="14"/>
                  </a:lnTo>
                  <a:close/>
                </a:path>
              </a:pathLst>
            </a:custGeom>
            <a:solidFill>
              <a:srgbClr val="0000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91" name="Freeform 52"/>
            <p:cNvSpPr>
              <a:spLocks/>
            </p:cNvSpPr>
            <p:nvPr/>
          </p:nvSpPr>
          <p:spPr bwMode="auto">
            <a:xfrm>
              <a:off x="2458" y="1357"/>
              <a:ext cx="142" cy="56"/>
            </a:xfrm>
            <a:custGeom>
              <a:avLst/>
              <a:gdLst>
                <a:gd name="T0" fmla="*/ 142 w 142"/>
                <a:gd name="T1" fmla="*/ 56 h 56"/>
                <a:gd name="T2" fmla="*/ 106 w 142"/>
                <a:gd name="T3" fmla="*/ 14 h 56"/>
                <a:gd name="T4" fmla="*/ 78 w 142"/>
                <a:gd name="T5" fmla="*/ 25 h 56"/>
                <a:gd name="T6" fmla="*/ 20 w 142"/>
                <a:gd name="T7" fmla="*/ 0 h 56"/>
                <a:gd name="T8" fmla="*/ 0 w 142"/>
                <a:gd name="T9" fmla="*/ 8 h 56"/>
                <a:gd name="T10" fmla="*/ 59 w 142"/>
                <a:gd name="T11" fmla="*/ 31 h 56"/>
                <a:gd name="T12" fmla="*/ 34 w 142"/>
                <a:gd name="T13" fmla="*/ 42 h 56"/>
                <a:gd name="T14" fmla="*/ 142 w 142"/>
                <a:gd name="T15" fmla="*/ 56 h 56"/>
                <a:gd name="T16" fmla="*/ 0 60000 65536"/>
                <a:gd name="T17" fmla="*/ 0 60000 65536"/>
                <a:gd name="T18" fmla="*/ 0 60000 65536"/>
                <a:gd name="T19" fmla="*/ 0 60000 65536"/>
                <a:gd name="T20" fmla="*/ 0 60000 65536"/>
                <a:gd name="T21" fmla="*/ 0 60000 65536"/>
                <a:gd name="T22" fmla="*/ 0 60000 65536"/>
                <a:gd name="T23" fmla="*/ 0 60000 65536"/>
                <a:gd name="T24" fmla="*/ 0 w 142"/>
                <a:gd name="T25" fmla="*/ 0 h 56"/>
                <a:gd name="T26" fmla="*/ 142 w 142"/>
                <a:gd name="T27" fmla="*/ 56 h 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2" h="56">
                  <a:moveTo>
                    <a:pt x="142" y="56"/>
                  </a:moveTo>
                  <a:lnTo>
                    <a:pt x="106" y="14"/>
                  </a:lnTo>
                  <a:lnTo>
                    <a:pt x="78" y="25"/>
                  </a:lnTo>
                  <a:lnTo>
                    <a:pt x="20" y="0"/>
                  </a:lnTo>
                  <a:lnTo>
                    <a:pt x="0" y="8"/>
                  </a:lnTo>
                  <a:lnTo>
                    <a:pt x="59" y="31"/>
                  </a:lnTo>
                  <a:lnTo>
                    <a:pt x="34" y="42"/>
                  </a:lnTo>
                  <a:lnTo>
                    <a:pt x="142" y="56"/>
                  </a:lnTo>
                  <a:close/>
                </a:path>
              </a:pathLst>
            </a:custGeom>
            <a:solidFill>
              <a:srgbClr val="FFFFFF"/>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92" name="Freeform 53"/>
            <p:cNvSpPr>
              <a:spLocks noEditPoints="1"/>
            </p:cNvSpPr>
            <p:nvPr/>
          </p:nvSpPr>
          <p:spPr bwMode="auto">
            <a:xfrm>
              <a:off x="2456" y="1357"/>
              <a:ext cx="147" cy="59"/>
            </a:xfrm>
            <a:custGeom>
              <a:avLst/>
              <a:gdLst>
                <a:gd name="T0" fmla="*/ 2 w 147"/>
                <a:gd name="T1" fmla="*/ 6 h 59"/>
                <a:gd name="T2" fmla="*/ 0 w 147"/>
                <a:gd name="T3" fmla="*/ 8 h 59"/>
                <a:gd name="T4" fmla="*/ 0 w 147"/>
                <a:gd name="T5" fmla="*/ 8 h 59"/>
                <a:gd name="T6" fmla="*/ 58 w 147"/>
                <a:gd name="T7" fmla="*/ 31 h 59"/>
                <a:gd name="T8" fmla="*/ 58 w 147"/>
                <a:gd name="T9" fmla="*/ 31 h 59"/>
                <a:gd name="T10" fmla="*/ 30 w 147"/>
                <a:gd name="T11" fmla="*/ 42 h 59"/>
                <a:gd name="T12" fmla="*/ 147 w 147"/>
                <a:gd name="T13" fmla="*/ 59 h 59"/>
                <a:gd name="T14" fmla="*/ 108 w 147"/>
                <a:gd name="T15" fmla="*/ 11 h 59"/>
                <a:gd name="T16" fmla="*/ 80 w 147"/>
                <a:gd name="T17" fmla="*/ 22 h 59"/>
                <a:gd name="T18" fmla="*/ 22 w 147"/>
                <a:gd name="T19" fmla="*/ 0 h 59"/>
                <a:gd name="T20" fmla="*/ 2 w 147"/>
                <a:gd name="T21" fmla="*/ 6 h 59"/>
                <a:gd name="T22" fmla="*/ 22 w 147"/>
                <a:gd name="T23" fmla="*/ 3 h 59"/>
                <a:gd name="T24" fmla="*/ 80 w 147"/>
                <a:gd name="T25" fmla="*/ 25 h 59"/>
                <a:gd name="T26" fmla="*/ 80 w 147"/>
                <a:gd name="T27" fmla="*/ 25 h 59"/>
                <a:gd name="T28" fmla="*/ 105 w 147"/>
                <a:gd name="T29" fmla="*/ 14 h 59"/>
                <a:gd name="T30" fmla="*/ 105 w 147"/>
                <a:gd name="T31" fmla="*/ 14 h 59"/>
                <a:gd name="T32" fmla="*/ 139 w 147"/>
                <a:gd name="T33" fmla="*/ 56 h 59"/>
                <a:gd name="T34" fmla="*/ 139 w 147"/>
                <a:gd name="T35" fmla="*/ 56 h 59"/>
                <a:gd name="T36" fmla="*/ 41 w 147"/>
                <a:gd name="T37" fmla="*/ 42 h 59"/>
                <a:gd name="T38" fmla="*/ 41 w 147"/>
                <a:gd name="T39" fmla="*/ 42 h 59"/>
                <a:gd name="T40" fmla="*/ 66 w 147"/>
                <a:gd name="T41" fmla="*/ 31 h 59"/>
                <a:gd name="T42" fmla="*/ 66 w 147"/>
                <a:gd name="T43" fmla="*/ 31 h 59"/>
                <a:gd name="T44" fmla="*/ 8 w 147"/>
                <a:gd name="T45" fmla="*/ 8 h 59"/>
                <a:gd name="T46" fmla="*/ 8 w 147"/>
                <a:gd name="T47" fmla="*/ 8 h 59"/>
                <a:gd name="T48" fmla="*/ 22 w 147"/>
                <a:gd name="T49" fmla="*/ 3 h 59"/>
                <a:gd name="T50" fmla="*/ 22 w 147"/>
                <a:gd name="T51" fmla="*/ 3 h 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7"/>
                <a:gd name="T79" fmla="*/ 0 h 59"/>
                <a:gd name="T80" fmla="*/ 147 w 147"/>
                <a:gd name="T81" fmla="*/ 59 h 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7" h="59">
                  <a:moveTo>
                    <a:pt x="2" y="6"/>
                  </a:moveTo>
                  <a:lnTo>
                    <a:pt x="0" y="8"/>
                  </a:lnTo>
                  <a:lnTo>
                    <a:pt x="58" y="31"/>
                  </a:lnTo>
                  <a:lnTo>
                    <a:pt x="30" y="42"/>
                  </a:lnTo>
                  <a:lnTo>
                    <a:pt x="147" y="59"/>
                  </a:lnTo>
                  <a:lnTo>
                    <a:pt x="108" y="11"/>
                  </a:lnTo>
                  <a:lnTo>
                    <a:pt x="80" y="22"/>
                  </a:lnTo>
                  <a:lnTo>
                    <a:pt x="22" y="0"/>
                  </a:lnTo>
                  <a:lnTo>
                    <a:pt x="2" y="6"/>
                  </a:lnTo>
                  <a:close/>
                  <a:moveTo>
                    <a:pt x="22" y="3"/>
                  </a:moveTo>
                  <a:lnTo>
                    <a:pt x="80" y="25"/>
                  </a:lnTo>
                  <a:lnTo>
                    <a:pt x="105" y="14"/>
                  </a:lnTo>
                  <a:lnTo>
                    <a:pt x="139" y="56"/>
                  </a:lnTo>
                  <a:lnTo>
                    <a:pt x="41" y="42"/>
                  </a:lnTo>
                  <a:lnTo>
                    <a:pt x="66" y="31"/>
                  </a:lnTo>
                  <a:lnTo>
                    <a:pt x="8" y="8"/>
                  </a:lnTo>
                  <a:lnTo>
                    <a:pt x="22" y="3"/>
                  </a:lnTo>
                  <a:close/>
                </a:path>
              </a:pathLst>
            </a:custGeom>
            <a:solidFill>
              <a:srgbClr val="0000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93" name="Freeform 54"/>
            <p:cNvSpPr>
              <a:spLocks/>
            </p:cNvSpPr>
            <p:nvPr/>
          </p:nvSpPr>
          <p:spPr bwMode="auto">
            <a:xfrm>
              <a:off x="2625" y="1424"/>
              <a:ext cx="145" cy="58"/>
            </a:xfrm>
            <a:custGeom>
              <a:avLst/>
              <a:gdLst>
                <a:gd name="T0" fmla="*/ 0 w 145"/>
                <a:gd name="T1" fmla="*/ 0 h 58"/>
                <a:gd name="T2" fmla="*/ 37 w 145"/>
                <a:gd name="T3" fmla="*/ 45 h 58"/>
                <a:gd name="T4" fmla="*/ 64 w 145"/>
                <a:gd name="T5" fmla="*/ 33 h 58"/>
                <a:gd name="T6" fmla="*/ 126 w 145"/>
                <a:gd name="T7" fmla="*/ 58 h 58"/>
                <a:gd name="T8" fmla="*/ 145 w 145"/>
                <a:gd name="T9" fmla="*/ 53 h 58"/>
                <a:gd name="T10" fmla="*/ 81 w 145"/>
                <a:gd name="T11" fmla="*/ 28 h 58"/>
                <a:gd name="T12" fmla="*/ 109 w 145"/>
                <a:gd name="T13" fmla="*/ 17 h 58"/>
                <a:gd name="T14" fmla="*/ 0 w 145"/>
                <a:gd name="T15" fmla="*/ 0 h 58"/>
                <a:gd name="T16" fmla="*/ 0 60000 65536"/>
                <a:gd name="T17" fmla="*/ 0 60000 65536"/>
                <a:gd name="T18" fmla="*/ 0 60000 65536"/>
                <a:gd name="T19" fmla="*/ 0 60000 65536"/>
                <a:gd name="T20" fmla="*/ 0 60000 65536"/>
                <a:gd name="T21" fmla="*/ 0 60000 65536"/>
                <a:gd name="T22" fmla="*/ 0 60000 65536"/>
                <a:gd name="T23" fmla="*/ 0 60000 65536"/>
                <a:gd name="T24" fmla="*/ 0 w 145"/>
                <a:gd name="T25" fmla="*/ 0 h 58"/>
                <a:gd name="T26" fmla="*/ 145 w 145"/>
                <a:gd name="T27" fmla="*/ 58 h 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5" h="58">
                  <a:moveTo>
                    <a:pt x="0" y="0"/>
                  </a:moveTo>
                  <a:lnTo>
                    <a:pt x="37" y="45"/>
                  </a:lnTo>
                  <a:lnTo>
                    <a:pt x="64" y="33"/>
                  </a:lnTo>
                  <a:lnTo>
                    <a:pt x="126" y="58"/>
                  </a:lnTo>
                  <a:lnTo>
                    <a:pt x="145" y="53"/>
                  </a:lnTo>
                  <a:lnTo>
                    <a:pt x="81" y="28"/>
                  </a:lnTo>
                  <a:lnTo>
                    <a:pt x="109" y="17"/>
                  </a:lnTo>
                  <a:lnTo>
                    <a:pt x="0" y="0"/>
                  </a:lnTo>
                  <a:close/>
                </a:path>
              </a:pathLst>
            </a:custGeom>
            <a:solidFill>
              <a:srgbClr val="FFFFFF"/>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94" name="Freeform 55"/>
            <p:cNvSpPr>
              <a:spLocks noEditPoints="1"/>
            </p:cNvSpPr>
            <p:nvPr/>
          </p:nvSpPr>
          <p:spPr bwMode="auto">
            <a:xfrm>
              <a:off x="2623" y="1424"/>
              <a:ext cx="150" cy="61"/>
            </a:xfrm>
            <a:custGeom>
              <a:avLst/>
              <a:gdLst>
                <a:gd name="T0" fmla="*/ 2 w 150"/>
                <a:gd name="T1" fmla="*/ 3 h 61"/>
                <a:gd name="T2" fmla="*/ 39 w 150"/>
                <a:gd name="T3" fmla="*/ 47 h 61"/>
                <a:gd name="T4" fmla="*/ 66 w 150"/>
                <a:gd name="T5" fmla="*/ 36 h 61"/>
                <a:gd name="T6" fmla="*/ 128 w 150"/>
                <a:gd name="T7" fmla="*/ 61 h 61"/>
                <a:gd name="T8" fmla="*/ 147 w 150"/>
                <a:gd name="T9" fmla="*/ 53 h 61"/>
                <a:gd name="T10" fmla="*/ 150 w 150"/>
                <a:gd name="T11" fmla="*/ 53 h 61"/>
                <a:gd name="T12" fmla="*/ 150 w 150"/>
                <a:gd name="T13" fmla="*/ 53 h 61"/>
                <a:gd name="T14" fmla="*/ 89 w 150"/>
                <a:gd name="T15" fmla="*/ 28 h 61"/>
                <a:gd name="T16" fmla="*/ 89 w 150"/>
                <a:gd name="T17" fmla="*/ 28 h 61"/>
                <a:gd name="T18" fmla="*/ 116 w 150"/>
                <a:gd name="T19" fmla="*/ 14 h 61"/>
                <a:gd name="T20" fmla="*/ 0 w 150"/>
                <a:gd name="T21" fmla="*/ 0 h 61"/>
                <a:gd name="T22" fmla="*/ 2 w 150"/>
                <a:gd name="T23" fmla="*/ 3 h 61"/>
                <a:gd name="T24" fmla="*/ 5 w 150"/>
                <a:gd name="T25" fmla="*/ 3 h 61"/>
                <a:gd name="T26" fmla="*/ 5 w 150"/>
                <a:gd name="T27" fmla="*/ 3 h 61"/>
                <a:gd name="T28" fmla="*/ 105 w 150"/>
                <a:gd name="T29" fmla="*/ 17 h 61"/>
                <a:gd name="T30" fmla="*/ 105 w 150"/>
                <a:gd name="T31" fmla="*/ 17 h 61"/>
                <a:gd name="T32" fmla="*/ 80 w 150"/>
                <a:gd name="T33" fmla="*/ 28 h 61"/>
                <a:gd name="T34" fmla="*/ 80 w 150"/>
                <a:gd name="T35" fmla="*/ 28 h 61"/>
                <a:gd name="T36" fmla="*/ 142 w 150"/>
                <a:gd name="T37" fmla="*/ 53 h 61"/>
                <a:gd name="T38" fmla="*/ 142 w 150"/>
                <a:gd name="T39" fmla="*/ 53 h 61"/>
                <a:gd name="T40" fmla="*/ 128 w 150"/>
                <a:gd name="T41" fmla="*/ 58 h 61"/>
                <a:gd name="T42" fmla="*/ 66 w 150"/>
                <a:gd name="T43" fmla="*/ 33 h 61"/>
                <a:gd name="T44" fmla="*/ 66 w 150"/>
                <a:gd name="T45" fmla="*/ 33 h 61"/>
                <a:gd name="T46" fmla="*/ 39 w 150"/>
                <a:gd name="T47" fmla="*/ 45 h 61"/>
                <a:gd name="T48" fmla="*/ 39 w 150"/>
                <a:gd name="T49" fmla="*/ 45 h 61"/>
                <a:gd name="T50" fmla="*/ 5 w 150"/>
                <a:gd name="T51" fmla="*/ 3 h 61"/>
                <a:gd name="T52" fmla="*/ 5 w 150"/>
                <a:gd name="T53" fmla="*/ 3 h 6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50"/>
                <a:gd name="T82" fmla="*/ 0 h 61"/>
                <a:gd name="T83" fmla="*/ 150 w 150"/>
                <a:gd name="T84" fmla="*/ 61 h 6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50" h="61">
                  <a:moveTo>
                    <a:pt x="2" y="3"/>
                  </a:moveTo>
                  <a:lnTo>
                    <a:pt x="39" y="47"/>
                  </a:lnTo>
                  <a:lnTo>
                    <a:pt x="66" y="36"/>
                  </a:lnTo>
                  <a:lnTo>
                    <a:pt x="128" y="61"/>
                  </a:lnTo>
                  <a:lnTo>
                    <a:pt x="147" y="53"/>
                  </a:lnTo>
                  <a:lnTo>
                    <a:pt x="150" y="53"/>
                  </a:lnTo>
                  <a:lnTo>
                    <a:pt x="89" y="28"/>
                  </a:lnTo>
                  <a:lnTo>
                    <a:pt x="116" y="14"/>
                  </a:lnTo>
                  <a:lnTo>
                    <a:pt x="0" y="0"/>
                  </a:lnTo>
                  <a:lnTo>
                    <a:pt x="2" y="3"/>
                  </a:lnTo>
                  <a:close/>
                  <a:moveTo>
                    <a:pt x="5" y="3"/>
                  </a:moveTo>
                  <a:lnTo>
                    <a:pt x="5" y="3"/>
                  </a:lnTo>
                  <a:lnTo>
                    <a:pt x="105" y="17"/>
                  </a:lnTo>
                  <a:lnTo>
                    <a:pt x="80" y="28"/>
                  </a:lnTo>
                  <a:lnTo>
                    <a:pt x="142" y="53"/>
                  </a:lnTo>
                  <a:lnTo>
                    <a:pt x="128" y="58"/>
                  </a:lnTo>
                  <a:lnTo>
                    <a:pt x="66" y="33"/>
                  </a:lnTo>
                  <a:lnTo>
                    <a:pt x="39" y="45"/>
                  </a:lnTo>
                  <a:lnTo>
                    <a:pt x="5" y="3"/>
                  </a:lnTo>
                  <a:close/>
                </a:path>
              </a:pathLst>
            </a:custGeom>
            <a:solidFill>
              <a:srgbClr val="0000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95" name="Freeform 56"/>
            <p:cNvSpPr>
              <a:spLocks/>
            </p:cNvSpPr>
            <p:nvPr/>
          </p:nvSpPr>
          <p:spPr bwMode="auto">
            <a:xfrm>
              <a:off x="2461" y="1424"/>
              <a:ext cx="142" cy="58"/>
            </a:xfrm>
            <a:custGeom>
              <a:avLst/>
              <a:gdLst>
                <a:gd name="T0" fmla="*/ 0 w 142"/>
                <a:gd name="T1" fmla="*/ 58 h 58"/>
                <a:gd name="T2" fmla="*/ 109 w 142"/>
                <a:gd name="T3" fmla="*/ 45 h 58"/>
                <a:gd name="T4" fmla="*/ 81 w 142"/>
                <a:gd name="T5" fmla="*/ 33 h 58"/>
                <a:gd name="T6" fmla="*/ 142 w 142"/>
                <a:gd name="T7" fmla="*/ 8 h 58"/>
                <a:gd name="T8" fmla="*/ 123 w 142"/>
                <a:gd name="T9" fmla="*/ 0 h 58"/>
                <a:gd name="T10" fmla="*/ 64 w 142"/>
                <a:gd name="T11" fmla="*/ 25 h 58"/>
                <a:gd name="T12" fmla="*/ 36 w 142"/>
                <a:gd name="T13" fmla="*/ 14 h 58"/>
                <a:gd name="T14" fmla="*/ 0 w 142"/>
                <a:gd name="T15" fmla="*/ 58 h 58"/>
                <a:gd name="T16" fmla="*/ 0 60000 65536"/>
                <a:gd name="T17" fmla="*/ 0 60000 65536"/>
                <a:gd name="T18" fmla="*/ 0 60000 65536"/>
                <a:gd name="T19" fmla="*/ 0 60000 65536"/>
                <a:gd name="T20" fmla="*/ 0 60000 65536"/>
                <a:gd name="T21" fmla="*/ 0 60000 65536"/>
                <a:gd name="T22" fmla="*/ 0 60000 65536"/>
                <a:gd name="T23" fmla="*/ 0 60000 65536"/>
                <a:gd name="T24" fmla="*/ 0 w 142"/>
                <a:gd name="T25" fmla="*/ 0 h 58"/>
                <a:gd name="T26" fmla="*/ 142 w 142"/>
                <a:gd name="T27" fmla="*/ 58 h 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2" h="58">
                  <a:moveTo>
                    <a:pt x="0" y="58"/>
                  </a:moveTo>
                  <a:lnTo>
                    <a:pt x="109" y="45"/>
                  </a:lnTo>
                  <a:lnTo>
                    <a:pt x="81" y="33"/>
                  </a:lnTo>
                  <a:lnTo>
                    <a:pt x="142" y="8"/>
                  </a:lnTo>
                  <a:lnTo>
                    <a:pt x="123" y="0"/>
                  </a:lnTo>
                  <a:lnTo>
                    <a:pt x="64" y="25"/>
                  </a:lnTo>
                  <a:lnTo>
                    <a:pt x="36" y="14"/>
                  </a:lnTo>
                  <a:lnTo>
                    <a:pt x="0" y="58"/>
                  </a:lnTo>
                  <a:close/>
                </a:path>
              </a:pathLst>
            </a:custGeom>
            <a:solidFill>
              <a:srgbClr val="FFFFFF"/>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96" name="Freeform 57"/>
            <p:cNvSpPr>
              <a:spLocks noEditPoints="1"/>
            </p:cNvSpPr>
            <p:nvPr/>
          </p:nvSpPr>
          <p:spPr bwMode="auto">
            <a:xfrm>
              <a:off x="2458" y="1424"/>
              <a:ext cx="148" cy="61"/>
            </a:xfrm>
            <a:custGeom>
              <a:avLst/>
              <a:gdLst>
                <a:gd name="T0" fmla="*/ 67 w 148"/>
                <a:gd name="T1" fmla="*/ 25 h 61"/>
                <a:gd name="T2" fmla="*/ 39 w 148"/>
                <a:gd name="T3" fmla="*/ 14 h 61"/>
                <a:gd name="T4" fmla="*/ 0 w 148"/>
                <a:gd name="T5" fmla="*/ 61 h 61"/>
                <a:gd name="T6" fmla="*/ 117 w 148"/>
                <a:gd name="T7" fmla="*/ 45 h 61"/>
                <a:gd name="T8" fmla="*/ 117 w 148"/>
                <a:gd name="T9" fmla="*/ 45 h 61"/>
                <a:gd name="T10" fmla="*/ 89 w 148"/>
                <a:gd name="T11" fmla="*/ 33 h 61"/>
                <a:gd name="T12" fmla="*/ 89 w 148"/>
                <a:gd name="T13" fmla="*/ 33 h 61"/>
                <a:gd name="T14" fmla="*/ 148 w 148"/>
                <a:gd name="T15" fmla="*/ 8 h 61"/>
                <a:gd name="T16" fmla="*/ 126 w 148"/>
                <a:gd name="T17" fmla="*/ 0 h 61"/>
                <a:gd name="T18" fmla="*/ 67 w 148"/>
                <a:gd name="T19" fmla="*/ 25 h 61"/>
                <a:gd name="T20" fmla="*/ 126 w 148"/>
                <a:gd name="T21" fmla="*/ 3 h 61"/>
                <a:gd name="T22" fmla="*/ 126 w 148"/>
                <a:gd name="T23" fmla="*/ 3 h 61"/>
                <a:gd name="T24" fmla="*/ 139 w 148"/>
                <a:gd name="T25" fmla="*/ 8 h 61"/>
                <a:gd name="T26" fmla="*/ 139 w 148"/>
                <a:gd name="T27" fmla="*/ 8 h 61"/>
                <a:gd name="T28" fmla="*/ 81 w 148"/>
                <a:gd name="T29" fmla="*/ 33 h 61"/>
                <a:gd name="T30" fmla="*/ 81 w 148"/>
                <a:gd name="T31" fmla="*/ 33 h 61"/>
                <a:gd name="T32" fmla="*/ 106 w 148"/>
                <a:gd name="T33" fmla="*/ 42 h 61"/>
                <a:gd name="T34" fmla="*/ 106 w 148"/>
                <a:gd name="T35" fmla="*/ 42 h 61"/>
                <a:gd name="T36" fmla="*/ 6 w 148"/>
                <a:gd name="T37" fmla="*/ 56 h 61"/>
                <a:gd name="T38" fmla="*/ 6 w 148"/>
                <a:gd name="T39" fmla="*/ 56 h 61"/>
                <a:gd name="T40" fmla="*/ 39 w 148"/>
                <a:gd name="T41" fmla="*/ 17 h 61"/>
                <a:gd name="T42" fmla="*/ 39 w 148"/>
                <a:gd name="T43" fmla="*/ 17 h 61"/>
                <a:gd name="T44" fmla="*/ 67 w 148"/>
                <a:gd name="T45" fmla="*/ 25 h 61"/>
                <a:gd name="T46" fmla="*/ 126 w 148"/>
                <a:gd name="T47" fmla="*/ 3 h 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48"/>
                <a:gd name="T73" fmla="*/ 0 h 61"/>
                <a:gd name="T74" fmla="*/ 148 w 148"/>
                <a:gd name="T75" fmla="*/ 61 h 6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48" h="61">
                  <a:moveTo>
                    <a:pt x="67" y="25"/>
                  </a:moveTo>
                  <a:lnTo>
                    <a:pt x="39" y="14"/>
                  </a:lnTo>
                  <a:lnTo>
                    <a:pt x="0" y="61"/>
                  </a:lnTo>
                  <a:lnTo>
                    <a:pt x="117" y="45"/>
                  </a:lnTo>
                  <a:lnTo>
                    <a:pt x="89" y="33"/>
                  </a:lnTo>
                  <a:lnTo>
                    <a:pt x="148" y="8"/>
                  </a:lnTo>
                  <a:lnTo>
                    <a:pt x="126" y="0"/>
                  </a:lnTo>
                  <a:lnTo>
                    <a:pt x="67" y="25"/>
                  </a:lnTo>
                  <a:close/>
                  <a:moveTo>
                    <a:pt x="126" y="3"/>
                  </a:moveTo>
                  <a:lnTo>
                    <a:pt x="126" y="3"/>
                  </a:lnTo>
                  <a:lnTo>
                    <a:pt x="139" y="8"/>
                  </a:lnTo>
                  <a:lnTo>
                    <a:pt x="81" y="33"/>
                  </a:lnTo>
                  <a:lnTo>
                    <a:pt x="106" y="42"/>
                  </a:lnTo>
                  <a:lnTo>
                    <a:pt x="6" y="56"/>
                  </a:lnTo>
                  <a:lnTo>
                    <a:pt x="39" y="17"/>
                  </a:lnTo>
                  <a:lnTo>
                    <a:pt x="67" y="25"/>
                  </a:lnTo>
                  <a:lnTo>
                    <a:pt x="126" y="3"/>
                  </a:lnTo>
                  <a:close/>
                </a:path>
              </a:pathLst>
            </a:custGeom>
            <a:solidFill>
              <a:srgbClr val="0000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97" name="Freeform 58"/>
            <p:cNvSpPr>
              <a:spLocks/>
            </p:cNvSpPr>
            <p:nvPr/>
          </p:nvSpPr>
          <p:spPr bwMode="auto">
            <a:xfrm>
              <a:off x="2625" y="1357"/>
              <a:ext cx="142" cy="59"/>
            </a:xfrm>
            <a:custGeom>
              <a:avLst/>
              <a:gdLst>
                <a:gd name="T0" fmla="*/ 142 w 142"/>
                <a:gd name="T1" fmla="*/ 0 h 59"/>
                <a:gd name="T2" fmla="*/ 34 w 142"/>
                <a:gd name="T3" fmla="*/ 17 h 59"/>
                <a:gd name="T4" fmla="*/ 62 w 142"/>
                <a:gd name="T5" fmla="*/ 28 h 59"/>
                <a:gd name="T6" fmla="*/ 0 w 142"/>
                <a:gd name="T7" fmla="*/ 53 h 59"/>
                <a:gd name="T8" fmla="*/ 17 w 142"/>
                <a:gd name="T9" fmla="*/ 59 h 59"/>
                <a:gd name="T10" fmla="*/ 78 w 142"/>
                <a:gd name="T11" fmla="*/ 33 h 59"/>
                <a:gd name="T12" fmla="*/ 106 w 142"/>
                <a:gd name="T13" fmla="*/ 45 h 59"/>
                <a:gd name="T14" fmla="*/ 142 w 142"/>
                <a:gd name="T15" fmla="*/ 0 h 59"/>
                <a:gd name="T16" fmla="*/ 0 60000 65536"/>
                <a:gd name="T17" fmla="*/ 0 60000 65536"/>
                <a:gd name="T18" fmla="*/ 0 60000 65536"/>
                <a:gd name="T19" fmla="*/ 0 60000 65536"/>
                <a:gd name="T20" fmla="*/ 0 60000 65536"/>
                <a:gd name="T21" fmla="*/ 0 60000 65536"/>
                <a:gd name="T22" fmla="*/ 0 60000 65536"/>
                <a:gd name="T23" fmla="*/ 0 60000 65536"/>
                <a:gd name="T24" fmla="*/ 0 w 142"/>
                <a:gd name="T25" fmla="*/ 0 h 59"/>
                <a:gd name="T26" fmla="*/ 142 w 142"/>
                <a:gd name="T27" fmla="*/ 59 h 5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2" h="59">
                  <a:moveTo>
                    <a:pt x="142" y="0"/>
                  </a:moveTo>
                  <a:lnTo>
                    <a:pt x="34" y="17"/>
                  </a:lnTo>
                  <a:lnTo>
                    <a:pt x="62" y="28"/>
                  </a:lnTo>
                  <a:lnTo>
                    <a:pt x="0" y="53"/>
                  </a:lnTo>
                  <a:lnTo>
                    <a:pt x="17" y="59"/>
                  </a:lnTo>
                  <a:lnTo>
                    <a:pt x="78" y="33"/>
                  </a:lnTo>
                  <a:lnTo>
                    <a:pt x="106" y="45"/>
                  </a:lnTo>
                  <a:lnTo>
                    <a:pt x="142" y="0"/>
                  </a:lnTo>
                  <a:close/>
                </a:path>
              </a:pathLst>
            </a:custGeom>
            <a:solidFill>
              <a:srgbClr val="FFFFFF"/>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098" name="Freeform 59"/>
            <p:cNvSpPr>
              <a:spLocks noEditPoints="1"/>
            </p:cNvSpPr>
            <p:nvPr/>
          </p:nvSpPr>
          <p:spPr bwMode="auto">
            <a:xfrm>
              <a:off x="2620" y="1357"/>
              <a:ext cx="150" cy="61"/>
            </a:xfrm>
            <a:custGeom>
              <a:avLst/>
              <a:gdLst>
                <a:gd name="T0" fmla="*/ 147 w 150"/>
                <a:gd name="T1" fmla="*/ 0 h 61"/>
                <a:gd name="T2" fmla="*/ 33 w 150"/>
                <a:gd name="T3" fmla="*/ 14 h 61"/>
                <a:gd name="T4" fmla="*/ 33 w 150"/>
                <a:gd name="T5" fmla="*/ 14 h 61"/>
                <a:gd name="T6" fmla="*/ 61 w 150"/>
                <a:gd name="T7" fmla="*/ 28 h 61"/>
                <a:gd name="T8" fmla="*/ 61 w 150"/>
                <a:gd name="T9" fmla="*/ 28 h 61"/>
                <a:gd name="T10" fmla="*/ 0 w 150"/>
                <a:gd name="T11" fmla="*/ 53 h 61"/>
                <a:gd name="T12" fmla="*/ 22 w 150"/>
                <a:gd name="T13" fmla="*/ 61 h 61"/>
                <a:gd name="T14" fmla="*/ 83 w 150"/>
                <a:gd name="T15" fmla="*/ 36 h 61"/>
                <a:gd name="T16" fmla="*/ 111 w 150"/>
                <a:gd name="T17" fmla="*/ 47 h 61"/>
                <a:gd name="T18" fmla="*/ 150 w 150"/>
                <a:gd name="T19" fmla="*/ 0 h 61"/>
                <a:gd name="T20" fmla="*/ 147 w 150"/>
                <a:gd name="T21" fmla="*/ 0 h 61"/>
                <a:gd name="T22" fmla="*/ 145 w 150"/>
                <a:gd name="T23" fmla="*/ 3 h 61"/>
                <a:gd name="T24" fmla="*/ 145 w 150"/>
                <a:gd name="T25" fmla="*/ 3 h 61"/>
                <a:gd name="T26" fmla="*/ 111 w 150"/>
                <a:gd name="T27" fmla="*/ 45 h 61"/>
                <a:gd name="T28" fmla="*/ 111 w 150"/>
                <a:gd name="T29" fmla="*/ 45 h 61"/>
                <a:gd name="T30" fmla="*/ 83 w 150"/>
                <a:gd name="T31" fmla="*/ 33 h 61"/>
                <a:gd name="T32" fmla="*/ 22 w 150"/>
                <a:gd name="T33" fmla="*/ 59 h 61"/>
                <a:gd name="T34" fmla="*/ 22 w 150"/>
                <a:gd name="T35" fmla="*/ 59 h 61"/>
                <a:gd name="T36" fmla="*/ 8 w 150"/>
                <a:gd name="T37" fmla="*/ 53 h 61"/>
                <a:gd name="T38" fmla="*/ 8 w 150"/>
                <a:gd name="T39" fmla="*/ 53 h 61"/>
                <a:gd name="T40" fmla="*/ 69 w 150"/>
                <a:gd name="T41" fmla="*/ 28 h 61"/>
                <a:gd name="T42" fmla="*/ 69 w 150"/>
                <a:gd name="T43" fmla="*/ 28 h 61"/>
                <a:gd name="T44" fmla="*/ 44 w 150"/>
                <a:gd name="T45" fmla="*/ 17 h 61"/>
                <a:gd name="T46" fmla="*/ 44 w 150"/>
                <a:gd name="T47" fmla="*/ 17 h 61"/>
                <a:gd name="T48" fmla="*/ 145 w 150"/>
                <a:gd name="T49" fmla="*/ 3 h 61"/>
                <a:gd name="T50" fmla="*/ 145 w 150"/>
                <a:gd name="T51" fmla="*/ 3 h 6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0"/>
                <a:gd name="T79" fmla="*/ 0 h 61"/>
                <a:gd name="T80" fmla="*/ 150 w 150"/>
                <a:gd name="T81" fmla="*/ 61 h 6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0" h="61">
                  <a:moveTo>
                    <a:pt x="147" y="0"/>
                  </a:moveTo>
                  <a:lnTo>
                    <a:pt x="33" y="14"/>
                  </a:lnTo>
                  <a:lnTo>
                    <a:pt x="61" y="28"/>
                  </a:lnTo>
                  <a:lnTo>
                    <a:pt x="0" y="53"/>
                  </a:lnTo>
                  <a:lnTo>
                    <a:pt x="22" y="61"/>
                  </a:lnTo>
                  <a:lnTo>
                    <a:pt x="83" y="36"/>
                  </a:lnTo>
                  <a:lnTo>
                    <a:pt x="111" y="47"/>
                  </a:lnTo>
                  <a:lnTo>
                    <a:pt x="150" y="0"/>
                  </a:lnTo>
                  <a:lnTo>
                    <a:pt x="147" y="0"/>
                  </a:lnTo>
                  <a:close/>
                  <a:moveTo>
                    <a:pt x="145" y="3"/>
                  </a:moveTo>
                  <a:lnTo>
                    <a:pt x="145" y="3"/>
                  </a:lnTo>
                  <a:lnTo>
                    <a:pt x="111" y="45"/>
                  </a:lnTo>
                  <a:lnTo>
                    <a:pt x="83" y="33"/>
                  </a:lnTo>
                  <a:lnTo>
                    <a:pt x="22" y="59"/>
                  </a:lnTo>
                  <a:lnTo>
                    <a:pt x="8" y="53"/>
                  </a:lnTo>
                  <a:lnTo>
                    <a:pt x="69" y="28"/>
                  </a:lnTo>
                  <a:lnTo>
                    <a:pt x="44" y="17"/>
                  </a:lnTo>
                  <a:lnTo>
                    <a:pt x="145" y="3"/>
                  </a:lnTo>
                  <a:close/>
                </a:path>
              </a:pathLst>
            </a:custGeom>
            <a:solidFill>
              <a:srgbClr val="000000"/>
            </a:solidFill>
            <a:ln w="9525">
              <a:noFill/>
              <a:round/>
              <a:headEnd/>
              <a:tailEnd/>
            </a:ln>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grpSp>
      <p:sp>
        <p:nvSpPr>
          <p:cNvPr id="1211432" name="Cloud"/>
          <p:cNvSpPr>
            <a:spLocks noChangeAspect="1" noEditPoints="1" noChangeArrowheads="1"/>
          </p:cNvSpPr>
          <p:nvPr/>
        </p:nvSpPr>
        <p:spPr bwMode="auto">
          <a:xfrm>
            <a:off x="10884694" y="2205038"/>
            <a:ext cx="4852988" cy="203120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BE7D">
                  <a:gamma/>
                  <a:tint val="0"/>
                  <a:invGamma/>
                </a:srgbClr>
              </a:gs>
              <a:gs pos="100000">
                <a:srgbClr val="FFBE7D"/>
              </a:gs>
            </a:gsLst>
            <a:path path="rect">
              <a:fillToRect l="50000" t="50000" r="50000" b="50000"/>
            </a:path>
          </a:gradFill>
          <a:ln w="9525">
            <a:solidFill>
              <a:srgbClr val="000000"/>
            </a:solidFill>
            <a:miter lim="800000"/>
            <a:headEnd/>
            <a:tailEnd/>
          </a:ln>
          <a:effectLst>
            <a:outerShdw blurRad="50800" dist="38100" dir="2700000" algn="tl" rotWithShape="0">
              <a:prstClr val="black">
                <a:alpha val="40000"/>
              </a:prstClr>
            </a:outerShdw>
          </a:effectLst>
        </p:spPr>
        <p:txBody>
          <a:bodyPr vert="horz" wrap="square" lIns="137160" tIns="68580" rIns="137160" bIns="68580" numCol="1" anchor="t" anchorCtr="0" compatLnSpc="1">
            <a:prstTxWarp prst="textNoShape">
              <a:avLst/>
            </a:prstTxWarp>
          </a:bodyPr>
          <a:lstStyle/>
          <a:p>
            <a:pPr defTabSz="1371600" fontAlgn="base">
              <a:spcBef>
                <a:spcPct val="0"/>
              </a:spcBef>
              <a:spcAft>
                <a:spcPct val="0"/>
              </a:spcAft>
            </a:pPr>
            <a:endParaRPr lang="en-US" sz="2700">
              <a:latin typeface="Arial" pitchFamily="34" charset="0"/>
              <a:cs typeface="Arial" pitchFamily="34" charset="0"/>
            </a:endParaRPr>
          </a:p>
        </p:txBody>
      </p:sp>
      <p:sp>
        <p:nvSpPr>
          <p:cNvPr id="2101" name="Text Box 41"/>
          <p:cNvSpPr txBox="1">
            <a:spLocks noChangeArrowheads="1"/>
          </p:cNvSpPr>
          <p:nvPr/>
        </p:nvSpPr>
        <p:spPr bwMode="auto">
          <a:xfrm>
            <a:off x="11849466" y="2300288"/>
            <a:ext cx="2921061" cy="1800251"/>
          </a:xfrm>
          <a:prstGeom prst="rect">
            <a:avLst/>
          </a:prstGeom>
          <a:noFill/>
          <a:ln w="9525">
            <a:noFill/>
            <a:miter lim="800000"/>
            <a:headEnd/>
            <a:tailEnd/>
          </a:ln>
        </p:spPr>
        <p:txBody>
          <a:bodyPr vert="horz" wrap="none" lIns="136940" tIns="68460" rIns="136940" bIns="68460" numCol="1" anchor="t" anchorCtr="0" compatLnSpc="1">
            <a:prstTxWarp prst="textNoShape">
              <a:avLst/>
            </a:prstTxWarp>
            <a:spAutoFit/>
          </a:bodyPr>
          <a:lstStyle/>
          <a:p>
            <a:pPr algn="ctr" defTabSz="1371600" fontAlgn="base">
              <a:spcBef>
                <a:spcPct val="0"/>
              </a:spcBef>
              <a:spcAft>
                <a:spcPct val="0"/>
              </a:spcAft>
            </a:pPr>
            <a:r>
              <a:rPr lang="en-US" sz="3600" b="1">
                <a:latin typeface="Arial Narrow" pitchFamily="34" charset="0"/>
                <a:cs typeface="Arial" pitchFamily="34" charset="0"/>
              </a:rPr>
              <a:t>Carrier</a:t>
            </a:r>
            <a:br>
              <a:rPr lang="en-US" sz="3600" b="1">
                <a:latin typeface="Arial Narrow" pitchFamily="34" charset="0"/>
                <a:cs typeface="Arial" pitchFamily="34" charset="0"/>
              </a:rPr>
            </a:br>
            <a:r>
              <a:rPr lang="en-US" sz="3600" b="1">
                <a:latin typeface="Arial Narrow" pitchFamily="34" charset="0"/>
                <a:cs typeface="Arial" pitchFamily="34" charset="0"/>
              </a:rPr>
              <a:t>Voice Services</a:t>
            </a:r>
          </a:p>
          <a:p>
            <a:pPr algn="ctr" defTabSz="1371600" fontAlgn="base">
              <a:spcBef>
                <a:spcPct val="0"/>
              </a:spcBef>
              <a:spcAft>
                <a:spcPct val="0"/>
              </a:spcAft>
            </a:pPr>
            <a:r>
              <a:rPr lang="en-US" sz="3600" b="1">
                <a:latin typeface="Arial Narrow" pitchFamily="34" charset="0"/>
                <a:cs typeface="Arial" pitchFamily="34" charset="0"/>
              </a:rPr>
              <a:t>IP Network</a:t>
            </a:r>
            <a:endParaRPr lang="en-US" sz="2700">
              <a:latin typeface="Arial" pitchFamily="34" charset="0"/>
              <a:cs typeface="Arial" pitchFamily="34" charset="0"/>
            </a:endParaRPr>
          </a:p>
        </p:txBody>
      </p:sp>
      <p:pic>
        <p:nvPicPr>
          <p:cNvPr id="57" name="phone left" descr="man_mtbz_char"/>
          <p:cNvPicPr>
            <a:picLocks noChangeAspect="1" noChangeArrowheads="1"/>
          </p:cNvPicPr>
          <p:nvPr/>
        </p:nvPicPr>
        <p:blipFill>
          <a:blip r:embed="rId5"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077273" y="6709932"/>
            <a:ext cx="1935957" cy="1532334"/>
          </a:xfrm>
          <a:prstGeom prst="rect">
            <a:avLst/>
          </a:prstGeom>
          <a:noFill/>
          <a:ln w="9525">
            <a:noFill/>
            <a:miter lim="800000"/>
            <a:headEnd/>
            <a:tailEnd/>
          </a:ln>
        </p:spPr>
      </p:pic>
      <p:pic>
        <p:nvPicPr>
          <p:cNvPr id="58" name="phone left" descr="man_mtbz_char"/>
          <p:cNvPicPr>
            <a:picLocks noChangeAspect="1" noChangeArrowheads="1"/>
          </p:cNvPicPr>
          <p:nvPr/>
        </p:nvPicPr>
        <p:blipFill>
          <a:blip r:embed="rId5"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1616355" y="8594029"/>
            <a:ext cx="1935957" cy="1532334"/>
          </a:xfrm>
          <a:prstGeom prst="rect">
            <a:avLst/>
          </a:prstGeom>
          <a:noFill/>
          <a:ln w="9525">
            <a:noFill/>
            <a:miter lim="800000"/>
            <a:headEnd/>
            <a:tailEnd/>
          </a:ln>
        </p:spPr>
      </p:pic>
      <p:sp>
        <p:nvSpPr>
          <p:cNvPr id="5" name="TextBox 4"/>
          <p:cNvSpPr txBox="1"/>
          <p:nvPr/>
        </p:nvSpPr>
        <p:spPr>
          <a:xfrm>
            <a:off x="12115801" y="5372101"/>
            <a:ext cx="1519840" cy="507831"/>
          </a:xfrm>
          <a:prstGeom prst="rect">
            <a:avLst/>
          </a:prstGeom>
          <a:noFill/>
        </p:spPr>
        <p:txBody>
          <a:bodyPr wrap="none" rtlCol="0">
            <a:spAutoFit/>
          </a:bodyPr>
          <a:lstStyle/>
          <a:p>
            <a:r>
              <a:rPr lang="en-US" sz="2700" b="1"/>
              <a:t>SIP Trunk</a:t>
            </a:r>
          </a:p>
        </p:txBody>
      </p:sp>
    </p:spTree>
    <p:custDataLst>
      <p:tags r:id="rId1"/>
    </p:custDataLst>
    <p:extLst>
      <p:ext uri="{BB962C8B-B14F-4D97-AF65-F5344CB8AC3E}">
        <p14:creationId xmlns:p14="http://schemas.microsoft.com/office/powerpoint/2010/main" val="1368129347"/>
      </p:ext>
    </p:extLst>
  </p:cSld>
  <p:clrMapOvr>
    <a:masterClrMapping/>
  </p:clrMapOvr>
  <p:transition/>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Hosted VoIP</a:t>
            </a:r>
          </a:p>
        </p:txBody>
      </p:sp>
      <p:sp>
        <p:nvSpPr>
          <p:cNvPr id="4" name="Content Placeholder 3"/>
          <p:cNvSpPr>
            <a:spLocks noGrp="1"/>
          </p:cNvSpPr>
          <p:nvPr>
            <p:ph idx="1"/>
          </p:nvPr>
        </p:nvSpPr>
        <p:spPr/>
        <p:txBody>
          <a:bodyPr/>
          <a:lstStyle/>
          <a:p>
            <a:r>
              <a:rPr lang="en-US" dirty="0"/>
              <a:t>Back to the old model of the intelligence (switch) being in a provider’s network</a:t>
            </a:r>
          </a:p>
          <a:p>
            <a:r>
              <a:rPr lang="en-US" dirty="0"/>
              <a:t>Looks and acts like a land line.</a:t>
            </a:r>
          </a:p>
          <a:p>
            <a:r>
              <a:rPr lang="en-US" dirty="0"/>
              <a:t>Offers many business continuity capabilities</a:t>
            </a:r>
          </a:p>
          <a:p>
            <a:r>
              <a:rPr lang="en-US" dirty="0"/>
              <a:t>Generally lower cost than premises solution for small and medium sized businesses</a:t>
            </a:r>
          </a:p>
          <a:p>
            <a:r>
              <a:rPr lang="en-US" dirty="0"/>
              <a:t>Like old systems most features are lightly used</a:t>
            </a:r>
          </a:p>
          <a:p>
            <a:r>
              <a:rPr lang="en-US" dirty="0"/>
              <a:t>Solutions may use the internet for access or private (trunk) connection</a:t>
            </a:r>
          </a:p>
          <a:p>
            <a:endParaRPr lang="en-US" dirty="0"/>
          </a:p>
        </p:txBody>
      </p:sp>
      <p:sp>
        <p:nvSpPr>
          <p:cNvPr id="56" name="Slide Number Placeholder 55"/>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221</a:t>
            </a:fld>
            <a:endParaRPr lang="en-US">
              <a:solidFill>
                <a:schemeClr val="tx1">
                  <a:lumMod val="50000"/>
                  <a:lumOff val="50000"/>
                </a:schemeClr>
              </a:solidFill>
            </a:endParaRPr>
          </a:p>
        </p:txBody>
      </p:sp>
    </p:spTree>
    <p:custDataLst>
      <p:tags r:id="rId1"/>
    </p:custDataLst>
    <p:extLst>
      <p:ext uri="{BB962C8B-B14F-4D97-AF65-F5344CB8AC3E}">
        <p14:creationId xmlns:p14="http://schemas.microsoft.com/office/powerpoint/2010/main" val="3653709160"/>
      </p:ext>
    </p:extLst>
  </p:cSld>
  <p:clrMapOvr>
    <a:masterClrMapping/>
  </p:clrMapOvr>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Contact Centers Move to the Cloud</a:t>
            </a:r>
          </a:p>
        </p:txBody>
      </p:sp>
      <p:pic>
        <p:nvPicPr>
          <p:cNvPr id="3" name="CC customer"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54480" y="3566160"/>
            <a:ext cx="914400" cy="914400"/>
          </a:xfrm>
          <a:prstGeom prst="rect">
            <a:avLst/>
          </a:prstGeom>
        </p:spPr>
      </p:pic>
      <p:sp>
        <p:nvSpPr>
          <p:cNvPr id="4" name="CC customer text"/>
          <p:cNvSpPr txBox="1"/>
          <p:nvPr/>
        </p:nvSpPr>
        <p:spPr>
          <a:xfrm>
            <a:off x="1257300" y="4572000"/>
            <a:ext cx="1554480" cy="457200"/>
          </a:xfrm>
          <a:prstGeom prst="rect">
            <a:avLst/>
          </a:prstGeom>
          <a:noFill/>
        </p:spPr>
        <p:txBody>
          <a:bodyPr wrap="square" lIns="0" tIns="0" rIns="0" bIns="0" anchor="t">
            <a:spAutoFit/>
          </a:bodyPr>
          <a:lstStyle/>
          <a:p>
            <a:pPr algn="ctr">
              <a:spcAft>
                <a:spcPts val="600"/>
              </a:spcAft>
            </a:pPr>
            <a:r>
              <a:rPr sz="1600" b="1" i="0">
                <a:solidFill>
                  <a:srgbClr val="000000"/>
                </a:solidFill>
                <a:latin typeface="Helvetica Neue"/>
                <a:ea typeface="Helvetica Neue"/>
                <a:cs typeface="Helvetica Neue"/>
              </a:rPr>
              <a:t>Customer</a:t>
            </a:r>
          </a:p>
        </p:txBody>
      </p:sp>
      <p:cxnSp>
        <p:nvCxnSpPr>
          <p:cNvPr id="5" name="CC a1"/>
          <p:cNvCxnSpPr/>
          <p:nvPr/>
        </p:nvCxnSpPr>
        <p:spPr>
          <a:xfrm>
            <a:off x="2651760" y="4023360"/>
            <a:ext cx="2057400" cy="0"/>
          </a:xfrm>
          <a:prstGeom prst="line">
            <a:avLst/>
          </a:prstGeom>
          <a:ln w="3810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CC platform"/>
          <p:cNvSpPr/>
          <p:nvPr/>
        </p:nvSpPr>
        <p:spPr>
          <a:xfrm>
            <a:off x="4754880" y="2697480"/>
            <a:ext cx="5852160" cy="3063240"/>
          </a:xfrm>
          <a:prstGeom prst="roundRect">
            <a:avLst/>
          </a:prstGeom>
          <a:solidFill>
            <a:srgbClr val="EEF2F8"/>
          </a:solidFill>
          <a:ln w="28575">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7" name="CC cloud"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97780" y="2903220"/>
            <a:ext cx="685800" cy="685800"/>
          </a:xfrm>
          <a:prstGeom prst="rect">
            <a:avLst/>
          </a:prstGeom>
        </p:spPr>
      </p:pic>
      <p:sp>
        <p:nvSpPr>
          <p:cNvPr id="8" name="CC platform head"/>
          <p:cNvSpPr txBox="1"/>
          <p:nvPr/>
        </p:nvSpPr>
        <p:spPr>
          <a:xfrm>
            <a:off x="5943600" y="2880360"/>
            <a:ext cx="4480560" cy="731520"/>
          </a:xfrm>
          <a:prstGeom prst="rect">
            <a:avLst/>
          </a:prstGeom>
          <a:noFill/>
        </p:spPr>
        <p:txBody>
          <a:bodyPr wrap="square" lIns="0" tIns="0" rIns="0" bIns="0" anchor="ctr">
            <a:spAutoFit/>
          </a:bodyPr>
          <a:lstStyle/>
          <a:p>
            <a:pPr algn="l">
              <a:spcAft>
                <a:spcPts val="600"/>
              </a:spcAft>
            </a:pPr>
            <a:r>
              <a:rPr sz="2100" b="1" i="0">
                <a:solidFill>
                  <a:srgbClr val="2F75B5"/>
                </a:solidFill>
                <a:latin typeface="Helvetica Neue"/>
                <a:ea typeface="Helvetica Neue"/>
                <a:cs typeface="Helvetica Neue"/>
              </a:rPr>
              <a:t>Cloud contact center</a:t>
            </a:r>
          </a:p>
        </p:txBody>
      </p:sp>
      <p:sp>
        <p:nvSpPr>
          <p:cNvPr id="9" name="CC feat 1"/>
          <p:cNvSpPr/>
          <p:nvPr/>
        </p:nvSpPr>
        <p:spPr>
          <a:xfrm>
            <a:off x="5029200" y="3840480"/>
            <a:ext cx="256032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0" i="0">
                <a:solidFill>
                  <a:srgbClr val="000000"/>
                </a:solidFill>
                <a:latin typeface="Helvetica Neue"/>
                <a:ea typeface="Helvetica Neue"/>
                <a:cs typeface="Helvetica Neue"/>
              </a:rPr>
              <a:t>Phone menu (IVR)</a:t>
            </a:r>
          </a:p>
        </p:txBody>
      </p:sp>
      <p:sp>
        <p:nvSpPr>
          <p:cNvPr id="10" name="CC feat 2"/>
          <p:cNvSpPr/>
          <p:nvPr/>
        </p:nvSpPr>
        <p:spPr>
          <a:xfrm>
            <a:off x="7726679" y="3840480"/>
            <a:ext cx="256032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0" i="0">
                <a:solidFill>
                  <a:srgbClr val="000000"/>
                </a:solidFill>
                <a:latin typeface="Helvetica Neue"/>
                <a:ea typeface="Helvetica Neue"/>
                <a:cs typeface="Helvetica Neue"/>
              </a:rPr>
              <a:t>Queues and routing</a:t>
            </a:r>
          </a:p>
        </p:txBody>
      </p:sp>
      <p:sp>
        <p:nvSpPr>
          <p:cNvPr id="11" name="CC feat 3"/>
          <p:cNvSpPr/>
          <p:nvPr/>
        </p:nvSpPr>
        <p:spPr>
          <a:xfrm>
            <a:off x="5029200" y="4709160"/>
            <a:ext cx="256032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0" i="0">
                <a:solidFill>
                  <a:srgbClr val="000000"/>
                </a:solidFill>
                <a:latin typeface="Helvetica Neue"/>
                <a:ea typeface="Helvetica Neue"/>
                <a:cs typeface="Helvetica Neue"/>
              </a:rPr>
              <a:t>Call recording</a:t>
            </a:r>
          </a:p>
        </p:txBody>
      </p:sp>
      <p:sp>
        <p:nvSpPr>
          <p:cNvPr id="12" name="CC feat 4"/>
          <p:cNvSpPr/>
          <p:nvPr/>
        </p:nvSpPr>
        <p:spPr>
          <a:xfrm>
            <a:off x="7726679" y="4709160"/>
            <a:ext cx="256032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0" i="0">
                <a:solidFill>
                  <a:srgbClr val="000000"/>
                </a:solidFill>
                <a:latin typeface="Helvetica Neue"/>
                <a:ea typeface="Helvetica Neue"/>
                <a:cs typeface="Helvetica Neue"/>
              </a:rPr>
              <a:t>AI agents</a:t>
            </a:r>
          </a:p>
        </p:txBody>
      </p:sp>
      <p:cxnSp>
        <p:nvCxnSpPr>
          <p:cNvPr id="13" name="CC agent arrow 1"/>
          <p:cNvCxnSpPr/>
          <p:nvPr/>
        </p:nvCxnSpPr>
        <p:spPr>
          <a:xfrm flipV="1">
            <a:off x="10652760" y="3154680"/>
            <a:ext cx="1234440" cy="1051560"/>
          </a:xfrm>
          <a:prstGeom prst="line">
            <a:avLst/>
          </a:prstGeom>
          <a:ln w="3175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4" name="CC agent 1"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024360" y="2834640"/>
            <a:ext cx="640080" cy="640080"/>
          </a:xfrm>
          <a:prstGeom prst="rect">
            <a:avLst/>
          </a:prstGeom>
        </p:spPr>
      </p:pic>
      <p:sp>
        <p:nvSpPr>
          <p:cNvPr id="15" name="CC agent 1 text"/>
          <p:cNvSpPr txBox="1"/>
          <p:nvPr/>
        </p:nvSpPr>
        <p:spPr>
          <a:xfrm>
            <a:off x="12801600" y="2880360"/>
            <a:ext cx="1828800" cy="548640"/>
          </a:xfrm>
          <a:prstGeom prst="rect">
            <a:avLst/>
          </a:prstGeom>
          <a:noFill/>
        </p:spPr>
        <p:txBody>
          <a:bodyPr wrap="square" lIns="0" tIns="0" rIns="0" bIns="0" anchor="ctr">
            <a:spAutoFit/>
          </a:bodyPr>
          <a:lstStyle/>
          <a:p>
            <a:pPr algn="l">
              <a:spcAft>
                <a:spcPts val="600"/>
              </a:spcAft>
            </a:pPr>
            <a:r>
              <a:rPr sz="1600" b="1" i="0">
                <a:solidFill>
                  <a:srgbClr val="000000"/>
                </a:solidFill>
                <a:latin typeface="Helvetica Neue"/>
                <a:ea typeface="Helvetica Neue"/>
                <a:cs typeface="Helvetica Neue"/>
              </a:rPr>
              <a:t>Branch</a:t>
            </a:r>
          </a:p>
        </p:txBody>
      </p:sp>
      <p:cxnSp>
        <p:nvCxnSpPr>
          <p:cNvPr id="16" name="CC agent arrow 2"/>
          <p:cNvCxnSpPr/>
          <p:nvPr/>
        </p:nvCxnSpPr>
        <p:spPr>
          <a:xfrm>
            <a:off x="10652760" y="4206240"/>
            <a:ext cx="1234440" cy="0"/>
          </a:xfrm>
          <a:prstGeom prst="line">
            <a:avLst/>
          </a:prstGeom>
          <a:ln w="3175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7" name="CC agent 2"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024360" y="3886200"/>
            <a:ext cx="640080" cy="640080"/>
          </a:xfrm>
          <a:prstGeom prst="rect">
            <a:avLst/>
          </a:prstGeom>
        </p:spPr>
      </p:pic>
      <p:sp>
        <p:nvSpPr>
          <p:cNvPr id="18" name="CC agent 2 text"/>
          <p:cNvSpPr txBox="1"/>
          <p:nvPr/>
        </p:nvSpPr>
        <p:spPr>
          <a:xfrm>
            <a:off x="12801600" y="3931920"/>
            <a:ext cx="1828800" cy="548640"/>
          </a:xfrm>
          <a:prstGeom prst="rect">
            <a:avLst/>
          </a:prstGeom>
          <a:noFill/>
        </p:spPr>
        <p:txBody>
          <a:bodyPr wrap="square" lIns="0" tIns="0" rIns="0" bIns="0" anchor="ctr">
            <a:spAutoFit/>
          </a:bodyPr>
          <a:lstStyle/>
          <a:p>
            <a:pPr algn="l">
              <a:spcAft>
                <a:spcPts val="600"/>
              </a:spcAft>
            </a:pPr>
            <a:r>
              <a:rPr sz="1600" b="1" i="0">
                <a:solidFill>
                  <a:srgbClr val="000000"/>
                </a:solidFill>
                <a:latin typeface="Helvetica Neue"/>
                <a:ea typeface="Helvetica Neue"/>
                <a:cs typeface="Helvetica Neue"/>
              </a:rPr>
              <a:t>Ops center</a:t>
            </a:r>
          </a:p>
        </p:txBody>
      </p:sp>
      <p:cxnSp>
        <p:nvCxnSpPr>
          <p:cNvPr id="19" name="CC agent arrow 3"/>
          <p:cNvCxnSpPr/>
          <p:nvPr/>
        </p:nvCxnSpPr>
        <p:spPr>
          <a:xfrm>
            <a:off x="10652760" y="4206240"/>
            <a:ext cx="1234440" cy="1051560"/>
          </a:xfrm>
          <a:prstGeom prst="line">
            <a:avLst/>
          </a:prstGeom>
          <a:ln w="31750">
            <a:solidFill>
              <a:srgbClr val="ED7D31"/>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20" name="CC agent 3"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024360" y="4937760"/>
            <a:ext cx="640080" cy="640080"/>
          </a:xfrm>
          <a:prstGeom prst="rect">
            <a:avLst/>
          </a:prstGeom>
        </p:spPr>
      </p:pic>
      <p:sp>
        <p:nvSpPr>
          <p:cNvPr id="21" name="CC agent 3 text"/>
          <p:cNvSpPr txBox="1"/>
          <p:nvPr/>
        </p:nvSpPr>
        <p:spPr>
          <a:xfrm>
            <a:off x="12801600" y="4983480"/>
            <a:ext cx="1828800" cy="548640"/>
          </a:xfrm>
          <a:prstGeom prst="rect">
            <a:avLst/>
          </a:prstGeom>
          <a:noFill/>
        </p:spPr>
        <p:txBody>
          <a:bodyPr wrap="square" lIns="0" tIns="0" rIns="0" bIns="0" anchor="ctr">
            <a:spAutoFit/>
          </a:bodyPr>
          <a:lstStyle/>
          <a:p>
            <a:pPr algn="l">
              <a:spcAft>
                <a:spcPts val="600"/>
              </a:spcAft>
            </a:pPr>
            <a:r>
              <a:rPr sz="1600" b="1" i="0">
                <a:solidFill>
                  <a:srgbClr val="000000"/>
                </a:solidFill>
                <a:latin typeface="Helvetica Neue"/>
                <a:ea typeface="Helvetica Neue"/>
                <a:cs typeface="Helvetica Neue"/>
              </a:rPr>
              <a:t>Home</a:t>
            </a:r>
          </a:p>
        </p:txBody>
      </p:sp>
      <p:sp>
        <p:nvSpPr>
          <p:cNvPr id="22" name="CC agents label"/>
          <p:cNvSpPr txBox="1"/>
          <p:nvPr/>
        </p:nvSpPr>
        <p:spPr>
          <a:xfrm>
            <a:off x="11887200" y="5852160"/>
            <a:ext cx="2926080" cy="365760"/>
          </a:xfrm>
          <a:prstGeom prst="rect">
            <a:avLst/>
          </a:prstGeom>
          <a:noFill/>
        </p:spPr>
        <p:txBody>
          <a:bodyPr wrap="square" lIns="0" tIns="0" rIns="0" bIns="0" anchor="t">
            <a:spAutoFit/>
          </a:bodyPr>
          <a:lstStyle/>
          <a:p>
            <a:pPr algn="l">
              <a:spcAft>
                <a:spcPts val="600"/>
              </a:spcAft>
            </a:pPr>
            <a:r>
              <a:rPr sz="1400" b="0" i="1">
                <a:solidFill>
                  <a:srgbClr val="ED7D31"/>
                </a:solidFill>
                <a:latin typeface="Helvetica Neue"/>
                <a:ea typeface="Helvetica Neue"/>
                <a:cs typeface="Helvetica Neue"/>
              </a:rPr>
              <a:t>Agents, over the internet</a:t>
            </a:r>
          </a:p>
        </p:txBody>
      </p:sp>
      <p:sp>
        <p:nvSpPr>
          <p:cNvPr id="23" name="CC crm"/>
          <p:cNvSpPr/>
          <p:nvPr/>
        </p:nvSpPr>
        <p:spPr>
          <a:xfrm>
            <a:off x="14996159" y="3108960"/>
            <a:ext cx="2034540" cy="21945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4" name="CC crm text"/>
          <p:cNvSpPr txBox="1"/>
          <p:nvPr/>
        </p:nvSpPr>
        <p:spPr>
          <a:xfrm>
            <a:off x="15087600" y="3154680"/>
            <a:ext cx="1828800" cy="2103120"/>
          </a:xfrm>
          <a:prstGeom prst="rect">
            <a:avLst/>
          </a:prstGeom>
          <a:noFill/>
        </p:spPr>
        <p:txBody>
          <a:bodyPr wrap="square" lIns="0" tIns="0" rIns="0" bIns="0" anchor="ctr">
            <a:spAutoFit/>
          </a:bodyPr>
          <a:lstStyle/>
          <a:p>
            <a:pPr algn="ctr">
              <a:spcAft>
                <a:spcPts val="200"/>
              </a:spcAft>
            </a:pPr>
            <a:r>
              <a:rPr sz="1700" b="1" i="0">
                <a:solidFill>
                  <a:srgbClr val="000000"/>
                </a:solidFill>
                <a:latin typeface="Helvetica Neue"/>
                <a:ea typeface="Helvetica Neue"/>
                <a:cs typeface="Helvetica Neue"/>
              </a:rPr>
              <a:t>CRM and core</a:t>
            </a:r>
          </a:p>
          <a:p>
            <a:pPr algn="ctr">
              <a:spcAft>
                <a:spcPts val="200"/>
              </a:spcAft>
            </a:pPr>
            <a:r>
              <a:rPr sz="1400" b="0" i="0">
                <a:solidFill>
                  <a:srgbClr val="404040"/>
                </a:solidFill>
                <a:latin typeface="Helvetica Neue"/>
                <a:ea typeface="Helvetica Neue"/>
                <a:cs typeface="Helvetica Neue"/>
              </a:rPr>
              <a:t>customer record pops up for the agent</a:t>
            </a:r>
          </a:p>
        </p:txBody>
      </p:sp>
      <p:sp>
        <p:nvSpPr>
          <p:cNvPr id="25" name="CC row 1"/>
          <p:cNvSpPr/>
          <p:nvPr/>
        </p:nvSpPr>
        <p:spPr>
          <a:xfrm>
            <a:off x="1257300" y="6400800"/>
            <a:ext cx="3703320" cy="2971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6" name="CC row 1 text"/>
          <p:cNvSpPr txBox="1"/>
          <p:nvPr/>
        </p:nvSpPr>
        <p:spPr>
          <a:xfrm>
            <a:off x="1513332" y="6601968"/>
            <a:ext cx="3191256" cy="260604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Voice quality</a:t>
            </a:r>
          </a:p>
          <a:p>
            <a:pPr algn="l">
              <a:spcAft>
                <a:spcPts val="700"/>
              </a:spcAft>
            </a:pPr>
            <a:r>
              <a:rPr sz="1700" b="0" i="0">
                <a:solidFill>
                  <a:srgbClr val="000000"/>
                </a:solidFill>
                <a:latin typeface="Helvetica Neue"/>
                <a:ea typeface="Helvetica Neue"/>
                <a:cs typeface="Helvetica Neue"/>
              </a:rPr>
              <a:t>Depends on the internet path to every agent</a:t>
            </a:r>
          </a:p>
        </p:txBody>
      </p:sp>
      <p:sp>
        <p:nvSpPr>
          <p:cNvPr id="27" name="CC row 2"/>
          <p:cNvSpPr/>
          <p:nvPr/>
        </p:nvSpPr>
        <p:spPr>
          <a:xfrm>
            <a:off x="5280659" y="6400800"/>
            <a:ext cx="3703320" cy="2971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8" name="CC row 2 text"/>
          <p:cNvSpPr txBox="1"/>
          <p:nvPr/>
        </p:nvSpPr>
        <p:spPr>
          <a:xfrm>
            <a:off x="5536692" y="6601968"/>
            <a:ext cx="3191256" cy="260604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Recordings</a:t>
            </a:r>
          </a:p>
          <a:p>
            <a:pPr algn="l">
              <a:spcAft>
                <a:spcPts val="700"/>
              </a:spcAft>
            </a:pPr>
            <a:r>
              <a:rPr sz="1700" b="0" i="0">
                <a:solidFill>
                  <a:srgbClr val="000000"/>
                </a:solidFill>
                <a:latin typeface="Helvetica Neue"/>
                <a:ea typeface="Helvetica Neue"/>
                <a:cs typeface="Helvetica Neue"/>
              </a:rPr>
              <a:t>Customer information, stored in the vendor's cloud</a:t>
            </a:r>
          </a:p>
        </p:txBody>
      </p:sp>
      <p:sp>
        <p:nvSpPr>
          <p:cNvPr id="29" name="CC row 3"/>
          <p:cNvSpPr/>
          <p:nvPr/>
        </p:nvSpPr>
        <p:spPr>
          <a:xfrm>
            <a:off x="9304019" y="6400800"/>
            <a:ext cx="3703320" cy="2971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0" name="CC row 3 text"/>
          <p:cNvSpPr txBox="1"/>
          <p:nvPr/>
        </p:nvSpPr>
        <p:spPr>
          <a:xfrm>
            <a:off x="9560051" y="6601968"/>
            <a:ext cx="3191256" cy="260604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Caller authentication</a:t>
            </a:r>
          </a:p>
          <a:p>
            <a:pPr algn="l">
              <a:spcAft>
                <a:spcPts val="700"/>
              </a:spcAft>
            </a:pPr>
            <a:r>
              <a:rPr sz="1700" b="0" i="0">
                <a:solidFill>
                  <a:srgbClr val="000000"/>
                </a:solidFill>
                <a:latin typeface="Helvetica Neue"/>
                <a:ea typeface="Helvetica Neue"/>
                <a:cs typeface="Helvetica Neue"/>
              </a:rPr>
              <a:t>The phone menu can move money: a fraud target</a:t>
            </a:r>
          </a:p>
        </p:txBody>
      </p:sp>
      <p:sp>
        <p:nvSpPr>
          <p:cNvPr id="31" name="CC row 4"/>
          <p:cNvSpPr/>
          <p:nvPr/>
        </p:nvSpPr>
        <p:spPr>
          <a:xfrm>
            <a:off x="13327380" y="6400800"/>
            <a:ext cx="3703320" cy="2971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2" name="CC row 4 text"/>
          <p:cNvSpPr txBox="1"/>
          <p:nvPr/>
        </p:nvSpPr>
        <p:spPr>
          <a:xfrm>
            <a:off x="13583411" y="6601968"/>
            <a:ext cx="3191256" cy="260604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AI on both sides</a:t>
            </a:r>
          </a:p>
          <a:p>
            <a:pPr algn="l">
              <a:spcAft>
                <a:spcPts val="700"/>
              </a:spcAft>
            </a:pPr>
            <a:r>
              <a:rPr sz="1700" b="0" i="0">
                <a:solidFill>
                  <a:srgbClr val="000000"/>
                </a:solidFill>
                <a:latin typeface="Helvetica Neue"/>
                <a:ea typeface="Helvetica Neue"/>
                <a:cs typeface="Helvetica Neue"/>
              </a:rPr>
              <a:t>AI agents answering; cloned voices calling</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82FDD-4A60-EC6D-F64B-B96873E8AC72}"/>
              </a:ext>
            </a:extLst>
          </p:cNvPr>
          <p:cNvSpPr>
            <a:spLocks noGrp="1"/>
          </p:cNvSpPr>
          <p:nvPr>
            <p:ph type="title"/>
          </p:nvPr>
        </p:nvSpPr>
        <p:spPr/>
        <p:txBody>
          <a:bodyPr/>
          <a:lstStyle/>
          <a:p>
            <a:r>
              <a:rPr lang="en-US"/>
              <a:t>VoIP Network Considerations</a:t>
            </a:r>
          </a:p>
        </p:txBody>
      </p:sp>
      <p:sp>
        <p:nvSpPr>
          <p:cNvPr id="3" name="Content Placeholder 2">
            <a:extLst>
              <a:ext uri="{FF2B5EF4-FFF2-40B4-BE49-F238E27FC236}">
                <a16:creationId xmlns:a16="http://schemas.microsoft.com/office/drawing/2014/main" id="{FB8E560B-B4D0-13DC-DE4D-B7792A59237F}"/>
              </a:ext>
            </a:extLst>
          </p:cNvPr>
          <p:cNvSpPr>
            <a:spLocks noGrp="1"/>
          </p:cNvSpPr>
          <p:nvPr>
            <p:ph idx="1"/>
          </p:nvPr>
        </p:nvSpPr>
        <p:spPr/>
        <p:txBody>
          <a:bodyPr/>
          <a:lstStyle/>
          <a:p>
            <a:r>
              <a:rPr lang="en-US"/>
              <a:t>Does the VoIP traffic share a LAN with data?</a:t>
            </a:r>
          </a:p>
          <a:p>
            <a:r>
              <a:rPr lang="en-US"/>
              <a:t>How is voice quality ensured?</a:t>
            </a:r>
          </a:p>
          <a:p>
            <a:r>
              <a:rPr lang="en-US"/>
              <a:t>What type of connection is used to connect to the PSTN?</a:t>
            </a:r>
          </a:p>
          <a:p>
            <a:r>
              <a:rPr lang="en-US"/>
              <a:t>If this connection goes down, what happens to the ability to make and receive calls?</a:t>
            </a:r>
          </a:p>
          <a:p>
            <a:r>
              <a:rPr lang="en-US"/>
              <a:t>Do employees have portal access to manage their phone service? If so, what access controls are in place for them?</a:t>
            </a:r>
          </a:p>
          <a:p>
            <a:r>
              <a:rPr lang="en-US"/>
              <a:t>What bank functions may be impaired by the loss of telephone services?</a:t>
            </a:r>
          </a:p>
          <a:p>
            <a:endParaRPr lang="en-US"/>
          </a:p>
        </p:txBody>
      </p:sp>
    </p:spTree>
    <p:extLst>
      <p:ext uri="{BB962C8B-B14F-4D97-AF65-F5344CB8AC3E}">
        <p14:creationId xmlns:p14="http://schemas.microsoft.com/office/powerpoint/2010/main" val="2749305314"/>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DED32-D49A-4612-85EB-9413DFECEED5}"/>
              </a:ext>
            </a:extLst>
          </p:cNvPr>
          <p:cNvSpPr>
            <a:spLocks noGrp="1"/>
          </p:cNvSpPr>
          <p:nvPr>
            <p:ph type="title"/>
          </p:nvPr>
        </p:nvSpPr>
        <p:spPr/>
        <p:txBody>
          <a:bodyPr/>
          <a:lstStyle/>
          <a:p>
            <a:r>
              <a:rPr lang="en-US"/>
              <a:t>Voice Security Considerations</a:t>
            </a:r>
          </a:p>
        </p:txBody>
      </p:sp>
      <p:sp>
        <p:nvSpPr>
          <p:cNvPr id="3" name="Content Placeholder 2">
            <a:extLst>
              <a:ext uri="{FF2B5EF4-FFF2-40B4-BE49-F238E27FC236}">
                <a16:creationId xmlns:a16="http://schemas.microsoft.com/office/drawing/2014/main" id="{59D8C13E-9B22-9657-DC3D-6226CCC07447}"/>
              </a:ext>
            </a:extLst>
          </p:cNvPr>
          <p:cNvSpPr>
            <a:spLocks noGrp="1"/>
          </p:cNvSpPr>
          <p:nvPr>
            <p:ph idx="1"/>
          </p:nvPr>
        </p:nvSpPr>
        <p:spPr/>
        <p:txBody>
          <a:bodyPr/>
          <a:lstStyle/>
          <a:p>
            <a:r>
              <a:rPr lang="en-US"/>
              <a:t>Management access and controls</a:t>
            </a:r>
          </a:p>
          <a:p>
            <a:r>
              <a:rPr lang="en-US"/>
              <a:t>Patching</a:t>
            </a:r>
          </a:p>
          <a:p>
            <a:r>
              <a:rPr lang="en-US"/>
              <a:t>Separate LAN zone</a:t>
            </a:r>
          </a:p>
          <a:p>
            <a:r>
              <a:rPr lang="en-US"/>
              <a:t>Encryption</a:t>
            </a:r>
          </a:p>
          <a:p>
            <a:r>
              <a:rPr lang="en-US"/>
              <a:t>On premises or hosted</a:t>
            </a:r>
          </a:p>
          <a:p>
            <a:r>
              <a:rPr lang="en-US"/>
              <a:t>Connection to provider</a:t>
            </a:r>
          </a:p>
          <a:p>
            <a:pPr lvl="1"/>
            <a:r>
              <a:rPr lang="en-US"/>
              <a:t>Private</a:t>
            </a:r>
          </a:p>
          <a:p>
            <a:pPr lvl="1"/>
            <a:r>
              <a:rPr lang="en-US"/>
              <a:t>Internet</a:t>
            </a:r>
          </a:p>
          <a:p>
            <a:r>
              <a:rPr lang="en-US"/>
              <a:t>Business continuity</a:t>
            </a:r>
          </a:p>
          <a:p>
            <a:endParaRPr lang="en-US"/>
          </a:p>
          <a:p>
            <a:endParaRPr lang="en-US"/>
          </a:p>
        </p:txBody>
      </p:sp>
      <p:pic>
        <p:nvPicPr>
          <p:cNvPr id="4" name="Picture Placeholder 3">
            <a:extLst>
              <a:ext uri="{FF2B5EF4-FFF2-40B4-BE49-F238E27FC236}">
                <a16:creationId xmlns:a16="http://schemas.microsoft.com/office/drawing/2014/main" id="{6C5D0D5E-4991-E61B-E6AD-1FD2511C455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051" t="46653" r="68756" b="10564"/>
          <a:stretch/>
        </p:blipFill>
        <p:spPr>
          <a:xfrm>
            <a:off x="13436600" y="3225800"/>
            <a:ext cx="4724401" cy="4203700"/>
          </a:xfrm>
          <a:prstGeom prst="rect">
            <a:avLst/>
          </a:prstGeom>
        </p:spPr>
      </p:pic>
    </p:spTree>
    <p:extLst>
      <p:ext uri="{BB962C8B-B14F-4D97-AF65-F5344CB8AC3E}">
        <p14:creationId xmlns:p14="http://schemas.microsoft.com/office/powerpoint/2010/main" val="2201587017"/>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Chapter 28: Internet of Things</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Internet of Things: Some Sample Things</a:t>
            </a:r>
          </a:p>
        </p:txBody>
      </p:sp>
      <p:sp>
        <p:nvSpPr>
          <p:cNvPr id="8" name="Content Placeholder 7"/>
          <p:cNvSpPr>
            <a:spLocks noGrp="1"/>
          </p:cNvSpPr>
          <p:nvPr>
            <p:ph idx="1"/>
          </p:nvPr>
        </p:nvSpPr>
        <p:spPr>
          <a:xfrm>
            <a:off x="6172529" y="2841172"/>
            <a:ext cx="4800600" cy="6967198"/>
          </a:xfrm>
        </p:spPr>
        <p:txBody>
          <a:bodyPr/>
          <a:lstStyle/>
          <a:p>
            <a:r>
              <a:rPr lang="en-US"/>
              <a:t>Automation</a:t>
            </a:r>
          </a:p>
          <a:p>
            <a:r>
              <a:rPr lang="en-US"/>
              <a:t>Communication</a:t>
            </a:r>
          </a:p>
          <a:p>
            <a:r>
              <a:rPr lang="en-US"/>
              <a:t>Monitoring</a:t>
            </a:r>
          </a:p>
          <a:p>
            <a:r>
              <a:rPr lang="en-US"/>
              <a:t>Transportation</a:t>
            </a:r>
          </a:p>
          <a:p>
            <a:r>
              <a:rPr lang="en-US"/>
              <a:t>Management</a:t>
            </a:r>
          </a:p>
          <a:p>
            <a:r>
              <a:rPr lang="en-US"/>
              <a:t>Intelligence?</a:t>
            </a:r>
          </a:p>
          <a:p>
            <a:endParaRPr lang="en-US"/>
          </a:p>
        </p:txBody>
      </p:sp>
      <p:sp>
        <p:nvSpPr>
          <p:cNvPr id="3" name="Slide Number Placeholder 2"/>
          <p:cNvSpPr>
            <a:spLocks noGrp="1"/>
          </p:cNvSpPr>
          <p:nvPr>
            <p:ph type="sldNum" sz="quarter" idx="12"/>
          </p:nvPr>
        </p:nvSpPr>
        <p:spPr>
          <a:prstGeom prst="rect">
            <a:avLst/>
          </a:prstGeom>
        </p:spPr>
        <p:txBody>
          <a:bodyPr/>
          <a:lstStyle/>
          <a:p>
            <a:fld id="{52B67DA5-9DD9-4BCA-8370-9CA784C1DE92}" type="slidenum">
              <a:rPr lang="en-US" smtClean="0"/>
              <a:pPr/>
              <a:t>226</a:t>
            </a:fld>
            <a:endParaRPr lang="en-US"/>
          </a:p>
        </p:txBody>
      </p:sp>
      <p:pic>
        <p:nvPicPr>
          <p:cNvPr id="5" name="Picture 4"/>
          <p:cNvPicPr>
            <a:picLocks noChangeAspect="1"/>
          </p:cNvPicPr>
          <p:nvPr/>
        </p:nvPicPr>
        <p:blipFill>
          <a:blip r:embed="rId4"/>
          <a:stretch>
            <a:fillRect/>
          </a:stretch>
        </p:blipFill>
        <p:spPr>
          <a:xfrm>
            <a:off x="2628900" y="6057348"/>
            <a:ext cx="3200400" cy="3772452"/>
          </a:xfrm>
          <a:prstGeom prst="rect">
            <a:avLst/>
          </a:prstGeom>
        </p:spPr>
      </p:pic>
      <p:pic>
        <p:nvPicPr>
          <p:cNvPr id="6" name="Picture 5"/>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1954204" y="6057901"/>
            <a:ext cx="3429000" cy="3428999"/>
          </a:xfrm>
          <a:prstGeom prst="rect">
            <a:avLst/>
          </a:prstGeom>
        </p:spPr>
      </p:pic>
      <p:pic>
        <p:nvPicPr>
          <p:cNvPr id="9" name="Picture 8">
            <a:extLst>
              <a:ext uri="{FF2B5EF4-FFF2-40B4-BE49-F238E27FC236}">
                <a16:creationId xmlns:a16="http://schemas.microsoft.com/office/drawing/2014/main" id="{5315AD0F-71A8-8340-8358-AFF3FB27FEAF}"/>
              </a:ext>
            </a:extLst>
          </p:cNvPr>
          <p:cNvPicPr>
            <a:picLocks noChangeAspect="1"/>
          </p:cNvPicPr>
          <p:nvPr/>
        </p:nvPicPr>
        <p:blipFill>
          <a:blip r:embed="rId6"/>
          <a:stretch>
            <a:fillRect/>
          </a:stretch>
        </p:blipFill>
        <p:spPr>
          <a:xfrm>
            <a:off x="10714950" y="2592451"/>
            <a:ext cx="4477425" cy="1750949"/>
          </a:xfrm>
          <a:prstGeom prst="rect">
            <a:avLst/>
          </a:prstGeom>
        </p:spPr>
      </p:pic>
      <p:pic>
        <p:nvPicPr>
          <p:cNvPr id="10" name="Picture 9">
            <a:extLst>
              <a:ext uri="{FF2B5EF4-FFF2-40B4-BE49-F238E27FC236}">
                <a16:creationId xmlns:a16="http://schemas.microsoft.com/office/drawing/2014/main" id="{6C743426-1E8D-D941-934B-50D59F24EB26}"/>
              </a:ext>
            </a:extLst>
          </p:cNvPr>
          <p:cNvPicPr>
            <a:picLocks noChangeAspect="1"/>
          </p:cNvPicPr>
          <p:nvPr/>
        </p:nvPicPr>
        <p:blipFill>
          <a:blip r:embed="rId7"/>
          <a:stretch>
            <a:fillRect/>
          </a:stretch>
        </p:blipFill>
        <p:spPr>
          <a:xfrm>
            <a:off x="2867025" y="2315399"/>
            <a:ext cx="1981200" cy="2305050"/>
          </a:xfrm>
          <a:prstGeom prst="rect">
            <a:avLst/>
          </a:prstGeom>
        </p:spPr>
      </p:pic>
    </p:spTree>
    <p:custDataLst>
      <p:tags r:id="rId1"/>
    </p:custDataLst>
    <p:extLst>
      <p:ext uri="{BB962C8B-B14F-4D97-AF65-F5344CB8AC3E}">
        <p14:creationId xmlns:p14="http://schemas.microsoft.com/office/powerpoint/2010/main" val="3411842603"/>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IoT in the Bank: Cameras, HVAC, Door Controls, ATMs</a:t>
            </a:r>
          </a:p>
        </p:txBody>
      </p:sp>
      <p:sp>
        <p:nvSpPr>
          <p:cNvPr id="3" name="Dev 1"/>
          <p:cNvSpPr/>
          <p:nvPr/>
        </p:nvSpPr>
        <p:spPr>
          <a:xfrm>
            <a:off x="1257300" y="2697480"/>
            <a:ext cx="3703320" cy="17373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4" name="Dev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31620" y="3154680"/>
            <a:ext cx="822960" cy="822960"/>
          </a:xfrm>
          <a:prstGeom prst="rect">
            <a:avLst/>
          </a:prstGeom>
        </p:spPr>
      </p:pic>
      <p:sp>
        <p:nvSpPr>
          <p:cNvPr id="5" name="Dev 1 text"/>
          <p:cNvSpPr txBox="1"/>
          <p:nvPr/>
        </p:nvSpPr>
        <p:spPr>
          <a:xfrm>
            <a:off x="2537460" y="2880360"/>
            <a:ext cx="2286000" cy="1371600"/>
          </a:xfrm>
          <a:prstGeom prst="rect">
            <a:avLst/>
          </a:prstGeom>
          <a:noFill/>
        </p:spPr>
        <p:txBody>
          <a:bodyPr wrap="square" lIns="0" tIns="0" rIns="0" bIns="0" anchor="ctr">
            <a:spAutoFit/>
          </a:bodyPr>
          <a:lstStyle/>
          <a:p>
            <a:pPr algn="l">
              <a:spcAft>
                <a:spcPts val="300"/>
              </a:spcAft>
            </a:pPr>
            <a:r>
              <a:rPr sz="1900" b="1" i="0">
                <a:solidFill>
                  <a:srgbClr val="000000"/>
                </a:solidFill>
                <a:latin typeface="Helvetica Neue"/>
                <a:ea typeface="Helvetica Neue"/>
                <a:cs typeface="Helvetica Neue"/>
              </a:rPr>
              <a:t>Cameras</a:t>
            </a:r>
          </a:p>
          <a:p>
            <a:pPr algn="l">
              <a:spcAft>
                <a:spcPts val="300"/>
              </a:spcAft>
            </a:pPr>
            <a:r>
              <a:rPr sz="1500" b="0" i="0">
                <a:solidFill>
                  <a:srgbClr val="ED7D31"/>
                </a:solidFill>
                <a:latin typeface="Helvetica Neue"/>
                <a:ea typeface="Helvetica Neue"/>
                <a:cs typeface="Helvetica Neue"/>
              </a:rPr>
              <a:t>Managed by: Security integrator</a:t>
            </a:r>
          </a:p>
        </p:txBody>
      </p:sp>
      <p:sp>
        <p:nvSpPr>
          <p:cNvPr id="6" name="Dev 2"/>
          <p:cNvSpPr/>
          <p:nvPr/>
        </p:nvSpPr>
        <p:spPr>
          <a:xfrm>
            <a:off x="5280659" y="2697480"/>
            <a:ext cx="3703320" cy="17373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7" name="Dev 2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4979" y="3154680"/>
            <a:ext cx="822960" cy="822960"/>
          </a:xfrm>
          <a:prstGeom prst="rect">
            <a:avLst/>
          </a:prstGeom>
        </p:spPr>
      </p:pic>
      <p:sp>
        <p:nvSpPr>
          <p:cNvPr id="8" name="Dev 2 text"/>
          <p:cNvSpPr txBox="1"/>
          <p:nvPr/>
        </p:nvSpPr>
        <p:spPr>
          <a:xfrm>
            <a:off x="6560819" y="2880360"/>
            <a:ext cx="2286000" cy="1371600"/>
          </a:xfrm>
          <a:prstGeom prst="rect">
            <a:avLst/>
          </a:prstGeom>
          <a:noFill/>
        </p:spPr>
        <p:txBody>
          <a:bodyPr wrap="square" lIns="0" tIns="0" rIns="0" bIns="0" anchor="ctr">
            <a:spAutoFit/>
          </a:bodyPr>
          <a:lstStyle/>
          <a:p>
            <a:pPr algn="l">
              <a:spcAft>
                <a:spcPts val="300"/>
              </a:spcAft>
            </a:pPr>
            <a:r>
              <a:rPr sz="1900" b="1" i="0">
                <a:solidFill>
                  <a:srgbClr val="000000"/>
                </a:solidFill>
                <a:latin typeface="Helvetica Neue"/>
                <a:ea typeface="Helvetica Neue"/>
                <a:cs typeface="Helvetica Neue"/>
              </a:rPr>
              <a:t>Alarm panel</a:t>
            </a:r>
          </a:p>
          <a:p>
            <a:pPr algn="l">
              <a:spcAft>
                <a:spcPts val="300"/>
              </a:spcAft>
            </a:pPr>
            <a:r>
              <a:rPr sz="1500" b="0" i="0">
                <a:solidFill>
                  <a:srgbClr val="ED7D31"/>
                </a:solidFill>
                <a:latin typeface="Helvetica Neue"/>
                <a:ea typeface="Helvetica Neue"/>
                <a:cs typeface="Helvetica Neue"/>
              </a:rPr>
              <a:t>Managed by: Alarm company</a:t>
            </a:r>
          </a:p>
        </p:txBody>
      </p:sp>
      <p:sp>
        <p:nvSpPr>
          <p:cNvPr id="9" name="Dev 3"/>
          <p:cNvSpPr/>
          <p:nvPr/>
        </p:nvSpPr>
        <p:spPr>
          <a:xfrm>
            <a:off x="9304019" y="2697480"/>
            <a:ext cx="3703320" cy="17373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0" name="Dev 3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78340" y="3154680"/>
            <a:ext cx="822960" cy="822960"/>
          </a:xfrm>
          <a:prstGeom prst="rect">
            <a:avLst/>
          </a:prstGeom>
        </p:spPr>
      </p:pic>
      <p:sp>
        <p:nvSpPr>
          <p:cNvPr id="11" name="Dev 3 text"/>
          <p:cNvSpPr txBox="1"/>
          <p:nvPr/>
        </p:nvSpPr>
        <p:spPr>
          <a:xfrm>
            <a:off x="10584180" y="2880360"/>
            <a:ext cx="2286000" cy="1371600"/>
          </a:xfrm>
          <a:prstGeom prst="rect">
            <a:avLst/>
          </a:prstGeom>
          <a:noFill/>
        </p:spPr>
        <p:txBody>
          <a:bodyPr wrap="square" lIns="0" tIns="0" rIns="0" bIns="0" anchor="ctr">
            <a:spAutoFit/>
          </a:bodyPr>
          <a:lstStyle/>
          <a:p>
            <a:pPr algn="l">
              <a:spcAft>
                <a:spcPts val="300"/>
              </a:spcAft>
            </a:pPr>
            <a:r>
              <a:rPr sz="1900" b="1" i="0">
                <a:solidFill>
                  <a:srgbClr val="000000"/>
                </a:solidFill>
                <a:latin typeface="Helvetica Neue"/>
                <a:ea typeface="Helvetica Neue"/>
                <a:cs typeface="Helvetica Neue"/>
              </a:rPr>
              <a:t>Door and vault access</a:t>
            </a:r>
          </a:p>
          <a:p>
            <a:pPr algn="l">
              <a:spcAft>
                <a:spcPts val="300"/>
              </a:spcAft>
            </a:pPr>
            <a:r>
              <a:rPr sz="1500" b="0" i="0">
                <a:solidFill>
                  <a:srgbClr val="ED7D31"/>
                </a:solidFill>
                <a:latin typeface="Helvetica Neue"/>
                <a:ea typeface="Helvetica Neue"/>
                <a:cs typeface="Helvetica Neue"/>
              </a:rPr>
              <a:t>Managed by: Security integrator</a:t>
            </a:r>
          </a:p>
        </p:txBody>
      </p:sp>
      <p:sp>
        <p:nvSpPr>
          <p:cNvPr id="12" name="Dev 4"/>
          <p:cNvSpPr/>
          <p:nvPr/>
        </p:nvSpPr>
        <p:spPr>
          <a:xfrm>
            <a:off x="13327380" y="2697480"/>
            <a:ext cx="3703320" cy="17373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3" name="Dev 4 icon"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601700" y="3154680"/>
            <a:ext cx="822960" cy="822960"/>
          </a:xfrm>
          <a:prstGeom prst="rect">
            <a:avLst/>
          </a:prstGeom>
        </p:spPr>
      </p:pic>
      <p:sp>
        <p:nvSpPr>
          <p:cNvPr id="14" name="Dev 4 text"/>
          <p:cNvSpPr txBox="1"/>
          <p:nvPr/>
        </p:nvSpPr>
        <p:spPr>
          <a:xfrm>
            <a:off x="14607540" y="2880360"/>
            <a:ext cx="2286000" cy="1371600"/>
          </a:xfrm>
          <a:prstGeom prst="rect">
            <a:avLst/>
          </a:prstGeom>
          <a:noFill/>
        </p:spPr>
        <p:txBody>
          <a:bodyPr wrap="square" lIns="0" tIns="0" rIns="0" bIns="0" anchor="ctr">
            <a:spAutoFit/>
          </a:bodyPr>
          <a:lstStyle/>
          <a:p>
            <a:pPr algn="l">
              <a:spcAft>
                <a:spcPts val="300"/>
              </a:spcAft>
            </a:pPr>
            <a:r>
              <a:rPr sz="1900" b="1" i="0">
                <a:solidFill>
                  <a:srgbClr val="000000"/>
                </a:solidFill>
                <a:latin typeface="Helvetica Neue"/>
                <a:ea typeface="Helvetica Neue"/>
                <a:cs typeface="Helvetica Neue"/>
              </a:rPr>
              <a:t>HVAC and building</a:t>
            </a:r>
          </a:p>
          <a:p>
            <a:pPr algn="l">
              <a:spcAft>
                <a:spcPts val="300"/>
              </a:spcAft>
            </a:pPr>
            <a:r>
              <a:rPr sz="1500" b="0" i="0">
                <a:solidFill>
                  <a:srgbClr val="ED7D31"/>
                </a:solidFill>
                <a:latin typeface="Helvetica Neue"/>
                <a:ea typeface="Helvetica Neue"/>
                <a:cs typeface="Helvetica Neue"/>
              </a:rPr>
              <a:t>Managed by: HVAC contractor</a:t>
            </a:r>
          </a:p>
        </p:txBody>
      </p:sp>
      <p:sp>
        <p:nvSpPr>
          <p:cNvPr id="15" name="Dev 5"/>
          <p:cNvSpPr/>
          <p:nvPr/>
        </p:nvSpPr>
        <p:spPr>
          <a:xfrm>
            <a:off x="1257300" y="4663440"/>
            <a:ext cx="3703320" cy="17373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6" name="Dev 5 icon"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31620" y="5120640"/>
            <a:ext cx="822960" cy="822960"/>
          </a:xfrm>
          <a:prstGeom prst="rect">
            <a:avLst/>
          </a:prstGeom>
        </p:spPr>
      </p:pic>
      <p:sp>
        <p:nvSpPr>
          <p:cNvPr id="17" name="Dev 5 text"/>
          <p:cNvSpPr txBox="1"/>
          <p:nvPr/>
        </p:nvSpPr>
        <p:spPr>
          <a:xfrm>
            <a:off x="2537460" y="4846320"/>
            <a:ext cx="2286000" cy="1371600"/>
          </a:xfrm>
          <a:prstGeom prst="rect">
            <a:avLst/>
          </a:prstGeom>
          <a:noFill/>
        </p:spPr>
        <p:txBody>
          <a:bodyPr wrap="square" lIns="0" tIns="0" rIns="0" bIns="0" anchor="ctr">
            <a:spAutoFit/>
          </a:bodyPr>
          <a:lstStyle/>
          <a:p>
            <a:pPr algn="l">
              <a:spcAft>
                <a:spcPts val="300"/>
              </a:spcAft>
            </a:pPr>
            <a:r>
              <a:rPr sz="1900" b="1" i="0">
                <a:solidFill>
                  <a:srgbClr val="000000"/>
                </a:solidFill>
                <a:latin typeface="Helvetica Neue"/>
                <a:ea typeface="Helvetica Neue"/>
                <a:cs typeface="Helvetica Neue"/>
              </a:rPr>
              <a:t>ATM</a:t>
            </a:r>
          </a:p>
          <a:p>
            <a:pPr algn="l">
              <a:spcAft>
                <a:spcPts val="300"/>
              </a:spcAft>
            </a:pPr>
            <a:r>
              <a:rPr sz="1500" b="0" i="0">
                <a:solidFill>
                  <a:srgbClr val="ED7D31"/>
                </a:solidFill>
                <a:latin typeface="Helvetica Neue"/>
                <a:ea typeface="Helvetica Neue"/>
                <a:cs typeface="Helvetica Neue"/>
              </a:rPr>
              <a:t>Managed by: ATM vendor</a:t>
            </a:r>
          </a:p>
        </p:txBody>
      </p:sp>
      <p:sp>
        <p:nvSpPr>
          <p:cNvPr id="18" name="Dev 6"/>
          <p:cNvSpPr/>
          <p:nvPr/>
        </p:nvSpPr>
        <p:spPr>
          <a:xfrm>
            <a:off x="5280659" y="4663440"/>
            <a:ext cx="3703320" cy="17373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9" name="Dev 6 icon" descr="image.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554979" y="5120640"/>
            <a:ext cx="822960" cy="822960"/>
          </a:xfrm>
          <a:prstGeom prst="rect">
            <a:avLst/>
          </a:prstGeom>
        </p:spPr>
      </p:pic>
      <p:sp>
        <p:nvSpPr>
          <p:cNvPr id="20" name="Dev 6 text"/>
          <p:cNvSpPr txBox="1"/>
          <p:nvPr/>
        </p:nvSpPr>
        <p:spPr>
          <a:xfrm>
            <a:off x="6560819" y="4846320"/>
            <a:ext cx="2286000" cy="1371600"/>
          </a:xfrm>
          <a:prstGeom prst="rect">
            <a:avLst/>
          </a:prstGeom>
          <a:noFill/>
        </p:spPr>
        <p:txBody>
          <a:bodyPr wrap="square" lIns="0" tIns="0" rIns="0" bIns="0" anchor="ctr">
            <a:spAutoFit/>
          </a:bodyPr>
          <a:lstStyle/>
          <a:p>
            <a:pPr algn="l">
              <a:spcAft>
                <a:spcPts val="300"/>
              </a:spcAft>
            </a:pPr>
            <a:r>
              <a:rPr sz="1900" b="1" i="0">
                <a:solidFill>
                  <a:srgbClr val="000000"/>
                </a:solidFill>
                <a:latin typeface="Helvetica Neue"/>
                <a:ea typeface="Helvetica Neue"/>
                <a:cs typeface="Helvetica Neue"/>
              </a:rPr>
              <a:t>Video teller</a:t>
            </a:r>
          </a:p>
          <a:p>
            <a:pPr algn="l">
              <a:spcAft>
                <a:spcPts val="300"/>
              </a:spcAft>
            </a:pPr>
            <a:r>
              <a:rPr sz="1500" b="0" i="0">
                <a:solidFill>
                  <a:srgbClr val="ED7D31"/>
                </a:solidFill>
                <a:latin typeface="Helvetica Neue"/>
                <a:ea typeface="Helvetica Neue"/>
                <a:cs typeface="Helvetica Neue"/>
              </a:rPr>
              <a:t>Managed by: Vendor</a:t>
            </a:r>
          </a:p>
        </p:txBody>
      </p:sp>
      <p:sp>
        <p:nvSpPr>
          <p:cNvPr id="21" name="Dev 7"/>
          <p:cNvSpPr/>
          <p:nvPr/>
        </p:nvSpPr>
        <p:spPr>
          <a:xfrm>
            <a:off x="9304019" y="4663440"/>
            <a:ext cx="3703320" cy="17373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2" name="Dev 7 icon" descr="image.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578340" y="5120640"/>
            <a:ext cx="822960" cy="822960"/>
          </a:xfrm>
          <a:prstGeom prst="rect">
            <a:avLst/>
          </a:prstGeom>
        </p:spPr>
      </p:pic>
      <p:sp>
        <p:nvSpPr>
          <p:cNvPr id="23" name="Dev 7 text"/>
          <p:cNvSpPr txBox="1"/>
          <p:nvPr/>
        </p:nvSpPr>
        <p:spPr>
          <a:xfrm>
            <a:off x="10584180" y="4846320"/>
            <a:ext cx="2286000" cy="1371600"/>
          </a:xfrm>
          <a:prstGeom prst="rect">
            <a:avLst/>
          </a:prstGeom>
          <a:noFill/>
        </p:spPr>
        <p:txBody>
          <a:bodyPr wrap="square" lIns="0" tIns="0" rIns="0" bIns="0" anchor="ctr">
            <a:spAutoFit/>
          </a:bodyPr>
          <a:lstStyle/>
          <a:p>
            <a:pPr algn="l">
              <a:spcAft>
                <a:spcPts val="300"/>
              </a:spcAft>
            </a:pPr>
            <a:r>
              <a:rPr sz="1900" b="1" i="0">
                <a:solidFill>
                  <a:srgbClr val="000000"/>
                </a:solidFill>
                <a:latin typeface="Helvetica Neue"/>
                <a:ea typeface="Helvetica Neue"/>
                <a:cs typeface="Helvetica Neue"/>
              </a:rPr>
              <a:t>Digital signage</a:t>
            </a:r>
          </a:p>
          <a:p>
            <a:pPr algn="l">
              <a:spcAft>
                <a:spcPts val="300"/>
              </a:spcAft>
            </a:pPr>
            <a:r>
              <a:rPr sz="1500" b="0" i="0">
                <a:solidFill>
                  <a:srgbClr val="ED7D31"/>
                </a:solidFill>
                <a:latin typeface="Helvetica Neue"/>
                <a:ea typeface="Helvetica Neue"/>
                <a:cs typeface="Helvetica Neue"/>
              </a:rPr>
              <a:t>Managed by: Marketing vendor</a:t>
            </a:r>
          </a:p>
        </p:txBody>
      </p:sp>
      <p:sp>
        <p:nvSpPr>
          <p:cNvPr id="24" name="Dev 8"/>
          <p:cNvSpPr/>
          <p:nvPr/>
        </p:nvSpPr>
        <p:spPr>
          <a:xfrm>
            <a:off x="13327380" y="4663440"/>
            <a:ext cx="3703320" cy="17373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5" name="Dev 8 icon" descr="image.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3601700" y="5120640"/>
            <a:ext cx="822960" cy="822960"/>
          </a:xfrm>
          <a:prstGeom prst="rect">
            <a:avLst/>
          </a:prstGeom>
        </p:spPr>
      </p:pic>
      <p:sp>
        <p:nvSpPr>
          <p:cNvPr id="26" name="Dev 8 text"/>
          <p:cNvSpPr txBox="1"/>
          <p:nvPr/>
        </p:nvSpPr>
        <p:spPr>
          <a:xfrm>
            <a:off x="14607540" y="4846320"/>
            <a:ext cx="2286000" cy="1371600"/>
          </a:xfrm>
          <a:prstGeom prst="rect">
            <a:avLst/>
          </a:prstGeom>
          <a:noFill/>
        </p:spPr>
        <p:txBody>
          <a:bodyPr wrap="square" lIns="0" tIns="0" rIns="0" bIns="0" anchor="ctr">
            <a:spAutoFit/>
          </a:bodyPr>
          <a:lstStyle/>
          <a:p>
            <a:pPr algn="l">
              <a:spcAft>
                <a:spcPts val="300"/>
              </a:spcAft>
            </a:pPr>
            <a:r>
              <a:rPr sz="1900" b="1" i="0">
                <a:solidFill>
                  <a:srgbClr val="000000"/>
                </a:solidFill>
                <a:latin typeface="Helvetica Neue"/>
                <a:ea typeface="Helvetica Neue"/>
                <a:cs typeface="Helvetica Neue"/>
              </a:rPr>
              <a:t>Printers</a:t>
            </a:r>
          </a:p>
          <a:p>
            <a:pPr algn="l">
              <a:spcAft>
                <a:spcPts val="300"/>
              </a:spcAft>
            </a:pPr>
            <a:r>
              <a:rPr sz="1500" b="0" i="0">
                <a:solidFill>
                  <a:srgbClr val="ED7D31"/>
                </a:solidFill>
                <a:latin typeface="Helvetica Neue"/>
                <a:ea typeface="Helvetica Neue"/>
                <a:cs typeface="Helvetica Neue"/>
              </a:rPr>
              <a:t>Managed by: Copier vendor</a:t>
            </a:r>
          </a:p>
        </p:txBody>
      </p:sp>
      <p:sp>
        <p:nvSpPr>
          <p:cNvPr id="27" name="IoT banner"/>
          <p:cNvSpPr/>
          <p:nvPr/>
        </p:nvSpPr>
        <p:spPr>
          <a:xfrm>
            <a:off x="1257300" y="6766560"/>
            <a:ext cx="15773400" cy="77724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8" name="IoT banner text"/>
          <p:cNvSpPr txBox="1"/>
          <p:nvPr/>
        </p:nvSpPr>
        <p:spPr>
          <a:xfrm>
            <a:off x="1554480" y="6812280"/>
            <a:ext cx="15179040" cy="685800"/>
          </a:xfrm>
          <a:prstGeom prst="rect">
            <a:avLst/>
          </a:prstGeom>
          <a:noFill/>
        </p:spPr>
        <p:txBody>
          <a:bodyPr wrap="square" lIns="0" tIns="0" rIns="0" bIns="0" anchor="ctr">
            <a:spAutoFit/>
          </a:bodyPr>
          <a:lstStyle/>
          <a:p>
            <a:pPr algn="ctr">
              <a:spcAft>
                <a:spcPts val="600"/>
              </a:spcAft>
            </a:pPr>
            <a:r>
              <a:rPr sz="2000" b="1" i="0">
                <a:solidFill>
                  <a:srgbClr val="000000"/>
                </a:solidFill>
                <a:latin typeface="Helvetica Neue"/>
                <a:ea typeface="Helvetica Neue"/>
                <a:cs typeface="Helvetica Neue"/>
              </a:rPr>
              <a:t>Often managed by someone other than IT, with remote access, on the bank's network.</a:t>
            </a:r>
          </a:p>
        </p:txBody>
      </p:sp>
      <p:sp>
        <p:nvSpPr>
          <p:cNvPr id="29" name="IoT ctl 1"/>
          <p:cNvSpPr/>
          <p:nvPr/>
        </p:nvSpPr>
        <p:spPr>
          <a:xfrm>
            <a:off x="1257300" y="7818120"/>
            <a:ext cx="3703320" cy="15544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0" name="IoT ctl 1 text"/>
          <p:cNvSpPr txBox="1"/>
          <p:nvPr/>
        </p:nvSpPr>
        <p:spPr>
          <a:xfrm>
            <a:off x="1513332" y="8019288"/>
            <a:ext cx="3191256" cy="1188719"/>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Inventory</a:t>
            </a:r>
          </a:p>
          <a:p>
            <a:pPr algn="l">
              <a:spcAft>
                <a:spcPts val="700"/>
              </a:spcAft>
            </a:pPr>
            <a:r>
              <a:rPr sz="1600" b="0" i="0">
                <a:solidFill>
                  <a:srgbClr val="000000"/>
                </a:solidFill>
                <a:latin typeface="Helvetica Neue"/>
                <a:ea typeface="Helvetica Neue"/>
                <a:cs typeface="Helvetica Neue"/>
              </a:rPr>
              <a:t>Know every device</a:t>
            </a:r>
          </a:p>
        </p:txBody>
      </p:sp>
      <p:sp>
        <p:nvSpPr>
          <p:cNvPr id="31" name="IoT ctl 2"/>
          <p:cNvSpPr/>
          <p:nvPr/>
        </p:nvSpPr>
        <p:spPr>
          <a:xfrm>
            <a:off x="5280659" y="7818120"/>
            <a:ext cx="3703320" cy="15544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2" name="IoT ctl 2 text"/>
          <p:cNvSpPr txBox="1"/>
          <p:nvPr/>
        </p:nvSpPr>
        <p:spPr>
          <a:xfrm>
            <a:off x="5536692" y="8019288"/>
            <a:ext cx="3191256" cy="1188719"/>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Segment</a:t>
            </a:r>
          </a:p>
          <a:p>
            <a:pPr algn="l">
              <a:spcAft>
                <a:spcPts val="700"/>
              </a:spcAft>
            </a:pPr>
            <a:r>
              <a:rPr sz="1600" b="0" i="0">
                <a:solidFill>
                  <a:srgbClr val="000000"/>
                </a:solidFill>
                <a:latin typeface="Helvetica Neue"/>
                <a:ea typeface="Helvetica Neue"/>
                <a:cs typeface="Helvetica Neue"/>
              </a:rPr>
              <a:t>Not on the teller network</a:t>
            </a:r>
          </a:p>
        </p:txBody>
      </p:sp>
      <p:sp>
        <p:nvSpPr>
          <p:cNvPr id="33" name="IoT ctl 3"/>
          <p:cNvSpPr/>
          <p:nvPr/>
        </p:nvSpPr>
        <p:spPr>
          <a:xfrm>
            <a:off x="9304019" y="7818120"/>
            <a:ext cx="3703320" cy="15544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4" name="IoT ctl 3 text"/>
          <p:cNvSpPr txBox="1"/>
          <p:nvPr/>
        </p:nvSpPr>
        <p:spPr>
          <a:xfrm>
            <a:off x="9560051" y="8019288"/>
            <a:ext cx="3191256" cy="1188719"/>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Vendor access</a:t>
            </a:r>
          </a:p>
          <a:p>
            <a:pPr algn="l">
              <a:spcAft>
                <a:spcPts val="700"/>
              </a:spcAft>
            </a:pPr>
            <a:r>
              <a:rPr sz="1600" b="0" i="0">
                <a:solidFill>
                  <a:srgbClr val="000000"/>
                </a:solidFill>
                <a:latin typeface="Helvetica Neue"/>
                <a:ea typeface="Helvetica Neue"/>
                <a:cs typeface="Helvetica Neue"/>
              </a:rPr>
              <a:t>Controlled and logged</a:t>
            </a:r>
          </a:p>
        </p:txBody>
      </p:sp>
      <p:sp>
        <p:nvSpPr>
          <p:cNvPr id="35" name="IoT ctl 4"/>
          <p:cNvSpPr/>
          <p:nvPr/>
        </p:nvSpPr>
        <p:spPr>
          <a:xfrm>
            <a:off x="13327380" y="7818120"/>
            <a:ext cx="3703320" cy="15544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6" name="IoT ctl 4 text"/>
          <p:cNvSpPr txBox="1"/>
          <p:nvPr/>
        </p:nvSpPr>
        <p:spPr>
          <a:xfrm>
            <a:off x="13583411" y="8019288"/>
            <a:ext cx="3191256" cy="1188719"/>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Defaults</a:t>
            </a:r>
          </a:p>
          <a:p>
            <a:pPr algn="l">
              <a:spcAft>
                <a:spcPts val="700"/>
              </a:spcAft>
            </a:pPr>
            <a:r>
              <a:rPr sz="1600" b="0" i="0">
                <a:solidFill>
                  <a:srgbClr val="000000"/>
                </a:solidFill>
                <a:latin typeface="Helvetica Neue"/>
                <a:ea typeface="Helvetica Neue"/>
                <a:cs typeface="Helvetica Neue"/>
              </a:rPr>
              <a:t>Passwords changed, firmware updated</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IoT</a:t>
            </a:r>
            <a:r>
              <a:rPr lang="en-US"/>
              <a:t> Security Concerns</a:t>
            </a:r>
          </a:p>
        </p:txBody>
      </p:sp>
      <p:sp>
        <p:nvSpPr>
          <p:cNvPr id="3" name="Content Placeholder 2"/>
          <p:cNvSpPr>
            <a:spLocks noGrp="1"/>
          </p:cNvSpPr>
          <p:nvPr>
            <p:ph idx="1"/>
          </p:nvPr>
        </p:nvSpPr>
        <p:spPr/>
        <p:txBody>
          <a:bodyPr/>
          <a:lstStyle/>
          <a:p>
            <a:r>
              <a:rPr lang="en-US"/>
              <a:t>Estimates for IoT suggest 20 billion devices will be connect via the internet in the next 10 years</a:t>
            </a:r>
          </a:p>
          <a:p>
            <a:r>
              <a:rPr lang="en-US"/>
              <a:t>What emphasis will be placed by developers on security?</a:t>
            </a:r>
          </a:p>
          <a:p>
            <a:r>
              <a:rPr lang="en-US"/>
              <a:t>Will consumers and businesses implement controls?</a:t>
            </a:r>
          </a:p>
        </p:txBody>
      </p:sp>
      <p:sp>
        <p:nvSpPr>
          <p:cNvPr id="4" name="Slide Number Placeholder 3"/>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228</a:t>
            </a:fld>
            <a:endParaRPr lang="en-US">
              <a:solidFill>
                <a:schemeClr val="tx1">
                  <a:lumMod val="50000"/>
                  <a:lumOff val="50000"/>
                </a:schemeClr>
              </a:solidFill>
            </a:endParaRPr>
          </a:p>
        </p:txBody>
      </p:sp>
      <p:pic>
        <p:nvPicPr>
          <p:cNvPr id="5" name="Picture 4"/>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4800600" y="5372100"/>
            <a:ext cx="8001000" cy="4000500"/>
          </a:xfrm>
          <a:prstGeom prst="roundRect">
            <a:avLst>
              <a:gd name="adj" fmla="val 4624"/>
            </a:avLst>
          </a:prstGeom>
          <a:solidFill>
            <a:srgbClr val="FFFFFF">
              <a:shade val="85000"/>
            </a:srgbClr>
          </a:solidFill>
          <a:ln>
            <a:noFill/>
          </a:ln>
          <a:effectLst/>
        </p:spPr>
      </p:pic>
    </p:spTree>
    <p:custDataLst>
      <p:tags r:id="rId1"/>
    </p:custDataLst>
    <p:extLst>
      <p:ext uri="{BB962C8B-B14F-4D97-AF65-F5344CB8AC3E}">
        <p14:creationId xmlns:p14="http://schemas.microsoft.com/office/powerpoint/2010/main" val="4147095374"/>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94E8D-B46D-4848-A97D-AEAAE076F46D}"/>
              </a:ext>
            </a:extLst>
          </p:cNvPr>
          <p:cNvSpPr>
            <a:spLocks noGrp="1"/>
          </p:cNvSpPr>
          <p:nvPr>
            <p:ph type="title"/>
          </p:nvPr>
        </p:nvSpPr>
        <p:spPr/>
        <p:txBody>
          <a:bodyPr/>
          <a:lstStyle/>
          <a:p>
            <a:r>
              <a:rPr lang="en-US"/>
              <a:t>IoT Things to Consider</a:t>
            </a:r>
          </a:p>
        </p:txBody>
      </p:sp>
      <p:sp>
        <p:nvSpPr>
          <p:cNvPr id="3" name="Content Placeholder 2">
            <a:extLst>
              <a:ext uri="{FF2B5EF4-FFF2-40B4-BE49-F238E27FC236}">
                <a16:creationId xmlns:a16="http://schemas.microsoft.com/office/drawing/2014/main" id="{4802C8A5-19C6-AA99-3C80-72ABB5A26118}"/>
              </a:ext>
            </a:extLst>
          </p:cNvPr>
          <p:cNvSpPr>
            <a:spLocks noGrp="1"/>
          </p:cNvSpPr>
          <p:nvPr>
            <p:ph idx="1"/>
          </p:nvPr>
        </p:nvSpPr>
        <p:spPr>
          <a:xfrm>
            <a:off x="1257300" y="2193131"/>
            <a:ext cx="15773400" cy="7604012"/>
          </a:xfrm>
        </p:spPr>
        <p:txBody>
          <a:bodyPr>
            <a:normAutofit/>
          </a:bodyPr>
          <a:lstStyle/>
          <a:p>
            <a:r>
              <a:rPr lang="en-US"/>
              <a:t>What mechanism is used to track the devices?</a:t>
            </a:r>
          </a:p>
          <a:p>
            <a:r>
              <a:rPr lang="en-US"/>
              <a:t>How are updates made to the device? </a:t>
            </a:r>
          </a:p>
          <a:p>
            <a:r>
              <a:rPr lang="en-US"/>
              <a:t>Can the device be checked by the vulnerability scanner?</a:t>
            </a:r>
          </a:p>
          <a:p>
            <a:r>
              <a:rPr lang="en-US"/>
              <a:t>What data is collected by the device and where is it stored?</a:t>
            </a:r>
          </a:p>
          <a:p>
            <a:r>
              <a:rPr lang="en-US"/>
              <a:t>What software is on the device? Can it be hardened?</a:t>
            </a:r>
          </a:p>
          <a:p>
            <a:r>
              <a:rPr lang="en-US"/>
              <a:t>How are the devices configured and managed? Can access be recorded in the log system?</a:t>
            </a:r>
          </a:p>
          <a:p>
            <a:r>
              <a:rPr lang="en-US"/>
              <a:t>What connectivity options are there for the device? How are they managed?</a:t>
            </a:r>
          </a:p>
        </p:txBody>
      </p:sp>
    </p:spTree>
    <p:extLst>
      <p:ext uri="{BB962C8B-B14F-4D97-AF65-F5344CB8AC3E}">
        <p14:creationId xmlns:p14="http://schemas.microsoft.com/office/powerpoint/2010/main" val="738268524"/>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Chapter 29: The Risk Landscape</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054FB-613F-F9B1-8255-734443ABB38D}"/>
              </a:ext>
            </a:extLst>
          </p:cNvPr>
          <p:cNvSpPr>
            <a:spLocks noGrp="1"/>
          </p:cNvSpPr>
          <p:nvPr>
            <p:ph type="title"/>
          </p:nvPr>
        </p:nvSpPr>
        <p:spPr/>
        <p:txBody>
          <a:bodyPr/>
          <a:lstStyle/>
          <a:p>
            <a:r>
              <a:rPr lang="en-US"/>
              <a:t>Networks</a:t>
            </a:r>
          </a:p>
        </p:txBody>
      </p:sp>
      <p:pic>
        <p:nvPicPr>
          <p:cNvPr id="5" name="Graphic 4" descr="Cloud outline">
            <a:extLst>
              <a:ext uri="{FF2B5EF4-FFF2-40B4-BE49-F238E27FC236}">
                <a16:creationId xmlns:a16="http://schemas.microsoft.com/office/drawing/2014/main" id="{3CC20620-D549-6CFD-0858-9B644E656E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9585" y="1677031"/>
            <a:ext cx="3872594" cy="4457702"/>
          </a:xfrm>
          <a:prstGeom prst="rect">
            <a:avLst/>
          </a:prstGeom>
        </p:spPr>
      </p:pic>
      <p:pic>
        <p:nvPicPr>
          <p:cNvPr id="6" name="Graphic 5" descr="Cloud outline">
            <a:extLst>
              <a:ext uri="{FF2B5EF4-FFF2-40B4-BE49-F238E27FC236}">
                <a16:creationId xmlns:a16="http://schemas.microsoft.com/office/drawing/2014/main" id="{FECC7E92-8D79-4C2D-F297-49EED8FD125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56126" y="4306174"/>
            <a:ext cx="3872594" cy="4457702"/>
          </a:xfrm>
          <a:prstGeom prst="rect">
            <a:avLst/>
          </a:prstGeom>
        </p:spPr>
      </p:pic>
      <p:pic>
        <p:nvPicPr>
          <p:cNvPr id="8" name="Graphic 7" descr="House outline">
            <a:extLst>
              <a:ext uri="{FF2B5EF4-FFF2-40B4-BE49-F238E27FC236}">
                <a16:creationId xmlns:a16="http://schemas.microsoft.com/office/drawing/2014/main" id="{448E7E89-0ACD-C0AB-7953-B90D9E3AFFC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627511" y="1882998"/>
            <a:ext cx="1333923" cy="1333923"/>
          </a:xfrm>
          <a:prstGeom prst="rect">
            <a:avLst/>
          </a:prstGeom>
        </p:spPr>
      </p:pic>
      <p:pic>
        <p:nvPicPr>
          <p:cNvPr id="10" name="Graphic 9" descr="Bank outline">
            <a:extLst>
              <a:ext uri="{FF2B5EF4-FFF2-40B4-BE49-F238E27FC236}">
                <a16:creationId xmlns:a16="http://schemas.microsoft.com/office/drawing/2014/main" id="{6CFA4841-0D18-F260-3533-FE5B578F7D1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82051" y="6133133"/>
            <a:ext cx="1436709" cy="1436709"/>
          </a:xfrm>
          <a:prstGeom prst="rect">
            <a:avLst/>
          </a:prstGeom>
        </p:spPr>
      </p:pic>
      <p:pic>
        <p:nvPicPr>
          <p:cNvPr id="11" name="Graphic 10" descr="Bank outline">
            <a:extLst>
              <a:ext uri="{FF2B5EF4-FFF2-40B4-BE49-F238E27FC236}">
                <a16:creationId xmlns:a16="http://schemas.microsoft.com/office/drawing/2014/main" id="{C3F5F693-6E0B-E87E-DFC6-503E0C5377D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031982" y="4696424"/>
            <a:ext cx="1436709" cy="1436709"/>
          </a:xfrm>
          <a:prstGeom prst="rect">
            <a:avLst/>
          </a:prstGeom>
        </p:spPr>
      </p:pic>
      <p:pic>
        <p:nvPicPr>
          <p:cNvPr id="12" name="Graphic 11" descr="Bank outline">
            <a:extLst>
              <a:ext uri="{FF2B5EF4-FFF2-40B4-BE49-F238E27FC236}">
                <a16:creationId xmlns:a16="http://schemas.microsoft.com/office/drawing/2014/main" id="{E0FBDF85-4C4E-2FBC-3247-A07E80BFAA4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55158" y="7804495"/>
            <a:ext cx="1436709" cy="1436709"/>
          </a:xfrm>
          <a:prstGeom prst="rect">
            <a:avLst/>
          </a:prstGeom>
        </p:spPr>
      </p:pic>
      <p:pic>
        <p:nvPicPr>
          <p:cNvPr id="13" name="Graphic 12" descr="Bank outline">
            <a:extLst>
              <a:ext uri="{FF2B5EF4-FFF2-40B4-BE49-F238E27FC236}">
                <a16:creationId xmlns:a16="http://schemas.microsoft.com/office/drawing/2014/main" id="{985E2611-A21A-9FB4-57E8-26C7C430BD7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044054" y="8510889"/>
            <a:ext cx="1436709" cy="1436709"/>
          </a:xfrm>
          <a:prstGeom prst="rect">
            <a:avLst/>
          </a:prstGeom>
        </p:spPr>
      </p:pic>
      <p:pic>
        <p:nvPicPr>
          <p:cNvPr id="15" name="Graphic 14" descr="Building with solid fill">
            <a:extLst>
              <a:ext uri="{FF2B5EF4-FFF2-40B4-BE49-F238E27FC236}">
                <a16:creationId xmlns:a16="http://schemas.microsoft.com/office/drawing/2014/main" id="{048350A5-878A-9C13-3867-D74B6D71E14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98010" y="5994239"/>
            <a:ext cx="2920678" cy="2920678"/>
          </a:xfrm>
          <a:prstGeom prst="rect">
            <a:avLst/>
          </a:prstGeom>
        </p:spPr>
      </p:pic>
      <p:sp>
        <p:nvSpPr>
          <p:cNvPr id="16" name="TextBox 15">
            <a:extLst>
              <a:ext uri="{FF2B5EF4-FFF2-40B4-BE49-F238E27FC236}">
                <a16:creationId xmlns:a16="http://schemas.microsoft.com/office/drawing/2014/main" id="{E34690C3-C0C8-DA4B-8334-01678FE4AAB8}"/>
              </a:ext>
            </a:extLst>
          </p:cNvPr>
          <p:cNvSpPr txBox="1"/>
          <p:nvPr/>
        </p:nvSpPr>
        <p:spPr>
          <a:xfrm>
            <a:off x="6171525" y="6254741"/>
            <a:ext cx="1641796" cy="954107"/>
          </a:xfrm>
          <a:prstGeom prst="rect">
            <a:avLst/>
          </a:prstGeom>
          <a:noFill/>
        </p:spPr>
        <p:txBody>
          <a:bodyPr wrap="none" rtlCol="0">
            <a:spAutoFit/>
          </a:bodyPr>
          <a:lstStyle/>
          <a:p>
            <a:pPr algn="ctr"/>
            <a:r>
              <a:rPr lang="en-US" sz="2800" b="1">
                <a:latin typeface="Helvetica Neue" panose="02000503000000020004" pitchFamily="2" charset="0"/>
                <a:ea typeface="Helvetica Neue" panose="02000503000000020004" pitchFamily="2" charset="0"/>
                <a:cs typeface="Helvetica Neue" panose="02000503000000020004" pitchFamily="2" charset="0"/>
              </a:rPr>
              <a:t>Private</a:t>
            </a:r>
          </a:p>
          <a:p>
            <a:pPr algn="ctr"/>
            <a:r>
              <a:rPr lang="en-US" sz="2800" b="1">
                <a:latin typeface="Helvetica Neue" panose="02000503000000020004" pitchFamily="2" charset="0"/>
                <a:ea typeface="Helvetica Neue" panose="02000503000000020004" pitchFamily="2" charset="0"/>
                <a:cs typeface="Helvetica Neue" panose="02000503000000020004" pitchFamily="2" charset="0"/>
              </a:rPr>
              <a:t>Network</a:t>
            </a:r>
          </a:p>
        </p:txBody>
      </p:sp>
      <p:sp>
        <p:nvSpPr>
          <p:cNvPr id="17" name="TextBox 16">
            <a:extLst>
              <a:ext uri="{FF2B5EF4-FFF2-40B4-BE49-F238E27FC236}">
                <a16:creationId xmlns:a16="http://schemas.microsoft.com/office/drawing/2014/main" id="{81DDF840-27F1-BBCB-1993-C86CB38460CF}"/>
              </a:ext>
            </a:extLst>
          </p:cNvPr>
          <p:cNvSpPr txBox="1"/>
          <p:nvPr/>
        </p:nvSpPr>
        <p:spPr>
          <a:xfrm>
            <a:off x="9798010" y="9164557"/>
            <a:ext cx="2722220" cy="523220"/>
          </a:xfrm>
          <a:prstGeom prst="rect">
            <a:avLst/>
          </a:prstGeom>
          <a:noFill/>
        </p:spPr>
        <p:txBody>
          <a:bodyPr wrap="none" rtlCol="0">
            <a:spAutoFit/>
          </a:bodyPr>
          <a:lstStyle/>
          <a:p>
            <a:pPr algn="ctr"/>
            <a:r>
              <a:rPr lang="en-US" sz="2800" b="1">
                <a:latin typeface="Helvetica Neue" panose="02000503000000020004" pitchFamily="2" charset="0"/>
                <a:ea typeface="Helvetica Neue" panose="02000503000000020004" pitchFamily="2" charset="0"/>
                <a:cs typeface="Helvetica Neue" panose="02000503000000020004" pitchFamily="2" charset="0"/>
              </a:rPr>
              <a:t>HQ/datacenter</a:t>
            </a:r>
          </a:p>
        </p:txBody>
      </p:sp>
      <p:sp>
        <p:nvSpPr>
          <p:cNvPr id="18" name="TextBox 17">
            <a:extLst>
              <a:ext uri="{FF2B5EF4-FFF2-40B4-BE49-F238E27FC236}">
                <a16:creationId xmlns:a16="http://schemas.microsoft.com/office/drawing/2014/main" id="{7149BDE7-56E6-94A3-6C4A-A21B779A49B7}"/>
              </a:ext>
            </a:extLst>
          </p:cNvPr>
          <p:cNvSpPr txBox="1"/>
          <p:nvPr/>
        </p:nvSpPr>
        <p:spPr>
          <a:xfrm>
            <a:off x="10785504" y="3918372"/>
            <a:ext cx="1516825" cy="523220"/>
          </a:xfrm>
          <a:prstGeom prst="rect">
            <a:avLst/>
          </a:prstGeom>
          <a:noFill/>
        </p:spPr>
        <p:txBody>
          <a:bodyPr wrap="none" rtlCol="0">
            <a:spAutoFit/>
          </a:bodyPr>
          <a:lstStyle/>
          <a:p>
            <a:pPr algn="ctr"/>
            <a:r>
              <a:rPr lang="en-US" sz="2800" b="1">
                <a:latin typeface="Helvetica Neue" panose="02000503000000020004" pitchFamily="2" charset="0"/>
                <a:ea typeface="Helvetica Neue" panose="02000503000000020004" pitchFamily="2" charset="0"/>
                <a:cs typeface="Helvetica Neue" panose="02000503000000020004" pitchFamily="2" charset="0"/>
              </a:rPr>
              <a:t>internet</a:t>
            </a:r>
          </a:p>
        </p:txBody>
      </p:sp>
      <p:sp>
        <p:nvSpPr>
          <p:cNvPr id="19" name="TextBox 18">
            <a:extLst>
              <a:ext uri="{FF2B5EF4-FFF2-40B4-BE49-F238E27FC236}">
                <a16:creationId xmlns:a16="http://schemas.microsoft.com/office/drawing/2014/main" id="{6E4ED23B-E90A-099C-23B4-65626D6AF89B}"/>
              </a:ext>
            </a:extLst>
          </p:cNvPr>
          <p:cNvSpPr txBox="1"/>
          <p:nvPr/>
        </p:nvSpPr>
        <p:spPr>
          <a:xfrm>
            <a:off x="666201" y="5471019"/>
            <a:ext cx="1816524" cy="523220"/>
          </a:xfrm>
          <a:prstGeom prst="rect">
            <a:avLst/>
          </a:prstGeom>
          <a:noFill/>
        </p:spPr>
        <p:txBody>
          <a:bodyPr wrap="none" rtlCol="0">
            <a:spAutoFit/>
          </a:bodyPr>
          <a:lstStyle/>
          <a:p>
            <a:pPr algn="ctr"/>
            <a:r>
              <a:rPr lang="en-US" sz="2800" b="1">
                <a:latin typeface="Helvetica Neue" panose="02000503000000020004" pitchFamily="2" charset="0"/>
                <a:ea typeface="Helvetica Neue" panose="02000503000000020004" pitchFamily="2" charset="0"/>
                <a:cs typeface="Helvetica Neue" panose="02000503000000020004" pitchFamily="2" charset="0"/>
              </a:rPr>
              <a:t>Branches</a:t>
            </a:r>
          </a:p>
        </p:txBody>
      </p:sp>
      <p:sp>
        <p:nvSpPr>
          <p:cNvPr id="20" name="TextBox 19">
            <a:extLst>
              <a:ext uri="{FF2B5EF4-FFF2-40B4-BE49-F238E27FC236}">
                <a16:creationId xmlns:a16="http://schemas.microsoft.com/office/drawing/2014/main" id="{FEF9B4FB-FEDD-EE29-336F-ABE38F0E9098}"/>
              </a:ext>
            </a:extLst>
          </p:cNvPr>
          <p:cNvSpPr txBox="1"/>
          <p:nvPr/>
        </p:nvSpPr>
        <p:spPr>
          <a:xfrm>
            <a:off x="15099055" y="2218799"/>
            <a:ext cx="1002198" cy="523220"/>
          </a:xfrm>
          <a:prstGeom prst="rect">
            <a:avLst/>
          </a:prstGeom>
          <a:noFill/>
        </p:spPr>
        <p:txBody>
          <a:bodyPr wrap="none" rtlCol="0">
            <a:spAutoFit/>
          </a:bodyPr>
          <a:lstStyle/>
          <a:p>
            <a:pPr algn="ctr"/>
            <a:r>
              <a:rPr lang="en-US" sz="2800" b="1">
                <a:latin typeface="Helvetica Neue" panose="02000503000000020004" pitchFamily="2" charset="0"/>
                <a:ea typeface="Helvetica Neue" panose="02000503000000020004" pitchFamily="2" charset="0"/>
                <a:cs typeface="Helvetica Neue" panose="02000503000000020004" pitchFamily="2" charset="0"/>
              </a:rPr>
              <a:t>WFH</a:t>
            </a:r>
          </a:p>
        </p:txBody>
      </p:sp>
      <p:pic>
        <p:nvPicPr>
          <p:cNvPr id="22" name="Graphic 21" descr="Internet Banking with solid fill">
            <a:extLst>
              <a:ext uri="{FF2B5EF4-FFF2-40B4-BE49-F238E27FC236}">
                <a16:creationId xmlns:a16="http://schemas.microsoft.com/office/drawing/2014/main" id="{2915EF19-BEA4-2902-332F-70DFCD07A99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276829" y="2218799"/>
            <a:ext cx="914400" cy="914400"/>
          </a:xfrm>
          <a:prstGeom prst="rect">
            <a:avLst/>
          </a:prstGeom>
        </p:spPr>
      </p:pic>
      <p:pic>
        <p:nvPicPr>
          <p:cNvPr id="23" name="Graphic 22" descr="Internet Banking with solid fill">
            <a:extLst>
              <a:ext uri="{FF2B5EF4-FFF2-40B4-BE49-F238E27FC236}">
                <a16:creationId xmlns:a16="http://schemas.microsoft.com/office/drawing/2014/main" id="{472CA1B0-A21B-AAF4-BE95-7741CEE21EA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136320" y="1702699"/>
            <a:ext cx="914400" cy="914400"/>
          </a:xfrm>
          <a:prstGeom prst="rect">
            <a:avLst/>
          </a:prstGeom>
        </p:spPr>
      </p:pic>
      <p:cxnSp>
        <p:nvCxnSpPr>
          <p:cNvPr id="25" name="Straight Connector 24">
            <a:extLst>
              <a:ext uri="{FF2B5EF4-FFF2-40B4-BE49-F238E27FC236}">
                <a16:creationId xmlns:a16="http://schemas.microsoft.com/office/drawing/2014/main" id="{8E72906E-9075-6E11-C9FD-738DC346BC38}"/>
              </a:ext>
            </a:extLst>
          </p:cNvPr>
          <p:cNvCxnSpPr>
            <a:cxnSpLocks/>
          </p:cNvCxnSpPr>
          <p:nvPr/>
        </p:nvCxnSpPr>
        <p:spPr>
          <a:xfrm>
            <a:off x="4130497" y="5667807"/>
            <a:ext cx="1655595" cy="65379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D98CC0A-833B-F8D2-CEED-BBF1F4BE4363}"/>
              </a:ext>
            </a:extLst>
          </p:cNvPr>
          <p:cNvCxnSpPr>
            <a:cxnSpLocks/>
          </p:cNvCxnSpPr>
          <p:nvPr/>
        </p:nvCxnSpPr>
        <p:spPr>
          <a:xfrm flipV="1">
            <a:off x="2997257" y="7058690"/>
            <a:ext cx="2304253" cy="4582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98F42D7-335F-C3D0-6C67-0666EF3CF57C}"/>
              </a:ext>
            </a:extLst>
          </p:cNvPr>
          <p:cNvCxnSpPr>
            <a:cxnSpLocks/>
          </p:cNvCxnSpPr>
          <p:nvPr/>
        </p:nvCxnSpPr>
        <p:spPr>
          <a:xfrm flipV="1">
            <a:off x="3064188" y="7339169"/>
            <a:ext cx="2416575" cy="138874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320CCAC-861B-2160-BD65-1ABA19324137}"/>
              </a:ext>
            </a:extLst>
          </p:cNvPr>
          <p:cNvCxnSpPr>
            <a:cxnSpLocks/>
          </p:cNvCxnSpPr>
          <p:nvPr/>
        </p:nvCxnSpPr>
        <p:spPr>
          <a:xfrm flipV="1">
            <a:off x="4958294" y="7569842"/>
            <a:ext cx="921645" cy="126067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ABFC4D2-09B7-A258-36C4-5807B8CA68D5}"/>
              </a:ext>
            </a:extLst>
          </p:cNvPr>
          <p:cNvCxnSpPr>
            <a:cxnSpLocks/>
          </p:cNvCxnSpPr>
          <p:nvPr/>
        </p:nvCxnSpPr>
        <p:spPr>
          <a:xfrm>
            <a:off x="8510163" y="7403727"/>
            <a:ext cx="2054546" cy="84404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673824F-D60A-F262-14FD-B437049B705C}"/>
              </a:ext>
            </a:extLst>
          </p:cNvPr>
          <p:cNvCxnSpPr>
            <a:cxnSpLocks/>
          </p:cNvCxnSpPr>
          <p:nvPr/>
        </p:nvCxnSpPr>
        <p:spPr>
          <a:xfrm flipV="1">
            <a:off x="8088818" y="4871498"/>
            <a:ext cx="2153612" cy="133742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CD84C70-21FA-F204-D16E-B648BECE899E}"/>
              </a:ext>
            </a:extLst>
          </p:cNvPr>
          <p:cNvCxnSpPr>
            <a:cxnSpLocks/>
          </p:cNvCxnSpPr>
          <p:nvPr/>
        </p:nvCxnSpPr>
        <p:spPr>
          <a:xfrm flipV="1">
            <a:off x="11855302" y="2931304"/>
            <a:ext cx="2041451" cy="16588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49C9ED00-76F6-1D99-AD5D-CA0444561627}"/>
              </a:ext>
            </a:extLst>
          </p:cNvPr>
          <p:cNvSpPr txBox="1"/>
          <p:nvPr/>
        </p:nvSpPr>
        <p:spPr>
          <a:xfrm>
            <a:off x="8110704" y="1341230"/>
            <a:ext cx="2066591" cy="523220"/>
          </a:xfrm>
          <a:prstGeom prst="rect">
            <a:avLst/>
          </a:prstGeom>
          <a:noFill/>
        </p:spPr>
        <p:txBody>
          <a:bodyPr wrap="none" rtlCol="0">
            <a:spAutoFit/>
          </a:bodyPr>
          <a:lstStyle/>
          <a:p>
            <a:pPr algn="ctr"/>
            <a:r>
              <a:rPr lang="en-US" sz="2800" b="1">
                <a:latin typeface="Helvetica Neue" panose="02000503000000020004" pitchFamily="2" charset="0"/>
                <a:ea typeface="Helvetica Neue" panose="02000503000000020004" pitchFamily="2" charset="0"/>
                <a:cs typeface="Helvetica Neue" panose="02000503000000020004" pitchFamily="2" charset="0"/>
              </a:rPr>
              <a:t>Customers</a:t>
            </a:r>
          </a:p>
        </p:txBody>
      </p:sp>
      <p:sp>
        <p:nvSpPr>
          <p:cNvPr id="45" name="TextBox 44">
            <a:extLst>
              <a:ext uri="{FF2B5EF4-FFF2-40B4-BE49-F238E27FC236}">
                <a16:creationId xmlns:a16="http://schemas.microsoft.com/office/drawing/2014/main" id="{61D0C615-9B0A-F5FD-4CC8-DDA143B0D433}"/>
              </a:ext>
            </a:extLst>
          </p:cNvPr>
          <p:cNvSpPr txBox="1"/>
          <p:nvPr/>
        </p:nvSpPr>
        <p:spPr>
          <a:xfrm>
            <a:off x="4958294" y="2976361"/>
            <a:ext cx="1813253" cy="954107"/>
          </a:xfrm>
          <a:prstGeom prst="rect">
            <a:avLst/>
          </a:prstGeom>
          <a:noFill/>
        </p:spPr>
        <p:txBody>
          <a:bodyPr wrap="none" rtlCol="0">
            <a:spAutoFit/>
          </a:bodyPr>
          <a:lstStyle/>
          <a:p>
            <a:pPr algn="ctr"/>
            <a:r>
              <a:rPr lang="en-US" sz="2800" b="1">
                <a:latin typeface="Helvetica Neue" panose="02000503000000020004" pitchFamily="2" charset="0"/>
                <a:ea typeface="Helvetica Neue" panose="02000503000000020004" pitchFamily="2" charset="0"/>
                <a:cs typeface="Helvetica Neue" panose="02000503000000020004" pitchFamily="2" charset="0"/>
              </a:rPr>
              <a:t>Service</a:t>
            </a:r>
          </a:p>
          <a:p>
            <a:pPr algn="ctr"/>
            <a:r>
              <a:rPr lang="en-US" sz="2800" b="1">
                <a:latin typeface="Helvetica Neue" panose="02000503000000020004" pitchFamily="2" charset="0"/>
                <a:ea typeface="Helvetica Neue" panose="02000503000000020004" pitchFamily="2" charset="0"/>
                <a:cs typeface="Helvetica Neue" panose="02000503000000020004" pitchFamily="2" charset="0"/>
              </a:rPr>
              <a:t>Providers</a:t>
            </a:r>
          </a:p>
        </p:txBody>
      </p:sp>
      <p:pic>
        <p:nvPicPr>
          <p:cNvPr id="46" name="Graphic 45" descr="Cloud outline">
            <a:extLst>
              <a:ext uri="{FF2B5EF4-FFF2-40B4-BE49-F238E27FC236}">
                <a16:creationId xmlns:a16="http://schemas.microsoft.com/office/drawing/2014/main" id="{97C0BC33-CB1B-C6DF-21AF-C09CECF9F7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52978" y="1040269"/>
            <a:ext cx="3872594" cy="4457702"/>
          </a:xfrm>
          <a:prstGeom prst="rect">
            <a:avLst/>
          </a:prstGeom>
        </p:spPr>
      </p:pic>
      <p:cxnSp>
        <p:nvCxnSpPr>
          <p:cNvPr id="47" name="Straight Connector 46">
            <a:extLst>
              <a:ext uri="{FF2B5EF4-FFF2-40B4-BE49-F238E27FC236}">
                <a16:creationId xmlns:a16="http://schemas.microsoft.com/office/drawing/2014/main" id="{892670C9-0367-4503-862A-C0272CADA978}"/>
              </a:ext>
            </a:extLst>
          </p:cNvPr>
          <p:cNvCxnSpPr>
            <a:cxnSpLocks/>
          </p:cNvCxnSpPr>
          <p:nvPr/>
        </p:nvCxnSpPr>
        <p:spPr>
          <a:xfrm>
            <a:off x="6392338" y="4315609"/>
            <a:ext cx="410318" cy="115234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48BF54B-02AD-5468-5CF9-583A28783279}"/>
              </a:ext>
            </a:extLst>
          </p:cNvPr>
          <p:cNvCxnSpPr>
            <a:cxnSpLocks/>
          </p:cNvCxnSpPr>
          <p:nvPr/>
        </p:nvCxnSpPr>
        <p:spPr>
          <a:xfrm>
            <a:off x="7532245" y="3945660"/>
            <a:ext cx="2471761" cy="23432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D1D063E-55FB-5FA2-2EFA-6DD28E5F25FC}"/>
              </a:ext>
            </a:extLst>
          </p:cNvPr>
          <p:cNvSpPr txBox="1"/>
          <p:nvPr/>
        </p:nvSpPr>
        <p:spPr>
          <a:xfrm flipH="1">
            <a:off x="13617898" y="5667807"/>
            <a:ext cx="4003901" cy="3970318"/>
          </a:xfrm>
          <a:prstGeom prst="rect">
            <a:avLst/>
          </a:prstGeom>
          <a:noFill/>
        </p:spPr>
        <p:txBody>
          <a:bodyPr wrap="square" rtlCol="0">
            <a:spAutoFit/>
          </a:bodyPr>
          <a:lstStyle/>
          <a:p>
            <a:r>
              <a:rPr lang="en-US" sz="3600">
                <a:solidFill>
                  <a:schemeClr val="accent1"/>
                </a:solidFill>
                <a:latin typeface="Helvetica Neue Medium" panose="02000503000000020004" pitchFamily="2" charset="0"/>
                <a:ea typeface="Helvetica Neue Medium" panose="02000503000000020004" pitchFamily="2" charset="0"/>
                <a:cs typeface="Helvetica Neue Medium" panose="02000503000000020004" pitchFamily="2" charset="0"/>
              </a:rPr>
              <a:t>Where are the threats to security in this diagram?</a:t>
            </a:r>
          </a:p>
          <a:p>
            <a:endParaRPr lang="en-US" sz="3600">
              <a:solidFill>
                <a:schemeClr val="accent1"/>
              </a:solidFill>
              <a:latin typeface="Helvetica Neue Medium" panose="02000503000000020004" pitchFamily="2" charset="0"/>
              <a:ea typeface="Helvetica Neue Medium" panose="02000503000000020004" pitchFamily="2" charset="0"/>
              <a:cs typeface="Helvetica Neue Medium" panose="02000503000000020004" pitchFamily="2" charset="0"/>
            </a:endParaRPr>
          </a:p>
          <a:p>
            <a:r>
              <a:rPr lang="en-US" sz="3600">
                <a:solidFill>
                  <a:schemeClr val="accent1"/>
                </a:solidFill>
                <a:latin typeface="Helvetica Neue Medium" panose="02000503000000020004" pitchFamily="2" charset="0"/>
                <a:ea typeface="Helvetica Neue Medium" panose="02000503000000020004" pitchFamily="2" charset="0"/>
                <a:cs typeface="Helvetica Neue Medium" panose="02000503000000020004" pitchFamily="2" charset="0"/>
              </a:rPr>
              <a:t>What questions do we need to ask?  </a:t>
            </a:r>
          </a:p>
        </p:txBody>
      </p:sp>
    </p:spTree>
    <p:extLst>
      <p:ext uri="{BB962C8B-B14F-4D97-AF65-F5344CB8AC3E}">
        <p14:creationId xmlns:p14="http://schemas.microsoft.com/office/powerpoint/2010/main" val="2983041140"/>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Network Security</a:t>
            </a:r>
          </a:p>
        </p:txBody>
      </p:sp>
      <p:sp>
        <p:nvSpPr>
          <p:cNvPr id="3" name="Content Placeholder 2"/>
          <p:cNvSpPr>
            <a:spLocks noGrp="1"/>
          </p:cNvSpPr>
          <p:nvPr>
            <p:ph idx="1"/>
          </p:nvPr>
        </p:nvSpPr>
        <p:spPr/>
        <p:txBody>
          <a:bodyPr>
            <a:normAutofit/>
          </a:bodyPr>
          <a:lstStyle/>
          <a:p>
            <a:endParaRPr lang="en-US"/>
          </a:p>
          <a:p>
            <a:endParaRPr lang="en-US"/>
          </a:p>
          <a:p>
            <a:endParaRPr lang="en-US"/>
          </a:p>
          <a:p>
            <a:r>
              <a:rPr lang="en-US"/>
              <a:t>It starts with taking inventory</a:t>
            </a:r>
          </a:p>
          <a:p>
            <a:pPr lvl="1"/>
            <a:r>
              <a:rPr lang="en-US"/>
              <a:t>End user systems</a:t>
            </a:r>
          </a:p>
          <a:p>
            <a:pPr lvl="1"/>
            <a:r>
              <a:rPr lang="en-US"/>
              <a:t>Servers</a:t>
            </a:r>
          </a:p>
          <a:p>
            <a:pPr lvl="1"/>
            <a:r>
              <a:rPr lang="en-US"/>
              <a:t>Network elements</a:t>
            </a:r>
          </a:p>
          <a:p>
            <a:pPr lvl="1"/>
            <a:r>
              <a:rPr lang="en-US"/>
              <a:t>Networks</a:t>
            </a:r>
          </a:p>
          <a:p>
            <a:r>
              <a:rPr lang="en-US"/>
              <a:t>Followed by risk analysis</a:t>
            </a:r>
          </a:p>
        </p:txBody>
      </p:sp>
      <p:sp>
        <p:nvSpPr>
          <p:cNvPr id="4" name="Slide Number Placeholder 3"/>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232</a:t>
            </a:fld>
            <a:endParaRPr lang="en-US">
              <a:solidFill>
                <a:schemeClr val="tx1">
                  <a:lumMod val="50000"/>
                  <a:lumOff val="50000"/>
                </a:schemeClr>
              </a:solidFill>
            </a:endParaRPr>
          </a:p>
        </p:txBody>
      </p:sp>
      <p:sp>
        <p:nvSpPr>
          <p:cNvPr id="5" name="Rounded Rectangle 4"/>
          <p:cNvSpPr/>
          <p:nvPr/>
        </p:nvSpPr>
        <p:spPr bwMode="auto">
          <a:xfrm>
            <a:off x="1935678" y="2392648"/>
            <a:ext cx="12544796" cy="1199833"/>
          </a:xfrm>
          <a:prstGeom prst="round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50000" t="50000" r="50000" b="50000"/>
            </a:path>
            <a:tileRect/>
          </a:gradFill>
          <a:ln w="28575" cap="flat" cmpd="sng" algn="ctr">
            <a:solidFill>
              <a:srgbClr val="0070C0"/>
            </a:solidFill>
            <a:prstDash val="solid"/>
            <a:round/>
            <a:headEnd type="none" w="med" len="med"/>
            <a:tailEnd type="none" w="med" len="med"/>
          </a:ln>
          <a:effectLst/>
        </p:spPr>
        <p:txBody>
          <a:bodyPr vert="horz" wrap="square" lIns="137160" tIns="68580" rIns="137160" bIns="68580" numCol="1" rtlCol="0" anchor="t" anchorCtr="0" compatLnSpc="1">
            <a:prstTxWarp prst="textNoShape">
              <a:avLst/>
            </a:prstTxWarp>
            <a:spAutoFit/>
          </a:bodyPr>
          <a:lstStyle/>
          <a:p>
            <a:pPr algn="ctr" defTabSz="1540670" fontAlgn="base">
              <a:lnSpc>
                <a:spcPct val="85000"/>
              </a:lnSpc>
              <a:spcBef>
                <a:spcPct val="0"/>
              </a:spcBef>
              <a:spcAft>
                <a:spcPct val="0"/>
              </a:spcAft>
            </a:pPr>
            <a:r>
              <a:rPr lang="en-US" sz="3600">
                <a:solidFill>
                  <a:schemeClr val="bg1"/>
                </a:solidFill>
              </a:rPr>
              <a:t>Activities and tools designed to protect the usability, reliability, integrity of a network and corporate data housed within. </a:t>
            </a:r>
            <a:endParaRPr lang="en-US" sz="3600" b="1">
              <a:solidFill>
                <a:schemeClr val="bg1"/>
              </a:solidFill>
            </a:endParaRPr>
          </a:p>
        </p:txBody>
      </p:sp>
    </p:spTree>
    <p:custDataLst>
      <p:tags r:id="rId1"/>
    </p:custDataLst>
    <p:extLst>
      <p:ext uri="{BB962C8B-B14F-4D97-AF65-F5344CB8AC3E}">
        <p14:creationId xmlns:p14="http://schemas.microsoft.com/office/powerpoint/2010/main" val="62713349"/>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7E76E-4645-D5DB-0D2F-C0335120C049}"/>
              </a:ext>
            </a:extLst>
          </p:cNvPr>
          <p:cNvSpPr>
            <a:spLocks noGrp="1"/>
          </p:cNvSpPr>
          <p:nvPr>
            <p:ph type="title"/>
          </p:nvPr>
        </p:nvSpPr>
        <p:spPr/>
        <p:txBody>
          <a:bodyPr/>
          <a:lstStyle/>
          <a:p>
            <a:r>
              <a:rPr lang="en-US"/>
              <a:t>Inventory</a:t>
            </a:r>
          </a:p>
        </p:txBody>
      </p:sp>
      <p:sp>
        <p:nvSpPr>
          <p:cNvPr id="3" name="Content Placeholder 2">
            <a:extLst>
              <a:ext uri="{FF2B5EF4-FFF2-40B4-BE49-F238E27FC236}">
                <a16:creationId xmlns:a16="http://schemas.microsoft.com/office/drawing/2014/main" id="{CDFCF294-1302-222C-EDF6-A8DDF67166E5}"/>
              </a:ext>
            </a:extLst>
          </p:cNvPr>
          <p:cNvSpPr>
            <a:spLocks noGrp="1"/>
          </p:cNvSpPr>
          <p:nvPr>
            <p:ph idx="1"/>
          </p:nvPr>
        </p:nvSpPr>
        <p:spPr/>
        <p:txBody>
          <a:bodyPr/>
          <a:lstStyle/>
          <a:p>
            <a:r>
              <a:rPr lang="en-US" dirty="0"/>
              <a:t>If we don’t know we have it, we can’t protect it</a:t>
            </a:r>
          </a:p>
          <a:p>
            <a:r>
              <a:rPr lang="en-US" dirty="0"/>
              <a:t>End user systems and servers contain networking elements that need to be kept current (patched)</a:t>
            </a:r>
          </a:p>
          <a:p>
            <a:r>
              <a:rPr lang="en-US" dirty="0"/>
              <a:t>Many systems are now being networked and are classified as part of the Internet of Things (IoT)</a:t>
            </a:r>
          </a:p>
          <a:p>
            <a:r>
              <a:rPr lang="en-US" dirty="0"/>
              <a:t>Networking elements and networks need to be protected and require attention beyond those supporting end user systems</a:t>
            </a:r>
          </a:p>
          <a:p>
            <a:r>
              <a:rPr lang="en-US" dirty="0"/>
              <a:t>Technology refresh needs to be part of the plan</a:t>
            </a:r>
          </a:p>
        </p:txBody>
      </p:sp>
    </p:spTree>
    <p:extLst>
      <p:ext uri="{BB962C8B-B14F-4D97-AF65-F5344CB8AC3E}">
        <p14:creationId xmlns:p14="http://schemas.microsoft.com/office/powerpoint/2010/main" val="526145488"/>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DED32-D49A-4612-85EB-9413DFECEED5}"/>
              </a:ext>
            </a:extLst>
          </p:cNvPr>
          <p:cNvSpPr>
            <a:spLocks noGrp="1"/>
          </p:cNvSpPr>
          <p:nvPr>
            <p:ph type="title"/>
          </p:nvPr>
        </p:nvSpPr>
        <p:spPr/>
        <p:txBody>
          <a:bodyPr/>
          <a:lstStyle/>
          <a:p>
            <a:r>
              <a:rPr lang="en-US"/>
              <a:t>Ethernet Considerations</a:t>
            </a:r>
          </a:p>
        </p:txBody>
      </p:sp>
      <p:sp>
        <p:nvSpPr>
          <p:cNvPr id="3" name="Content Placeholder 2">
            <a:extLst>
              <a:ext uri="{FF2B5EF4-FFF2-40B4-BE49-F238E27FC236}">
                <a16:creationId xmlns:a16="http://schemas.microsoft.com/office/drawing/2014/main" id="{59D8C13E-9B22-9657-DC3D-6226CCC07447}"/>
              </a:ext>
            </a:extLst>
          </p:cNvPr>
          <p:cNvSpPr>
            <a:spLocks noGrp="1"/>
          </p:cNvSpPr>
          <p:nvPr>
            <p:ph idx="1"/>
          </p:nvPr>
        </p:nvSpPr>
        <p:spPr/>
        <p:txBody>
          <a:bodyPr/>
          <a:lstStyle/>
          <a:p>
            <a:r>
              <a:rPr lang="en-US"/>
              <a:t>Switch location and access</a:t>
            </a:r>
          </a:p>
          <a:p>
            <a:r>
              <a:rPr lang="en-US"/>
              <a:t>Administrative access control</a:t>
            </a:r>
          </a:p>
          <a:p>
            <a:pPr lvl="1"/>
            <a:r>
              <a:rPr lang="en-US"/>
              <a:t>Limit who has access</a:t>
            </a:r>
          </a:p>
          <a:p>
            <a:pPr lvl="1"/>
            <a:r>
              <a:rPr lang="en-US"/>
              <a:t>Log access and changes</a:t>
            </a:r>
          </a:p>
          <a:p>
            <a:pPr lvl="1"/>
            <a:r>
              <a:rPr lang="en-US"/>
              <a:t>Closely manage remote access</a:t>
            </a:r>
          </a:p>
          <a:p>
            <a:r>
              <a:rPr lang="en-US"/>
              <a:t>Firmware and management software patching</a:t>
            </a:r>
          </a:p>
          <a:p>
            <a:r>
              <a:rPr lang="en-US"/>
              <a:t>Rogue device identification</a:t>
            </a:r>
          </a:p>
          <a:p>
            <a:r>
              <a:rPr lang="en-US"/>
              <a:t>VLAN design, management, interconnectivity</a:t>
            </a:r>
          </a:p>
          <a:p>
            <a:r>
              <a:rPr lang="en-US"/>
              <a:t>Encryption</a:t>
            </a:r>
          </a:p>
          <a:p>
            <a:endParaRPr lang="en-US"/>
          </a:p>
          <a:p>
            <a:endParaRPr lang="en-US"/>
          </a:p>
        </p:txBody>
      </p:sp>
      <p:grpSp>
        <p:nvGrpSpPr>
          <p:cNvPr id="13" name="Group 12">
            <a:extLst>
              <a:ext uri="{FF2B5EF4-FFF2-40B4-BE49-F238E27FC236}">
                <a16:creationId xmlns:a16="http://schemas.microsoft.com/office/drawing/2014/main" id="{D5150E4E-874E-9B9E-AC60-28B022AB397B}"/>
              </a:ext>
            </a:extLst>
          </p:cNvPr>
          <p:cNvGrpSpPr/>
          <p:nvPr/>
        </p:nvGrpSpPr>
        <p:grpSpPr>
          <a:xfrm>
            <a:off x="12459622" y="2079712"/>
            <a:ext cx="4234647" cy="3393988"/>
            <a:chOff x="1315253" y="2167491"/>
            <a:chExt cx="3095321" cy="2319932"/>
          </a:xfrm>
        </p:grpSpPr>
        <p:pic>
          <p:nvPicPr>
            <p:cNvPr id="4" name="Graphic 3" descr="Photocopier outline">
              <a:extLst>
                <a:ext uri="{FF2B5EF4-FFF2-40B4-BE49-F238E27FC236}">
                  <a16:creationId xmlns:a16="http://schemas.microsoft.com/office/drawing/2014/main" id="{D0BF5B13-400B-8DA4-CC1B-6F15B073B11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15253" y="3293776"/>
              <a:ext cx="914400" cy="914400"/>
            </a:xfrm>
            <a:prstGeom prst="rect">
              <a:avLst/>
            </a:prstGeom>
          </p:spPr>
        </p:pic>
        <p:pic>
          <p:nvPicPr>
            <p:cNvPr id="5" name="Graphic 4" descr="Laptop outline">
              <a:extLst>
                <a:ext uri="{FF2B5EF4-FFF2-40B4-BE49-F238E27FC236}">
                  <a16:creationId xmlns:a16="http://schemas.microsoft.com/office/drawing/2014/main" id="{B792D77B-0AAD-2CEE-7434-089D236A703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96174" y="2564137"/>
              <a:ext cx="914400" cy="914400"/>
            </a:xfrm>
            <a:prstGeom prst="rect">
              <a:avLst/>
            </a:prstGeom>
          </p:spPr>
        </p:pic>
        <p:pic>
          <p:nvPicPr>
            <p:cNvPr id="6" name="Graphic 5" descr="Laptop outline">
              <a:extLst>
                <a:ext uri="{FF2B5EF4-FFF2-40B4-BE49-F238E27FC236}">
                  <a16:creationId xmlns:a16="http://schemas.microsoft.com/office/drawing/2014/main" id="{292E2AD4-7E6D-D61F-C882-D31289EAB94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64849" y="2167491"/>
              <a:ext cx="914400" cy="914400"/>
            </a:xfrm>
            <a:prstGeom prst="rect">
              <a:avLst/>
            </a:prstGeom>
          </p:spPr>
        </p:pic>
        <p:pic>
          <p:nvPicPr>
            <p:cNvPr id="7" name="Picture 6" descr="Diagram&#10;&#10;Description automatically generated">
              <a:extLst>
                <a:ext uri="{FF2B5EF4-FFF2-40B4-BE49-F238E27FC236}">
                  <a16:creationId xmlns:a16="http://schemas.microsoft.com/office/drawing/2014/main" id="{0E2BA75D-A3F1-C204-5F4B-844D9318082B}"/>
                </a:ext>
              </a:extLst>
            </p:cNvPr>
            <p:cNvPicPr>
              <a:picLocks noChangeAspect="1"/>
            </p:cNvPicPr>
            <p:nvPr/>
          </p:nvPicPr>
          <p:blipFill rotWithShape="1">
            <a:blip r:embed="rId6">
              <a:extLst>
                <a:ext uri="{28A0092B-C50C-407E-A947-70E740481C1C}">
                  <a14:useLocalDpi xmlns:a14="http://schemas.microsoft.com/office/drawing/2010/main"/>
                </a:ext>
              </a:extLst>
            </a:blip>
            <a:srcRect/>
            <a:stretch/>
          </p:blipFill>
          <p:spPr>
            <a:xfrm>
              <a:off x="3060860" y="4081930"/>
              <a:ext cx="1314922" cy="405493"/>
            </a:xfrm>
            <a:prstGeom prst="rect">
              <a:avLst/>
            </a:prstGeom>
            <a:ln>
              <a:noFill/>
            </a:ln>
          </p:spPr>
        </p:pic>
        <p:cxnSp>
          <p:nvCxnSpPr>
            <p:cNvPr id="10" name="Straight Connector 9">
              <a:extLst>
                <a:ext uri="{FF2B5EF4-FFF2-40B4-BE49-F238E27FC236}">
                  <a16:creationId xmlns:a16="http://schemas.microsoft.com/office/drawing/2014/main" id="{5307012D-95D9-FEE4-D42E-E910F6B96886}"/>
                </a:ext>
              </a:extLst>
            </p:cNvPr>
            <p:cNvCxnSpPr>
              <a:cxnSpLocks/>
              <a:endCxn id="7" idx="1"/>
            </p:cNvCxnSpPr>
            <p:nvPr/>
          </p:nvCxnSpPr>
          <p:spPr>
            <a:xfrm>
              <a:off x="2167909" y="3764035"/>
              <a:ext cx="892951" cy="5206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6DE5296-9F4A-6E68-C1A1-38702AAB7B64}"/>
                </a:ext>
              </a:extLst>
            </p:cNvPr>
            <p:cNvCxnSpPr>
              <a:cxnSpLocks/>
            </p:cNvCxnSpPr>
            <p:nvPr/>
          </p:nvCxnSpPr>
          <p:spPr>
            <a:xfrm>
              <a:off x="2491675" y="2852781"/>
              <a:ext cx="985773" cy="12415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96F7B75-0314-77BC-5E73-C4214C143598}"/>
                </a:ext>
              </a:extLst>
            </p:cNvPr>
            <p:cNvCxnSpPr>
              <a:cxnSpLocks/>
            </p:cNvCxnSpPr>
            <p:nvPr/>
          </p:nvCxnSpPr>
          <p:spPr>
            <a:xfrm>
              <a:off x="3913086" y="3233337"/>
              <a:ext cx="15073" cy="8485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44731995"/>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DED32-D49A-4612-85EB-9413DFECEED5}"/>
              </a:ext>
            </a:extLst>
          </p:cNvPr>
          <p:cNvSpPr>
            <a:spLocks noGrp="1"/>
          </p:cNvSpPr>
          <p:nvPr>
            <p:ph type="title"/>
          </p:nvPr>
        </p:nvSpPr>
        <p:spPr/>
        <p:txBody>
          <a:bodyPr/>
          <a:lstStyle/>
          <a:p>
            <a:r>
              <a:rPr lang="en-US"/>
              <a:t>Wi-Fi Considerations</a:t>
            </a:r>
          </a:p>
        </p:txBody>
      </p:sp>
      <p:sp>
        <p:nvSpPr>
          <p:cNvPr id="3" name="Content Placeholder 2">
            <a:extLst>
              <a:ext uri="{FF2B5EF4-FFF2-40B4-BE49-F238E27FC236}">
                <a16:creationId xmlns:a16="http://schemas.microsoft.com/office/drawing/2014/main" id="{59D8C13E-9B22-9657-DC3D-6226CCC07447}"/>
              </a:ext>
            </a:extLst>
          </p:cNvPr>
          <p:cNvSpPr>
            <a:spLocks noGrp="1"/>
          </p:cNvSpPr>
          <p:nvPr>
            <p:ph idx="1"/>
          </p:nvPr>
        </p:nvSpPr>
        <p:spPr>
          <a:xfrm>
            <a:off x="1257300" y="2193131"/>
            <a:ext cx="12700000" cy="6967198"/>
          </a:xfrm>
        </p:spPr>
        <p:txBody>
          <a:bodyPr>
            <a:normAutofit lnSpcReduction="10000"/>
          </a:bodyPr>
          <a:lstStyle/>
          <a:p>
            <a:r>
              <a:rPr lang="en-US"/>
              <a:t>Access Points should be commercial grade</a:t>
            </a:r>
          </a:p>
          <a:p>
            <a:r>
              <a:rPr lang="en-US"/>
              <a:t>Firmware upgrade</a:t>
            </a:r>
          </a:p>
          <a:p>
            <a:r>
              <a:rPr lang="en-US"/>
              <a:t>Control access to resources through the creation of separate networks (SSIDs) based on need</a:t>
            </a:r>
          </a:p>
          <a:p>
            <a:r>
              <a:rPr lang="en-US"/>
              <a:t>Use strong passwords</a:t>
            </a:r>
          </a:p>
          <a:p>
            <a:pPr lvl="1"/>
            <a:r>
              <a:rPr lang="en-US"/>
              <a:t>Change policy</a:t>
            </a:r>
          </a:p>
          <a:p>
            <a:r>
              <a:rPr lang="en-US"/>
              <a:t>Rogue devices</a:t>
            </a:r>
          </a:p>
          <a:p>
            <a:r>
              <a:rPr lang="en-US"/>
              <a:t>Management access controls</a:t>
            </a:r>
          </a:p>
          <a:p>
            <a:r>
              <a:rPr lang="en-US"/>
              <a:t>Implement time profiles to stop after hour access</a:t>
            </a:r>
          </a:p>
          <a:p>
            <a:r>
              <a:rPr lang="en-US"/>
              <a:t>Mesh management</a:t>
            </a:r>
          </a:p>
          <a:p>
            <a:endParaRPr lang="en-US"/>
          </a:p>
        </p:txBody>
      </p:sp>
      <p:pic>
        <p:nvPicPr>
          <p:cNvPr id="5" name="Graphic 4" descr="Wireless with solid fill">
            <a:extLst>
              <a:ext uri="{FF2B5EF4-FFF2-40B4-BE49-F238E27FC236}">
                <a16:creationId xmlns:a16="http://schemas.microsoft.com/office/drawing/2014/main" id="{ACA6A5B6-DB23-E2B3-67A2-205A43F625A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973300" y="7175500"/>
            <a:ext cx="3314700" cy="3314700"/>
          </a:xfrm>
          <a:prstGeom prst="rect">
            <a:avLst/>
          </a:prstGeom>
        </p:spPr>
      </p:pic>
    </p:spTree>
    <p:extLst>
      <p:ext uri="{BB962C8B-B14F-4D97-AF65-F5344CB8AC3E}">
        <p14:creationId xmlns:p14="http://schemas.microsoft.com/office/powerpoint/2010/main" val="382017578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DED32-D49A-4612-85EB-9413DFECEED5}"/>
              </a:ext>
            </a:extLst>
          </p:cNvPr>
          <p:cNvSpPr>
            <a:spLocks noGrp="1"/>
          </p:cNvSpPr>
          <p:nvPr>
            <p:ph type="title"/>
          </p:nvPr>
        </p:nvSpPr>
        <p:spPr/>
        <p:txBody>
          <a:bodyPr/>
          <a:lstStyle/>
          <a:p>
            <a:r>
              <a:rPr lang="en-US"/>
              <a:t>WAN Considerations</a:t>
            </a:r>
          </a:p>
        </p:txBody>
      </p:sp>
      <p:sp>
        <p:nvSpPr>
          <p:cNvPr id="3" name="Content Placeholder 2">
            <a:extLst>
              <a:ext uri="{FF2B5EF4-FFF2-40B4-BE49-F238E27FC236}">
                <a16:creationId xmlns:a16="http://schemas.microsoft.com/office/drawing/2014/main" id="{59D8C13E-9B22-9657-DC3D-6226CCC07447}"/>
              </a:ext>
            </a:extLst>
          </p:cNvPr>
          <p:cNvSpPr>
            <a:spLocks noGrp="1"/>
          </p:cNvSpPr>
          <p:nvPr>
            <p:ph idx="1"/>
          </p:nvPr>
        </p:nvSpPr>
        <p:spPr>
          <a:xfrm>
            <a:off x="1257300" y="2193130"/>
            <a:ext cx="15773400" cy="7725569"/>
          </a:xfrm>
        </p:spPr>
        <p:txBody>
          <a:bodyPr>
            <a:normAutofit fontScale="92500" lnSpcReduction="10000"/>
          </a:bodyPr>
          <a:lstStyle/>
          <a:p>
            <a:r>
              <a:rPr lang="en-US"/>
              <a:t>Management access controls and logging</a:t>
            </a:r>
          </a:p>
          <a:p>
            <a:r>
              <a:rPr lang="en-US"/>
              <a:t>Provider and customer roles</a:t>
            </a:r>
          </a:p>
          <a:p>
            <a:r>
              <a:rPr lang="en-US"/>
              <a:t>Access</a:t>
            </a:r>
          </a:p>
          <a:p>
            <a:r>
              <a:rPr lang="en-US"/>
              <a:t>Business continuity</a:t>
            </a:r>
          </a:p>
          <a:p>
            <a:r>
              <a:rPr lang="en-US"/>
              <a:t>Private</a:t>
            </a:r>
          </a:p>
          <a:p>
            <a:pPr lvl="1"/>
            <a:r>
              <a:rPr lang="en-US"/>
              <a:t>SLAs</a:t>
            </a:r>
          </a:p>
          <a:p>
            <a:pPr lvl="1"/>
            <a:r>
              <a:rPr lang="en-US"/>
              <a:t>Encryption</a:t>
            </a:r>
          </a:p>
          <a:p>
            <a:pPr lvl="1"/>
            <a:r>
              <a:rPr lang="en-US"/>
              <a:t>Zone implementation</a:t>
            </a:r>
          </a:p>
          <a:p>
            <a:r>
              <a:rPr lang="en-US"/>
              <a:t>Internet</a:t>
            </a:r>
          </a:p>
          <a:p>
            <a:pPr lvl="1"/>
            <a:r>
              <a:rPr lang="en-US"/>
              <a:t>Perimeter protection (firewall, IDS/IPS…)</a:t>
            </a:r>
          </a:p>
          <a:p>
            <a:pPr lvl="1"/>
            <a:r>
              <a:rPr lang="en-US"/>
              <a:t>VPN management</a:t>
            </a:r>
          </a:p>
          <a:p>
            <a:pPr lvl="2"/>
            <a:r>
              <a:rPr lang="en-US"/>
              <a:t>Certificates, AAA...</a:t>
            </a:r>
          </a:p>
          <a:p>
            <a:pPr lvl="2"/>
            <a:r>
              <a:rPr lang="en-US"/>
              <a:t>Licenses</a:t>
            </a:r>
          </a:p>
        </p:txBody>
      </p:sp>
      <p:pic>
        <p:nvPicPr>
          <p:cNvPr id="5" name="Graphic 4" descr="Cloud outline">
            <a:extLst>
              <a:ext uri="{FF2B5EF4-FFF2-40B4-BE49-F238E27FC236}">
                <a16:creationId xmlns:a16="http://schemas.microsoft.com/office/drawing/2014/main" id="{A13AECB5-EF55-907F-268F-BD08F2F01A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96701" y="1304478"/>
            <a:ext cx="6625428" cy="7623622"/>
          </a:xfrm>
          <a:prstGeom prst="rect">
            <a:avLst/>
          </a:prstGeom>
        </p:spPr>
      </p:pic>
      <p:sp>
        <p:nvSpPr>
          <p:cNvPr id="6" name="TextBox 5">
            <a:extLst>
              <a:ext uri="{FF2B5EF4-FFF2-40B4-BE49-F238E27FC236}">
                <a16:creationId xmlns:a16="http://schemas.microsoft.com/office/drawing/2014/main" id="{7A91F7A1-963C-8619-AF06-9596CE59E94C}"/>
              </a:ext>
            </a:extLst>
          </p:cNvPr>
          <p:cNvSpPr txBox="1"/>
          <p:nvPr/>
        </p:nvSpPr>
        <p:spPr>
          <a:xfrm>
            <a:off x="13779500" y="4451011"/>
            <a:ext cx="2419252" cy="2062103"/>
          </a:xfrm>
          <a:prstGeom prst="rect">
            <a:avLst/>
          </a:prstGeom>
          <a:noFill/>
        </p:spPr>
        <p:txBody>
          <a:bodyPr wrap="none" rtlCol="0">
            <a:spAutoFit/>
          </a:bodyPr>
          <a:lstStyle/>
          <a:p>
            <a:pPr algn="ctr"/>
            <a:r>
              <a:rPr lang="en-US" sz="3200">
                <a:latin typeface="Helvetica Neue Medium" panose="02000503000000020004" pitchFamily="2" charset="0"/>
                <a:ea typeface="Helvetica Neue Medium" panose="02000503000000020004" pitchFamily="2" charset="0"/>
                <a:cs typeface="Helvetica Neue Medium" panose="02000503000000020004" pitchFamily="2" charset="0"/>
              </a:rPr>
              <a:t>Private Line</a:t>
            </a:r>
          </a:p>
          <a:p>
            <a:pPr algn="ctr"/>
            <a:r>
              <a:rPr lang="en-US" sz="3200">
                <a:latin typeface="Helvetica Neue Medium" panose="02000503000000020004" pitchFamily="2" charset="0"/>
                <a:ea typeface="Helvetica Neue Medium" panose="02000503000000020004" pitchFamily="2" charset="0"/>
                <a:cs typeface="Helvetica Neue Medium" panose="02000503000000020004" pitchFamily="2" charset="0"/>
              </a:rPr>
              <a:t>Ethernet</a:t>
            </a:r>
          </a:p>
          <a:p>
            <a:pPr algn="ctr"/>
            <a:r>
              <a:rPr lang="en-US" sz="3200">
                <a:latin typeface="Helvetica Neue Medium" panose="02000503000000020004" pitchFamily="2" charset="0"/>
                <a:ea typeface="Helvetica Neue Medium" panose="02000503000000020004" pitchFamily="2" charset="0"/>
                <a:cs typeface="Helvetica Neue Medium" panose="02000503000000020004" pitchFamily="2" charset="0"/>
              </a:rPr>
              <a:t>MPLS</a:t>
            </a:r>
          </a:p>
          <a:p>
            <a:pPr algn="ctr"/>
            <a:r>
              <a:rPr lang="en-US" sz="3200">
                <a:latin typeface="Helvetica Neue Medium" panose="02000503000000020004" pitchFamily="2" charset="0"/>
                <a:ea typeface="Helvetica Neue Medium" panose="02000503000000020004" pitchFamily="2" charset="0"/>
                <a:cs typeface="Helvetica Neue Medium" panose="02000503000000020004" pitchFamily="2" charset="0"/>
              </a:rPr>
              <a:t>internet</a:t>
            </a:r>
          </a:p>
        </p:txBody>
      </p:sp>
    </p:spTree>
    <p:extLst>
      <p:ext uri="{BB962C8B-B14F-4D97-AF65-F5344CB8AC3E}">
        <p14:creationId xmlns:p14="http://schemas.microsoft.com/office/powerpoint/2010/main" val="3735230770"/>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Ransomware: How It Moves Across a Bank Network</a:t>
            </a:r>
          </a:p>
        </p:txBody>
      </p:sp>
      <p:sp>
        <p:nvSpPr>
          <p:cNvPr id="3" name="Rw step 1"/>
          <p:cNvSpPr/>
          <p:nvPr/>
        </p:nvSpPr>
        <p:spPr>
          <a:xfrm>
            <a:off x="1257300" y="2697480"/>
            <a:ext cx="2377440" cy="914400"/>
          </a:xfrm>
          <a:prstGeom prst="homePlat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Rw step 1 text"/>
          <p:cNvSpPr txBox="1"/>
          <p:nvPr/>
        </p:nvSpPr>
        <p:spPr>
          <a:xfrm>
            <a:off x="1531620" y="2697480"/>
            <a:ext cx="2011680" cy="914400"/>
          </a:xfrm>
          <a:prstGeom prst="rect">
            <a:avLst/>
          </a:prstGeom>
          <a:noFill/>
        </p:spPr>
        <p:txBody>
          <a:bodyPr wrap="square" lIns="0" tIns="0" rIns="0" bIns="0" anchor="ctr">
            <a:spAutoFit/>
          </a:bodyPr>
          <a:lstStyle/>
          <a:p>
            <a:pPr algn="ctr">
              <a:spcAft>
                <a:spcPts val="600"/>
              </a:spcAft>
            </a:pPr>
            <a:r>
              <a:rPr sz="1800" b="1" i="0">
                <a:solidFill>
                  <a:srgbClr val="FFFFFF"/>
                </a:solidFill>
                <a:latin typeface="Helvetica Neue"/>
                <a:ea typeface="Helvetica Neue"/>
                <a:cs typeface="Helvetica Neue"/>
              </a:rPr>
              <a:t>1. Way in</a:t>
            </a:r>
          </a:p>
        </p:txBody>
      </p:sp>
      <p:sp>
        <p:nvSpPr>
          <p:cNvPr id="5" name="Rw what 1"/>
          <p:cNvSpPr/>
          <p:nvPr/>
        </p:nvSpPr>
        <p:spPr>
          <a:xfrm>
            <a:off x="1257300" y="3794760"/>
            <a:ext cx="2377440" cy="205740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6" name="Rw what 1 text"/>
          <p:cNvSpPr txBox="1"/>
          <p:nvPr/>
        </p:nvSpPr>
        <p:spPr>
          <a:xfrm>
            <a:off x="1394460" y="3886200"/>
            <a:ext cx="2103120" cy="1874519"/>
          </a:xfrm>
          <a:prstGeom prst="rect">
            <a:avLst/>
          </a:prstGeom>
          <a:noFill/>
        </p:spPr>
        <p:txBody>
          <a:bodyPr wrap="square" lIns="0" tIns="0" rIns="0" bIns="0" anchor="t">
            <a:spAutoFit/>
          </a:bodyPr>
          <a:lstStyle/>
          <a:p>
            <a:pPr algn="l">
              <a:spcAft>
                <a:spcPts val="600"/>
              </a:spcAft>
            </a:pPr>
            <a:r>
              <a:rPr sz="1800" b="0" i="0">
                <a:solidFill>
                  <a:srgbClr val="000000"/>
                </a:solidFill>
                <a:latin typeface="Helvetica Neue"/>
                <a:ea typeface="Helvetica Neue"/>
                <a:cs typeface="Helvetica Neue"/>
              </a:rPr>
              <a:t>Phishing, stolen VPN password, unpatched firewall, vendor access</a:t>
            </a:r>
          </a:p>
        </p:txBody>
      </p:sp>
      <p:cxnSp>
        <p:nvCxnSpPr>
          <p:cNvPr id="7" name="Rw down 1"/>
          <p:cNvCxnSpPr/>
          <p:nvPr/>
        </p:nvCxnSpPr>
        <p:spPr>
          <a:xfrm>
            <a:off x="2446020" y="5897880"/>
            <a:ext cx="0" cy="457200"/>
          </a:xfrm>
          <a:prstGeom prst="line">
            <a:avLst/>
          </a:prstGeom>
          <a:ln w="3810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w ctl 1"/>
          <p:cNvSpPr/>
          <p:nvPr/>
        </p:nvSpPr>
        <p:spPr>
          <a:xfrm>
            <a:off x="1257300" y="6400800"/>
            <a:ext cx="2377440" cy="2057400"/>
          </a:xfrm>
          <a:prstGeom prst="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9" name="Rw ctl 1 text"/>
          <p:cNvSpPr txBox="1"/>
          <p:nvPr/>
        </p:nvSpPr>
        <p:spPr>
          <a:xfrm>
            <a:off x="1394460" y="6492240"/>
            <a:ext cx="2103120" cy="1874519"/>
          </a:xfrm>
          <a:prstGeom prst="rect">
            <a:avLst/>
          </a:prstGeom>
          <a:noFill/>
        </p:spPr>
        <p:txBody>
          <a:bodyPr wrap="square" lIns="0" tIns="0" rIns="0" bIns="0" anchor="t">
            <a:spAutoFit/>
          </a:bodyPr>
          <a:lstStyle/>
          <a:p>
            <a:pPr algn="l">
              <a:spcAft>
                <a:spcPts val="600"/>
              </a:spcAft>
            </a:pPr>
            <a:r>
              <a:rPr sz="1800" b="1" i="0">
                <a:solidFill>
                  <a:srgbClr val="000000"/>
                </a:solidFill>
                <a:latin typeface="Helvetica Neue"/>
                <a:ea typeface="Helvetica Neue"/>
                <a:cs typeface="Helvetica Neue"/>
              </a:rPr>
              <a:t>MFA on all remote access; patch edge devices</a:t>
            </a:r>
          </a:p>
        </p:txBody>
      </p:sp>
      <p:sp>
        <p:nvSpPr>
          <p:cNvPr id="10" name="Rw step 2"/>
          <p:cNvSpPr/>
          <p:nvPr/>
        </p:nvSpPr>
        <p:spPr>
          <a:xfrm>
            <a:off x="3936491" y="2697480"/>
            <a:ext cx="2377440" cy="914400"/>
          </a:xfrm>
          <a:prstGeom prst="chevron">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1" name="Rw step 2 text"/>
          <p:cNvSpPr txBox="1"/>
          <p:nvPr/>
        </p:nvSpPr>
        <p:spPr>
          <a:xfrm>
            <a:off x="4210812" y="2697480"/>
            <a:ext cx="2011680" cy="914400"/>
          </a:xfrm>
          <a:prstGeom prst="rect">
            <a:avLst/>
          </a:prstGeom>
          <a:noFill/>
        </p:spPr>
        <p:txBody>
          <a:bodyPr wrap="square" lIns="0" tIns="0" rIns="0" bIns="0" anchor="ctr">
            <a:spAutoFit/>
          </a:bodyPr>
          <a:lstStyle/>
          <a:p>
            <a:pPr algn="ctr">
              <a:spcAft>
                <a:spcPts val="600"/>
              </a:spcAft>
            </a:pPr>
            <a:r>
              <a:rPr sz="1800" b="1" i="0">
                <a:solidFill>
                  <a:srgbClr val="FFFFFF"/>
                </a:solidFill>
                <a:latin typeface="Helvetica Neue"/>
                <a:ea typeface="Helvetica Neue"/>
                <a:cs typeface="Helvetica Neue"/>
              </a:rPr>
              <a:t>2. Foothold</a:t>
            </a:r>
          </a:p>
        </p:txBody>
      </p:sp>
      <p:sp>
        <p:nvSpPr>
          <p:cNvPr id="12" name="Rw what 2"/>
          <p:cNvSpPr/>
          <p:nvPr/>
        </p:nvSpPr>
        <p:spPr>
          <a:xfrm>
            <a:off x="3936491" y="3794760"/>
            <a:ext cx="2377440" cy="205740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3" name="Rw what 2 text"/>
          <p:cNvSpPr txBox="1"/>
          <p:nvPr/>
        </p:nvSpPr>
        <p:spPr>
          <a:xfrm>
            <a:off x="4073652" y="3886200"/>
            <a:ext cx="2103120" cy="1874519"/>
          </a:xfrm>
          <a:prstGeom prst="rect">
            <a:avLst/>
          </a:prstGeom>
          <a:noFill/>
        </p:spPr>
        <p:txBody>
          <a:bodyPr wrap="square" lIns="0" tIns="0" rIns="0" bIns="0" anchor="t">
            <a:spAutoFit/>
          </a:bodyPr>
          <a:lstStyle/>
          <a:p>
            <a:pPr algn="l">
              <a:spcAft>
                <a:spcPts val="600"/>
              </a:spcAft>
            </a:pPr>
            <a:r>
              <a:rPr sz="1800" b="0" i="0">
                <a:solidFill>
                  <a:srgbClr val="000000"/>
                </a:solidFill>
                <a:latin typeface="Helvetica Neue"/>
                <a:ea typeface="Helvetica Neue"/>
                <a:cs typeface="Helvetica Neue"/>
              </a:rPr>
              <a:t>One PC or one account</a:t>
            </a:r>
          </a:p>
        </p:txBody>
      </p:sp>
      <p:cxnSp>
        <p:nvCxnSpPr>
          <p:cNvPr id="14" name="Rw down 2"/>
          <p:cNvCxnSpPr/>
          <p:nvPr/>
        </p:nvCxnSpPr>
        <p:spPr>
          <a:xfrm>
            <a:off x="5125212" y="5897880"/>
            <a:ext cx="0" cy="457200"/>
          </a:xfrm>
          <a:prstGeom prst="line">
            <a:avLst/>
          </a:prstGeom>
          <a:ln w="3810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w ctl 2"/>
          <p:cNvSpPr/>
          <p:nvPr/>
        </p:nvSpPr>
        <p:spPr>
          <a:xfrm>
            <a:off x="3936491" y="6400800"/>
            <a:ext cx="2377440" cy="2057400"/>
          </a:xfrm>
          <a:prstGeom prst="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6" name="Rw ctl 2 text"/>
          <p:cNvSpPr txBox="1"/>
          <p:nvPr/>
        </p:nvSpPr>
        <p:spPr>
          <a:xfrm>
            <a:off x="4073652" y="6492240"/>
            <a:ext cx="2103120" cy="1874519"/>
          </a:xfrm>
          <a:prstGeom prst="rect">
            <a:avLst/>
          </a:prstGeom>
          <a:noFill/>
        </p:spPr>
        <p:txBody>
          <a:bodyPr wrap="square" lIns="0" tIns="0" rIns="0" bIns="0" anchor="t">
            <a:spAutoFit/>
          </a:bodyPr>
          <a:lstStyle/>
          <a:p>
            <a:pPr algn="l">
              <a:spcAft>
                <a:spcPts val="600"/>
              </a:spcAft>
            </a:pPr>
            <a:r>
              <a:rPr sz="1800" b="1" i="0">
                <a:solidFill>
                  <a:srgbClr val="000000"/>
                </a:solidFill>
                <a:latin typeface="Helvetica Neue"/>
                <a:ea typeface="Helvetica Neue"/>
                <a:cs typeface="Helvetica Neue"/>
              </a:rPr>
              <a:t>Endpoint detection (EDR)</a:t>
            </a:r>
          </a:p>
        </p:txBody>
      </p:sp>
      <p:sp>
        <p:nvSpPr>
          <p:cNvPr id="17" name="Rw step 3"/>
          <p:cNvSpPr/>
          <p:nvPr/>
        </p:nvSpPr>
        <p:spPr>
          <a:xfrm>
            <a:off x="6615684" y="2697480"/>
            <a:ext cx="2377440" cy="914400"/>
          </a:xfrm>
          <a:prstGeom prst="chevron">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8" name="Rw step 3 text"/>
          <p:cNvSpPr txBox="1"/>
          <p:nvPr/>
        </p:nvSpPr>
        <p:spPr>
          <a:xfrm>
            <a:off x="6890004" y="2697480"/>
            <a:ext cx="2011680" cy="914400"/>
          </a:xfrm>
          <a:prstGeom prst="rect">
            <a:avLst/>
          </a:prstGeom>
          <a:noFill/>
        </p:spPr>
        <p:txBody>
          <a:bodyPr wrap="square" lIns="0" tIns="0" rIns="0" bIns="0" anchor="ctr">
            <a:spAutoFit/>
          </a:bodyPr>
          <a:lstStyle/>
          <a:p>
            <a:pPr algn="ctr">
              <a:spcAft>
                <a:spcPts val="600"/>
              </a:spcAft>
            </a:pPr>
            <a:r>
              <a:rPr sz="1800" b="1" i="0">
                <a:solidFill>
                  <a:srgbClr val="FFFFFF"/>
                </a:solidFill>
                <a:latin typeface="Helvetica Neue"/>
                <a:ea typeface="Helvetica Neue"/>
                <a:cs typeface="Helvetica Neue"/>
              </a:rPr>
              <a:t>3. Spread</a:t>
            </a:r>
          </a:p>
        </p:txBody>
      </p:sp>
      <p:sp>
        <p:nvSpPr>
          <p:cNvPr id="19" name="Rw what 3"/>
          <p:cNvSpPr/>
          <p:nvPr/>
        </p:nvSpPr>
        <p:spPr>
          <a:xfrm>
            <a:off x="6615684" y="3794760"/>
            <a:ext cx="2377440" cy="205740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0" name="Rw what 3 text"/>
          <p:cNvSpPr txBox="1"/>
          <p:nvPr/>
        </p:nvSpPr>
        <p:spPr>
          <a:xfrm>
            <a:off x="6752844" y="3886200"/>
            <a:ext cx="2103120" cy="1874519"/>
          </a:xfrm>
          <a:prstGeom prst="rect">
            <a:avLst/>
          </a:prstGeom>
          <a:noFill/>
        </p:spPr>
        <p:txBody>
          <a:bodyPr wrap="square" lIns="0" tIns="0" rIns="0" bIns="0" anchor="t">
            <a:spAutoFit/>
          </a:bodyPr>
          <a:lstStyle/>
          <a:p>
            <a:pPr algn="l">
              <a:spcAft>
                <a:spcPts val="600"/>
              </a:spcAft>
            </a:pPr>
            <a:r>
              <a:rPr sz="1800" b="0" i="0">
                <a:solidFill>
                  <a:srgbClr val="000000"/>
                </a:solidFill>
                <a:latin typeface="Helvetica Neue"/>
                <a:ea typeface="Helvetica Neue"/>
                <a:cs typeface="Helvetica Neue"/>
              </a:rPr>
              <a:t>Moves laterally, collects admin passwords</a:t>
            </a:r>
          </a:p>
        </p:txBody>
      </p:sp>
      <p:cxnSp>
        <p:nvCxnSpPr>
          <p:cNvPr id="21" name="Rw down 3"/>
          <p:cNvCxnSpPr/>
          <p:nvPr/>
        </p:nvCxnSpPr>
        <p:spPr>
          <a:xfrm>
            <a:off x="7804404" y="5897880"/>
            <a:ext cx="0" cy="457200"/>
          </a:xfrm>
          <a:prstGeom prst="line">
            <a:avLst/>
          </a:prstGeom>
          <a:ln w="3810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w ctl 3"/>
          <p:cNvSpPr/>
          <p:nvPr/>
        </p:nvSpPr>
        <p:spPr>
          <a:xfrm>
            <a:off x="6615684" y="6400800"/>
            <a:ext cx="2377440" cy="2057400"/>
          </a:xfrm>
          <a:prstGeom prst="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3" name="Rw ctl 3 text"/>
          <p:cNvSpPr txBox="1"/>
          <p:nvPr/>
        </p:nvSpPr>
        <p:spPr>
          <a:xfrm>
            <a:off x="6752844" y="6492240"/>
            <a:ext cx="2103120" cy="1874519"/>
          </a:xfrm>
          <a:prstGeom prst="rect">
            <a:avLst/>
          </a:prstGeom>
          <a:noFill/>
        </p:spPr>
        <p:txBody>
          <a:bodyPr wrap="square" lIns="0" tIns="0" rIns="0" bIns="0" anchor="t">
            <a:spAutoFit/>
          </a:bodyPr>
          <a:lstStyle/>
          <a:p>
            <a:pPr algn="l">
              <a:spcAft>
                <a:spcPts val="600"/>
              </a:spcAft>
            </a:pPr>
            <a:r>
              <a:rPr sz="1800" b="1" i="0">
                <a:solidFill>
                  <a:srgbClr val="000000"/>
                </a:solidFill>
                <a:latin typeface="Helvetica Neue"/>
                <a:ea typeface="Helvetica Neue"/>
                <a:cs typeface="Helvetica Neue"/>
              </a:rPr>
              <a:t>Segmentation; separate admin accounts</a:t>
            </a:r>
          </a:p>
        </p:txBody>
      </p:sp>
      <p:sp>
        <p:nvSpPr>
          <p:cNvPr id="24" name="Rw step 4"/>
          <p:cNvSpPr/>
          <p:nvPr/>
        </p:nvSpPr>
        <p:spPr>
          <a:xfrm>
            <a:off x="9294876" y="2697480"/>
            <a:ext cx="2377440" cy="914400"/>
          </a:xfrm>
          <a:prstGeom prst="chevron">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5" name="Rw step 4 text"/>
          <p:cNvSpPr txBox="1"/>
          <p:nvPr/>
        </p:nvSpPr>
        <p:spPr>
          <a:xfrm>
            <a:off x="9569196" y="2697480"/>
            <a:ext cx="2011680" cy="914400"/>
          </a:xfrm>
          <a:prstGeom prst="rect">
            <a:avLst/>
          </a:prstGeom>
          <a:noFill/>
        </p:spPr>
        <p:txBody>
          <a:bodyPr wrap="square" lIns="0" tIns="0" rIns="0" bIns="0" anchor="ctr">
            <a:spAutoFit/>
          </a:bodyPr>
          <a:lstStyle/>
          <a:p>
            <a:pPr algn="ctr">
              <a:spcAft>
                <a:spcPts val="600"/>
              </a:spcAft>
            </a:pPr>
            <a:r>
              <a:rPr sz="1800" b="1" i="0">
                <a:solidFill>
                  <a:srgbClr val="FFFFFF"/>
                </a:solidFill>
                <a:latin typeface="Helvetica Neue"/>
                <a:ea typeface="Helvetica Neue"/>
                <a:cs typeface="Helvetica Neue"/>
              </a:rPr>
              <a:t>4. Steal</a:t>
            </a:r>
          </a:p>
        </p:txBody>
      </p:sp>
      <p:sp>
        <p:nvSpPr>
          <p:cNvPr id="26" name="Rw what 4"/>
          <p:cNvSpPr/>
          <p:nvPr/>
        </p:nvSpPr>
        <p:spPr>
          <a:xfrm>
            <a:off x="9294876" y="3794760"/>
            <a:ext cx="2377440" cy="205740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7" name="Rw what 4 text"/>
          <p:cNvSpPr txBox="1"/>
          <p:nvPr/>
        </p:nvSpPr>
        <p:spPr>
          <a:xfrm>
            <a:off x="9432036" y="3886200"/>
            <a:ext cx="2103120" cy="1874519"/>
          </a:xfrm>
          <a:prstGeom prst="rect">
            <a:avLst/>
          </a:prstGeom>
          <a:noFill/>
        </p:spPr>
        <p:txBody>
          <a:bodyPr wrap="square" lIns="0" tIns="0" rIns="0" bIns="0" anchor="t">
            <a:spAutoFit/>
          </a:bodyPr>
          <a:lstStyle/>
          <a:p>
            <a:pPr algn="l">
              <a:spcAft>
                <a:spcPts val="600"/>
              </a:spcAft>
            </a:pPr>
            <a:r>
              <a:rPr sz="1800" b="0" i="0">
                <a:solidFill>
                  <a:srgbClr val="000000"/>
                </a:solidFill>
                <a:latin typeface="Helvetica Neue"/>
                <a:ea typeface="Helvetica Neue"/>
                <a:cs typeface="Helvetica Neue"/>
              </a:rPr>
              <a:t>Copies data out over the internet</a:t>
            </a:r>
          </a:p>
        </p:txBody>
      </p:sp>
      <p:cxnSp>
        <p:nvCxnSpPr>
          <p:cNvPr id="28" name="Rw down 4"/>
          <p:cNvCxnSpPr/>
          <p:nvPr/>
        </p:nvCxnSpPr>
        <p:spPr>
          <a:xfrm>
            <a:off x="10483596" y="5897880"/>
            <a:ext cx="0" cy="457200"/>
          </a:xfrm>
          <a:prstGeom prst="line">
            <a:avLst/>
          </a:prstGeom>
          <a:ln w="3810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w ctl 4"/>
          <p:cNvSpPr/>
          <p:nvPr/>
        </p:nvSpPr>
        <p:spPr>
          <a:xfrm>
            <a:off x="9294876" y="6400800"/>
            <a:ext cx="2377440" cy="2057400"/>
          </a:xfrm>
          <a:prstGeom prst="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0" name="Rw ctl 4 text"/>
          <p:cNvSpPr txBox="1"/>
          <p:nvPr/>
        </p:nvSpPr>
        <p:spPr>
          <a:xfrm>
            <a:off x="9432036" y="6492240"/>
            <a:ext cx="2103120" cy="1874519"/>
          </a:xfrm>
          <a:prstGeom prst="rect">
            <a:avLst/>
          </a:prstGeom>
          <a:noFill/>
        </p:spPr>
        <p:txBody>
          <a:bodyPr wrap="square" lIns="0" tIns="0" rIns="0" bIns="0" anchor="t">
            <a:spAutoFit/>
          </a:bodyPr>
          <a:lstStyle/>
          <a:p>
            <a:pPr algn="l">
              <a:spcAft>
                <a:spcPts val="600"/>
              </a:spcAft>
            </a:pPr>
            <a:r>
              <a:rPr sz="1800" b="1" i="0">
                <a:solidFill>
                  <a:srgbClr val="000000"/>
                </a:solidFill>
                <a:latin typeface="Helvetica Neue"/>
                <a:ea typeface="Helvetica Neue"/>
                <a:cs typeface="Helvetica Neue"/>
              </a:rPr>
              <a:t>Egress monitoring; protective DNS</a:t>
            </a:r>
          </a:p>
        </p:txBody>
      </p:sp>
      <p:sp>
        <p:nvSpPr>
          <p:cNvPr id="31" name="Rw step 5"/>
          <p:cNvSpPr/>
          <p:nvPr/>
        </p:nvSpPr>
        <p:spPr>
          <a:xfrm>
            <a:off x="11974068" y="2697480"/>
            <a:ext cx="2377440" cy="914400"/>
          </a:xfrm>
          <a:prstGeom prst="chevron">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2" name="Rw step 5 text"/>
          <p:cNvSpPr txBox="1"/>
          <p:nvPr/>
        </p:nvSpPr>
        <p:spPr>
          <a:xfrm>
            <a:off x="12248388" y="2697480"/>
            <a:ext cx="2011680" cy="914400"/>
          </a:xfrm>
          <a:prstGeom prst="rect">
            <a:avLst/>
          </a:prstGeom>
          <a:noFill/>
        </p:spPr>
        <p:txBody>
          <a:bodyPr wrap="square" lIns="0" tIns="0" rIns="0" bIns="0" anchor="ctr">
            <a:spAutoFit/>
          </a:bodyPr>
          <a:lstStyle/>
          <a:p>
            <a:pPr algn="ctr">
              <a:spcAft>
                <a:spcPts val="600"/>
              </a:spcAft>
            </a:pPr>
            <a:r>
              <a:rPr sz="1800" b="1" i="0">
                <a:solidFill>
                  <a:srgbClr val="FFFFFF"/>
                </a:solidFill>
                <a:latin typeface="Helvetica Neue"/>
                <a:ea typeface="Helvetica Neue"/>
                <a:cs typeface="Helvetica Neue"/>
              </a:rPr>
              <a:t>5. Encrypt</a:t>
            </a:r>
          </a:p>
        </p:txBody>
      </p:sp>
      <p:sp>
        <p:nvSpPr>
          <p:cNvPr id="33" name="Rw what 5"/>
          <p:cNvSpPr/>
          <p:nvPr/>
        </p:nvSpPr>
        <p:spPr>
          <a:xfrm>
            <a:off x="11974068" y="3794760"/>
            <a:ext cx="2377440" cy="205740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4" name="Rw what 5 text"/>
          <p:cNvSpPr txBox="1"/>
          <p:nvPr/>
        </p:nvSpPr>
        <p:spPr>
          <a:xfrm>
            <a:off x="12111228" y="3886200"/>
            <a:ext cx="2103120" cy="1874519"/>
          </a:xfrm>
          <a:prstGeom prst="rect">
            <a:avLst/>
          </a:prstGeom>
          <a:noFill/>
        </p:spPr>
        <p:txBody>
          <a:bodyPr wrap="square" lIns="0" tIns="0" rIns="0" bIns="0" anchor="t">
            <a:spAutoFit/>
          </a:bodyPr>
          <a:lstStyle/>
          <a:p>
            <a:pPr algn="l">
              <a:spcAft>
                <a:spcPts val="600"/>
              </a:spcAft>
            </a:pPr>
            <a:r>
              <a:rPr sz="1800" b="0" i="0">
                <a:solidFill>
                  <a:srgbClr val="000000"/>
                </a:solidFill>
                <a:latin typeface="Helvetica Neue"/>
                <a:ea typeface="Helvetica Neue"/>
                <a:cs typeface="Helvetica Neue"/>
              </a:rPr>
              <a:t>Servers, shares, backups</a:t>
            </a:r>
          </a:p>
        </p:txBody>
      </p:sp>
      <p:cxnSp>
        <p:nvCxnSpPr>
          <p:cNvPr id="35" name="Rw down 5"/>
          <p:cNvCxnSpPr/>
          <p:nvPr/>
        </p:nvCxnSpPr>
        <p:spPr>
          <a:xfrm>
            <a:off x="13162788" y="5897880"/>
            <a:ext cx="0" cy="457200"/>
          </a:xfrm>
          <a:prstGeom prst="line">
            <a:avLst/>
          </a:prstGeom>
          <a:ln w="3810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w ctl 5"/>
          <p:cNvSpPr/>
          <p:nvPr/>
        </p:nvSpPr>
        <p:spPr>
          <a:xfrm>
            <a:off x="11974068" y="6400800"/>
            <a:ext cx="2377440" cy="2057400"/>
          </a:xfrm>
          <a:prstGeom prst="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7" name="Rw ctl 5 text"/>
          <p:cNvSpPr txBox="1"/>
          <p:nvPr/>
        </p:nvSpPr>
        <p:spPr>
          <a:xfrm>
            <a:off x="12111228" y="6492240"/>
            <a:ext cx="2103120" cy="1874519"/>
          </a:xfrm>
          <a:prstGeom prst="rect">
            <a:avLst/>
          </a:prstGeom>
          <a:noFill/>
        </p:spPr>
        <p:txBody>
          <a:bodyPr wrap="square" lIns="0" tIns="0" rIns="0" bIns="0" anchor="t">
            <a:spAutoFit/>
          </a:bodyPr>
          <a:lstStyle/>
          <a:p>
            <a:pPr algn="l">
              <a:spcAft>
                <a:spcPts val="600"/>
              </a:spcAft>
            </a:pPr>
            <a:r>
              <a:rPr sz="1800" b="1" i="0">
                <a:solidFill>
                  <a:srgbClr val="000000"/>
                </a:solidFill>
                <a:latin typeface="Helvetica Neue"/>
                <a:ea typeface="Helvetica Neue"/>
                <a:cs typeface="Helvetica Neue"/>
              </a:rPr>
              <a:t>Offline or immutable backups</a:t>
            </a:r>
          </a:p>
        </p:txBody>
      </p:sp>
      <p:sp>
        <p:nvSpPr>
          <p:cNvPr id="38" name="Rw step 6"/>
          <p:cNvSpPr/>
          <p:nvPr/>
        </p:nvSpPr>
        <p:spPr>
          <a:xfrm>
            <a:off x="14653259" y="2697480"/>
            <a:ext cx="2377440" cy="914400"/>
          </a:xfrm>
          <a:prstGeom prst="chevron">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9" name="Rw step 6 text"/>
          <p:cNvSpPr txBox="1"/>
          <p:nvPr/>
        </p:nvSpPr>
        <p:spPr>
          <a:xfrm>
            <a:off x="14927580" y="2697480"/>
            <a:ext cx="2011680" cy="914400"/>
          </a:xfrm>
          <a:prstGeom prst="rect">
            <a:avLst/>
          </a:prstGeom>
          <a:noFill/>
        </p:spPr>
        <p:txBody>
          <a:bodyPr wrap="square" lIns="0" tIns="0" rIns="0" bIns="0" anchor="ctr">
            <a:spAutoFit/>
          </a:bodyPr>
          <a:lstStyle/>
          <a:p>
            <a:pPr algn="ctr">
              <a:spcAft>
                <a:spcPts val="600"/>
              </a:spcAft>
            </a:pPr>
            <a:r>
              <a:rPr sz="1800" b="1" i="0">
                <a:solidFill>
                  <a:srgbClr val="FFFFFF"/>
                </a:solidFill>
                <a:latin typeface="Helvetica Neue"/>
                <a:ea typeface="Helvetica Neue"/>
                <a:cs typeface="Helvetica Neue"/>
              </a:rPr>
              <a:t>6. Extort</a:t>
            </a:r>
          </a:p>
        </p:txBody>
      </p:sp>
      <p:sp>
        <p:nvSpPr>
          <p:cNvPr id="40" name="Rw what 6"/>
          <p:cNvSpPr/>
          <p:nvPr/>
        </p:nvSpPr>
        <p:spPr>
          <a:xfrm>
            <a:off x="14653259" y="3794760"/>
            <a:ext cx="2377440" cy="205740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1" name="Rw what 6 text"/>
          <p:cNvSpPr txBox="1"/>
          <p:nvPr/>
        </p:nvSpPr>
        <p:spPr>
          <a:xfrm>
            <a:off x="14790419" y="3886200"/>
            <a:ext cx="2103120" cy="1874519"/>
          </a:xfrm>
          <a:prstGeom prst="rect">
            <a:avLst/>
          </a:prstGeom>
          <a:noFill/>
        </p:spPr>
        <p:txBody>
          <a:bodyPr wrap="square" lIns="0" tIns="0" rIns="0" bIns="0" anchor="t">
            <a:spAutoFit/>
          </a:bodyPr>
          <a:lstStyle/>
          <a:p>
            <a:pPr algn="l">
              <a:spcAft>
                <a:spcPts val="600"/>
              </a:spcAft>
            </a:pPr>
            <a:r>
              <a:rPr sz="1800" b="0" i="0">
                <a:solidFill>
                  <a:srgbClr val="000000"/>
                </a:solidFill>
                <a:latin typeface="Helvetica Neue"/>
                <a:ea typeface="Helvetica Neue"/>
                <a:cs typeface="Helvetica Neue"/>
              </a:rPr>
              <a:t>Pay to decrypt; pay to not publish</a:t>
            </a:r>
          </a:p>
        </p:txBody>
      </p:sp>
      <p:cxnSp>
        <p:nvCxnSpPr>
          <p:cNvPr id="42" name="Rw down 6"/>
          <p:cNvCxnSpPr/>
          <p:nvPr/>
        </p:nvCxnSpPr>
        <p:spPr>
          <a:xfrm>
            <a:off x="15841980" y="5897880"/>
            <a:ext cx="0" cy="457200"/>
          </a:xfrm>
          <a:prstGeom prst="line">
            <a:avLst/>
          </a:prstGeom>
          <a:ln w="3810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w ctl 6"/>
          <p:cNvSpPr/>
          <p:nvPr/>
        </p:nvSpPr>
        <p:spPr>
          <a:xfrm>
            <a:off x="14653259" y="6400800"/>
            <a:ext cx="2377440" cy="2057400"/>
          </a:xfrm>
          <a:prstGeom prst="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4" name="Rw ctl 6 text"/>
          <p:cNvSpPr txBox="1"/>
          <p:nvPr/>
        </p:nvSpPr>
        <p:spPr>
          <a:xfrm>
            <a:off x="14790419" y="6492240"/>
            <a:ext cx="2103120" cy="1874519"/>
          </a:xfrm>
          <a:prstGeom prst="rect">
            <a:avLst/>
          </a:prstGeom>
          <a:noFill/>
        </p:spPr>
        <p:txBody>
          <a:bodyPr wrap="square" lIns="0" tIns="0" rIns="0" bIns="0" anchor="t">
            <a:spAutoFit/>
          </a:bodyPr>
          <a:lstStyle/>
          <a:p>
            <a:pPr algn="l">
              <a:spcAft>
                <a:spcPts val="600"/>
              </a:spcAft>
            </a:pPr>
            <a:r>
              <a:rPr sz="1800" b="1" i="0">
                <a:solidFill>
                  <a:srgbClr val="000000"/>
                </a:solidFill>
                <a:latin typeface="Helvetica Neue"/>
                <a:ea typeface="Helvetica Neue"/>
                <a:cs typeface="Helvetica Neue"/>
              </a:rPr>
              <a:t>A tested incident response plan</a:t>
            </a:r>
          </a:p>
        </p:txBody>
      </p:sp>
      <p:sp>
        <p:nvSpPr>
          <p:cNvPr id="45" name="Rw banner"/>
          <p:cNvSpPr/>
          <p:nvPr/>
        </p:nvSpPr>
        <p:spPr>
          <a:xfrm>
            <a:off x="1257300" y="8686800"/>
            <a:ext cx="15773400" cy="68580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6" name="Rw banner text"/>
          <p:cNvSpPr txBox="1"/>
          <p:nvPr/>
        </p:nvSpPr>
        <p:spPr>
          <a:xfrm>
            <a:off x="1554480" y="8732520"/>
            <a:ext cx="15179040" cy="594360"/>
          </a:xfrm>
          <a:prstGeom prst="rect">
            <a:avLst/>
          </a:prstGeom>
          <a:noFill/>
        </p:spPr>
        <p:txBody>
          <a:bodyPr wrap="square" lIns="0" tIns="0" rIns="0" bIns="0" anchor="ctr">
            <a:spAutoFit/>
          </a:bodyPr>
          <a:lstStyle/>
          <a:p>
            <a:pPr algn="ctr">
              <a:spcAft>
                <a:spcPts val="600"/>
              </a:spcAft>
            </a:pPr>
            <a:r>
              <a:rPr sz="2000" b="1" i="0">
                <a:solidFill>
                  <a:srgbClr val="000000"/>
                </a:solidFill>
                <a:latin typeface="Helvetica Neue"/>
                <a:ea typeface="Helvetica Neue"/>
                <a:cs typeface="Helvetica Neue"/>
              </a:rPr>
              <a:t>Six chances to break the chain, and most are network controls from this week.</a:t>
            </a: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Supply Chain Attacks: When the Vendor Is the Way In</a:t>
            </a:r>
          </a:p>
        </p:txBody>
      </p:sp>
      <p:pic>
        <p:nvPicPr>
          <p:cNvPr id="3" name="SC vendor"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00199" y="3429000"/>
            <a:ext cx="1005840" cy="1005840"/>
          </a:xfrm>
          <a:prstGeom prst="rect">
            <a:avLst/>
          </a:prstGeom>
        </p:spPr>
      </p:pic>
      <p:sp>
        <p:nvSpPr>
          <p:cNvPr id="4" name="SC vendor text"/>
          <p:cNvSpPr txBox="1"/>
          <p:nvPr/>
        </p:nvSpPr>
        <p:spPr>
          <a:xfrm>
            <a:off x="1257300" y="4572000"/>
            <a:ext cx="1737360" cy="731520"/>
          </a:xfrm>
          <a:prstGeom prst="rect">
            <a:avLst/>
          </a:prstGeom>
          <a:noFill/>
        </p:spPr>
        <p:txBody>
          <a:bodyPr wrap="square" lIns="0" tIns="0" rIns="0" bIns="0" anchor="t">
            <a:spAutoFit/>
          </a:bodyPr>
          <a:lstStyle/>
          <a:p>
            <a:pPr algn="ctr">
              <a:spcAft>
                <a:spcPts val="0"/>
              </a:spcAft>
            </a:pPr>
            <a:r>
              <a:rPr sz="1700" b="1" i="0">
                <a:solidFill>
                  <a:srgbClr val="000000"/>
                </a:solidFill>
                <a:latin typeface="Helvetica Neue"/>
                <a:ea typeface="Helvetica Neue"/>
                <a:cs typeface="Helvetica Neue"/>
              </a:rPr>
              <a:t>Vendor</a:t>
            </a:r>
          </a:p>
          <a:p>
            <a:pPr algn="ctr">
              <a:spcAft>
                <a:spcPts val="0"/>
              </a:spcAft>
            </a:pPr>
            <a:r>
              <a:rPr sz="1400" b="0" i="0">
                <a:solidFill>
                  <a:srgbClr val="404040"/>
                </a:solidFill>
                <a:latin typeface="Helvetica Neue"/>
                <a:ea typeface="Helvetica Neue"/>
                <a:cs typeface="Helvetica Neue"/>
              </a:rPr>
              <a:t>software update</a:t>
            </a:r>
          </a:p>
        </p:txBody>
      </p:sp>
      <p:sp>
        <p:nvSpPr>
          <p:cNvPr id="5" name="SC bad"/>
          <p:cNvSpPr/>
          <p:nvPr/>
        </p:nvSpPr>
        <p:spPr>
          <a:xfrm>
            <a:off x="3291840" y="3611880"/>
            <a:ext cx="640080" cy="6400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cxnSp>
        <p:nvCxnSpPr>
          <p:cNvPr id="6" name="SC a1"/>
          <p:cNvCxnSpPr/>
          <p:nvPr/>
        </p:nvCxnSpPr>
        <p:spPr>
          <a:xfrm>
            <a:off x="3977639" y="3931920"/>
            <a:ext cx="1783081" cy="0"/>
          </a:xfrm>
          <a:prstGeom prst="line">
            <a:avLst/>
          </a:prstGeom>
          <a:ln w="4445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SC trusted"/>
          <p:cNvSpPr txBox="1"/>
          <p:nvPr/>
        </p:nvSpPr>
        <p:spPr>
          <a:xfrm>
            <a:off x="3566160" y="3017520"/>
            <a:ext cx="2286000" cy="457200"/>
          </a:xfrm>
          <a:prstGeom prst="rect">
            <a:avLst/>
          </a:prstGeom>
          <a:noFill/>
        </p:spPr>
        <p:txBody>
          <a:bodyPr wrap="square" lIns="0" tIns="0" rIns="0" bIns="0" anchor="t">
            <a:spAutoFit/>
          </a:bodyPr>
          <a:lstStyle/>
          <a:p>
            <a:pPr algn="ctr">
              <a:spcAft>
                <a:spcPts val="600"/>
              </a:spcAft>
            </a:pPr>
            <a:r>
              <a:rPr sz="1400" b="1" i="0">
                <a:solidFill>
                  <a:srgbClr val="C00000"/>
                </a:solidFill>
                <a:latin typeface="Helvetica Neue"/>
                <a:ea typeface="Helvetica Neue"/>
                <a:cs typeface="Helvetica Neue"/>
              </a:rPr>
              <a:t>trusted channel</a:t>
            </a:r>
          </a:p>
        </p:txBody>
      </p:sp>
      <p:cxnSp>
        <p:nvCxnSpPr>
          <p:cNvPr id="8" name="SC fan 1"/>
          <p:cNvCxnSpPr/>
          <p:nvPr/>
        </p:nvCxnSpPr>
        <p:spPr>
          <a:xfrm flipV="1">
            <a:off x="5760720" y="2880360"/>
            <a:ext cx="1005840" cy="105156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9" name="SC bank 1"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03720" y="2560320"/>
            <a:ext cx="640080" cy="640080"/>
          </a:xfrm>
          <a:prstGeom prst="rect">
            <a:avLst/>
          </a:prstGeom>
        </p:spPr>
      </p:pic>
      <p:cxnSp>
        <p:nvCxnSpPr>
          <p:cNvPr id="10" name="SC fan 2"/>
          <p:cNvCxnSpPr/>
          <p:nvPr/>
        </p:nvCxnSpPr>
        <p:spPr>
          <a:xfrm>
            <a:off x="5760720" y="3931920"/>
            <a:ext cx="1005840" cy="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1" name="SC bank 2"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03720" y="3611879"/>
            <a:ext cx="640080" cy="640080"/>
          </a:xfrm>
          <a:prstGeom prst="rect">
            <a:avLst/>
          </a:prstGeom>
        </p:spPr>
      </p:pic>
      <p:cxnSp>
        <p:nvCxnSpPr>
          <p:cNvPr id="12" name="SC fan 3"/>
          <p:cNvCxnSpPr/>
          <p:nvPr/>
        </p:nvCxnSpPr>
        <p:spPr>
          <a:xfrm>
            <a:off x="5760720" y="3931920"/>
            <a:ext cx="1005840" cy="105156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3" name="SC bank 3"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03720" y="4663440"/>
            <a:ext cx="640080" cy="640080"/>
          </a:xfrm>
          <a:prstGeom prst="rect">
            <a:avLst/>
          </a:prstGeom>
        </p:spPr>
      </p:pic>
      <p:sp>
        <p:nvSpPr>
          <p:cNvPr id="14" name="SC many"/>
          <p:cNvSpPr txBox="1"/>
          <p:nvPr/>
        </p:nvSpPr>
        <p:spPr>
          <a:xfrm>
            <a:off x="5760720" y="5577840"/>
            <a:ext cx="2743200" cy="457200"/>
          </a:xfrm>
          <a:prstGeom prst="rect">
            <a:avLst/>
          </a:prstGeom>
          <a:noFill/>
        </p:spPr>
        <p:txBody>
          <a:bodyPr wrap="square" lIns="0" tIns="0" rIns="0" bIns="0" anchor="t">
            <a:spAutoFit/>
          </a:bodyPr>
          <a:lstStyle/>
          <a:p>
            <a:pPr algn="ctr">
              <a:spcAft>
                <a:spcPts val="600"/>
              </a:spcAft>
            </a:pPr>
            <a:r>
              <a:rPr sz="1500" b="1" i="0">
                <a:solidFill>
                  <a:srgbClr val="C00000"/>
                </a:solidFill>
                <a:latin typeface="Helvetica Neue"/>
                <a:ea typeface="Helvetica Neue"/>
                <a:cs typeface="Helvetica Neue"/>
              </a:rPr>
              <a:t>thousands at once</a:t>
            </a:r>
          </a:p>
        </p:txBody>
      </p:sp>
      <p:sp>
        <p:nvSpPr>
          <p:cNvPr id="15" name="SC case 1"/>
          <p:cNvSpPr/>
          <p:nvPr/>
        </p:nvSpPr>
        <p:spPr>
          <a:xfrm>
            <a:off x="1257300" y="6400800"/>
            <a:ext cx="5029200" cy="2971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6" name="SC case 1 text"/>
          <p:cNvSpPr txBox="1"/>
          <p:nvPr/>
        </p:nvSpPr>
        <p:spPr>
          <a:xfrm>
            <a:off x="1513332" y="6601968"/>
            <a:ext cx="4517136" cy="2606040"/>
          </a:xfrm>
          <a:prstGeom prst="rect">
            <a:avLst/>
          </a:prstGeom>
          <a:noFill/>
        </p:spPr>
        <p:txBody>
          <a:bodyPr wrap="square" lIns="0" tIns="0" rIns="0" bIns="0" anchor="t">
            <a:spAutoFit/>
          </a:bodyPr>
          <a:lstStyle/>
          <a:p>
            <a:pPr algn="l">
              <a:spcAft>
                <a:spcPts val="700"/>
              </a:spcAft>
            </a:pPr>
            <a:r>
              <a:rPr sz="2200" b="1" i="0">
                <a:solidFill>
                  <a:srgbClr val="000000"/>
                </a:solidFill>
                <a:latin typeface="Helvetica Neue"/>
                <a:ea typeface="Helvetica Neue"/>
                <a:cs typeface="Helvetica Neue"/>
              </a:rPr>
              <a:t>SolarWinds, 2020</a:t>
            </a:r>
          </a:p>
          <a:p>
            <a:pPr algn="l">
              <a:spcAft>
                <a:spcPts val="700"/>
              </a:spcAft>
            </a:pPr>
            <a:r>
              <a:rPr sz="1900" b="0" i="0">
                <a:solidFill>
                  <a:srgbClr val="000000"/>
                </a:solidFill>
                <a:latin typeface="Helvetica Neue"/>
                <a:ea typeface="Helvetica Neue"/>
                <a:cs typeface="Helvetica Neue"/>
              </a:rPr>
              <a:t>Backdoor in network monitoring software updates; about 18,000 customers installed it</a:t>
            </a:r>
          </a:p>
        </p:txBody>
      </p:sp>
      <p:sp>
        <p:nvSpPr>
          <p:cNvPr id="17" name="SC case 2"/>
          <p:cNvSpPr/>
          <p:nvPr/>
        </p:nvSpPr>
        <p:spPr>
          <a:xfrm>
            <a:off x="6629400" y="6400800"/>
            <a:ext cx="5029200" cy="2971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8" name="SC case 2 text"/>
          <p:cNvSpPr txBox="1"/>
          <p:nvPr/>
        </p:nvSpPr>
        <p:spPr>
          <a:xfrm>
            <a:off x="6885432" y="6601968"/>
            <a:ext cx="4517136" cy="2606040"/>
          </a:xfrm>
          <a:prstGeom prst="rect">
            <a:avLst/>
          </a:prstGeom>
          <a:noFill/>
        </p:spPr>
        <p:txBody>
          <a:bodyPr wrap="square" lIns="0" tIns="0" rIns="0" bIns="0" anchor="t">
            <a:spAutoFit/>
          </a:bodyPr>
          <a:lstStyle/>
          <a:p>
            <a:pPr algn="l">
              <a:spcAft>
                <a:spcPts val="700"/>
              </a:spcAft>
            </a:pPr>
            <a:r>
              <a:rPr sz="2200" b="1" i="0">
                <a:solidFill>
                  <a:srgbClr val="000000"/>
                </a:solidFill>
                <a:latin typeface="Helvetica Neue"/>
                <a:ea typeface="Helvetica Neue"/>
                <a:cs typeface="Helvetica Neue"/>
              </a:rPr>
              <a:t>Kaseya, 2021</a:t>
            </a:r>
          </a:p>
          <a:p>
            <a:pPr algn="l">
              <a:spcAft>
                <a:spcPts val="700"/>
              </a:spcAft>
            </a:pPr>
            <a:r>
              <a:rPr sz="1900" b="0" i="0">
                <a:solidFill>
                  <a:srgbClr val="000000"/>
                </a:solidFill>
                <a:latin typeface="Helvetica Neue"/>
                <a:ea typeface="Helvetica Neue"/>
                <a:cs typeface="Helvetica Neue"/>
              </a:rPr>
              <a:t>Ransomware through MSPs' remote-management tool (Wednesday)</a:t>
            </a:r>
          </a:p>
        </p:txBody>
      </p:sp>
      <p:sp>
        <p:nvSpPr>
          <p:cNvPr id="19" name="SC case 3"/>
          <p:cNvSpPr/>
          <p:nvPr/>
        </p:nvSpPr>
        <p:spPr>
          <a:xfrm>
            <a:off x="12001500" y="6400800"/>
            <a:ext cx="5029200" cy="297180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0" name="SC case 3 text"/>
          <p:cNvSpPr txBox="1"/>
          <p:nvPr/>
        </p:nvSpPr>
        <p:spPr>
          <a:xfrm>
            <a:off x="12257532" y="6601968"/>
            <a:ext cx="4517136" cy="2606040"/>
          </a:xfrm>
          <a:prstGeom prst="rect">
            <a:avLst/>
          </a:prstGeom>
          <a:noFill/>
        </p:spPr>
        <p:txBody>
          <a:bodyPr wrap="square" lIns="0" tIns="0" rIns="0" bIns="0" anchor="t">
            <a:spAutoFit/>
          </a:bodyPr>
          <a:lstStyle/>
          <a:p>
            <a:pPr algn="l">
              <a:spcAft>
                <a:spcPts val="700"/>
              </a:spcAft>
            </a:pPr>
            <a:r>
              <a:rPr sz="2200" b="1" i="0">
                <a:solidFill>
                  <a:srgbClr val="000000"/>
                </a:solidFill>
                <a:latin typeface="Helvetica Neue"/>
                <a:ea typeface="Helvetica Neue"/>
                <a:cs typeface="Helvetica Neue"/>
              </a:rPr>
              <a:t>MOVEit, 2023</a:t>
            </a:r>
          </a:p>
          <a:p>
            <a:pPr algn="l">
              <a:spcAft>
                <a:spcPts val="700"/>
              </a:spcAft>
            </a:pPr>
            <a:r>
              <a:rPr sz="1900" b="0" i="0">
                <a:solidFill>
                  <a:srgbClr val="000000"/>
                </a:solidFill>
                <a:latin typeface="Helvetica Neue"/>
                <a:ea typeface="Helvetica Neue"/>
                <a:cs typeface="Helvetica Neue"/>
              </a:rPr>
              <a:t>File-transfer flaw; data stolen from thousands of organizations, many of them banks' vendors</a:t>
            </a:r>
          </a:p>
        </p:txBody>
      </p:sp>
      <p:sp>
        <p:nvSpPr>
          <p:cNvPr id="21" name="SC help"/>
          <p:cNvSpPr/>
          <p:nvPr/>
        </p:nvSpPr>
        <p:spPr>
          <a:xfrm>
            <a:off x="8778240" y="2697480"/>
            <a:ext cx="8252460" cy="34290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2" name="SC help list"/>
          <p:cNvSpPr txBox="1"/>
          <p:nvPr/>
        </p:nvSpPr>
        <p:spPr>
          <a:xfrm>
            <a:off x="9098280" y="2880360"/>
            <a:ext cx="7680960" cy="3200400"/>
          </a:xfrm>
          <a:prstGeom prst="rect">
            <a:avLst/>
          </a:prstGeom>
          <a:noFill/>
        </p:spPr>
        <p:txBody>
          <a:bodyPr wrap="square" lIns="0" tIns="0" rIns="0" bIns="0">
            <a:spAutoFit/>
          </a:bodyPr>
          <a:lstStyle/>
          <a:p>
            <a:pPr>
              <a:spcAft>
                <a:spcPts val="800"/>
              </a:spcAft>
            </a:pPr>
            <a:r>
              <a:rPr sz="2200" b="1" i="0">
                <a:solidFill>
                  <a:srgbClr val="000000"/>
                </a:solidFill>
                <a:latin typeface="Helvetica Neue"/>
                <a:ea typeface="Helvetica Neue"/>
                <a:cs typeface="Helvetica Neue"/>
              </a:rPr>
              <a:t>What helps</a:t>
            </a:r>
          </a:p>
          <a:p>
            <a:pPr marL="274320" indent="-274320">
              <a:spcAft>
                <a:spcPts val="600"/>
              </a:spcAft>
              <a:buFont typeface="Arial"/>
              <a:buChar char="•"/>
            </a:pPr>
            <a:r>
              <a:rPr sz="1800" b="0" i="0">
                <a:solidFill>
                  <a:srgbClr val="000000"/>
                </a:solidFill>
                <a:latin typeface="Helvetica Neue"/>
                <a:ea typeface="Helvetica Neue"/>
                <a:cs typeface="Helvetica Neue"/>
              </a:rPr>
              <a:t>Know which vendor software has broad network access</a:t>
            </a:r>
          </a:p>
          <a:p>
            <a:pPr marL="274320" indent="-274320">
              <a:spcAft>
                <a:spcPts val="600"/>
              </a:spcAft>
              <a:buFont typeface="Arial"/>
              <a:buChar char="•"/>
            </a:pPr>
            <a:r>
              <a:rPr sz="1800" b="0" i="0">
                <a:solidFill>
                  <a:srgbClr val="000000"/>
                </a:solidFill>
                <a:latin typeface="Helvetica Neue"/>
                <a:ea typeface="Helvetica Neue"/>
                <a:cs typeface="Helvetica Neue"/>
              </a:rPr>
              <a:t>Give it only the access it needs</a:t>
            </a:r>
          </a:p>
          <a:p>
            <a:pPr marL="274320" indent="-274320">
              <a:spcAft>
                <a:spcPts val="600"/>
              </a:spcAft>
              <a:buFont typeface="Arial"/>
              <a:buChar char="•"/>
            </a:pPr>
            <a:r>
              <a:rPr sz="1800" b="0" i="0">
                <a:solidFill>
                  <a:srgbClr val="000000"/>
                </a:solidFill>
                <a:latin typeface="Helvetica Neue"/>
                <a:ea typeface="Helvetica Neue"/>
                <a:cs typeface="Helvetica Neue"/>
              </a:rPr>
              <a:t>Watch its outbound traffic</a:t>
            </a:r>
          </a:p>
          <a:p>
            <a:pPr marL="274320" indent="-274320">
              <a:spcAft>
                <a:spcPts val="600"/>
              </a:spcAft>
              <a:buFont typeface="Arial"/>
              <a:buChar char="•"/>
            </a:pPr>
            <a:r>
              <a:rPr sz="1800" b="0" i="0">
                <a:solidFill>
                  <a:srgbClr val="000000"/>
                </a:solidFill>
                <a:latin typeface="Helvetica Neue"/>
                <a:ea typeface="Helvetica Neue"/>
                <a:cs typeface="Helvetica Neue"/>
              </a:rPr>
              <a:t>Contracts that require prompt incident notice</a:t>
            </a: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Zero Trust: Stop Trusting the Network</a:t>
            </a:r>
          </a:p>
        </p:txBody>
      </p:sp>
      <p:sp>
        <p:nvSpPr>
          <p:cNvPr id="3" name="ZT old head"/>
          <p:cNvSpPr txBox="1"/>
          <p:nvPr/>
        </p:nvSpPr>
        <p:spPr>
          <a:xfrm>
            <a:off x="1257300" y="2697480"/>
            <a:ext cx="7680960" cy="457200"/>
          </a:xfrm>
          <a:prstGeom prst="rect">
            <a:avLst/>
          </a:prstGeom>
          <a:noFill/>
        </p:spPr>
        <p:txBody>
          <a:bodyPr wrap="square" lIns="0" tIns="0" rIns="0" bIns="0" anchor="t">
            <a:spAutoFit/>
          </a:bodyPr>
          <a:lstStyle/>
          <a:p>
            <a:pPr algn="l">
              <a:spcAft>
                <a:spcPts val="600"/>
              </a:spcAft>
            </a:pPr>
            <a:r>
              <a:rPr sz="2200" b="1" i="0">
                <a:solidFill>
                  <a:srgbClr val="595959"/>
                </a:solidFill>
                <a:latin typeface="Helvetica Neue"/>
                <a:ea typeface="Helvetica Neue"/>
                <a:cs typeface="Helvetica Neue"/>
              </a:rPr>
              <a:t>Castle and moat</a:t>
            </a:r>
          </a:p>
        </p:txBody>
      </p:sp>
      <p:sp>
        <p:nvSpPr>
          <p:cNvPr id="4" name="ZT old panel"/>
          <p:cNvSpPr/>
          <p:nvPr/>
        </p:nvSpPr>
        <p:spPr>
          <a:xfrm>
            <a:off x="1257300" y="3246120"/>
            <a:ext cx="7680960" cy="3291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5" name="ZT moat"/>
          <p:cNvSpPr/>
          <p:nvPr/>
        </p:nvSpPr>
        <p:spPr>
          <a:xfrm>
            <a:off x="2194560" y="3520440"/>
            <a:ext cx="5806440" cy="2743200"/>
          </a:xfrm>
          <a:prstGeom prst="ellipse">
            <a:avLst/>
          </a:prstGeom>
          <a:solidFill>
            <a:srgbClr val="FFFFFF"/>
          </a:solidFill>
          <a:ln w="76200">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6" name="ZT old bank"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86300" y="4023359"/>
            <a:ext cx="822960" cy="822960"/>
          </a:xfrm>
          <a:prstGeom prst="rect">
            <a:avLst/>
          </a:prstGeom>
        </p:spPr>
      </p:pic>
      <p:sp>
        <p:nvSpPr>
          <p:cNvPr id="7" name="ZT old inside"/>
          <p:cNvSpPr txBox="1"/>
          <p:nvPr/>
        </p:nvSpPr>
        <p:spPr>
          <a:xfrm>
            <a:off x="2926080" y="4983480"/>
            <a:ext cx="4343400" cy="1097280"/>
          </a:xfrm>
          <a:prstGeom prst="rect">
            <a:avLst/>
          </a:prstGeom>
          <a:noFill/>
        </p:spPr>
        <p:txBody>
          <a:bodyPr wrap="square" lIns="0" tIns="0" rIns="0" bIns="0" anchor="t">
            <a:spAutoFit/>
          </a:bodyPr>
          <a:lstStyle/>
          <a:p>
            <a:pPr algn="ctr">
              <a:spcAft>
                <a:spcPts val="0"/>
              </a:spcAft>
            </a:pPr>
            <a:r>
              <a:rPr sz="1800" b="1" i="0">
                <a:solidFill>
                  <a:srgbClr val="2E7D32"/>
                </a:solidFill>
                <a:latin typeface="Helvetica Neue"/>
                <a:ea typeface="Helvetica Neue"/>
                <a:cs typeface="Helvetica Neue"/>
              </a:rPr>
              <a:t>Inside: trusted</a:t>
            </a:r>
          </a:p>
          <a:p>
            <a:pPr algn="ctr">
              <a:spcAft>
                <a:spcPts val="0"/>
              </a:spcAft>
            </a:pPr>
            <a:r>
              <a:rPr sz="1800" b="1" i="0">
                <a:solidFill>
                  <a:srgbClr val="C00000"/>
                </a:solidFill>
                <a:latin typeface="Helvetica Neue"/>
                <a:ea typeface="Helvetica Neue"/>
                <a:cs typeface="Helvetica Neue"/>
              </a:rPr>
              <a:t>Outside: not</a:t>
            </a:r>
          </a:p>
        </p:txBody>
      </p:sp>
      <p:sp>
        <p:nvSpPr>
          <p:cNvPr id="8" name="ZT new head"/>
          <p:cNvSpPr txBox="1"/>
          <p:nvPr/>
        </p:nvSpPr>
        <p:spPr>
          <a:xfrm>
            <a:off x="9349740" y="2697480"/>
            <a:ext cx="7680960" cy="457200"/>
          </a:xfrm>
          <a:prstGeom prst="rect">
            <a:avLst/>
          </a:prstGeom>
          <a:noFill/>
        </p:spPr>
        <p:txBody>
          <a:bodyPr wrap="square" lIns="0" tIns="0" rIns="0" bIns="0" anchor="t">
            <a:spAutoFit/>
          </a:bodyPr>
          <a:lstStyle/>
          <a:p>
            <a:pPr algn="l">
              <a:spcAft>
                <a:spcPts val="600"/>
              </a:spcAft>
            </a:pPr>
            <a:r>
              <a:rPr sz="2200" b="1" i="0">
                <a:solidFill>
                  <a:srgbClr val="2F75B5"/>
                </a:solidFill>
                <a:latin typeface="Helvetica Neue"/>
                <a:ea typeface="Helvetica Neue"/>
                <a:cs typeface="Helvetica Neue"/>
              </a:rPr>
              <a:t>Zero trust</a:t>
            </a:r>
          </a:p>
        </p:txBody>
      </p:sp>
      <p:sp>
        <p:nvSpPr>
          <p:cNvPr id="9" name="ZT new panel"/>
          <p:cNvSpPr/>
          <p:nvPr/>
        </p:nvSpPr>
        <p:spPr>
          <a:xfrm>
            <a:off x="9349740" y="3246120"/>
            <a:ext cx="7680960" cy="32918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0" name="ZT chk 1"/>
          <p:cNvSpPr/>
          <p:nvPr/>
        </p:nvSpPr>
        <p:spPr>
          <a:xfrm>
            <a:off x="9692640" y="3493008"/>
            <a:ext cx="384048" cy="384048"/>
          </a:xfrm>
          <a:prstGeom prst="ellipse">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1" name="ZT chk 1 text"/>
          <p:cNvSpPr txBox="1"/>
          <p:nvPr/>
        </p:nvSpPr>
        <p:spPr>
          <a:xfrm>
            <a:off x="10287000" y="3429000"/>
            <a:ext cx="6400800" cy="512064"/>
          </a:xfrm>
          <a:prstGeom prst="rect">
            <a:avLst/>
          </a:prstGeom>
          <a:noFill/>
        </p:spPr>
        <p:txBody>
          <a:bodyPr wrap="square" lIns="0" tIns="0" rIns="0" bIns="0" anchor="ctr">
            <a:spAutoFit/>
          </a:bodyPr>
          <a:lstStyle/>
          <a:p>
            <a:pPr algn="l">
              <a:spcAft>
                <a:spcPts val="600"/>
              </a:spcAft>
            </a:pPr>
            <a:r>
              <a:rPr sz="1900" b="1" i="0">
                <a:solidFill>
                  <a:srgbClr val="000000"/>
                </a:solidFill>
                <a:latin typeface="Helvetica Neue"/>
                <a:ea typeface="Helvetica Neue"/>
                <a:cs typeface="Helvetica Neue"/>
              </a:rPr>
              <a:t>Who is the user?</a:t>
            </a:r>
          </a:p>
        </p:txBody>
      </p:sp>
      <p:sp>
        <p:nvSpPr>
          <p:cNvPr id="12" name="ZT chk 2"/>
          <p:cNvSpPr/>
          <p:nvPr/>
        </p:nvSpPr>
        <p:spPr>
          <a:xfrm>
            <a:off x="9692640" y="4096512"/>
            <a:ext cx="384048" cy="384048"/>
          </a:xfrm>
          <a:prstGeom prst="ellipse">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3" name="ZT chk 2 text"/>
          <p:cNvSpPr txBox="1"/>
          <p:nvPr/>
        </p:nvSpPr>
        <p:spPr>
          <a:xfrm>
            <a:off x="10287000" y="4032504"/>
            <a:ext cx="6400800" cy="512064"/>
          </a:xfrm>
          <a:prstGeom prst="rect">
            <a:avLst/>
          </a:prstGeom>
          <a:noFill/>
        </p:spPr>
        <p:txBody>
          <a:bodyPr wrap="square" lIns="0" tIns="0" rIns="0" bIns="0" anchor="ctr">
            <a:spAutoFit/>
          </a:bodyPr>
          <a:lstStyle/>
          <a:p>
            <a:pPr algn="l">
              <a:spcAft>
                <a:spcPts val="600"/>
              </a:spcAft>
            </a:pPr>
            <a:r>
              <a:rPr sz="1900" b="1" i="0">
                <a:solidFill>
                  <a:srgbClr val="000000"/>
                </a:solidFill>
                <a:latin typeface="Helvetica Neue"/>
                <a:ea typeface="Helvetica Neue"/>
                <a:cs typeface="Helvetica Neue"/>
              </a:rPr>
              <a:t>Is the device healthy?</a:t>
            </a:r>
          </a:p>
        </p:txBody>
      </p:sp>
      <p:sp>
        <p:nvSpPr>
          <p:cNvPr id="14" name="ZT chk 3"/>
          <p:cNvSpPr/>
          <p:nvPr/>
        </p:nvSpPr>
        <p:spPr>
          <a:xfrm>
            <a:off x="9692640" y="4700016"/>
            <a:ext cx="384048" cy="384048"/>
          </a:xfrm>
          <a:prstGeom prst="ellipse">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5" name="ZT chk 3 text"/>
          <p:cNvSpPr txBox="1"/>
          <p:nvPr/>
        </p:nvSpPr>
        <p:spPr>
          <a:xfrm>
            <a:off x="10287000" y="4636008"/>
            <a:ext cx="6400800" cy="512064"/>
          </a:xfrm>
          <a:prstGeom prst="rect">
            <a:avLst/>
          </a:prstGeom>
          <a:noFill/>
        </p:spPr>
        <p:txBody>
          <a:bodyPr wrap="square" lIns="0" tIns="0" rIns="0" bIns="0" anchor="ctr">
            <a:spAutoFit/>
          </a:bodyPr>
          <a:lstStyle/>
          <a:p>
            <a:pPr algn="l">
              <a:spcAft>
                <a:spcPts val="600"/>
              </a:spcAft>
            </a:pPr>
            <a:r>
              <a:rPr sz="1900" b="1" i="0">
                <a:solidFill>
                  <a:srgbClr val="000000"/>
                </a:solidFill>
                <a:latin typeface="Helvetica Neue"/>
                <a:ea typeface="Helvetica Neue"/>
                <a:cs typeface="Helvetica Neue"/>
              </a:rPr>
              <a:t>Is this access allowed?</a:t>
            </a:r>
          </a:p>
        </p:txBody>
      </p:sp>
      <p:sp>
        <p:nvSpPr>
          <p:cNvPr id="16" name="ZT chk 4"/>
          <p:cNvSpPr/>
          <p:nvPr/>
        </p:nvSpPr>
        <p:spPr>
          <a:xfrm>
            <a:off x="9692640" y="5303520"/>
            <a:ext cx="384048" cy="384048"/>
          </a:xfrm>
          <a:prstGeom prst="ellipse">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7" name="ZT chk 4 text"/>
          <p:cNvSpPr txBox="1"/>
          <p:nvPr/>
        </p:nvSpPr>
        <p:spPr>
          <a:xfrm>
            <a:off x="10287000" y="5239512"/>
            <a:ext cx="6400800" cy="512064"/>
          </a:xfrm>
          <a:prstGeom prst="rect">
            <a:avLst/>
          </a:prstGeom>
          <a:noFill/>
        </p:spPr>
        <p:txBody>
          <a:bodyPr wrap="square" lIns="0" tIns="0" rIns="0" bIns="0" anchor="ctr">
            <a:spAutoFit/>
          </a:bodyPr>
          <a:lstStyle/>
          <a:p>
            <a:pPr algn="l">
              <a:spcAft>
                <a:spcPts val="600"/>
              </a:spcAft>
            </a:pPr>
            <a:r>
              <a:rPr sz="1900" b="1" i="0">
                <a:solidFill>
                  <a:srgbClr val="000000"/>
                </a:solidFill>
                <a:latin typeface="Helvetica Neue"/>
                <a:ea typeface="Helvetica Neue"/>
                <a:cs typeface="Helvetica Neue"/>
              </a:rPr>
              <a:t>Least privilege</a:t>
            </a:r>
          </a:p>
        </p:txBody>
      </p:sp>
      <p:sp>
        <p:nvSpPr>
          <p:cNvPr id="18" name="ZT chk 5"/>
          <p:cNvSpPr/>
          <p:nvPr/>
        </p:nvSpPr>
        <p:spPr>
          <a:xfrm>
            <a:off x="9692640" y="5907024"/>
            <a:ext cx="384048" cy="384048"/>
          </a:xfrm>
          <a:prstGeom prst="ellipse">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9" name="ZT chk 5 text"/>
          <p:cNvSpPr txBox="1"/>
          <p:nvPr/>
        </p:nvSpPr>
        <p:spPr>
          <a:xfrm>
            <a:off x="10287000" y="5843016"/>
            <a:ext cx="6400800" cy="512064"/>
          </a:xfrm>
          <a:prstGeom prst="rect">
            <a:avLst/>
          </a:prstGeom>
          <a:noFill/>
        </p:spPr>
        <p:txBody>
          <a:bodyPr wrap="square" lIns="0" tIns="0" rIns="0" bIns="0" anchor="ctr">
            <a:spAutoFit/>
          </a:bodyPr>
          <a:lstStyle/>
          <a:p>
            <a:pPr algn="l">
              <a:spcAft>
                <a:spcPts val="600"/>
              </a:spcAft>
            </a:pPr>
            <a:r>
              <a:rPr sz="1900" b="1" i="0">
                <a:solidFill>
                  <a:srgbClr val="000000"/>
                </a:solidFill>
                <a:latin typeface="Helvetica Neue"/>
                <a:ea typeface="Helvetica Neue"/>
                <a:cs typeface="Helvetica Neue"/>
              </a:rPr>
              <a:t>Keep checking</a:t>
            </a:r>
          </a:p>
        </p:txBody>
      </p:sp>
      <p:sp>
        <p:nvSpPr>
          <p:cNvPr id="20" name="ZT every"/>
          <p:cNvSpPr txBox="1"/>
          <p:nvPr/>
        </p:nvSpPr>
        <p:spPr>
          <a:xfrm>
            <a:off x="13350240" y="3429000"/>
            <a:ext cx="3474720" cy="914400"/>
          </a:xfrm>
          <a:prstGeom prst="rect">
            <a:avLst/>
          </a:prstGeom>
          <a:noFill/>
        </p:spPr>
        <p:txBody>
          <a:bodyPr wrap="square" lIns="0" tIns="0" rIns="0" bIns="0" anchor="t">
            <a:spAutoFit/>
          </a:bodyPr>
          <a:lstStyle/>
          <a:p>
            <a:pPr algn="r">
              <a:spcAft>
                <a:spcPts val="600"/>
              </a:spcAft>
            </a:pPr>
            <a:r>
              <a:rPr sz="1600" b="1" i="1">
                <a:solidFill>
                  <a:srgbClr val="2F75B5"/>
                </a:solidFill>
                <a:latin typeface="Helvetica Neue"/>
                <a:ea typeface="Helvetica Neue"/>
                <a:cs typeface="Helvetica Neue"/>
              </a:rPr>
              <a:t>Every request, every time</a:t>
            </a:r>
          </a:p>
        </p:txBody>
      </p:sp>
      <p:sp>
        <p:nvSpPr>
          <p:cNvPr id="21" name="ZT steps head"/>
          <p:cNvSpPr txBox="1"/>
          <p:nvPr/>
        </p:nvSpPr>
        <p:spPr>
          <a:xfrm>
            <a:off x="1257300" y="6812280"/>
            <a:ext cx="15773400" cy="457200"/>
          </a:xfrm>
          <a:prstGeom prst="rect">
            <a:avLst/>
          </a:prstGeom>
          <a:noFill/>
        </p:spPr>
        <p:txBody>
          <a:bodyPr wrap="square" lIns="0" tIns="0" rIns="0" bIns="0" anchor="t">
            <a:spAutoFit/>
          </a:bodyPr>
          <a:lstStyle/>
          <a:p>
            <a:pPr algn="l">
              <a:spcAft>
                <a:spcPts val="600"/>
              </a:spcAft>
            </a:pPr>
            <a:r>
              <a:rPr sz="2100" b="1" i="0">
                <a:solidFill>
                  <a:srgbClr val="000000"/>
                </a:solidFill>
                <a:latin typeface="Helvetica Neue"/>
                <a:ea typeface="Helvetica Neue"/>
                <a:cs typeface="Helvetica Neue"/>
              </a:rPr>
              <a:t>A direction, not a product. Practical steps for a community bank:</a:t>
            </a:r>
          </a:p>
        </p:txBody>
      </p:sp>
      <p:sp>
        <p:nvSpPr>
          <p:cNvPr id="22" name="ZT step 1"/>
          <p:cNvSpPr/>
          <p:nvPr/>
        </p:nvSpPr>
        <p:spPr>
          <a:xfrm>
            <a:off x="1257300" y="7360920"/>
            <a:ext cx="2898648" cy="20116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3" name="ZT step 1 text"/>
          <p:cNvSpPr txBox="1"/>
          <p:nvPr/>
        </p:nvSpPr>
        <p:spPr>
          <a:xfrm>
            <a:off x="1513332" y="7562088"/>
            <a:ext cx="2386584" cy="1645920"/>
          </a:xfrm>
          <a:prstGeom prst="rect">
            <a:avLst/>
          </a:prstGeom>
          <a:noFill/>
        </p:spPr>
        <p:txBody>
          <a:bodyPr wrap="square" lIns="0" tIns="0" rIns="0" bIns="0" anchor="t">
            <a:spAutoFit/>
          </a:bodyPr>
          <a:lstStyle/>
          <a:p>
            <a:pPr algn="l">
              <a:spcAft>
                <a:spcPts val="700"/>
              </a:spcAft>
            </a:pPr>
            <a:r>
              <a:rPr sz="1800" b="1" i="0">
                <a:solidFill>
                  <a:srgbClr val="000000"/>
                </a:solidFill>
                <a:latin typeface="Helvetica Neue"/>
                <a:ea typeface="Helvetica Neue"/>
                <a:cs typeface="Helvetica Neue"/>
              </a:rPr>
              <a:t>MFA everywhere</a:t>
            </a:r>
          </a:p>
          <a:p>
            <a:pPr algn="l">
              <a:spcAft>
                <a:spcPts val="700"/>
              </a:spcAft>
            </a:pPr>
            <a:r>
              <a:rPr sz="1500" b="0" i="0">
                <a:solidFill>
                  <a:srgbClr val="000000"/>
                </a:solidFill>
                <a:latin typeface="Helvetica Neue"/>
                <a:ea typeface="Helvetica Neue"/>
                <a:cs typeface="Helvetica Neue"/>
              </a:rPr>
              <a:t>Staff, admins, vendors</a:t>
            </a:r>
          </a:p>
        </p:txBody>
      </p:sp>
      <p:sp>
        <p:nvSpPr>
          <p:cNvPr id="24" name="ZT step 2"/>
          <p:cNvSpPr/>
          <p:nvPr/>
        </p:nvSpPr>
        <p:spPr>
          <a:xfrm>
            <a:off x="4475988" y="7360920"/>
            <a:ext cx="2898648" cy="20116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5" name="ZT step 2 text"/>
          <p:cNvSpPr txBox="1"/>
          <p:nvPr/>
        </p:nvSpPr>
        <p:spPr>
          <a:xfrm>
            <a:off x="4732020" y="7562088"/>
            <a:ext cx="2386584" cy="1645920"/>
          </a:xfrm>
          <a:prstGeom prst="rect">
            <a:avLst/>
          </a:prstGeom>
          <a:noFill/>
        </p:spPr>
        <p:txBody>
          <a:bodyPr wrap="square" lIns="0" tIns="0" rIns="0" bIns="0" anchor="t">
            <a:spAutoFit/>
          </a:bodyPr>
          <a:lstStyle/>
          <a:p>
            <a:pPr algn="l">
              <a:spcAft>
                <a:spcPts val="700"/>
              </a:spcAft>
            </a:pPr>
            <a:r>
              <a:rPr sz="1800" b="1" i="0">
                <a:solidFill>
                  <a:srgbClr val="000000"/>
                </a:solidFill>
                <a:latin typeface="Helvetica Neue"/>
                <a:ea typeface="Helvetica Neue"/>
                <a:cs typeface="Helvetica Neue"/>
              </a:rPr>
              <a:t>Conditional access</a:t>
            </a:r>
          </a:p>
          <a:p>
            <a:pPr algn="l">
              <a:spcAft>
                <a:spcPts val="700"/>
              </a:spcAft>
            </a:pPr>
            <a:r>
              <a:rPr sz="1500" b="0" i="0">
                <a:solidFill>
                  <a:srgbClr val="000000"/>
                </a:solidFill>
                <a:latin typeface="Helvetica Neue"/>
                <a:ea typeface="Helvetica Neue"/>
                <a:cs typeface="Helvetica Neue"/>
              </a:rPr>
              <a:t>Rules on device and location</a:t>
            </a:r>
          </a:p>
        </p:txBody>
      </p:sp>
      <p:sp>
        <p:nvSpPr>
          <p:cNvPr id="26" name="ZT step 3"/>
          <p:cNvSpPr/>
          <p:nvPr/>
        </p:nvSpPr>
        <p:spPr>
          <a:xfrm>
            <a:off x="7694675" y="7360920"/>
            <a:ext cx="2898648" cy="20116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7" name="ZT step 3 text"/>
          <p:cNvSpPr txBox="1"/>
          <p:nvPr/>
        </p:nvSpPr>
        <p:spPr>
          <a:xfrm>
            <a:off x="7950707" y="7562088"/>
            <a:ext cx="2386584" cy="1645920"/>
          </a:xfrm>
          <a:prstGeom prst="rect">
            <a:avLst/>
          </a:prstGeom>
          <a:noFill/>
        </p:spPr>
        <p:txBody>
          <a:bodyPr wrap="square" lIns="0" tIns="0" rIns="0" bIns="0" anchor="t">
            <a:spAutoFit/>
          </a:bodyPr>
          <a:lstStyle/>
          <a:p>
            <a:pPr algn="l">
              <a:spcAft>
                <a:spcPts val="700"/>
              </a:spcAft>
            </a:pPr>
            <a:r>
              <a:rPr sz="1800" b="1" i="0">
                <a:solidFill>
                  <a:srgbClr val="000000"/>
                </a:solidFill>
                <a:latin typeface="Helvetica Neue"/>
                <a:ea typeface="Helvetica Neue"/>
                <a:cs typeface="Helvetica Neue"/>
              </a:rPr>
              <a:t>Segmentation</a:t>
            </a:r>
          </a:p>
          <a:p>
            <a:pPr algn="l">
              <a:spcAft>
                <a:spcPts val="700"/>
              </a:spcAft>
            </a:pPr>
            <a:r>
              <a:rPr sz="1500" b="0" i="0">
                <a:solidFill>
                  <a:srgbClr val="000000"/>
                </a:solidFill>
                <a:latin typeface="Helvetica Neue"/>
                <a:ea typeface="Helvetica Neue"/>
                <a:cs typeface="Helvetica Neue"/>
              </a:rPr>
              <a:t>Monday's lesson, still the core</a:t>
            </a:r>
          </a:p>
        </p:txBody>
      </p:sp>
      <p:sp>
        <p:nvSpPr>
          <p:cNvPr id="28" name="ZT step 4"/>
          <p:cNvSpPr/>
          <p:nvPr/>
        </p:nvSpPr>
        <p:spPr>
          <a:xfrm>
            <a:off x="10913364" y="7360920"/>
            <a:ext cx="2898648" cy="20116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9" name="ZT step 4 text"/>
          <p:cNvSpPr txBox="1"/>
          <p:nvPr/>
        </p:nvSpPr>
        <p:spPr>
          <a:xfrm>
            <a:off x="11169396" y="7562088"/>
            <a:ext cx="2386584" cy="1645920"/>
          </a:xfrm>
          <a:prstGeom prst="rect">
            <a:avLst/>
          </a:prstGeom>
          <a:noFill/>
        </p:spPr>
        <p:txBody>
          <a:bodyPr wrap="square" lIns="0" tIns="0" rIns="0" bIns="0" anchor="t">
            <a:spAutoFit/>
          </a:bodyPr>
          <a:lstStyle/>
          <a:p>
            <a:pPr algn="l">
              <a:spcAft>
                <a:spcPts val="700"/>
              </a:spcAft>
            </a:pPr>
            <a:r>
              <a:rPr sz="1800" b="1" i="0">
                <a:solidFill>
                  <a:srgbClr val="000000"/>
                </a:solidFill>
                <a:latin typeface="Helvetica Neue"/>
                <a:ea typeface="Helvetica Neue"/>
                <a:cs typeface="Helvetica Neue"/>
              </a:rPr>
              <a:t>App access, not network access</a:t>
            </a:r>
          </a:p>
          <a:p>
            <a:pPr algn="l">
              <a:spcAft>
                <a:spcPts val="700"/>
              </a:spcAft>
            </a:pPr>
            <a:r>
              <a:rPr sz="1500" b="0" i="0">
                <a:solidFill>
                  <a:srgbClr val="000000"/>
                </a:solidFill>
                <a:latin typeface="Helvetica Neue"/>
                <a:ea typeface="Helvetica Neue"/>
                <a:cs typeface="Helvetica Neue"/>
              </a:rPr>
              <a:t>Replace always-on VPN (ZTNA)</a:t>
            </a:r>
          </a:p>
        </p:txBody>
      </p:sp>
      <p:sp>
        <p:nvSpPr>
          <p:cNvPr id="30" name="ZT step 5"/>
          <p:cNvSpPr/>
          <p:nvPr/>
        </p:nvSpPr>
        <p:spPr>
          <a:xfrm>
            <a:off x="14132052" y="7360920"/>
            <a:ext cx="2898648" cy="20116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1" name="ZT step 5 text"/>
          <p:cNvSpPr txBox="1"/>
          <p:nvPr/>
        </p:nvSpPr>
        <p:spPr>
          <a:xfrm>
            <a:off x="14388084" y="7562088"/>
            <a:ext cx="2386584" cy="1645920"/>
          </a:xfrm>
          <a:prstGeom prst="rect">
            <a:avLst/>
          </a:prstGeom>
          <a:noFill/>
        </p:spPr>
        <p:txBody>
          <a:bodyPr wrap="square" lIns="0" tIns="0" rIns="0" bIns="0" anchor="t">
            <a:spAutoFit/>
          </a:bodyPr>
          <a:lstStyle/>
          <a:p>
            <a:pPr algn="l">
              <a:spcAft>
                <a:spcPts val="700"/>
              </a:spcAft>
            </a:pPr>
            <a:r>
              <a:rPr sz="1800" b="1" i="0">
                <a:solidFill>
                  <a:srgbClr val="000000"/>
                </a:solidFill>
                <a:latin typeface="Helvetica Neue"/>
                <a:ea typeface="Helvetica Neue"/>
                <a:cs typeface="Helvetica Neue"/>
              </a:rPr>
              <a:t>Vendor access</a:t>
            </a:r>
          </a:p>
          <a:p>
            <a:pPr algn="l">
              <a:spcAft>
                <a:spcPts val="700"/>
              </a:spcAft>
            </a:pPr>
            <a:r>
              <a:rPr sz="1500" b="0" i="0">
                <a:solidFill>
                  <a:srgbClr val="000000"/>
                </a:solidFill>
                <a:latin typeface="Helvetica Neue"/>
                <a:ea typeface="Helvetica Neue"/>
                <a:cs typeface="Helvetica Neue"/>
              </a:rPr>
              <a:t>Specific systems, logged</a:t>
            </a:r>
          </a:p>
        </p:txBody>
      </p:sp>
      <p:sp>
        <p:nvSpPr>
          <p:cNvPr id="32"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References: NIST SP 800-207, Zero Trust Architecture (2020); CISA Zero Trust Maturity Model</a:t>
            </a: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Many Sources for Baseline Security Measures</a:t>
            </a:r>
          </a:p>
        </p:txBody>
      </p:sp>
      <p:sp>
        <p:nvSpPr>
          <p:cNvPr id="3" name="Content Placeholder 2"/>
          <p:cNvSpPr>
            <a:spLocks noGrp="1"/>
          </p:cNvSpPr>
          <p:nvPr>
            <p:ph idx="1"/>
          </p:nvPr>
        </p:nvSpPr>
        <p:spPr/>
        <p:txBody>
          <a:bodyPr/>
          <a:lstStyle/>
          <a:p>
            <a:r>
              <a:rPr lang="en-US"/>
              <a:t>NIST Cybersecurity Framework</a:t>
            </a:r>
          </a:p>
          <a:p>
            <a:r>
              <a:rPr lang="en-US"/>
              <a:t>Council on Cybersecurity Critical Security Controls</a:t>
            </a:r>
          </a:p>
          <a:p>
            <a:r>
              <a:rPr lang="en-US"/>
              <a:t>ISO 27001/2</a:t>
            </a:r>
          </a:p>
          <a:p>
            <a:r>
              <a:rPr lang="en-US"/>
              <a:t>International Information Systems Security Certification Consortium (ISC</a:t>
            </a:r>
            <a:r>
              <a:rPr lang="en-US" baseline="30000"/>
              <a:t>2</a:t>
            </a:r>
            <a:r>
              <a:rPr lang="en-US"/>
              <a:t>)</a:t>
            </a:r>
          </a:p>
          <a:p>
            <a:r>
              <a:rPr lang="en-US"/>
              <a:t>Vendor whitepapers and case studies</a:t>
            </a:r>
          </a:p>
        </p:txBody>
      </p:sp>
      <p:sp>
        <p:nvSpPr>
          <p:cNvPr id="4" name="Slide Number Placeholder 3"/>
          <p:cNvSpPr>
            <a:spLocks noGrp="1"/>
          </p:cNvSpPr>
          <p:nvPr>
            <p:ph type="sldNum" sz="quarter" idx="10"/>
          </p:nvPr>
        </p:nvSpPr>
        <p:spPr>
          <a:prstGeom prst="rect">
            <a:avLst/>
          </a:prstGeom>
        </p:spPr>
        <p:txBody>
          <a:bodyPr/>
          <a:lstStyle/>
          <a:p>
            <a:fld id="{76E8DCF4-EBDD-4FE1-8465-FD383573D554}" type="slidenum">
              <a:rPr lang="en-US" smtClean="0">
                <a:solidFill>
                  <a:schemeClr val="tx1">
                    <a:lumMod val="50000"/>
                    <a:lumOff val="50000"/>
                  </a:schemeClr>
                </a:solidFill>
              </a:rPr>
              <a:pPr/>
              <a:t>240</a:t>
            </a:fld>
            <a:endParaRPr lang="en-US">
              <a:solidFill>
                <a:schemeClr val="tx1">
                  <a:lumMod val="50000"/>
                  <a:lumOff val="50000"/>
                </a:schemeClr>
              </a:solidFill>
            </a:endParaRPr>
          </a:p>
        </p:txBody>
      </p:sp>
      <p:pic>
        <p:nvPicPr>
          <p:cNvPr id="5" name="Picture 4"/>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001000" y="7429501"/>
            <a:ext cx="7515225" cy="1980758"/>
          </a:xfrm>
          <a:prstGeom prst="rect">
            <a:avLst/>
          </a:prstGeom>
        </p:spPr>
      </p:pic>
      <p:sp>
        <p:nvSpPr>
          <p:cNvPr id="6" name="CSF callout"/>
          <p:cNvSpPr/>
          <p:nvPr/>
        </p:nvSpPr>
        <p:spPr>
          <a:xfrm>
            <a:off x="1257300" y="7498079"/>
            <a:ext cx="6400800" cy="178308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7" name="CSF bar"/>
          <p:cNvSpPr/>
          <p:nvPr/>
        </p:nvSpPr>
        <p:spPr>
          <a:xfrm>
            <a:off x="1257300" y="7498079"/>
            <a:ext cx="137160" cy="1783080"/>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8" name="CSF text"/>
          <p:cNvSpPr txBox="1"/>
          <p:nvPr/>
        </p:nvSpPr>
        <p:spPr>
          <a:xfrm>
            <a:off x="1645920" y="7607808"/>
            <a:ext cx="5852160" cy="1600200"/>
          </a:xfrm>
          <a:prstGeom prst="rect">
            <a:avLst/>
          </a:prstGeom>
          <a:noFill/>
        </p:spPr>
        <p:txBody>
          <a:bodyPr wrap="square" lIns="0" tIns="0" rIns="0" bIns="0" anchor="t">
            <a:spAutoFit/>
          </a:bodyPr>
          <a:lstStyle/>
          <a:p>
            <a:pPr algn="l">
              <a:spcAft>
                <a:spcPts val="400"/>
              </a:spcAft>
            </a:pPr>
            <a:r>
              <a:rPr sz="2100" b="1" i="0">
                <a:solidFill>
                  <a:srgbClr val="000000"/>
                </a:solidFill>
                <a:latin typeface="Helvetica Neue"/>
                <a:ea typeface="Helvetica Neue"/>
                <a:cs typeface="Helvetica Neue"/>
              </a:rPr>
              <a:t>The NIST CSF is doing heavy lifting these days.</a:t>
            </a:r>
          </a:p>
          <a:p>
            <a:pPr algn="l">
              <a:spcAft>
                <a:spcPts val="400"/>
              </a:spcAft>
            </a:pPr>
            <a:r>
              <a:rPr sz="1500" b="0" i="0">
                <a:solidFill>
                  <a:srgbClr val="404040"/>
                </a:solidFill>
                <a:latin typeface="Helvetica Neue"/>
                <a:ea typeface="Helvetica Neue"/>
                <a:cs typeface="Helvetica Neue"/>
              </a:rPr>
              <a:t>With the FFIEC Cybersecurity Assessment Tool retired in August 2025, many banks moved to the CSF.</a:t>
            </a:r>
          </a:p>
        </p:txBody>
      </p:sp>
    </p:spTree>
    <p:custDataLst>
      <p:tags r:id="rId1"/>
    </p:custDataLst>
    <p:extLst>
      <p:ext uri="{BB962C8B-B14F-4D97-AF65-F5344CB8AC3E}">
        <p14:creationId xmlns:p14="http://schemas.microsoft.com/office/powerpoint/2010/main" val="919865629"/>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Incident Response: When Something Goes Wrong on the Network</a:t>
            </a:r>
          </a:p>
        </p:txBody>
      </p:sp>
      <p:sp>
        <p:nvSpPr>
          <p:cNvPr id="3" name="IR ph 1"/>
          <p:cNvSpPr/>
          <p:nvPr/>
        </p:nvSpPr>
        <p:spPr>
          <a:xfrm>
            <a:off x="1257300" y="2697480"/>
            <a:ext cx="2103120" cy="822960"/>
          </a:xfrm>
          <a:prstGeom prst="round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900" b="1" i="0">
                <a:solidFill>
                  <a:srgbClr val="FFFFFF"/>
                </a:solidFill>
                <a:latin typeface="Helvetica Neue"/>
                <a:ea typeface="Helvetica Neue"/>
                <a:cs typeface="Helvetica Neue"/>
              </a:rPr>
              <a:t>Prepare</a:t>
            </a:r>
          </a:p>
        </p:txBody>
      </p:sp>
      <p:sp>
        <p:nvSpPr>
          <p:cNvPr id="4" name="IR net 1"/>
          <p:cNvSpPr/>
          <p:nvPr/>
        </p:nvSpPr>
        <p:spPr>
          <a:xfrm>
            <a:off x="1257300" y="3657600"/>
            <a:ext cx="2103120" cy="301752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5" name="IR net 1 text"/>
          <p:cNvSpPr txBox="1"/>
          <p:nvPr/>
        </p:nvSpPr>
        <p:spPr>
          <a:xfrm>
            <a:off x="1394460" y="3767328"/>
            <a:ext cx="1828799" cy="2834640"/>
          </a:xfrm>
          <a:prstGeom prst="rect">
            <a:avLst/>
          </a:prstGeom>
          <a:noFill/>
        </p:spPr>
        <p:txBody>
          <a:bodyPr wrap="square" lIns="0" tIns="0" rIns="0" bIns="0" anchor="t">
            <a:spAutoFit/>
          </a:bodyPr>
          <a:lstStyle/>
          <a:p>
            <a:pPr algn="l">
              <a:spcAft>
                <a:spcPts val="400"/>
              </a:spcAft>
            </a:pPr>
            <a:r>
              <a:rPr sz="1400" b="1" i="0">
                <a:solidFill>
                  <a:srgbClr val="2F75B5"/>
                </a:solidFill>
                <a:latin typeface="Helvetica Neue"/>
                <a:ea typeface="Helvetica Neue"/>
                <a:cs typeface="Helvetica Neue"/>
              </a:rPr>
              <a:t>Network's part</a:t>
            </a:r>
          </a:p>
          <a:p>
            <a:pPr algn="l">
              <a:spcAft>
                <a:spcPts val="400"/>
              </a:spcAft>
            </a:pPr>
            <a:r>
              <a:rPr sz="1800" b="0" i="0">
                <a:solidFill>
                  <a:srgbClr val="000000"/>
                </a:solidFill>
                <a:latin typeface="Helvetica Neue"/>
                <a:ea typeface="Helvetica Neue"/>
                <a:cs typeface="Helvetica Neue"/>
              </a:rPr>
              <a:t>Logging on and kept: firewall, VPN, DNS, Microsoft 365</a:t>
            </a:r>
          </a:p>
        </p:txBody>
      </p:sp>
      <p:cxnSp>
        <p:nvCxnSpPr>
          <p:cNvPr id="6" name="IR arrow 1"/>
          <p:cNvCxnSpPr/>
          <p:nvPr/>
        </p:nvCxnSpPr>
        <p:spPr>
          <a:xfrm>
            <a:off x="3360420" y="3108960"/>
            <a:ext cx="201168" cy="0"/>
          </a:xfrm>
          <a:prstGeom prst="line">
            <a:avLst/>
          </a:prstGeom>
          <a:ln w="2540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IR ph 2"/>
          <p:cNvSpPr/>
          <p:nvPr/>
        </p:nvSpPr>
        <p:spPr>
          <a:xfrm>
            <a:off x="3561588" y="2697480"/>
            <a:ext cx="2103120" cy="822960"/>
          </a:xfrm>
          <a:prstGeom prst="round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900" b="1" i="0">
                <a:solidFill>
                  <a:srgbClr val="FFFFFF"/>
                </a:solidFill>
                <a:latin typeface="Helvetica Neue"/>
                <a:ea typeface="Helvetica Neue"/>
                <a:cs typeface="Helvetica Neue"/>
              </a:rPr>
              <a:t>Detect</a:t>
            </a:r>
          </a:p>
        </p:txBody>
      </p:sp>
      <p:sp>
        <p:nvSpPr>
          <p:cNvPr id="8" name="IR net 2"/>
          <p:cNvSpPr/>
          <p:nvPr/>
        </p:nvSpPr>
        <p:spPr>
          <a:xfrm>
            <a:off x="3561588" y="3657600"/>
            <a:ext cx="2103120" cy="301752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9" name="IR net 2 text"/>
          <p:cNvSpPr txBox="1"/>
          <p:nvPr/>
        </p:nvSpPr>
        <p:spPr>
          <a:xfrm>
            <a:off x="3698748" y="3767328"/>
            <a:ext cx="1828799" cy="2834640"/>
          </a:xfrm>
          <a:prstGeom prst="rect">
            <a:avLst/>
          </a:prstGeom>
          <a:noFill/>
        </p:spPr>
        <p:txBody>
          <a:bodyPr wrap="square" lIns="0" tIns="0" rIns="0" bIns="0" anchor="t">
            <a:spAutoFit/>
          </a:bodyPr>
          <a:lstStyle/>
          <a:p>
            <a:pPr algn="l">
              <a:spcAft>
                <a:spcPts val="400"/>
              </a:spcAft>
            </a:pPr>
            <a:r>
              <a:rPr sz="1400" b="1" i="0">
                <a:solidFill>
                  <a:srgbClr val="2F75B5"/>
                </a:solidFill>
                <a:latin typeface="Helvetica Neue"/>
                <a:ea typeface="Helvetica Neue"/>
                <a:cs typeface="Helvetica Neue"/>
              </a:rPr>
              <a:t>Network's part</a:t>
            </a:r>
          </a:p>
          <a:p>
            <a:pPr algn="l">
              <a:spcAft>
                <a:spcPts val="400"/>
              </a:spcAft>
            </a:pPr>
            <a:r>
              <a:rPr sz="1800" b="0" i="0">
                <a:solidFill>
                  <a:srgbClr val="000000"/>
                </a:solidFill>
                <a:latin typeface="Helvetica Neue"/>
                <a:ea typeface="Helvetica Neue"/>
                <a:cs typeface="Helvetica Neue"/>
              </a:rPr>
              <a:t>Alerts from the MSSP, EDR, protective DNS</a:t>
            </a:r>
          </a:p>
        </p:txBody>
      </p:sp>
      <p:cxnSp>
        <p:nvCxnSpPr>
          <p:cNvPr id="10" name="IR arrow 2"/>
          <p:cNvCxnSpPr/>
          <p:nvPr/>
        </p:nvCxnSpPr>
        <p:spPr>
          <a:xfrm>
            <a:off x="5664708" y="3108960"/>
            <a:ext cx="201168" cy="0"/>
          </a:xfrm>
          <a:prstGeom prst="line">
            <a:avLst/>
          </a:prstGeom>
          <a:ln w="2540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IR ph 3"/>
          <p:cNvSpPr/>
          <p:nvPr/>
        </p:nvSpPr>
        <p:spPr>
          <a:xfrm>
            <a:off x="5865876" y="2697480"/>
            <a:ext cx="2103120" cy="822960"/>
          </a:xfrm>
          <a:prstGeom prst="round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900" b="1" i="0">
                <a:solidFill>
                  <a:srgbClr val="FFFFFF"/>
                </a:solidFill>
                <a:latin typeface="Helvetica Neue"/>
                <a:ea typeface="Helvetica Neue"/>
                <a:cs typeface="Helvetica Neue"/>
              </a:rPr>
              <a:t>Contain</a:t>
            </a:r>
          </a:p>
        </p:txBody>
      </p:sp>
      <p:sp>
        <p:nvSpPr>
          <p:cNvPr id="12" name="IR net 3"/>
          <p:cNvSpPr/>
          <p:nvPr/>
        </p:nvSpPr>
        <p:spPr>
          <a:xfrm>
            <a:off x="5865876" y="3657600"/>
            <a:ext cx="2103120" cy="301752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3" name="IR net 3 text"/>
          <p:cNvSpPr txBox="1"/>
          <p:nvPr/>
        </p:nvSpPr>
        <p:spPr>
          <a:xfrm>
            <a:off x="6003036" y="3767328"/>
            <a:ext cx="1828799" cy="2834640"/>
          </a:xfrm>
          <a:prstGeom prst="rect">
            <a:avLst/>
          </a:prstGeom>
          <a:noFill/>
        </p:spPr>
        <p:txBody>
          <a:bodyPr wrap="square" lIns="0" tIns="0" rIns="0" bIns="0" anchor="t">
            <a:spAutoFit/>
          </a:bodyPr>
          <a:lstStyle/>
          <a:p>
            <a:pPr algn="l">
              <a:spcAft>
                <a:spcPts val="400"/>
              </a:spcAft>
            </a:pPr>
            <a:r>
              <a:rPr sz="1400" b="1" i="0">
                <a:solidFill>
                  <a:srgbClr val="2F75B5"/>
                </a:solidFill>
                <a:latin typeface="Helvetica Neue"/>
                <a:ea typeface="Helvetica Neue"/>
                <a:cs typeface="Helvetica Neue"/>
              </a:rPr>
              <a:t>Network's part</a:t>
            </a:r>
          </a:p>
          <a:p>
            <a:pPr algn="l">
              <a:spcAft>
                <a:spcPts val="400"/>
              </a:spcAft>
            </a:pPr>
            <a:r>
              <a:rPr sz="1800" b="0" i="0">
                <a:solidFill>
                  <a:srgbClr val="000000"/>
                </a:solidFill>
                <a:latin typeface="Helvetica Neue"/>
                <a:ea typeface="Helvetica Neue"/>
                <a:cs typeface="Helvetica Neue"/>
              </a:rPr>
              <a:t>Isolate a segment, disable accounts, cut vendor access</a:t>
            </a:r>
          </a:p>
        </p:txBody>
      </p:sp>
      <p:cxnSp>
        <p:nvCxnSpPr>
          <p:cNvPr id="14" name="IR arrow 3"/>
          <p:cNvCxnSpPr/>
          <p:nvPr/>
        </p:nvCxnSpPr>
        <p:spPr>
          <a:xfrm>
            <a:off x="7968996" y="3108960"/>
            <a:ext cx="201168" cy="0"/>
          </a:xfrm>
          <a:prstGeom prst="line">
            <a:avLst/>
          </a:prstGeom>
          <a:ln w="2540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IR ph 4"/>
          <p:cNvSpPr/>
          <p:nvPr/>
        </p:nvSpPr>
        <p:spPr>
          <a:xfrm>
            <a:off x="8170164" y="2697480"/>
            <a:ext cx="2103120" cy="822960"/>
          </a:xfrm>
          <a:prstGeom prst="round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900" b="1" i="0">
                <a:solidFill>
                  <a:srgbClr val="FFFFFF"/>
                </a:solidFill>
                <a:latin typeface="Helvetica Neue"/>
                <a:ea typeface="Helvetica Neue"/>
                <a:cs typeface="Helvetica Neue"/>
              </a:rPr>
              <a:t>Recover</a:t>
            </a:r>
          </a:p>
        </p:txBody>
      </p:sp>
      <p:sp>
        <p:nvSpPr>
          <p:cNvPr id="16" name="IR net 4"/>
          <p:cNvSpPr/>
          <p:nvPr/>
        </p:nvSpPr>
        <p:spPr>
          <a:xfrm>
            <a:off x="8170164" y="3657600"/>
            <a:ext cx="2103120" cy="301752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7" name="IR net 4 text"/>
          <p:cNvSpPr txBox="1"/>
          <p:nvPr/>
        </p:nvSpPr>
        <p:spPr>
          <a:xfrm>
            <a:off x="8307324" y="3767328"/>
            <a:ext cx="1828799" cy="2834640"/>
          </a:xfrm>
          <a:prstGeom prst="rect">
            <a:avLst/>
          </a:prstGeom>
          <a:noFill/>
        </p:spPr>
        <p:txBody>
          <a:bodyPr wrap="square" lIns="0" tIns="0" rIns="0" bIns="0" anchor="t">
            <a:spAutoFit/>
          </a:bodyPr>
          <a:lstStyle/>
          <a:p>
            <a:pPr algn="l">
              <a:spcAft>
                <a:spcPts val="400"/>
              </a:spcAft>
            </a:pPr>
            <a:r>
              <a:rPr sz="1400" b="1" i="0">
                <a:solidFill>
                  <a:srgbClr val="2F75B5"/>
                </a:solidFill>
                <a:latin typeface="Helvetica Neue"/>
                <a:ea typeface="Helvetica Neue"/>
                <a:cs typeface="Helvetica Neue"/>
              </a:rPr>
              <a:t>Network's part</a:t>
            </a:r>
          </a:p>
          <a:p>
            <a:pPr algn="l">
              <a:spcAft>
                <a:spcPts val="400"/>
              </a:spcAft>
            </a:pPr>
            <a:r>
              <a:rPr sz="1800" b="0" i="0">
                <a:solidFill>
                  <a:srgbClr val="000000"/>
                </a:solidFill>
                <a:latin typeface="Helvetica Neue"/>
                <a:ea typeface="Helvetica Neue"/>
                <a:cs typeface="Helvetica Neue"/>
              </a:rPr>
              <a:t>Rebuild; restore from backups the attacker couldn't reach</a:t>
            </a:r>
          </a:p>
        </p:txBody>
      </p:sp>
      <p:cxnSp>
        <p:nvCxnSpPr>
          <p:cNvPr id="18" name="IR arrow 4"/>
          <p:cNvCxnSpPr/>
          <p:nvPr/>
        </p:nvCxnSpPr>
        <p:spPr>
          <a:xfrm>
            <a:off x="10273284" y="3108960"/>
            <a:ext cx="201168" cy="0"/>
          </a:xfrm>
          <a:prstGeom prst="line">
            <a:avLst/>
          </a:prstGeom>
          <a:ln w="25400">
            <a:solidFill>
              <a:srgbClr val="2F75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IR ph 5"/>
          <p:cNvSpPr/>
          <p:nvPr/>
        </p:nvSpPr>
        <p:spPr>
          <a:xfrm>
            <a:off x="10474452" y="2697480"/>
            <a:ext cx="2103120" cy="822960"/>
          </a:xfrm>
          <a:prstGeom prst="round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900" b="1" i="0">
                <a:solidFill>
                  <a:srgbClr val="FFFFFF"/>
                </a:solidFill>
                <a:latin typeface="Helvetica Neue"/>
                <a:ea typeface="Helvetica Neue"/>
                <a:cs typeface="Helvetica Neue"/>
              </a:rPr>
              <a:t>Learn</a:t>
            </a:r>
          </a:p>
        </p:txBody>
      </p:sp>
      <p:sp>
        <p:nvSpPr>
          <p:cNvPr id="20" name="IR net 5"/>
          <p:cNvSpPr/>
          <p:nvPr/>
        </p:nvSpPr>
        <p:spPr>
          <a:xfrm>
            <a:off x="10474452" y="3657600"/>
            <a:ext cx="2103120" cy="301752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1" name="IR net 5 text"/>
          <p:cNvSpPr txBox="1"/>
          <p:nvPr/>
        </p:nvSpPr>
        <p:spPr>
          <a:xfrm>
            <a:off x="10611612" y="3767328"/>
            <a:ext cx="1828799" cy="2834640"/>
          </a:xfrm>
          <a:prstGeom prst="rect">
            <a:avLst/>
          </a:prstGeom>
          <a:noFill/>
        </p:spPr>
        <p:txBody>
          <a:bodyPr wrap="square" lIns="0" tIns="0" rIns="0" bIns="0" anchor="t">
            <a:spAutoFit/>
          </a:bodyPr>
          <a:lstStyle/>
          <a:p>
            <a:pPr algn="l">
              <a:spcAft>
                <a:spcPts val="400"/>
              </a:spcAft>
            </a:pPr>
            <a:r>
              <a:rPr sz="1400" b="1" i="0">
                <a:solidFill>
                  <a:srgbClr val="2F75B5"/>
                </a:solidFill>
                <a:latin typeface="Helvetica Neue"/>
                <a:ea typeface="Helvetica Neue"/>
                <a:cs typeface="Helvetica Neue"/>
              </a:rPr>
              <a:t>Network's part</a:t>
            </a:r>
          </a:p>
          <a:p>
            <a:pPr algn="l">
              <a:spcAft>
                <a:spcPts val="400"/>
              </a:spcAft>
            </a:pPr>
            <a:r>
              <a:rPr sz="1800" b="0" i="0">
                <a:solidFill>
                  <a:srgbClr val="000000"/>
                </a:solidFill>
                <a:latin typeface="Helvetica Neue"/>
                <a:ea typeface="Helvetica Neue"/>
                <a:cs typeface="Helvetica Neue"/>
              </a:rPr>
              <a:t>What would have caught it sooner?</a:t>
            </a:r>
          </a:p>
        </p:txBody>
      </p:sp>
      <p:sp>
        <p:nvSpPr>
          <p:cNvPr id="22" name="IR loop"/>
          <p:cNvSpPr txBox="1"/>
          <p:nvPr/>
        </p:nvSpPr>
        <p:spPr>
          <a:xfrm>
            <a:off x="1257300" y="6812280"/>
            <a:ext cx="11338560" cy="457200"/>
          </a:xfrm>
          <a:prstGeom prst="rect">
            <a:avLst/>
          </a:prstGeom>
          <a:noFill/>
        </p:spPr>
        <p:txBody>
          <a:bodyPr wrap="square" lIns="0" tIns="0" rIns="0" bIns="0" anchor="t">
            <a:spAutoFit/>
          </a:bodyPr>
          <a:lstStyle/>
          <a:p>
            <a:pPr algn="l">
              <a:spcAft>
                <a:spcPts val="600"/>
              </a:spcAft>
            </a:pPr>
            <a:r>
              <a:rPr sz="1500" b="0" i="1">
                <a:solidFill>
                  <a:srgbClr val="595959"/>
                </a:solidFill>
                <a:latin typeface="Helvetica Neue"/>
                <a:ea typeface="Helvetica Neue"/>
                <a:cs typeface="Helvetica Neue"/>
              </a:rPr>
              <a:t>Learn feeds back into Prepare.</a:t>
            </a:r>
          </a:p>
        </p:txBody>
      </p:sp>
      <p:sp>
        <p:nvSpPr>
          <p:cNvPr id="23" name="IR clocks"/>
          <p:cNvSpPr/>
          <p:nvPr/>
        </p:nvSpPr>
        <p:spPr>
          <a:xfrm>
            <a:off x="13030200" y="2697480"/>
            <a:ext cx="4000500" cy="448056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4" name="IR clocks text"/>
          <p:cNvSpPr txBox="1"/>
          <p:nvPr/>
        </p:nvSpPr>
        <p:spPr>
          <a:xfrm>
            <a:off x="13304520" y="2880360"/>
            <a:ext cx="3474720" cy="4206240"/>
          </a:xfrm>
          <a:prstGeom prst="rect">
            <a:avLst/>
          </a:prstGeom>
          <a:noFill/>
        </p:spPr>
        <p:txBody>
          <a:bodyPr wrap="square" lIns="0" tIns="0" rIns="0" bIns="0" anchor="t">
            <a:spAutoFit/>
          </a:bodyPr>
          <a:lstStyle/>
          <a:p>
            <a:pPr algn="l">
              <a:spcAft>
                <a:spcPts val="500"/>
              </a:spcAft>
            </a:pPr>
            <a:r>
              <a:rPr sz="2200" b="1" i="0">
                <a:solidFill>
                  <a:srgbClr val="000000"/>
                </a:solidFill>
                <a:latin typeface="Helvetica Neue"/>
                <a:ea typeface="Helvetica Neue"/>
                <a:cs typeface="Helvetica Neue"/>
              </a:rPr>
              <a:t>The clocks</a:t>
            </a:r>
          </a:p>
          <a:p>
            <a:pPr algn="l">
              <a:spcAft>
                <a:spcPts val="500"/>
              </a:spcAft>
            </a:pPr>
            <a:r>
              <a:rPr sz="3000" b="1" i="0">
                <a:solidFill>
                  <a:srgbClr val="C00000"/>
                </a:solidFill>
                <a:latin typeface="Helvetica Neue"/>
                <a:ea typeface="Helvetica Neue"/>
                <a:cs typeface="Helvetica Neue"/>
              </a:rPr>
              <a:t>36 hours</a:t>
            </a:r>
          </a:p>
          <a:p>
            <a:pPr algn="l">
              <a:spcAft>
                <a:spcPts val="500"/>
              </a:spcAft>
            </a:pPr>
            <a:r>
              <a:rPr sz="1500" b="0" i="0">
                <a:solidFill>
                  <a:srgbClr val="000000"/>
                </a:solidFill>
                <a:latin typeface="Helvetica Neue"/>
                <a:ea typeface="Helvetica Neue"/>
                <a:cs typeface="Helvetica Neue"/>
              </a:rPr>
              <a:t>Bank to its primary regulator, after determining a notification incident</a:t>
            </a:r>
          </a:p>
          <a:p>
            <a:pPr algn="l">
              <a:spcAft>
                <a:spcPts val="500"/>
              </a:spcAft>
            </a:pPr>
            <a:r>
              <a:rPr sz="3000" b="1" i="0">
                <a:solidFill>
                  <a:srgbClr val="C00000"/>
                </a:solidFill>
                <a:latin typeface="Helvetica Neue"/>
                <a:ea typeface="Helvetica Neue"/>
                <a:cs typeface="Helvetica Neue"/>
              </a:rPr>
              <a:t>4+ hours</a:t>
            </a:r>
          </a:p>
          <a:p>
            <a:pPr algn="l">
              <a:spcAft>
                <a:spcPts val="500"/>
              </a:spcAft>
            </a:pPr>
            <a:r>
              <a:rPr sz="1500" b="0" i="0">
                <a:solidFill>
                  <a:srgbClr val="000000"/>
                </a:solidFill>
                <a:latin typeface="Helvetica Neue"/>
                <a:ea typeface="Helvetica Neue"/>
                <a:cs typeface="Helvetica Neue"/>
              </a:rPr>
              <a:t>of disruption: service provider notifies the bank as soon as possible</a:t>
            </a:r>
          </a:p>
          <a:p>
            <a:pPr algn="l">
              <a:spcAft>
                <a:spcPts val="500"/>
              </a:spcAft>
            </a:pPr>
            <a:r>
              <a:rPr sz="1700" b="1" i="0">
                <a:solidFill>
                  <a:srgbClr val="000000"/>
                </a:solidFill>
                <a:latin typeface="Helvetica Neue"/>
                <a:ea typeface="Helvetica Neue"/>
                <a:cs typeface="Helvetica Neue"/>
              </a:rPr>
              <a:t>Also</a:t>
            </a:r>
          </a:p>
          <a:p>
            <a:pPr algn="l">
              <a:spcAft>
                <a:spcPts val="500"/>
              </a:spcAft>
            </a:pPr>
            <a:r>
              <a:rPr sz="1500" b="0" i="0">
                <a:solidFill>
                  <a:srgbClr val="000000"/>
                </a:solidFill>
                <a:latin typeface="Helvetica Neue"/>
                <a:ea typeface="Helvetica Neue"/>
                <a:cs typeface="Helvetica Neue"/>
              </a:rPr>
              <a:t>SARs, customer notice, law enforcement, the cyber insurer</a:t>
            </a:r>
          </a:p>
        </p:txBody>
      </p:sp>
      <p:sp>
        <p:nvSpPr>
          <p:cNvPr id="25" name="IR banner"/>
          <p:cNvSpPr/>
          <p:nvPr/>
        </p:nvSpPr>
        <p:spPr>
          <a:xfrm>
            <a:off x="1257300" y="7406640"/>
            <a:ext cx="15773400" cy="77724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6" name="IR banner text"/>
          <p:cNvSpPr txBox="1"/>
          <p:nvPr/>
        </p:nvSpPr>
        <p:spPr>
          <a:xfrm>
            <a:off x="1554480" y="7452360"/>
            <a:ext cx="15179040" cy="685800"/>
          </a:xfrm>
          <a:prstGeom prst="rect">
            <a:avLst/>
          </a:prstGeom>
          <a:noFill/>
        </p:spPr>
        <p:txBody>
          <a:bodyPr wrap="square" lIns="0" tIns="0" rIns="0" bIns="0" anchor="ctr">
            <a:spAutoFit/>
          </a:bodyPr>
          <a:lstStyle/>
          <a:p>
            <a:pPr algn="ctr">
              <a:spcAft>
                <a:spcPts val="600"/>
              </a:spcAft>
            </a:pPr>
            <a:r>
              <a:rPr sz="2000" b="1" i="0">
                <a:solidFill>
                  <a:srgbClr val="000000"/>
                </a:solidFill>
                <a:latin typeface="Helvetica Neue"/>
                <a:ea typeface="Helvetica Neue"/>
                <a:cs typeface="Helvetica Neue"/>
              </a:rPr>
              <a:t>If the logs weren't kept, nobody can say what the attacker touched.</a:t>
            </a:r>
          </a:p>
        </p:txBody>
      </p:sp>
      <p:sp>
        <p:nvSpPr>
          <p:cNvPr id="27" name="IR sub"/>
          <p:cNvSpPr txBox="1"/>
          <p:nvPr/>
        </p:nvSpPr>
        <p:spPr>
          <a:xfrm>
            <a:off x="1257300" y="8321040"/>
            <a:ext cx="11338560" cy="1005840"/>
          </a:xfrm>
          <a:prstGeom prst="rect">
            <a:avLst/>
          </a:prstGeom>
          <a:noFill/>
        </p:spPr>
        <p:txBody>
          <a:bodyPr wrap="square" lIns="0" tIns="0" rIns="0" bIns="0" anchor="t">
            <a:spAutoFit/>
          </a:bodyPr>
          <a:lstStyle/>
          <a:p>
            <a:pPr algn="l">
              <a:spcAft>
                <a:spcPts val="600"/>
              </a:spcAft>
            </a:pPr>
            <a:r>
              <a:rPr sz="1800" b="0" i="1">
                <a:solidFill>
                  <a:srgbClr val="000000"/>
                </a:solidFill>
                <a:latin typeface="Helvetica Neue"/>
                <a:ea typeface="Helvetica Neue"/>
                <a:cs typeface="Helvetica Neue"/>
              </a:rPr>
              <a:t>That answer decides how many customers must be notified.</a:t>
            </a:r>
          </a:p>
        </p:txBody>
      </p:sp>
      <p:sp>
        <p:nvSpPr>
          <p:cNvPr id="28"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Sources: NIST SP 800-61 Rev. 3 (2024); Computer-Security Incident Notification rule (2021); InTREx Support and Delivery (September 2023 version)</a:t>
            </a: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InTREx Tie-In: Incident Response</a:t>
            </a:r>
          </a:p>
        </p:txBody>
      </p:sp>
      <p:sp>
        <p:nvSpPr>
          <p:cNvPr id="3" name="Form frame"/>
          <p:cNvSpPr/>
          <p:nvPr/>
        </p:nvSpPr>
        <p:spPr>
          <a:xfrm>
            <a:off x="1257300" y="2514600"/>
            <a:ext cx="7863840" cy="3794760"/>
          </a:xfrm>
          <a:prstGeom prst="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Form header band"/>
          <p:cNvSpPr/>
          <p:nvPr/>
        </p:nvSpPr>
        <p:spPr>
          <a:xfrm>
            <a:off x="1257300" y="2514600"/>
            <a:ext cx="7863840" cy="548640"/>
          </a:xfrm>
          <a:prstGeom prst="rect">
            <a:avLst/>
          </a:prstGeom>
          <a:solidFill>
            <a:srgbClr val="D9D9D9"/>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5" name="Form header"/>
          <p:cNvSpPr txBox="1"/>
          <p:nvPr/>
        </p:nvSpPr>
        <p:spPr>
          <a:xfrm>
            <a:off x="1485900" y="2606040"/>
            <a:ext cx="6766559" cy="411480"/>
          </a:xfrm>
          <a:prstGeom prst="rect">
            <a:avLst/>
          </a:prstGeom>
          <a:noFill/>
        </p:spPr>
        <p:txBody>
          <a:bodyPr wrap="square" lIns="0" tIns="0" rIns="0" bIns="0" anchor="ctr">
            <a:spAutoFit/>
          </a:bodyPr>
          <a:lstStyle/>
          <a:p>
            <a:pPr algn="l">
              <a:spcAft>
                <a:spcPts val="600"/>
              </a:spcAft>
            </a:pPr>
            <a:r>
              <a:rPr sz="1800" b="1" i="0">
                <a:solidFill>
                  <a:srgbClr val="000000"/>
                </a:solidFill>
                <a:latin typeface="Helvetica Neue"/>
                <a:ea typeface="Helvetica Neue"/>
                <a:cs typeface="Helvetica Neue"/>
              </a:rPr>
              <a:t>Support and Delivery  ·  Incident Response</a:t>
            </a:r>
          </a:p>
        </p:txBody>
      </p:sp>
      <p:pic>
        <p:nvPicPr>
          <p:cNvPr id="6" name="Form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12480" y="2583179"/>
            <a:ext cx="411480" cy="411480"/>
          </a:xfrm>
          <a:prstGeom prst="rect">
            <a:avLst/>
          </a:prstGeom>
        </p:spPr>
      </p:pic>
      <p:sp>
        <p:nvSpPr>
          <p:cNvPr id="7" name="Form question"/>
          <p:cNvSpPr txBox="1"/>
          <p:nvPr/>
        </p:nvSpPr>
        <p:spPr>
          <a:xfrm>
            <a:off x="1577340" y="3291840"/>
            <a:ext cx="7223759" cy="822960"/>
          </a:xfrm>
          <a:prstGeom prst="rect">
            <a:avLst/>
          </a:prstGeom>
          <a:noFill/>
        </p:spPr>
        <p:txBody>
          <a:bodyPr wrap="square" lIns="0" tIns="0" rIns="0" bIns="0" anchor="t">
            <a:spAutoFit/>
          </a:bodyPr>
          <a:lstStyle/>
          <a:p>
            <a:pPr algn="l">
              <a:spcAft>
                <a:spcPts val="600"/>
              </a:spcAft>
            </a:pPr>
            <a:r>
              <a:rPr sz="2000" b="0" i="0">
                <a:solidFill>
                  <a:srgbClr val="000000"/>
                </a:solidFill>
                <a:latin typeface="Helvetica Neue"/>
                <a:ea typeface="Helvetica Neue"/>
                <a:cs typeface="Helvetica Neue"/>
              </a:rPr>
              <a:t>13.  Evaluate the incident response plan. Consider whether the plan:</a:t>
            </a:r>
          </a:p>
        </p:txBody>
      </p:sp>
      <p:sp>
        <p:nvSpPr>
          <p:cNvPr id="8" name="Checkbox 1"/>
          <p:cNvSpPr/>
          <p:nvPr/>
        </p:nvSpPr>
        <p:spPr>
          <a:xfrm>
            <a:off x="1805940" y="4261103"/>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9" name="Option 1"/>
          <p:cNvSpPr txBox="1"/>
          <p:nvPr/>
        </p:nvSpPr>
        <p:spPr>
          <a:xfrm>
            <a:off x="2263140" y="4206240"/>
            <a:ext cx="2971799" cy="411480"/>
          </a:xfrm>
          <a:prstGeom prst="rect">
            <a:avLst/>
          </a:prstGeom>
          <a:noFill/>
        </p:spPr>
        <p:txBody>
          <a:bodyPr wrap="square" lIns="0" tIns="0" rIns="0" bIns="0" anchor="ctr">
            <a:spAutoFit/>
          </a:bodyPr>
          <a:lstStyle/>
          <a:p>
            <a:pPr algn="l">
              <a:spcAft>
                <a:spcPts val="600"/>
              </a:spcAft>
            </a:pPr>
            <a:r>
              <a:rPr sz="1700" b="0" i="0">
                <a:solidFill>
                  <a:srgbClr val="000000"/>
                </a:solidFill>
                <a:latin typeface="Helvetica Neue"/>
                <a:ea typeface="Helvetica Neue"/>
                <a:cs typeface="Helvetica Neue"/>
              </a:rPr>
              <a:t>Defines responsibilities</a:t>
            </a:r>
          </a:p>
        </p:txBody>
      </p:sp>
      <p:sp>
        <p:nvSpPr>
          <p:cNvPr id="10" name="Checkbox 2"/>
          <p:cNvSpPr/>
          <p:nvPr/>
        </p:nvSpPr>
        <p:spPr>
          <a:xfrm>
            <a:off x="5326379" y="4261103"/>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1" name="Option 2"/>
          <p:cNvSpPr txBox="1"/>
          <p:nvPr/>
        </p:nvSpPr>
        <p:spPr>
          <a:xfrm>
            <a:off x="5783579" y="4206240"/>
            <a:ext cx="2971799" cy="411480"/>
          </a:xfrm>
          <a:prstGeom prst="rect">
            <a:avLst/>
          </a:prstGeom>
          <a:noFill/>
        </p:spPr>
        <p:txBody>
          <a:bodyPr wrap="square" lIns="0" tIns="0" rIns="0" bIns="0" anchor="ctr">
            <a:spAutoFit/>
          </a:bodyPr>
          <a:lstStyle/>
          <a:p>
            <a:pPr algn="l">
              <a:spcAft>
                <a:spcPts val="600"/>
              </a:spcAft>
            </a:pPr>
            <a:r>
              <a:rPr sz="1700" b="0" i="0">
                <a:solidFill>
                  <a:srgbClr val="000000"/>
                </a:solidFill>
                <a:latin typeface="Helvetica Neue"/>
                <a:ea typeface="Helvetica Neue"/>
                <a:cs typeface="Helvetica Neue"/>
              </a:rPr>
              <a:t>Escalates to management and Board</a:t>
            </a:r>
          </a:p>
        </p:txBody>
      </p:sp>
      <p:sp>
        <p:nvSpPr>
          <p:cNvPr id="12" name="Checkbox 3"/>
          <p:cNvSpPr/>
          <p:nvPr/>
        </p:nvSpPr>
        <p:spPr>
          <a:xfrm>
            <a:off x="1805940" y="4828031"/>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3" name="Option 3"/>
          <p:cNvSpPr txBox="1"/>
          <p:nvPr/>
        </p:nvSpPr>
        <p:spPr>
          <a:xfrm>
            <a:off x="2263140" y="4773168"/>
            <a:ext cx="2971799" cy="411480"/>
          </a:xfrm>
          <a:prstGeom prst="rect">
            <a:avLst/>
          </a:prstGeom>
          <a:noFill/>
        </p:spPr>
        <p:txBody>
          <a:bodyPr wrap="square" lIns="0" tIns="0" rIns="0" bIns="0" anchor="ctr">
            <a:spAutoFit/>
          </a:bodyPr>
          <a:lstStyle/>
          <a:p>
            <a:pPr algn="l">
              <a:spcAft>
                <a:spcPts val="600"/>
              </a:spcAft>
            </a:pPr>
            <a:r>
              <a:rPr sz="1700" b="0" i="0">
                <a:solidFill>
                  <a:srgbClr val="000000"/>
                </a:solidFill>
                <a:latin typeface="Helvetica Neue"/>
                <a:ea typeface="Helvetica Neue"/>
                <a:cs typeface="Helvetica Neue"/>
              </a:rPr>
              <a:t>Says when to notify regulators</a:t>
            </a:r>
          </a:p>
        </p:txBody>
      </p:sp>
      <p:sp>
        <p:nvSpPr>
          <p:cNvPr id="14" name="Checkbox 4"/>
          <p:cNvSpPr/>
          <p:nvPr/>
        </p:nvSpPr>
        <p:spPr>
          <a:xfrm>
            <a:off x="5326379" y="4828031"/>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5" name="Option 4"/>
          <p:cNvSpPr txBox="1"/>
          <p:nvPr/>
        </p:nvSpPr>
        <p:spPr>
          <a:xfrm>
            <a:off x="5783579" y="4773168"/>
            <a:ext cx="2971799" cy="411480"/>
          </a:xfrm>
          <a:prstGeom prst="rect">
            <a:avLst/>
          </a:prstGeom>
          <a:noFill/>
        </p:spPr>
        <p:txBody>
          <a:bodyPr wrap="square" lIns="0" tIns="0" rIns="0" bIns="0" anchor="ctr">
            <a:spAutoFit/>
          </a:bodyPr>
          <a:lstStyle/>
          <a:p>
            <a:pPr algn="l">
              <a:spcAft>
                <a:spcPts val="600"/>
              </a:spcAft>
            </a:pPr>
            <a:r>
              <a:rPr sz="1700" b="0" i="0">
                <a:solidFill>
                  <a:srgbClr val="000000"/>
                </a:solidFill>
                <a:latin typeface="Helvetica Neue"/>
                <a:ea typeface="Helvetica Neue"/>
                <a:cs typeface="Helvetica Neue"/>
              </a:rPr>
              <a:t>Covers third-party incidents</a:t>
            </a:r>
          </a:p>
        </p:txBody>
      </p:sp>
      <p:sp>
        <p:nvSpPr>
          <p:cNvPr id="16" name="Checkbox 5"/>
          <p:cNvSpPr/>
          <p:nvPr/>
        </p:nvSpPr>
        <p:spPr>
          <a:xfrm>
            <a:off x="1805940" y="5394959"/>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7" name="Option 5"/>
          <p:cNvSpPr txBox="1"/>
          <p:nvPr/>
        </p:nvSpPr>
        <p:spPr>
          <a:xfrm>
            <a:off x="2263140" y="5340096"/>
            <a:ext cx="2971799" cy="411480"/>
          </a:xfrm>
          <a:prstGeom prst="rect">
            <a:avLst/>
          </a:prstGeom>
          <a:noFill/>
        </p:spPr>
        <p:txBody>
          <a:bodyPr wrap="square" lIns="0" tIns="0" rIns="0" bIns="0" anchor="ctr">
            <a:spAutoFit/>
          </a:bodyPr>
          <a:lstStyle/>
          <a:p>
            <a:pPr algn="l">
              <a:spcAft>
                <a:spcPts val="600"/>
              </a:spcAft>
            </a:pPr>
            <a:r>
              <a:rPr sz="1700" b="0" i="0">
                <a:solidFill>
                  <a:srgbClr val="000000"/>
                </a:solidFill>
                <a:latin typeface="Helvetica Neue"/>
                <a:ea typeface="Helvetica Neue"/>
                <a:cs typeface="Helvetica Neue"/>
              </a:rPr>
              <a:t>Recovers critical systems</a:t>
            </a:r>
          </a:p>
        </p:txBody>
      </p:sp>
      <p:sp>
        <p:nvSpPr>
          <p:cNvPr id="18" name="Checkbox 6"/>
          <p:cNvSpPr/>
          <p:nvPr/>
        </p:nvSpPr>
        <p:spPr>
          <a:xfrm>
            <a:off x="5326379" y="5394959"/>
            <a:ext cx="292608" cy="292608"/>
          </a:xfrm>
          <a:prstGeom prst="rect">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9" name="Option 6"/>
          <p:cNvSpPr txBox="1"/>
          <p:nvPr/>
        </p:nvSpPr>
        <p:spPr>
          <a:xfrm>
            <a:off x="5783579" y="5340096"/>
            <a:ext cx="2971799" cy="411480"/>
          </a:xfrm>
          <a:prstGeom prst="rect">
            <a:avLst/>
          </a:prstGeom>
          <a:noFill/>
        </p:spPr>
        <p:txBody>
          <a:bodyPr wrap="square" lIns="0" tIns="0" rIns="0" bIns="0" anchor="ctr">
            <a:spAutoFit/>
          </a:bodyPr>
          <a:lstStyle/>
          <a:p>
            <a:pPr algn="l">
              <a:spcAft>
                <a:spcPts val="600"/>
              </a:spcAft>
            </a:pPr>
            <a:r>
              <a:rPr sz="1700" b="0" i="0">
                <a:solidFill>
                  <a:srgbClr val="000000"/>
                </a:solidFill>
                <a:latin typeface="Helvetica Neue"/>
                <a:ea typeface="Helvetica Neue"/>
                <a:cs typeface="Helvetica Neue"/>
              </a:rPr>
              <a:t>Requires periodic testing</a:t>
            </a:r>
          </a:p>
        </p:txBody>
      </p:sp>
      <p:sp>
        <p:nvSpPr>
          <p:cNvPr id="20" name="Quote panel"/>
          <p:cNvSpPr/>
          <p:nvPr/>
        </p:nvSpPr>
        <p:spPr>
          <a:xfrm>
            <a:off x="9692640" y="2514600"/>
            <a:ext cx="7315200" cy="379476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1" name="Quote mark"/>
          <p:cNvSpPr txBox="1"/>
          <p:nvPr/>
        </p:nvSpPr>
        <p:spPr>
          <a:xfrm>
            <a:off x="9966960" y="2560320"/>
            <a:ext cx="914400" cy="914400"/>
          </a:xfrm>
          <a:prstGeom prst="rect">
            <a:avLst/>
          </a:prstGeom>
          <a:noFill/>
        </p:spPr>
        <p:txBody>
          <a:bodyPr wrap="square" lIns="0" tIns="0" rIns="0" bIns="0" anchor="t">
            <a:spAutoFit/>
          </a:bodyPr>
          <a:lstStyle/>
          <a:p>
            <a:pPr algn="l">
              <a:spcAft>
                <a:spcPts val="600"/>
              </a:spcAft>
            </a:pPr>
            <a:r>
              <a:rPr sz="9600" b="1" i="0">
                <a:solidFill>
                  <a:srgbClr val="8EA9DB"/>
                </a:solidFill>
                <a:latin typeface="Helvetica Neue"/>
                <a:ea typeface="Helvetica Neue"/>
                <a:cs typeface="Helvetica Neue"/>
              </a:rPr>
              <a:t>“</a:t>
            </a:r>
          </a:p>
        </p:txBody>
      </p:sp>
      <p:sp>
        <p:nvSpPr>
          <p:cNvPr id="22" name="Quote text"/>
          <p:cNvSpPr txBox="1"/>
          <p:nvPr/>
        </p:nvSpPr>
        <p:spPr>
          <a:xfrm>
            <a:off x="10149840" y="3291840"/>
            <a:ext cx="6400800" cy="1600200"/>
          </a:xfrm>
          <a:prstGeom prst="rect">
            <a:avLst/>
          </a:prstGeom>
          <a:noFill/>
        </p:spPr>
        <p:txBody>
          <a:bodyPr wrap="square" lIns="0" tIns="0" rIns="0" bIns="0" anchor="t">
            <a:spAutoFit/>
          </a:bodyPr>
          <a:lstStyle/>
          <a:p>
            <a:pPr algn="l">
              <a:spcAft>
                <a:spcPts val="600"/>
              </a:spcAft>
            </a:pPr>
            <a:r>
              <a:rPr sz="2400" b="0" i="1">
                <a:solidFill>
                  <a:srgbClr val="000000"/>
                </a:solidFill>
                <a:latin typeface="Helvetica Neue"/>
                <a:ea typeface="Helvetica Neue"/>
                <a:cs typeface="Helvetica Neue"/>
              </a:rPr>
              <a:t>Tools and processes are in place to detect, alert, and trigger the incident response program.</a:t>
            </a:r>
          </a:p>
        </p:txBody>
      </p:sp>
      <p:sp>
        <p:nvSpPr>
          <p:cNvPr id="23" name="Quote source"/>
          <p:cNvSpPr txBox="1"/>
          <p:nvPr/>
        </p:nvSpPr>
        <p:spPr>
          <a:xfrm>
            <a:off x="10149840" y="4937760"/>
            <a:ext cx="6400800" cy="365760"/>
          </a:xfrm>
          <a:prstGeom prst="rect">
            <a:avLst/>
          </a:prstGeom>
          <a:noFill/>
        </p:spPr>
        <p:txBody>
          <a:bodyPr wrap="square" lIns="0" tIns="0" rIns="0" bIns="0" anchor="t">
            <a:spAutoFit/>
          </a:bodyPr>
          <a:lstStyle/>
          <a:p>
            <a:pPr algn="l">
              <a:spcAft>
                <a:spcPts val="600"/>
              </a:spcAft>
            </a:pPr>
            <a:r>
              <a:rPr sz="1600" b="0" i="0">
                <a:solidFill>
                  <a:srgbClr val="595959"/>
                </a:solidFill>
                <a:latin typeface="Helvetica Neue"/>
                <a:ea typeface="Helvetica Neue"/>
                <a:cs typeface="Helvetica Neue"/>
              </a:rPr>
              <a:t>InTREx Support and Delivery baseline statement</a:t>
            </a:r>
          </a:p>
        </p:txBody>
      </p:sp>
      <p:sp>
        <p:nvSpPr>
          <p:cNvPr id="24" name="Quote prompt"/>
          <p:cNvSpPr txBox="1"/>
          <p:nvPr/>
        </p:nvSpPr>
        <p:spPr>
          <a:xfrm>
            <a:off x="10149840" y="5440680"/>
            <a:ext cx="6400800" cy="731520"/>
          </a:xfrm>
          <a:prstGeom prst="rect">
            <a:avLst/>
          </a:prstGeom>
          <a:noFill/>
        </p:spPr>
        <p:txBody>
          <a:bodyPr wrap="square" lIns="0" tIns="0" rIns="0" bIns="0" anchor="t">
            <a:spAutoFit/>
          </a:bodyPr>
          <a:lstStyle/>
          <a:p>
            <a:pPr algn="l">
              <a:spcAft>
                <a:spcPts val="600"/>
              </a:spcAft>
            </a:pPr>
            <a:r>
              <a:rPr sz="2400" b="1" i="0">
                <a:solidFill>
                  <a:srgbClr val="000000"/>
                </a:solidFill>
                <a:latin typeface="Helvetica Neue"/>
                <a:ea typeface="Helvetica Neue"/>
                <a:cs typeface="Helvetica Neue"/>
              </a:rPr>
              <a:t>When the MSSP calls at 2 a.m., who answers?</a:t>
            </a:r>
          </a:p>
        </p:txBody>
      </p:sp>
      <p:sp>
        <p:nvSpPr>
          <p:cNvPr id="25" name="Leads heading"/>
          <p:cNvSpPr txBox="1"/>
          <p:nvPr/>
        </p:nvSpPr>
        <p:spPr>
          <a:xfrm>
            <a:off x="1257300" y="6675120"/>
            <a:ext cx="15544800" cy="457200"/>
          </a:xfrm>
          <a:prstGeom prst="rect">
            <a:avLst/>
          </a:prstGeom>
          <a:noFill/>
        </p:spPr>
        <p:txBody>
          <a:bodyPr wrap="square" lIns="0" tIns="0" rIns="0" bIns="0" anchor="t">
            <a:spAutoFit/>
          </a:bodyPr>
          <a:lstStyle/>
          <a:p>
            <a:pPr algn="l">
              <a:spcAft>
                <a:spcPts val="600"/>
              </a:spcAft>
            </a:pPr>
            <a:r>
              <a:rPr sz="2400" b="1" i="0">
                <a:solidFill>
                  <a:srgbClr val="000000"/>
                </a:solidFill>
                <a:latin typeface="Helvetica Neue"/>
                <a:ea typeface="Helvetica Neue"/>
                <a:cs typeface="Helvetica Neue"/>
              </a:rPr>
              <a:t>Where incident response leads</a:t>
            </a:r>
          </a:p>
        </p:txBody>
      </p:sp>
      <p:sp>
        <p:nvSpPr>
          <p:cNvPr id="26" name="Card 1"/>
          <p:cNvSpPr/>
          <p:nvPr/>
        </p:nvSpPr>
        <p:spPr>
          <a:xfrm>
            <a:off x="1257300"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7" name="Card 1 text"/>
          <p:cNvSpPr txBox="1"/>
          <p:nvPr/>
        </p:nvSpPr>
        <p:spPr>
          <a:xfrm>
            <a:off x="1513332"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Detection</a:t>
            </a:r>
          </a:p>
          <a:p>
            <a:pPr algn="l">
              <a:spcAft>
                <a:spcPts val="700"/>
              </a:spcAft>
            </a:pPr>
            <a:r>
              <a:rPr sz="1600" b="0" i="0">
                <a:solidFill>
                  <a:srgbClr val="000000"/>
                </a:solidFill>
                <a:latin typeface="Helvetica Neue"/>
                <a:ea typeface="Helvetica Neue"/>
                <a:cs typeface="Helvetica Neue"/>
              </a:rPr>
              <a:t>Alert parameters, monitoring, MSSP reporting</a:t>
            </a:r>
          </a:p>
        </p:txBody>
      </p:sp>
      <p:sp>
        <p:nvSpPr>
          <p:cNvPr id="28" name="Card 2"/>
          <p:cNvSpPr/>
          <p:nvPr/>
        </p:nvSpPr>
        <p:spPr>
          <a:xfrm>
            <a:off x="5280659"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9" name="Card 2 text"/>
          <p:cNvSpPr txBox="1"/>
          <p:nvPr/>
        </p:nvSpPr>
        <p:spPr>
          <a:xfrm>
            <a:off x="5536692"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Notification</a:t>
            </a:r>
          </a:p>
          <a:p>
            <a:pPr algn="l">
              <a:spcAft>
                <a:spcPts val="700"/>
              </a:spcAft>
            </a:pPr>
            <a:r>
              <a:rPr sz="1600" b="0" i="0">
                <a:solidFill>
                  <a:srgbClr val="000000"/>
                </a:solidFill>
                <a:latin typeface="Helvetica Neue"/>
                <a:ea typeface="Helvetica Neue"/>
                <a:cs typeface="Helvetica Neue"/>
              </a:rPr>
              <a:t>Regulators within 36 hours; customers; law enforcement; SARs</a:t>
            </a:r>
          </a:p>
        </p:txBody>
      </p:sp>
      <p:sp>
        <p:nvSpPr>
          <p:cNvPr id="30" name="Card 3"/>
          <p:cNvSpPr/>
          <p:nvPr/>
        </p:nvSpPr>
        <p:spPr>
          <a:xfrm>
            <a:off x="9304019"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1" name="Card 3 text"/>
          <p:cNvSpPr txBox="1"/>
          <p:nvPr/>
        </p:nvSpPr>
        <p:spPr>
          <a:xfrm>
            <a:off x="9560051"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Third parties</a:t>
            </a:r>
          </a:p>
          <a:p>
            <a:pPr algn="l">
              <a:spcAft>
                <a:spcPts val="700"/>
              </a:spcAft>
            </a:pPr>
            <a:r>
              <a:rPr sz="1600" b="0" i="0">
                <a:solidFill>
                  <a:srgbClr val="000000"/>
                </a:solidFill>
                <a:latin typeface="Helvetica Neue"/>
                <a:ea typeface="Helvetica Neue"/>
                <a:cs typeface="Helvetica Neue"/>
              </a:rPr>
              <a:t>Incidents at service providers, and their notice to the bank</a:t>
            </a:r>
          </a:p>
        </p:txBody>
      </p:sp>
      <p:sp>
        <p:nvSpPr>
          <p:cNvPr id="32" name="Card 4"/>
          <p:cNvSpPr/>
          <p:nvPr/>
        </p:nvSpPr>
        <p:spPr>
          <a:xfrm>
            <a:off x="13327380" y="7269480"/>
            <a:ext cx="3703320" cy="214884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3" name="Card 4 text"/>
          <p:cNvSpPr txBox="1"/>
          <p:nvPr/>
        </p:nvSpPr>
        <p:spPr>
          <a:xfrm>
            <a:off x="13583411" y="7470648"/>
            <a:ext cx="3191256" cy="178308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Testing</a:t>
            </a:r>
          </a:p>
          <a:p>
            <a:pPr algn="l">
              <a:spcAft>
                <a:spcPts val="700"/>
              </a:spcAft>
            </a:pPr>
            <a:r>
              <a:rPr sz="1600" b="0" i="0">
                <a:solidFill>
                  <a:srgbClr val="000000"/>
                </a:solidFill>
                <a:latin typeface="Helvetica Neue"/>
                <a:ea typeface="Helvetica Neue"/>
                <a:cs typeface="Helvetica Neue"/>
              </a:rPr>
              <a:t>Exercises that include the MSSP and the core processor</a:t>
            </a:r>
          </a:p>
        </p:txBody>
      </p:sp>
      <p:sp>
        <p:nvSpPr>
          <p:cNvPr id="34"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Source: InTREx Support and Delivery, procedure 13 (September 2023 version)</a:t>
            </a: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Chapter 30: Wrap-Up</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Thursday Wrap-Up: Applications and the Risk Landscape</a:t>
            </a:r>
          </a:p>
        </p:txBody>
      </p:sp>
      <p:sp>
        <p:nvSpPr>
          <p:cNvPr id="3" name="Recap 1 mark"/>
          <p:cNvSpPr/>
          <p:nvPr/>
        </p:nvSpPr>
        <p:spPr>
          <a:xfrm>
            <a:off x="1257300" y="2788920"/>
            <a:ext cx="109728" cy="100584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Recap 1"/>
          <p:cNvSpPr txBox="1"/>
          <p:nvPr/>
        </p:nvSpPr>
        <p:spPr>
          <a:xfrm>
            <a:off x="1577340" y="2697480"/>
            <a:ext cx="7406640" cy="1188720"/>
          </a:xfrm>
          <a:prstGeom prst="rect">
            <a:avLst/>
          </a:prstGeom>
          <a:noFill/>
        </p:spPr>
        <p:txBody>
          <a:bodyPr wrap="square" lIns="0" tIns="0" rIns="0" bIns="0" anchor="t">
            <a:spAutoFit/>
          </a:bodyPr>
          <a:lstStyle/>
          <a:p>
            <a:pPr algn="l">
              <a:spcAft>
                <a:spcPts val="200"/>
              </a:spcAft>
            </a:pPr>
            <a:r>
              <a:rPr sz="2100" b="1" i="0">
                <a:solidFill>
                  <a:srgbClr val="000000"/>
                </a:solidFill>
                <a:latin typeface="Helvetica Neue"/>
                <a:ea typeface="Helvetica Neue"/>
                <a:cs typeface="Helvetica Neue"/>
              </a:rPr>
              <a:t>Applications</a:t>
            </a:r>
          </a:p>
          <a:p>
            <a:pPr algn="l">
              <a:spcAft>
                <a:spcPts val="200"/>
              </a:spcAft>
            </a:pPr>
            <a:r>
              <a:rPr sz="1700" b="0" i="0">
                <a:solidFill>
                  <a:srgbClr val="404040"/>
                </a:solidFill>
                <a:latin typeface="Helvetica Neue"/>
                <a:ea typeface="Helvetica Neue"/>
                <a:cs typeface="Helvetica Neue"/>
              </a:rPr>
              <a:t>Most of them live somewhere other than the bank</a:t>
            </a:r>
          </a:p>
        </p:txBody>
      </p:sp>
      <p:sp>
        <p:nvSpPr>
          <p:cNvPr id="5" name="Recap 2 mark"/>
          <p:cNvSpPr/>
          <p:nvPr/>
        </p:nvSpPr>
        <p:spPr>
          <a:xfrm>
            <a:off x="9258300" y="2788920"/>
            <a:ext cx="109728" cy="100584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6" name="Recap 2"/>
          <p:cNvSpPr txBox="1"/>
          <p:nvPr/>
        </p:nvSpPr>
        <p:spPr>
          <a:xfrm>
            <a:off x="9578340" y="2697480"/>
            <a:ext cx="7406640" cy="1188720"/>
          </a:xfrm>
          <a:prstGeom prst="rect">
            <a:avLst/>
          </a:prstGeom>
          <a:noFill/>
        </p:spPr>
        <p:txBody>
          <a:bodyPr wrap="square" lIns="0" tIns="0" rIns="0" bIns="0" anchor="t">
            <a:spAutoFit/>
          </a:bodyPr>
          <a:lstStyle/>
          <a:p>
            <a:pPr algn="l">
              <a:spcAft>
                <a:spcPts val="200"/>
              </a:spcAft>
            </a:pPr>
            <a:r>
              <a:rPr sz="2100" b="1" i="0">
                <a:solidFill>
                  <a:srgbClr val="000000"/>
                </a:solidFill>
                <a:latin typeface="Helvetica Neue"/>
                <a:ea typeface="Helvetica Neue"/>
                <a:cs typeface="Helvetica Neue"/>
              </a:rPr>
              <a:t>Core banking</a:t>
            </a:r>
          </a:p>
          <a:p>
            <a:pPr algn="l">
              <a:spcAft>
                <a:spcPts val="200"/>
              </a:spcAft>
            </a:pPr>
            <a:r>
              <a:rPr sz="1700" b="0" i="0">
                <a:solidFill>
                  <a:srgbClr val="404040"/>
                </a:solidFill>
                <a:latin typeface="Helvetica Neue"/>
                <a:ea typeface="Helvetica Neue"/>
                <a:cs typeface="Helvetica Neue"/>
              </a:rPr>
              <a:t>The circuit to the core is the bank's most important connection</a:t>
            </a:r>
          </a:p>
        </p:txBody>
      </p:sp>
      <p:sp>
        <p:nvSpPr>
          <p:cNvPr id="7" name="Recap 3 mark"/>
          <p:cNvSpPr/>
          <p:nvPr/>
        </p:nvSpPr>
        <p:spPr>
          <a:xfrm>
            <a:off x="1257300" y="4114800"/>
            <a:ext cx="109728" cy="100584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8" name="Recap 3"/>
          <p:cNvSpPr txBox="1"/>
          <p:nvPr/>
        </p:nvSpPr>
        <p:spPr>
          <a:xfrm>
            <a:off x="1577340" y="4023360"/>
            <a:ext cx="7406640" cy="1188720"/>
          </a:xfrm>
          <a:prstGeom prst="rect">
            <a:avLst/>
          </a:prstGeom>
          <a:noFill/>
        </p:spPr>
        <p:txBody>
          <a:bodyPr wrap="square" lIns="0" tIns="0" rIns="0" bIns="0" anchor="t">
            <a:spAutoFit/>
          </a:bodyPr>
          <a:lstStyle/>
          <a:p>
            <a:pPr algn="l">
              <a:spcAft>
                <a:spcPts val="200"/>
              </a:spcAft>
            </a:pPr>
            <a:r>
              <a:rPr sz="2100" b="1" i="0">
                <a:solidFill>
                  <a:srgbClr val="000000"/>
                </a:solidFill>
                <a:latin typeface="Helvetica Neue"/>
                <a:ea typeface="Helvetica Neue"/>
                <a:cs typeface="Helvetica Neue"/>
              </a:rPr>
              <a:t>SaaS</a:t>
            </a:r>
          </a:p>
          <a:p>
            <a:pPr algn="l">
              <a:spcAft>
                <a:spcPts val="200"/>
              </a:spcAft>
            </a:pPr>
            <a:r>
              <a:rPr sz="1700" b="0" i="0">
                <a:solidFill>
                  <a:srgbClr val="404040"/>
                </a:solidFill>
                <a:latin typeface="Helvetica Neue"/>
                <a:ea typeface="Helvetica Neue"/>
                <a:cs typeface="Helvetica Neue"/>
              </a:rPr>
              <a:t>Each app is a vendor holding bank data</a:t>
            </a:r>
          </a:p>
        </p:txBody>
      </p:sp>
      <p:sp>
        <p:nvSpPr>
          <p:cNvPr id="9" name="Recap 4 mark"/>
          <p:cNvSpPr/>
          <p:nvPr/>
        </p:nvSpPr>
        <p:spPr>
          <a:xfrm>
            <a:off x="9258300" y="4114800"/>
            <a:ext cx="109728" cy="100584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0" name="Recap 4"/>
          <p:cNvSpPr txBox="1"/>
          <p:nvPr/>
        </p:nvSpPr>
        <p:spPr>
          <a:xfrm>
            <a:off x="9578340" y="4023360"/>
            <a:ext cx="7406640" cy="1188720"/>
          </a:xfrm>
          <a:prstGeom prst="rect">
            <a:avLst/>
          </a:prstGeom>
          <a:noFill/>
        </p:spPr>
        <p:txBody>
          <a:bodyPr wrap="square" lIns="0" tIns="0" rIns="0" bIns="0" anchor="t">
            <a:spAutoFit/>
          </a:bodyPr>
          <a:lstStyle/>
          <a:p>
            <a:pPr algn="l">
              <a:spcAft>
                <a:spcPts val="200"/>
              </a:spcAft>
            </a:pPr>
            <a:r>
              <a:rPr sz="2100" b="1" i="0">
                <a:solidFill>
                  <a:srgbClr val="000000"/>
                </a:solidFill>
                <a:latin typeface="Helvetica Neue"/>
                <a:ea typeface="Helvetica Neue"/>
                <a:cs typeface="Helvetica Neue"/>
              </a:rPr>
              <a:t>DNS</a:t>
            </a:r>
          </a:p>
          <a:p>
            <a:pPr algn="l">
              <a:spcAft>
                <a:spcPts val="200"/>
              </a:spcAft>
            </a:pPr>
            <a:r>
              <a:rPr sz="1700" b="0" i="0">
                <a:solidFill>
                  <a:srgbClr val="404040"/>
                </a:solidFill>
                <a:latin typeface="Helvetica Neue"/>
                <a:ea typeface="Helvetica Neue"/>
                <a:cs typeface="Helvetica Neue"/>
              </a:rPr>
              <a:t>The phone book everything depends on</a:t>
            </a:r>
          </a:p>
        </p:txBody>
      </p:sp>
      <p:sp>
        <p:nvSpPr>
          <p:cNvPr id="11" name="Recap 5 mark"/>
          <p:cNvSpPr/>
          <p:nvPr/>
        </p:nvSpPr>
        <p:spPr>
          <a:xfrm>
            <a:off x="1257300" y="5440679"/>
            <a:ext cx="109728" cy="100584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2" name="Recap 5"/>
          <p:cNvSpPr txBox="1"/>
          <p:nvPr/>
        </p:nvSpPr>
        <p:spPr>
          <a:xfrm>
            <a:off x="1577340" y="5349240"/>
            <a:ext cx="7406640" cy="1188720"/>
          </a:xfrm>
          <a:prstGeom prst="rect">
            <a:avLst/>
          </a:prstGeom>
          <a:noFill/>
        </p:spPr>
        <p:txBody>
          <a:bodyPr wrap="square" lIns="0" tIns="0" rIns="0" bIns="0" anchor="t">
            <a:spAutoFit/>
          </a:bodyPr>
          <a:lstStyle/>
          <a:p>
            <a:pPr algn="l">
              <a:spcAft>
                <a:spcPts val="200"/>
              </a:spcAft>
            </a:pPr>
            <a:r>
              <a:rPr sz="2100" b="1" i="0">
                <a:solidFill>
                  <a:srgbClr val="000000"/>
                </a:solidFill>
                <a:latin typeface="Helvetica Neue"/>
                <a:ea typeface="Helvetica Neue"/>
                <a:cs typeface="Helvetica Neue"/>
              </a:rPr>
              <a:t>Voice</a:t>
            </a:r>
          </a:p>
          <a:p>
            <a:pPr algn="l">
              <a:spcAft>
                <a:spcPts val="200"/>
              </a:spcAft>
            </a:pPr>
            <a:r>
              <a:rPr sz="1700" b="0" i="0">
                <a:solidFill>
                  <a:srgbClr val="404040"/>
                </a:solidFill>
                <a:latin typeface="Helvetica Neue"/>
                <a:ea typeface="Helvetica Neue"/>
                <a:cs typeface="Helvetica Neue"/>
              </a:rPr>
              <a:t>Copper to cloud; mind the alarm lines</a:t>
            </a:r>
          </a:p>
        </p:txBody>
      </p:sp>
      <p:sp>
        <p:nvSpPr>
          <p:cNvPr id="13" name="Recap 6 mark"/>
          <p:cNvSpPr/>
          <p:nvPr/>
        </p:nvSpPr>
        <p:spPr>
          <a:xfrm>
            <a:off x="9258300" y="5440679"/>
            <a:ext cx="109728" cy="100584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4" name="Recap 6"/>
          <p:cNvSpPr txBox="1"/>
          <p:nvPr/>
        </p:nvSpPr>
        <p:spPr>
          <a:xfrm>
            <a:off x="9578340" y="5349240"/>
            <a:ext cx="7406640" cy="1188720"/>
          </a:xfrm>
          <a:prstGeom prst="rect">
            <a:avLst/>
          </a:prstGeom>
          <a:noFill/>
        </p:spPr>
        <p:txBody>
          <a:bodyPr wrap="square" lIns="0" tIns="0" rIns="0" bIns="0" anchor="t">
            <a:spAutoFit/>
          </a:bodyPr>
          <a:lstStyle/>
          <a:p>
            <a:pPr algn="l">
              <a:spcAft>
                <a:spcPts val="200"/>
              </a:spcAft>
            </a:pPr>
            <a:r>
              <a:rPr sz="2100" b="1" i="0">
                <a:solidFill>
                  <a:srgbClr val="000000"/>
                </a:solidFill>
                <a:latin typeface="Helvetica Neue"/>
                <a:ea typeface="Helvetica Neue"/>
                <a:cs typeface="Helvetica Neue"/>
              </a:rPr>
              <a:t>IoT</a:t>
            </a:r>
          </a:p>
          <a:p>
            <a:pPr algn="l">
              <a:spcAft>
                <a:spcPts val="200"/>
              </a:spcAft>
            </a:pPr>
            <a:r>
              <a:rPr sz="1700" b="0" i="0">
                <a:solidFill>
                  <a:srgbClr val="404040"/>
                </a:solidFill>
                <a:latin typeface="Helvetica Neue"/>
                <a:ea typeface="Helvetica Neue"/>
                <a:cs typeface="Helvetica Neue"/>
              </a:rPr>
              <a:t>Devices other people manage, on the bank's network</a:t>
            </a:r>
          </a:p>
        </p:txBody>
      </p:sp>
      <p:sp>
        <p:nvSpPr>
          <p:cNvPr id="15" name="Recap 7 mark"/>
          <p:cNvSpPr/>
          <p:nvPr/>
        </p:nvSpPr>
        <p:spPr>
          <a:xfrm>
            <a:off x="1257300" y="6766559"/>
            <a:ext cx="109728" cy="100584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6" name="Recap 7"/>
          <p:cNvSpPr txBox="1"/>
          <p:nvPr/>
        </p:nvSpPr>
        <p:spPr>
          <a:xfrm>
            <a:off x="1577340" y="6675120"/>
            <a:ext cx="7406640" cy="1188720"/>
          </a:xfrm>
          <a:prstGeom prst="rect">
            <a:avLst/>
          </a:prstGeom>
          <a:noFill/>
        </p:spPr>
        <p:txBody>
          <a:bodyPr wrap="square" lIns="0" tIns="0" rIns="0" bIns="0" anchor="t">
            <a:spAutoFit/>
          </a:bodyPr>
          <a:lstStyle/>
          <a:p>
            <a:pPr algn="l">
              <a:spcAft>
                <a:spcPts val="200"/>
              </a:spcAft>
            </a:pPr>
            <a:r>
              <a:rPr sz="2100" b="1" i="0">
                <a:solidFill>
                  <a:srgbClr val="000000"/>
                </a:solidFill>
                <a:latin typeface="Helvetica Neue"/>
                <a:ea typeface="Helvetica Neue"/>
                <a:cs typeface="Helvetica Neue"/>
              </a:rPr>
              <a:t>Risk landscape</a:t>
            </a:r>
          </a:p>
          <a:p>
            <a:pPr algn="l">
              <a:spcAft>
                <a:spcPts val="200"/>
              </a:spcAft>
            </a:pPr>
            <a:r>
              <a:rPr sz="1700" b="0" i="0">
                <a:solidFill>
                  <a:srgbClr val="404040"/>
                </a:solidFill>
                <a:latin typeface="Helvetica Neue"/>
                <a:ea typeface="Helvetica Neue"/>
                <a:cs typeface="Helvetica Neue"/>
              </a:rPr>
              <a:t>Segmentation, MFA, vendor access, logging</a:t>
            </a:r>
          </a:p>
        </p:txBody>
      </p:sp>
      <p:sp>
        <p:nvSpPr>
          <p:cNvPr id="17" name="Tomorrow"/>
          <p:cNvSpPr/>
          <p:nvPr/>
        </p:nvSpPr>
        <p:spPr>
          <a:xfrm>
            <a:off x="9258300" y="6675120"/>
            <a:ext cx="7772400" cy="118872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8" name="Tomorrow text"/>
          <p:cNvSpPr txBox="1"/>
          <p:nvPr/>
        </p:nvSpPr>
        <p:spPr>
          <a:xfrm>
            <a:off x="9555480" y="6720840"/>
            <a:ext cx="7223760" cy="1097280"/>
          </a:xfrm>
          <a:prstGeom prst="rect">
            <a:avLst/>
          </a:prstGeom>
          <a:noFill/>
        </p:spPr>
        <p:txBody>
          <a:bodyPr wrap="square" lIns="0" tIns="0" rIns="0" bIns="0" anchor="ctr">
            <a:spAutoFit/>
          </a:bodyPr>
          <a:lstStyle/>
          <a:p>
            <a:pPr algn="l">
              <a:spcAft>
                <a:spcPts val="200"/>
              </a:spcAft>
            </a:pPr>
            <a:r>
              <a:rPr sz="1900" b="1" i="0">
                <a:solidFill>
                  <a:srgbClr val="2F75B5"/>
                </a:solidFill>
                <a:latin typeface="Helvetica Neue"/>
                <a:ea typeface="Helvetica Neue"/>
                <a:cs typeface="Helvetica Neue"/>
              </a:rPr>
              <a:t>Tomorrow (ends 11:00)</a:t>
            </a:r>
          </a:p>
          <a:p>
            <a:pPr algn="l">
              <a:spcAft>
                <a:spcPts val="200"/>
              </a:spcAft>
            </a:pPr>
            <a:r>
              <a:rPr sz="1600" b="0" i="0">
                <a:solidFill>
                  <a:srgbClr val="000000"/>
                </a:solidFill>
                <a:latin typeface="Helvetica Neue"/>
                <a:ea typeface="Helvetica Neue"/>
                <a:cs typeface="Helvetica Neue"/>
              </a:rPr>
              <a:t>Looking ahead, quantum, fintech and M&amp;A, and the capstone</a:t>
            </a:r>
          </a:p>
        </p:txBody>
      </p:sp>
      <p:sp>
        <p:nvSpPr>
          <p:cNvPr id="19" name="Questions banner"/>
          <p:cNvSpPr/>
          <p:nvPr/>
        </p:nvSpPr>
        <p:spPr>
          <a:xfrm>
            <a:off x="1257300" y="8229600"/>
            <a:ext cx="15773400" cy="1188720"/>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0" name="Questions banner text"/>
          <p:cNvSpPr txBox="1"/>
          <p:nvPr/>
        </p:nvSpPr>
        <p:spPr>
          <a:xfrm>
            <a:off x="1554480" y="8275320"/>
            <a:ext cx="15179040" cy="1097280"/>
          </a:xfrm>
          <a:prstGeom prst="rect">
            <a:avLst/>
          </a:prstGeom>
          <a:noFill/>
        </p:spPr>
        <p:txBody>
          <a:bodyPr wrap="square" lIns="0" tIns="0" rIns="0" bIns="0" anchor="ctr">
            <a:spAutoFit/>
          </a:bodyPr>
          <a:lstStyle/>
          <a:p>
            <a:pPr algn="ctr">
              <a:spcAft>
                <a:spcPts val="600"/>
              </a:spcAft>
            </a:pPr>
            <a:r>
              <a:rPr sz="4000" b="1" i="0">
                <a:solidFill>
                  <a:srgbClr val="FFFFFF"/>
                </a:solidFill>
                <a:latin typeface="Helvetica Neue"/>
                <a:ea typeface="Helvetica Neue"/>
                <a:cs typeface="Helvetica Neue"/>
              </a:rPr>
              <a:t>Questions?</a:t>
            </a: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Chapter 31: Looking Ahead</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Where Networking Is Headed</a:t>
            </a:r>
          </a:p>
        </p:txBody>
      </p:sp>
      <p:sp>
        <p:nvSpPr>
          <p:cNvPr id="3" name="Trend 1"/>
          <p:cNvSpPr/>
          <p:nvPr/>
        </p:nvSpPr>
        <p:spPr>
          <a:xfrm>
            <a:off x="1257300" y="2697480"/>
            <a:ext cx="5029200" cy="31089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4" name="Trend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54480" y="2948940"/>
            <a:ext cx="777240" cy="777240"/>
          </a:xfrm>
          <a:prstGeom prst="rect">
            <a:avLst/>
          </a:prstGeom>
        </p:spPr>
      </p:pic>
      <p:sp>
        <p:nvSpPr>
          <p:cNvPr id="5" name="Trend 1 head"/>
          <p:cNvSpPr txBox="1"/>
          <p:nvPr/>
        </p:nvSpPr>
        <p:spPr>
          <a:xfrm>
            <a:off x="2537460" y="2971800"/>
            <a:ext cx="3566160" cy="731520"/>
          </a:xfrm>
          <a:prstGeom prst="rect">
            <a:avLst/>
          </a:prstGeom>
          <a:noFill/>
        </p:spPr>
        <p:txBody>
          <a:bodyPr wrap="square" lIns="0" tIns="0" rIns="0" bIns="0" anchor="ctr">
            <a:spAutoFit/>
          </a:bodyPr>
          <a:lstStyle/>
          <a:p>
            <a:pPr algn="l">
              <a:spcAft>
                <a:spcPts val="600"/>
              </a:spcAft>
            </a:pPr>
            <a:r>
              <a:rPr sz="2200" b="1" i="0">
                <a:solidFill>
                  <a:srgbClr val="000000"/>
                </a:solidFill>
                <a:latin typeface="Helvetica Neue"/>
                <a:ea typeface="Helvetica Neue"/>
                <a:cs typeface="Helvetica Neue"/>
              </a:rPr>
              <a:t>SASE and SSE</a:t>
            </a:r>
          </a:p>
        </p:txBody>
      </p:sp>
      <p:sp>
        <p:nvSpPr>
          <p:cNvPr id="6" name="Trend 1 body"/>
          <p:cNvSpPr txBox="1"/>
          <p:nvPr/>
        </p:nvSpPr>
        <p:spPr>
          <a:xfrm>
            <a:off x="1577340" y="3931920"/>
            <a:ext cx="4389120" cy="1005840"/>
          </a:xfrm>
          <a:prstGeom prst="rect">
            <a:avLst/>
          </a:prstGeom>
          <a:noFill/>
        </p:spPr>
        <p:txBody>
          <a:bodyPr wrap="square" lIns="0" tIns="0" rIns="0" bIns="0" anchor="t">
            <a:spAutoFit/>
          </a:bodyPr>
          <a:lstStyle/>
          <a:p>
            <a:pPr algn="l">
              <a:spcAft>
                <a:spcPts val="600"/>
              </a:spcAft>
            </a:pPr>
            <a:r>
              <a:rPr sz="1700" b="0" i="0">
                <a:solidFill>
                  <a:srgbClr val="000000"/>
                </a:solidFill>
                <a:latin typeface="Helvetica Neue"/>
                <a:ea typeface="Helvetica Neue"/>
                <a:cs typeface="Helvetica Neue"/>
              </a:rPr>
              <a:t>Security delivered from the cloud, not a box per branch</a:t>
            </a:r>
          </a:p>
        </p:txBody>
      </p:sp>
      <p:sp>
        <p:nvSpPr>
          <p:cNvPr id="7" name="Trend 1 means"/>
          <p:cNvSpPr txBox="1"/>
          <p:nvPr/>
        </p:nvSpPr>
        <p:spPr>
          <a:xfrm>
            <a:off x="1577340" y="4937760"/>
            <a:ext cx="4389120" cy="777240"/>
          </a:xfrm>
          <a:prstGeom prst="rect">
            <a:avLst/>
          </a:prstGeom>
          <a:noFill/>
        </p:spPr>
        <p:txBody>
          <a:bodyPr wrap="square" lIns="0" tIns="0" rIns="0" bIns="0" anchor="t">
            <a:spAutoFit/>
          </a:bodyPr>
          <a:lstStyle/>
          <a:p>
            <a:pPr algn="l">
              <a:spcAft>
                <a:spcPts val="600"/>
              </a:spcAft>
            </a:pPr>
            <a:r>
              <a:rPr sz="1600" b="1" i="0">
                <a:solidFill>
                  <a:srgbClr val="2F75B5"/>
                </a:solidFill>
                <a:latin typeface="Helvetica Neue"/>
                <a:ea typeface="Helvetica Neue"/>
                <a:cs typeface="Helvetica Neue"/>
              </a:rPr>
              <a:t>For the bank: The firewall becomes a vendor service</a:t>
            </a:r>
          </a:p>
        </p:txBody>
      </p:sp>
      <p:sp>
        <p:nvSpPr>
          <p:cNvPr id="8" name="Trend 2"/>
          <p:cNvSpPr/>
          <p:nvPr/>
        </p:nvSpPr>
        <p:spPr>
          <a:xfrm>
            <a:off x="6629400" y="2697480"/>
            <a:ext cx="5029200" cy="31089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9" name="Trend 2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26580" y="2948940"/>
            <a:ext cx="777240" cy="777240"/>
          </a:xfrm>
          <a:prstGeom prst="rect">
            <a:avLst/>
          </a:prstGeom>
        </p:spPr>
      </p:pic>
      <p:sp>
        <p:nvSpPr>
          <p:cNvPr id="10" name="Trend 2 head"/>
          <p:cNvSpPr txBox="1"/>
          <p:nvPr/>
        </p:nvSpPr>
        <p:spPr>
          <a:xfrm>
            <a:off x="7909560" y="2971800"/>
            <a:ext cx="3566160" cy="731520"/>
          </a:xfrm>
          <a:prstGeom prst="rect">
            <a:avLst/>
          </a:prstGeom>
          <a:noFill/>
        </p:spPr>
        <p:txBody>
          <a:bodyPr wrap="square" lIns="0" tIns="0" rIns="0" bIns="0" anchor="ctr">
            <a:spAutoFit/>
          </a:bodyPr>
          <a:lstStyle/>
          <a:p>
            <a:pPr algn="l">
              <a:spcAft>
                <a:spcPts val="600"/>
              </a:spcAft>
            </a:pPr>
            <a:r>
              <a:rPr sz="2200" b="1" i="0">
                <a:solidFill>
                  <a:srgbClr val="000000"/>
                </a:solidFill>
                <a:latin typeface="Helvetica Neue"/>
                <a:ea typeface="Helvetica Neue"/>
                <a:cs typeface="Helvetica Neue"/>
              </a:rPr>
              <a:t>Wi-Fi 7 and 6 GHz</a:t>
            </a:r>
          </a:p>
        </p:txBody>
      </p:sp>
      <p:sp>
        <p:nvSpPr>
          <p:cNvPr id="11" name="Trend 2 body"/>
          <p:cNvSpPr txBox="1"/>
          <p:nvPr/>
        </p:nvSpPr>
        <p:spPr>
          <a:xfrm>
            <a:off x="6949440" y="3931920"/>
            <a:ext cx="4389120" cy="1005840"/>
          </a:xfrm>
          <a:prstGeom prst="rect">
            <a:avLst/>
          </a:prstGeom>
          <a:noFill/>
        </p:spPr>
        <p:txBody>
          <a:bodyPr wrap="square" lIns="0" tIns="0" rIns="0" bIns="0" anchor="t">
            <a:spAutoFit/>
          </a:bodyPr>
          <a:lstStyle/>
          <a:p>
            <a:pPr algn="l">
              <a:spcAft>
                <a:spcPts val="600"/>
              </a:spcAft>
            </a:pPr>
            <a:r>
              <a:rPr sz="1700" b="0" i="0">
                <a:solidFill>
                  <a:srgbClr val="000000"/>
                </a:solidFill>
                <a:latin typeface="Helvetica Neue"/>
                <a:ea typeface="Helvetica Neue"/>
                <a:cs typeface="Helvetica Neue"/>
              </a:rPr>
              <a:t>Much faster wireless; 6 GHz requires WPA3</a:t>
            </a:r>
          </a:p>
        </p:txBody>
      </p:sp>
      <p:sp>
        <p:nvSpPr>
          <p:cNvPr id="12" name="Trend 2 means"/>
          <p:cNvSpPr txBox="1"/>
          <p:nvPr/>
        </p:nvSpPr>
        <p:spPr>
          <a:xfrm>
            <a:off x="6949440" y="4937760"/>
            <a:ext cx="4389120" cy="777240"/>
          </a:xfrm>
          <a:prstGeom prst="rect">
            <a:avLst/>
          </a:prstGeom>
          <a:noFill/>
        </p:spPr>
        <p:txBody>
          <a:bodyPr wrap="square" lIns="0" tIns="0" rIns="0" bIns="0" anchor="t">
            <a:spAutoFit/>
          </a:bodyPr>
          <a:lstStyle/>
          <a:p>
            <a:pPr algn="l">
              <a:spcAft>
                <a:spcPts val="600"/>
              </a:spcAft>
            </a:pPr>
            <a:r>
              <a:rPr sz="1600" b="1" i="0">
                <a:solidFill>
                  <a:srgbClr val="2F75B5"/>
                </a:solidFill>
                <a:latin typeface="Helvetica Neue"/>
                <a:ea typeface="Helvetica Neue"/>
                <a:cs typeface="Helvetica Neue"/>
              </a:rPr>
              <a:t>For the bank: Older, weaker Wi-Fi security retires</a:t>
            </a:r>
          </a:p>
        </p:txBody>
      </p:sp>
      <p:sp>
        <p:nvSpPr>
          <p:cNvPr id="13" name="Trend 3"/>
          <p:cNvSpPr/>
          <p:nvPr/>
        </p:nvSpPr>
        <p:spPr>
          <a:xfrm>
            <a:off x="12001500" y="2697480"/>
            <a:ext cx="5029200" cy="31089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4" name="Trend 3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298680" y="2948940"/>
            <a:ext cx="777240" cy="777240"/>
          </a:xfrm>
          <a:prstGeom prst="rect">
            <a:avLst/>
          </a:prstGeom>
        </p:spPr>
      </p:pic>
      <p:sp>
        <p:nvSpPr>
          <p:cNvPr id="15" name="Trend 3 head"/>
          <p:cNvSpPr txBox="1"/>
          <p:nvPr/>
        </p:nvSpPr>
        <p:spPr>
          <a:xfrm>
            <a:off x="13281660" y="2971800"/>
            <a:ext cx="3566160" cy="731520"/>
          </a:xfrm>
          <a:prstGeom prst="rect">
            <a:avLst/>
          </a:prstGeom>
          <a:noFill/>
        </p:spPr>
        <p:txBody>
          <a:bodyPr wrap="square" lIns="0" tIns="0" rIns="0" bIns="0" anchor="ctr">
            <a:spAutoFit/>
          </a:bodyPr>
          <a:lstStyle/>
          <a:p>
            <a:pPr algn="l">
              <a:spcAft>
                <a:spcPts val="600"/>
              </a:spcAft>
            </a:pPr>
            <a:r>
              <a:rPr sz="2200" b="1" i="0">
                <a:solidFill>
                  <a:srgbClr val="000000"/>
                </a:solidFill>
                <a:latin typeface="Helvetica Neue"/>
                <a:ea typeface="Helvetica Neue"/>
                <a:cs typeface="Helvetica Neue"/>
              </a:rPr>
              <a:t>Cellular as primary</a:t>
            </a:r>
          </a:p>
        </p:txBody>
      </p:sp>
      <p:sp>
        <p:nvSpPr>
          <p:cNvPr id="16" name="Trend 3 body"/>
          <p:cNvSpPr txBox="1"/>
          <p:nvPr/>
        </p:nvSpPr>
        <p:spPr>
          <a:xfrm>
            <a:off x="12321540" y="3931920"/>
            <a:ext cx="4389120" cy="1005840"/>
          </a:xfrm>
          <a:prstGeom prst="rect">
            <a:avLst/>
          </a:prstGeom>
          <a:noFill/>
        </p:spPr>
        <p:txBody>
          <a:bodyPr wrap="square" lIns="0" tIns="0" rIns="0" bIns="0" anchor="t">
            <a:spAutoFit/>
          </a:bodyPr>
          <a:lstStyle/>
          <a:p>
            <a:pPr algn="l">
              <a:spcAft>
                <a:spcPts val="600"/>
              </a:spcAft>
            </a:pPr>
            <a:r>
              <a:rPr sz="1700" b="0" i="0">
                <a:solidFill>
                  <a:srgbClr val="000000"/>
                </a:solidFill>
                <a:latin typeface="Helvetica Neue"/>
                <a:ea typeface="Helvetica Neue"/>
                <a:cs typeface="Helvetica Neue"/>
              </a:rPr>
              <a:t>5G and fixed wireless for small branches and ATMs</a:t>
            </a:r>
          </a:p>
        </p:txBody>
      </p:sp>
      <p:sp>
        <p:nvSpPr>
          <p:cNvPr id="17" name="Trend 3 means"/>
          <p:cNvSpPr txBox="1"/>
          <p:nvPr/>
        </p:nvSpPr>
        <p:spPr>
          <a:xfrm>
            <a:off x="12321540" y="4937760"/>
            <a:ext cx="4389120" cy="777240"/>
          </a:xfrm>
          <a:prstGeom prst="rect">
            <a:avLst/>
          </a:prstGeom>
          <a:noFill/>
        </p:spPr>
        <p:txBody>
          <a:bodyPr wrap="square" lIns="0" tIns="0" rIns="0" bIns="0" anchor="t">
            <a:spAutoFit/>
          </a:bodyPr>
          <a:lstStyle/>
          <a:p>
            <a:pPr algn="l">
              <a:spcAft>
                <a:spcPts val="600"/>
              </a:spcAft>
            </a:pPr>
            <a:r>
              <a:rPr sz="1600" b="1" i="0">
                <a:solidFill>
                  <a:srgbClr val="2F75B5"/>
                </a:solidFill>
                <a:latin typeface="Helvetica Neue"/>
                <a:ea typeface="Helvetica Neue"/>
                <a:cs typeface="Helvetica Neue"/>
              </a:rPr>
              <a:t>For the bank: Carrier diversity, cellular SLAs</a:t>
            </a:r>
          </a:p>
        </p:txBody>
      </p:sp>
      <p:sp>
        <p:nvSpPr>
          <p:cNvPr id="18" name="Trend 4"/>
          <p:cNvSpPr/>
          <p:nvPr/>
        </p:nvSpPr>
        <p:spPr>
          <a:xfrm>
            <a:off x="1257300" y="6080760"/>
            <a:ext cx="5029200" cy="31089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9" name="Trend 4 icon"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54480" y="6332220"/>
            <a:ext cx="777240" cy="777240"/>
          </a:xfrm>
          <a:prstGeom prst="rect">
            <a:avLst/>
          </a:prstGeom>
        </p:spPr>
      </p:pic>
      <p:sp>
        <p:nvSpPr>
          <p:cNvPr id="20" name="Trend 4 head"/>
          <p:cNvSpPr txBox="1"/>
          <p:nvPr/>
        </p:nvSpPr>
        <p:spPr>
          <a:xfrm>
            <a:off x="2537460" y="6355080"/>
            <a:ext cx="3566160" cy="731520"/>
          </a:xfrm>
          <a:prstGeom prst="rect">
            <a:avLst/>
          </a:prstGeom>
          <a:noFill/>
        </p:spPr>
        <p:txBody>
          <a:bodyPr wrap="square" lIns="0" tIns="0" rIns="0" bIns="0" anchor="ctr">
            <a:spAutoFit/>
          </a:bodyPr>
          <a:lstStyle/>
          <a:p>
            <a:pPr algn="l">
              <a:spcAft>
                <a:spcPts val="600"/>
              </a:spcAft>
            </a:pPr>
            <a:r>
              <a:rPr sz="2200" b="1" i="0">
                <a:solidFill>
                  <a:srgbClr val="000000"/>
                </a:solidFill>
                <a:latin typeface="Helvetica Neue"/>
                <a:ea typeface="Helvetica Neue"/>
                <a:cs typeface="Helvetica Neue"/>
              </a:rPr>
              <a:t>Satellite</a:t>
            </a:r>
          </a:p>
        </p:txBody>
      </p:sp>
      <p:sp>
        <p:nvSpPr>
          <p:cNvPr id="21" name="Trend 4 body"/>
          <p:cNvSpPr txBox="1"/>
          <p:nvPr/>
        </p:nvSpPr>
        <p:spPr>
          <a:xfrm>
            <a:off x="1577340" y="7315200"/>
            <a:ext cx="4389120" cy="1005840"/>
          </a:xfrm>
          <a:prstGeom prst="rect">
            <a:avLst/>
          </a:prstGeom>
          <a:noFill/>
        </p:spPr>
        <p:txBody>
          <a:bodyPr wrap="square" lIns="0" tIns="0" rIns="0" bIns="0" anchor="t">
            <a:spAutoFit/>
          </a:bodyPr>
          <a:lstStyle/>
          <a:p>
            <a:pPr algn="l">
              <a:spcAft>
                <a:spcPts val="600"/>
              </a:spcAft>
            </a:pPr>
            <a:r>
              <a:rPr sz="1700" b="0" i="0">
                <a:solidFill>
                  <a:srgbClr val="000000"/>
                </a:solidFill>
                <a:latin typeface="Helvetica Neue"/>
                <a:ea typeface="Helvetica Neue"/>
                <a:cs typeface="Helvetica Neue"/>
              </a:rPr>
              <a:t>Low-orbit service as backup, or primary in rural areas</a:t>
            </a:r>
          </a:p>
        </p:txBody>
      </p:sp>
      <p:sp>
        <p:nvSpPr>
          <p:cNvPr id="22" name="Trend 4 means"/>
          <p:cNvSpPr txBox="1"/>
          <p:nvPr/>
        </p:nvSpPr>
        <p:spPr>
          <a:xfrm>
            <a:off x="1577340" y="8321040"/>
            <a:ext cx="4389120" cy="777240"/>
          </a:xfrm>
          <a:prstGeom prst="rect">
            <a:avLst/>
          </a:prstGeom>
          <a:noFill/>
        </p:spPr>
        <p:txBody>
          <a:bodyPr wrap="square" lIns="0" tIns="0" rIns="0" bIns="0" anchor="t">
            <a:spAutoFit/>
          </a:bodyPr>
          <a:lstStyle/>
          <a:p>
            <a:pPr algn="l">
              <a:spcAft>
                <a:spcPts val="600"/>
              </a:spcAft>
            </a:pPr>
            <a:r>
              <a:rPr sz="1600" b="1" i="0">
                <a:solidFill>
                  <a:srgbClr val="2F75B5"/>
                </a:solidFill>
                <a:latin typeface="Helvetica Neue"/>
                <a:ea typeface="Helvetica Neue"/>
                <a:cs typeface="Helvetica Neue"/>
              </a:rPr>
              <a:t>For the bank: A real second path</a:t>
            </a:r>
          </a:p>
        </p:txBody>
      </p:sp>
      <p:sp>
        <p:nvSpPr>
          <p:cNvPr id="23" name="Trend 5"/>
          <p:cNvSpPr/>
          <p:nvPr/>
        </p:nvSpPr>
        <p:spPr>
          <a:xfrm>
            <a:off x="6629400" y="6080760"/>
            <a:ext cx="5029200" cy="31089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4" name="Trend 5 icon"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926580" y="6332220"/>
            <a:ext cx="777240" cy="777240"/>
          </a:xfrm>
          <a:prstGeom prst="rect">
            <a:avLst/>
          </a:prstGeom>
        </p:spPr>
      </p:pic>
      <p:sp>
        <p:nvSpPr>
          <p:cNvPr id="25" name="Trend 5 head"/>
          <p:cNvSpPr txBox="1"/>
          <p:nvPr/>
        </p:nvSpPr>
        <p:spPr>
          <a:xfrm>
            <a:off x="7909560" y="6355080"/>
            <a:ext cx="3566160" cy="731520"/>
          </a:xfrm>
          <a:prstGeom prst="rect">
            <a:avLst/>
          </a:prstGeom>
          <a:noFill/>
        </p:spPr>
        <p:txBody>
          <a:bodyPr wrap="square" lIns="0" tIns="0" rIns="0" bIns="0" anchor="ctr">
            <a:spAutoFit/>
          </a:bodyPr>
          <a:lstStyle/>
          <a:p>
            <a:pPr algn="l">
              <a:spcAft>
                <a:spcPts val="600"/>
              </a:spcAft>
            </a:pPr>
            <a:r>
              <a:rPr sz="2200" b="1" i="0">
                <a:solidFill>
                  <a:srgbClr val="000000"/>
                </a:solidFill>
                <a:latin typeface="Helvetica Neue"/>
                <a:ea typeface="Helvetica Neue"/>
                <a:cs typeface="Helvetica Neue"/>
              </a:rPr>
              <a:t>IPv6</a:t>
            </a:r>
          </a:p>
        </p:txBody>
      </p:sp>
      <p:sp>
        <p:nvSpPr>
          <p:cNvPr id="26" name="Trend 5 body"/>
          <p:cNvSpPr txBox="1"/>
          <p:nvPr/>
        </p:nvSpPr>
        <p:spPr>
          <a:xfrm>
            <a:off x="6949440" y="7315200"/>
            <a:ext cx="4389120" cy="1005840"/>
          </a:xfrm>
          <a:prstGeom prst="rect">
            <a:avLst/>
          </a:prstGeom>
          <a:noFill/>
        </p:spPr>
        <p:txBody>
          <a:bodyPr wrap="square" lIns="0" tIns="0" rIns="0" bIns="0" anchor="t">
            <a:spAutoFit/>
          </a:bodyPr>
          <a:lstStyle/>
          <a:p>
            <a:pPr algn="l">
              <a:spcAft>
                <a:spcPts val="600"/>
              </a:spcAft>
            </a:pPr>
            <a:r>
              <a:rPr sz="1700" b="0" i="0">
                <a:solidFill>
                  <a:srgbClr val="000000"/>
                </a:solidFill>
                <a:latin typeface="Helvetica Neue"/>
                <a:ea typeface="Helvetica Neue"/>
                <a:cs typeface="Helvetica Neue"/>
              </a:rPr>
              <a:t>Mobile networks and big clouds already run on it</a:t>
            </a:r>
          </a:p>
        </p:txBody>
      </p:sp>
      <p:sp>
        <p:nvSpPr>
          <p:cNvPr id="27" name="Trend 5 means"/>
          <p:cNvSpPr txBox="1"/>
          <p:nvPr/>
        </p:nvSpPr>
        <p:spPr>
          <a:xfrm>
            <a:off x="6949440" y="8321040"/>
            <a:ext cx="4389120" cy="777240"/>
          </a:xfrm>
          <a:prstGeom prst="rect">
            <a:avLst/>
          </a:prstGeom>
          <a:noFill/>
        </p:spPr>
        <p:txBody>
          <a:bodyPr wrap="square" lIns="0" tIns="0" rIns="0" bIns="0" anchor="t">
            <a:spAutoFit/>
          </a:bodyPr>
          <a:lstStyle/>
          <a:p>
            <a:pPr algn="l">
              <a:spcAft>
                <a:spcPts val="600"/>
              </a:spcAft>
            </a:pPr>
            <a:r>
              <a:rPr sz="1600" b="1" i="0">
                <a:solidFill>
                  <a:srgbClr val="2F75B5"/>
                </a:solidFill>
                <a:latin typeface="Helvetica Neue"/>
                <a:ea typeface="Helvetica Neue"/>
                <a:cs typeface="Helvetica Neue"/>
              </a:rPr>
              <a:t>For the bank: Security tools must see it</a:t>
            </a:r>
          </a:p>
        </p:txBody>
      </p:sp>
      <p:sp>
        <p:nvSpPr>
          <p:cNvPr id="28" name="Trend 6"/>
          <p:cNvSpPr/>
          <p:nvPr/>
        </p:nvSpPr>
        <p:spPr>
          <a:xfrm>
            <a:off x="12001500" y="6080760"/>
            <a:ext cx="5029200" cy="31089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29" name="Trend 6 icon" descr="image.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2298680" y="6332220"/>
            <a:ext cx="777240" cy="777240"/>
          </a:xfrm>
          <a:prstGeom prst="rect">
            <a:avLst/>
          </a:prstGeom>
        </p:spPr>
      </p:pic>
      <p:sp>
        <p:nvSpPr>
          <p:cNvPr id="30" name="Trend 6 head"/>
          <p:cNvSpPr txBox="1"/>
          <p:nvPr/>
        </p:nvSpPr>
        <p:spPr>
          <a:xfrm>
            <a:off x="13281660" y="6355080"/>
            <a:ext cx="3566160" cy="731520"/>
          </a:xfrm>
          <a:prstGeom prst="rect">
            <a:avLst/>
          </a:prstGeom>
          <a:noFill/>
        </p:spPr>
        <p:txBody>
          <a:bodyPr wrap="square" lIns="0" tIns="0" rIns="0" bIns="0" anchor="ctr">
            <a:spAutoFit/>
          </a:bodyPr>
          <a:lstStyle/>
          <a:p>
            <a:pPr algn="l">
              <a:spcAft>
                <a:spcPts val="600"/>
              </a:spcAft>
            </a:pPr>
            <a:r>
              <a:rPr sz="2200" b="1" i="0">
                <a:solidFill>
                  <a:srgbClr val="000000"/>
                </a:solidFill>
                <a:latin typeface="Helvetica Neue"/>
                <a:ea typeface="Helvetica Neue"/>
                <a:cs typeface="Helvetica Neue"/>
              </a:rPr>
              <a:t>Automation</a:t>
            </a:r>
          </a:p>
        </p:txBody>
      </p:sp>
      <p:sp>
        <p:nvSpPr>
          <p:cNvPr id="31" name="Trend 6 body"/>
          <p:cNvSpPr txBox="1"/>
          <p:nvPr/>
        </p:nvSpPr>
        <p:spPr>
          <a:xfrm>
            <a:off x="12321540" y="7315200"/>
            <a:ext cx="4389120" cy="1005840"/>
          </a:xfrm>
          <a:prstGeom prst="rect">
            <a:avLst/>
          </a:prstGeom>
          <a:noFill/>
        </p:spPr>
        <p:txBody>
          <a:bodyPr wrap="square" lIns="0" tIns="0" rIns="0" bIns="0" anchor="t">
            <a:spAutoFit/>
          </a:bodyPr>
          <a:lstStyle/>
          <a:p>
            <a:pPr algn="l">
              <a:spcAft>
                <a:spcPts val="600"/>
              </a:spcAft>
            </a:pPr>
            <a:r>
              <a:rPr sz="1700" b="0" i="0">
                <a:solidFill>
                  <a:srgbClr val="000000"/>
                </a:solidFill>
                <a:latin typeface="Helvetica Neue"/>
                <a:ea typeface="Helvetica Neue"/>
                <a:cs typeface="Helvetica Neue"/>
              </a:rPr>
              <a:t>Networks configured by software, not by hand</a:t>
            </a:r>
          </a:p>
        </p:txBody>
      </p:sp>
      <p:sp>
        <p:nvSpPr>
          <p:cNvPr id="32" name="Trend 6 means"/>
          <p:cNvSpPr txBox="1"/>
          <p:nvPr/>
        </p:nvSpPr>
        <p:spPr>
          <a:xfrm>
            <a:off x="12321540" y="8321040"/>
            <a:ext cx="4389120" cy="777240"/>
          </a:xfrm>
          <a:prstGeom prst="rect">
            <a:avLst/>
          </a:prstGeom>
          <a:noFill/>
        </p:spPr>
        <p:txBody>
          <a:bodyPr wrap="square" lIns="0" tIns="0" rIns="0" bIns="0" anchor="t">
            <a:spAutoFit/>
          </a:bodyPr>
          <a:lstStyle/>
          <a:p>
            <a:pPr algn="l">
              <a:spcAft>
                <a:spcPts val="600"/>
              </a:spcAft>
            </a:pPr>
            <a:r>
              <a:rPr sz="1600" b="1" i="0">
                <a:solidFill>
                  <a:srgbClr val="2F75B5"/>
                </a:solidFill>
                <a:latin typeface="Helvetica Neue"/>
                <a:ea typeface="Helvetica Neue"/>
                <a:cs typeface="Helvetica Neue"/>
              </a:rPr>
              <a:t>For the bank: A bad change spreads everywhere at once</a:t>
            </a: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AI and the Network: Operations, Traffic, and Risk</a:t>
            </a:r>
          </a:p>
        </p:txBody>
      </p:sp>
      <p:sp>
        <p:nvSpPr>
          <p:cNvPr id="3" name="AI 1"/>
          <p:cNvSpPr/>
          <p:nvPr/>
        </p:nvSpPr>
        <p:spPr>
          <a:xfrm>
            <a:off x="1257300" y="2697480"/>
            <a:ext cx="5029200" cy="4846320"/>
          </a:xfrm>
          <a:prstGeom prst="roundRect">
            <a:avLst/>
          </a:prstGeom>
          <a:solidFill>
            <a:srgbClr val="FFFFFF"/>
          </a:solidFill>
          <a:ln w="3175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4" name="AI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14700" y="2971800"/>
            <a:ext cx="914400" cy="914400"/>
          </a:xfrm>
          <a:prstGeom prst="rect">
            <a:avLst/>
          </a:prstGeom>
        </p:spPr>
      </p:pic>
      <p:sp>
        <p:nvSpPr>
          <p:cNvPr id="5" name="AI 1 text"/>
          <p:cNvSpPr txBox="1"/>
          <p:nvPr/>
        </p:nvSpPr>
        <p:spPr>
          <a:xfrm>
            <a:off x="1577340" y="4069080"/>
            <a:ext cx="4389120" cy="2103120"/>
          </a:xfrm>
          <a:prstGeom prst="rect">
            <a:avLst/>
          </a:prstGeom>
          <a:noFill/>
        </p:spPr>
        <p:txBody>
          <a:bodyPr wrap="square" lIns="0" tIns="0" rIns="0" bIns="0" anchor="t">
            <a:spAutoFit/>
          </a:bodyPr>
          <a:lstStyle/>
          <a:p>
            <a:pPr algn="ctr">
              <a:spcAft>
                <a:spcPts val="600"/>
              </a:spcAft>
            </a:pPr>
            <a:r>
              <a:rPr sz="2300" b="1" i="0">
                <a:solidFill>
                  <a:srgbClr val="2F75B5"/>
                </a:solidFill>
                <a:latin typeface="Helvetica Neue"/>
                <a:ea typeface="Helvetica Neue"/>
                <a:cs typeface="Helvetica Neue"/>
              </a:rPr>
              <a:t>Running the network</a:t>
            </a:r>
          </a:p>
          <a:p>
            <a:pPr algn="ctr">
              <a:spcAft>
                <a:spcPts val="600"/>
              </a:spcAft>
            </a:pPr>
            <a:r>
              <a:rPr sz="2000" b="0" i="0">
                <a:solidFill>
                  <a:srgbClr val="000000"/>
                </a:solidFill>
                <a:latin typeface="Helvetica Neue"/>
                <a:ea typeface="Helvetica Neue"/>
                <a:cs typeface="Helvetica Neue"/>
              </a:rPr>
              <a:t>AIOps: anomaly detection, root cause, suggested or automatic changes</a:t>
            </a:r>
          </a:p>
        </p:txBody>
      </p:sp>
      <p:sp>
        <p:nvSpPr>
          <p:cNvPr id="6" name="AI 1 q"/>
          <p:cNvSpPr/>
          <p:nvPr/>
        </p:nvSpPr>
        <p:spPr>
          <a:xfrm>
            <a:off x="1531620" y="6172200"/>
            <a:ext cx="4480560" cy="1143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7" name="AI 1 q text"/>
          <p:cNvSpPr txBox="1"/>
          <p:nvPr/>
        </p:nvSpPr>
        <p:spPr>
          <a:xfrm>
            <a:off x="1668780" y="6217920"/>
            <a:ext cx="4206240" cy="1051560"/>
          </a:xfrm>
          <a:prstGeom prst="rect">
            <a:avLst/>
          </a:prstGeom>
          <a:noFill/>
        </p:spPr>
        <p:txBody>
          <a:bodyPr wrap="square" lIns="0" tIns="0" rIns="0" bIns="0" anchor="ctr">
            <a:spAutoFit/>
          </a:bodyPr>
          <a:lstStyle/>
          <a:p>
            <a:pPr algn="ctr">
              <a:spcAft>
                <a:spcPts val="600"/>
              </a:spcAft>
            </a:pPr>
            <a:r>
              <a:rPr sz="1600" b="1" i="0">
                <a:solidFill>
                  <a:srgbClr val="000000"/>
                </a:solidFill>
                <a:latin typeface="Helvetica Neue"/>
                <a:ea typeface="Helvetica Neue"/>
                <a:cs typeface="Helvetica Neue"/>
              </a:rPr>
              <a:t>Who approved the change the AI made?</a:t>
            </a:r>
          </a:p>
        </p:txBody>
      </p:sp>
      <p:sp>
        <p:nvSpPr>
          <p:cNvPr id="8" name="AI 2"/>
          <p:cNvSpPr/>
          <p:nvPr/>
        </p:nvSpPr>
        <p:spPr>
          <a:xfrm>
            <a:off x="6629400" y="2697480"/>
            <a:ext cx="5029200" cy="4846320"/>
          </a:xfrm>
          <a:prstGeom prst="roundRect">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9" name="AI 2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86800" y="2971800"/>
            <a:ext cx="914400" cy="914400"/>
          </a:xfrm>
          <a:prstGeom prst="rect">
            <a:avLst/>
          </a:prstGeom>
        </p:spPr>
      </p:pic>
      <p:sp>
        <p:nvSpPr>
          <p:cNvPr id="10" name="AI 2 text"/>
          <p:cNvSpPr txBox="1"/>
          <p:nvPr/>
        </p:nvSpPr>
        <p:spPr>
          <a:xfrm>
            <a:off x="6949440" y="4069080"/>
            <a:ext cx="4389120" cy="2103120"/>
          </a:xfrm>
          <a:prstGeom prst="rect">
            <a:avLst/>
          </a:prstGeom>
          <a:noFill/>
        </p:spPr>
        <p:txBody>
          <a:bodyPr wrap="square" lIns="0" tIns="0" rIns="0" bIns="0" anchor="t">
            <a:spAutoFit/>
          </a:bodyPr>
          <a:lstStyle/>
          <a:p>
            <a:pPr algn="ctr">
              <a:spcAft>
                <a:spcPts val="600"/>
              </a:spcAft>
            </a:pPr>
            <a:r>
              <a:rPr sz="2300" b="1" i="0">
                <a:solidFill>
                  <a:srgbClr val="ED7D31"/>
                </a:solidFill>
                <a:latin typeface="Helvetica Neue"/>
                <a:ea typeface="Helvetica Neue"/>
                <a:cs typeface="Helvetica Neue"/>
              </a:rPr>
              <a:t>Traffic on the network</a:t>
            </a:r>
          </a:p>
          <a:p>
            <a:pPr algn="ctr">
              <a:spcAft>
                <a:spcPts val="600"/>
              </a:spcAft>
            </a:pPr>
            <a:r>
              <a:rPr sz="2000" b="0" i="0">
                <a:solidFill>
                  <a:srgbClr val="000000"/>
                </a:solidFill>
                <a:latin typeface="Helvetica Neue"/>
                <a:ea typeface="Helvetica Neue"/>
                <a:cs typeface="Helvetica Neue"/>
              </a:rPr>
              <a:t>Chatbots and AI features in SaaS, all HTTPS to the cloud</a:t>
            </a:r>
          </a:p>
        </p:txBody>
      </p:sp>
      <p:sp>
        <p:nvSpPr>
          <p:cNvPr id="11" name="AI 2 q"/>
          <p:cNvSpPr/>
          <p:nvPr/>
        </p:nvSpPr>
        <p:spPr>
          <a:xfrm>
            <a:off x="6903720" y="6172200"/>
            <a:ext cx="4480560" cy="1143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2" name="AI 2 q text"/>
          <p:cNvSpPr txBox="1"/>
          <p:nvPr/>
        </p:nvSpPr>
        <p:spPr>
          <a:xfrm>
            <a:off x="7040880" y="6217920"/>
            <a:ext cx="4206240" cy="1051560"/>
          </a:xfrm>
          <a:prstGeom prst="rect">
            <a:avLst/>
          </a:prstGeom>
          <a:noFill/>
        </p:spPr>
        <p:txBody>
          <a:bodyPr wrap="square" lIns="0" tIns="0" rIns="0" bIns="0" anchor="ctr">
            <a:spAutoFit/>
          </a:bodyPr>
          <a:lstStyle/>
          <a:p>
            <a:pPr algn="ctr">
              <a:spcAft>
                <a:spcPts val="600"/>
              </a:spcAft>
            </a:pPr>
            <a:r>
              <a:rPr sz="1600" b="1" i="0">
                <a:solidFill>
                  <a:srgbClr val="000000"/>
                </a:solidFill>
                <a:latin typeface="Helvetica Neue"/>
                <a:ea typeface="Helvetica Neue"/>
                <a:cs typeface="Helvetica Neue"/>
              </a:rPr>
              <a:t>Shadow AI: customer data pasted into unapproved tools</a:t>
            </a:r>
          </a:p>
        </p:txBody>
      </p:sp>
      <p:sp>
        <p:nvSpPr>
          <p:cNvPr id="13" name="AI 3"/>
          <p:cNvSpPr/>
          <p:nvPr/>
        </p:nvSpPr>
        <p:spPr>
          <a:xfrm>
            <a:off x="12001500" y="2697480"/>
            <a:ext cx="5029200" cy="4846320"/>
          </a:xfrm>
          <a:prstGeom prst="roundRect">
            <a:avLst/>
          </a:prstGeom>
          <a:solidFill>
            <a:srgbClr val="FFFFFF"/>
          </a:solid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4" name="AI 3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058900" y="2971800"/>
            <a:ext cx="914400" cy="914400"/>
          </a:xfrm>
          <a:prstGeom prst="rect">
            <a:avLst/>
          </a:prstGeom>
        </p:spPr>
      </p:pic>
      <p:sp>
        <p:nvSpPr>
          <p:cNvPr id="15" name="AI 3 text"/>
          <p:cNvSpPr txBox="1"/>
          <p:nvPr/>
        </p:nvSpPr>
        <p:spPr>
          <a:xfrm>
            <a:off x="12321540" y="4069080"/>
            <a:ext cx="4389120" cy="2103120"/>
          </a:xfrm>
          <a:prstGeom prst="rect">
            <a:avLst/>
          </a:prstGeom>
          <a:noFill/>
        </p:spPr>
        <p:txBody>
          <a:bodyPr wrap="square" lIns="0" tIns="0" rIns="0" bIns="0" anchor="t">
            <a:spAutoFit/>
          </a:bodyPr>
          <a:lstStyle/>
          <a:p>
            <a:pPr algn="ctr">
              <a:spcAft>
                <a:spcPts val="600"/>
              </a:spcAft>
            </a:pPr>
            <a:r>
              <a:rPr sz="2300" b="1" i="0">
                <a:solidFill>
                  <a:srgbClr val="C00000"/>
                </a:solidFill>
                <a:latin typeface="Helvetica Neue"/>
                <a:ea typeface="Helvetica Neue"/>
                <a:cs typeface="Helvetica Neue"/>
              </a:rPr>
              <a:t>Risk, both directions</a:t>
            </a:r>
          </a:p>
          <a:p>
            <a:pPr algn="ctr">
              <a:spcAft>
                <a:spcPts val="600"/>
              </a:spcAft>
            </a:pPr>
            <a:r>
              <a:rPr sz="2000" b="0" i="0">
                <a:solidFill>
                  <a:srgbClr val="000000"/>
                </a:solidFill>
                <a:latin typeface="Helvetica Neue"/>
                <a:ea typeface="Helvetica Neue"/>
                <a:cs typeface="Helvetica Neue"/>
              </a:rPr>
              <a:t>Attackers: better phishing, cloned voices. Defenders: AI in EDR and MSSP tools</a:t>
            </a:r>
          </a:p>
        </p:txBody>
      </p:sp>
      <p:sp>
        <p:nvSpPr>
          <p:cNvPr id="16" name="AI 3 q"/>
          <p:cNvSpPr/>
          <p:nvPr/>
        </p:nvSpPr>
        <p:spPr>
          <a:xfrm>
            <a:off x="12275820" y="6172200"/>
            <a:ext cx="4480560" cy="1143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7" name="AI 3 q text"/>
          <p:cNvSpPr txBox="1"/>
          <p:nvPr/>
        </p:nvSpPr>
        <p:spPr>
          <a:xfrm>
            <a:off x="12412980" y="6217920"/>
            <a:ext cx="4206240" cy="1051560"/>
          </a:xfrm>
          <a:prstGeom prst="rect">
            <a:avLst/>
          </a:prstGeom>
          <a:noFill/>
        </p:spPr>
        <p:txBody>
          <a:bodyPr wrap="square" lIns="0" tIns="0" rIns="0" bIns="0" anchor="ctr">
            <a:spAutoFit/>
          </a:bodyPr>
          <a:lstStyle/>
          <a:p>
            <a:pPr algn="ctr">
              <a:spcAft>
                <a:spcPts val="600"/>
              </a:spcAft>
            </a:pPr>
            <a:r>
              <a:rPr sz="1600" b="1" i="0">
                <a:solidFill>
                  <a:srgbClr val="000000"/>
                </a:solidFill>
                <a:latin typeface="Helvetica Neue"/>
                <a:ea typeface="Helvetica Neue"/>
                <a:cs typeface="Helvetica Neue"/>
              </a:rPr>
              <a:t>Call-back verification matters more, not less</a:t>
            </a:r>
          </a:p>
        </p:txBody>
      </p:sp>
      <p:sp>
        <p:nvSpPr>
          <p:cNvPr id="18" name="AI ask 1"/>
          <p:cNvSpPr/>
          <p:nvPr/>
        </p:nvSpPr>
        <p:spPr>
          <a:xfrm>
            <a:off x="1257300" y="7818120"/>
            <a:ext cx="5044440" cy="15544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9" name="AI ask 1 text"/>
          <p:cNvSpPr txBox="1"/>
          <p:nvPr/>
        </p:nvSpPr>
        <p:spPr>
          <a:xfrm>
            <a:off x="1513332" y="8019288"/>
            <a:ext cx="4532376" cy="1188719"/>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Is there an AI use policy?</a:t>
            </a:r>
          </a:p>
        </p:txBody>
      </p:sp>
      <p:sp>
        <p:nvSpPr>
          <p:cNvPr id="20" name="AI ask 2"/>
          <p:cNvSpPr/>
          <p:nvPr/>
        </p:nvSpPr>
        <p:spPr>
          <a:xfrm>
            <a:off x="6621780" y="7818120"/>
            <a:ext cx="5044440" cy="15544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1" name="AI ask 2 text"/>
          <p:cNvSpPr txBox="1"/>
          <p:nvPr/>
        </p:nvSpPr>
        <p:spPr>
          <a:xfrm>
            <a:off x="6877812" y="8019288"/>
            <a:ext cx="4532376" cy="1188719"/>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Which AI tools do staff use?</a:t>
            </a:r>
          </a:p>
        </p:txBody>
      </p:sp>
      <p:sp>
        <p:nvSpPr>
          <p:cNvPr id="22" name="AI ask 3"/>
          <p:cNvSpPr/>
          <p:nvPr/>
        </p:nvSpPr>
        <p:spPr>
          <a:xfrm>
            <a:off x="11986260" y="7818120"/>
            <a:ext cx="5044440" cy="155448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3" name="AI ask 3 text"/>
          <p:cNvSpPr txBox="1"/>
          <p:nvPr/>
        </p:nvSpPr>
        <p:spPr>
          <a:xfrm>
            <a:off x="12242291" y="8019288"/>
            <a:ext cx="4532376" cy="1188719"/>
          </a:xfrm>
          <a:prstGeom prst="rect">
            <a:avLst/>
          </a:prstGeom>
          <a:noFill/>
        </p:spPr>
        <p:txBody>
          <a:bodyPr wrap="square" lIns="0" tIns="0" rIns="0" bIns="0" anchor="t">
            <a:spAutoFit/>
          </a:bodyPr>
          <a:lstStyle/>
          <a:p>
            <a:pPr algn="l">
              <a:spcAft>
                <a:spcPts val="700"/>
              </a:spcAft>
            </a:pPr>
            <a:r>
              <a:rPr sz="1900" b="1" i="0">
                <a:solidFill>
                  <a:srgbClr val="000000"/>
                </a:solidFill>
                <a:latin typeface="Helvetica Neue"/>
                <a:ea typeface="Helvetica Neue"/>
                <a:cs typeface="Helvetica Neue"/>
              </a:rPr>
              <a:t>Do vendors use AI on the bank's data?</a:t>
            </a: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Quantum Computing and Today's Encryption</a:t>
            </a:r>
          </a:p>
        </p:txBody>
      </p:sp>
      <p:sp>
        <p:nvSpPr>
          <p:cNvPr id="3" name="Q h1"/>
          <p:cNvSpPr txBox="1"/>
          <p:nvPr/>
        </p:nvSpPr>
        <p:spPr>
          <a:xfrm>
            <a:off x="1257300" y="2697480"/>
            <a:ext cx="3840480" cy="457200"/>
          </a:xfrm>
          <a:prstGeom prst="rect">
            <a:avLst/>
          </a:prstGeom>
          <a:noFill/>
        </p:spPr>
        <p:txBody>
          <a:bodyPr wrap="square" lIns="0" tIns="0" rIns="0" bIns="0" anchor="t">
            <a:spAutoFit/>
          </a:bodyPr>
          <a:lstStyle/>
          <a:p>
            <a:pPr algn="l">
              <a:spcAft>
                <a:spcPts val="600"/>
              </a:spcAft>
            </a:pPr>
            <a:r>
              <a:rPr sz="1800" b="1" i="0">
                <a:solidFill>
                  <a:srgbClr val="595959"/>
                </a:solidFill>
                <a:latin typeface="Helvetica Neue"/>
                <a:ea typeface="Helvetica Neue"/>
                <a:cs typeface="Helvetica Neue"/>
              </a:rPr>
              <a:t>Algorithm</a:t>
            </a:r>
          </a:p>
        </p:txBody>
      </p:sp>
      <p:sp>
        <p:nvSpPr>
          <p:cNvPr id="4" name="Q h2"/>
          <p:cNvSpPr txBox="1"/>
          <p:nvPr/>
        </p:nvSpPr>
        <p:spPr>
          <a:xfrm>
            <a:off x="5257800" y="2697480"/>
            <a:ext cx="6400800" cy="457200"/>
          </a:xfrm>
          <a:prstGeom prst="rect">
            <a:avLst/>
          </a:prstGeom>
          <a:noFill/>
        </p:spPr>
        <p:txBody>
          <a:bodyPr wrap="square" lIns="0" tIns="0" rIns="0" bIns="0" anchor="t">
            <a:spAutoFit/>
          </a:bodyPr>
          <a:lstStyle/>
          <a:p>
            <a:pPr algn="l">
              <a:spcAft>
                <a:spcPts val="600"/>
              </a:spcAft>
            </a:pPr>
            <a:r>
              <a:rPr sz="1800" b="1" i="0">
                <a:solidFill>
                  <a:srgbClr val="595959"/>
                </a:solidFill>
                <a:latin typeface="Helvetica Neue"/>
                <a:ea typeface="Helvetica Neue"/>
                <a:cs typeface="Helvetica Neue"/>
              </a:rPr>
              <a:t>Used for</a:t>
            </a:r>
          </a:p>
        </p:txBody>
      </p:sp>
      <p:sp>
        <p:nvSpPr>
          <p:cNvPr id="5" name="Q h3"/>
          <p:cNvSpPr txBox="1"/>
          <p:nvPr/>
        </p:nvSpPr>
        <p:spPr>
          <a:xfrm>
            <a:off x="11887200" y="2697480"/>
            <a:ext cx="5120640" cy="457200"/>
          </a:xfrm>
          <a:prstGeom prst="rect">
            <a:avLst/>
          </a:prstGeom>
          <a:noFill/>
        </p:spPr>
        <p:txBody>
          <a:bodyPr wrap="square" lIns="0" tIns="0" rIns="0" bIns="0" anchor="t">
            <a:spAutoFit/>
          </a:bodyPr>
          <a:lstStyle/>
          <a:p>
            <a:pPr algn="l">
              <a:spcAft>
                <a:spcPts val="600"/>
              </a:spcAft>
            </a:pPr>
            <a:r>
              <a:rPr sz="1800" b="1" i="0">
                <a:solidFill>
                  <a:srgbClr val="595959"/>
                </a:solidFill>
                <a:latin typeface="Helvetica Neue"/>
                <a:ea typeface="Helvetica Neue"/>
                <a:cs typeface="Helvetica Neue"/>
              </a:rPr>
              <a:t>A large quantum computer</a:t>
            </a:r>
          </a:p>
        </p:txBody>
      </p:sp>
      <p:cxnSp>
        <p:nvCxnSpPr>
          <p:cNvPr id="6" name="Q rule"/>
          <p:cNvCxnSpPr/>
          <p:nvPr/>
        </p:nvCxnSpPr>
        <p:spPr>
          <a:xfrm>
            <a:off x="1257300" y="3200400"/>
            <a:ext cx="15773400" cy="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Q 1 a"/>
          <p:cNvSpPr txBox="1"/>
          <p:nvPr/>
        </p:nvSpPr>
        <p:spPr>
          <a:xfrm>
            <a:off x="1257300" y="3337560"/>
            <a:ext cx="3840480" cy="822960"/>
          </a:xfrm>
          <a:prstGeom prst="rect">
            <a:avLst/>
          </a:prstGeom>
          <a:noFill/>
        </p:spPr>
        <p:txBody>
          <a:bodyPr wrap="square" lIns="0" tIns="0" rIns="0" bIns="0" anchor="ctr">
            <a:spAutoFit/>
          </a:bodyPr>
          <a:lstStyle/>
          <a:p>
            <a:pPr algn="l">
              <a:spcAft>
                <a:spcPts val="600"/>
              </a:spcAft>
            </a:pPr>
            <a:r>
              <a:rPr sz="2200" b="1" i="0">
                <a:solidFill>
                  <a:srgbClr val="000000"/>
                </a:solidFill>
                <a:latin typeface="Helvetica Neue"/>
                <a:ea typeface="Helvetica Neue"/>
                <a:cs typeface="Helvetica Neue"/>
              </a:rPr>
              <a:t>RSA</a:t>
            </a:r>
          </a:p>
        </p:txBody>
      </p:sp>
      <p:sp>
        <p:nvSpPr>
          <p:cNvPr id="8" name="Q 1 u"/>
          <p:cNvSpPr txBox="1"/>
          <p:nvPr/>
        </p:nvSpPr>
        <p:spPr>
          <a:xfrm>
            <a:off x="5257800" y="3337560"/>
            <a:ext cx="6400800" cy="82296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Key exchange, signatures, certificates</a:t>
            </a:r>
          </a:p>
        </p:txBody>
      </p:sp>
      <p:sp>
        <p:nvSpPr>
          <p:cNvPr id="9" name="Q 1 eff"/>
          <p:cNvSpPr/>
          <p:nvPr/>
        </p:nvSpPr>
        <p:spPr>
          <a:xfrm>
            <a:off x="11887200" y="3429000"/>
            <a:ext cx="3108960" cy="658368"/>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900" b="1" i="0">
                <a:solidFill>
                  <a:srgbClr val="FFFFFF"/>
                </a:solidFill>
                <a:latin typeface="Helvetica Neue"/>
                <a:ea typeface="Helvetica Neue"/>
                <a:cs typeface="Helvetica Neue"/>
              </a:rPr>
              <a:t>Broken</a:t>
            </a:r>
          </a:p>
        </p:txBody>
      </p:sp>
      <p:cxnSp>
        <p:nvCxnSpPr>
          <p:cNvPr id="10" name="Q rule 1"/>
          <p:cNvCxnSpPr/>
          <p:nvPr/>
        </p:nvCxnSpPr>
        <p:spPr>
          <a:xfrm>
            <a:off x="1257300" y="4233672"/>
            <a:ext cx="1577340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1" name="Q 2 a"/>
          <p:cNvSpPr txBox="1"/>
          <p:nvPr/>
        </p:nvSpPr>
        <p:spPr>
          <a:xfrm>
            <a:off x="1257300" y="4297680"/>
            <a:ext cx="3840480" cy="822960"/>
          </a:xfrm>
          <a:prstGeom prst="rect">
            <a:avLst/>
          </a:prstGeom>
          <a:noFill/>
        </p:spPr>
        <p:txBody>
          <a:bodyPr wrap="square" lIns="0" tIns="0" rIns="0" bIns="0" anchor="ctr">
            <a:spAutoFit/>
          </a:bodyPr>
          <a:lstStyle/>
          <a:p>
            <a:pPr algn="l">
              <a:spcAft>
                <a:spcPts val="600"/>
              </a:spcAft>
            </a:pPr>
            <a:r>
              <a:rPr sz="2200" b="1" i="0">
                <a:solidFill>
                  <a:srgbClr val="000000"/>
                </a:solidFill>
                <a:latin typeface="Helvetica Neue"/>
                <a:ea typeface="Helvetica Neue"/>
                <a:cs typeface="Helvetica Neue"/>
              </a:rPr>
              <a:t>Elliptic curve (ECC)</a:t>
            </a:r>
          </a:p>
        </p:txBody>
      </p:sp>
      <p:sp>
        <p:nvSpPr>
          <p:cNvPr id="12" name="Q 2 u"/>
          <p:cNvSpPr txBox="1"/>
          <p:nvPr/>
        </p:nvSpPr>
        <p:spPr>
          <a:xfrm>
            <a:off x="5257800" y="4297680"/>
            <a:ext cx="6400800" cy="82296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Key exchange, signatures, certificates</a:t>
            </a:r>
          </a:p>
        </p:txBody>
      </p:sp>
      <p:sp>
        <p:nvSpPr>
          <p:cNvPr id="13" name="Q 2 eff"/>
          <p:cNvSpPr/>
          <p:nvPr/>
        </p:nvSpPr>
        <p:spPr>
          <a:xfrm>
            <a:off x="11887200" y="4389120"/>
            <a:ext cx="3108960" cy="658368"/>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900" b="1" i="0">
                <a:solidFill>
                  <a:srgbClr val="FFFFFF"/>
                </a:solidFill>
                <a:latin typeface="Helvetica Neue"/>
                <a:ea typeface="Helvetica Neue"/>
                <a:cs typeface="Helvetica Neue"/>
              </a:rPr>
              <a:t>Broken</a:t>
            </a:r>
          </a:p>
        </p:txBody>
      </p:sp>
      <p:cxnSp>
        <p:nvCxnSpPr>
          <p:cNvPr id="14" name="Q rule 2"/>
          <p:cNvCxnSpPr/>
          <p:nvPr/>
        </p:nvCxnSpPr>
        <p:spPr>
          <a:xfrm>
            <a:off x="1257300" y="5193792"/>
            <a:ext cx="1577340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5" name="Q 3 a"/>
          <p:cNvSpPr txBox="1"/>
          <p:nvPr/>
        </p:nvSpPr>
        <p:spPr>
          <a:xfrm>
            <a:off x="1257300" y="5257800"/>
            <a:ext cx="3840480" cy="822960"/>
          </a:xfrm>
          <a:prstGeom prst="rect">
            <a:avLst/>
          </a:prstGeom>
          <a:noFill/>
        </p:spPr>
        <p:txBody>
          <a:bodyPr wrap="square" lIns="0" tIns="0" rIns="0" bIns="0" anchor="ctr">
            <a:spAutoFit/>
          </a:bodyPr>
          <a:lstStyle/>
          <a:p>
            <a:pPr algn="l">
              <a:spcAft>
                <a:spcPts val="600"/>
              </a:spcAft>
            </a:pPr>
            <a:r>
              <a:rPr sz="2200" b="1" i="0">
                <a:solidFill>
                  <a:srgbClr val="000000"/>
                </a:solidFill>
                <a:latin typeface="Helvetica Neue"/>
                <a:ea typeface="Helvetica Neue"/>
                <a:cs typeface="Helvetica Neue"/>
              </a:rPr>
              <a:t>AES-128</a:t>
            </a:r>
          </a:p>
        </p:txBody>
      </p:sp>
      <p:sp>
        <p:nvSpPr>
          <p:cNvPr id="16" name="Q 3 u"/>
          <p:cNvSpPr txBox="1"/>
          <p:nvPr/>
        </p:nvSpPr>
        <p:spPr>
          <a:xfrm>
            <a:off x="5257800" y="5257800"/>
            <a:ext cx="6400800" cy="82296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Encrypting data</a:t>
            </a:r>
          </a:p>
        </p:txBody>
      </p:sp>
      <p:sp>
        <p:nvSpPr>
          <p:cNvPr id="17" name="Q 3 eff"/>
          <p:cNvSpPr/>
          <p:nvPr/>
        </p:nvSpPr>
        <p:spPr>
          <a:xfrm>
            <a:off x="11887200" y="5349240"/>
            <a:ext cx="3108960" cy="658368"/>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900" b="1" i="0">
                <a:solidFill>
                  <a:srgbClr val="FFFFFF"/>
                </a:solidFill>
                <a:latin typeface="Helvetica Neue"/>
                <a:ea typeface="Helvetica Neue"/>
                <a:cs typeface="Helvetica Neue"/>
              </a:rPr>
              <a:t>Weakened</a:t>
            </a:r>
          </a:p>
        </p:txBody>
      </p:sp>
      <p:cxnSp>
        <p:nvCxnSpPr>
          <p:cNvPr id="18" name="Q rule 3"/>
          <p:cNvCxnSpPr/>
          <p:nvPr/>
        </p:nvCxnSpPr>
        <p:spPr>
          <a:xfrm>
            <a:off x="1257300" y="6153912"/>
            <a:ext cx="1577340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9" name="Q 4 a"/>
          <p:cNvSpPr txBox="1"/>
          <p:nvPr/>
        </p:nvSpPr>
        <p:spPr>
          <a:xfrm>
            <a:off x="1257300" y="6217920"/>
            <a:ext cx="3840480" cy="822960"/>
          </a:xfrm>
          <a:prstGeom prst="rect">
            <a:avLst/>
          </a:prstGeom>
          <a:noFill/>
        </p:spPr>
        <p:txBody>
          <a:bodyPr wrap="square" lIns="0" tIns="0" rIns="0" bIns="0" anchor="ctr">
            <a:spAutoFit/>
          </a:bodyPr>
          <a:lstStyle/>
          <a:p>
            <a:pPr algn="l">
              <a:spcAft>
                <a:spcPts val="600"/>
              </a:spcAft>
            </a:pPr>
            <a:r>
              <a:rPr sz="2200" b="1" i="0">
                <a:solidFill>
                  <a:srgbClr val="000000"/>
                </a:solidFill>
                <a:latin typeface="Helvetica Neue"/>
                <a:ea typeface="Helvetica Neue"/>
                <a:cs typeface="Helvetica Neue"/>
              </a:rPr>
              <a:t>AES-256</a:t>
            </a:r>
          </a:p>
        </p:txBody>
      </p:sp>
      <p:sp>
        <p:nvSpPr>
          <p:cNvPr id="20" name="Q 4 u"/>
          <p:cNvSpPr txBox="1"/>
          <p:nvPr/>
        </p:nvSpPr>
        <p:spPr>
          <a:xfrm>
            <a:off x="5257800" y="6217920"/>
            <a:ext cx="6400800" cy="82296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Encrypting data</a:t>
            </a:r>
          </a:p>
        </p:txBody>
      </p:sp>
      <p:sp>
        <p:nvSpPr>
          <p:cNvPr id="21" name="Q 4 eff"/>
          <p:cNvSpPr/>
          <p:nvPr/>
        </p:nvSpPr>
        <p:spPr>
          <a:xfrm>
            <a:off x="11887200" y="6309360"/>
            <a:ext cx="3108960" cy="658368"/>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900" b="1" i="0">
                <a:solidFill>
                  <a:srgbClr val="FFFFFF"/>
                </a:solidFill>
                <a:latin typeface="Helvetica Neue"/>
                <a:ea typeface="Helvetica Neue"/>
                <a:cs typeface="Helvetica Neue"/>
              </a:rPr>
              <a:t>Still safe</a:t>
            </a:r>
          </a:p>
        </p:txBody>
      </p:sp>
      <p:cxnSp>
        <p:nvCxnSpPr>
          <p:cNvPr id="22" name="Q rule 4"/>
          <p:cNvCxnSpPr/>
          <p:nvPr/>
        </p:nvCxnSpPr>
        <p:spPr>
          <a:xfrm>
            <a:off x="1257300" y="7114032"/>
            <a:ext cx="1577340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23" name="Q 5 a"/>
          <p:cNvSpPr txBox="1"/>
          <p:nvPr/>
        </p:nvSpPr>
        <p:spPr>
          <a:xfrm>
            <a:off x="1257300" y="7178040"/>
            <a:ext cx="3840480" cy="822960"/>
          </a:xfrm>
          <a:prstGeom prst="rect">
            <a:avLst/>
          </a:prstGeom>
          <a:noFill/>
        </p:spPr>
        <p:txBody>
          <a:bodyPr wrap="square" lIns="0" tIns="0" rIns="0" bIns="0" anchor="ctr">
            <a:spAutoFit/>
          </a:bodyPr>
          <a:lstStyle/>
          <a:p>
            <a:pPr algn="l">
              <a:spcAft>
                <a:spcPts val="600"/>
              </a:spcAft>
            </a:pPr>
            <a:r>
              <a:rPr sz="2200" b="1" i="0">
                <a:solidFill>
                  <a:srgbClr val="000000"/>
                </a:solidFill>
                <a:latin typeface="Helvetica Neue"/>
                <a:ea typeface="Helvetica Neue"/>
                <a:cs typeface="Helvetica Neue"/>
              </a:rPr>
              <a:t>SHA-256</a:t>
            </a:r>
          </a:p>
        </p:txBody>
      </p:sp>
      <p:sp>
        <p:nvSpPr>
          <p:cNvPr id="24" name="Q 5 u"/>
          <p:cNvSpPr txBox="1"/>
          <p:nvPr/>
        </p:nvSpPr>
        <p:spPr>
          <a:xfrm>
            <a:off x="5257800" y="7178040"/>
            <a:ext cx="6400800" cy="822960"/>
          </a:xfrm>
          <a:prstGeom prst="rect">
            <a:avLst/>
          </a:prstGeom>
          <a:noFill/>
        </p:spPr>
        <p:txBody>
          <a:bodyPr wrap="square" lIns="0" tIns="0" rIns="0" bIns="0" anchor="ctr">
            <a:spAutoFit/>
          </a:bodyPr>
          <a:lstStyle/>
          <a:p>
            <a:pPr algn="l">
              <a:spcAft>
                <a:spcPts val="600"/>
              </a:spcAft>
            </a:pPr>
            <a:r>
              <a:rPr sz="1900" b="0" i="0">
                <a:solidFill>
                  <a:srgbClr val="000000"/>
                </a:solidFill>
                <a:latin typeface="Helvetica Neue"/>
                <a:ea typeface="Helvetica Neue"/>
                <a:cs typeface="Helvetica Neue"/>
              </a:rPr>
              <a:t>Hashing, integrity</a:t>
            </a:r>
          </a:p>
        </p:txBody>
      </p:sp>
      <p:sp>
        <p:nvSpPr>
          <p:cNvPr id="25" name="Q 5 eff"/>
          <p:cNvSpPr/>
          <p:nvPr/>
        </p:nvSpPr>
        <p:spPr>
          <a:xfrm>
            <a:off x="11887200" y="7269479"/>
            <a:ext cx="3108960" cy="658368"/>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900" b="1" i="0">
                <a:solidFill>
                  <a:srgbClr val="FFFFFF"/>
                </a:solidFill>
                <a:latin typeface="Helvetica Neue"/>
                <a:ea typeface="Helvetica Neue"/>
                <a:cs typeface="Helvetica Neue"/>
              </a:rPr>
              <a:t>Still safe</a:t>
            </a:r>
          </a:p>
        </p:txBody>
      </p:sp>
      <p:sp>
        <p:nvSpPr>
          <p:cNvPr id="26" name="Q when"/>
          <p:cNvSpPr/>
          <p:nvPr/>
        </p:nvSpPr>
        <p:spPr>
          <a:xfrm>
            <a:off x="1257300" y="8275320"/>
            <a:ext cx="15773400" cy="109728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7" name="Q when text"/>
          <p:cNvSpPr txBox="1"/>
          <p:nvPr/>
        </p:nvSpPr>
        <p:spPr>
          <a:xfrm>
            <a:off x="1554480" y="8321040"/>
            <a:ext cx="15179040" cy="1005840"/>
          </a:xfrm>
          <a:prstGeom prst="rect">
            <a:avLst/>
          </a:prstGeom>
          <a:noFill/>
        </p:spPr>
        <p:txBody>
          <a:bodyPr wrap="square" lIns="0" tIns="0" rIns="0" bIns="0" anchor="ctr">
            <a:spAutoFit/>
          </a:bodyPr>
          <a:lstStyle/>
          <a:p>
            <a:pPr algn="l">
              <a:spcAft>
                <a:spcPts val="600"/>
              </a:spcAft>
            </a:pPr>
            <a:r>
              <a:rPr sz="2000" b="1" i="0">
                <a:solidFill>
                  <a:srgbClr val="000000"/>
                </a:solidFill>
                <a:latin typeface="Helvetica Neue"/>
                <a:ea typeface="Helvetica Neue"/>
                <a:cs typeface="Helvetica Neue"/>
              </a:rPr>
              <a:t>When? Nobody knows. Government planning uses 2030–2035 to finish moving off RSA and ECC.</a:t>
            </a: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Harvest Now, Decrypt Later</a:t>
            </a:r>
          </a:p>
        </p:txBody>
      </p:sp>
      <p:sp>
        <p:nvSpPr>
          <p:cNvPr id="3" name="HN 1"/>
          <p:cNvSpPr/>
          <p:nvPr/>
        </p:nvSpPr>
        <p:spPr>
          <a:xfrm>
            <a:off x="1257300" y="2697480"/>
            <a:ext cx="4206240" cy="2743200"/>
          </a:xfrm>
          <a:prstGeom prst="roundRect">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4" name="HN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48939" y="2926079"/>
            <a:ext cx="822960" cy="822960"/>
          </a:xfrm>
          <a:prstGeom prst="rect">
            <a:avLst/>
          </a:prstGeom>
        </p:spPr>
      </p:pic>
      <p:sp>
        <p:nvSpPr>
          <p:cNvPr id="5" name="HN 1 text"/>
          <p:cNvSpPr txBox="1"/>
          <p:nvPr/>
        </p:nvSpPr>
        <p:spPr>
          <a:xfrm>
            <a:off x="1485900" y="3886200"/>
            <a:ext cx="3749039" cy="1463040"/>
          </a:xfrm>
          <a:prstGeom prst="rect">
            <a:avLst/>
          </a:prstGeom>
          <a:noFill/>
        </p:spPr>
        <p:txBody>
          <a:bodyPr wrap="square" lIns="0" tIns="0" rIns="0" bIns="0" anchor="t">
            <a:spAutoFit/>
          </a:bodyPr>
          <a:lstStyle/>
          <a:p>
            <a:pPr algn="ctr">
              <a:spcAft>
                <a:spcPts val="300"/>
              </a:spcAft>
            </a:pPr>
            <a:r>
              <a:rPr sz="2200" b="1" i="0">
                <a:solidFill>
                  <a:srgbClr val="ED7D31"/>
                </a:solidFill>
                <a:latin typeface="Helvetica Neue"/>
                <a:ea typeface="Helvetica Neue"/>
                <a:cs typeface="Helvetica Neue"/>
              </a:rPr>
              <a:t>Today</a:t>
            </a:r>
          </a:p>
          <a:p>
            <a:pPr algn="ctr">
              <a:spcAft>
                <a:spcPts val="300"/>
              </a:spcAft>
            </a:pPr>
            <a:r>
              <a:rPr sz="1600" b="0" i="0">
                <a:solidFill>
                  <a:srgbClr val="000000"/>
                </a:solidFill>
                <a:latin typeface="Helvetica Neue"/>
                <a:ea typeface="Helvetica Neue"/>
                <a:cs typeface="Helvetica Neue"/>
              </a:rPr>
              <a:t>Attacker records encrypted traffic: internet, VPN, vendor links</a:t>
            </a:r>
          </a:p>
        </p:txBody>
      </p:sp>
      <p:cxnSp>
        <p:nvCxnSpPr>
          <p:cNvPr id="6" name="HN arrow 1"/>
          <p:cNvCxnSpPr/>
          <p:nvPr/>
        </p:nvCxnSpPr>
        <p:spPr>
          <a:xfrm>
            <a:off x="5554979" y="4069080"/>
            <a:ext cx="1394461" cy="0"/>
          </a:xfrm>
          <a:prstGeom prst="line">
            <a:avLst/>
          </a:prstGeom>
          <a:ln w="381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HN 2"/>
          <p:cNvSpPr/>
          <p:nvPr/>
        </p:nvSpPr>
        <p:spPr>
          <a:xfrm>
            <a:off x="7040879" y="2697480"/>
            <a:ext cx="4206240" cy="2743200"/>
          </a:xfrm>
          <a:prstGeom prst="roundRect">
            <a:avLst/>
          </a:prstGeom>
          <a:solidFill>
            <a:srgbClr val="FFFFFF"/>
          </a:solidFill>
          <a:ln w="31750">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8" name="HN 2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32520" y="2926079"/>
            <a:ext cx="822960" cy="822960"/>
          </a:xfrm>
          <a:prstGeom prst="rect">
            <a:avLst/>
          </a:prstGeom>
        </p:spPr>
      </p:pic>
      <p:sp>
        <p:nvSpPr>
          <p:cNvPr id="9" name="HN 2 text"/>
          <p:cNvSpPr txBox="1"/>
          <p:nvPr/>
        </p:nvSpPr>
        <p:spPr>
          <a:xfrm>
            <a:off x="7269479" y="3886200"/>
            <a:ext cx="3749039" cy="1463040"/>
          </a:xfrm>
          <a:prstGeom prst="rect">
            <a:avLst/>
          </a:prstGeom>
          <a:noFill/>
        </p:spPr>
        <p:txBody>
          <a:bodyPr wrap="square" lIns="0" tIns="0" rIns="0" bIns="0" anchor="t">
            <a:spAutoFit/>
          </a:bodyPr>
          <a:lstStyle/>
          <a:p>
            <a:pPr algn="ctr">
              <a:spcAft>
                <a:spcPts val="300"/>
              </a:spcAft>
            </a:pPr>
            <a:r>
              <a:rPr sz="2200" b="1" i="0">
                <a:solidFill>
                  <a:srgbClr val="595959"/>
                </a:solidFill>
                <a:latin typeface="Helvetica Neue"/>
                <a:ea typeface="Helvetica Neue"/>
                <a:cs typeface="Helvetica Neue"/>
              </a:rPr>
              <a:t>Years of storage</a:t>
            </a:r>
          </a:p>
          <a:p>
            <a:pPr algn="ctr">
              <a:spcAft>
                <a:spcPts val="300"/>
              </a:spcAft>
            </a:pPr>
            <a:r>
              <a:rPr sz="1600" b="0" i="0">
                <a:solidFill>
                  <a:srgbClr val="000000"/>
                </a:solidFill>
                <a:latin typeface="Helvetica Neue"/>
                <a:ea typeface="Helvetica Neue"/>
                <a:cs typeface="Helvetica Neue"/>
              </a:rPr>
              <a:t>Kept until it can be read</a:t>
            </a:r>
          </a:p>
        </p:txBody>
      </p:sp>
      <p:cxnSp>
        <p:nvCxnSpPr>
          <p:cNvPr id="10" name="HN arrow 2"/>
          <p:cNvCxnSpPr/>
          <p:nvPr/>
        </p:nvCxnSpPr>
        <p:spPr>
          <a:xfrm>
            <a:off x="11338559" y="4069080"/>
            <a:ext cx="1394460" cy="0"/>
          </a:xfrm>
          <a:prstGeom prst="line">
            <a:avLst/>
          </a:prstGeom>
          <a:ln w="381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HN 3"/>
          <p:cNvSpPr/>
          <p:nvPr/>
        </p:nvSpPr>
        <p:spPr>
          <a:xfrm>
            <a:off x="12824459" y="2697480"/>
            <a:ext cx="4206240" cy="2743200"/>
          </a:xfrm>
          <a:prstGeom prst="roundRect">
            <a:avLst/>
          </a:prstGeom>
          <a:solidFill>
            <a:srgbClr val="FFFFFF"/>
          </a:solid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2" name="HN 3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516100" y="2926079"/>
            <a:ext cx="822960" cy="822960"/>
          </a:xfrm>
          <a:prstGeom prst="rect">
            <a:avLst/>
          </a:prstGeom>
        </p:spPr>
      </p:pic>
      <p:sp>
        <p:nvSpPr>
          <p:cNvPr id="13" name="HN 3 text"/>
          <p:cNvSpPr txBox="1"/>
          <p:nvPr/>
        </p:nvSpPr>
        <p:spPr>
          <a:xfrm>
            <a:off x="13053059" y="3886200"/>
            <a:ext cx="3749039" cy="1463040"/>
          </a:xfrm>
          <a:prstGeom prst="rect">
            <a:avLst/>
          </a:prstGeom>
          <a:noFill/>
        </p:spPr>
        <p:txBody>
          <a:bodyPr wrap="square" lIns="0" tIns="0" rIns="0" bIns="0" anchor="t">
            <a:spAutoFit/>
          </a:bodyPr>
          <a:lstStyle/>
          <a:p>
            <a:pPr algn="ctr">
              <a:spcAft>
                <a:spcPts val="300"/>
              </a:spcAft>
            </a:pPr>
            <a:r>
              <a:rPr sz="2200" b="1" i="0">
                <a:solidFill>
                  <a:srgbClr val="C00000"/>
                </a:solidFill>
                <a:latin typeface="Helvetica Neue"/>
                <a:ea typeface="Helvetica Neue"/>
                <a:cs typeface="Helvetica Neue"/>
              </a:rPr>
              <a:t>Quantum day</a:t>
            </a:r>
          </a:p>
          <a:p>
            <a:pPr algn="ctr">
              <a:spcAft>
                <a:spcPts val="300"/>
              </a:spcAft>
            </a:pPr>
            <a:r>
              <a:rPr sz="1600" b="0" i="0">
                <a:solidFill>
                  <a:srgbClr val="000000"/>
                </a:solidFill>
                <a:latin typeface="Helvetica Neue"/>
                <a:ea typeface="Helvetica Neue"/>
                <a:cs typeface="Helvetica Neue"/>
              </a:rPr>
              <a:t>Recorded traffic decrypted</a:t>
            </a:r>
          </a:p>
        </p:txBody>
      </p:sp>
      <p:sp>
        <p:nvSpPr>
          <p:cNvPr id="14" name="HN q"/>
          <p:cNvSpPr txBox="1"/>
          <p:nvPr/>
        </p:nvSpPr>
        <p:spPr>
          <a:xfrm>
            <a:off x="1257300" y="5669280"/>
            <a:ext cx="15773400" cy="548640"/>
          </a:xfrm>
          <a:prstGeom prst="rect">
            <a:avLst/>
          </a:prstGeom>
          <a:noFill/>
        </p:spPr>
        <p:txBody>
          <a:bodyPr wrap="square" lIns="0" tIns="0" rIns="0" bIns="0" anchor="t">
            <a:spAutoFit/>
          </a:bodyPr>
          <a:lstStyle/>
          <a:p>
            <a:pPr algn="ctr">
              <a:spcAft>
                <a:spcPts val="600"/>
              </a:spcAft>
            </a:pPr>
            <a:r>
              <a:rPr sz="2200" b="1" i="0">
                <a:solidFill>
                  <a:srgbClr val="000000"/>
                </a:solidFill>
                <a:latin typeface="Helvetica Neue"/>
                <a:ea typeface="Helvetica Neue"/>
                <a:cs typeface="Helvetica Neue"/>
              </a:rPr>
              <a:t>The question isn't when quantum arrives. It's how long the data must stay secret.</a:t>
            </a:r>
          </a:p>
        </p:txBody>
      </p:sp>
      <p:sp>
        <p:nvSpPr>
          <p:cNvPr id="15" name="Mosca head"/>
          <p:cNvSpPr txBox="1"/>
          <p:nvPr/>
        </p:nvSpPr>
        <p:spPr>
          <a:xfrm>
            <a:off x="1257300" y="6400800"/>
            <a:ext cx="15773400" cy="457200"/>
          </a:xfrm>
          <a:prstGeom prst="rect">
            <a:avLst/>
          </a:prstGeom>
          <a:noFill/>
        </p:spPr>
        <p:txBody>
          <a:bodyPr wrap="square" lIns="0" tIns="0" rIns="0" bIns="0" anchor="t">
            <a:spAutoFit/>
          </a:bodyPr>
          <a:lstStyle/>
          <a:p>
            <a:pPr algn="l">
              <a:spcAft>
                <a:spcPts val="600"/>
              </a:spcAft>
            </a:pPr>
            <a:r>
              <a:rPr sz="1900" b="1" i="0">
                <a:solidFill>
                  <a:srgbClr val="595959"/>
                </a:solidFill>
                <a:latin typeface="Helvetica Neue"/>
                <a:ea typeface="Helvetica Neue"/>
                <a:cs typeface="Helvetica Neue"/>
              </a:rPr>
              <a:t>Mosca's rule of thumb</a:t>
            </a:r>
          </a:p>
        </p:txBody>
      </p:sp>
      <p:sp>
        <p:nvSpPr>
          <p:cNvPr id="16" name="Mosca 1"/>
          <p:cNvSpPr/>
          <p:nvPr/>
        </p:nvSpPr>
        <p:spPr>
          <a:xfrm>
            <a:off x="1257300" y="6949440"/>
            <a:ext cx="5486400" cy="777240"/>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1" i="0">
                <a:solidFill>
                  <a:srgbClr val="FFFFFF"/>
                </a:solidFill>
                <a:latin typeface="Helvetica Neue"/>
                <a:ea typeface="Helvetica Neue"/>
                <a:cs typeface="Helvetica Neue"/>
              </a:rPr>
              <a:t>How long the data must stay secret</a:t>
            </a:r>
          </a:p>
        </p:txBody>
      </p:sp>
      <p:sp>
        <p:nvSpPr>
          <p:cNvPr id="17" name="Mosca 2"/>
          <p:cNvSpPr/>
          <p:nvPr/>
        </p:nvSpPr>
        <p:spPr>
          <a:xfrm>
            <a:off x="6743700" y="6949440"/>
            <a:ext cx="3200400" cy="77724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1" i="0">
                <a:solidFill>
                  <a:srgbClr val="FFFFFF"/>
                </a:solidFill>
                <a:latin typeface="Helvetica Neue"/>
                <a:ea typeface="Helvetica Neue"/>
                <a:cs typeface="Helvetica Neue"/>
              </a:rPr>
              <a:t>How long migration takes</a:t>
            </a:r>
          </a:p>
        </p:txBody>
      </p:sp>
      <p:sp>
        <p:nvSpPr>
          <p:cNvPr id="18" name="Mosca q"/>
          <p:cNvSpPr/>
          <p:nvPr/>
        </p:nvSpPr>
        <p:spPr>
          <a:xfrm>
            <a:off x="1257300" y="7863840"/>
            <a:ext cx="6400800" cy="77724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500" b="1" i="0">
                <a:solidFill>
                  <a:srgbClr val="FFFFFF"/>
                </a:solidFill>
                <a:latin typeface="Helvetica Neue"/>
                <a:ea typeface="Helvetica Neue"/>
                <a:cs typeface="Helvetica Neue"/>
              </a:rPr>
              <a:t>Time until a quantum computer arrives</a:t>
            </a:r>
          </a:p>
        </p:txBody>
      </p:sp>
      <p:sp>
        <p:nvSpPr>
          <p:cNvPr id="19" name="Mosca late"/>
          <p:cNvSpPr txBox="1"/>
          <p:nvPr/>
        </p:nvSpPr>
        <p:spPr>
          <a:xfrm>
            <a:off x="8229600" y="7818120"/>
            <a:ext cx="8778240" cy="868680"/>
          </a:xfrm>
          <a:prstGeom prst="rect">
            <a:avLst/>
          </a:prstGeom>
          <a:noFill/>
        </p:spPr>
        <p:txBody>
          <a:bodyPr wrap="square" lIns="0" tIns="0" rIns="0" bIns="0" anchor="ctr">
            <a:spAutoFit/>
          </a:bodyPr>
          <a:lstStyle/>
          <a:p>
            <a:pPr algn="l">
              <a:spcAft>
                <a:spcPts val="600"/>
              </a:spcAft>
            </a:pPr>
            <a:r>
              <a:rPr sz="2000" b="1" i="0">
                <a:solidFill>
                  <a:srgbClr val="C00000"/>
                </a:solidFill>
                <a:latin typeface="Helvetica Neue"/>
                <a:ea typeface="Helvetica Neue"/>
                <a:cs typeface="Helvetica Neue"/>
              </a:rPr>
              <a:t>Top bar longer than the bottom? You're already late.</a:t>
            </a:r>
          </a:p>
        </p:txBody>
      </p:sp>
      <p:sp>
        <p:nvSpPr>
          <p:cNvPr id="20" name="Mosca examples"/>
          <p:cNvSpPr txBox="1"/>
          <p:nvPr/>
        </p:nvSpPr>
        <p:spPr>
          <a:xfrm>
            <a:off x="1257300" y="8823960"/>
            <a:ext cx="15773400" cy="548640"/>
          </a:xfrm>
          <a:prstGeom prst="rect">
            <a:avLst/>
          </a:prstGeom>
          <a:noFill/>
        </p:spPr>
        <p:txBody>
          <a:bodyPr wrap="square" lIns="0" tIns="0" rIns="0" bIns="0" anchor="t">
            <a:spAutoFit/>
          </a:bodyPr>
          <a:lstStyle/>
          <a:p>
            <a:pPr algn="l">
              <a:spcAft>
                <a:spcPts val="600"/>
              </a:spcAft>
            </a:pPr>
            <a:r>
              <a:rPr sz="1600" b="0" i="1">
                <a:solidFill>
                  <a:srgbClr val="404040"/>
                </a:solidFill>
                <a:latin typeface="Helvetica Neue"/>
                <a:ea typeface="Helvetica Neue"/>
                <a:cs typeface="Helvetica Neue"/>
              </a:rPr>
              <a:t>A card number: a few years.  A Social Security number or a mortgage file: decades.</a:t>
            </a: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Post-Quantum Cryptography: What Banks Will Need to Do</a:t>
            </a:r>
          </a:p>
        </p:txBody>
      </p:sp>
      <p:sp>
        <p:nvSpPr>
          <p:cNvPr id="3" name="PQ std head"/>
          <p:cNvSpPr txBox="1"/>
          <p:nvPr/>
        </p:nvSpPr>
        <p:spPr>
          <a:xfrm>
            <a:off x="1257300" y="2697480"/>
            <a:ext cx="7680960" cy="457200"/>
          </a:xfrm>
          <a:prstGeom prst="rect">
            <a:avLst/>
          </a:prstGeom>
          <a:noFill/>
        </p:spPr>
        <p:txBody>
          <a:bodyPr wrap="square" lIns="0" tIns="0" rIns="0" bIns="0" anchor="t">
            <a:spAutoFit/>
          </a:bodyPr>
          <a:lstStyle/>
          <a:p>
            <a:pPr algn="l">
              <a:spcAft>
                <a:spcPts val="600"/>
              </a:spcAft>
            </a:pPr>
            <a:r>
              <a:rPr sz="2000" b="1" i="0">
                <a:solidFill>
                  <a:srgbClr val="000000"/>
                </a:solidFill>
                <a:latin typeface="Helvetica Neue"/>
                <a:ea typeface="Helvetica Neue"/>
                <a:cs typeface="Helvetica Neue"/>
              </a:rPr>
              <a:t>The new standards (NIST, August 2024)</a:t>
            </a:r>
          </a:p>
        </p:txBody>
      </p:sp>
      <p:sp>
        <p:nvSpPr>
          <p:cNvPr id="4" name="PQ std 1"/>
          <p:cNvSpPr/>
          <p:nvPr/>
        </p:nvSpPr>
        <p:spPr>
          <a:xfrm>
            <a:off x="1257300" y="3246120"/>
            <a:ext cx="2423160" cy="1737360"/>
          </a:xfrm>
          <a:prstGeom prst="roundRect">
            <a:avLst/>
          </a:prstGeom>
          <a:solidFill>
            <a:srgbClr val="EEF2F8"/>
          </a:solidFill>
          <a:ln w="1905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5" name="PQ std 1 text"/>
          <p:cNvSpPr txBox="1"/>
          <p:nvPr/>
        </p:nvSpPr>
        <p:spPr>
          <a:xfrm>
            <a:off x="1348740" y="3291840"/>
            <a:ext cx="2240280" cy="1645920"/>
          </a:xfrm>
          <a:prstGeom prst="rect">
            <a:avLst/>
          </a:prstGeom>
          <a:noFill/>
        </p:spPr>
        <p:txBody>
          <a:bodyPr wrap="square" lIns="0" tIns="0" rIns="0" bIns="0" anchor="ctr">
            <a:spAutoFit/>
          </a:bodyPr>
          <a:lstStyle/>
          <a:p>
            <a:pPr algn="ctr">
              <a:spcAft>
                <a:spcPts val="200"/>
              </a:spcAft>
            </a:pPr>
            <a:r>
              <a:rPr sz="1900" b="1" i="0">
                <a:solidFill>
                  <a:srgbClr val="2F75B5"/>
                </a:solidFill>
                <a:latin typeface="Helvetica Neue"/>
                <a:ea typeface="Helvetica Neue"/>
                <a:cs typeface="Helvetica Neue"/>
              </a:rPr>
              <a:t>FIPS 203</a:t>
            </a:r>
          </a:p>
          <a:p>
            <a:pPr algn="ctr">
              <a:spcAft>
                <a:spcPts val="200"/>
              </a:spcAft>
            </a:pPr>
            <a:r>
              <a:rPr sz="1700" b="1" i="0">
                <a:solidFill>
                  <a:srgbClr val="000000"/>
                </a:solidFill>
                <a:latin typeface="Helvetica Neue"/>
                <a:ea typeface="Helvetica Neue"/>
                <a:cs typeface="Helvetica Neue"/>
              </a:rPr>
              <a:t>ML-KEM</a:t>
            </a:r>
          </a:p>
          <a:p>
            <a:pPr algn="ctr">
              <a:spcAft>
                <a:spcPts val="200"/>
              </a:spcAft>
            </a:pPr>
            <a:r>
              <a:rPr sz="1400" b="0" i="0">
                <a:solidFill>
                  <a:srgbClr val="404040"/>
                </a:solidFill>
                <a:latin typeface="Helvetica Neue"/>
                <a:ea typeface="Helvetica Neue"/>
                <a:cs typeface="Helvetica Neue"/>
              </a:rPr>
              <a:t>Key exchange</a:t>
            </a:r>
          </a:p>
        </p:txBody>
      </p:sp>
      <p:sp>
        <p:nvSpPr>
          <p:cNvPr id="6" name="PQ std 2"/>
          <p:cNvSpPr/>
          <p:nvPr/>
        </p:nvSpPr>
        <p:spPr>
          <a:xfrm>
            <a:off x="3863339" y="3246120"/>
            <a:ext cx="2423160" cy="1737360"/>
          </a:xfrm>
          <a:prstGeom prst="roundRect">
            <a:avLst/>
          </a:prstGeom>
          <a:solidFill>
            <a:srgbClr val="EEF2F8"/>
          </a:solidFill>
          <a:ln w="1905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7" name="PQ std 2 text"/>
          <p:cNvSpPr txBox="1"/>
          <p:nvPr/>
        </p:nvSpPr>
        <p:spPr>
          <a:xfrm>
            <a:off x="3954779" y="3291840"/>
            <a:ext cx="2240280" cy="1645920"/>
          </a:xfrm>
          <a:prstGeom prst="rect">
            <a:avLst/>
          </a:prstGeom>
          <a:noFill/>
        </p:spPr>
        <p:txBody>
          <a:bodyPr wrap="square" lIns="0" tIns="0" rIns="0" bIns="0" anchor="ctr">
            <a:spAutoFit/>
          </a:bodyPr>
          <a:lstStyle/>
          <a:p>
            <a:pPr algn="ctr">
              <a:spcAft>
                <a:spcPts val="200"/>
              </a:spcAft>
            </a:pPr>
            <a:r>
              <a:rPr sz="1900" b="1" i="0">
                <a:solidFill>
                  <a:srgbClr val="2F75B5"/>
                </a:solidFill>
                <a:latin typeface="Helvetica Neue"/>
                <a:ea typeface="Helvetica Neue"/>
                <a:cs typeface="Helvetica Neue"/>
              </a:rPr>
              <a:t>FIPS 204</a:t>
            </a:r>
          </a:p>
          <a:p>
            <a:pPr algn="ctr">
              <a:spcAft>
                <a:spcPts val="200"/>
              </a:spcAft>
            </a:pPr>
            <a:r>
              <a:rPr sz="1700" b="1" i="0">
                <a:solidFill>
                  <a:srgbClr val="000000"/>
                </a:solidFill>
                <a:latin typeface="Helvetica Neue"/>
                <a:ea typeface="Helvetica Neue"/>
                <a:cs typeface="Helvetica Neue"/>
              </a:rPr>
              <a:t>ML-DSA</a:t>
            </a:r>
          </a:p>
          <a:p>
            <a:pPr algn="ctr">
              <a:spcAft>
                <a:spcPts val="200"/>
              </a:spcAft>
            </a:pPr>
            <a:r>
              <a:rPr sz="1400" b="0" i="0">
                <a:solidFill>
                  <a:srgbClr val="404040"/>
                </a:solidFill>
                <a:latin typeface="Helvetica Neue"/>
                <a:ea typeface="Helvetica Neue"/>
                <a:cs typeface="Helvetica Neue"/>
              </a:rPr>
              <a:t>Signatures</a:t>
            </a:r>
          </a:p>
        </p:txBody>
      </p:sp>
      <p:sp>
        <p:nvSpPr>
          <p:cNvPr id="8" name="PQ std 3"/>
          <p:cNvSpPr/>
          <p:nvPr/>
        </p:nvSpPr>
        <p:spPr>
          <a:xfrm>
            <a:off x="6469380" y="3246120"/>
            <a:ext cx="2423160" cy="1737360"/>
          </a:xfrm>
          <a:prstGeom prst="roundRect">
            <a:avLst/>
          </a:prstGeom>
          <a:solidFill>
            <a:srgbClr val="EEF2F8"/>
          </a:solidFill>
          <a:ln w="19050">
            <a:solidFill>
              <a:srgbClr val="2F75B5"/>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9" name="PQ std 3 text"/>
          <p:cNvSpPr txBox="1"/>
          <p:nvPr/>
        </p:nvSpPr>
        <p:spPr>
          <a:xfrm>
            <a:off x="6560820" y="3291840"/>
            <a:ext cx="2240280" cy="1645920"/>
          </a:xfrm>
          <a:prstGeom prst="rect">
            <a:avLst/>
          </a:prstGeom>
          <a:noFill/>
        </p:spPr>
        <p:txBody>
          <a:bodyPr wrap="square" lIns="0" tIns="0" rIns="0" bIns="0" anchor="ctr">
            <a:spAutoFit/>
          </a:bodyPr>
          <a:lstStyle/>
          <a:p>
            <a:pPr algn="ctr">
              <a:spcAft>
                <a:spcPts val="200"/>
              </a:spcAft>
            </a:pPr>
            <a:r>
              <a:rPr sz="1900" b="1" i="0">
                <a:solidFill>
                  <a:srgbClr val="2F75B5"/>
                </a:solidFill>
                <a:latin typeface="Helvetica Neue"/>
                <a:ea typeface="Helvetica Neue"/>
                <a:cs typeface="Helvetica Neue"/>
              </a:rPr>
              <a:t>FIPS 205</a:t>
            </a:r>
          </a:p>
          <a:p>
            <a:pPr algn="ctr">
              <a:spcAft>
                <a:spcPts val="200"/>
              </a:spcAft>
            </a:pPr>
            <a:r>
              <a:rPr sz="1700" b="1" i="0">
                <a:solidFill>
                  <a:srgbClr val="000000"/>
                </a:solidFill>
                <a:latin typeface="Helvetica Neue"/>
                <a:ea typeface="Helvetica Neue"/>
                <a:cs typeface="Helvetica Neue"/>
              </a:rPr>
              <a:t>SLH-DSA</a:t>
            </a:r>
          </a:p>
          <a:p>
            <a:pPr algn="ctr">
              <a:spcAft>
                <a:spcPts val="200"/>
              </a:spcAft>
            </a:pPr>
            <a:r>
              <a:rPr sz="1400" b="0" i="0">
                <a:solidFill>
                  <a:srgbClr val="404040"/>
                </a:solidFill>
                <a:latin typeface="Helvetica Neue"/>
                <a:ea typeface="Helvetica Neue"/>
                <a:cs typeface="Helvetica Neue"/>
              </a:rPr>
              <a:t>Backup signatures</a:t>
            </a:r>
          </a:p>
        </p:txBody>
      </p:sp>
      <p:sp>
        <p:nvSpPr>
          <p:cNvPr id="10" name="PQ tl head"/>
          <p:cNvSpPr txBox="1"/>
          <p:nvPr/>
        </p:nvSpPr>
        <p:spPr>
          <a:xfrm>
            <a:off x="9349740" y="2697480"/>
            <a:ext cx="7680960" cy="457200"/>
          </a:xfrm>
          <a:prstGeom prst="rect">
            <a:avLst/>
          </a:prstGeom>
          <a:noFill/>
        </p:spPr>
        <p:txBody>
          <a:bodyPr wrap="square" lIns="0" tIns="0" rIns="0" bIns="0" anchor="t">
            <a:spAutoFit/>
          </a:bodyPr>
          <a:lstStyle/>
          <a:p>
            <a:pPr algn="l">
              <a:spcAft>
                <a:spcPts val="600"/>
              </a:spcAft>
            </a:pPr>
            <a:r>
              <a:rPr sz="2000" b="1" i="0">
                <a:solidFill>
                  <a:srgbClr val="000000"/>
                </a:solidFill>
                <a:latin typeface="Helvetica Neue"/>
                <a:ea typeface="Helvetica Neue"/>
                <a:cs typeface="Helvetica Neue"/>
              </a:rPr>
              <a:t>The timeline (NIST IR 8547, draft)</a:t>
            </a:r>
          </a:p>
        </p:txBody>
      </p:sp>
      <p:cxnSp>
        <p:nvCxnSpPr>
          <p:cNvPr id="11" name="PQ tl line"/>
          <p:cNvCxnSpPr/>
          <p:nvPr/>
        </p:nvCxnSpPr>
        <p:spPr>
          <a:xfrm>
            <a:off x="9692640" y="4114800"/>
            <a:ext cx="7040880" cy="0"/>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PQ tl 2024"/>
          <p:cNvSpPr/>
          <p:nvPr/>
        </p:nvSpPr>
        <p:spPr>
          <a:xfrm>
            <a:off x="9765792" y="3913632"/>
            <a:ext cx="402336" cy="40233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3" name="PQ tl 2024 y"/>
          <p:cNvSpPr txBox="1"/>
          <p:nvPr/>
        </p:nvSpPr>
        <p:spPr>
          <a:xfrm>
            <a:off x="8961120" y="3246120"/>
            <a:ext cx="2011680" cy="548640"/>
          </a:xfrm>
          <a:prstGeom prst="rect">
            <a:avLst/>
          </a:prstGeom>
          <a:noFill/>
        </p:spPr>
        <p:txBody>
          <a:bodyPr wrap="square" lIns="0" tIns="0" rIns="0" bIns="0" anchor="t">
            <a:spAutoFit/>
          </a:bodyPr>
          <a:lstStyle/>
          <a:p>
            <a:pPr algn="ctr">
              <a:spcAft>
                <a:spcPts val="600"/>
              </a:spcAft>
            </a:pPr>
            <a:r>
              <a:rPr sz="2200" b="1" i="0">
                <a:solidFill>
                  <a:srgbClr val="2E7D32"/>
                </a:solidFill>
                <a:latin typeface="Helvetica Neue"/>
                <a:ea typeface="Helvetica Neue"/>
                <a:cs typeface="Helvetica Neue"/>
              </a:rPr>
              <a:t>2024</a:t>
            </a:r>
          </a:p>
        </p:txBody>
      </p:sp>
      <p:sp>
        <p:nvSpPr>
          <p:cNvPr id="14" name="PQ tl 2024 s"/>
          <p:cNvSpPr txBox="1"/>
          <p:nvPr/>
        </p:nvSpPr>
        <p:spPr>
          <a:xfrm>
            <a:off x="8778240" y="4434840"/>
            <a:ext cx="2377440" cy="640080"/>
          </a:xfrm>
          <a:prstGeom prst="rect">
            <a:avLst/>
          </a:prstGeom>
          <a:noFill/>
        </p:spPr>
        <p:txBody>
          <a:bodyPr wrap="square" lIns="0" tIns="0" rIns="0" bIns="0" anchor="t">
            <a:spAutoFit/>
          </a:bodyPr>
          <a:lstStyle/>
          <a:p>
            <a:pPr algn="ctr">
              <a:spcAft>
                <a:spcPts val="600"/>
              </a:spcAft>
            </a:pPr>
            <a:r>
              <a:rPr sz="1400" b="0" i="0">
                <a:solidFill>
                  <a:srgbClr val="000000"/>
                </a:solidFill>
                <a:latin typeface="Helvetica Neue"/>
                <a:ea typeface="Helvetica Neue"/>
                <a:cs typeface="Helvetica Neue"/>
              </a:rPr>
              <a:t>Standards published</a:t>
            </a:r>
          </a:p>
        </p:txBody>
      </p:sp>
      <p:sp>
        <p:nvSpPr>
          <p:cNvPr id="15" name="PQ tl 2030"/>
          <p:cNvSpPr/>
          <p:nvPr/>
        </p:nvSpPr>
        <p:spPr>
          <a:xfrm>
            <a:off x="13011911" y="3913632"/>
            <a:ext cx="402336" cy="402336"/>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6" name="PQ tl 2030 y"/>
          <p:cNvSpPr txBox="1"/>
          <p:nvPr/>
        </p:nvSpPr>
        <p:spPr>
          <a:xfrm>
            <a:off x="12207240" y="3246120"/>
            <a:ext cx="2011680" cy="548640"/>
          </a:xfrm>
          <a:prstGeom prst="rect">
            <a:avLst/>
          </a:prstGeom>
          <a:noFill/>
        </p:spPr>
        <p:txBody>
          <a:bodyPr wrap="square" lIns="0" tIns="0" rIns="0" bIns="0" anchor="t">
            <a:spAutoFit/>
          </a:bodyPr>
          <a:lstStyle/>
          <a:p>
            <a:pPr algn="ctr">
              <a:spcAft>
                <a:spcPts val="600"/>
              </a:spcAft>
            </a:pPr>
            <a:r>
              <a:rPr sz="2200" b="1" i="0">
                <a:solidFill>
                  <a:srgbClr val="ED7D31"/>
                </a:solidFill>
                <a:latin typeface="Helvetica Neue"/>
                <a:ea typeface="Helvetica Neue"/>
                <a:cs typeface="Helvetica Neue"/>
              </a:rPr>
              <a:t>2030</a:t>
            </a:r>
          </a:p>
        </p:txBody>
      </p:sp>
      <p:sp>
        <p:nvSpPr>
          <p:cNvPr id="17" name="PQ tl 2030 s"/>
          <p:cNvSpPr txBox="1"/>
          <p:nvPr/>
        </p:nvSpPr>
        <p:spPr>
          <a:xfrm>
            <a:off x="12024359" y="4434840"/>
            <a:ext cx="2377440" cy="640080"/>
          </a:xfrm>
          <a:prstGeom prst="rect">
            <a:avLst/>
          </a:prstGeom>
          <a:noFill/>
        </p:spPr>
        <p:txBody>
          <a:bodyPr wrap="square" lIns="0" tIns="0" rIns="0" bIns="0" anchor="t">
            <a:spAutoFit/>
          </a:bodyPr>
          <a:lstStyle/>
          <a:p>
            <a:pPr algn="ctr">
              <a:spcAft>
                <a:spcPts val="600"/>
              </a:spcAft>
            </a:pPr>
            <a:r>
              <a:rPr sz="1400" b="0" i="0">
                <a:solidFill>
                  <a:srgbClr val="000000"/>
                </a:solidFill>
                <a:latin typeface="Helvetica Neue"/>
                <a:ea typeface="Helvetica Neue"/>
                <a:cs typeface="Helvetica Neue"/>
              </a:rPr>
              <a:t>RSA and ECC deprecated</a:t>
            </a:r>
          </a:p>
        </p:txBody>
      </p:sp>
      <p:sp>
        <p:nvSpPr>
          <p:cNvPr id="18" name="PQ tl 2035"/>
          <p:cNvSpPr/>
          <p:nvPr/>
        </p:nvSpPr>
        <p:spPr>
          <a:xfrm>
            <a:off x="15892272" y="3913632"/>
            <a:ext cx="402336" cy="402336"/>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9" name="PQ tl 2035 y"/>
          <p:cNvSpPr txBox="1"/>
          <p:nvPr/>
        </p:nvSpPr>
        <p:spPr>
          <a:xfrm>
            <a:off x="15087600" y="3246120"/>
            <a:ext cx="2011680" cy="548640"/>
          </a:xfrm>
          <a:prstGeom prst="rect">
            <a:avLst/>
          </a:prstGeom>
          <a:noFill/>
        </p:spPr>
        <p:txBody>
          <a:bodyPr wrap="square" lIns="0" tIns="0" rIns="0" bIns="0" anchor="t">
            <a:spAutoFit/>
          </a:bodyPr>
          <a:lstStyle/>
          <a:p>
            <a:pPr algn="ctr">
              <a:spcAft>
                <a:spcPts val="600"/>
              </a:spcAft>
            </a:pPr>
            <a:r>
              <a:rPr sz="2200" b="1" i="0">
                <a:solidFill>
                  <a:srgbClr val="C00000"/>
                </a:solidFill>
                <a:latin typeface="Helvetica Neue"/>
                <a:ea typeface="Helvetica Neue"/>
                <a:cs typeface="Helvetica Neue"/>
              </a:rPr>
              <a:t>2035</a:t>
            </a:r>
          </a:p>
        </p:txBody>
      </p:sp>
      <p:sp>
        <p:nvSpPr>
          <p:cNvPr id="20" name="PQ tl 2035 s"/>
          <p:cNvSpPr txBox="1"/>
          <p:nvPr/>
        </p:nvSpPr>
        <p:spPr>
          <a:xfrm>
            <a:off x="14904720" y="4434840"/>
            <a:ext cx="2377440" cy="640080"/>
          </a:xfrm>
          <a:prstGeom prst="rect">
            <a:avLst/>
          </a:prstGeom>
          <a:noFill/>
        </p:spPr>
        <p:txBody>
          <a:bodyPr wrap="square" lIns="0" tIns="0" rIns="0" bIns="0" anchor="t">
            <a:spAutoFit/>
          </a:bodyPr>
          <a:lstStyle/>
          <a:p>
            <a:pPr algn="ctr">
              <a:spcAft>
                <a:spcPts val="600"/>
              </a:spcAft>
            </a:pPr>
            <a:r>
              <a:rPr sz="1400" b="0" i="0">
                <a:solidFill>
                  <a:srgbClr val="000000"/>
                </a:solidFill>
                <a:latin typeface="Helvetica Neue"/>
                <a:ea typeface="Helvetica Neue"/>
                <a:cs typeface="Helvetica Neue"/>
              </a:rPr>
              <a:t>RSA and ECC disallowed</a:t>
            </a:r>
          </a:p>
        </p:txBody>
      </p:sp>
      <p:sp>
        <p:nvSpPr>
          <p:cNvPr id="21" name="PQ already"/>
          <p:cNvSpPr/>
          <p:nvPr/>
        </p:nvSpPr>
        <p:spPr>
          <a:xfrm>
            <a:off x="1257300" y="5349240"/>
            <a:ext cx="15773400" cy="685800"/>
          </a:xfrm>
          <a:prstGeom prst="rect">
            <a:avLst/>
          </a:prstGeom>
          <a:solidFill>
            <a:srgbClr val="EEF2F8"/>
          </a:solidFill>
          <a:ln w="6350">
            <a:solidFill>
              <a:srgbClr val="EEF2F8"/>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2" name="PQ already text"/>
          <p:cNvSpPr txBox="1"/>
          <p:nvPr/>
        </p:nvSpPr>
        <p:spPr>
          <a:xfrm>
            <a:off x="1554480" y="5394959"/>
            <a:ext cx="15179040" cy="594360"/>
          </a:xfrm>
          <a:prstGeom prst="rect">
            <a:avLst/>
          </a:prstGeom>
          <a:noFill/>
        </p:spPr>
        <p:txBody>
          <a:bodyPr wrap="square" lIns="0" tIns="0" rIns="0" bIns="0" anchor="ctr">
            <a:spAutoFit/>
          </a:bodyPr>
          <a:lstStyle/>
          <a:p>
            <a:pPr algn="ctr">
              <a:spcAft>
                <a:spcPts val="600"/>
              </a:spcAft>
            </a:pPr>
            <a:r>
              <a:rPr sz="1800" b="1" i="0">
                <a:solidFill>
                  <a:srgbClr val="000000"/>
                </a:solidFill>
                <a:latin typeface="Helvetica Neue"/>
                <a:ea typeface="Helvetica Neue"/>
                <a:cs typeface="Helvetica Neue"/>
              </a:rPr>
              <a:t>Already happening: browsers and big cloud providers use hybrid post-quantum key exchange by default.</a:t>
            </a:r>
          </a:p>
        </p:txBody>
      </p:sp>
      <p:sp>
        <p:nvSpPr>
          <p:cNvPr id="23" name="PQ do head"/>
          <p:cNvSpPr txBox="1"/>
          <p:nvPr/>
        </p:nvSpPr>
        <p:spPr>
          <a:xfrm>
            <a:off x="1257300" y="6263640"/>
            <a:ext cx="15773400" cy="45720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What banks will need to do</a:t>
            </a:r>
          </a:p>
        </p:txBody>
      </p:sp>
      <p:sp>
        <p:nvSpPr>
          <p:cNvPr id="24" name="PQ do 1"/>
          <p:cNvSpPr/>
          <p:nvPr/>
        </p:nvSpPr>
        <p:spPr>
          <a:xfrm>
            <a:off x="1257300" y="6812280"/>
            <a:ext cx="3703320" cy="25603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5" name="PQ do 1 text"/>
          <p:cNvSpPr txBox="1"/>
          <p:nvPr/>
        </p:nvSpPr>
        <p:spPr>
          <a:xfrm>
            <a:off x="1513332" y="7013448"/>
            <a:ext cx="3191256" cy="219456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Inventory</a:t>
            </a:r>
          </a:p>
          <a:p>
            <a:pPr algn="l">
              <a:spcAft>
                <a:spcPts val="700"/>
              </a:spcAft>
            </a:pPr>
            <a:r>
              <a:rPr sz="1600" b="0" i="0">
                <a:solidFill>
                  <a:srgbClr val="000000"/>
                </a:solidFill>
                <a:latin typeface="Helvetica Neue"/>
                <a:ea typeface="Helvetica Neue"/>
                <a:cs typeface="Helvetica Neue"/>
              </a:rPr>
              <a:t>Where RSA and ECC live: VPNs, TLS, certificates, HSMs, vendor links</a:t>
            </a:r>
          </a:p>
        </p:txBody>
      </p:sp>
      <p:sp>
        <p:nvSpPr>
          <p:cNvPr id="26" name="PQ do 2"/>
          <p:cNvSpPr/>
          <p:nvPr/>
        </p:nvSpPr>
        <p:spPr>
          <a:xfrm>
            <a:off x="5280659" y="6812280"/>
            <a:ext cx="3703320" cy="25603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7" name="PQ do 2 text"/>
          <p:cNvSpPr txBox="1"/>
          <p:nvPr/>
        </p:nvSpPr>
        <p:spPr>
          <a:xfrm>
            <a:off x="5536692" y="7013448"/>
            <a:ext cx="3191256" cy="219456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Ask vendors</a:t>
            </a:r>
          </a:p>
          <a:p>
            <a:pPr algn="l">
              <a:spcAft>
                <a:spcPts val="700"/>
              </a:spcAft>
            </a:pPr>
            <a:r>
              <a:rPr sz="1600" b="0" i="0">
                <a:solidFill>
                  <a:srgbClr val="000000"/>
                </a:solidFill>
                <a:latin typeface="Helvetica Neue"/>
                <a:ea typeface="Helvetica Neue"/>
                <a:cs typeface="Helvetica Neue"/>
              </a:rPr>
              <a:t>Core, digital banking, VPN and firewall: what's the roadmap?</a:t>
            </a:r>
          </a:p>
        </p:txBody>
      </p:sp>
      <p:sp>
        <p:nvSpPr>
          <p:cNvPr id="28" name="PQ do 3"/>
          <p:cNvSpPr/>
          <p:nvPr/>
        </p:nvSpPr>
        <p:spPr>
          <a:xfrm>
            <a:off x="9304019" y="6812280"/>
            <a:ext cx="3703320" cy="25603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9" name="PQ do 3 text"/>
          <p:cNvSpPr txBox="1"/>
          <p:nvPr/>
        </p:nvSpPr>
        <p:spPr>
          <a:xfrm>
            <a:off x="9560051" y="7013448"/>
            <a:ext cx="3191256" cy="219456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Crypto agility</a:t>
            </a:r>
          </a:p>
          <a:p>
            <a:pPr algn="l">
              <a:spcAft>
                <a:spcPts val="700"/>
              </a:spcAft>
            </a:pPr>
            <a:r>
              <a:rPr sz="1600" b="0" i="0">
                <a:solidFill>
                  <a:srgbClr val="000000"/>
                </a:solidFill>
                <a:latin typeface="Helvetica Neue"/>
                <a:ea typeface="Helvetica Neue"/>
                <a:cs typeface="Helvetica Neue"/>
              </a:rPr>
              <a:t>Systems that can swap algorithms without being replaced</a:t>
            </a:r>
          </a:p>
        </p:txBody>
      </p:sp>
      <p:sp>
        <p:nvSpPr>
          <p:cNvPr id="30" name="PQ do 4"/>
          <p:cNvSpPr/>
          <p:nvPr/>
        </p:nvSpPr>
        <p:spPr>
          <a:xfrm>
            <a:off x="13327380" y="6812280"/>
            <a:ext cx="3703320" cy="256032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1" name="PQ do 4 text"/>
          <p:cNvSpPr txBox="1"/>
          <p:nvPr/>
        </p:nvSpPr>
        <p:spPr>
          <a:xfrm>
            <a:off x="13583411" y="7013448"/>
            <a:ext cx="3191256" cy="2194560"/>
          </a:xfrm>
          <a:prstGeom prst="rect">
            <a:avLst/>
          </a:prstGeom>
          <a:noFill/>
        </p:spPr>
        <p:txBody>
          <a:bodyPr wrap="square" lIns="0" tIns="0" rIns="0" bIns="0" anchor="t">
            <a:spAutoFit/>
          </a:bodyPr>
          <a:lstStyle/>
          <a:p>
            <a:pPr algn="l">
              <a:spcAft>
                <a:spcPts val="700"/>
              </a:spcAft>
            </a:pPr>
            <a:r>
              <a:rPr sz="2000" b="1" i="0">
                <a:solidFill>
                  <a:srgbClr val="000000"/>
                </a:solidFill>
                <a:latin typeface="Helvetica Neue"/>
                <a:ea typeface="Helvetica Neue"/>
                <a:cs typeface="Helvetica Neue"/>
              </a:rPr>
              <a:t>Start where it counts</a:t>
            </a:r>
          </a:p>
          <a:p>
            <a:pPr algn="l">
              <a:spcAft>
                <a:spcPts val="700"/>
              </a:spcAft>
            </a:pPr>
            <a:r>
              <a:rPr sz="1600" b="0" i="0">
                <a:solidFill>
                  <a:srgbClr val="000000"/>
                </a:solidFill>
                <a:latin typeface="Helvetica Neue"/>
                <a:ea typeface="Helvetica Neue"/>
                <a:cs typeface="Helvetica Neue"/>
              </a:rPr>
              <a:t>Long-lived data and links that cross the internet</a:t>
            </a:r>
          </a:p>
        </p:txBody>
      </p:sp>
      <p:sp>
        <p:nvSpPr>
          <p:cNvPr id="32" name="Source note"/>
          <p:cNvSpPr txBox="1"/>
          <p:nvPr/>
        </p:nvSpPr>
        <p:spPr>
          <a:xfrm>
            <a:off x="1257300" y="9692640"/>
            <a:ext cx="15773400" cy="274320"/>
          </a:xfrm>
          <a:prstGeom prst="rect">
            <a:avLst/>
          </a:prstGeom>
          <a:noFill/>
        </p:spPr>
        <p:txBody>
          <a:bodyPr wrap="square" lIns="0" tIns="0" rIns="0" bIns="0" anchor="t">
            <a:spAutoFit/>
          </a:bodyPr>
          <a:lstStyle/>
          <a:p>
            <a:pPr algn="l">
              <a:spcAft>
                <a:spcPts val="600"/>
              </a:spcAft>
            </a:pPr>
            <a:r>
              <a:rPr sz="1200" b="0" i="0">
                <a:solidFill>
                  <a:srgbClr val="7F7F7F"/>
                </a:solidFill>
                <a:latin typeface="Helvetica Neue"/>
                <a:ea typeface="Helvetica Neue"/>
                <a:cs typeface="Helvetica Neue"/>
              </a:rPr>
              <a:t>Sources: NIST FIPS 203, 204, 205 (August 2024); NIST IR 8547 initial public draft (November 2024)</a:t>
            </a: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Chapter 32: Fintech and the Changing Bank</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C913-D106-E44D-8E1D-B8F34A7C11BE}"/>
              </a:ext>
            </a:extLst>
          </p:cNvPr>
          <p:cNvSpPr>
            <a:spLocks noGrp="1"/>
          </p:cNvSpPr>
          <p:nvPr>
            <p:ph type="title"/>
          </p:nvPr>
        </p:nvSpPr>
        <p:spPr/>
        <p:txBody>
          <a:bodyPr/>
          <a:lstStyle/>
          <a:p>
            <a:r>
              <a:rPr lang="en-US"/>
              <a:t>Fintech</a:t>
            </a:r>
          </a:p>
        </p:txBody>
      </p:sp>
      <p:sp>
        <p:nvSpPr>
          <p:cNvPr id="3" name="Content Placeholder 2">
            <a:extLst>
              <a:ext uri="{FF2B5EF4-FFF2-40B4-BE49-F238E27FC236}">
                <a16:creationId xmlns:a16="http://schemas.microsoft.com/office/drawing/2014/main" id="{E689E68C-D038-DF46-926A-C1FBBD00D5B5}"/>
              </a:ext>
            </a:extLst>
          </p:cNvPr>
          <p:cNvSpPr>
            <a:spLocks noGrp="1"/>
          </p:cNvSpPr>
          <p:nvPr>
            <p:ph idx="1"/>
          </p:nvPr>
        </p:nvSpPr>
        <p:spPr>
          <a:xfrm>
            <a:off x="1257299" y="2193131"/>
            <a:ext cx="14165849" cy="7496969"/>
          </a:xfrm>
        </p:spPr>
        <p:txBody>
          <a:bodyPr>
            <a:normAutofit/>
          </a:bodyPr>
          <a:lstStyle/>
          <a:p>
            <a:r>
              <a:rPr lang="en-US"/>
              <a:t>Not just for the big banks any more</a:t>
            </a:r>
          </a:p>
          <a:p>
            <a:r>
              <a:rPr lang="en-US"/>
              <a:t>Innovation available to everyone in many areas</a:t>
            </a:r>
          </a:p>
          <a:p>
            <a:pPr lvl="1"/>
            <a:r>
              <a:rPr lang="en-US"/>
              <a:t>Payments - Apple Pay, Google Pay, and many other Pays</a:t>
            </a:r>
          </a:p>
          <a:p>
            <a:pPr lvl="2"/>
            <a:r>
              <a:rPr lang="en-US"/>
              <a:t>How much do banks lose to Square, PayPal and Venmo?</a:t>
            </a:r>
          </a:p>
          <a:p>
            <a:pPr lvl="1"/>
            <a:r>
              <a:rPr lang="en-US"/>
              <a:t>Microsoft Cloud for Financial Services and other clouds</a:t>
            </a:r>
          </a:p>
          <a:p>
            <a:pPr lvl="1"/>
            <a:r>
              <a:rPr lang="en-US"/>
              <a:t>Blockchain – bitcoin and other cryptocurrencies</a:t>
            </a:r>
          </a:p>
          <a:p>
            <a:pPr lvl="1"/>
            <a:r>
              <a:rPr lang="en-US"/>
              <a:t>Crowdfunding – </a:t>
            </a:r>
            <a:r>
              <a:rPr lang="en-US" err="1"/>
              <a:t>Patreon</a:t>
            </a:r>
            <a:r>
              <a:rPr lang="en-US"/>
              <a:t>, Kickstarter, </a:t>
            </a:r>
            <a:r>
              <a:rPr lang="en-US" err="1"/>
              <a:t>Gofundme</a:t>
            </a:r>
            <a:endParaRPr lang="en-US"/>
          </a:p>
          <a:p>
            <a:pPr lvl="1"/>
            <a:r>
              <a:rPr lang="en-US"/>
              <a:t>Insurance – disruptive companies and new policies</a:t>
            </a:r>
          </a:p>
          <a:p>
            <a:r>
              <a:rPr lang="en-US"/>
              <a:t>As these compete, they seek to partner</a:t>
            </a:r>
          </a:p>
          <a:p>
            <a:r>
              <a:rPr lang="en-US"/>
              <a:t>Cloud platforms and APIs make partnering easy</a:t>
            </a:r>
          </a:p>
          <a:p>
            <a:pPr lvl="1"/>
            <a:r>
              <a:rPr lang="en-US"/>
              <a:t>Even small banks can get in on the action</a:t>
            </a:r>
          </a:p>
        </p:txBody>
      </p:sp>
      <p:pic>
        <p:nvPicPr>
          <p:cNvPr id="6147" name="Picture 3">
            <a:extLst>
              <a:ext uri="{FF2B5EF4-FFF2-40B4-BE49-F238E27FC236}">
                <a16:creationId xmlns:a16="http://schemas.microsoft.com/office/drawing/2014/main" id="{E3307D4E-CDDB-474F-A5C3-FB01BD843A7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6782928" y="6846670"/>
            <a:ext cx="1175882" cy="1175882"/>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a:hlinkClick r:id="rId4"/>
            <a:extLst>
              <a:ext uri="{FF2B5EF4-FFF2-40B4-BE49-F238E27FC236}">
                <a16:creationId xmlns:a16="http://schemas.microsoft.com/office/drawing/2014/main" id="{377C4DB4-E36A-EF46-BCE2-DCF6FE45262E}"/>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4352925" y="6489795"/>
            <a:ext cx="1532757" cy="1532757"/>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Google Pay Logo Vector">
            <a:extLst>
              <a:ext uri="{FF2B5EF4-FFF2-40B4-BE49-F238E27FC236}">
                <a16:creationId xmlns:a16="http://schemas.microsoft.com/office/drawing/2014/main" id="{51A8FE98-855C-4444-A77B-BDE346FA9BE6}"/>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16096008" y="3526154"/>
            <a:ext cx="2076722" cy="830689"/>
          </a:xfrm>
          <a:prstGeom prst="rect">
            <a:avLst/>
          </a:prstGeom>
          <a:noFill/>
          <a:extLst>
            <a:ext uri="{909E8E84-426E-40DD-AFC4-6F175D3DCCD1}">
              <a14:hiddenFill xmlns:a14="http://schemas.microsoft.com/office/drawing/2010/main">
                <a:solidFill>
                  <a:srgbClr val="FFFFFF"/>
                </a:solidFill>
              </a14:hiddenFill>
            </a:ext>
          </a:extLst>
        </p:spPr>
      </p:pic>
      <p:pic>
        <p:nvPicPr>
          <p:cNvPr id="6155" name="Picture 11">
            <a:extLst>
              <a:ext uri="{FF2B5EF4-FFF2-40B4-BE49-F238E27FC236}">
                <a16:creationId xmlns:a16="http://schemas.microsoft.com/office/drawing/2014/main" id="{7F9FB3AD-9F7C-F04E-B7C1-065D8332D81C}"/>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13906251" y="1751293"/>
            <a:ext cx="2451588" cy="2451588"/>
          </a:xfrm>
          <a:prstGeom prst="rect">
            <a:avLst/>
          </a:prstGeom>
          <a:noFill/>
          <a:extLst>
            <a:ext uri="{909E8E84-426E-40DD-AFC4-6F175D3DCCD1}">
              <a14:hiddenFill xmlns:a14="http://schemas.microsoft.com/office/drawing/2010/main">
                <a:solidFill>
                  <a:srgbClr val="FFFFFF"/>
                </a:solidFill>
              </a14:hiddenFill>
            </a:ext>
          </a:extLst>
        </p:spPr>
      </p:pic>
      <p:pic>
        <p:nvPicPr>
          <p:cNvPr id="6157" name="Picture 13">
            <a:extLst>
              <a:ext uri="{FF2B5EF4-FFF2-40B4-BE49-F238E27FC236}">
                <a16:creationId xmlns:a16="http://schemas.microsoft.com/office/drawing/2014/main" id="{88AF8A99-E979-D34D-9C94-E2378FB6906F}"/>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15139320" y="8022552"/>
            <a:ext cx="2091849" cy="1175882"/>
          </a:xfrm>
          <a:prstGeom prst="rect">
            <a:avLst/>
          </a:prstGeom>
          <a:noFill/>
          <a:extLst>
            <a:ext uri="{909E8E84-426E-40DD-AFC4-6F175D3DCCD1}">
              <a14:hiddenFill xmlns:a14="http://schemas.microsoft.com/office/drawing/2010/main">
                <a:solidFill>
                  <a:srgbClr val="FFFFFF"/>
                </a:solidFill>
              </a14:hiddenFill>
            </a:ext>
          </a:extLst>
        </p:spPr>
      </p:pic>
      <p:pic>
        <p:nvPicPr>
          <p:cNvPr id="6159" name="Picture 15">
            <a:extLst>
              <a:ext uri="{FF2B5EF4-FFF2-40B4-BE49-F238E27FC236}">
                <a16:creationId xmlns:a16="http://schemas.microsoft.com/office/drawing/2014/main" id="{CB82A7E8-1DA3-674D-B621-152658D1FDB1}"/>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14678742" y="4372355"/>
            <a:ext cx="1250388" cy="1250388"/>
          </a:xfrm>
          <a:prstGeom prst="rect">
            <a:avLst/>
          </a:prstGeom>
          <a:noFill/>
          <a:extLst>
            <a:ext uri="{909E8E84-426E-40DD-AFC4-6F175D3DCCD1}">
              <a14:hiddenFill xmlns:a14="http://schemas.microsoft.com/office/drawing/2010/main">
                <a:solidFill>
                  <a:srgbClr val="FFFFFF"/>
                </a:solidFill>
              </a14:hiddenFill>
            </a:ext>
          </a:extLst>
        </p:spPr>
      </p:pic>
      <p:pic>
        <p:nvPicPr>
          <p:cNvPr id="6161" name="Picture 17">
            <a:hlinkClick r:id="rId10"/>
            <a:extLst>
              <a:ext uri="{FF2B5EF4-FFF2-40B4-BE49-F238E27FC236}">
                <a16:creationId xmlns:a16="http://schemas.microsoft.com/office/drawing/2014/main" id="{D118D867-986E-2E47-8D6D-2690D3E6CA5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15975378" y="4832109"/>
            <a:ext cx="1615100" cy="1931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8497906"/>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13C61-E7DB-D74C-B8CC-C0BA5D92DD5F}"/>
              </a:ext>
            </a:extLst>
          </p:cNvPr>
          <p:cNvSpPr>
            <a:spLocks noGrp="1"/>
          </p:cNvSpPr>
          <p:nvPr>
            <p:ph type="title"/>
          </p:nvPr>
        </p:nvSpPr>
        <p:spPr/>
        <p:txBody>
          <a:bodyPr/>
          <a:lstStyle/>
          <a:p>
            <a:r>
              <a:rPr lang="en-US"/>
              <a:t>M&amp;A</a:t>
            </a:r>
          </a:p>
        </p:txBody>
      </p:sp>
      <p:sp>
        <p:nvSpPr>
          <p:cNvPr id="3" name="Content Placeholder 2">
            <a:extLst>
              <a:ext uri="{FF2B5EF4-FFF2-40B4-BE49-F238E27FC236}">
                <a16:creationId xmlns:a16="http://schemas.microsoft.com/office/drawing/2014/main" id="{46536DBA-8601-0E4F-820D-440E209B432A}"/>
              </a:ext>
            </a:extLst>
          </p:cNvPr>
          <p:cNvSpPr>
            <a:spLocks noGrp="1"/>
          </p:cNvSpPr>
          <p:nvPr>
            <p:ph idx="1"/>
          </p:nvPr>
        </p:nvSpPr>
        <p:spPr>
          <a:xfrm>
            <a:off x="1257300" y="2193131"/>
            <a:ext cx="9817100" cy="6967198"/>
          </a:xfrm>
        </p:spPr>
        <p:txBody>
          <a:bodyPr/>
          <a:lstStyle/>
          <a:p>
            <a:r>
              <a:rPr lang="en-US"/>
              <a:t>Small banks often get bought, or merge with other small banks</a:t>
            </a:r>
          </a:p>
          <a:p>
            <a:pPr lvl="1"/>
            <a:r>
              <a:rPr lang="en-US"/>
              <a:t>Networks have made this inevitable</a:t>
            </a:r>
          </a:p>
          <a:p>
            <a:r>
              <a:rPr lang="en-US"/>
              <a:t>When companies come together, their networks come together too</a:t>
            </a:r>
          </a:p>
          <a:p>
            <a:r>
              <a:rPr lang="en-US"/>
              <a:t>Connections must be made between</a:t>
            </a:r>
          </a:p>
          <a:p>
            <a:pPr lvl="1"/>
            <a:r>
              <a:rPr lang="en-US"/>
              <a:t>Systems</a:t>
            </a:r>
          </a:p>
          <a:p>
            <a:pPr lvl="1"/>
            <a:r>
              <a:rPr lang="en-US"/>
              <a:t>Devices</a:t>
            </a:r>
          </a:p>
          <a:p>
            <a:pPr lvl="1"/>
            <a:r>
              <a:rPr lang="en-US"/>
              <a:t>Networks</a:t>
            </a:r>
          </a:p>
          <a:p>
            <a:pPr lvl="1"/>
            <a:r>
              <a:rPr lang="en-US"/>
              <a:t>Policies</a:t>
            </a:r>
          </a:p>
          <a:p>
            <a:pPr lvl="1"/>
            <a:r>
              <a:rPr lang="en-US"/>
              <a:t>Services</a:t>
            </a:r>
          </a:p>
        </p:txBody>
      </p:sp>
      <p:pic>
        <p:nvPicPr>
          <p:cNvPr id="7170" name="Picture 2">
            <a:hlinkClick r:id="rId3"/>
            <a:extLst>
              <a:ext uri="{FF2B5EF4-FFF2-40B4-BE49-F238E27FC236}">
                <a16:creationId xmlns:a16="http://schemas.microsoft.com/office/drawing/2014/main" id="{F9B41EB4-1B3D-D540-8B61-5A207D4F2FA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1074400" y="3649662"/>
            <a:ext cx="6343096" cy="3666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750662"/>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Chapter 33: Course Wrap-Up</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Exercise 5: Capstone</a:t>
            </a:r>
          </a:p>
        </p:txBody>
      </p:sp>
      <p:sp>
        <p:nvSpPr>
          <p:cNvPr id="3" name="Ex5 num 1"/>
          <p:cNvSpPr/>
          <p:nvPr/>
        </p:nvSpPr>
        <p:spPr>
          <a:xfrm>
            <a:off x="1257300" y="2788920"/>
            <a:ext cx="685800" cy="6858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1</a:t>
            </a:r>
          </a:p>
        </p:txBody>
      </p:sp>
      <p:sp>
        <p:nvSpPr>
          <p:cNvPr id="4" name="Ex5 step 1"/>
          <p:cNvSpPr txBox="1"/>
          <p:nvPr/>
        </p:nvSpPr>
        <p:spPr>
          <a:xfrm>
            <a:off x="2194560" y="2697480"/>
            <a:ext cx="8503920" cy="1463040"/>
          </a:xfrm>
          <a:prstGeom prst="rect">
            <a:avLst/>
          </a:prstGeom>
          <a:noFill/>
        </p:spPr>
        <p:txBody>
          <a:bodyPr wrap="square" lIns="0" tIns="0" rIns="0" bIns="0" anchor="t">
            <a:spAutoFit/>
          </a:bodyPr>
          <a:lstStyle/>
          <a:p>
            <a:pPr algn="l">
              <a:spcAft>
                <a:spcPts val="300"/>
              </a:spcAft>
            </a:pPr>
            <a:r>
              <a:rPr sz="2500" b="1" i="0">
                <a:solidFill>
                  <a:srgbClr val="000000"/>
                </a:solidFill>
                <a:latin typeface="Helvetica Neue"/>
                <a:ea typeface="Helvetica Neue"/>
                <a:cs typeface="Helvetica Neue"/>
              </a:rPr>
              <a:t>Walk the diagram, layer by layer</a:t>
            </a:r>
          </a:p>
          <a:p>
            <a:pPr algn="l">
              <a:spcAft>
                <a:spcPts val="300"/>
              </a:spcAft>
            </a:pPr>
            <a:r>
              <a:rPr sz="1900" b="0" i="0">
                <a:solidFill>
                  <a:srgbClr val="404040"/>
                </a:solidFill>
                <a:latin typeface="Helvetica Neue"/>
                <a:ea typeface="Helvetica Neue"/>
                <a:cs typeface="Helvetica Neue"/>
              </a:rPr>
              <a:t>LAN, WAN, cloud, vendors, applications. Mark anything new.</a:t>
            </a:r>
          </a:p>
        </p:txBody>
      </p:sp>
      <p:sp>
        <p:nvSpPr>
          <p:cNvPr id="5" name="Ex5 num 2"/>
          <p:cNvSpPr/>
          <p:nvPr/>
        </p:nvSpPr>
        <p:spPr>
          <a:xfrm>
            <a:off x="1257300" y="4389120"/>
            <a:ext cx="685800" cy="6858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2</a:t>
            </a:r>
          </a:p>
        </p:txBody>
      </p:sp>
      <p:sp>
        <p:nvSpPr>
          <p:cNvPr id="6" name="Ex5 step 2"/>
          <p:cNvSpPr txBox="1"/>
          <p:nvPr/>
        </p:nvSpPr>
        <p:spPr>
          <a:xfrm>
            <a:off x="2194560" y="4297680"/>
            <a:ext cx="8503920" cy="1463040"/>
          </a:xfrm>
          <a:prstGeom prst="rect">
            <a:avLst/>
          </a:prstGeom>
          <a:noFill/>
        </p:spPr>
        <p:txBody>
          <a:bodyPr wrap="square" lIns="0" tIns="0" rIns="0" bIns="0" anchor="t">
            <a:spAutoFit/>
          </a:bodyPr>
          <a:lstStyle/>
          <a:p>
            <a:pPr algn="l">
              <a:spcAft>
                <a:spcPts val="300"/>
              </a:spcAft>
            </a:pPr>
            <a:r>
              <a:rPr sz="2500" b="1" i="0">
                <a:solidFill>
                  <a:srgbClr val="000000"/>
                </a:solidFill>
                <a:latin typeface="Helvetica Neue"/>
                <a:ea typeface="Helvetica Neue"/>
                <a:cs typeface="Helvetica Neue"/>
              </a:rPr>
              <a:t>Pick the three biggest risks</a:t>
            </a:r>
          </a:p>
          <a:p>
            <a:pPr algn="l">
              <a:spcAft>
                <a:spcPts val="300"/>
              </a:spcAft>
            </a:pPr>
            <a:r>
              <a:rPr sz="1900" b="0" i="0">
                <a:solidFill>
                  <a:srgbClr val="404040"/>
                </a:solidFill>
                <a:latin typeface="Helvetica Neue"/>
                <a:ea typeface="Helvetica Neue"/>
                <a:cs typeface="Helvetica Neue"/>
              </a:rPr>
              <a:t>Three for the whole bank, not three per layer</a:t>
            </a:r>
          </a:p>
        </p:txBody>
      </p:sp>
      <p:sp>
        <p:nvSpPr>
          <p:cNvPr id="7" name="Ex5 num 3"/>
          <p:cNvSpPr/>
          <p:nvPr/>
        </p:nvSpPr>
        <p:spPr>
          <a:xfrm>
            <a:off x="1257300" y="5989320"/>
            <a:ext cx="685800" cy="6858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3</a:t>
            </a:r>
          </a:p>
        </p:txBody>
      </p:sp>
      <p:sp>
        <p:nvSpPr>
          <p:cNvPr id="8" name="Ex5 step 3"/>
          <p:cNvSpPr txBox="1"/>
          <p:nvPr/>
        </p:nvSpPr>
        <p:spPr>
          <a:xfrm>
            <a:off x="2194560" y="5897880"/>
            <a:ext cx="8503920" cy="1463040"/>
          </a:xfrm>
          <a:prstGeom prst="rect">
            <a:avLst/>
          </a:prstGeom>
          <a:noFill/>
        </p:spPr>
        <p:txBody>
          <a:bodyPr wrap="square" lIns="0" tIns="0" rIns="0" bIns="0" anchor="t">
            <a:spAutoFit/>
          </a:bodyPr>
          <a:lstStyle/>
          <a:p>
            <a:pPr algn="l">
              <a:spcAft>
                <a:spcPts val="300"/>
              </a:spcAft>
            </a:pPr>
            <a:r>
              <a:rPr sz="2500" b="1" i="0">
                <a:solidFill>
                  <a:srgbClr val="000000"/>
                </a:solidFill>
                <a:latin typeface="Helvetica Neue"/>
                <a:ea typeface="Helvetica Neue"/>
                <a:cs typeface="Helvetica Neue"/>
              </a:rPr>
              <a:t>Write the question for each</a:t>
            </a:r>
          </a:p>
          <a:p>
            <a:pPr algn="l">
              <a:spcAft>
                <a:spcPts val="300"/>
              </a:spcAft>
            </a:pPr>
            <a:r>
              <a:rPr sz="1900" b="0" i="0">
                <a:solidFill>
                  <a:srgbClr val="404040"/>
                </a:solidFill>
                <a:latin typeface="Helvetica Neue"/>
                <a:ea typeface="Helvetica Neue"/>
                <a:cs typeface="Helvetica Neue"/>
              </a:rPr>
              <a:t>What you'd ask management, and where InTREx takes you</a:t>
            </a:r>
          </a:p>
        </p:txBody>
      </p:sp>
      <p:sp>
        <p:nvSpPr>
          <p:cNvPr id="9" name="Ex5 num 4"/>
          <p:cNvSpPr/>
          <p:nvPr/>
        </p:nvSpPr>
        <p:spPr>
          <a:xfrm>
            <a:off x="1257300" y="7589519"/>
            <a:ext cx="685800" cy="6858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600" b="1" i="0">
                <a:solidFill>
                  <a:srgbClr val="FFFFFF"/>
                </a:solidFill>
                <a:latin typeface="Helvetica Neue"/>
                <a:ea typeface="Helvetica Neue"/>
                <a:cs typeface="Helvetica Neue"/>
              </a:rPr>
              <a:t>4</a:t>
            </a:r>
          </a:p>
        </p:txBody>
      </p:sp>
      <p:sp>
        <p:nvSpPr>
          <p:cNvPr id="10" name="Ex5 step 4"/>
          <p:cNvSpPr txBox="1"/>
          <p:nvPr/>
        </p:nvSpPr>
        <p:spPr>
          <a:xfrm>
            <a:off x="2194560" y="7498079"/>
            <a:ext cx="8503920" cy="1463040"/>
          </a:xfrm>
          <a:prstGeom prst="rect">
            <a:avLst/>
          </a:prstGeom>
          <a:noFill/>
        </p:spPr>
        <p:txBody>
          <a:bodyPr wrap="square" lIns="0" tIns="0" rIns="0" bIns="0" anchor="t">
            <a:spAutoFit/>
          </a:bodyPr>
          <a:lstStyle/>
          <a:p>
            <a:pPr algn="l">
              <a:spcAft>
                <a:spcPts val="300"/>
              </a:spcAft>
            </a:pPr>
            <a:r>
              <a:rPr sz="2500" b="1" i="0">
                <a:solidFill>
                  <a:srgbClr val="000000"/>
                </a:solidFill>
                <a:latin typeface="Helvetica Neue"/>
                <a:ea typeface="Helvetica Neue"/>
                <a:cs typeface="Helvetica Neue"/>
              </a:rPr>
              <a:t>Report out</a:t>
            </a:r>
          </a:p>
          <a:p>
            <a:pPr algn="l">
              <a:spcAft>
                <a:spcPts val="300"/>
              </a:spcAft>
            </a:pPr>
            <a:r>
              <a:rPr sz="1900" b="0" i="0">
                <a:solidFill>
                  <a:srgbClr val="404040"/>
                </a:solidFill>
                <a:latin typeface="Helvetica Neue"/>
                <a:ea typeface="Helvetica Neue"/>
                <a:cs typeface="Helvetica Neue"/>
              </a:rPr>
              <a:t>Three minutes per table</a:t>
            </a:r>
          </a:p>
        </p:txBody>
      </p:sp>
      <p:sp>
        <p:nvSpPr>
          <p:cNvPr id="11" name="Ex5 time panel"/>
          <p:cNvSpPr/>
          <p:nvPr/>
        </p:nvSpPr>
        <p:spPr>
          <a:xfrm>
            <a:off x="11292840" y="2697480"/>
            <a:ext cx="5737860" cy="18288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2" name="Ex5 time"/>
          <p:cNvSpPr txBox="1"/>
          <p:nvPr/>
        </p:nvSpPr>
        <p:spPr>
          <a:xfrm>
            <a:off x="11612880" y="2834640"/>
            <a:ext cx="5097780" cy="1645920"/>
          </a:xfrm>
          <a:prstGeom prst="rect">
            <a:avLst/>
          </a:prstGeom>
          <a:noFill/>
        </p:spPr>
        <p:txBody>
          <a:bodyPr wrap="square" lIns="0" tIns="0" rIns="0" bIns="0" anchor="t">
            <a:spAutoFit/>
          </a:bodyPr>
          <a:lstStyle/>
          <a:p>
            <a:pPr algn="l">
              <a:spcAft>
                <a:spcPts val="400"/>
              </a:spcAft>
            </a:pPr>
            <a:r>
              <a:rPr sz="2600" b="1" i="0">
                <a:solidFill>
                  <a:srgbClr val="000000"/>
                </a:solidFill>
                <a:latin typeface="Helvetica Neue"/>
                <a:ea typeface="Helvetica Neue"/>
                <a:cs typeface="Helvetica Neue"/>
              </a:rPr>
              <a:t>About 35 minutes</a:t>
            </a:r>
          </a:p>
          <a:p>
            <a:pPr algn="l">
              <a:spcAft>
                <a:spcPts val="400"/>
              </a:spcAft>
            </a:pPr>
            <a:r>
              <a:rPr sz="1800" b="0" i="0">
                <a:solidFill>
                  <a:srgbClr val="404040"/>
                </a:solidFill>
                <a:latin typeface="Helvetica Neue"/>
                <a:ea typeface="Helvetica Neue"/>
                <a:cs typeface="Helvetica Neue"/>
              </a:rPr>
              <a:t>20 at tables, 15 report-out</a:t>
            </a:r>
          </a:p>
        </p:txBody>
      </p:sp>
      <p:sp>
        <p:nvSpPr>
          <p:cNvPr id="13" name="Ex5 need panel"/>
          <p:cNvSpPr/>
          <p:nvPr/>
        </p:nvSpPr>
        <p:spPr>
          <a:xfrm>
            <a:off x="11292840" y="4754880"/>
            <a:ext cx="5737860" cy="1828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4" name="Ex5 need"/>
          <p:cNvSpPr txBox="1"/>
          <p:nvPr/>
        </p:nvSpPr>
        <p:spPr>
          <a:xfrm>
            <a:off x="11612880" y="4892040"/>
            <a:ext cx="5097780" cy="1645920"/>
          </a:xfrm>
          <a:prstGeom prst="rect">
            <a:avLst/>
          </a:prstGeom>
          <a:noFill/>
        </p:spPr>
        <p:txBody>
          <a:bodyPr wrap="square" lIns="0" tIns="0" rIns="0" bIns="0" anchor="t">
            <a:spAutoFit/>
          </a:bodyPr>
          <a:lstStyle/>
          <a:p>
            <a:pPr algn="l">
              <a:spcAft>
                <a:spcPts val="400"/>
              </a:spcAft>
            </a:pPr>
            <a:r>
              <a:rPr sz="2200" b="1" i="0">
                <a:solidFill>
                  <a:srgbClr val="000000"/>
                </a:solidFill>
                <a:latin typeface="Helvetica Neue"/>
                <a:ea typeface="Helvetica Neue"/>
                <a:cs typeface="Helvetica Neue"/>
              </a:rPr>
              <a:t>Each table needs</a:t>
            </a:r>
          </a:p>
          <a:p>
            <a:pPr algn="l">
              <a:spcAft>
                <a:spcPts val="400"/>
              </a:spcAft>
            </a:pPr>
            <a:r>
              <a:rPr sz="1800" b="0" i="0">
                <a:solidFill>
                  <a:srgbClr val="000000"/>
                </a:solidFill>
                <a:latin typeface="Helvetica Neue"/>
                <a:ea typeface="Helvetica Neue"/>
                <a:cs typeface="Helvetica Neue"/>
              </a:rPr>
              <a:t>Its diagram, with all the week's annotations</a:t>
            </a:r>
          </a:p>
        </p:txBody>
      </p:sp>
      <p:sp>
        <p:nvSpPr>
          <p:cNvPr id="15" name="Ex5 out panel"/>
          <p:cNvSpPr/>
          <p:nvPr/>
        </p:nvSpPr>
        <p:spPr>
          <a:xfrm>
            <a:off x="11292840" y="6812280"/>
            <a:ext cx="5737860" cy="2560320"/>
          </a:xfrm>
          <a:prstGeom prst="rect">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6" name="Ex5 out"/>
          <p:cNvSpPr txBox="1"/>
          <p:nvPr/>
        </p:nvSpPr>
        <p:spPr>
          <a:xfrm>
            <a:off x="11612880" y="6949440"/>
            <a:ext cx="5097780" cy="2377440"/>
          </a:xfrm>
          <a:prstGeom prst="rect">
            <a:avLst/>
          </a:prstGeom>
          <a:noFill/>
        </p:spPr>
        <p:txBody>
          <a:bodyPr wrap="square" lIns="0" tIns="0" rIns="0" bIns="0" anchor="t">
            <a:spAutoFit/>
          </a:bodyPr>
          <a:lstStyle/>
          <a:p>
            <a:pPr algn="l">
              <a:spcAft>
                <a:spcPts val="400"/>
              </a:spcAft>
            </a:pPr>
            <a:r>
              <a:rPr sz="2200" b="1" i="0">
                <a:solidFill>
                  <a:srgbClr val="000000"/>
                </a:solidFill>
                <a:latin typeface="Helvetica Neue"/>
                <a:ea typeface="Helvetica Neue"/>
                <a:cs typeface="Helvetica Neue"/>
              </a:rPr>
              <a:t>Report out</a:t>
            </a:r>
          </a:p>
          <a:p>
            <a:pPr algn="l">
              <a:spcAft>
                <a:spcPts val="400"/>
              </a:spcAft>
            </a:pPr>
            <a:r>
              <a:rPr sz="1800" b="0" i="0">
                <a:solidFill>
                  <a:srgbClr val="000000"/>
                </a:solidFill>
                <a:latin typeface="Helvetica Neue"/>
                <a:ea typeface="Helvetica Neue"/>
                <a:cs typeface="Helvetica Neue"/>
              </a:rPr>
              <a:t>Your three risks</a:t>
            </a:r>
          </a:p>
          <a:p>
            <a:pPr algn="l">
              <a:spcAft>
                <a:spcPts val="400"/>
              </a:spcAft>
            </a:pPr>
            <a:r>
              <a:rPr sz="1800" b="0" i="0">
                <a:solidFill>
                  <a:srgbClr val="000000"/>
                </a:solidFill>
                <a:latin typeface="Helvetica Neue"/>
                <a:ea typeface="Helvetica Neue"/>
                <a:cs typeface="Helvetica Neue"/>
              </a:rPr>
              <a:t>The question you'd ask for each</a:t>
            </a:r>
          </a:p>
          <a:p>
            <a:pPr algn="l">
              <a:spcAft>
                <a:spcPts val="400"/>
              </a:spcAft>
            </a:pPr>
            <a:r>
              <a:rPr sz="1800" b="0" i="0">
                <a:solidFill>
                  <a:srgbClr val="000000"/>
                </a:solidFill>
                <a:latin typeface="Helvetica Neue"/>
                <a:ea typeface="Helvetica Neue"/>
                <a:cs typeface="Helvetica Neue"/>
              </a:rPr>
              <a:t>Where InTREx would take you</a:t>
            </a: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Network Diagram Review, Revisited</a:t>
            </a:r>
          </a:p>
        </p:txBody>
      </p:sp>
      <p:sp>
        <p:nvSpPr>
          <p:cNvPr id="3" name="Diagram frame"/>
          <p:cNvSpPr/>
          <p:nvPr/>
        </p:nvSpPr>
        <p:spPr>
          <a:xfrm>
            <a:off x="1257300" y="2697480"/>
            <a:ext cx="11521440" cy="6675120"/>
          </a:xfrm>
          <a:prstGeom prst="roundRect">
            <a:avLst/>
          </a:prstGeom>
          <a:solidFill>
            <a:srgbClr val="FFFFFF"/>
          </a:solidFill>
          <a:ln w="31750">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4" name="Diagram hint"/>
          <p:cNvSpPr txBox="1"/>
          <p:nvPr/>
        </p:nvSpPr>
        <p:spPr>
          <a:xfrm>
            <a:off x="1257300" y="5577840"/>
            <a:ext cx="11521440" cy="914400"/>
          </a:xfrm>
          <a:prstGeom prst="rect">
            <a:avLst/>
          </a:prstGeom>
          <a:noFill/>
        </p:spPr>
        <p:txBody>
          <a:bodyPr wrap="square" lIns="0" tIns="0" rIns="0" bIns="0" anchor="ctr">
            <a:spAutoFit/>
          </a:bodyPr>
          <a:lstStyle/>
          <a:p>
            <a:pPr algn="ctr">
              <a:spcAft>
                <a:spcPts val="600"/>
              </a:spcAft>
            </a:pPr>
            <a:r>
              <a:rPr sz="2200" b="0" i="1">
                <a:solidFill>
                  <a:srgbClr val="7F7F7F"/>
                </a:solidFill>
                <a:latin typeface="Helvetica Neue"/>
                <a:ea typeface="Helvetica Neue"/>
                <a:cs typeface="Helvetica Neue"/>
              </a:rPr>
              <a:t>Photo of a table's annotated diagram goes here</a:t>
            </a:r>
          </a:p>
        </p:txBody>
      </p:sp>
      <p:sp>
        <p:nvSpPr>
          <p:cNvPr id="5" name="Legend head"/>
          <p:cNvSpPr txBox="1"/>
          <p:nvPr/>
        </p:nvSpPr>
        <p:spPr>
          <a:xfrm>
            <a:off x="13167360" y="2697480"/>
            <a:ext cx="3840480" cy="457200"/>
          </a:xfrm>
          <a:prstGeom prst="rect">
            <a:avLst/>
          </a:prstGeom>
          <a:noFill/>
        </p:spPr>
        <p:txBody>
          <a:bodyPr wrap="square" lIns="0" tIns="0" rIns="0" bIns="0" anchor="t">
            <a:spAutoFit/>
          </a:bodyPr>
          <a:lstStyle/>
          <a:p>
            <a:pPr algn="l">
              <a:spcAft>
                <a:spcPts val="600"/>
              </a:spcAft>
            </a:pPr>
            <a:r>
              <a:rPr sz="2100" b="1" i="0">
                <a:solidFill>
                  <a:srgbClr val="000000"/>
                </a:solidFill>
                <a:latin typeface="Helvetica Neue"/>
                <a:ea typeface="Helvetica Neue"/>
                <a:cs typeface="Helvetica Neue"/>
              </a:rPr>
              <a:t>The week's layers</a:t>
            </a:r>
          </a:p>
        </p:txBody>
      </p:sp>
      <p:sp>
        <p:nvSpPr>
          <p:cNvPr id="6" name="Legend 1 swatch"/>
          <p:cNvSpPr/>
          <p:nvPr/>
        </p:nvSpPr>
        <p:spPr>
          <a:xfrm>
            <a:off x="13167360" y="3429000"/>
            <a:ext cx="457200" cy="822960"/>
          </a:xfrm>
          <a:prstGeom prst="rect">
            <a:avLst/>
          </a:prstGeom>
          <a:solidFill>
            <a:srgbClr val="2F75B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7" name="Legend 1"/>
          <p:cNvSpPr txBox="1"/>
          <p:nvPr/>
        </p:nvSpPr>
        <p:spPr>
          <a:xfrm>
            <a:off x="13807440" y="3337560"/>
            <a:ext cx="3200400" cy="1005840"/>
          </a:xfrm>
          <a:prstGeom prst="rect">
            <a:avLst/>
          </a:prstGeom>
          <a:noFill/>
        </p:spPr>
        <p:txBody>
          <a:bodyPr wrap="square" lIns="0" tIns="0" rIns="0" bIns="0" anchor="t">
            <a:spAutoFit/>
          </a:bodyPr>
          <a:lstStyle/>
          <a:p>
            <a:pPr algn="l">
              <a:spcAft>
                <a:spcPts val="100"/>
              </a:spcAft>
            </a:pPr>
            <a:r>
              <a:rPr sz="1900" b="1" i="0">
                <a:solidFill>
                  <a:srgbClr val="000000"/>
                </a:solidFill>
                <a:latin typeface="Helvetica Neue"/>
                <a:ea typeface="Helvetica Neue"/>
                <a:cs typeface="Helvetica Neue"/>
              </a:rPr>
              <a:t>Monday</a:t>
            </a:r>
          </a:p>
          <a:p>
            <a:pPr algn="l">
              <a:spcAft>
                <a:spcPts val="100"/>
              </a:spcAft>
            </a:pPr>
            <a:r>
              <a:rPr sz="1600" b="0" i="0">
                <a:solidFill>
                  <a:srgbClr val="404040"/>
                </a:solidFill>
                <a:latin typeface="Helvetica Neue"/>
                <a:ea typeface="Helvetica Neue"/>
                <a:cs typeface="Helvetica Neue"/>
              </a:rPr>
              <a:t>LAN and Wi-Fi</a:t>
            </a:r>
          </a:p>
        </p:txBody>
      </p:sp>
      <p:sp>
        <p:nvSpPr>
          <p:cNvPr id="8" name="Legend 2 swatch"/>
          <p:cNvSpPr/>
          <p:nvPr/>
        </p:nvSpPr>
        <p:spPr>
          <a:xfrm>
            <a:off x="13167360" y="4617720"/>
            <a:ext cx="457200" cy="8229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9" name="Legend 2"/>
          <p:cNvSpPr txBox="1"/>
          <p:nvPr/>
        </p:nvSpPr>
        <p:spPr>
          <a:xfrm>
            <a:off x="13807440" y="4526280"/>
            <a:ext cx="3200400" cy="1005840"/>
          </a:xfrm>
          <a:prstGeom prst="rect">
            <a:avLst/>
          </a:prstGeom>
          <a:noFill/>
        </p:spPr>
        <p:txBody>
          <a:bodyPr wrap="square" lIns="0" tIns="0" rIns="0" bIns="0" anchor="t">
            <a:spAutoFit/>
          </a:bodyPr>
          <a:lstStyle/>
          <a:p>
            <a:pPr algn="l">
              <a:spcAft>
                <a:spcPts val="100"/>
              </a:spcAft>
            </a:pPr>
            <a:r>
              <a:rPr sz="1900" b="1" i="0">
                <a:solidFill>
                  <a:srgbClr val="000000"/>
                </a:solidFill>
                <a:latin typeface="Helvetica Neue"/>
                <a:ea typeface="Helvetica Neue"/>
                <a:cs typeface="Helvetica Neue"/>
              </a:rPr>
              <a:t>Tuesday</a:t>
            </a:r>
          </a:p>
          <a:p>
            <a:pPr algn="l">
              <a:spcAft>
                <a:spcPts val="100"/>
              </a:spcAft>
            </a:pPr>
            <a:r>
              <a:rPr sz="1600" b="0" i="0">
                <a:solidFill>
                  <a:srgbClr val="404040"/>
                </a:solidFill>
                <a:latin typeface="Helvetica Neue"/>
                <a:ea typeface="Helvetica Neue"/>
                <a:cs typeface="Helvetica Neue"/>
              </a:rPr>
              <a:t>WAN and internet</a:t>
            </a:r>
          </a:p>
        </p:txBody>
      </p:sp>
      <p:sp>
        <p:nvSpPr>
          <p:cNvPr id="10" name="Legend 3 swatch"/>
          <p:cNvSpPr/>
          <p:nvPr/>
        </p:nvSpPr>
        <p:spPr>
          <a:xfrm>
            <a:off x="13167360" y="5806440"/>
            <a:ext cx="457200" cy="82296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1" name="Legend 3"/>
          <p:cNvSpPr txBox="1"/>
          <p:nvPr/>
        </p:nvSpPr>
        <p:spPr>
          <a:xfrm>
            <a:off x="13807440" y="5715000"/>
            <a:ext cx="3200400" cy="1005840"/>
          </a:xfrm>
          <a:prstGeom prst="rect">
            <a:avLst/>
          </a:prstGeom>
          <a:noFill/>
        </p:spPr>
        <p:txBody>
          <a:bodyPr wrap="square" lIns="0" tIns="0" rIns="0" bIns="0" anchor="t">
            <a:spAutoFit/>
          </a:bodyPr>
          <a:lstStyle/>
          <a:p>
            <a:pPr algn="l">
              <a:spcAft>
                <a:spcPts val="100"/>
              </a:spcAft>
            </a:pPr>
            <a:r>
              <a:rPr sz="1900" b="1" i="0">
                <a:solidFill>
                  <a:srgbClr val="000000"/>
                </a:solidFill>
                <a:latin typeface="Helvetica Neue"/>
                <a:ea typeface="Helvetica Neue"/>
                <a:cs typeface="Helvetica Neue"/>
              </a:rPr>
              <a:t>Wednesday</a:t>
            </a:r>
          </a:p>
          <a:p>
            <a:pPr algn="l">
              <a:spcAft>
                <a:spcPts val="100"/>
              </a:spcAft>
            </a:pPr>
            <a:r>
              <a:rPr sz="1600" b="0" i="0">
                <a:solidFill>
                  <a:srgbClr val="404040"/>
                </a:solidFill>
                <a:latin typeface="Helvetica Neue"/>
                <a:ea typeface="Helvetica Neue"/>
                <a:cs typeface="Helvetica Neue"/>
              </a:rPr>
              <a:t>Cloud and vendors</a:t>
            </a:r>
          </a:p>
        </p:txBody>
      </p:sp>
      <p:sp>
        <p:nvSpPr>
          <p:cNvPr id="12" name="Legend 4 swatch"/>
          <p:cNvSpPr/>
          <p:nvPr/>
        </p:nvSpPr>
        <p:spPr>
          <a:xfrm>
            <a:off x="13167360" y="6995160"/>
            <a:ext cx="457200" cy="82296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3" name="Legend 4"/>
          <p:cNvSpPr txBox="1"/>
          <p:nvPr/>
        </p:nvSpPr>
        <p:spPr>
          <a:xfrm>
            <a:off x="13807440" y="6903720"/>
            <a:ext cx="3200400" cy="1005840"/>
          </a:xfrm>
          <a:prstGeom prst="rect">
            <a:avLst/>
          </a:prstGeom>
          <a:noFill/>
        </p:spPr>
        <p:txBody>
          <a:bodyPr wrap="square" lIns="0" tIns="0" rIns="0" bIns="0" anchor="t">
            <a:spAutoFit/>
          </a:bodyPr>
          <a:lstStyle/>
          <a:p>
            <a:pPr algn="l">
              <a:spcAft>
                <a:spcPts val="100"/>
              </a:spcAft>
            </a:pPr>
            <a:r>
              <a:rPr sz="1900" b="1" i="0">
                <a:solidFill>
                  <a:srgbClr val="000000"/>
                </a:solidFill>
                <a:latin typeface="Helvetica Neue"/>
                <a:ea typeface="Helvetica Neue"/>
                <a:cs typeface="Helvetica Neue"/>
              </a:rPr>
              <a:t>Thursday</a:t>
            </a:r>
          </a:p>
          <a:p>
            <a:pPr algn="l">
              <a:spcAft>
                <a:spcPts val="100"/>
              </a:spcAft>
            </a:pPr>
            <a:r>
              <a:rPr sz="1600" b="0" i="0">
                <a:solidFill>
                  <a:srgbClr val="404040"/>
                </a:solidFill>
                <a:latin typeface="Helvetica Neue"/>
                <a:ea typeface="Helvetica Neue"/>
                <a:cs typeface="Helvetica Neue"/>
              </a:rPr>
              <a:t>Applications and DNS</a:t>
            </a:r>
          </a:p>
        </p:txBody>
      </p:sp>
      <p:sp>
        <p:nvSpPr>
          <p:cNvPr id="14" name="Legend 5 swatch"/>
          <p:cNvSpPr/>
          <p:nvPr/>
        </p:nvSpPr>
        <p:spPr>
          <a:xfrm>
            <a:off x="13167360" y="8183879"/>
            <a:ext cx="457200" cy="8229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15" name="Legend 5"/>
          <p:cNvSpPr txBox="1"/>
          <p:nvPr/>
        </p:nvSpPr>
        <p:spPr>
          <a:xfrm>
            <a:off x="13807440" y="8092440"/>
            <a:ext cx="3200400" cy="1005840"/>
          </a:xfrm>
          <a:prstGeom prst="rect">
            <a:avLst/>
          </a:prstGeom>
          <a:noFill/>
        </p:spPr>
        <p:txBody>
          <a:bodyPr wrap="square" lIns="0" tIns="0" rIns="0" bIns="0" anchor="t">
            <a:spAutoFit/>
          </a:bodyPr>
          <a:lstStyle/>
          <a:p>
            <a:pPr algn="l">
              <a:spcAft>
                <a:spcPts val="100"/>
              </a:spcAft>
            </a:pPr>
            <a:r>
              <a:rPr sz="1900" b="1" i="0">
                <a:solidFill>
                  <a:srgbClr val="000000"/>
                </a:solidFill>
                <a:latin typeface="Helvetica Neue"/>
                <a:ea typeface="Helvetica Neue"/>
                <a:cs typeface="Helvetica Neue"/>
              </a:rPr>
              <a:t>Friday</a:t>
            </a:r>
          </a:p>
          <a:p>
            <a:pPr algn="l">
              <a:spcAft>
                <a:spcPts val="100"/>
              </a:spcAft>
            </a:pPr>
            <a:r>
              <a:rPr sz="1600" b="0" i="0">
                <a:solidFill>
                  <a:srgbClr val="404040"/>
                </a:solidFill>
                <a:latin typeface="Helvetica Neue"/>
                <a:ea typeface="Helvetica Neue"/>
                <a:cs typeface="Helvetica Neue"/>
              </a:rPr>
              <a:t>Three biggest risks</a:t>
            </a: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i="0" dirty="0">
                <a:solidFill>
                  <a:srgbClr val="000000"/>
                </a:solidFill>
                <a:latin typeface="Helvetica Neue Condensed Bold"/>
                <a:ea typeface="Helvetica Neue Condensed Bold"/>
                <a:cs typeface="Helvetica Neue Condensed Bold"/>
              </a:rPr>
              <a:t>Branch to Cloud in Five Days: Course Review</a:t>
            </a:r>
          </a:p>
        </p:txBody>
      </p:sp>
      <p:cxnSp>
        <p:nvCxnSpPr>
          <p:cNvPr id="3" name="Review line"/>
          <p:cNvCxnSpPr/>
          <p:nvPr/>
        </p:nvCxnSpPr>
        <p:spPr>
          <a:xfrm>
            <a:off x="2706624" y="3246120"/>
            <a:ext cx="12874752" cy="0"/>
          </a:xfrm>
          <a:prstGeom prst="line">
            <a:avLst/>
          </a:prstGeom>
          <a:ln w="50800">
            <a:solidFill>
              <a:srgbClr val="ED7D31"/>
            </a:solidFill>
          </a:ln>
        </p:spPr>
        <p:style>
          <a:lnRef idx="2">
            <a:schemeClr val="accent1"/>
          </a:lnRef>
          <a:fillRef idx="0">
            <a:schemeClr val="accent1"/>
          </a:fillRef>
          <a:effectRef idx="1">
            <a:schemeClr val="accent1"/>
          </a:effectRef>
          <a:fontRef idx="minor">
            <a:schemeClr val="tx1"/>
          </a:fontRef>
        </p:style>
      </p:cxnSp>
      <p:sp>
        <p:nvSpPr>
          <p:cNvPr id="4" name="Day 1 disc"/>
          <p:cNvSpPr/>
          <p:nvPr/>
        </p:nvSpPr>
        <p:spPr>
          <a:xfrm>
            <a:off x="2157984" y="2697480"/>
            <a:ext cx="1097280" cy="1097280"/>
          </a:xfrm>
          <a:prstGeom prst="ellipse">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5" name="Day 1 icon" descr="imag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63724" y="2903220"/>
            <a:ext cx="685800" cy="685800"/>
          </a:xfrm>
          <a:prstGeom prst="rect">
            <a:avLst/>
          </a:prstGeom>
        </p:spPr>
      </p:pic>
      <p:sp>
        <p:nvSpPr>
          <p:cNvPr id="6" name="Day 1 text"/>
          <p:cNvSpPr txBox="1"/>
          <p:nvPr/>
        </p:nvSpPr>
        <p:spPr>
          <a:xfrm>
            <a:off x="1257300" y="3931920"/>
            <a:ext cx="2898648" cy="1828800"/>
          </a:xfrm>
          <a:prstGeom prst="rect">
            <a:avLst/>
          </a:prstGeom>
          <a:noFill/>
        </p:spPr>
        <p:txBody>
          <a:bodyPr wrap="square" lIns="0" tIns="0" rIns="0" bIns="0" anchor="t">
            <a:spAutoFit/>
          </a:bodyPr>
          <a:lstStyle/>
          <a:p>
            <a:pPr algn="ctr">
              <a:spcAft>
                <a:spcPts val="300"/>
              </a:spcAft>
            </a:pPr>
            <a:r>
              <a:rPr sz="2100" b="1" i="0">
                <a:solidFill>
                  <a:srgbClr val="ED7D31"/>
                </a:solidFill>
                <a:latin typeface="Helvetica Neue"/>
                <a:ea typeface="Helvetica Neue"/>
                <a:cs typeface="Helvetica Neue"/>
              </a:rPr>
              <a:t>Monday</a:t>
            </a:r>
          </a:p>
          <a:p>
            <a:pPr algn="ctr">
              <a:spcAft>
                <a:spcPts val="300"/>
              </a:spcAft>
            </a:pPr>
            <a:r>
              <a:rPr sz="1800" b="1" i="0">
                <a:solidFill>
                  <a:srgbClr val="000000"/>
                </a:solidFill>
                <a:latin typeface="Helvetica Neue"/>
                <a:ea typeface="Helvetica Neue"/>
                <a:cs typeface="Helvetica Neue"/>
              </a:rPr>
              <a:t>The branch</a:t>
            </a:r>
          </a:p>
          <a:p>
            <a:pPr algn="ctr">
              <a:spcAft>
                <a:spcPts val="300"/>
              </a:spcAft>
            </a:pPr>
            <a:r>
              <a:rPr sz="1500" b="0" i="0">
                <a:solidFill>
                  <a:srgbClr val="404040"/>
                </a:solidFill>
                <a:latin typeface="Helvetica Neue"/>
                <a:ea typeface="Helvetica Neue"/>
                <a:cs typeface="Helvetica Neue"/>
              </a:rPr>
              <a:t>LANs, Wi-Fi, segmentation</a:t>
            </a:r>
          </a:p>
        </p:txBody>
      </p:sp>
      <p:sp>
        <p:nvSpPr>
          <p:cNvPr id="7" name="Day 2 disc"/>
          <p:cNvSpPr/>
          <p:nvPr/>
        </p:nvSpPr>
        <p:spPr>
          <a:xfrm>
            <a:off x="5376672" y="2697480"/>
            <a:ext cx="1097280" cy="1097280"/>
          </a:xfrm>
          <a:prstGeom prst="ellipse">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8" name="Day 2 icon" descr="imag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2412" y="2903220"/>
            <a:ext cx="685800" cy="685800"/>
          </a:xfrm>
          <a:prstGeom prst="rect">
            <a:avLst/>
          </a:prstGeom>
        </p:spPr>
      </p:pic>
      <p:sp>
        <p:nvSpPr>
          <p:cNvPr id="9" name="Day 2 text"/>
          <p:cNvSpPr txBox="1"/>
          <p:nvPr/>
        </p:nvSpPr>
        <p:spPr>
          <a:xfrm>
            <a:off x="4475988" y="3931920"/>
            <a:ext cx="2898648" cy="1828800"/>
          </a:xfrm>
          <a:prstGeom prst="rect">
            <a:avLst/>
          </a:prstGeom>
          <a:noFill/>
        </p:spPr>
        <p:txBody>
          <a:bodyPr wrap="square" lIns="0" tIns="0" rIns="0" bIns="0" anchor="t">
            <a:spAutoFit/>
          </a:bodyPr>
          <a:lstStyle/>
          <a:p>
            <a:pPr algn="ctr">
              <a:spcAft>
                <a:spcPts val="300"/>
              </a:spcAft>
            </a:pPr>
            <a:r>
              <a:rPr sz="2100" b="1" i="0">
                <a:solidFill>
                  <a:srgbClr val="ED7D31"/>
                </a:solidFill>
                <a:latin typeface="Helvetica Neue"/>
                <a:ea typeface="Helvetica Neue"/>
                <a:cs typeface="Helvetica Neue"/>
              </a:rPr>
              <a:t>Tuesday</a:t>
            </a:r>
          </a:p>
          <a:p>
            <a:pPr algn="ctr">
              <a:spcAft>
                <a:spcPts val="300"/>
              </a:spcAft>
            </a:pPr>
            <a:r>
              <a:rPr sz="1800" b="1" i="0">
                <a:solidFill>
                  <a:srgbClr val="000000"/>
                </a:solidFill>
                <a:latin typeface="Helvetica Neue"/>
                <a:ea typeface="Helvetica Neue"/>
                <a:cs typeface="Helvetica Neue"/>
              </a:rPr>
              <a:t>Out of the building</a:t>
            </a:r>
          </a:p>
          <a:p>
            <a:pPr algn="ctr">
              <a:spcAft>
                <a:spcPts val="300"/>
              </a:spcAft>
            </a:pPr>
            <a:r>
              <a:rPr sz="1500" b="0" i="0">
                <a:solidFill>
                  <a:srgbClr val="404040"/>
                </a:solidFill>
                <a:latin typeface="Helvetica Neue"/>
                <a:ea typeface="Helvetica Neue"/>
                <a:cs typeface="Helvetica Neue"/>
              </a:rPr>
              <a:t>WANs, internet, backup paths, remote access</a:t>
            </a:r>
          </a:p>
        </p:txBody>
      </p:sp>
      <p:sp>
        <p:nvSpPr>
          <p:cNvPr id="10" name="Day 3 disc"/>
          <p:cNvSpPr/>
          <p:nvPr/>
        </p:nvSpPr>
        <p:spPr>
          <a:xfrm>
            <a:off x="8595360" y="2697480"/>
            <a:ext cx="1097280" cy="1097280"/>
          </a:xfrm>
          <a:prstGeom prst="ellipse">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1" name="Day 3 icon" descr="imag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01100" y="2903220"/>
            <a:ext cx="685800" cy="685800"/>
          </a:xfrm>
          <a:prstGeom prst="rect">
            <a:avLst/>
          </a:prstGeom>
        </p:spPr>
      </p:pic>
      <p:sp>
        <p:nvSpPr>
          <p:cNvPr id="12" name="Day 3 text"/>
          <p:cNvSpPr txBox="1"/>
          <p:nvPr/>
        </p:nvSpPr>
        <p:spPr>
          <a:xfrm>
            <a:off x="7694675" y="3931920"/>
            <a:ext cx="2898648" cy="1828800"/>
          </a:xfrm>
          <a:prstGeom prst="rect">
            <a:avLst/>
          </a:prstGeom>
          <a:noFill/>
        </p:spPr>
        <p:txBody>
          <a:bodyPr wrap="square" lIns="0" tIns="0" rIns="0" bIns="0" anchor="t">
            <a:spAutoFit/>
          </a:bodyPr>
          <a:lstStyle/>
          <a:p>
            <a:pPr algn="ctr">
              <a:spcAft>
                <a:spcPts val="300"/>
              </a:spcAft>
            </a:pPr>
            <a:r>
              <a:rPr sz="2100" b="1" i="0">
                <a:solidFill>
                  <a:srgbClr val="ED7D31"/>
                </a:solidFill>
                <a:latin typeface="Helvetica Neue"/>
                <a:ea typeface="Helvetica Neue"/>
                <a:cs typeface="Helvetica Neue"/>
              </a:rPr>
              <a:t>Wednesday</a:t>
            </a:r>
          </a:p>
          <a:p>
            <a:pPr algn="ctr">
              <a:spcAft>
                <a:spcPts val="300"/>
              </a:spcAft>
            </a:pPr>
            <a:r>
              <a:rPr sz="1800" b="1" i="0">
                <a:solidFill>
                  <a:srgbClr val="000000"/>
                </a:solidFill>
                <a:latin typeface="Helvetica Neue"/>
                <a:ea typeface="Helvetica Neue"/>
                <a:cs typeface="Helvetica Neue"/>
              </a:rPr>
              <a:t>Data center, cloud, vendors</a:t>
            </a:r>
          </a:p>
          <a:p>
            <a:pPr algn="ctr">
              <a:spcAft>
                <a:spcPts val="300"/>
              </a:spcAft>
            </a:pPr>
            <a:r>
              <a:rPr sz="1500" b="0" i="0">
                <a:solidFill>
                  <a:srgbClr val="404040"/>
                </a:solidFill>
                <a:latin typeface="Helvetica Neue"/>
                <a:ea typeface="Helvetica Neue"/>
                <a:cs typeface="Helvetica Neue"/>
              </a:rPr>
              <a:t>Crypto, virtualization, cloud, vendor risk</a:t>
            </a:r>
          </a:p>
        </p:txBody>
      </p:sp>
      <p:sp>
        <p:nvSpPr>
          <p:cNvPr id="13" name="Day 4 disc"/>
          <p:cNvSpPr/>
          <p:nvPr/>
        </p:nvSpPr>
        <p:spPr>
          <a:xfrm>
            <a:off x="11814048" y="2697480"/>
            <a:ext cx="1097280" cy="1097280"/>
          </a:xfrm>
          <a:prstGeom prst="ellipse">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4" name="Day 4 icon" descr="image.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019788" y="2903220"/>
            <a:ext cx="685800" cy="685800"/>
          </a:xfrm>
          <a:prstGeom prst="rect">
            <a:avLst/>
          </a:prstGeom>
        </p:spPr>
      </p:pic>
      <p:sp>
        <p:nvSpPr>
          <p:cNvPr id="15" name="Day 4 text"/>
          <p:cNvSpPr txBox="1"/>
          <p:nvPr/>
        </p:nvSpPr>
        <p:spPr>
          <a:xfrm>
            <a:off x="10913364" y="3931920"/>
            <a:ext cx="2898648" cy="1828800"/>
          </a:xfrm>
          <a:prstGeom prst="rect">
            <a:avLst/>
          </a:prstGeom>
          <a:noFill/>
        </p:spPr>
        <p:txBody>
          <a:bodyPr wrap="square" lIns="0" tIns="0" rIns="0" bIns="0" anchor="t">
            <a:spAutoFit/>
          </a:bodyPr>
          <a:lstStyle/>
          <a:p>
            <a:pPr algn="ctr">
              <a:spcAft>
                <a:spcPts val="300"/>
              </a:spcAft>
            </a:pPr>
            <a:r>
              <a:rPr sz="2100" b="1" i="0">
                <a:solidFill>
                  <a:srgbClr val="ED7D31"/>
                </a:solidFill>
                <a:latin typeface="Helvetica Neue"/>
                <a:ea typeface="Helvetica Neue"/>
                <a:cs typeface="Helvetica Neue"/>
              </a:rPr>
              <a:t>Thursday</a:t>
            </a:r>
          </a:p>
          <a:p>
            <a:pPr algn="ctr">
              <a:spcAft>
                <a:spcPts val="300"/>
              </a:spcAft>
            </a:pPr>
            <a:r>
              <a:rPr sz="1800" b="1" i="0">
                <a:solidFill>
                  <a:srgbClr val="000000"/>
                </a:solidFill>
                <a:latin typeface="Helvetica Neue"/>
                <a:ea typeface="Helvetica Neue"/>
                <a:cs typeface="Helvetica Neue"/>
              </a:rPr>
              <a:t>The applications</a:t>
            </a:r>
          </a:p>
          <a:p>
            <a:pPr algn="ctr">
              <a:spcAft>
                <a:spcPts val="300"/>
              </a:spcAft>
            </a:pPr>
            <a:r>
              <a:rPr sz="1500" b="0" i="0">
                <a:solidFill>
                  <a:srgbClr val="404040"/>
                </a:solidFill>
                <a:latin typeface="Helvetica Neue"/>
                <a:ea typeface="Helvetica Neue"/>
                <a:cs typeface="Helvetica Neue"/>
              </a:rPr>
              <a:t>Core, SaaS, DNS, voice, IoT, risk</a:t>
            </a:r>
          </a:p>
        </p:txBody>
      </p:sp>
      <p:sp>
        <p:nvSpPr>
          <p:cNvPr id="16" name="Day 5 disc"/>
          <p:cNvSpPr/>
          <p:nvPr/>
        </p:nvSpPr>
        <p:spPr>
          <a:xfrm>
            <a:off x="15032735" y="2697480"/>
            <a:ext cx="1097280" cy="1097280"/>
          </a:xfrm>
          <a:prstGeom prst="ellipse">
            <a:avLst/>
          </a:prstGeom>
          <a:solidFill>
            <a:srgbClr val="FFFFFF"/>
          </a:solidFill>
          <a:ln w="317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pic>
        <p:nvPicPr>
          <p:cNvPr id="17" name="Day 5 icon" descr="image.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238476" y="2903220"/>
            <a:ext cx="685800" cy="685800"/>
          </a:xfrm>
          <a:prstGeom prst="rect">
            <a:avLst/>
          </a:prstGeom>
        </p:spPr>
      </p:pic>
      <p:sp>
        <p:nvSpPr>
          <p:cNvPr id="18" name="Day 5 text"/>
          <p:cNvSpPr txBox="1"/>
          <p:nvPr/>
        </p:nvSpPr>
        <p:spPr>
          <a:xfrm>
            <a:off x="14132052" y="3931920"/>
            <a:ext cx="2898648" cy="1828800"/>
          </a:xfrm>
          <a:prstGeom prst="rect">
            <a:avLst/>
          </a:prstGeom>
          <a:noFill/>
        </p:spPr>
        <p:txBody>
          <a:bodyPr wrap="square" lIns="0" tIns="0" rIns="0" bIns="0" anchor="t">
            <a:spAutoFit/>
          </a:bodyPr>
          <a:lstStyle/>
          <a:p>
            <a:pPr algn="ctr">
              <a:spcAft>
                <a:spcPts val="300"/>
              </a:spcAft>
            </a:pPr>
            <a:r>
              <a:rPr sz="2100" b="1" i="0">
                <a:solidFill>
                  <a:srgbClr val="ED7D31"/>
                </a:solidFill>
                <a:latin typeface="Helvetica Neue"/>
                <a:ea typeface="Helvetica Neue"/>
                <a:cs typeface="Helvetica Neue"/>
              </a:rPr>
              <a:t>Friday</a:t>
            </a:r>
          </a:p>
          <a:p>
            <a:pPr algn="ctr">
              <a:spcAft>
                <a:spcPts val="300"/>
              </a:spcAft>
            </a:pPr>
            <a:r>
              <a:rPr sz="1800" b="1" i="0">
                <a:solidFill>
                  <a:srgbClr val="000000"/>
                </a:solidFill>
                <a:latin typeface="Helvetica Neue"/>
                <a:ea typeface="Helvetica Neue"/>
                <a:cs typeface="Helvetica Neue"/>
              </a:rPr>
              <a:t>What's next</a:t>
            </a:r>
          </a:p>
          <a:p>
            <a:pPr algn="ctr">
              <a:spcAft>
                <a:spcPts val="300"/>
              </a:spcAft>
            </a:pPr>
            <a:r>
              <a:rPr sz="1500" b="0" i="0">
                <a:solidFill>
                  <a:srgbClr val="404040"/>
                </a:solidFill>
                <a:latin typeface="Helvetica Neue"/>
                <a:ea typeface="Helvetica Neue"/>
                <a:cs typeface="Helvetica Neue"/>
              </a:rPr>
              <a:t>Looking ahead, capstone</a:t>
            </a:r>
          </a:p>
        </p:txBody>
      </p:sp>
      <p:sp>
        <p:nvSpPr>
          <p:cNvPr id="19" name="Five head"/>
          <p:cNvSpPr txBox="1"/>
          <p:nvPr/>
        </p:nvSpPr>
        <p:spPr>
          <a:xfrm>
            <a:off x="1257300" y="5852160"/>
            <a:ext cx="15773400" cy="457200"/>
          </a:xfrm>
          <a:prstGeom prst="rect">
            <a:avLst/>
          </a:prstGeom>
          <a:noFill/>
        </p:spPr>
        <p:txBody>
          <a:bodyPr wrap="square" lIns="0" tIns="0" rIns="0" bIns="0" anchor="t">
            <a:spAutoFit/>
          </a:bodyPr>
          <a:lstStyle/>
          <a:p>
            <a:pPr algn="l">
              <a:spcAft>
                <a:spcPts val="600"/>
              </a:spcAft>
            </a:pPr>
            <a:r>
              <a:rPr sz="2200" b="1" i="0">
                <a:solidFill>
                  <a:srgbClr val="000000"/>
                </a:solidFill>
                <a:latin typeface="Helvetica Neue"/>
                <a:ea typeface="Helvetica Neue"/>
                <a:cs typeface="Helvetica Neue"/>
              </a:rPr>
              <a:t>Five questions for any network, at any bank</a:t>
            </a:r>
          </a:p>
        </p:txBody>
      </p:sp>
      <p:sp>
        <p:nvSpPr>
          <p:cNvPr id="20" name="Five 1"/>
          <p:cNvSpPr/>
          <p:nvPr/>
        </p:nvSpPr>
        <p:spPr>
          <a:xfrm>
            <a:off x="1257300" y="6400800"/>
            <a:ext cx="2898648" cy="15087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1" name="Five 1 text"/>
          <p:cNvSpPr txBox="1"/>
          <p:nvPr/>
        </p:nvSpPr>
        <p:spPr>
          <a:xfrm>
            <a:off x="1513332" y="6601968"/>
            <a:ext cx="2386584" cy="1143000"/>
          </a:xfrm>
          <a:prstGeom prst="rect">
            <a:avLst/>
          </a:prstGeom>
          <a:noFill/>
        </p:spPr>
        <p:txBody>
          <a:bodyPr wrap="square" lIns="0" tIns="0" rIns="0" bIns="0" anchor="t">
            <a:spAutoFit/>
          </a:bodyPr>
          <a:lstStyle/>
          <a:p>
            <a:pPr algn="l">
              <a:spcAft>
                <a:spcPts val="700"/>
              </a:spcAft>
            </a:pPr>
            <a:r>
              <a:rPr sz="1800" b="1" i="0">
                <a:solidFill>
                  <a:srgbClr val="000000"/>
                </a:solidFill>
                <a:latin typeface="Helvetica Neue"/>
                <a:ea typeface="Helvetica Neue"/>
                <a:cs typeface="Helvetica Neue"/>
              </a:rPr>
              <a:t>Where are the connections?</a:t>
            </a:r>
          </a:p>
        </p:txBody>
      </p:sp>
      <p:sp>
        <p:nvSpPr>
          <p:cNvPr id="22" name="Five 2"/>
          <p:cNvSpPr/>
          <p:nvPr/>
        </p:nvSpPr>
        <p:spPr>
          <a:xfrm>
            <a:off x="4475988" y="6400800"/>
            <a:ext cx="2898648" cy="15087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3" name="Five 2 text"/>
          <p:cNvSpPr txBox="1"/>
          <p:nvPr/>
        </p:nvSpPr>
        <p:spPr>
          <a:xfrm>
            <a:off x="4732020" y="6601968"/>
            <a:ext cx="2386584" cy="1143000"/>
          </a:xfrm>
          <a:prstGeom prst="rect">
            <a:avLst/>
          </a:prstGeom>
          <a:noFill/>
        </p:spPr>
        <p:txBody>
          <a:bodyPr wrap="square" lIns="0" tIns="0" rIns="0" bIns="0" anchor="t">
            <a:spAutoFit/>
          </a:bodyPr>
          <a:lstStyle/>
          <a:p>
            <a:pPr algn="l">
              <a:spcAft>
                <a:spcPts val="700"/>
              </a:spcAft>
            </a:pPr>
            <a:r>
              <a:rPr sz="1800" b="1" i="0">
                <a:solidFill>
                  <a:srgbClr val="000000"/>
                </a:solidFill>
                <a:latin typeface="Helvetica Neue"/>
                <a:ea typeface="Helvetica Neue"/>
                <a:cs typeface="Helvetica Neue"/>
              </a:rPr>
              <a:t>Who manages each one?</a:t>
            </a:r>
          </a:p>
        </p:txBody>
      </p:sp>
      <p:sp>
        <p:nvSpPr>
          <p:cNvPr id="24" name="Five 3"/>
          <p:cNvSpPr/>
          <p:nvPr/>
        </p:nvSpPr>
        <p:spPr>
          <a:xfrm>
            <a:off x="7694675" y="6400800"/>
            <a:ext cx="2898648" cy="15087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5" name="Five 3 text"/>
          <p:cNvSpPr txBox="1"/>
          <p:nvPr/>
        </p:nvSpPr>
        <p:spPr>
          <a:xfrm>
            <a:off x="7950707" y="6601968"/>
            <a:ext cx="2386584" cy="1143000"/>
          </a:xfrm>
          <a:prstGeom prst="rect">
            <a:avLst/>
          </a:prstGeom>
          <a:noFill/>
        </p:spPr>
        <p:txBody>
          <a:bodyPr wrap="square" lIns="0" tIns="0" rIns="0" bIns="0" anchor="t">
            <a:spAutoFit/>
          </a:bodyPr>
          <a:lstStyle/>
          <a:p>
            <a:pPr algn="l">
              <a:spcAft>
                <a:spcPts val="700"/>
              </a:spcAft>
            </a:pPr>
            <a:r>
              <a:rPr sz="1800" b="1" i="0">
                <a:solidFill>
                  <a:srgbClr val="000000"/>
                </a:solidFill>
                <a:latin typeface="Helvetica Neue"/>
                <a:ea typeface="Helvetica Neue"/>
                <a:cs typeface="Helvetica Neue"/>
              </a:rPr>
              <a:t>What's separated from what?</a:t>
            </a:r>
          </a:p>
        </p:txBody>
      </p:sp>
      <p:sp>
        <p:nvSpPr>
          <p:cNvPr id="26" name="Five 4"/>
          <p:cNvSpPr/>
          <p:nvPr/>
        </p:nvSpPr>
        <p:spPr>
          <a:xfrm>
            <a:off x="10913364" y="6400800"/>
            <a:ext cx="2898648" cy="15087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7" name="Five 4 text"/>
          <p:cNvSpPr txBox="1"/>
          <p:nvPr/>
        </p:nvSpPr>
        <p:spPr>
          <a:xfrm>
            <a:off x="11169396" y="6601968"/>
            <a:ext cx="2386584" cy="1143000"/>
          </a:xfrm>
          <a:prstGeom prst="rect">
            <a:avLst/>
          </a:prstGeom>
          <a:noFill/>
        </p:spPr>
        <p:txBody>
          <a:bodyPr wrap="square" lIns="0" tIns="0" rIns="0" bIns="0" anchor="t">
            <a:spAutoFit/>
          </a:bodyPr>
          <a:lstStyle/>
          <a:p>
            <a:pPr algn="l">
              <a:spcAft>
                <a:spcPts val="700"/>
              </a:spcAft>
            </a:pPr>
            <a:r>
              <a:rPr sz="1800" b="1" i="0">
                <a:solidFill>
                  <a:srgbClr val="000000"/>
                </a:solidFill>
                <a:latin typeface="Helvetica Neue"/>
                <a:ea typeface="Helvetica Neue"/>
                <a:cs typeface="Helvetica Neue"/>
              </a:rPr>
              <a:t>What's encrypted?</a:t>
            </a:r>
          </a:p>
        </p:txBody>
      </p:sp>
      <p:sp>
        <p:nvSpPr>
          <p:cNvPr id="28" name="Five 5"/>
          <p:cNvSpPr/>
          <p:nvPr/>
        </p:nvSpPr>
        <p:spPr>
          <a:xfrm>
            <a:off x="14132052" y="6400800"/>
            <a:ext cx="2898648" cy="1508760"/>
          </a:xfrm>
          <a:prstGeom prst="roundRect">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29" name="Five 5 text"/>
          <p:cNvSpPr txBox="1"/>
          <p:nvPr/>
        </p:nvSpPr>
        <p:spPr>
          <a:xfrm>
            <a:off x="14388084" y="6601968"/>
            <a:ext cx="2386584" cy="1143000"/>
          </a:xfrm>
          <a:prstGeom prst="rect">
            <a:avLst/>
          </a:prstGeom>
          <a:noFill/>
        </p:spPr>
        <p:txBody>
          <a:bodyPr wrap="square" lIns="0" tIns="0" rIns="0" bIns="0" anchor="t">
            <a:spAutoFit/>
          </a:bodyPr>
          <a:lstStyle/>
          <a:p>
            <a:pPr algn="l">
              <a:spcAft>
                <a:spcPts val="700"/>
              </a:spcAft>
            </a:pPr>
            <a:r>
              <a:rPr sz="1800" b="1" i="0">
                <a:solidFill>
                  <a:srgbClr val="000000"/>
                </a:solidFill>
                <a:latin typeface="Helvetica Neue"/>
                <a:ea typeface="Helvetica Neue"/>
                <a:cs typeface="Helvetica Neue"/>
              </a:rPr>
              <a:t>What happens when it fails?</a:t>
            </a:r>
          </a:p>
        </p:txBody>
      </p:sp>
      <p:sp>
        <p:nvSpPr>
          <p:cNvPr id="30" name="Review banner"/>
          <p:cNvSpPr/>
          <p:nvPr/>
        </p:nvSpPr>
        <p:spPr>
          <a:xfrm>
            <a:off x="1257300" y="8183879"/>
            <a:ext cx="15773400" cy="1188720"/>
          </a:xfrm>
          <a:prstGeom prst="rect">
            <a:avLst/>
          </a:prstGeom>
          <a:solidFill>
            <a:srgbClr val="000000"/>
          </a:solidFill>
          <a:ln w="635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endParaRPr/>
          </a:p>
        </p:txBody>
      </p:sp>
      <p:sp>
        <p:nvSpPr>
          <p:cNvPr id="31" name="Review banner text"/>
          <p:cNvSpPr txBox="1"/>
          <p:nvPr/>
        </p:nvSpPr>
        <p:spPr>
          <a:xfrm>
            <a:off x="1554480" y="8229600"/>
            <a:ext cx="15179040" cy="1097280"/>
          </a:xfrm>
          <a:prstGeom prst="rect">
            <a:avLst/>
          </a:prstGeom>
          <a:noFill/>
        </p:spPr>
        <p:txBody>
          <a:bodyPr wrap="square" lIns="0" tIns="0" rIns="0" bIns="0" anchor="ctr">
            <a:spAutoFit/>
          </a:bodyPr>
          <a:lstStyle/>
          <a:p>
            <a:pPr algn="ctr">
              <a:spcAft>
                <a:spcPts val="600"/>
              </a:spcAft>
            </a:pPr>
            <a:r>
              <a:rPr sz="2800" b="1" i="0">
                <a:solidFill>
                  <a:srgbClr val="FFFFFF"/>
                </a:solidFill>
                <a:latin typeface="Helvetica Neue"/>
                <a:ea typeface="Helvetica Neue"/>
                <a:cs typeface="Helvetica Neue"/>
              </a:rPr>
              <a:t>The network used to support the bank. Now it is the bank.</a:t>
            </a: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6527" name="Rectangle 15"/>
          <p:cNvSpPr>
            <a:spLocks noGrp="1" noChangeArrowheads="1"/>
          </p:cNvSpPr>
          <p:nvPr>
            <p:ph type="ctrTitle"/>
          </p:nvPr>
        </p:nvSpPr>
        <p:spPr>
          <a:xfrm>
            <a:off x="2286000" y="2788445"/>
            <a:ext cx="13716000" cy="3581400"/>
          </a:xfrm>
        </p:spPr>
        <p:txBody>
          <a:bodyPr>
            <a:normAutofit/>
          </a:bodyPr>
          <a:lstStyle/>
          <a:p>
            <a:r>
              <a:rPr lang="en-US" b="1" dirty="0">
                <a:latin typeface="Helvetica Neue Condensed" panose="02000503000000020004" pitchFamily="2" charset="0"/>
                <a:ea typeface="Helvetica Neue Condensed" panose="02000503000000020004" pitchFamily="2" charset="0"/>
                <a:cs typeface="Helvetica Neue Condensed" panose="02000503000000020004" pitchFamily="2" charset="0"/>
              </a:rPr>
              <a:t>Thank You!</a:t>
            </a:r>
          </a:p>
        </p:txBody>
      </p:sp>
      <p:pic>
        <p:nvPicPr>
          <p:cNvPr id="4" name="Picture 3">
            <a:extLst>
              <a:ext uri="{FF2B5EF4-FFF2-40B4-BE49-F238E27FC236}">
                <a16:creationId xmlns:a16="http://schemas.microsoft.com/office/drawing/2014/main" id="{04CBB715-8F5F-6841-B189-CFB0E02382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153450" y="1683545"/>
            <a:ext cx="3981099" cy="2202657"/>
          </a:xfrm>
          <a:prstGeom prst="rect">
            <a:avLst/>
          </a:prstGeom>
        </p:spPr>
      </p:pic>
      <p:sp>
        <p:nvSpPr>
          <p:cNvPr id="3" name="TextBox 2">
            <a:extLst>
              <a:ext uri="{FF2B5EF4-FFF2-40B4-BE49-F238E27FC236}">
                <a16:creationId xmlns:a16="http://schemas.microsoft.com/office/drawing/2014/main" id="{1A2142B8-811C-854F-A43C-822049310D39}"/>
              </a:ext>
            </a:extLst>
          </p:cNvPr>
          <p:cNvSpPr txBox="1"/>
          <p:nvPr/>
        </p:nvSpPr>
        <p:spPr>
          <a:xfrm>
            <a:off x="12625137" y="7697685"/>
            <a:ext cx="5662863" cy="3970318"/>
          </a:xfrm>
          <a:prstGeom prst="rect">
            <a:avLst/>
          </a:prstGeom>
          <a:noFill/>
        </p:spPr>
        <p:txBody>
          <a:bodyPr wrap="square" rtlCol="0">
            <a:spAutoFit/>
          </a:bodyPr>
          <a:lstStyle/>
          <a:p>
            <a:r>
              <a:rPr lang="en-US" sz="3600" dirty="0">
                <a:latin typeface="Helvetica Neue Medium" panose="02000503000000020004" pitchFamily="2" charset="0"/>
                <a:ea typeface="Helvetica Neue Medium" panose="02000503000000020004" pitchFamily="2" charset="0"/>
                <a:cs typeface="Helvetica Neue Medium" panose="02000503000000020004" pitchFamily="2" charset="0"/>
              </a:rPr>
              <a:t>Matt Kolon</a:t>
            </a:r>
          </a:p>
          <a:p>
            <a:r>
              <a:rPr lang="en-US" sz="3600" dirty="0" err="1">
                <a:latin typeface="Helvetica Neue Medium" panose="02000503000000020004" pitchFamily="2" charset="0"/>
                <a:ea typeface="Helvetica Neue Medium" panose="02000503000000020004" pitchFamily="2" charset="0"/>
                <a:cs typeface="Helvetica Neue Medium" panose="02000503000000020004" pitchFamily="2" charset="0"/>
              </a:rPr>
              <a:t>mkolon@hillvt.com</a:t>
            </a:r>
            <a:endParaRPr lang="en-US" sz="3600" dirty="0">
              <a:latin typeface="Helvetica Neue Medium" panose="02000503000000020004" pitchFamily="2" charset="0"/>
              <a:ea typeface="Helvetica Neue Medium" panose="02000503000000020004" pitchFamily="2" charset="0"/>
              <a:cs typeface="Helvetica Neue Medium" panose="02000503000000020004" pitchFamily="2" charset="0"/>
            </a:endParaRPr>
          </a:p>
          <a:p>
            <a:r>
              <a:rPr lang="en-US" sz="3600" dirty="0" err="1">
                <a:latin typeface="Helvetica Neue Medium" panose="02000503000000020004" pitchFamily="2" charset="0"/>
                <a:ea typeface="Helvetica Neue Medium" panose="02000503000000020004" pitchFamily="2" charset="0"/>
                <a:cs typeface="Helvetica Neue Medium" panose="02000503000000020004" pitchFamily="2" charset="0"/>
              </a:rPr>
              <a:t>mattkolon.com</a:t>
            </a:r>
            <a:endParaRPr lang="en-US" sz="3600" dirty="0">
              <a:latin typeface="Helvetica Neue Medium" panose="02000503000000020004" pitchFamily="2" charset="0"/>
              <a:ea typeface="Helvetica Neue Medium" panose="02000503000000020004" pitchFamily="2" charset="0"/>
              <a:cs typeface="Helvetica Neue Medium" panose="02000503000000020004" pitchFamily="2" charset="0"/>
            </a:endParaRPr>
          </a:p>
          <a:p>
            <a:r>
              <a:rPr lang="en-US" sz="3600" dirty="0">
                <a:latin typeface="Helvetica Neue Medium" panose="02000503000000020004" pitchFamily="2" charset="0"/>
                <a:ea typeface="Helvetica Neue Medium" panose="02000503000000020004" pitchFamily="2" charset="0"/>
                <a:cs typeface="Helvetica Neue Medium" panose="02000503000000020004" pitchFamily="2" charset="0"/>
              </a:rPr>
              <a:t>(802) 899-0704</a:t>
            </a:r>
          </a:p>
          <a:p>
            <a:endParaRPr lang="en-US" sz="3600" dirty="0">
              <a:latin typeface="Helvetica Neue Medium" panose="02000503000000020004" pitchFamily="2" charset="0"/>
              <a:ea typeface="Helvetica Neue Medium" panose="02000503000000020004" pitchFamily="2" charset="0"/>
              <a:cs typeface="Helvetica Neue Medium" panose="02000503000000020004" pitchFamily="2" charset="0"/>
            </a:endParaRPr>
          </a:p>
          <a:p>
            <a:endParaRPr lang="en-US" sz="3600" dirty="0">
              <a:latin typeface="Helvetica Neue Medium" panose="02000503000000020004" pitchFamily="2" charset="0"/>
              <a:ea typeface="Helvetica Neue Medium" panose="02000503000000020004" pitchFamily="2" charset="0"/>
              <a:cs typeface="Helvetica Neue Medium" panose="02000503000000020004" pitchFamily="2" charset="0"/>
            </a:endParaRPr>
          </a:p>
          <a:p>
            <a:endParaRPr lang="en-US" sz="3600" dirty="0">
              <a:latin typeface="Helvetica Neue Medium" panose="02000503000000020004" pitchFamily="2" charset="0"/>
              <a:ea typeface="Helvetica Neue Medium" panose="02000503000000020004" pitchFamily="2" charset="0"/>
              <a:cs typeface="Helvetica Neue Medium" panose="02000503000000020004" pitchFamily="2" charset="0"/>
            </a:endParaRPr>
          </a:p>
        </p:txBody>
      </p:sp>
    </p:spTree>
    <p:custDataLst>
      <p:tags r:id="rId1"/>
    </p:custDataLst>
    <p:extLst>
      <p:ext uri="{BB962C8B-B14F-4D97-AF65-F5344CB8AC3E}">
        <p14:creationId xmlns:p14="http://schemas.microsoft.com/office/powerpoint/2010/main" val="3102902834"/>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UDIO_IMPORT" val="\\Elmov\docbase\Expertech\~COX_MTC_BTC\9404_C1M1\audio\36_traditional_data_networks.wav"/>
  <p:tag name="AUDIO_ID" val="589"/>
  <p:tag name="ELAPSEDTIME" val="141.375"/>
  <p:tag name="ARTICULATE_SLIDE_PAUSE" val="0"/>
  <p:tag name="ARTICULATE_NAV_LEVEL" val="2"/>
  <p:tag name="ARTICULATE_SLIDE_PRESENTER" val="Paul M. Whalen"/>
  <p:tag name="ARTICULATE_SLIDE_PRESENTER_GUID" val="DB3329221D90"/>
  <p:tag name="ARTICULATE_PLAYLIST_ID" val="-1"/>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UDIO_IMPORT" val="\\Elmov\docbase\Expertech\~COX_MTC_BTC\9404_C1M1\audio\37_traditional_video_networks.wav"/>
  <p:tag name="AUDIO_ID" val="590"/>
  <p:tag name="ELAPSEDTIME" val="159.817"/>
  <p:tag name="ARTICULATE_SLIDE_PAUSE" val="0"/>
  <p:tag name="ARTICULATE_NAV_LEVEL" val="2"/>
  <p:tag name="ARTICULATE_SLIDE_PRESENTER" val="Paul M. Whalen"/>
  <p:tag name="ARTICULATE_SLIDE_PRESENTER_GUID" val="DB3329221D90"/>
  <p:tag name="ARTICULATE_PLAYLIST_ID" val="-1"/>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UDIO_IMPORT" val="\\Elmov\docbase\Expertech\445_Metro_Ethernet\Audio\19 Defining the Virtual LAN.wav"/>
  <p:tag name="AUDIO_ID" val="580"/>
  <p:tag name="ELAPSEDTIME" val="100.64"/>
  <p:tag name="TIMELINE" val="18.4/39.1/49.8/58.2/71.1/87.1"/>
  <p:tag name="ARTICULATE_SLIDE_PAUSE" val="0"/>
  <p:tag name="ARTICULATE_NAV_LEVEL" val="2"/>
  <p:tag name="ARTICULATE_PLAYLIST_ID" val="-1"/>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PAUSE" val="0"/>
  <p:tag name="ARTICULATE_NAV_LEVEL" val="2"/>
  <p:tag name="ARTICULATE_SLIDE_PRESENTER" val="Michel L. Gilbert"/>
  <p:tag name="ARTICULATE_SLIDE_PRESENTER_GUID" val="989DCA311021"/>
  <p:tag name="ARTICULATE_PLAYLIST_ID" val="-1"/>
  <p:tag name="AUDIO_IMPORT" val="E:\Articulate\449-01_Network_Models_and_Suites\Audio\10_Protocols.wav"/>
  <p:tag name="AUDIO_ID" val="274"/>
  <p:tag name="ELAPSEDTIME" val="90.149"/>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PAUSE" val="0"/>
  <p:tag name="ARTICULATE_NAV_LEVEL" val="2"/>
  <p:tag name="ARTICULATE_SLIDE_PRESENTER" val="Michel L. Gilbert"/>
  <p:tag name="ARTICULATE_SLIDE_PRESENTER_GUID" val="989DCA311021"/>
  <p:tag name="ARTICULATE_PLAYLIST_ID" val="-1"/>
  <p:tag name="AUDIO_IMPORT" val="E:\Articulate\449-01_Network_Models_and_Suites\Audio\11_Models.wav"/>
  <p:tag name="AUDIO_ID" val="275"/>
  <p:tag name="ELAPSEDTIME" val="112.928"/>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PAUSE" val="0"/>
  <p:tag name="ARTICULATE_NAV_LEVEL" val="2"/>
  <p:tag name="ARTICULATE_SLIDE_PRESENTER" val="Michel L. Gilbert"/>
  <p:tag name="ARTICULATE_SLIDE_PRESENTER_GUID" val="989DCA311021"/>
  <p:tag name="ARTICULATE_PLAYLIST_ID" val="-1"/>
  <p:tag name="AUDIO_IMPORT" val="E:\Articulate\449-01_Network_Models_and_Suites\Audio\12_The_Concept_Of_Layering.wav"/>
  <p:tag name="AUDIO_ID" val="276"/>
  <p:tag name="ELAPSEDTIME" val="81.32"/>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TIMELINE" val="17.6/20.0/25.3/82.3/106.0/108.3/115.4/133.5"/>
  <p:tag name="ARTICULATE_SLIDE_PAUSE" val="0"/>
  <p:tag name="ARTICULATE_NAV_LEVEL" val="2"/>
  <p:tag name="ARTICULATE_SLIDE_PRESENTER" val="Michel L. Gilbert"/>
  <p:tag name="ARTICULATE_SLIDE_PRESENTER_GUID" val="989DCA311021"/>
  <p:tag name="ARTICULATE_PLAYLIST_ID" val="-1"/>
  <p:tag name="AUDIO_IMPORT" val="E:\Articulate\449-01_Network_Models_and_Suites\Audio\17_Understanding_The_OSI_RM_Layers.wav"/>
  <p:tag name="AUDIO_ID" val="279"/>
  <p:tag name="ELAPSEDTIME" val="143.073"/>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PAUSE" val="0"/>
  <p:tag name="ARTICULATE_NAV_LEVEL" val="2"/>
  <p:tag name="ARTICULATE_SLIDE_PRESENTER" val="Michel L. Gilbert"/>
  <p:tag name="ARTICULATE_SLIDE_PRESENTER_GUID" val="989DCA311021"/>
  <p:tag name="ARTICULATE_PLAYLIST_ID" val="-1"/>
  <p:tag name="AUDIO_IMPORT" val="E:\Articulate\449-01_Network_Models_and_Suites\Audio\19_Two_Approaches_To_Solving_The_Problem.wav"/>
  <p:tag name="AUDIO_ID" val="281"/>
  <p:tag name="ELAPSEDTIME" val="64.157"/>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IMAGE_RECOLOR" val="0"/>
  <p:tag name="ARTICULATE_PUBLISH_MODE" val="2"/>
  <p:tag name="ARTICULATE_SOURCE_IMAGE" val="C:\Users\AWalkden\AppData\Local\Temp\articulate\presenter\imgtemp\6rXIbDBY_files\slide0001_image001.png"/>
</p:tagLst>
</file>

<file path=ppt/tags/tag25.xml><?xml version="1.0" encoding="utf-8"?>
<p:tagLst xmlns:a="http://schemas.openxmlformats.org/drawingml/2006/main" xmlns:r="http://schemas.openxmlformats.org/officeDocument/2006/relationships" xmlns:p="http://schemas.openxmlformats.org/presentationml/2006/main">
  <p:tag name="ARTICULATE_SLIDE_PAUSE" val="0"/>
  <p:tag name="ARTICULATE_NAV_LEVEL" val="2"/>
  <p:tag name="ARTICULATE_SLIDE_PRESENTER" val="Michel L. Gilbert"/>
  <p:tag name="ARTICULATE_SLIDE_PRESENTER_GUID" val="989DCA311021"/>
  <p:tag name="ARTICULATE_PLAYLIST_ID" val="-1"/>
  <p:tag name="AUDIO_IMPORT" val="E:\Articulate\449-01_Network_Models_and_Suites\Audio\19_Two_Approaches_To_Solving_The_Problem.wav"/>
  <p:tag name="AUDIO_ID" val="281"/>
  <p:tag name="ELAPSEDTIME" val="64.157"/>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IMAGE_RECOLOR" val="0"/>
  <p:tag name="ARTICULATE_PUBLISH_MODE" val="2"/>
  <p:tag name="ARTICULATE_SOURCE_IMAGE" val="C:\Users\AWalkden\AppData\Local\Temp\articulate\presenter\imgtemp\6rXIbDBY_files\slide0001_image001.png"/>
</p:tagLst>
</file>

<file path=ppt/tags/tag27.xml><?xml version="1.0" encoding="utf-8"?>
<p:tagLst xmlns:a="http://schemas.openxmlformats.org/drawingml/2006/main" xmlns:r="http://schemas.openxmlformats.org/officeDocument/2006/relationships" xmlns:p="http://schemas.openxmlformats.org/presentationml/2006/main">
  <p:tag name="ARTICULATE_SLIDE_GUID" val="3eaced9e-9821-48b0-8771-bc2434ea394c"/>
  <p:tag name="AUDIO_IMPORT" val="E:\Articulate\~Comcast\9444_P4C1_Physical_and_Data_Link_Layer_Concepts\audio\56_Point-to-Point_Protocol.wav"/>
  <p:tag name="AUDIO_ID" val="291"/>
  <p:tag name="ELAPSEDTIME" val="164.353"/>
  <p:tag name="ARTICULATE_SLIDE_PAUSE" val="0"/>
  <p:tag name="ARTICULATE_NAV_LEVEL" val="2"/>
  <p:tag name="ARTICULATE_SLIDE_PRESENTER" val="Michel L. Gilbert"/>
  <p:tag name="ARTICULATE_SLIDE_PRESENTER_GUID" val="989DCA311021"/>
  <p:tag name="ARTICULATE_PLAYLIST_ID" val="-1"/>
  <p:tag name="ARTICULATE_LOCK_SLIDE" val="0"/>
  <p:tag name="ARTICULATE_SLIDE_NAV" val="56"/>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UDIO_IMPORT" val="\\Elmov\docbase\Expertech\441_TCPIP_Fundamentals\Audio\27 The Internet Protocol.wav"/>
  <p:tag name="AUDIO_ID" val="280"/>
  <p:tag name="ELAPSEDTIME" val="150.074"/>
  <p:tag name="ARTICULATE_SLIDE_PAUSE" val="0"/>
  <p:tag name="ARTICULATE_NAV_LEVEL" val="2"/>
  <p:tag name="ARTICULATE_PLAYLIST_ID" val="-1"/>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GUID" val="7ec03da2-04b8-4a39-a7d1-ad7ae32403c3"/>
  <p:tag name="TIMELINE" val="12.9/32.5"/>
  <p:tag name="ANNOTATION_COUNT" val="0"/>
  <p:tag name="AUDIO_IMPORT" val="E:\Articulate\~Comcast\9442_P2C3_TCPIP_Fundamentals\Audio\41 The Basic IP Address (Verizon).wav"/>
  <p:tag name="AUDIO_ID" val="418"/>
  <p:tag name="ELAPSEDTIME" val="80.564"/>
  <p:tag name="ARTICULATE_SLIDE_PAUSE" val="0"/>
  <p:tag name="ARTICULATE_NAV_LEVEL" val="2"/>
  <p:tag name="ARTICULATE_SLIDE_PRESENTER" val="David A. Train"/>
  <p:tag name="ARTICULATE_SLIDE_PRESENTER_GUID" val="D5399042A978"/>
  <p:tag name="ARTICULATE_PLAYLIST_ID" val="-1"/>
  <p:tag name="ARTICULATE_LOCK_SLIDE" val="0"/>
  <p:tag name="ARTICULATE_SLIDE_NAV" val="41"/>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UDIO_IMPORT" val="\\Elmov\docbase\Expertech\441_TCPIP_Fundamentals\Audio\42 IP v6 What is It.wav"/>
  <p:tag name="AUDIO_ID" val="295"/>
  <p:tag name="ELAPSEDTIME" val="66.012"/>
  <p:tag name="ARTICULATE_SLIDE_PAUSE" val="0"/>
  <p:tag name="ARTICULATE_NAV_LEVEL" val="2"/>
  <p:tag name="ARTICULATE_PLAYLIST_ID" val="-1"/>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GUID" val="0cdb9192-20de-4c13-bd4d-8af1f6fa0c11"/>
  <p:tag name="AUDIO_IMPORT" val="E:\Articulate\~Comcast\9442_P2C3_TCPIP_Fundamentals\Audio\52 Routing.wav"/>
  <p:tag name="AUDIO_ID" val="426"/>
  <p:tag name="ELAPSEDTIME" val="91.905"/>
  <p:tag name="ARTICULATE_SLIDE_PAUSE" val="0"/>
  <p:tag name="ARTICULATE_NAV_LEVEL" val="2"/>
  <p:tag name="ARTICULATE_SLIDE_PRESENTER" val="David A. Train"/>
  <p:tag name="ARTICULATE_SLIDE_PRESENTER_GUID" val="D5399042A978"/>
  <p:tag name="ARTICULATE_PLAYLIST_ID" val="-1"/>
  <p:tag name="ARTICULATE_LOCK_SLIDE" val="0"/>
  <p:tag name="ARTICULATE_SLIDE_NAV" val="52"/>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UDIO_IMPORT" val="\\Elmov\docbase\Expertech\441_TCPIP_Fundamentals\Audio\28 IP Routing.wav"/>
  <p:tag name="AUDIO_ID" val="282"/>
  <p:tag name="ELAPSEDTIME" val="90.719"/>
  <p:tag name="TIMELINE" val="23.0/43.5/65.0/87.5"/>
  <p:tag name="ARTICULATE_SLIDE_PAUSE" val="0"/>
  <p:tag name="ARTICULATE_NAV_LEVEL" val="2"/>
  <p:tag name="ARTICULATE_PLAYLIST_ID" val="-1"/>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TIMELINE" val="17.4/42.4/51.0/61.5/78.7/82.4/90.8"/>
  <p:tag name="ARTICULATE_SLIDE_GUID" val="99664f11-e645-4562-ab64-da5813782b58"/>
  <p:tag name="ARTICULATE_SLIDE_PAUSE" val="0"/>
  <p:tag name="ARTICULATE_NAV_LEVEL" val="2"/>
  <p:tag name="ARTICULATE_SLIDE_PRESENTER" val="Michel L. Gilbert"/>
  <p:tag name="ARTICULATE_SLIDE_PRESENTER_GUID" val="989DCA311021"/>
  <p:tag name="ARTICULATE_PLAYLIST_ID" val="-1"/>
  <p:tag name="ARTICULATE_LOCK_SLIDE" val="0"/>
  <p:tag name="AUDIO_IMPORT" val="E:\Articulate\~Comcast\9445_P4C2_Network_Layer_Concepts\audio\15_Following_A_Packet.wav"/>
  <p:tag name="AUDIO_ID" val="317"/>
  <p:tag name="ELAPSEDTIME" val="98.557"/>
  <p:tag name="ARTICULATE_SLIDE_NAV" val="15"/>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IMAGE_RECOLOR" val="0"/>
  <p:tag name="ARTICULATE_PUBLISH_MODE" val="1"/>
</p:tagLst>
</file>

<file path=ppt/tags/tag38.xml><?xml version="1.0" encoding="utf-8"?>
<p:tagLst xmlns:a="http://schemas.openxmlformats.org/drawingml/2006/main" xmlns:r="http://schemas.openxmlformats.org/officeDocument/2006/relationships" xmlns:p="http://schemas.openxmlformats.org/presentationml/2006/main">
  <p:tag name="ARTICULATE_IMAGE_RECOLOR" val="0"/>
  <p:tag name="ARTICULATE_PUBLISH_MODE" val="1"/>
</p:tagLst>
</file>

<file path=ppt/tags/tag39.xml><?xml version="1.0" encoding="utf-8"?>
<p:tagLst xmlns:a="http://schemas.openxmlformats.org/drawingml/2006/main" xmlns:r="http://schemas.openxmlformats.org/officeDocument/2006/relationships" xmlns:p="http://schemas.openxmlformats.org/presentationml/2006/main">
  <p:tag name="ARTICULATE_IMAGE_RECOLOR" val="0"/>
  <p:tag name="ARTICULATE_PUBLISH_MODE" val="1"/>
</p:tagLst>
</file>

<file path=ppt/tags/tag40.xml><?xml version="1.0" encoding="utf-8"?>
<p:tagLst xmlns:a="http://schemas.openxmlformats.org/drawingml/2006/main" xmlns:r="http://schemas.openxmlformats.org/officeDocument/2006/relationships" xmlns:p="http://schemas.openxmlformats.org/presentationml/2006/main">
  <p:tag name="TIMELINE" val="19.6"/>
  <p:tag name="ARTICULATE_SLIDE_GUID" val="a5c76ea0-fb3d-4e56-b5a3-646d6e7ca809"/>
  <p:tag name="AUDIO_IMPORT" val="E:\Articulate\~Comcast\9446_P4C3_Transport_and_Application_Services_Layer_Concepts\audio\15_connectionless_communication.wav"/>
  <p:tag name="AUDIO_ID" val="367"/>
  <p:tag name="ELAPSEDTIME" val="54.937"/>
  <p:tag name="ARTICULATE_SLIDE_PAUSE" val="0"/>
  <p:tag name="ARTICULATE_NAV_LEVEL" val="2"/>
  <p:tag name="ARTICULATE_SLIDE_PRESENTER" val="Trevor D. Hindson"/>
  <p:tag name="ARTICULATE_SLIDE_PRESENTER_GUID" val="ED13376E32D0"/>
  <p:tag name="ARTICULATE_PLAYLIST_ID" val="-1"/>
  <p:tag name="ARTICULATE_LOCK_SLIDE" val="0"/>
  <p:tag name="ARTICULATE_SLIDE_NAV" val="15"/>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TIMELINE" val="29.1/31.6/43.2/45.8/56.3/58.6"/>
  <p:tag name="ARTICULATE_SLIDE_GUID" val="bf36aa1f-a76d-43fe-9491-e016a3fa0eb9"/>
  <p:tag name="AUDIO_IMPORT" val="E:\Articulate\~Comcast\9446_P4C3_Transport_and_Application_Services_Layer_Concepts\audio\16_connection_oriented_communication.wav"/>
  <p:tag name="AUDIO_ID" val="368"/>
  <p:tag name="ELAPSEDTIME" val="70.937"/>
  <p:tag name="ARTICULATE_SLIDE_PAUSE" val="0"/>
  <p:tag name="ARTICULATE_NAV_LEVEL" val="2"/>
  <p:tag name="ARTICULATE_SLIDE_PRESENTER" val="Michel L. Gilbert"/>
  <p:tag name="ARTICULATE_SLIDE_PRESENTER_GUID" val="989DCA311021"/>
  <p:tag name="ARTICULATE_PLAYLIST_ID" val="-1"/>
  <p:tag name="ARTICULATE_LOCK_SLIDE" val="0"/>
  <p:tag name="ARTICULATE_SLIDE_NAV" val="16"/>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GUID" val="2b0f2339-9eac-4bfb-a945-45710ba2f5d9"/>
  <p:tag name="AUDIO_IMPORT" val="E:\Articulate\~Comcast\9446_P4C3_Transport_and_Application_Services_Layer_Concepts\audio\14_Transport Layer_Functions.wav"/>
  <p:tag name="AUDIO_ID" val="271"/>
  <p:tag name="ELAPSEDTIME" val="82.78"/>
  <p:tag name="ARTICULATE_SLIDE_PAUSE" val="0"/>
  <p:tag name="ARTICULATE_NAV_LEVEL" val="2"/>
  <p:tag name="ARTICULATE_SLIDE_PRESENTER" val="Michel L. Gilbert"/>
  <p:tag name="ARTICULATE_SLIDE_PRESENTER_GUID" val="989DCA311021"/>
  <p:tag name="ARTICULATE_PLAYLIST_ID" val="-1"/>
  <p:tag name="ARTICULATE_LOCK_SLIDE" val="0"/>
  <p:tag name="ARTICULATE_SLIDE_NAV" val="14"/>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TIMELINE" val="7.5/16.4/32.8/54.4"/>
  <p:tag name="ANNOTATION_COUNT" val="0"/>
  <p:tag name="ARTICULATE_SLIDE_GUID" val="5671ad31-2b7f-40b8-b24d-8ac1efaf2787"/>
  <p:tag name="AUDIO_IMPORT" val="E:\ELMOV\Docbase\Expertech\455_KN_Virtualization\audio\09_Virtual Machines Benefits.mp3"/>
  <p:tag name="AUDIO_ID" val="286"/>
  <p:tag name="ELAPSEDTIME" val="73.404"/>
  <p:tag name="ARTICULATE_SLIDE_NAV" val="9"/>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54.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55.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56.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57.xml><?xml version="1.0" encoding="utf-8"?>
<p:tagLst xmlns:a="http://schemas.openxmlformats.org/drawingml/2006/main" xmlns:r="http://schemas.openxmlformats.org/officeDocument/2006/relationships" xmlns:p="http://schemas.openxmlformats.org/presentationml/2006/main">
  <p:tag name="ARTICULATE_PUBLISH_MODE" val="2"/>
</p:tagLst>
</file>

<file path=ppt/tags/tag58.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AWalkden\AppData\Local\Temp\articulate\presenter\imgtemp\67Tu2WrE_files\slide0001_image001.png"/>
</p:tagLst>
</file>

<file path=ppt/tags/tag59.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AWalkden\AppData\Local\Temp\articulate\presenter\imgtemp\r5KY46cr_files\slide0001_image001.png"/>
</p:tagLst>
</file>

<file path=ppt/tags/tag60.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AWalkden\AppData\Local\Temp\articulate\presenter\imgtemp\Md4dEpKY_files\slide0001_image001.png"/>
</p:tagLst>
</file>

<file path=ppt/tags/tag61.xml><?xml version="1.0" encoding="utf-8"?>
<p:tagLst xmlns:a="http://schemas.openxmlformats.org/drawingml/2006/main" xmlns:r="http://schemas.openxmlformats.org/officeDocument/2006/relationships" xmlns:p="http://schemas.openxmlformats.org/presentationml/2006/main">
  <p:tag name="BULLET_1" val="8226"/>
  <p:tag name="BULLET_2" val="8226"/>
  <p:tag name="BULLET_3" val="8226"/>
  <p:tag name="BULLET_4" val="8226"/>
  <p:tag name="BULLET_5" val="8226"/>
  <p:tag name="BULLET_6" val="8226"/>
  <p:tag name="MARGIN_1" val="0"/>
  <p:tag name="MARGIN_2" val="36"/>
  <p:tag name="MARGIN_3" val="72"/>
  <p:tag name="MARGIN_4" val="108"/>
  <p:tag name="MARGIN_5" val="144"/>
  <p:tag name="FONT_SIZE" val="12"/>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TIMELINE" val="12.0/15.9/26.2/29.2/32.3/34.5"/>
  <p:tag name="ARTICULATE_SLIDE_GUID" val="29e1b14e-5a12-4991-9cf9-fdeb49696efe"/>
  <p:tag name="AUDIO_IMPORT" val="E:\Articulate\~Comcast\9446_P4C3_Transport_and_Application_Services_Layer_Concepts\audio\39_clients_and_servers.wav"/>
  <p:tag name="AUDIO_ID" val="320"/>
  <p:tag name="ELAPSEDTIME" val="46.997"/>
  <p:tag name="ARTICULATE_SLIDE_PAUSE" val="0"/>
  <p:tag name="ARTICULATE_NAV_LEVEL" val="2"/>
  <p:tag name="ARTICULATE_SLIDE_PRESENTER" val="Michel L. Gilbert"/>
  <p:tag name="ARTICULATE_SLIDE_PRESENTER_GUID" val="989DCA311021"/>
  <p:tag name="ARTICULATE_PLAYLIST_ID" val="-1"/>
  <p:tag name="ARTICULATE_LOCK_SLIDE" val="0"/>
  <p:tag name="ARTICULATE_SLIDE_NAV" val="39"/>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DOCUME~1\acb\LOCALS~1\Temp\articulate\presenter\imgtemp\DjXtePjv_files\slide0001_image001.png"/>
</p:tagLst>
</file>

<file path=ppt/tags/tag70.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DOCUME~1\acb\LOCALS~1\Temp\articulate\presenter\imgtemp\DewHrllU_files\slide0001_image001.png"/>
</p:tagLst>
</file>

<file path=ppt/tags/tag71.xml><?xml version="1.0" encoding="utf-8"?>
<p:tagLst xmlns:a="http://schemas.openxmlformats.org/drawingml/2006/main" xmlns:r="http://schemas.openxmlformats.org/officeDocument/2006/relationships" xmlns:p="http://schemas.openxmlformats.org/presentationml/2006/main">
  <p:tag name="TIMELINE" val="12.9/106.0"/>
  <p:tag name="ARTICULATE_SLIDE_GUID" val="09437f2d-2c04-4ad2-a035-87e94514df28"/>
  <p:tag name="AUDIO_IMPORT" val="E:\Articulate\~Comcast\9446_P4C3_Transport_and_Application_Services_Layer_Concepts\audio\40_service_relationships_client_server.wav"/>
  <p:tag name="AUDIO_ID" val="285"/>
  <p:tag name="ELAPSEDTIME" val="116.901"/>
  <p:tag name="ARTICULATE_SLIDE_PAUSE" val="0"/>
  <p:tag name="ARTICULATE_NAV_LEVEL" val="2"/>
  <p:tag name="ARTICULATE_SLIDE_PRESENTER" val="Trevor D. Hindson"/>
  <p:tag name="ARTICULATE_SLIDE_PRESENTER_GUID" val="ED13376E32D0"/>
  <p:tag name="ARTICULATE_PLAYLIST_ID" val="-1"/>
  <p:tag name="ARTICULATE_LOCK_SLIDE" val="0"/>
  <p:tag name="ARTICULATE_SLIDE_NAV" val="40"/>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TIMELINE" val="32.4/41.6"/>
  <p:tag name="ARTICULATE_SLIDE_GUID" val="8096226e-edd9-437e-9b14-b79f66c5f375"/>
  <p:tag name="AUDIO_IMPORT" val="E:\Articulate\~Comcast\9446_P4C3_Transport_and_Application_Services_Layer_Concepts\audio\42_service_relationships_structured_peer_to_peer.wav"/>
  <p:tag name="AUDIO_ID" val="287"/>
  <p:tag name="ELAPSEDTIME" val="89.511"/>
  <p:tag name="ARTICULATE_SLIDE_PAUSE" val="0"/>
  <p:tag name="ARTICULATE_NAV_LEVEL" val="2"/>
  <p:tag name="ARTICULATE_SLIDE_PRESENTER" val="Michel L. Gilbert"/>
  <p:tag name="ARTICULATE_SLIDE_PRESENTER_GUID" val="989DCA311021"/>
  <p:tag name="ARTICULATE_PLAYLIST_ID" val="-1"/>
  <p:tag name="ARTICULATE_LOCK_SLIDE" val="0"/>
  <p:tag name="ARTICULATE_SLIDE_NAV" val="42"/>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UDIO_IMPORT" val="\\Elmov\docbase\Expertech\~COX_MTC_BTC\9415_P4C4\audio\9415_48_Simple_Mail_Transfer_Protocol.wav"/>
  <p:tag name="AUDIO_ID" val="294"/>
  <p:tag name="TIMELINE" val="67.2/73.7/82.5/94.0/110.4/144.1/155.5"/>
  <p:tag name="ELAPSEDTIME" val="203.05"/>
  <p:tag name="ARTICULATE_SLIDE_PAUSE" val="0"/>
  <p:tag name="ARTICULATE_NAV_LEVEL" val="2"/>
  <p:tag name="ARTICULATE_SLIDE_PRESENTER" val="Michel L. Gilbert"/>
  <p:tag name="ARTICULATE_SLIDE_PRESENTER_GUID" val="989DCA311021"/>
  <p:tag name="ARTICULATE_PLAYLIST_ID" val="-1"/>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UDIO_IMPORT" val="\\Elmov\docbase\Expertech\443_VoIP_and_IP_Telephony\Audio\443-05_What Is Voice Over IP.wav"/>
  <p:tag name="AUDIO_ID" val="259"/>
  <p:tag name="ELAPSEDTIME" val="186.515"/>
  <p:tag name="ARTICULATE_SLIDE_PAUSE" val="0"/>
  <p:tag name="ARTICULATE_NAV_LEVEL" val="2"/>
  <p:tag name="ARTICULATE_PLAYLIST_ID" val="-1"/>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UDIO_IMPORT" val="\\Elmov\docbase\Expertech\443_VoIP_and_IP_Telephony\Audio\443-25_The Session Initiation Protocol.wav"/>
  <p:tag name="AUDIO_ID" val="295"/>
  <p:tag name="ELAPSEDTIME" val="174.211"/>
  <p:tag name="ARTICULATE_SLIDE_PAUSE" val="0"/>
  <p:tag name="ARTICULATE_NAV_LEVEL" val="2"/>
  <p:tag name="ARTICULATE_PLAYLIST_ID" val="-1"/>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Pro_Tech">
      <a:dk1>
        <a:sysClr val="windowText" lastClr="000000"/>
      </a:dk1>
      <a:lt1>
        <a:sysClr val="window" lastClr="FFFFFF"/>
      </a:lt1>
      <a:dk2>
        <a:srgbClr val="373545"/>
      </a:dk2>
      <a:lt2>
        <a:srgbClr val="FFFFFF"/>
      </a:lt2>
      <a:accent1>
        <a:srgbClr val="1D397A"/>
      </a:accent1>
      <a:accent2>
        <a:srgbClr val="32539A"/>
      </a:accent2>
      <a:accent3>
        <a:srgbClr val="4D6088"/>
      </a:accent3>
      <a:accent4>
        <a:srgbClr val="55849D"/>
      </a:accent4>
      <a:accent5>
        <a:srgbClr val="9FA09F"/>
      </a:accent5>
      <a:accent6>
        <a:srgbClr val="FFFFFF"/>
      </a:accent6>
      <a:hlink>
        <a:srgbClr val="FFFFFF"/>
      </a:hlink>
      <a:folHlink>
        <a:srgbClr val="FFFF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14550</TotalTime>
  <Words>34643</Words>
  <Application>Microsoft Macintosh PowerPoint</Application>
  <PresentationFormat>Custom</PresentationFormat>
  <Paragraphs>4313</Paragraphs>
  <Slides>258</Slides>
  <Notes>189</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258</vt:i4>
      </vt:variant>
    </vt:vector>
  </HeadingPairs>
  <TitlesOfParts>
    <vt:vector size="272" baseType="lpstr">
      <vt:lpstr>ヒラギノ角ゴ Pro W3</vt:lpstr>
      <vt:lpstr>Arial</vt:lpstr>
      <vt:lpstr>Arial Narrow</vt:lpstr>
      <vt:lpstr>Calibri</vt:lpstr>
      <vt:lpstr>Calibri Light</vt:lpstr>
      <vt:lpstr>Helvetica Neue</vt:lpstr>
      <vt:lpstr>HELVETICA NEUE CONDENSED</vt:lpstr>
      <vt:lpstr>HELVETICA NEUE CONDENSED</vt:lpstr>
      <vt:lpstr>Helvetica Neue Condensed Bold</vt:lpstr>
      <vt:lpstr>Helvetica Neue Medium</vt:lpstr>
      <vt:lpstr>Menlo</vt:lpstr>
      <vt:lpstr>Symbol</vt:lpstr>
      <vt:lpstr>Wingdings</vt:lpstr>
      <vt:lpstr>Office Theme</vt:lpstr>
      <vt:lpstr>PowerPoint Presentation</vt:lpstr>
      <vt:lpstr>Chapter 1: Orientation</vt:lpstr>
      <vt:lpstr>PowerPoint Presentation</vt:lpstr>
      <vt:lpstr>An Important Resource</vt:lpstr>
      <vt:lpstr>Classroom Ops</vt:lpstr>
      <vt:lpstr>Introductions</vt:lpstr>
      <vt:lpstr>Introductions  </vt:lpstr>
      <vt:lpstr>Agenda</vt:lpstr>
      <vt:lpstr>Things you might sometimes wonder about</vt:lpstr>
      <vt:lpstr>Chapter 2:  The Communications Landscape</vt:lpstr>
      <vt:lpstr>The Communications Challenge Today</vt:lpstr>
      <vt:lpstr>Telecommunications Domains</vt:lpstr>
      <vt:lpstr>Technology</vt:lpstr>
      <vt:lpstr>Regulation</vt:lpstr>
      <vt:lpstr>Voice Network Providers</vt:lpstr>
      <vt:lpstr>Data Network Providers</vt:lpstr>
      <vt:lpstr>Video Network Providers</vt:lpstr>
      <vt:lpstr>Content</vt:lpstr>
      <vt:lpstr>Chapter 3: A Short History of Financial Networking</vt:lpstr>
      <vt:lpstr>From Ticker Tape to Terabits</vt:lpstr>
      <vt:lpstr>Early Banking Telecom</vt:lpstr>
      <vt:lpstr>People Give Way to Machines in Both Industries</vt:lpstr>
      <vt:lpstr>Chapter 4:  Designing Bank Networks</vt:lpstr>
      <vt:lpstr>Branch Office Network</vt:lpstr>
      <vt:lpstr>A Simple Branch LAN</vt:lpstr>
      <vt:lpstr>Community Bank Innovation</vt:lpstr>
      <vt:lpstr>From Corner Bank to Global Conglomerate</vt:lpstr>
      <vt:lpstr>From Corner Bank to Global Conglomerate</vt:lpstr>
      <vt:lpstr>From Corner Bank to Global Conglomerate</vt:lpstr>
      <vt:lpstr>From Corner Bank to Global Conglomerate</vt:lpstr>
      <vt:lpstr>From Corner Bank to Global Conglomerate</vt:lpstr>
      <vt:lpstr>From Corner Bank to Global Conglomerate</vt:lpstr>
      <vt:lpstr>Current Themes: Bank Network Evolution</vt:lpstr>
      <vt:lpstr>Branch Transformation: Fewer, Smaller, Self-Service</vt:lpstr>
      <vt:lpstr>Branch Transformation: Fewer, Smaller, Self-Service</vt:lpstr>
      <vt:lpstr>Chapter 5: LANs in Depth</vt:lpstr>
      <vt:lpstr>Ethernet</vt:lpstr>
      <vt:lpstr>(un) Structured Cabling</vt:lpstr>
      <vt:lpstr>Ethernet Evolution</vt:lpstr>
      <vt:lpstr>Some Popular Ethernet Physical Layers</vt:lpstr>
      <vt:lpstr>Typical Ethernet LAN</vt:lpstr>
      <vt:lpstr>Ethernet Frame</vt:lpstr>
      <vt:lpstr>Multiple LAN Configuration</vt:lpstr>
      <vt:lpstr>Virtual LANs (VLANs)</vt:lpstr>
      <vt:lpstr>VLANs</vt:lpstr>
      <vt:lpstr>Wi-Fi</vt:lpstr>
      <vt:lpstr>Wi-Fi Standards </vt:lpstr>
      <vt:lpstr>Bands and Channels - 2.4 Ghz</vt:lpstr>
      <vt:lpstr>2.4 GHz Channel Reuse</vt:lpstr>
      <vt:lpstr>Service Set Identifier (SSID)</vt:lpstr>
      <vt:lpstr>802.11 Security Issues</vt:lpstr>
      <vt:lpstr>Wi-Fi Protected Access (WPA3)</vt:lpstr>
      <vt:lpstr>Now We Have LANs</vt:lpstr>
      <vt:lpstr>Exercise 1: Annotate the LAN Segments</vt:lpstr>
      <vt:lpstr>InTREx Tie-In: Wireless Networks</vt:lpstr>
      <vt:lpstr>What Could Go Wrong on a LAN?</vt:lpstr>
      <vt:lpstr>Chapter 9: WANs in Depth</vt:lpstr>
      <vt:lpstr>Bank Branch Connection</vt:lpstr>
      <vt:lpstr>Private Lines</vt:lpstr>
      <vt:lpstr>Ethernet Access</vt:lpstr>
      <vt:lpstr>Passive Optical Network (PON) Access</vt:lpstr>
      <vt:lpstr>Cable Modem</vt:lpstr>
      <vt:lpstr>Private WAN Services</vt:lpstr>
      <vt:lpstr>MLPS: MultiProtocol Label Switching</vt:lpstr>
      <vt:lpstr>Carrier Ethernet</vt:lpstr>
      <vt:lpstr>Private WAN Deployment Types</vt:lpstr>
      <vt:lpstr>Site-to-Site VPN </vt:lpstr>
      <vt:lpstr>Work From Home</vt:lpstr>
      <vt:lpstr>VPN as a WAN Challenges</vt:lpstr>
      <vt:lpstr>Software Defined WAN</vt:lpstr>
      <vt:lpstr>SD WAN</vt:lpstr>
      <vt:lpstr>Sample SD WAN Implementation</vt:lpstr>
      <vt:lpstr>Observations for SD WAN Branch Networks</vt:lpstr>
      <vt:lpstr>InTREx Tie-In: Remote Access</vt:lpstr>
      <vt:lpstr>Chapter 10:  Wireless WANs</vt:lpstr>
      <vt:lpstr>Connecting to the Internet</vt:lpstr>
      <vt:lpstr>Cellular (Mobile?) Networks</vt:lpstr>
      <vt:lpstr>Cellular Network Evolution</vt:lpstr>
      <vt:lpstr>Why “Cellular”?</vt:lpstr>
      <vt:lpstr>5G</vt:lpstr>
      <vt:lpstr>Fixed Wireless Internet</vt:lpstr>
      <vt:lpstr>Starlink: Satellite Internet</vt:lpstr>
      <vt:lpstr>Backup Path: Wireless vs. Second Wireline</vt:lpstr>
      <vt:lpstr>Exercise 2: Annotate WAN Segments</vt:lpstr>
      <vt:lpstr>Chapter 12: The internet and applications</vt:lpstr>
      <vt:lpstr>The Internet</vt:lpstr>
      <vt:lpstr>The Internet: A Global, Public, Packet Network</vt:lpstr>
      <vt:lpstr>Models and Layers</vt:lpstr>
      <vt:lpstr>The Language of Networking</vt:lpstr>
      <vt:lpstr>Protocols </vt:lpstr>
      <vt:lpstr>Models</vt:lpstr>
      <vt:lpstr>Layering</vt:lpstr>
      <vt:lpstr>Understanding the OSI RM Layers</vt:lpstr>
      <vt:lpstr>A Closer Look at the Layers</vt:lpstr>
      <vt:lpstr>OSI Provides a Reference Framework</vt:lpstr>
      <vt:lpstr>Different Look, Same Idea: The TCP/IP Model</vt:lpstr>
      <vt:lpstr>Data Link Layer</vt:lpstr>
      <vt:lpstr>Common Link Topologies</vt:lpstr>
      <vt:lpstr>Point-to-Point Protocol (PPP)</vt:lpstr>
      <vt:lpstr>Chapter 13:  IP Addresses and Operations</vt:lpstr>
      <vt:lpstr>The Internet Protocol</vt:lpstr>
      <vt:lpstr>The IPv4 Address</vt:lpstr>
      <vt:lpstr>Role of IP Addressing</vt:lpstr>
      <vt:lpstr>Private vs. Public IP Address</vt:lpstr>
      <vt:lpstr>Static vs. Dynamic IP Address</vt:lpstr>
      <vt:lpstr>Dynamic Host Configuration Protocol (DHCP)</vt:lpstr>
      <vt:lpstr>IP Address Allocation</vt:lpstr>
      <vt:lpstr>IPv6: What, Where, When, How?</vt:lpstr>
      <vt:lpstr>Chapter 14: IP Routing</vt:lpstr>
      <vt:lpstr>Routing and Forwarding</vt:lpstr>
      <vt:lpstr>IP Routing</vt:lpstr>
      <vt:lpstr>Following a Packet</vt:lpstr>
      <vt:lpstr>Chapter 15 The Transport Layer:  Network Confidentiality and Integrity</vt:lpstr>
      <vt:lpstr>PowerPoint Presentation</vt:lpstr>
      <vt:lpstr>Transport Layer Connections</vt:lpstr>
      <vt:lpstr>Connectionless Communication</vt:lpstr>
      <vt:lpstr>Connection-Oriented Communication</vt:lpstr>
      <vt:lpstr>Other Transport Layer Functions</vt:lpstr>
      <vt:lpstr>Certificates: Proving Who You’re Talking To</vt:lpstr>
      <vt:lpstr>Transport Layer Security</vt:lpstr>
      <vt:lpstr>QUIC: TLS’s Faster Cousin</vt:lpstr>
      <vt:lpstr>Real-Time Payments (FedNow/RTP): What Always-On Means for the Network</vt:lpstr>
      <vt:lpstr>Where Customer Data Lives and Travels on the Bank Network</vt:lpstr>
      <vt:lpstr>Data at Rest, Data in Transit</vt:lpstr>
      <vt:lpstr>Chapter 18:  Cryptography In (some) Depth</vt:lpstr>
      <vt:lpstr>Cryptography</vt:lpstr>
      <vt:lpstr>Hash Functions</vt:lpstr>
      <vt:lpstr>Secret Key Cryptography</vt:lpstr>
      <vt:lpstr>Advanced Encryption Standard (AES)</vt:lpstr>
      <vt:lpstr>Public Key Cryptography</vt:lpstr>
      <vt:lpstr>RSA</vt:lpstr>
      <vt:lpstr>Back to TLS: The Same Three Tools in Every Web Session</vt:lpstr>
      <vt:lpstr>Public Key Infrastructure: Who Vouches for Whom</vt:lpstr>
      <vt:lpstr>Certificate Lifecycle: Expiry, Revocation, and the Outages They Cause</vt:lpstr>
      <vt:lpstr>Key Management: Who Holds the Keys?</vt:lpstr>
      <vt:lpstr>Final Comments on Cryptography</vt:lpstr>
      <vt:lpstr>InTREx Tie-In: Encryption</vt:lpstr>
      <vt:lpstr>Chapter 19: Virtualization</vt:lpstr>
      <vt:lpstr>Software Eats the World</vt:lpstr>
      <vt:lpstr>Virtualization</vt:lpstr>
      <vt:lpstr>Virtual Machines Benefits </vt:lpstr>
      <vt:lpstr>Virtual Networks: From VLANs to Overlays</vt:lpstr>
      <vt:lpstr>A Step Beyond Virtualization</vt:lpstr>
      <vt:lpstr>Traditional Application Approach</vt:lpstr>
      <vt:lpstr>Containers and Microservices</vt:lpstr>
      <vt:lpstr>Microservices</vt:lpstr>
      <vt:lpstr>Chapter 20: Cloud Basics and the Big Three</vt:lpstr>
      <vt:lpstr>Cloud Deployment Models</vt:lpstr>
      <vt:lpstr>Cloud Service Models</vt:lpstr>
      <vt:lpstr>Shared Responsibility: Who Secures What</vt:lpstr>
      <vt:lpstr>The Big Three: AWS, Azure, and Google Cloud</vt:lpstr>
      <vt:lpstr>Regions, Availability Zones, and What a Cloud Outage Looks Like</vt:lpstr>
      <vt:lpstr>How a Bank Connects to the Cloud: Internet, VPN, Private Interconnect</vt:lpstr>
      <vt:lpstr>Not just Much Cheaper, the cloud is Much Better.</vt:lpstr>
      <vt:lpstr>The Changing IT Landscape</vt:lpstr>
      <vt:lpstr>InTREx Tie-In: Cloud Services</vt:lpstr>
      <vt:lpstr>Chapter 21: Outsourcing and Vendor Risk</vt:lpstr>
      <vt:lpstr>Why Community Banks Outsource</vt:lpstr>
      <vt:lpstr>Every Vendor Is a Network Connection</vt:lpstr>
      <vt:lpstr>Core Processing in the Cloud</vt:lpstr>
      <vt:lpstr>Fintech Partnerships: New Connections Into the Bank</vt:lpstr>
      <vt:lpstr>Carriers and ISPs Are Vendors Too: Network SLAs</vt:lpstr>
      <vt:lpstr>Concentration Risk: When Every Bank Uses the Same Few Providers</vt:lpstr>
      <vt:lpstr>Fourth Parties: Your Vendor's Vendors</vt:lpstr>
      <vt:lpstr>Due Diligence Before Signing</vt:lpstr>
      <vt:lpstr>What Belongs in the Contract: SLAs, Audit Rights, Incident Notice</vt:lpstr>
      <vt:lpstr>SOC Reports: What They Tell You and What They Don't</vt:lpstr>
      <vt:lpstr>FedRAMP: What a Federal Cloud Authorization Does and Doesn't Tell a Bank</vt:lpstr>
      <vt:lpstr>Ongoing Monitoring: The Relationship After Signing</vt:lpstr>
      <vt:lpstr>Network Talent and Trust as Risks</vt:lpstr>
      <vt:lpstr>InTREx Tie-In: Vendor Management</vt:lpstr>
      <vt:lpstr>Exercise 3: Vendor Risk Tabletop</vt:lpstr>
      <vt:lpstr>Chapter 22: Managed Services and Shadow IT</vt:lpstr>
      <vt:lpstr>Managed Security Solutions</vt:lpstr>
      <vt:lpstr>Many Players</vt:lpstr>
      <vt:lpstr>Some More Players</vt:lpstr>
      <vt:lpstr>Let’s take a look at a few MSSPs</vt:lpstr>
      <vt:lpstr>InTREx Tie-In: Network Monitoring and Operations</vt:lpstr>
      <vt:lpstr>SaaS Sprawl and Shadow IT: The Vendors Nobody Approved</vt:lpstr>
      <vt:lpstr>Chapter 23: Applications on the Network</vt:lpstr>
      <vt:lpstr>It’s All About The Applications</vt:lpstr>
      <vt:lpstr>Application Layer Concerns</vt:lpstr>
      <vt:lpstr>Clients and Servers</vt:lpstr>
      <vt:lpstr>Service Relationship: Client/Server</vt:lpstr>
      <vt:lpstr>Service Relationship: Structured Peer-to-Peer</vt:lpstr>
      <vt:lpstr>Well-Known TCP/UDP Ports</vt:lpstr>
      <vt:lpstr>Where the Bank's Applications Live Now: On-Premises, Hosted, SaaS</vt:lpstr>
      <vt:lpstr>Chapter 24: Core Banking</vt:lpstr>
      <vt:lpstr>What a Core System Does</vt:lpstr>
      <vt:lpstr>The Big Core Providers: Jack Henry, Fiserv, FIS</vt:lpstr>
      <vt:lpstr>How the Branch Talks to the Core: The Network Path of a Transaction</vt:lpstr>
      <vt:lpstr>From Service Bureau to Cloud: How Core Delivery Has Changed</vt:lpstr>
      <vt:lpstr>What's Next for Core: APIs and Modular Cores</vt:lpstr>
      <vt:lpstr>Open Banking and the API Economy: The Network View</vt:lpstr>
      <vt:lpstr>InTREx Tie-In: Core Processing</vt:lpstr>
      <vt:lpstr>Chapter 25:  SaaS and Business Applications</vt:lpstr>
      <vt:lpstr>Microsoft 365: Email, Files, and Identity in the Cloud</vt:lpstr>
      <vt:lpstr>Email Services</vt:lpstr>
      <vt:lpstr>Let me ask you…</vt:lpstr>
      <vt:lpstr>Simple Mail Transfer Protocol</vt:lpstr>
      <vt:lpstr>Internet and Mobile Banking: Usually Someone Else's Servers</vt:lpstr>
      <vt:lpstr>CRM, HR, and the Rest of the SaaS Stack</vt:lpstr>
      <vt:lpstr>Chapter 26: DNS In Depth</vt:lpstr>
      <vt:lpstr>How Do We find Applications?</vt:lpstr>
      <vt:lpstr>Resolving a Name, Step by Step</vt:lpstr>
      <vt:lpstr>Who Controls the Bank's Domain</vt:lpstr>
      <vt:lpstr>DNS Records That Matter to a Bank</vt:lpstr>
      <vt:lpstr>DNS Email Authentication: SPF, DKIM, DMARC</vt:lpstr>
      <vt:lpstr>When DNS Fails: Outages, Hijacking, and Lookalike Domains</vt:lpstr>
      <vt:lpstr>Protective DNS and Filtering</vt:lpstr>
      <vt:lpstr>Exercise 4: The Lookalike Domain</vt:lpstr>
      <vt:lpstr>Chapter 27: Voice</vt:lpstr>
      <vt:lpstr>Thoughts on Telephony </vt:lpstr>
      <vt:lpstr>Telephone Network Elements</vt:lpstr>
      <vt:lpstr>Private Branch Exchange</vt:lpstr>
      <vt:lpstr>Key Systems: The Small-Office Phone System</vt:lpstr>
      <vt:lpstr>Voice moves to IP</vt:lpstr>
      <vt:lpstr>VoIP Brings New Capabilities</vt:lpstr>
      <vt:lpstr>Signaling Control: The Role of SIP</vt:lpstr>
      <vt:lpstr>SIP Trunks</vt:lpstr>
      <vt:lpstr>Hosted VoIP</vt:lpstr>
      <vt:lpstr>Contact Centers Move to the Cloud</vt:lpstr>
      <vt:lpstr>VoIP Network Considerations</vt:lpstr>
      <vt:lpstr>Voice Security Considerations</vt:lpstr>
      <vt:lpstr>Chapter 28: Internet of Things</vt:lpstr>
      <vt:lpstr>Internet of Things: Some Sample Things</vt:lpstr>
      <vt:lpstr>IoT in the Bank: Cameras, HVAC, Door Controls, ATMs</vt:lpstr>
      <vt:lpstr>IoT Security Concerns</vt:lpstr>
      <vt:lpstr>IoT Things to Consider</vt:lpstr>
      <vt:lpstr>Chapter 29: The Risk Landscape</vt:lpstr>
      <vt:lpstr>Networks</vt:lpstr>
      <vt:lpstr>Network Security</vt:lpstr>
      <vt:lpstr>Inventory</vt:lpstr>
      <vt:lpstr>Ethernet Considerations</vt:lpstr>
      <vt:lpstr>Wi-Fi Considerations</vt:lpstr>
      <vt:lpstr>WAN Considerations</vt:lpstr>
      <vt:lpstr>Ransomware: How It Moves Across a Bank Network</vt:lpstr>
      <vt:lpstr>Supply Chain Attacks: When the Vendor Is the Way In</vt:lpstr>
      <vt:lpstr>Zero Trust: Stop Trusting the Network</vt:lpstr>
      <vt:lpstr>Many Sources for Baseline Security Measures</vt:lpstr>
      <vt:lpstr>Incident Response: When Something Goes Wrong on the Network</vt:lpstr>
      <vt:lpstr>InTREx Tie-In: Incident Response</vt:lpstr>
      <vt:lpstr>Chapter 30: Wrap-Up</vt:lpstr>
      <vt:lpstr>Thursday Wrap-Up: Applications and the Risk Landscape</vt:lpstr>
      <vt:lpstr>Chapter 31: Looking Ahead</vt:lpstr>
      <vt:lpstr>Where Networking Is Headed</vt:lpstr>
      <vt:lpstr>AI and the Network: Operations, Traffic, and Risk</vt:lpstr>
      <vt:lpstr>Quantum Computing and Today's Encryption</vt:lpstr>
      <vt:lpstr>Harvest Now, Decrypt Later</vt:lpstr>
      <vt:lpstr>Post-Quantum Cryptography: What Banks Will Need to Do</vt:lpstr>
      <vt:lpstr>Chapter 32: Fintech and the Changing Bank</vt:lpstr>
      <vt:lpstr>Fintech</vt:lpstr>
      <vt:lpstr>M&amp;A</vt:lpstr>
      <vt:lpstr>Chapter 33: Course Wrap-Up</vt:lpstr>
      <vt:lpstr>Exercise 5: Capstone</vt:lpstr>
      <vt:lpstr>Network Diagram Review, Revisited</vt:lpstr>
      <vt:lpstr>Branch to Cloud in Five Days: Course Review</vt:lpstr>
      <vt:lpstr>Thank You!</vt:lpstr>
    </vt:vector>
  </TitlesOfParts>
  <Manager>Matt Kolon</Manager>
  <Company>Hill Associates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Telecommunications</dc:title>
  <dc:subject>Telecom Technology</dc:subject>
  <dc:creator>Hill Associates Inc</dc:creator>
  <cp:keywords/>
  <dc:description>All materials copyright Hill Associates Inc.</dc:description>
  <cp:lastModifiedBy>Matt Kolon</cp:lastModifiedBy>
  <cp:revision>60</cp:revision>
  <cp:lastPrinted>2023-04-19T16:32:29Z</cp:lastPrinted>
  <dcterms:created xsi:type="dcterms:W3CDTF">2016-01-13T17:16:24Z</dcterms:created>
  <dcterms:modified xsi:type="dcterms:W3CDTF">2026-10-16T13:23:04Z</dcterms:modified>
  <cp:category/>
</cp:coreProperties>
</file>