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10.xml" ContentType="application/vnd.openxmlformats-officedocument.presentationml.tags+xml"/>
  <Override PartName="/ppt/notesSlides/notesSlide27.xml" ContentType="application/vnd.openxmlformats-officedocument.presentationml.notesSlide+xml"/>
  <Override PartName="/ppt/tags/tag11.xml" ContentType="application/vnd.openxmlformats-officedocument.presentationml.tags+xml"/>
  <Override PartName="/ppt/notesSlides/notesSlide28.xml" ContentType="application/vnd.openxmlformats-officedocument.presentationml.notesSlide+xml"/>
  <Override PartName="/ppt/tags/tag12.xml" ContentType="application/vnd.openxmlformats-officedocument.presentationml.tags+xml"/>
  <Override PartName="/ppt/notesSlides/notesSlide29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30.xml" ContentType="application/vnd.openxmlformats-officedocument.presentationml.notesSlide+xml"/>
  <Override PartName="/ppt/tags/tag15.xml" ContentType="application/vnd.openxmlformats-officedocument.presentationml.tags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tags/tag16.xml" ContentType="application/vnd.openxmlformats-officedocument.presentationml.tags+xml"/>
  <Override PartName="/ppt/notesSlides/notesSlide44.xml" ContentType="application/vnd.openxmlformats-officedocument.presentationml.notesSlide+xml"/>
  <Override PartName="/ppt/tags/tag17.xml" ContentType="application/vnd.openxmlformats-officedocument.presentationml.tags+xml"/>
  <Override PartName="/ppt/notesSlides/notesSlide45.xml" ContentType="application/vnd.openxmlformats-officedocument.presentationml.notesSlide+xml"/>
  <Override PartName="/ppt/tags/tag18.xml" ContentType="application/vnd.openxmlformats-officedocument.presentationml.tags+xml"/>
  <Override PartName="/ppt/notesSlides/notesSlide46.xml" ContentType="application/vnd.openxmlformats-officedocument.presentationml.notesSlide+xml"/>
  <Override PartName="/ppt/tags/tag19.xml" ContentType="application/vnd.openxmlformats-officedocument.presentationml.tags+xml"/>
  <Override PartName="/ppt/notesSlides/notesSlide47.xml" ContentType="application/vnd.openxmlformats-officedocument.presentationml.notesSlide+xml"/>
  <Override PartName="/ppt/tags/tag20.xml" ContentType="application/vnd.openxmlformats-officedocument.presentationml.tags+xml"/>
  <Override PartName="/ppt/notesSlides/notesSlide48.xml" ContentType="application/vnd.openxmlformats-officedocument.presentationml.notesSlide+xml"/>
  <Override PartName="/ppt/tags/tag21.xml" ContentType="application/vnd.openxmlformats-officedocument.presentationml.tags+xml"/>
  <Override PartName="/ppt/notesSlides/notesSlide49.xml" ContentType="application/vnd.openxmlformats-officedocument.presentationml.notesSlide+xml"/>
  <Override PartName="/ppt/tags/tag22.xml" ContentType="application/vnd.openxmlformats-officedocument.presentationml.tags+xml"/>
  <Override PartName="/ppt/notesSlides/notesSlide50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51.xml" ContentType="application/vnd.openxmlformats-officedocument.presentationml.notesSl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tags/tag27.xml" ContentType="application/vnd.openxmlformats-officedocument.presentationml.tags+xml"/>
  <Override PartName="/ppt/notesSlides/notesSlide54.xml" ContentType="application/vnd.openxmlformats-officedocument.presentationml.notesSlide+xml"/>
  <Override PartName="/ppt/tags/tag28.xml" ContentType="application/vnd.openxmlformats-officedocument.presentationml.tags+xml"/>
  <Override PartName="/ppt/notesSlides/notesSlide55.xml" ContentType="application/vnd.openxmlformats-officedocument.presentationml.notesSlide+xml"/>
  <Override PartName="/ppt/tags/tag29.xml" ContentType="application/vnd.openxmlformats-officedocument.presentationml.tags+xml"/>
  <Override PartName="/ppt/notesSlides/notesSlide56.xml" ContentType="application/vnd.openxmlformats-officedocument.presentationml.notesSlide+xml"/>
  <Override PartName="/ppt/tags/tag30.xml" ContentType="application/vnd.openxmlformats-officedocument.presentationml.tags+xml"/>
  <Override PartName="/ppt/notesSlides/notesSlide57.xml" ContentType="application/vnd.openxmlformats-officedocument.presentationml.notesSlide+xml"/>
  <Override PartName="/ppt/tags/tag31.xml" ContentType="application/vnd.openxmlformats-officedocument.presentationml.tags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tags/tag32.xml" ContentType="application/vnd.openxmlformats-officedocument.presentationml.tags+xml"/>
  <Override PartName="/ppt/notesSlides/notesSlide60.xml" ContentType="application/vnd.openxmlformats-officedocument.presentationml.notesSlide+xml"/>
  <Override PartName="/ppt/tags/tag33.xml" ContentType="application/vnd.openxmlformats-officedocument.presentationml.tags+xml"/>
  <Override PartName="/ppt/notesSlides/notesSlide61.xml" ContentType="application/vnd.openxmlformats-officedocument.presentationml.notesSlide+xml"/>
  <Override PartName="/ppt/tags/tag34.xml" ContentType="application/vnd.openxmlformats-officedocument.presentationml.tags+xml"/>
  <Override PartName="/ppt/notesSlides/notesSlide62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tags/tag39.xml" ContentType="application/vnd.openxmlformats-officedocument.presentationml.tags+xml"/>
  <Override PartName="/ppt/notesSlides/notesSlide65.xml" ContentType="application/vnd.openxmlformats-officedocument.presentationml.notesSlide+xml"/>
  <Override PartName="/ppt/tags/tag40.xml" ContentType="application/vnd.openxmlformats-officedocument.presentationml.tags+xml"/>
  <Override PartName="/ppt/notesSlides/notesSlide66.xml" ContentType="application/vnd.openxmlformats-officedocument.presentationml.notesSlide+xml"/>
  <Override PartName="/ppt/tags/tag41.xml" ContentType="application/vnd.openxmlformats-officedocument.presentationml.tags+xml"/>
  <Override PartName="/ppt/notesSlides/notesSlide67.xml" ContentType="application/vnd.openxmlformats-officedocument.presentationml.notesSlide+xml"/>
  <Override PartName="/ppt/tags/tag42.xml" ContentType="application/vnd.openxmlformats-officedocument.presentationml.tags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tags/tag43.xml" ContentType="application/vnd.openxmlformats-officedocument.presentationml.tags+xml"/>
  <Override PartName="/ppt/notesSlides/notesSlide73.xml" ContentType="application/vnd.openxmlformats-officedocument.presentationml.notesSlide+xml"/>
  <Override PartName="/ppt/tags/tag44.xml" ContentType="application/vnd.openxmlformats-officedocument.presentationml.tags+xml"/>
  <Override PartName="/ppt/notesSlides/notesSlide74.xml" ContentType="application/vnd.openxmlformats-officedocument.presentationml.notesSlide+xml"/>
  <Override PartName="/ppt/tags/tag45.xml" ContentType="application/vnd.openxmlformats-officedocument.presentationml.tags+xml"/>
  <Override PartName="/ppt/notesSlides/notesSlide75.xml" ContentType="application/vnd.openxmlformats-officedocument.presentationml.notesSlide+xml"/>
  <Override PartName="/ppt/tags/tag46.xml" ContentType="application/vnd.openxmlformats-officedocument.presentationml.tags+xml"/>
  <Override PartName="/ppt/notesSlides/notesSlide76.xml" ContentType="application/vnd.openxmlformats-officedocument.presentationml.notesSlide+xml"/>
  <Override PartName="/ppt/tags/tag47.xml" ContentType="application/vnd.openxmlformats-officedocument.presentationml.tags+xml"/>
  <Override PartName="/ppt/notesSlides/notesSlide77.xml" ContentType="application/vnd.openxmlformats-officedocument.presentationml.notesSlide+xml"/>
  <Override PartName="/ppt/tags/tag48.xml" ContentType="application/vnd.openxmlformats-officedocument.presentationml.tags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ags/tag49.xml" ContentType="application/vnd.openxmlformats-officedocument.presentationml.tags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tags/tag50.xml" ContentType="application/vnd.openxmlformats-officedocument.presentationml.tags+xml"/>
  <Override PartName="/ppt/notesSlides/notesSlide87.xml" ContentType="application/vnd.openxmlformats-officedocument.presentationml.notesSlide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88.xml" ContentType="application/vnd.openxmlformats-officedocument.presentationml.notesSlide+xml"/>
  <Override PartName="/ppt/tags/tag60.xml" ContentType="application/vnd.openxmlformats-officedocument.presentationml.tags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tags/tag61.xml" ContentType="application/vnd.openxmlformats-officedocument.presentationml.tags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ags/tag62.xml" ContentType="application/vnd.openxmlformats-officedocument.presentationml.tags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tags/tag63.xml" ContentType="application/vnd.openxmlformats-officedocument.presentationml.tags+xml"/>
  <Override PartName="/ppt/notesSlides/notesSlide114.xml" ContentType="application/vnd.openxmlformats-officedocument.presentationml.notesSlide+xml"/>
  <Override PartName="/ppt/tags/tag64.xml" ContentType="application/vnd.openxmlformats-officedocument.presentationml.tags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19.xml" ContentType="application/vnd.openxmlformats-officedocument.presentationml.notesSlide+xml"/>
  <Override PartName="/ppt/tags/tag68.xml" ContentType="application/vnd.openxmlformats-officedocument.presentationml.tags+xml"/>
  <Override PartName="/ppt/notesSlides/notesSlide120.xml" ContentType="application/vnd.openxmlformats-officedocument.presentationml.notesSlide+xml"/>
  <Override PartName="/ppt/tags/tag69.xml" ContentType="application/vnd.openxmlformats-officedocument.presentationml.tags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tags/tag70.xml" ContentType="application/vnd.openxmlformats-officedocument.presentationml.tags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tags/tag71.xml" ContentType="application/vnd.openxmlformats-officedocument.presentationml.tags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tags/tag72.xml" ContentType="application/vnd.openxmlformats-officedocument.presentationml.tags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tags/tag73.xml" ContentType="application/vnd.openxmlformats-officedocument.presentationml.tags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tags/tag74.xml" ContentType="application/vnd.openxmlformats-officedocument.presentationml.tags+xml"/>
  <Override PartName="/ppt/notesSlides/notesSlide151.xml" ContentType="application/vnd.openxmlformats-officedocument.presentationml.notesSlide+xml"/>
  <Override PartName="/ppt/tags/tag75.xml" ContentType="application/vnd.openxmlformats-officedocument.presentationml.tags+xml"/>
  <Override PartName="/ppt/notesSlides/notesSlide152.xml" ContentType="application/vnd.openxmlformats-officedocument.presentationml.notesSlide+xml"/>
  <Override PartName="/ppt/tags/tag76.xml" ContentType="application/vnd.openxmlformats-officedocument.presentationml.tags+xml"/>
  <Override PartName="/ppt/notesSlides/notesSlide153.xml" ContentType="application/vnd.openxmlformats-officedocument.presentationml.notesSlide+xml"/>
  <Override PartName="/ppt/tags/tag77.xml" ContentType="application/vnd.openxmlformats-officedocument.presentationml.tags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tags/tag78.xml" ContentType="application/vnd.openxmlformats-officedocument.presentationml.tags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tags/tag79.xml" ContentType="application/vnd.openxmlformats-officedocument.presentationml.tags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tags/tag80.xml" ContentType="application/vnd.openxmlformats-officedocument.presentationml.tags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tags/tag81.xml" ContentType="application/vnd.openxmlformats-officedocument.presentationml.tags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tags/tag82.xml" ContentType="application/vnd.openxmlformats-officedocument.presentationml.tags+xml"/>
  <Override PartName="/ppt/notesSlides/notesSlide18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2" r:id="rId1"/>
  </p:sldMasterIdLst>
  <p:notesMasterIdLst>
    <p:notesMasterId r:id="rId253"/>
  </p:notesMasterIdLst>
  <p:handoutMasterIdLst>
    <p:handoutMasterId r:id="rId254"/>
  </p:handoutMasterIdLst>
  <p:sldIdLst>
    <p:sldId id="256" r:id="rId2"/>
    <p:sldId id="1059" r:id="rId3"/>
    <p:sldId id="1352" r:id="rId4"/>
    <p:sldId id="571" r:id="rId5"/>
    <p:sldId id="1005" r:id="rId6"/>
    <p:sldId id="1558" r:id="rId7"/>
    <p:sldId id="540" r:id="rId8"/>
    <p:sldId id="995" r:id="rId9"/>
    <p:sldId id="1349" r:id="rId10"/>
    <p:sldId id="1353" r:id="rId11"/>
    <p:sldId id="275" r:id="rId12"/>
    <p:sldId id="276" r:id="rId13"/>
    <p:sldId id="1191" r:id="rId14"/>
    <p:sldId id="1190" r:id="rId15"/>
    <p:sldId id="547" r:id="rId16"/>
    <p:sldId id="548" r:id="rId17"/>
    <p:sldId id="549" r:id="rId18"/>
    <p:sldId id="1559" r:id="rId19"/>
    <p:sldId id="1354" r:id="rId20"/>
    <p:sldId id="1355" r:id="rId21"/>
    <p:sldId id="1356" r:id="rId22"/>
    <p:sldId id="1357" r:id="rId23"/>
    <p:sldId id="1358" r:id="rId24"/>
    <p:sldId id="1213" r:id="rId25"/>
    <p:sldId id="1458" r:id="rId26"/>
    <p:sldId id="601" r:id="rId27"/>
    <p:sldId id="1457" r:id="rId28"/>
    <p:sldId id="257" r:id="rId29"/>
    <p:sldId id="258" r:id="rId30"/>
    <p:sldId id="259" r:id="rId31"/>
    <p:sldId id="260" r:id="rId32"/>
    <p:sldId id="261" r:id="rId33"/>
    <p:sldId id="1459" r:id="rId34"/>
    <p:sldId id="1460" r:id="rId35"/>
    <p:sldId id="1461" r:id="rId36"/>
    <p:sldId id="1362" r:id="rId37"/>
    <p:sldId id="1214" r:id="rId38"/>
    <p:sldId id="1219" r:id="rId39"/>
    <p:sldId id="1215" r:id="rId40"/>
    <p:sldId id="1217" r:id="rId41"/>
    <p:sldId id="1220" r:id="rId42"/>
    <p:sldId id="1216" r:id="rId43"/>
    <p:sldId id="1221" r:id="rId44"/>
    <p:sldId id="1224" r:id="rId45"/>
    <p:sldId id="1218" r:id="rId46"/>
    <p:sldId id="1225" r:id="rId47"/>
    <p:sldId id="1226" r:id="rId48"/>
    <p:sldId id="1227" r:id="rId49"/>
    <p:sldId id="1228" r:id="rId50"/>
    <p:sldId id="1229" r:id="rId51"/>
    <p:sldId id="1230" r:id="rId52"/>
    <p:sldId id="1231" r:id="rId53"/>
    <p:sldId id="1235" r:id="rId54"/>
    <p:sldId id="1364" r:id="rId55"/>
    <p:sldId id="1462" r:id="rId56"/>
    <p:sldId id="1367" r:id="rId57"/>
    <p:sldId id="1371" r:id="rId58"/>
    <p:sldId id="1244" r:id="rId59"/>
    <p:sldId id="1261" r:id="rId60"/>
    <p:sldId id="1262" r:id="rId61"/>
    <p:sldId id="1464" r:id="rId62"/>
    <p:sldId id="1266" r:id="rId63"/>
    <p:sldId id="1269" r:id="rId64"/>
    <p:sldId id="1267" r:id="rId65"/>
    <p:sldId id="1270" r:id="rId66"/>
    <p:sldId id="1274" r:id="rId67"/>
    <p:sldId id="1286" r:id="rId68"/>
    <p:sldId id="1285" r:id="rId69"/>
    <p:sldId id="1287" r:id="rId70"/>
    <p:sldId id="1288" r:id="rId71"/>
    <p:sldId id="1289" r:id="rId72"/>
    <p:sldId id="1290" r:id="rId73"/>
    <p:sldId id="1301" r:id="rId74"/>
    <p:sldId id="1463" r:id="rId75"/>
    <p:sldId id="1374" r:id="rId76"/>
    <p:sldId id="1280" r:id="rId77"/>
    <p:sldId id="1281" r:id="rId78"/>
    <p:sldId id="1282" r:id="rId79"/>
    <p:sldId id="1283" r:id="rId80"/>
    <p:sldId id="595" r:id="rId81"/>
    <p:sldId id="1465" r:id="rId82"/>
    <p:sldId id="1466" r:id="rId83"/>
    <p:sldId id="1467" r:id="rId84"/>
    <p:sldId id="1379" r:id="rId85"/>
    <p:sldId id="1380" r:id="rId86"/>
    <p:sldId id="1278" r:id="rId87"/>
    <p:sldId id="1259" r:id="rId88"/>
    <p:sldId id="565" r:id="rId89"/>
    <p:sldId id="1193" r:id="rId90"/>
    <p:sldId id="551" r:id="rId91"/>
    <p:sldId id="552" r:id="rId92"/>
    <p:sldId id="553" r:id="rId93"/>
    <p:sldId id="555" r:id="rId94"/>
    <p:sldId id="557" r:id="rId95"/>
    <p:sldId id="556" r:id="rId96"/>
    <p:sldId id="289" r:id="rId97"/>
    <p:sldId id="1204" r:id="rId98"/>
    <p:sldId id="1205" r:id="rId99"/>
    <p:sldId id="1381" r:id="rId100"/>
    <p:sldId id="1236" r:id="rId101"/>
    <p:sldId id="1237" r:id="rId102"/>
    <p:sldId id="1240" r:id="rId103"/>
    <p:sldId id="1246" r:id="rId104"/>
    <p:sldId id="1241" r:id="rId105"/>
    <p:sldId id="1350" r:id="rId106"/>
    <p:sldId id="1242" r:id="rId107"/>
    <p:sldId id="1250" r:id="rId108"/>
    <p:sldId id="1383" r:id="rId109"/>
    <p:sldId id="1253" r:id="rId110"/>
    <p:sldId id="1254" r:id="rId111"/>
    <p:sldId id="1255" r:id="rId112"/>
    <p:sldId id="1384" r:id="rId113"/>
    <p:sldId id="1197" r:id="rId114"/>
    <p:sldId id="1303" r:id="rId115"/>
    <p:sldId id="1306" r:id="rId116"/>
    <p:sldId id="1307" r:id="rId117"/>
    <p:sldId id="1304" r:id="rId118"/>
    <p:sldId id="1319" r:id="rId119"/>
    <p:sldId id="1469" r:id="rId120"/>
    <p:sldId id="1470" r:id="rId121"/>
    <p:sldId id="1396" r:id="rId122"/>
    <p:sldId id="1471" r:id="rId123"/>
    <p:sldId id="1472" r:id="rId124"/>
    <p:sldId id="1397" r:id="rId125"/>
    <p:sldId id="1398" r:id="rId126"/>
    <p:sldId id="1399" r:id="rId127"/>
    <p:sldId id="1400" r:id="rId128"/>
    <p:sldId id="1401" r:id="rId129"/>
    <p:sldId id="1402" r:id="rId130"/>
    <p:sldId id="1473" r:id="rId131"/>
    <p:sldId id="1468" r:id="rId132"/>
    <p:sldId id="1474" r:id="rId133"/>
    <p:sldId id="1475" r:id="rId134"/>
    <p:sldId id="1476" r:id="rId135"/>
    <p:sldId id="1408" r:id="rId136"/>
    <p:sldId id="1477" r:id="rId137"/>
    <p:sldId id="1410" r:id="rId138"/>
    <p:sldId id="1411" r:id="rId139"/>
    <p:sldId id="1412" r:id="rId140"/>
    <p:sldId id="1413" r:id="rId141"/>
    <p:sldId id="1478" r:id="rId142"/>
    <p:sldId id="1415" r:id="rId143"/>
    <p:sldId id="1416" r:id="rId144"/>
    <p:sldId id="1417" r:id="rId145"/>
    <p:sldId id="1418" r:id="rId146"/>
    <p:sldId id="1419" r:id="rId147"/>
    <p:sldId id="1420" r:id="rId148"/>
    <p:sldId id="1421" r:id="rId149"/>
    <p:sldId id="1422" r:id="rId150"/>
    <p:sldId id="1423" r:id="rId151"/>
    <p:sldId id="1424" r:id="rId152"/>
    <p:sldId id="1425" r:id="rId153"/>
    <p:sldId id="1427" r:id="rId154"/>
    <p:sldId id="1429" r:id="rId155"/>
    <p:sldId id="1430" r:id="rId156"/>
    <p:sldId id="1431" r:id="rId157"/>
    <p:sldId id="1432" r:id="rId158"/>
    <p:sldId id="1433" r:id="rId159"/>
    <p:sldId id="1434" r:id="rId160"/>
    <p:sldId id="1435" r:id="rId161"/>
    <p:sldId id="1436" r:id="rId162"/>
    <p:sldId id="1437" r:id="rId163"/>
    <p:sldId id="1438" r:id="rId164"/>
    <p:sldId id="1439" r:id="rId165"/>
    <p:sldId id="1440" r:id="rId166"/>
    <p:sldId id="1441" r:id="rId167"/>
    <p:sldId id="1442" r:id="rId168"/>
    <p:sldId id="1443" r:id="rId169"/>
    <p:sldId id="1444" r:id="rId170"/>
    <p:sldId id="1446" r:id="rId171"/>
    <p:sldId id="1448" r:id="rId172"/>
    <p:sldId id="1449" r:id="rId173"/>
    <p:sldId id="1450" r:id="rId174"/>
    <p:sldId id="1452" r:id="rId175"/>
    <p:sldId id="1453" r:id="rId176"/>
    <p:sldId id="1454" r:id="rId177"/>
    <p:sldId id="1479" r:id="rId178"/>
    <p:sldId id="1480" r:id="rId179"/>
    <p:sldId id="1482" r:id="rId180"/>
    <p:sldId id="1483" r:id="rId181"/>
    <p:sldId id="1485" r:id="rId182"/>
    <p:sldId id="1486" r:id="rId183"/>
    <p:sldId id="1487" r:id="rId184"/>
    <p:sldId id="1488" r:id="rId185"/>
    <p:sldId id="1489" r:id="rId186"/>
    <p:sldId id="1490" r:id="rId187"/>
    <p:sldId id="1491" r:id="rId188"/>
    <p:sldId id="1492" r:id="rId189"/>
    <p:sldId id="1493" r:id="rId190"/>
    <p:sldId id="1494" r:id="rId191"/>
    <p:sldId id="1495" r:id="rId192"/>
    <p:sldId id="1496" r:id="rId193"/>
    <p:sldId id="1497" r:id="rId194"/>
    <p:sldId id="1498" r:id="rId195"/>
    <p:sldId id="1499" r:id="rId196"/>
    <p:sldId id="1500" r:id="rId197"/>
    <p:sldId id="1501" r:id="rId198"/>
    <p:sldId id="1502" r:id="rId199"/>
    <p:sldId id="1503" r:id="rId200"/>
    <p:sldId id="1504" r:id="rId201"/>
    <p:sldId id="1505" r:id="rId202"/>
    <p:sldId id="1506" r:id="rId203"/>
    <p:sldId id="1507" r:id="rId204"/>
    <p:sldId id="1508" r:id="rId205"/>
    <p:sldId id="1509" r:id="rId206"/>
    <p:sldId id="1510" r:id="rId207"/>
    <p:sldId id="1511" r:id="rId208"/>
    <p:sldId id="1512" r:id="rId209"/>
    <p:sldId id="1513" r:id="rId210"/>
    <p:sldId id="1514" r:id="rId211"/>
    <p:sldId id="1515" r:id="rId212"/>
    <p:sldId id="1516" r:id="rId213"/>
    <p:sldId id="1517" r:id="rId214"/>
    <p:sldId id="1518" r:id="rId215"/>
    <p:sldId id="1519" r:id="rId216"/>
    <p:sldId id="1520" r:id="rId217"/>
    <p:sldId id="1521" r:id="rId218"/>
    <p:sldId id="1522" r:id="rId219"/>
    <p:sldId id="1523" r:id="rId220"/>
    <p:sldId id="1524" r:id="rId221"/>
    <p:sldId id="1525" r:id="rId222"/>
    <p:sldId id="1526" r:id="rId223"/>
    <p:sldId id="1527" r:id="rId224"/>
    <p:sldId id="1528" r:id="rId225"/>
    <p:sldId id="1529" r:id="rId226"/>
    <p:sldId id="1530" r:id="rId227"/>
    <p:sldId id="1531" r:id="rId228"/>
    <p:sldId id="1532" r:id="rId229"/>
    <p:sldId id="1533" r:id="rId230"/>
    <p:sldId id="1534" r:id="rId231"/>
    <p:sldId id="1535" r:id="rId232"/>
    <p:sldId id="1536" r:id="rId233"/>
    <p:sldId id="1537" r:id="rId234"/>
    <p:sldId id="1538" r:id="rId235"/>
    <p:sldId id="1539" r:id="rId236"/>
    <p:sldId id="1540" r:id="rId237"/>
    <p:sldId id="1541" r:id="rId238"/>
    <p:sldId id="1544" r:id="rId239"/>
    <p:sldId id="1545" r:id="rId240"/>
    <p:sldId id="1546" r:id="rId241"/>
    <p:sldId id="1547" r:id="rId242"/>
    <p:sldId id="1548" r:id="rId243"/>
    <p:sldId id="1549" r:id="rId244"/>
    <p:sldId id="1550" r:id="rId245"/>
    <p:sldId id="1551" r:id="rId246"/>
    <p:sldId id="1552" r:id="rId247"/>
    <p:sldId id="1553" r:id="rId248"/>
    <p:sldId id="1554" r:id="rId249"/>
    <p:sldId id="1555" r:id="rId250"/>
    <p:sldId id="1556" r:id="rId251"/>
    <p:sldId id="1557" r:id="rId252"/>
  </p:sldIdLst>
  <p:sldSz cx="18288000" cy="10287000"/>
  <p:notesSz cx="6858000" cy="9144000"/>
  <p:custDataLst>
    <p:tags r:id="rId25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285484-1A6D-208A-100F-26CC720AE48E}" name="Matt Kolon" initials="MK" userId="S::mkolon@hill.com::23ffe71c-c649-46c6-9921-4f3dbcef114c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epiker" initials="F" lastIdx="1" clrIdx="0">
    <p:extLst>
      <p:ext uri="{19B8F6BF-5375-455C-9EA6-DF929625EA0E}">
        <p15:presenceInfo xmlns:p15="http://schemas.microsoft.com/office/powerpoint/2012/main" userId="Freepiker" providerId="None"/>
      </p:ext>
    </p:extLst>
  </p:cmAuthor>
  <p:cmAuthor id="2" name="User" initials="U" lastIdx="3" clrIdx="1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00"/>
    <a:srgbClr val="FF40FF"/>
    <a:srgbClr val="0432FF"/>
    <a:srgbClr val="008F00"/>
    <a:srgbClr val="EE4C59"/>
    <a:srgbClr val="E6E6E6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688"/>
    <p:restoredTop sz="88217"/>
  </p:normalViewPr>
  <p:slideViewPr>
    <p:cSldViewPr snapToGrid="0">
      <p:cViewPr varScale="1">
        <p:scale>
          <a:sx n="50" d="100"/>
          <a:sy n="50" d="100"/>
        </p:scale>
        <p:origin x="168" y="600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6" d="100"/>
        <a:sy n="11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theme" Target="theme/theme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tableStyles" Target="tableStyle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microsoft.com/office/2018/10/relationships/authors" Target="author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handoutMaster" Target="handoutMasters/handout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tags" Target="tags/tag1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commentAuthors" Target="commentAuthor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presProps" Target="presProps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5F1CD92-DA11-42CA-9E28-F57FD4F371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37265-C715-4164-8B30-E32A9AE553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52FC6-64DD-41BE-A95D-2E3785E1B9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45297-E8C3-4A56-9516-E18309FF2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280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F10FA5-98E6-FB4E-97B6-D4EB979E8963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22E1E8-19DD-9846-964E-7494B0E7F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0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22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652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C118C42-2F87-4F74-AD38-A7FA6FE02AAE}" type="datetime1">
              <a:rPr lang="en-US" smtClean="0"/>
              <a:t>10/17/26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</a:t>
            </a:fld>
            <a:endParaRPr lang="en-US" sz="1100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3764711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566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1A161C8-7D90-4685-B3C0-33CC435F1DAE}" type="datetime1">
              <a:rPr lang="en-US" smtClean="0"/>
              <a:t>10/17/26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</a:t>
            </a:fld>
            <a:endParaRPr lang="en-US" sz="110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1851892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76CC594-A874-41A3-B947-FF4B49B1AC6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56125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/>
          </a:p>
          <a:p>
            <a:fld id="{B1C036EB-380B-4DEC-A52F-64035BDA91D1}" type="datetime1">
              <a:rPr lang="en-US" smtClean="0"/>
              <a:pPr/>
              <a:t>10/17/26</a:t>
            </a:fld>
            <a:endParaRPr lang="en-US"/>
          </a:p>
        </p:txBody>
      </p:sp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2399581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789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7222" name="Rectangle 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772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82A0E01-8450-42FE-B0D7-F149AE5287F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86239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04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5F4A51-4FA1-4686-92EC-FCF99B8F7186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03763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4519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8822596-500F-452A-8D6D-8FB64E5746F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4348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08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4267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292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188198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4067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355388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364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89381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18914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5097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3131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37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532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A9550E4-9E0C-4727-A4E1-00A1454DA9D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451799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46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5262206-255C-4BAD-8910-ACE3632D23E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59854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456B8E-86B7-4862-B54F-083F9F6B1E1A}" type="datetime1">
              <a:rPr lang="en-US" smtClean="0"/>
              <a:t>10/17/26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48</a:t>
            </a:fld>
            <a:endParaRPr lang="en-US" sz="1100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Security of Wireless Local Area Networks</a:t>
            </a:r>
          </a:p>
        </p:txBody>
      </p:sp>
    </p:spTree>
    <p:extLst>
      <p:ext uri="{BB962C8B-B14F-4D97-AF65-F5344CB8AC3E}">
        <p14:creationId xmlns:p14="http://schemas.microsoft.com/office/powerpoint/2010/main" val="18635578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51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4D690D5-2CF3-4104-AC1A-F5B4DDA5043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183228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52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9D117E65-E4AA-4F8A-8523-52F765EE889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066883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99664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570624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55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7049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12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5532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8352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5762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4584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6168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18847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40576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5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825523D-78D0-4900-ACEE-EB50C9F99AEF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99216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0D33AF9-4693-42E8-A370-BA4D82451F2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337483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4DC3347-BE6F-4AA4-A28E-4B1B2087967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2512050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923B5A7-51CD-4DD0-ADE0-B266D47E00C0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334917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lnSpc>
                <a:spcPct val="105000"/>
              </a:lnSpc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0D8C6CD-85C7-48C4-AB8E-2E6719568096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433133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69FD7EC-F47F-44A8-B38E-250E0F550DB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622968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0818554-71B0-49BC-8F23-4220421F785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0421594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CA10C4CB-5BCA-41EA-99F0-234C4E051D9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0330505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7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E03EAFB-D975-4451-8BAF-63E902FFBCC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4485078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452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12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C8F5A8-D468-41A9-9882-5CC156DF458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5602158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65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8C41700-A605-4ED7-90C4-12B0E2CF942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918608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1452D-7A9B-4D40-A426-51BEF6459F0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8027810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24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8159A-3813-478D-899F-5465F545741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80285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4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2EEBAA2-B8D7-4CB1-B5B8-671AA8FF0F2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218046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32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B247C3B-249E-4ACB-A85B-9071B2BC9E51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4212778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9BAFF65-284C-4E79-8268-654603B4B0D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8466215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32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ACBB9AC-BFF6-4AD4-AD2B-1848F179B5B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5310548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C85E06C-0BDA-4A15-948B-DC437F4554C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426929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55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9397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6BB5C74-EDBC-4299-A3A7-F50B2A406E1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9604425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17AE9EC-C407-4A87-8E3C-2333C660593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5755739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7349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D690599-493A-445E-AF95-246CD280464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4299693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288650B-CFFE-4560-B1EE-6A46104B6D6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460685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7858186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31653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859713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452754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83CFC98E-4963-49FD-89F8-B185A5883DE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0254109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B51411CE-9C6D-4040-9094-46934A92BEE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83741881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CEB8B8C7-4739-40B4-980B-4872CFA3125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59003856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0C7DCBE-9992-428F-B547-A8F520081C1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1667715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0F576203-A7F5-4087-8CC0-C0777CD6540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975071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BCFCE50-EB45-4066-BE66-A248F33B334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444894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315417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40593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940641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43675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2715444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7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FAB598C3-B51E-4F22-8313-E8FE5FE6279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4423540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937503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916665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7254844-AA6D-4035-BFCD-865CD32E1D3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63409696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2771" name="Notes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16DDE1F6-ECDD-4DB1-BF6F-11390D0C7FEE}" type="slidenum">
              <a:rPr lang="en-US" smtClean="0">
                <a:latin typeface="Arial" charset="0"/>
              </a:rPr>
              <a:pPr/>
              <a:t>140</a:t>
            </a:fld>
            <a:endParaRPr lang="en-US">
              <a:latin typeface="Arial" charset="0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AA63B73A-4FCF-4A72-9829-5BCDE5F660B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2819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228289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10/17/26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142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67492755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E1B4BC1-5A24-4CC0-B2DC-1B848AA0E7F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720761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Security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300"/>
          </a:p>
          <a:p>
            <a:fld id="{C564C4D0-D5D0-448C-8034-21C1ECF56A5D}" type="datetime1">
              <a:rPr lang="en-US" smtClean="0"/>
              <a:t>10/17/26</a:t>
            </a:fld>
            <a:endParaRPr lang="en-US" sz="13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148</a:t>
            </a:fld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729009459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10/17/26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153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1017116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0138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5525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172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A53055-590B-428F-96B8-77B0259DF27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54940642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4758967-70D1-4828-B3DD-528FB1A7D22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85141928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24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2C09805-7986-4C2A-8273-15FF635E4FE0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786799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44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D358B43-8647-4238-9F4E-AB1862FAB3C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252078296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30789C6-A9DB-41B8-9997-9525918005A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7688645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0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CAB1FC9-520E-4A05-817B-5A6C06A641F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5146086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4945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2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92B240B-425F-4EDF-A624-D14782349AE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73828507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54051" name="Rectangle 9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208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8C6210C-0F8C-423B-83EA-91C05A5B13E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72659609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377F13-34CC-6843-96E7-4A03CB8BBE85}" type="slidenum">
              <a:rPr lang="en-US" smtClean="0"/>
              <a:pPr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56543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558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EC985DE-DFE3-4D08-817B-6A53C485A6D1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73286612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Image Placeholder 1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808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C598F6F-BD35-44E7-B3BD-0FE67BC828F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0214848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9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FAB1FF5-248C-4368-9E6D-028A49ED2C6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70446708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94670349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2457553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221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3614C1C-5388-4F9B-B120-FCF27F721D9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2448563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6B2613A-B020-4642-93D8-E3EC487F698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69772119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24452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6038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2998E1-FF9A-4F16-9CB2-D7421B9953F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39900485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235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40C8D3F-11A1-4813-9110-ABDE8A0DC20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4348272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23000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1126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251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9668420-1D61-48E2-908A-5C9858245B5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3867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44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5773400" cy="1988345"/>
          </a:xfrm>
        </p:spPr>
        <p:txBody>
          <a:bodyPr/>
          <a:lstStyle>
            <a:lvl1pPr>
              <a:defRPr b="1" i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6967198"/>
          </a:xfrm>
        </p:spPr>
        <p:txBody>
          <a:bodyPr/>
          <a:lstStyle>
            <a:lvl1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8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77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36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1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13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378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56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28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1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4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7D48983-1E68-4266-AEF9-EDACD0A437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4409114"/>
              <a:gd name="connsiteY0" fmla="*/ 0 h 2126547"/>
              <a:gd name="connsiteX1" fmla="*/ 4409114 w 4409114"/>
              <a:gd name="connsiteY1" fmla="*/ 0 h 2126547"/>
              <a:gd name="connsiteX2" fmla="*/ 4409114 w 4409114"/>
              <a:gd name="connsiteY2" fmla="*/ 2126547 h 2126547"/>
              <a:gd name="connsiteX3" fmla="*/ 0 w 4409114"/>
              <a:gd name="connsiteY3" fmla="*/ 2126547 h 2126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9114" h="2126547">
                <a:moveTo>
                  <a:pt x="0" y="0"/>
                </a:moveTo>
                <a:lnTo>
                  <a:pt x="4409114" y="0"/>
                </a:lnTo>
                <a:lnTo>
                  <a:pt x="4409114" y="2126547"/>
                </a:lnTo>
                <a:lnTo>
                  <a:pt x="0" y="212654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266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63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2628"/>
            <a:ext cx="14484096" cy="1028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857375"/>
            <a:ext cx="16719550" cy="37076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8851" y="5793583"/>
            <a:ext cx="16719550" cy="3709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4"/>
          <p:cNvSpPr txBox="1">
            <a:spLocks/>
          </p:cNvSpPr>
          <p:nvPr userDrawn="1"/>
        </p:nvSpPr>
        <p:spPr bwMode="auto">
          <a:xfrm>
            <a:off x="25400" y="9829800"/>
            <a:ext cx="1498600" cy="60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13716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D7CFD21-2187-4AB0-AF81-314BDAA17E41}" type="slidenum">
              <a:rPr kumimoji="0" lang="en-US" sz="135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pPr marL="0" marR="0" lvl="0" indent="0" algn="l" defTabSz="1371600" rtl="0" eaLnBrk="1" fontAlgn="base" latinLnBrk="0" hangingPunct="1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59704715"/>
      </p:ext>
    </p:extLst>
  </p:cSld>
  <p:clrMapOvr>
    <a:masterClrMapping/>
  </p:clrMapOvr>
  <p:transition>
    <p:pull dir="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914400" y="1188718"/>
            <a:ext cx="11887200" cy="411480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8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>
          <a:xfrm>
            <a:off x="15087600" y="9400032"/>
            <a:ext cx="18288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Month 00, 0000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latin typeface="+mn-lt"/>
              </a:defRPr>
            </a:lvl1pPr>
          </a:lstStyle>
          <a:p>
            <a:fld id="{E12D0507-9F86-7A45-BE8E-43760B9F92A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82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73D457C-25ED-9A44-A323-71B6ADD9446C}"/>
              </a:ext>
            </a:extLst>
          </p:cNvPr>
          <p:cNvSpPr/>
          <p:nvPr userDrawn="1"/>
        </p:nvSpPr>
        <p:spPr>
          <a:xfrm>
            <a:off x="0" y="0"/>
            <a:ext cx="18288000" cy="5476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EFABEC-E756-8E44-841A-502FD0AAB099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266634" y="0"/>
            <a:ext cx="1021366" cy="5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721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784" r:id="rId2"/>
    <p:sldLayoutId id="2147483785" r:id="rId3"/>
    <p:sldLayoutId id="2147483786" r:id="rId4"/>
    <p:sldLayoutId id="2147483787" r:id="rId5"/>
    <p:sldLayoutId id="2147483788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61" r:id="rId13"/>
    <p:sldLayoutId id="2147483800" r:id="rId14"/>
    <p:sldLayoutId id="2147483801" r:id="rId15"/>
  </p:sldLayoutIdLst>
  <p:hf sldNum="0"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lass.hillvt.co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3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3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36.svg"/><Relationship Id="rId4" Type="http://schemas.openxmlformats.org/officeDocument/2006/relationships/image" Target="../media/image34.svg"/><Relationship Id="rId9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0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3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2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1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6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7.svg"/><Relationship Id="rId11" Type="http://schemas.openxmlformats.org/officeDocument/2006/relationships/image" Target="../media/image43.png"/><Relationship Id="rId5" Type="http://schemas.openxmlformats.org/officeDocument/2006/relationships/image" Target="../media/image66.png"/><Relationship Id="rId10" Type="http://schemas.openxmlformats.org/officeDocument/2006/relationships/image" Target="../media/image69.svg"/><Relationship Id="rId4" Type="http://schemas.openxmlformats.org/officeDocument/2006/relationships/image" Target="../media/image65.svg"/><Relationship Id="rId9" Type="http://schemas.openxmlformats.org/officeDocument/2006/relationships/image" Target="../media/image6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68.png"/><Relationship Id="rId5" Type="http://schemas.openxmlformats.org/officeDocument/2006/relationships/image" Target="../media/image10.png"/><Relationship Id="rId10" Type="http://schemas.openxmlformats.org/officeDocument/2006/relationships/image" Target="../media/image7.svg"/><Relationship Id="rId4" Type="http://schemas.openxmlformats.org/officeDocument/2006/relationships/image" Target="../media/image65.svg"/><Relationship Id="rId9" Type="http://schemas.openxmlformats.org/officeDocument/2006/relationships/image" Target="../media/image6.png"/><Relationship Id="rId14" Type="http://schemas.openxmlformats.org/officeDocument/2006/relationships/image" Target="../media/image44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24" Type="http://schemas.openxmlformats.org/officeDocument/2006/relationships/image" Target="../media/image77.sv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2.png"/><Relationship Id="rId12" Type="http://schemas.openxmlformats.org/officeDocument/2006/relationships/image" Target="../media/image44.svg"/><Relationship Id="rId17" Type="http://schemas.openxmlformats.org/officeDocument/2006/relationships/image" Target="../media/image6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29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43.png"/><Relationship Id="rId24" Type="http://schemas.openxmlformats.org/officeDocument/2006/relationships/image" Target="../media/image77.svg"/><Relationship Id="rId32" Type="http://schemas.openxmlformats.org/officeDocument/2006/relationships/image" Target="../media/image9.sv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71.svg"/><Relationship Id="rId19" Type="http://schemas.openxmlformats.org/officeDocument/2006/relationships/image" Target="../media/image68.png"/><Relationship Id="rId31" Type="http://schemas.openxmlformats.org/officeDocument/2006/relationships/image" Target="../media/image8.png"/><Relationship Id="rId4" Type="http://schemas.openxmlformats.org/officeDocument/2006/relationships/image" Target="../media/image65.svg"/><Relationship Id="rId9" Type="http://schemas.openxmlformats.org/officeDocument/2006/relationships/image" Target="../media/image70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Relationship Id="rId30" Type="http://schemas.openxmlformats.org/officeDocument/2006/relationships/image" Target="../media/image34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0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3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2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1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84.png"/><Relationship Id="rId18" Type="http://schemas.openxmlformats.org/officeDocument/2006/relationships/image" Target="../media/image54.svg"/><Relationship Id="rId26" Type="http://schemas.openxmlformats.org/officeDocument/2006/relationships/image" Target="../media/image62.svg"/><Relationship Id="rId3" Type="http://schemas.openxmlformats.org/officeDocument/2006/relationships/image" Target="../media/image10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77.svg"/><Relationship Id="rId20" Type="http://schemas.openxmlformats.org/officeDocument/2006/relationships/image" Target="../media/image5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36.svg"/><Relationship Id="rId5" Type="http://schemas.openxmlformats.org/officeDocument/2006/relationships/image" Target="../media/image41.png"/><Relationship Id="rId15" Type="http://schemas.openxmlformats.org/officeDocument/2006/relationships/image" Target="../media/image76.png"/><Relationship Id="rId23" Type="http://schemas.openxmlformats.org/officeDocument/2006/relationships/image" Target="../media/image35.png"/><Relationship Id="rId10" Type="http://schemas.openxmlformats.org/officeDocument/2006/relationships/image" Target="../media/image83.svg"/><Relationship Id="rId19" Type="http://schemas.openxmlformats.org/officeDocument/2006/relationships/image" Target="../media/image55.png"/><Relationship Id="rId4" Type="http://schemas.openxmlformats.org/officeDocument/2006/relationships/image" Target="../media/image11.svg"/><Relationship Id="rId9" Type="http://schemas.openxmlformats.org/officeDocument/2006/relationships/image" Target="../media/image82.png"/><Relationship Id="rId14" Type="http://schemas.openxmlformats.org/officeDocument/2006/relationships/image" Target="../media/image85.svg"/><Relationship Id="rId22" Type="http://schemas.openxmlformats.org/officeDocument/2006/relationships/image" Target="../media/image58.sv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sv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5" Type="http://schemas.openxmlformats.org/officeDocument/2006/relationships/image" Target="../media/image95.png"/><Relationship Id="rId4" Type="http://schemas.openxmlformats.org/officeDocument/2006/relationships/image" Target="../media/image94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97.png"/><Relationship Id="rId5" Type="http://schemas.openxmlformats.org/officeDocument/2006/relationships/hyperlink" Target="https://www.wi-fi.org/" TargetMode="External"/><Relationship Id="rId4" Type="http://schemas.openxmlformats.org/officeDocument/2006/relationships/image" Target="../media/image9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99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4" Type="http://schemas.openxmlformats.org/officeDocument/2006/relationships/image" Target="../media/image101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102.tif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image" Target="../media/image43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0" Type="http://schemas.openxmlformats.org/officeDocument/2006/relationships/image" Target="../media/image7.svg"/><Relationship Id="rId4" Type="http://schemas.openxmlformats.org/officeDocument/2006/relationships/image" Target="../media/image44.svg"/><Relationship Id="rId9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4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File:DynaTAC8000X.jpg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jpe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svg"/><Relationship Id="rId3" Type="http://schemas.openxmlformats.org/officeDocument/2006/relationships/image" Target="../media/image64.png"/><Relationship Id="rId7" Type="http://schemas.openxmlformats.org/officeDocument/2006/relationships/image" Target="../media/image114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svg"/><Relationship Id="rId11" Type="http://schemas.openxmlformats.org/officeDocument/2006/relationships/image" Target="../media/image14.png"/><Relationship Id="rId5" Type="http://schemas.openxmlformats.org/officeDocument/2006/relationships/image" Target="../media/image112.png"/><Relationship Id="rId10" Type="http://schemas.openxmlformats.org/officeDocument/2006/relationships/image" Target="../media/image11.svg"/><Relationship Id="rId4" Type="http://schemas.openxmlformats.org/officeDocument/2006/relationships/image" Target="../media/image65.svg"/><Relationship Id="rId9" Type="http://schemas.openxmlformats.org/officeDocument/2006/relationships/image" Target="../media/image1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65.sv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wmf"/><Relationship Id="rId3" Type="http://schemas.openxmlformats.org/officeDocument/2006/relationships/notesSlide" Target="../notesSlides/notesSlide44.xml"/><Relationship Id="rId7" Type="http://schemas.openxmlformats.org/officeDocument/2006/relationships/image" Target="../media/image119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118.wmf"/><Relationship Id="rId5" Type="http://schemas.openxmlformats.org/officeDocument/2006/relationships/image" Target="../media/image117.wmf"/><Relationship Id="rId4" Type="http://schemas.openxmlformats.org/officeDocument/2006/relationships/image" Target="../media/image116.wmf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122.svg"/><Relationship Id="rId4" Type="http://schemas.openxmlformats.org/officeDocument/2006/relationships/image" Target="../media/image12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23.jpe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6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125.png"/><Relationship Id="rId5" Type="http://schemas.openxmlformats.org/officeDocument/2006/relationships/image" Target="../media/image124.wmf"/><Relationship Id="rId4" Type="http://schemas.openxmlformats.org/officeDocument/2006/relationships/notesSlide" Target="../notesSlides/notesSlide51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5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124.wmf"/><Relationship Id="rId5" Type="http://schemas.openxmlformats.org/officeDocument/2006/relationships/image" Target="../media/image127.wmf"/><Relationship Id="rId4" Type="http://schemas.openxmlformats.org/officeDocument/2006/relationships/notesSlide" Target="../notesSlides/notesSlide5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45.png"/><Relationship Id="rId7" Type="http://schemas.microsoft.com/office/2007/relationships/hdphoto" Target="../media/hdphoto1.wdp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11" Type="http://schemas.openxmlformats.org/officeDocument/2006/relationships/image" Target="../media/image132.png"/><Relationship Id="rId5" Type="http://schemas.openxmlformats.org/officeDocument/2006/relationships/image" Target="../media/image90.jpeg"/><Relationship Id="rId10" Type="http://schemas.openxmlformats.org/officeDocument/2006/relationships/image" Target="../media/image131.png"/><Relationship Id="rId4" Type="http://schemas.openxmlformats.org/officeDocument/2006/relationships/image" Target="../media/image46.svg"/><Relationship Id="rId9" Type="http://schemas.openxmlformats.org/officeDocument/2006/relationships/image" Target="../media/image130.sv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133.tiff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4" Type="http://schemas.openxmlformats.org/officeDocument/2006/relationships/image" Target="../media/image134.jpe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7" Type="http://schemas.openxmlformats.org/officeDocument/2006/relationships/image" Target="../media/image137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6" Type="http://schemas.openxmlformats.org/officeDocument/2006/relationships/image" Target="../media/image136.tiff"/><Relationship Id="rId5" Type="http://schemas.openxmlformats.org/officeDocument/2006/relationships/image" Target="../media/image124.wmf"/><Relationship Id="rId4" Type="http://schemas.openxmlformats.org/officeDocument/2006/relationships/image" Target="../media/image135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4" Type="http://schemas.openxmlformats.org/officeDocument/2006/relationships/image" Target="../media/image139.jpeg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.xml"/><Relationship Id="rId4" Type="http://schemas.openxmlformats.org/officeDocument/2006/relationships/image" Target="../media/image140.tiff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Relationship Id="rId4" Type="http://schemas.openxmlformats.org/officeDocument/2006/relationships/image" Target="../media/image124.wmf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wmf"/><Relationship Id="rId3" Type="http://schemas.openxmlformats.org/officeDocument/2006/relationships/tags" Target="../tags/tag37.xml"/><Relationship Id="rId7" Type="http://schemas.openxmlformats.org/officeDocument/2006/relationships/image" Target="../media/image141.png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notesSlide" Target="../notesSlides/notesSlide63.xml"/><Relationship Id="rId5" Type="http://schemas.openxmlformats.org/officeDocument/2006/relationships/slideLayout" Target="../slideLayouts/slideLayout6.xml"/><Relationship Id="rId10" Type="http://schemas.openxmlformats.org/officeDocument/2006/relationships/image" Target="../media/image143.wmf"/><Relationship Id="rId4" Type="http://schemas.openxmlformats.org/officeDocument/2006/relationships/tags" Target="../tags/tag38.xml"/><Relationship Id="rId9" Type="http://schemas.openxmlformats.org/officeDocument/2006/relationships/image" Target="../media/image142.png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9.xml"/><Relationship Id="rId4" Type="http://schemas.openxmlformats.org/officeDocument/2006/relationships/image" Target="../media/image136.tif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0.xml"/><Relationship Id="rId4" Type="http://schemas.openxmlformats.org/officeDocument/2006/relationships/image" Target="../media/image136.tiff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Relationship Id="rId5" Type="http://schemas.openxmlformats.org/officeDocument/2006/relationships/image" Target="../media/image71.svg"/><Relationship Id="rId4" Type="http://schemas.openxmlformats.org/officeDocument/2006/relationships/image" Target="../media/image70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6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10" Type="http://schemas.openxmlformats.org/officeDocument/2006/relationships/image" Target="../media/image77.svg"/><Relationship Id="rId4" Type="http://schemas.openxmlformats.org/officeDocument/2006/relationships/image" Target="../media/image62.svg"/><Relationship Id="rId9" Type="http://schemas.openxmlformats.org/officeDocument/2006/relationships/image" Target="../media/image76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8.png"/><Relationship Id="rId3" Type="http://schemas.openxmlformats.org/officeDocument/2006/relationships/image" Target="../media/image61.png"/><Relationship Id="rId7" Type="http://schemas.openxmlformats.org/officeDocument/2006/relationships/image" Target="../media/image12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43.png"/><Relationship Id="rId5" Type="http://schemas.openxmlformats.org/officeDocument/2006/relationships/image" Target="../media/image64.png"/><Relationship Id="rId10" Type="http://schemas.openxmlformats.org/officeDocument/2006/relationships/image" Target="../media/image11.svg"/><Relationship Id="rId4" Type="http://schemas.openxmlformats.org/officeDocument/2006/relationships/image" Target="../media/image62.svg"/><Relationship Id="rId9" Type="http://schemas.openxmlformats.org/officeDocument/2006/relationships/image" Target="../media/image10.png"/><Relationship Id="rId14" Type="http://schemas.openxmlformats.org/officeDocument/2006/relationships/image" Target="../media/image79.sv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12.png"/><Relationship Id="rId7" Type="http://schemas.openxmlformats.org/officeDocument/2006/relationships/image" Target="../media/image70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11" Type="http://schemas.openxmlformats.org/officeDocument/2006/relationships/image" Target="../media/image10.pn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13.svg"/><Relationship Id="rId9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Relationship Id="rId4" Type="http://schemas.openxmlformats.org/officeDocument/2006/relationships/image" Target="../media/image144.jpe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Relationship Id="rId4" Type="http://schemas.openxmlformats.org/officeDocument/2006/relationships/image" Target="../media/image145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Relationship Id="rId4" Type="http://schemas.openxmlformats.org/officeDocument/2006/relationships/hyperlink" Target="http://www.formaestudio.com/rijndaelinspector/archivos/Rijndael_Animation_v4_eng.swf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Relationship Id="rId4" Type="http://schemas.openxmlformats.org/officeDocument/2006/relationships/image" Target="../media/image146.jpe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71.sv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archev.com/wp-content/uploads/2015/12/150518_r26512-1200-630-06150519.jpg" TargetMode="Externa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7.jpe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149.pn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148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notesSlide" Target="../notesSlides/notesSlide88.xml"/><Relationship Id="rId5" Type="http://schemas.openxmlformats.org/officeDocument/2006/relationships/tags" Target="../tags/tag55.xml"/><Relationship Id="rId15" Type="http://schemas.openxmlformats.org/officeDocument/2006/relationships/image" Target="../media/image151.png"/><Relationship Id="rId10" Type="http://schemas.openxmlformats.org/officeDocument/2006/relationships/slideLayout" Target="../slideLayouts/slideLayout6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image" Target="../media/image150.png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4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sv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sv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64.png"/><Relationship Id="rId7" Type="http://schemas.openxmlformats.org/officeDocument/2006/relationships/image" Target="../media/image8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43.png"/><Relationship Id="rId5" Type="http://schemas.openxmlformats.org/officeDocument/2006/relationships/image" Target="../media/image10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Relationship Id="rId4" Type="http://schemas.openxmlformats.org/officeDocument/2006/relationships/image" Target="../media/image152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svg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hyperlink" Target="https://www.jackhenrybanking.com/" TargetMode="External"/><Relationship Id="rId7" Type="http://schemas.openxmlformats.org/officeDocument/2006/relationships/hyperlink" Target="https://www.finastra.com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svg"/><Relationship Id="rId5" Type="http://schemas.openxmlformats.org/officeDocument/2006/relationships/image" Target="../media/image154.png"/><Relationship Id="rId10" Type="http://schemas.openxmlformats.org/officeDocument/2006/relationships/image" Target="../media/image157.png"/><Relationship Id="rId4" Type="http://schemas.openxmlformats.org/officeDocument/2006/relationships/image" Target="../media/image153.png"/><Relationship Id="rId9" Type="http://schemas.openxmlformats.org/officeDocument/2006/relationships/hyperlink" Target="https://www.nymbus.com/" TargetMode="Externa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62.svg"/><Relationship Id="rId9" Type="http://schemas.openxmlformats.org/officeDocument/2006/relationships/image" Target="../media/image64.png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65.sv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9.svg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5" Type="http://schemas.openxmlformats.org/officeDocument/2006/relationships/image" Target="../media/image159.svg"/><Relationship Id="rId4" Type="http://schemas.openxmlformats.org/officeDocument/2006/relationships/image" Target="../media/image158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tiff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3" Type="http://schemas.openxmlformats.org/officeDocument/2006/relationships/tags" Target="../tags/tag67.xml"/><Relationship Id="rId7" Type="http://schemas.openxmlformats.org/officeDocument/2006/relationships/image" Target="../media/image165.pn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164.png"/><Relationship Id="rId5" Type="http://schemas.openxmlformats.org/officeDocument/2006/relationships/notesSlide" Target="../notesSlides/notesSlide119.xml"/><Relationship Id="rId4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Relationship Id="rId4" Type="http://schemas.openxmlformats.org/officeDocument/2006/relationships/image" Target="../media/image167.jpeg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12" Type="http://schemas.openxmlformats.org/officeDocument/2006/relationships/image" Target="../media/image79.sv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11" Type="http://schemas.openxmlformats.org/officeDocument/2006/relationships/image" Target="../media/image78.png"/><Relationship Id="rId5" Type="http://schemas.openxmlformats.org/officeDocument/2006/relationships/image" Target="../media/image43.png"/><Relationship Id="rId10" Type="http://schemas.openxmlformats.org/officeDocument/2006/relationships/image" Target="../media/image11.svg"/><Relationship Id="rId4" Type="http://schemas.openxmlformats.org/officeDocument/2006/relationships/image" Target="../media/image7.svg"/><Relationship Id="rId9" Type="http://schemas.openxmlformats.org/officeDocument/2006/relationships/image" Target="../media/image10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61.png"/><Relationship Id="rId12" Type="http://schemas.openxmlformats.org/officeDocument/2006/relationships/image" Target="../media/image75.sv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svg"/><Relationship Id="rId11" Type="http://schemas.openxmlformats.org/officeDocument/2006/relationships/image" Target="../media/image74.png"/><Relationship Id="rId5" Type="http://schemas.openxmlformats.org/officeDocument/2006/relationships/image" Target="../media/image51.png"/><Relationship Id="rId10" Type="http://schemas.openxmlformats.org/officeDocument/2006/relationships/image" Target="../media/image77.svg"/><Relationship Id="rId4" Type="http://schemas.openxmlformats.org/officeDocument/2006/relationships/image" Target="../media/image7.svg"/><Relationship Id="rId9" Type="http://schemas.openxmlformats.org/officeDocument/2006/relationships/image" Target="../media/image76.png"/><Relationship Id="rId14" Type="http://schemas.openxmlformats.org/officeDocument/2006/relationships/image" Target="../media/image13.svg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1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5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11" Type="http://schemas.openxmlformats.org/officeDocument/2006/relationships/image" Target="../media/image12.png"/><Relationship Id="rId5" Type="http://schemas.openxmlformats.org/officeDocument/2006/relationships/image" Target="../media/image8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10" Type="http://schemas.openxmlformats.org/officeDocument/2006/relationships/image" Target="../media/image11.svg"/><Relationship Id="rId4" Type="http://schemas.openxmlformats.org/officeDocument/2006/relationships/image" Target="../media/image65.svg"/><Relationship Id="rId9" Type="http://schemas.openxmlformats.org/officeDocument/2006/relationships/image" Target="../media/image10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62.sv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12" Type="http://schemas.openxmlformats.org/officeDocument/2006/relationships/image" Target="../media/image62.sv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svg"/><Relationship Id="rId11" Type="http://schemas.openxmlformats.org/officeDocument/2006/relationships/image" Target="../media/image61.png"/><Relationship Id="rId5" Type="http://schemas.openxmlformats.org/officeDocument/2006/relationships/image" Target="../media/image70.png"/><Relationship Id="rId10" Type="http://schemas.openxmlformats.org/officeDocument/2006/relationships/image" Target="../media/image67.svg"/><Relationship Id="rId4" Type="http://schemas.openxmlformats.org/officeDocument/2006/relationships/image" Target="../media/image11.svg"/><Relationship Id="rId9" Type="http://schemas.openxmlformats.org/officeDocument/2006/relationships/image" Target="../media/image66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0.xml"/><Relationship Id="rId4" Type="http://schemas.openxmlformats.org/officeDocument/2006/relationships/image" Target="../media/image168.wmf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jpe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1.png"/><Relationship Id="rId7" Type="http://schemas.openxmlformats.org/officeDocument/2006/relationships/image" Target="../media/image10.png"/><Relationship Id="rId12" Type="http://schemas.openxmlformats.org/officeDocument/2006/relationships/image" Target="../media/image65.sv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6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62.svg"/><Relationship Id="rId9" Type="http://schemas.openxmlformats.org/officeDocument/2006/relationships/image" Target="../media/image12.png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12.png"/><Relationship Id="rId18" Type="http://schemas.openxmlformats.org/officeDocument/2006/relationships/image" Target="../media/image9.svg"/><Relationship Id="rId3" Type="http://schemas.openxmlformats.org/officeDocument/2006/relationships/image" Target="../media/image78.png"/><Relationship Id="rId7" Type="http://schemas.openxmlformats.org/officeDocument/2006/relationships/image" Target="../media/image66.png"/><Relationship Id="rId12" Type="http://schemas.openxmlformats.org/officeDocument/2006/relationships/image" Target="../media/image36.svg"/><Relationship Id="rId17" Type="http://schemas.openxmlformats.org/officeDocument/2006/relationships/image" Target="../media/image8.png"/><Relationship Id="rId2" Type="http://schemas.openxmlformats.org/officeDocument/2006/relationships/notesSlide" Target="../notesSlides/notesSlide137.xml"/><Relationship Id="rId16" Type="http://schemas.openxmlformats.org/officeDocument/2006/relationships/image" Target="../media/image60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7.svg"/><Relationship Id="rId11" Type="http://schemas.openxmlformats.org/officeDocument/2006/relationships/image" Target="../media/image35.png"/><Relationship Id="rId5" Type="http://schemas.openxmlformats.org/officeDocument/2006/relationships/image" Target="../media/image76.png"/><Relationship Id="rId15" Type="http://schemas.openxmlformats.org/officeDocument/2006/relationships/image" Target="../media/image59.png"/><Relationship Id="rId10" Type="http://schemas.openxmlformats.org/officeDocument/2006/relationships/image" Target="../media/image71.svg"/><Relationship Id="rId4" Type="http://schemas.openxmlformats.org/officeDocument/2006/relationships/image" Target="../media/image79.svg"/><Relationship Id="rId9" Type="http://schemas.openxmlformats.org/officeDocument/2006/relationships/image" Target="../media/image70.png"/><Relationship Id="rId14" Type="http://schemas.openxmlformats.org/officeDocument/2006/relationships/image" Target="../media/image13.svg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2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8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10" Type="http://schemas.openxmlformats.org/officeDocument/2006/relationships/image" Target="../media/image13.svg"/><Relationship Id="rId4" Type="http://schemas.openxmlformats.org/officeDocument/2006/relationships/image" Target="../media/image9.svg"/><Relationship Id="rId9" Type="http://schemas.openxmlformats.org/officeDocument/2006/relationships/image" Target="../media/image12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5" Type="http://schemas.openxmlformats.org/officeDocument/2006/relationships/image" Target="../media/image80.png"/><Relationship Id="rId4" Type="http://schemas.openxmlformats.org/officeDocument/2006/relationships/image" Target="../media/image60.svg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emf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4.svg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49.png"/><Relationship Id="rId7" Type="http://schemas.openxmlformats.org/officeDocument/2006/relationships/image" Target="../media/image6.png"/><Relationship Id="rId12" Type="http://schemas.openxmlformats.org/officeDocument/2006/relationships/image" Target="../media/image67.sv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66.png"/><Relationship Id="rId5" Type="http://schemas.openxmlformats.org/officeDocument/2006/relationships/image" Target="../media/image10.png"/><Relationship Id="rId10" Type="http://schemas.openxmlformats.org/officeDocument/2006/relationships/image" Target="../media/image44.svg"/><Relationship Id="rId4" Type="http://schemas.openxmlformats.org/officeDocument/2006/relationships/image" Target="../media/image50.svg"/><Relationship Id="rId9" Type="http://schemas.openxmlformats.org/officeDocument/2006/relationships/image" Target="../media/image43.png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3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7.xml"/><Relationship Id="rId7" Type="http://schemas.openxmlformats.org/officeDocument/2006/relationships/image" Target="../media/image178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Relationship Id="rId6" Type="http://schemas.openxmlformats.org/officeDocument/2006/relationships/image" Target="../media/image177.tiff"/><Relationship Id="rId5" Type="http://schemas.openxmlformats.org/officeDocument/2006/relationships/image" Target="../media/image176.tiff"/><Relationship Id="rId4" Type="http://schemas.openxmlformats.org/officeDocument/2006/relationships/image" Target="../media/image175.tiff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84.png"/><Relationship Id="rId18" Type="http://schemas.openxmlformats.org/officeDocument/2006/relationships/image" Target="../media/image48.sv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12" Type="http://schemas.openxmlformats.org/officeDocument/2006/relationships/image" Target="../media/image52.sv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158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svg"/><Relationship Id="rId11" Type="http://schemas.openxmlformats.org/officeDocument/2006/relationships/image" Target="../media/image51.png"/><Relationship Id="rId5" Type="http://schemas.openxmlformats.org/officeDocument/2006/relationships/image" Target="../media/image55.png"/><Relationship Id="rId15" Type="http://schemas.openxmlformats.org/officeDocument/2006/relationships/image" Target="../media/image35.png"/><Relationship Id="rId10" Type="http://schemas.openxmlformats.org/officeDocument/2006/relationships/image" Target="../media/image44.svg"/><Relationship Id="rId4" Type="http://schemas.openxmlformats.org/officeDocument/2006/relationships/image" Target="../media/image54.svg"/><Relationship Id="rId9" Type="http://schemas.openxmlformats.org/officeDocument/2006/relationships/image" Target="../media/image43.png"/><Relationship Id="rId14" Type="http://schemas.openxmlformats.org/officeDocument/2006/relationships/image" Target="../media/image85.sv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Relationship Id="rId4" Type="http://schemas.openxmlformats.org/officeDocument/2006/relationships/image" Target="../media/image179.tiff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10.png"/><Relationship Id="rId7" Type="http://schemas.openxmlformats.org/officeDocument/2006/relationships/image" Target="../media/image64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44.svg"/><Relationship Id="rId4" Type="http://schemas.openxmlformats.org/officeDocument/2006/relationships/image" Target="../media/image11.svg"/><Relationship Id="rId9" Type="http://schemas.openxmlformats.org/officeDocument/2006/relationships/image" Target="../media/image43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jpe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sv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9.svg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Relationship Id="rId4" Type="http://schemas.openxmlformats.org/officeDocument/2006/relationships/image" Target="../media/image182.tiff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3.xml"/></Relationships>
</file>

<file path=ppt/slides/_rels/slide2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13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image" Target="../media/image41.png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svg"/><Relationship Id="rId11" Type="http://schemas.openxmlformats.org/officeDocument/2006/relationships/image" Target="../media/image8.png"/><Relationship Id="rId5" Type="http://schemas.openxmlformats.org/officeDocument/2006/relationships/image" Target="../media/image57.png"/><Relationship Id="rId10" Type="http://schemas.openxmlformats.org/officeDocument/2006/relationships/image" Target="../media/image15.svg"/><Relationship Id="rId4" Type="http://schemas.openxmlformats.org/officeDocument/2006/relationships/image" Target="../media/image11.svg"/><Relationship Id="rId9" Type="http://schemas.openxmlformats.org/officeDocument/2006/relationships/image" Target="../media/image14.png"/><Relationship Id="rId14" Type="http://schemas.openxmlformats.org/officeDocument/2006/relationships/image" Target="../media/image46.svg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45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46.svg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8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9.svg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3.xml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89.jpeg"/><Relationship Id="rId5" Type="http://schemas.openxmlformats.org/officeDocument/2006/relationships/image" Target="../media/image184.jpeg"/><Relationship Id="rId10" Type="http://schemas.openxmlformats.org/officeDocument/2006/relationships/hyperlink" Target="http://quantum.esu.edu/saa/wp-content/uploads/2020/08/69ce54e37dfa7ef14266d25403ce6a07_orig.jpg" TargetMode="External"/><Relationship Id="rId4" Type="http://schemas.openxmlformats.org/officeDocument/2006/relationships/hyperlink" Target="https://www.xsimulator.net/wp-content/uploads/2013/12/bitcoin-logo-1000_0.jpg" TargetMode="External"/><Relationship Id="rId9" Type="http://schemas.openxmlformats.org/officeDocument/2006/relationships/image" Target="../media/image188.jpeg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hyperlink" Target="https://security-img.scdn6.secure.raxcdn.com/news/920/mergers-acquisitions-top-10-920_1513940788.jpg" TargetMode="External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jpeg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3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2.xml"/><Relationship Id="rId4" Type="http://schemas.openxmlformats.org/officeDocument/2006/relationships/image" Target="../media/image1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Placeholder 23">
            <a:extLst>
              <a:ext uri="{FF2B5EF4-FFF2-40B4-BE49-F238E27FC236}">
                <a16:creationId xmlns:a16="http://schemas.microsoft.com/office/drawing/2014/main" id="{64CB1EFC-E3A4-474D-8DB7-49F104781E2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727C84C-D9BF-47A0-B840-3E88032B0279}"/>
              </a:ext>
            </a:extLst>
          </p:cNvPr>
          <p:cNvSpPr/>
          <p:nvPr/>
        </p:nvSpPr>
        <p:spPr>
          <a:xfrm>
            <a:off x="0" y="1"/>
            <a:ext cx="3665496" cy="10287002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291BCC6-7DAA-440E-BEAC-6130A4C08093}"/>
              </a:ext>
            </a:extLst>
          </p:cNvPr>
          <p:cNvSpPr/>
          <p:nvPr/>
        </p:nvSpPr>
        <p:spPr>
          <a:xfrm>
            <a:off x="3665496" y="1"/>
            <a:ext cx="3659409" cy="1028700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2D593C3-3BF2-4F73-BF37-D38FBCDF0A33}"/>
              </a:ext>
            </a:extLst>
          </p:cNvPr>
          <p:cNvSpPr/>
          <p:nvPr/>
        </p:nvSpPr>
        <p:spPr>
          <a:xfrm>
            <a:off x="7324907" y="1"/>
            <a:ext cx="3659409" cy="10287002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7202170-1242-41D1-9D32-16B2939CE504}"/>
              </a:ext>
            </a:extLst>
          </p:cNvPr>
          <p:cNvSpPr/>
          <p:nvPr/>
        </p:nvSpPr>
        <p:spPr>
          <a:xfrm>
            <a:off x="10976748" y="0"/>
            <a:ext cx="3659409" cy="10287002"/>
          </a:xfrm>
          <a:prstGeom prst="rect">
            <a:avLst/>
          </a:prstGeom>
          <a:solidFill>
            <a:schemeClr val="accent4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A84246-08D2-4D1F-AAE2-CAEE1F6220E7}"/>
              </a:ext>
            </a:extLst>
          </p:cNvPr>
          <p:cNvSpPr/>
          <p:nvPr/>
        </p:nvSpPr>
        <p:spPr>
          <a:xfrm>
            <a:off x="14628588" y="1"/>
            <a:ext cx="3659409" cy="10287002"/>
          </a:xfrm>
          <a:prstGeom prst="rect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8BDAD2-3899-4ADE-8705-1FE5ACC6A9C0}"/>
              </a:ext>
            </a:extLst>
          </p:cNvPr>
          <p:cNvSpPr txBox="1"/>
          <p:nvPr/>
        </p:nvSpPr>
        <p:spPr>
          <a:xfrm>
            <a:off x="1522872" y="5529182"/>
            <a:ext cx="13744338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50" b="1" i="1" spc="450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INTRODUCTION</a:t>
            </a:r>
            <a:endParaRPr lang="en-US" sz="13050" b="1" i="1" spc="450">
              <a:solidFill>
                <a:schemeClr val="accent2"/>
              </a:solidFill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D7657F2-4E68-4FF7-96AA-5DE6BBC64767}"/>
              </a:ext>
            </a:extLst>
          </p:cNvPr>
          <p:cNvSpPr txBox="1"/>
          <p:nvPr/>
        </p:nvSpPr>
        <p:spPr>
          <a:xfrm>
            <a:off x="1528266" y="7471658"/>
            <a:ext cx="963122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Telecommunications and Networking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38C05-7779-114F-B7AC-56481098E0FD}"/>
              </a:ext>
            </a:extLst>
          </p:cNvPr>
          <p:cNvSpPr/>
          <p:nvPr/>
        </p:nvSpPr>
        <p:spPr>
          <a:xfrm>
            <a:off x="6955971" y="9040911"/>
            <a:ext cx="10287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An Instructor-led Course Designed Specifically for FDIC Risk Management Examiners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EA6E3-C518-CA4D-9C89-5DCF82AD53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67910" y="450375"/>
            <a:ext cx="3037345" cy="168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6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0" presetClass="entr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0" presetClass="entr" presetSubtype="0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" presetClass="entr" presetSubtype="1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7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4" grpId="0" animBg="1"/>
      <p:bldP spid="36" grpId="0" animBg="1"/>
      <p:bldP spid="38" grpId="0" animBg="1"/>
      <p:bldP spid="40" grpId="0" animBg="1"/>
      <p:bldP spid="6" grpId="0"/>
      <p:bldP spid="1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AB30F-02AC-6340-9EA2-EFDE676F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Important Resource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5E930E-2897-8F5E-66A8-2BE51054C274}"/>
              </a:ext>
            </a:extLst>
          </p:cNvPr>
          <p:cNvSpPr/>
          <p:nvPr/>
        </p:nvSpPr>
        <p:spPr>
          <a:xfrm>
            <a:off x="9024733" y="1149384"/>
            <a:ext cx="8766313" cy="707886"/>
          </a:xfrm>
          <a:prstGeom prst="rect">
            <a:avLst/>
          </a:prstGeom>
          <a:solidFill>
            <a:srgbClr val="FFFC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3C06-8593-8E41-BBC8-47496F6DE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Ideally you have already visited: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https://class.hillvt.com/</a:t>
            </a:r>
            <a:endParaRPr lang="en-US" dirty="0"/>
          </a:p>
          <a:p>
            <a:pPr lvl="1"/>
            <a:r>
              <a:rPr lang="en-US" dirty="0"/>
              <a:t>and found the page corresponding to our class</a:t>
            </a:r>
          </a:p>
          <a:p>
            <a:pPr lvl="1"/>
            <a:r>
              <a:rPr lang="en-US" dirty="0"/>
              <a:t>If you have not, please do it now, and bookmark that page</a:t>
            </a:r>
          </a:p>
          <a:p>
            <a:r>
              <a:rPr lang="en-US" dirty="0"/>
              <a:t>We use this site for file and knowledge sharing</a:t>
            </a:r>
          </a:p>
          <a:p>
            <a:r>
              <a:rPr lang="en-US" dirty="0"/>
              <a:t>We’ll put various things there for use during class</a:t>
            </a:r>
          </a:p>
          <a:p>
            <a:r>
              <a:rPr lang="en-US" dirty="0"/>
              <a:t>Nothing there is:</a:t>
            </a:r>
          </a:p>
          <a:p>
            <a:pPr lvl="1"/>
            <a:r>
              <a:rPr lang="en-US" dirty="0"/>
              <a:t>Required or mandatory, just maybe useful</a:t>
            </a:r>
          </a:p>
          <a:p>
            <a:pPr lvl="1"/>
            <a:r>
              <a:rPr lang="en-US" dirty="0"/>
              <a:t>Secret or confidential to the FDIC or anyone else</a:t>
            </a:r>
          </a:p>
          <a:p>
            <a:r>
              <a:rPr lang="en-US" dirty="0"/>
              <a:t>The class page will disappear soon</a:t>
            </a:r>
          </a:p>
          <a:p>
            <a:pPr lvl="1"/>
            <a:r>
              <a:rPr lang="en-US" dirty="0"/>
              <a:t>We’ll leave it up for a week or so after class, so no real rush, but save what you want to keep.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54672B-E4DF-AA0A-7237-188662CF0EDF}"/>
              </a:ext>
            </a:extLst>
          </p:cNvPr>
          <p:cNvSpPr txBox="1"/>
          <p:nvPr/>
        </p:nvSpPr>
        <p:spPr>
          <a:xfrm>
            <a:off x="9064489" y="1129504"/>
            <a:ext cx="9303026" cy="70788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4000" dirty="0"/>
              <a:t>The password for this week is: </a:t>
            </a:r>
            <a:r>
              <a:rPr lang="en-US" sz="4000" dirty="0">
                <a:solidFill>
                  <a:srgbClr val="FF0000"/>
                </a:solidFill>
              </a:rPr>
              <a:t>depository</a:t>
            </a:r>
          </a:p>
        </p:txBody>
      </p:sp>
    </p:spTree>
    <p:extLst>
      <p:ext uri="{BB962C8B-B14F-4D97-AF65-F5344CB8AC3E}">
        <p14:creationId xmlns:p14="http://schemas.microsoft.com/office/powerpoint/2010/main" val="1926978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1: Orientation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15F651C-B6DB-A749-8DA3-780AE957EB3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676" b="3676"/>
          <a:stretch>
            <a:fillRect/>
          </a:stretch>
        </p:blipFill>
        <p:spPr>
          <a:xfrm>
            <a:off x="1052422" y="2063868"/>
            <a:ext cx="16183155" cy="9103025"/>
          </a:xfr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095302-1C6C-704B-9196-AD835FFE3E5B}"/>
              </a:ext>
            </a:extLst>
          </p:cNvPr>
          <p:cNvSpPr txBox="1">
            <a:spLocks/>
          </p:cNvSpPr>
          <p:nvPr/>
        </p:nvSpPr>
        <p:spPr>
          <a:xfrm>
            <a:off x="549933" y="733152"/>
            <a:ext cx="15773400" cy="1330716"/>
          </a:xfrm>
          <a:prstGeom prst="rect">
            <a:avLst/>
          </a:prstGeom>
        </p:spPr>
        <p:txBody>
          <a:bodyPr/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Our Goal for this Week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13A6C90-0698-A041-B71E-0DD3ED7FD733}"/>
              </a:ext>
            </a:extLst>
          </p:cNvPr>
          <p:cNvSpPr/>
          <p:nvPr/>
        </p:nvSpPr>
        <p:spPr>
          <a:xfrm>
            <a:off x="2422374" y="1727042"/>
            <a:ext cx="12028517" cy="727409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6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i="1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to begin cracking this code</a:t>
            </a:r>
          </a:p>
          <a:p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are all these things? Which of them have I seen before?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Which do I use myself, and how, and for what?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Why switches, routers, firewalls, modems, and other boxes?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do they do, and how do they 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standards govern their behavior and operation?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What’s in the cloud-things, and lines that show connections?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Are all the connections alike or equivalent?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is safe and what is not?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risks? </a:t>
            </a:r>
            <a:r>
              <a:rPr lang="en-US" sz="2800" dirty="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There is always risk!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can I ask to learn about a bank’s network?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How can I know if my banks are using best practices?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the banking industry taking advantage of available value?</a:t>
            </a:r>
          </a:p>
        </p:txBody>
      </p:sp>
    </p:spTree>
    <p:extLst>
      <p:ext uri="{BB962C8B-B14F-4D97-AF65-F5344CB8AC3E}">
        <p14:creationId xmlns:p14="http://schemas.microsoft.com/office/powerpoint/2010/main" val="140523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Classroom Ops</a:t>
            </a:r>
          </a:p>
        </p:txBody>
      </p:sp>
      <p:sp>
        <p:nvSpPr>
          <p:cNvPr id="3869699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0"/>
            <a:ext cx="14301789" cy="7703345"/>
          </a:xfrm>
        </p:spPr>
        <p:txBody>
          <a:bodyPr>
            <a:normAutofit/>
          </a:bodyPr>
          <a:lstStyle/>
          <a:p>
            <a:r>
              <a:rPr lang="en-US" dirty="0"/>
              <a:t>Class runs 8:30-4:30 each day</a:t>
            </a:r>
          </a:p>
          <a:p>
            <a:r>
              <a:rPr lang="en-US" dirty="0"/>
              <a:t>First ~10 min break </a:t>
            </a:r>
            <a:r>
              <a:rPr lang="en-US"/>
              <a:t>around 10:00, </a:t>
            </a:r>
            <a:r>
              <a:rPr lang="en-US" dirty="0"/>
              <a:t>hourly thereafter</a:t>
            </a:r>
          </a:p>
          <a:p>
            <a:r>
              <a:rPr lang="en-US" dirty="0"/>
              <a:t>Lunch around noon unless we decide otherwise</a:t>
            </a:r>
          </a:p>
          <a:p>
            <a:r>
              <a:rPr lang="en-US" dirty="0"/>
              <a:t>Please limit distractions and stay tuned in</a:t>
            </a:r>
          </a:p>
          <a:p>
            <a:r>
              <a:rPr lang="en-US" dirty="0"/>
              <a:t>If you must step away for a bit that’s fine with me</a:t>
            </a:r>
          </a:p>
          <a:p>
            <a:pPr lvl="1"/>
            <a:r>
              <a:rPr lang="en-US" dirty="0"/>
              <a:t>Check with FDIC class admin regarding significant absences, they determine class credit</a:t>
            </a:r>
          </a:p>
          <a:p>
            <a:r>
              <a:rPr lang="en-US" i="1" dirty="0">
                <a:solidFill>
                  <a:srgbClr val="E23A30"/>
                </a:solidFill>
              </a:rPr>
              <a:t>Any specific products/services mentioned are meant </a:t>
            </a:r>
            <a:br>
              <a:rPr lang="en-US" i="1" dirty="0">
                <a:solidFill>
                  <a:srgbClr val="E23A30"/>
                </a:solidFill>
              </a:rPr>
            </a:br>
            <a:r>
              <a:rPr lang="en-US" i="1" dirty="0">
                <a:solidFill>
                  <a:srgbClr val="E23A30"/>
                </a:solidFill>
              </a:rPr>
              <a:t>as examples, not endorsements</a:t>
            </a:r>
          </a:p>
          <a:p>
            <a:r>
              <a:rPr lang="en-US" i="1" dirty="0">
                <a:solidFill>
                  <a:srgbClr val="E23A30"/>
                </a:solidFill>
              </a:rPr>
              <a:t>I’ve worked for Juniper, Cisco, and Broadcom in the past, but have no ties to or investments in them now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1" descr="C:\Users\AWalkden.HILL\AppData\Local\Temp\boss_holding_watch_clip_400_clr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780544" y="2779569"/>
            <a:ext cx="2500313" cy="5715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205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Agenda</a:t>
            </a:r>
          </a:p>
        </p:txBody>
      </p:sp>
      <p:cxnSp>
        <p:nvCxnSpPr>
          <p:cNvPr id="3" name="Agenda line"/>
          <p:cNvCxnSpPr/>
          <p:nvPr/>
        </p:nvCxnSpPr>
        <p:spPr>
          <a:xfrm>
            <a:off x="2706624" y="320040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203704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6584" y="2880360"/>
            <a:ext cx="640080" cy="640080"/>
          </a:xfrm>
          <a:prstGeom prst="rect">
            <a:avLst/>
          </a:prstGeom>
        </p:spPr>
      </p:pic>
      <p:sp>
        <p:nvSpPr>
          <p:cNvPr id="6" name="Day 1 head"/>
          <p:cNvSpPr txBox="1"/>
          <p:nvPr/>
        </p:nvSpPr>
        <p:spPr>
          <a:xfrm>
            <a:off x="1257300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</p:txBody>
      </p:sp>
      <p:sp>
        <p:nvSpPr>
          <p:cNvPr id="7" name="Day 1 box"/>
          <p:cNvSpPr/>
          <p:nvPr/>
        </p:nvSpPr>
        <p:spPr>
          <a:xfrm>
            <a:off x="1257300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Day 1 list"/>
          <p:cNvSpPr txBox="1"/>
          <p:nvPr/>
        </p:nvSpPr>
        <p:spPr>
          <a:xfrm>
            <a:off x="1440180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Orientation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communications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short history of financial networking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Designing bank networks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LANs in depth</a:t>
            </a:r>
          </a:p>
        </p:txBody>
      </p:sp>
      <p:sp>
        <p:nvSpPr>
          <p:cNvPr id="9" name="Day 1 ex"/>
          <p:cNvSpPr/>
          <p:nvPr/>
        </p:nvSpPr>
        <p:spPr>
          <a:xfrm>
            <a:off x="1257300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1: Annotate the LAN</a:t>
            </a:r>
          </a:p>
        </p:txBody>
      </p:sp>
      <p:sp>
        <p:nvSpPr>
          <p:cNvPr id="10" name="Day 2 disc"/>
          <p:cNvSpPr/>
          <p:nvPr/>
        </p:nvSpPr>
        <p:spPr>
          <a:xfrm>
            <a:off x="5422392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5272" y="2880360"/>
            <a:ext cx="640080" cy="640080"/>
          </a:xfrm>
          <a:prstGeom prst="rect">
            <a:avLst/>
          </a:prstGeom>
        </p:spPr>
      </p:pic>
      <p:sp>
        <p:nvSpPr>
          <p:cNvPr id="12" name="Day 2 head"/>
          <p:cNvSpPr txBox="1"/>
          <p:nvPr/>
        </p:nvSpPr>
        <p:spPr>
          <a:xfrm>
            <a:off x="4475988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</p:txBody>
      </p:sp>
      <p:sp>
        <p:nvSpPr>
          <p:cNvPr id="13" name="Day 2 box"/>
          <p:cNvSpPr/>
          <p:nvPr/>
        </p:nvSpPr>
        <p:spPr>
          <a:xfrm>
            <a:off x="4475988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Day 2 list"/>
          <p:cNvSpPr txBox="1"/>
          <p:nvPr/>
        </p:nvSpPr>
        <p:spPr>
          <a:xfrm>
            <a:off x="4658868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WANs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internet and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addresses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routing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Transport layer: confidentiality and integrity</a:t>
            </a:r>
          </a:p>
        </p:txBody>
      </p:sp>
      <p:sp>
        <p:nvSpPr>
          <p:cNvPr id="15" name="Day 2 ex"/>
          <p:cNvSpPr/>
          <p:nvPr/>
        </p:nvSpPr>
        <p:spPr>
          <a:xfrm>
            <a:off x="4475988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2: Annotate the WAN</a:t>
            </a:r>
          </a:p>
        </p:txBody>
      </p:sp>
      <p:sp>
        <p:nvSpPr>
          <p:cNvPr id="16" name="Day 3 disc"/>
          <p:cNvSpPr/>
          <p:nvPr/>
        </p:nvSpPr>
        <p:spPr>
          <a:xfrm>
            <a:off x="8641080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23960" y="2880360"/>
            <a:ext cx="640080" cy="640080"/>
          </a:xfrm>
          <a:prstGeom prst="rect">
            <a:avLst/>
          </a:prstGeom>
        </p:spPr>
      </p:pic>
      <p:sp>
        <p:nvSpPr>
          <p:cNvPr id="18" name="Day 3 head"/>
          <p:cNvSpPr txBox="1"/>
          <p:nvPr/>
        </p:nvSpPr>
        <p:spPr>
          <a:xfrm>
            <a:off x="7694675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</p:txBody>
      </p:sp>
      <p:sp>
        <p:nvSpPr>
          <p:cNvPr id="19" name="Day 3 box"/>
          <p:cNvSpPr/>
          <p:nvPr/>
        </p:nvSpPr>
        <p:spPr>
          <a:xfrm>
            <a:off x="7694675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Day 3 list"/>
          <p:cNvSpPr txBox="1"/>
          <p:nvPr/>
        </p:nvSpPr>
        <p:spPr>
          <a:xfrm>
            <a:off x="7877555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Cryptography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Virtualization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basics and the Big Three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Outsourcing and vendor risk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services and shadow IT</a:t>
            </a:r>
          </a:p>
        </p:txBody>
      </p:sp>
      <p:sp>
        <p:nvSpPr>
          <p:cNvPr id="21" name="Day 3 ex"/>
          <p:cNvSpPr/>
          <p:nvPr/>
        </p:nvSpPr>
        <p:spPr>
          <a:xfrm>
            <a:off x="7694675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3: Vendor risk tabletop</a:t>
            </a:r>
          </a:p>
        </p:txBody>
      </p:sp>
      <p:sp>
        <p:nvSpPr>
          <p:cNvPr id="22" name="Day 4 disc"/>
          <p:cNvSpPr/>
          <p:nvPr/>
        </p:nvSpPr>
        <p:spPr>
          <a:xfrm>
            <a:off x="11859767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42648" y="2880360"/>
            <a:ext cx="640080" cy="640080"/>
          </a:xfrm>
          <a:prstGeom prst="rect">
            <a:avLst/>
          </a:prstGeom>
        </p:spPr>
      </p:pic>
      <p:sp>
        <p:nvSpPr>
          <p:cNvPr id="24" name="Day 4 head"/>
          <p:cNvSpPr txBox="1"/>
          <p:nvPr/>
        </p:nvSpPr>
        <p:spPr>
          <a:xfrm>
            <a:off x="10913364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and risk</a:t>
            </a:r>
          </a:p>
        </p:txBody>
      </p:sp>
      <p:sp>
        <p:nvSpPr>
          <p:cNvPr id="25" name="Day 4 box"/>
          <p:cNvSpPr/>
          <p:nvPr/>
        </p:nvSpPr>
        <p:spPr>
          <a:xfrm>
            <a:off x="10913364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ay 4 list"/>
          <p:cNvSpPr txBox="1"/>
          <p:nvPr/>
        </p:nvSpPr>
        <p:spPr>
          <a:xfrm>
            <a:off x="11096244" y="4919472"/>
            <a:ext cx="2578608" cy="24776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on the network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banking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and business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of Things</a:t>
            </a:r>
          </a:p>
        </p:txBody>
      </p:sp>
      <p:sp>
        <p:nvSpPr>
          <p:cNvPr id="27" name="Day 4 ex"/>
          <p:cNvSpPr/>
          <p:nvPr/>
        </p:nvSpPr>
        <p:spPr>
          <a:xfrm>
            <a:off x="10913364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4: The lookalike domain</a:t>
            </a:r>
          </a:p>
        </p:txBody>
      </p:sp>
      <p:sp>
        <p:nvSpPr>
          <p:cNvPr id="28" name="Day 5 disc"/>
          <p:cNvSpPr/>
          <p:nvPr/>
        </p:nvSpPr>
        <p:spPr>
          <a:xfrm>
            <a:off x="15078455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61335" y="2880360"/>
            <a:ext cx="640080" cy="640080"/>
          </a:xfrm>
          <a:prstGeom prst="rect">
            <a:avLst/>
          </a:prstGeom>
        </p:spPr>
      </p:pic>
      <p:sp>
        <p:nvSpPr>
          <p:cNvPr id="30" name="Day 5 head"/>
          <p:cNvSpPr txBox="1"/>
          <p:nvPr/>
        </p:nvSpPr>
        <p:spPr>
          <a:xfrm>
            <a:off x="14132052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Putting it together</a:t>
            </a:r>
          </a:p>
        </p:txBody>
      </p:sp>
      <p:sp>
        <p:nvSpPr>
          <p:cNvPr id="31" name="Day 5 box"/>
          <p:cNvSpPr/>
          <p:nvPr/>
        </p:nvSpPr>
        <p:spPr>
          <a:xfrm>
            <a:off x="14132052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Day 5 list"/>
          <p:cNvSpPr txBox="1"/>
          <p:nvPr/>
        </p:nvSpPr>
        <p:spPr>
          <a:xfrm>
            <a:off x="14314932" y="4919472"/>
            <a:ext cx="2578608" cy="15388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risk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Looking ahead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and the changing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wrap-up</a:t>
            </a:r>
          </a:p>
        </p:txBody>
      </p:sp>
      <p:sp>
        <p:nvSpPr>
          <p:cNvPr id="33" name="Day 5 ex"/>
          <p:cNvSpPr/>
          <p:nvPr/>
        </p:nvSpPr>
        <p:spPr>
          <a:xfrm>
            <a:off x="14132052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5: Capstone</a:t>
            </a:r>
          </a:p>
        </p:txBody>
      </p:sp>
      <p:sp>
        <p:nvSpPr>
          <p:cNvPr id="34" name="Friday note"/>
          <p:cNvSpPr txBox="1"/>
          <p:nvPr/>
        </p:nvSpPr>
        <p:spPr>
          <a:xfrm>
            <a:off x="14132052" y="7863840"/>
            <a:ext cx="28986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500" b="1" i="1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Ends before lunch.</a:t>
            </a:r>
            <a:endParaRPr sz="1500" b="1" i="1" dirty="0">
              <a:solidFill>
                <a:srgbClr val="595959"/>
              </a:solidFill>
              <a:latin typeface="Helvetica Neue"/>
              <a:ea typeface="Helvetica Neue"/>
              <a:cs typeface="Helvetica Neu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EC74-64F7-6243-AE87-0F87E06D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5A964-69B0-CF45-9266-E88C84348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3061" y="2193131"/>
            <a:ext cx="16992913" cy="7889084"/>
          </a:xfrm>
        </p:spPr>
        <p:txBody>
          <a:bodyPr>
            <a:normAutofit/>
          </a:bodyPr>
          <a:lstStyle/>
          <a:p>
            <a:r>
              <a:rPr lang="en-US" dirty="0"/>
              <a:t>We have 4.5 days together this week. That’s a long time!</a:t>
            </a:r>
          </a:p>
          <a:p>
            <a:r>
              <a:rPr lang="en-US" dirty="0"/>
              <a:t>My name is </a:t>
            </a:r>
            <a:r>
              <a:rPr lang="en-US" b="1" dirty="0"/>
              <a:t>Matt Kolon</a:t>
            </a:r>
            <a:r>
              <a:rPr lang="en-US" dirty="0"/>
              <a:t>, I’m a Senior MTS at Hill Associates</a:t>
            </a:r>
          </a:p>
          <a:p>
            <a:pPr lvl="1"/>
            <a:r>
              <a:rPr lang="en-US" dirty="0"/>
              <a:t>I’m a long-time networking and telecom geek</a:t>
            </a:r>
          </a:p>
          <a:p>
            <a:pPr lvl="1"/>
            <a:r>
              <a:rPr lang="en-US" dirty="0"/>
              <a:t>I’ve worked for Cisco, Juniper, and Brocade as well as Hill Associates</a:t>
            </a:r>
          </a:p>
          <a:p>
            <a:pPr lvl="1"/>
            <a:r>
              <a:rPr lang="en-US" dirty="0"/>
              <a:t>From 2005 to 2017 I lived in </a:t>
            </a:r>
            <a:r>
              <a:rPr lang="en-US" dirty="0" err="1"/>
              <a:t>香港</a:t>
            </a:r>
            <a:r>
              <a:rPr lang="en-US" dirty="0"/>
              <a:t>, </a:t>
            </a:r>
            <a:r>
              <a:rPr lang="en-US" dirty="0" err="1"/>
              <a:t>北京</a:t>
            </a:r>
            <a:r>
              <a:rPr lang="en-US" dirty="0"/>
              <a:t>, and</a:t>
            </a:r>
            <a:r>
              <a:rPr lang="zh-CN" altLang="en-US" dirty="0"/>
              <a:t> </a:t>
            </a:r>
            <a:r>
              <a:rPr lang="ja-JP" altLang="en-US"/>
              <a:t>東京</a:t>
            </a:r>
            <a:endParaRPr lang="en-US" dirty="0"/>
          </a:p>
          <a:p>
            <a:pPr lvl="1"/>
            <a:r>
              <a:rPr lang="en-US" dirty="0"/>
              <a:t>Now I live in Underhill, Vermont where I ski and ride my bikes a lot.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This week I’d like us to find places where risk is hiding in bank networks!</a:t>
            </a:r>
          </a:p>
          <a:p>
            <a:r>
              <a:rPr lang="en-US" dirty="0"/>
              <a:t>Telecom and IT are very interesting worlds right now</a:t>
            </a:r>
          </a:p>
          <a:p>
            <a:pPr lvl="1"/>
            <a:r>
              <a:rPr lang="en-US" dirty="0"/>
              <a:t>2026 has turned into a pretty crazy year!</a:t>
            </a:r>
          </a:p>
          <a:p>
            <a:pPr lvl="1"/>
            <a:r>
              <a:rPr lang="en-US" dirty="0"/>
              <a:t>Even if you’re not looking at bank topologies as much as in the past </a:t>
            </a:r>
          </a:p>
          <a:p>
            <a:pPr lvl="1"/>
            <a:r>
              <a:rPr lang="en-US" dirty="0"/>
              <a:t>We will also share some more general networking knowledge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272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Now it’s your turn. Please tell us your:</a:t>
            </a:r>
            <a:endParaRPr lang="en-US" i="1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Name and location</a:t>
            </a:r>
          </a:p>
          <a:p>
            <a:r>
              <a:rPr lang="en-US" dirty="0"/>
              <a:t>Function or position: Risk Management Examiner? </a:t>
            </a:r>
            <a:br>
              <a:rPr lang="en-US" dirty="0"/>
            </a:br>
            <a:r>
              <a:rPr lang="en-US" dirty="0"/>
              <a:t>IT Examiner? S&amp;S? ITEA? Something else?</a:t>
            </a:r>
          </a:p>
          <a:p>
            <a:r>
              <a:rPr lang="en-US" dirty="0"/>
              <a:t>Any experience in IT or cybersecurity topics?</a:t>
            </a:r>
          </a:p>
          <a:p>
            <a:r>
              <a:rPr lang="en-US" dirty="0">
                <a:solidFill>
                  <a:srgbClr val="FF0000"/>
                </a:solidFill>
              </a:rPr>
              <a:t>What would you like to learn this week?</a:t>
            </a:r>
          </a:p>
        </p:txBody>
      </p:sp>
      <p:pic>
        <p:nvPicPr>
          <p:cNvPr id="7" name="Picture 2" descr="C:\Users\MSteinberg\AppData\Local\Microsoft\Windows\Temporary Internet Files\Content.IE5\Z276SUW9\MP900442479[1].jpg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02206" y="4969002"/>
            <a:ext cx="3156759" cy="47351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877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1FE11-25D4-A175-10E2-3F67F718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you might sometimes wonder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A2CE1-70D8-48E6-E4ED-46C894A38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001141" cy="6967198"/>
          </a:xfrm>
          <a:noFill/>
        </p:spPr>
        <p:txBody>
          <a:bodyPr>
            <a:normAutofit/>
          </a:bodyPr>
          <a:lstStyle/>
          <a:p>
            <a:r>
              <a:rPr lang="en-US" sz="3200" dirty="0"/>
              <a:t>Is my phone listening to me?</a:t>
            </a:r>
          </a:p>
          <a:p>
            <a:r>
              <a:rPr lang="en-US" sz="3200" dirty="0"/>
              <a:t>Why are landline telephones disappearing?</a:t>
            </a:r>
          </a:p>
          <a:p>
            <a:r>
              <a:rPr lang="en-US" sz="3200" dirty="0"/>
              <a:t>Can crooks steal info from a bank’s Wi-Fi?</a:t>
            </a:r>
          </a:p>
          <a:p>
            <a:r>
              <a:rPr lang="en-US" sz="3200" dirty="0"/>
              <a:t>What’s the difference between </a:t>
            </a:r>
            <a:r>
              <a:rPr lang="en-US" sz="3200" dirty="0">
                <a:solidFill>
                  <a:srgbClr val="0070C0"/>
                </a:solidFill>
              </a:rPr>
              <a:t>iMessage</a:t>
            </a:r>
            <a:r>
              <a:rPr lang="en-US" sz="3200" dirty="0"/>
              <a:t> and </a:t>
            </a:r>
            <a:r>
              <a:rPr lang="en-US" sz="3200" dirty="0">
                <a:solidFill>
                  <a:srgbClr val="00B050"/>
                </a:solidFill>
              </a:rPr>
              <a:t>Green Messages</a:t>
            </a:r>
            <a:r>
              <a:rPr lang="en-US" sz="3200" dirty="0"/>
              <a:t>?</a:t>
            </a:r>
          </a:p>
          <a:p>
            <a:r>
              <a:rPr lang="en-US" sz="3200" dirty="0"/>
              <a:t>Why are core provider connections no longer private lines?</a:t>
            </a:r>
          </a:p>
          <a:p>
            <a:r>
              <a:rPr lang="en-US" sz="3200" dirty="0"/>
              <a:t>Can wireless internet backup reduce risk for a small bank?</a:t>
            </a:r>
          </a:p>
          <a:p>
            <a:r>
              <a:rPr lang="en-US" sz="3200" dirty="0"/>
              <a:t>Should banks use VPNs?</a:t>
            </a:r>
          </a:p>
          <a:p>
            <a:r>
              <a:rPr lang="en-US" sz="3200" dirty="0"/>
              <a:t>When will the cloud replace bank mainframes?</a:t>
            </a:r>
          </a:p>
          <a:p>
            <a:r>
              <a:rPr lang="en-US" sz="3200" dirty="0"/>
              <a:t>Does a bank need gigabit internet service? Do I need it at home?</a:t>
            </a:r>
          </a:p>
          <a:p>
            <a:r>
              <a:rPr lang="en-US" sz="3200" dirty="0"/>
              <a:t>Everything depends on AWS so it must be solid, right?</a:t>
            </a:r>
          </a:p>
          <a:p>
            <a:r>
              <a:rPr lang="en-US" sz="3200" dirty="0"/>
              <a:t>Isn’t the internet going to just melt down some day?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3E7C1B-59D8-7571-5A9B-016B36DEC649}"/>
              </a:ext>
            </a:extLst>
          </p:cNvPr>
          <p:cNvSpPr txBox="1">
            <a:spLocks/>
          </p:cNvSpPr>
          <p:nvPr/>
        </p:nvSpPr>
        <p:spPr>
          <a:xfrm>
            <a:off x="13841748" y="2194302"/>
            <a:ext cx="3301139" cy="696602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3200" dirty="0"/>
              <a:t>No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No*</a:t>
            </a:r>
          </a:p>
          <a:p>
            <a:pPr marL="0" indent="0" algn="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Apple</a:t>
            </a:r>
            <a:r>
              <a:rPr lang="en-US" sz="3200" dirty="0"/>
              <a:t> vs </a:t>
            </a:r>
            <a:r>
              <a:rPr lang="en-US" sz="3200" dirty="0">
                <a:solidFill>
                  <a:srgbClr val="00B050"/>
                </a:solidFill>
              </a:rPr>
              <a:t>Carrier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Probably never</a:t>
            </a:r>
          </a:p>
          <a:p>
            <a:pPr marL="0" indent="0" algn="r">
              <a:buNone/>
            </a:pPr>
            <a:r>
              <a:rPr lang="en-US" sz="3200" dirty="0"/>
              <a:t>Maybe and No</a:t>
            </a:r>
          </a:p>
          <a:p>
            <a:pPr marL="0" indent="0" algn="r">
              <a:buNone/>
            </a:pPr>
            <a:r>
              <a:rPr lang="en-US" sz="3200" dirty="0"/>
              <a:t>Uh...</a:t>
            </a:r>
          </a:p>
          <a:p>
            <a:pPr marL="0" indent="0" algn="r">
              <a:buNone/>
            </a:pPr>
            <a:r>
              <a:rPr lang="en-US" sz="3200" dirty="0"/>
              <a:t>Probably not*</a:t>
            </a:r>
          </a:p>
          <a:p>
            <a:pPr marL="0" indent="0" algn="r">
              <a:buNone/>
            </a:pP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5D8F4-1E12-C9D4-278A-3D1AC2D4667B}"/>
              </a:ext>
            </a:extLst>
          </p:cNvPr>
          <p:cNvSpPr txBox="1"/>
          <p:nvPr/>
        </p:nvSpPr>
        <p:spPr>
          <a:xfrm>
            <a:off x="12323618" y="9414164"/>
            <a:ext cx="633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* as long as it’s configured correctly!</a:t>
            </a:r>
          </a:p>
        </p:txBody>
      </p:sp>
    </p:spTree>
    <p:extLst>
      <p:ext uri="{BB962C8B-B14F-4D97-AF65-F5344CB8AC3E}">
        <p14:creationId xmlns:p14="http://schemas.microsoft.com/office/powerpoint/2010/main" val="158740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2: </a:t>
            </a:r>
            <a:br>
              <a:rPr lang="en-US" dirty="0"/>
            </a:br>
            <a:r>
              <a:rPr dirty="0"/>
              <a:t>The Communications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Communications Challenge Today</a:t>
            </a:r>
          </a:p>
        </p:txBody>
      </p:sp>
      <p:sp>
        <p:nvSpPr>
          <p:cNvPr id="3870723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3461" cy="6967198"/>
          </a:xfrm>
        </p:spPr>
        <p:txBody>
          <a:bodyPr/>
          <a:lstStyle/>
          <a:p>
            <a:r>
              <a:rPr lang="en-US"/>
              <a:t>Today’s communications challenge is to create an infrastructure that will deliver information any time, to any place, via any device</a:t>
            </a:r>
          </a:p>
          <a:p>
            <a:r>
              <a:rPr lang="en-US"/>
              <a:t>Meeting this challenge involves many moving parts and players, and many networks</a:t>
            </a:r>
          </a:p>
          <a:p>
            <a:r>
              <a:rPr lang="en-US"/>
              <a:t>Constant change is the name of the game</a:t>
            </a:r>
          </a:p>
          <a:p>
            <a:r>
              <a:rPr lang="en-US"/>
              <a:t>This change occurs in many domains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376" y="6462132"/>
            <a:ext cx="6858000" cy="34290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37445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98" y="20478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Telecommunications Domains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0181" y="2500278"/>
            <a:ext cx="11787638" cy="69866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62423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F8BEF-3060-CFCD-794A-05B5A4916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946C-5365-B7D1-91D3-1671D7CBC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822463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Innovation has played a critical role in telecommunications and networking</a:t>
            </a:r>
          </a:p>
          <a:p>
            <a:r>
              <a:rPr lang="en-US" dirty="0"/>
              <a:t>Standards also play a significant role</a:t>
            </a:r>
          </a:p>
          <a:p>
            <a:r>
              <a:rPr lang="en-US" dirty="0"/>
              <a:t>Together they drive new capabilities and interoperability</a:t>
            </a:r>
          </a:p>
          <a:p>
            <a:r>
              <a:rPr lang="en-US" dirty="0"/>
              <a:t>Increasingly security is becoming an integral part of new products and services</a:t>
            </a:r>
          </a:p>
        </p:txBody>
      </p:sp>
      <p:pic>
        <p:nvPicPr>
          <p:cNvPr id="1026" name="Picture 2" descr="Download the Cisco logo in PNG y SVG | LogosDown">
            <a:extLst>
              <a:ext uri="{FF2B5EF4-FFF2-40B4-BE49-F238E27FC236}">
                <a16:creationId xmlns:a16="http://schemas.microsoft.com/office/drawing/2014/main" id="{F575F08B-2984-BB99-5225-82D445A72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1930" y="455429"/>
            <a:ext cx="3718206" cy="371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F2434238-4D51-DFAE-F3AE-5D60735F2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1679" y="3978671"/>
            <a:ext cx="5789446" cy="1273416"/>
          </a:xfrm>
          <a:prstGeom prst="rect">
            <a:avLst/>
          </a:prstGeom>
        </p:spPr>
      </p:pic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FD8414F7-43E1-D636-4A3B-99517C303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2008" y="6505419"/>
            <a:ext cx="5789446" cy="1479172"/>
          </a:xfrm>
          <a:prstGeom prst="rect">
            <a:avLst/>
          </a:prstGeom>
        </p:spPr>
      </p:pic>
      <p:pic>
        <p:nvPicPr>
          <p:cNvPr id="9" name="Picture 8" descr="A close-up of a logo&#10;&#10;AI-generated content may be incorrect.">
            <a:extLst>
              <a:ext uri="{FF2B5EF4-FFF2-40B4-BE49-F238E27FC236}">
                <a16:creationId xmlns:a16="http://schemas.microsoft.com/office/drawing/2014/main" id="{3D659B42-BA86-AB6F-6F73-BFC7262A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4924" y="8156137"/>
            <a:ext cx="3817946" cy="1705679"/>
          </a:xfrm>
          <a:prstGeom prst="rect">
            <a:avLst/>
          </a:prstGeom>
        </p:spPr>
      </p:pic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id="{1EE6F34B-D7AE-369C-3935-982D5C4179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7043" y="5465562"/>
            <a:ext cx="3995135" cy="1000079"/>
          </a:xfrm>
          <a:prstGeom prst="rect">
            <a:avLst/>
          </a:prstGeom>
        </p:spPr>
      </p:pic>
      <p:pic>
        <p:nvPicPr>
          <p:cNvPr id="15" name="Picture 14" descr="A blue and black logo&#10;&#10;AI-generated content may be incorrect.">
            <a:extLst>
              <a:ext uri="{FF2B5EF4-FFF2-40B4-BE49-F238E27FC236}">
                <a16:creationId xmlns:a16="http://schemas.microsoft.com/office/drawing/2014/main" id="{85C4967A-1024-2B60-3E1D-18E1443E4C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9067" y="7792278"/>
            <a:ext cx="2124172" cy="2058476"/>
          </a:xfrm>
          <a:prstGeom prst="rect">
            <a:avLst/>
          </a:prstGeom>
        </p:spPr>
      </p:pic>
      <p:pic>
        <p:nvPicPr>
          <p:cNvPr id="17" name="Picture 16" descr="A blue and white logo&#10;&#10;AI-generated content may be incorrect.">
            <a:extLst>
              <a:ext uri="{FF2B5EF4-FFF2-40B4-BE49-F238E27FC236}">
                <a16:creationId xmlns:a16="http://schemas.microsoft.com/office/drawing/2014/main" id="{E034AC8E-75C1-6923-F723-BF8DDF3768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9035" y="1020789"/>
            <a:ext cx="4624180" cy="698765"/>
          </a:xfrm>
          <a:prstGeom prst="rect">
            <a:avLst/>
          </a:prstGeom>
        </p:spPr>
      </p:pic>
      <p:pic>
        <p:nvPicPr>
          <p:cNvPr id="19" name="Picture 1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8DCD07F-A42B-D21F-BDF1-40C439F828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42178" y="2695602"/>
            <a:ext cx="5195680" cy="1236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901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92B14-6AF0-80D3-1FC2-41A18BCE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Regulation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7D6E-CA69-7DAF-509B-BE5946DB2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Various forms of regulation exist in telecommunications and networking</a:t>
            </a:r>
          </a:p>
          <a:p>
            <a:r>
              <a:rPr lang="en-US" dirty="0"/>
              <a:t>Wired and wireless networks in the US fall under federal, state and international jurisdictions, areas covered may include</a:t>
            </a:r>
          </a:p>
          <a:p>
            <a:pPr lvl="1"/>
            <a:r>
              <a:rPr lang="en-US" dirty="0"/>
              <a:t>Licensing</a:t>
            </a:r>
          </a:p>
          <a:p>
            <a:pPr lvl="1"/>
            <a:r>
              <a:rPr lang="en-US" dirty="0"/>
              <a:t>Provider interconnection</a:t>
            </a:r>
          </a:p>
          <a:p>
            <a:pPr lvl="1"/>
            <a:r>
              <a:rPr lang="en-US" dirty="0"/>
              <a:t>Customer support</a:t>
            </a:r>
          </a:p>
          <a:p>
            <a:pPr lvl="1"/>
            <a:r>
              <a:rPr lang="en-US" dirty="0"/>
              <a:t>Availability</a:t>
            </a:r>
          </a:p>
          <a:p>
            <a:pPr lvl="1"/>
            <a:r>
              <a:rPr lang="en-US" dirty="0"/>
              <a:t>Reliability</a:t>
            </a:r>
          </a:p>
          <a:p>
            <a:pPr lvl="1"/>
            <a:r>
              <a:rPr lang="en-US" dirty="0"/>
              <a:t>Technology </a:t>
            </a:r>
          </a:p>
          <a:p>
            <a:pPr lvl="1"/>
            <a:r>
              <a:rPr lang="en-US" dirty="0"/>
              <a:t>Security</a:t>
            </a:r>
          </a:p>
        </p:txBody>
      </p:sp>
      <p:pic>
        <p:nvPicPr>
          <p:cNvPr id="6" name="Picture 5" descr="A logo of the federal communications commission&#10;&#10;AI-generated content may be incorrect.">
            <a:extLst>
              <a:ext uri="{FF2B5EF4-FFF2-40B4-BE49-F238E27FC236}">
                <a16:creationId xmlns:a16="http://schemas.microsoft.com/office/drawing/2014/main" id="{62826D17-1C5B-1FF2-3275-04301179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7054" y="6245413"/>
            <a:ext cx="3696912" cy="3696912"/>
          </a:xfrm>
          <a:prstGeom prst="rect">
            <a:avLst/>
          </a:prstGeom>
        </p:spPr>
      </p:pic>
      <p:pic>
        <p:nvPicPr>
          <p:cNvPr id="8" name="Picture 7" descr="A logo with yellow and purple circles&#10;&#10;AI-generated content may be incorrect.">
            <a:extLst>
              <a:ext uri="{FF2B5EF4-FFF2-40B4-BE49-F238E27FC236}">
                <a16:creationId xmlns:a16="http://schemas.microsoft.com/office/drawing/2014/main" id="{8C3C2E0D-4EA8-042D-5E18-EEEAE2D76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142" y="6245413"/>
            <a:ext cx="3654419" cy="369691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68516F6-4AB2-68A6-5E92-EB3196C1B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250" y="6364682"/>
            <a:ext cx="3577643" cy="3577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517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Voice Network Providers</a:t>
            </a:r>
          </a:p>
        </p:txBody>
      </p:sp>
      <p:sp>
        <p:nvSpPr>
          <p:cNvPr id="38942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100539" cy="757951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 too long ago, there was only one: AT&amp;T</a:t>
            </a:r>
          </a:p>
          <a:p>
            <a:r>
              <a:rPr lang="en-US" dirty="0"/>
              <a:t>Telephone network technology and structure has undergone major shifts every 20–30 years</a:t>
            </a:r>
          </a:p>
          <a:p>
            <a:r>
              <a:rPr lang="en-US" dirty="0"/>
              <a:t>In the past, technology replacement was based on </a:t>
            </a:r>
            <a:br>
              <a:rPr lang="en-US" dirty="0"/>
            </a:br>
            <a:r>
              <a:rPr lang="en-US" dirty="0"/>
              <a:t>economics driving when replacement took place</a:t>
            </a:r>
          </a:p>
          <a:p>
            <a:r>
              <a:rPr lang="en-US" dirty="0"/>
              <a:t>Last move was to VoIP, drivers included</a:t>
            </a:r>
          </a:p>
          <a:p>
            <a:pPr lvl="1"/>
            <a:r>
              <a:rPr lang="en-US" dirty="0"/>
              <a:t>Economics</a:t>
            </a:r>
          </a:p>
          <a:p>
            <a:pPr lvl="2"/>
            <a:r>
              <a:rPr lang="en-US" dirty="0"/>
              <a:t>Data now more important than voice</a:t>
            </a:r>
          </a:p>
          <a:p>
            <a:pPr lvl="2"/>
            <a:r>
              <a:rPr lang="en-US" dirty="0"/>
              <a:t>Mobility adds convenience</a:t>
            </a:r>
          </a:p>
          <a:p>
            <a:pPr lvl="2"/>
            <a:r>
              <a:rPr lang="en-US" dirty="0"/>
              <a:t>Demise of the wireline phone</a:t>
            </a:r>
          </a:p>
          <a:p>
            <a:pPr lvl="1"/>
            <a:r>
              <a:rPr lang="en-US" dirty="0"/>
              <a:t>Regulation</a:t>
            </a:r>
          </a:p>
          <a:p>
            <a:pPr lvl="2"/>
            <a:r>
              <a:rPr lang="en-US" dirty="0"/>
              <a:t>Reduced need</a:t>
            </a:r>
          </a:p>
          <a:p>
            <a:pPr lvl="1"/>
            <a:r>
              <a:rPr lang="en-US" dirty="0"/>
              <a:t>Applications</a:t>
            </a:r>
          </a:p>
          <a:p>
            <a:pPr lvl="2"/>
            <a:r>
              <a:rPr lang="en-US" dirty="0"/>
              <a:t>Integration with conferencing and IM</a:t>
            </a:r>
          </a:p>
          <a:p>
            <a:pPr lvl="2"/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15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B6072158-B6A9-B921-526E-D8505CC04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6713" y="5326079"/>
            <a:ext cx="4391126" cy="448229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5059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9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1"/>
            <a:ext cx="15491832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Computer technology has evolved at an unprecedented rate</a:t>
            </a:r>
          </a:p>
          <a:p>
            <a:r>
              <a:rPr lang="en-US"/>
              <a:t>Businesses first used computers in the 1960s and all communication used private connections of modified voice circuits</a:t>
            </a:r>
          </a:p>
          <a:p>
            <a:r>
              <a:rPr lang="en-US"/>
              <a:t>Public data networking appeared in the 1970s, but the real change occurred with the commercialization of the internet in the 1990s</a:t>
            </a:r>
          </a:p>
          <a:p>
            <a:r>
              <a:rPr lang="en-US"/>
              <a:t>Network technology has moved from proprietary</a:t>
            </a:r>
            <a:br>
              <a:rPr lang="en-US"/>
            </a:br>
            <a:r>
              <a:rPr lang="en-US"/>
              <a:t>to internet-based, even for private networks</a:t>
            </a:r>
          </a:p>
          <a:p>
            <a:r>
              <a:rPr lang="en-US"/>
              <a:t>The internet continues to change everything </a:t>
            </a:r>
          </a:p>
          <a:p>
            <a:r>
              <a:rPr lang="en-US"/>
              <a:t>Wireless access has grown in importance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899397" name="Picture 5" descr="iStock_000007645167XSmall"/>
          <p:cNvPicPr>
            <a:picLocks noChangeAspect="1" noChangeArrowheads="1"/>
          </p:cNvPicPr>
          <p:nvPr/>
        </p:nvPicPr>
        <p:blipFill>
          <a:blip r:embed="rId4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73200" y="6807806"/>
            <a:ext cx="4638924" cy="3479194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70973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3494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0"/>
            <a:ext cx="15100539" cy="73413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Video networks started with over the air broadcast television</a:t>
            </a:r>
          </a:p>
          <a:p>
            <a:r>
              <a:rPr lang="en-US" dirty="0"/>
              <a:t>Over time many households moved to cable pay-tv to get access to more and more diverse content</a:t>
            </a:r>
          </a:p>
          <a:p>
            <a:r>
              <a:rPr lang="en-US" dirty="0"/>
              <a:t>Technology has moved viewing from scheduled to “when convenient” and from the TV to a wide variety of devices</a:t>
            </a:r>
          </a:p>
          <a:p>
            <a:r>
              <a:rPr lang="en-US" dirty="0"/>
              <a:t>Increasing drive to internet distribution</a:t>
            </a:r>
          </a:p>
          <a:p>
            <a:pPr lvl="1"/>
            <a:r>
              <a:rPr lang="en-US" dirty="0"/>
              <a:t>Traditional players trying to figure out their roles</a:t>
            </a:r>
          </a:p>
          <a:p>
            <a:pPr lvl="1"/>
            <a:r>
              <a:rPr lang="en-US" dirty="0"/>
              <a:t>Content owners exploring new distribution models</a:t>
            </a:r>
          </a:p>
          <a:p>
            <a:pPr lvl="1"/>
            <a:r>
              <a:rPr lang="en-US" dirty="0"/>
              <a:t>Streaming services fighting for eyeballs</a:t>
            </a:r>
          </a:p>
          <a:p>
            <a:pPr lvl="1"/>
            <a:r>
              <a:rPr lang="en-US" dirty="0"/>
              <a:t>TVs have had to become smarter</a:t>
            </a:r>
          </a:p>
          <a:p>
            <a:r>
              <a:rPr lang="en-US" dirty="0"/>
              <a:t>Business video</a:t>
            </a:r>
          </a:p>
          <a:p>
            <a:pPr lvl="1"/>
            <a:r>
              <a:rPr lang="en-US" dirty="0"/>
              <a:t>Was expensive and required specialized equipment</a:t>
            </a:r>
          </a:p>
          <a:p>
            <a:pPr lvl="1"/>
            <a:r>
              <a:rPr lang="en-US" dirty="0"/>
              <a:t>Now we have many affordable options on the desktop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17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DC0C21E2-D5D0-F66E-7465-76C6005BB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5961" y="6424614"/>
            <a:ext cx="3657600" cy="36576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31366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Content</a:t>
            </a:r>
          </a:p>
        </p:txBody>
      </p:sp>
      <p:sp>
        <p:nvSpPr>
          <p:cNvPr id="3" name="Then head"/>
          <p:cNvSpPr txBox="1"/>
          <p:nvPr/>
        </p:nvSpPr>
        <p:spPr>
          <a:xfrm>
            <a:off x="1257300" y="26974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Then</a:t>
            </a:r>
          </a:p>
        </p:txBody>
      </p:sp>
      <p:sp>
        <p:nvSpPr>
          <p:cNvPr id="4" name="Then panel"/>
          <p:cNvSpPr/>
          <p:nvPr/>
        </p:nvSpPr>
        <p:spPr>
          <a:xfrm>
            <a:off x="1257300" y="3291840"/>
            <a:ext cx="521208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hen content"/>
          <p:cNvSpPr/>
          <p:nvPr/>
        </p:nvSpPr>
        <p:spPr>
          <a:xfrm>
            <a:off x="1577340" y="3520440"/>
            <a:ext cx="4572000" cy="118872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Then content text"/>
          <p:cNvSpPr txBox="1"/>
          <p:nvPr/>
        </p:nvSpPr>
        <p:spPr>
          <a:xfrm>
            <a:off x="1714500" y="356616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Content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Studios, broadcasters, publishers</a:t>
            </a:r>
          </a:p>
        </p:txBody>
      </p:sp>
      <p:cxnSp>
        <p:nvCxnSpPr>
          <p:cNvPr id="7" name="Then divide"/>
          <p:cNvCxnSpPr/>
          <p:nvPr/>
        </p:nvCxnSpPr>
        <p:spPr>
          <a:xfrm>
            <a:off x="1577340" y="5120640"/>
            <a:ext cx="4572000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hen divide label"/>
          <p:cNvSpPr txBox="1"/>
          <p:nvPr/>
        </p:nvSpPr>
        <p:spPr>
          <a:xfrm>
            <a:off x="1577340" y="47365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kept apart, partly by regulation</a:t>
            </a:r>
          </a:p>
        </p:txBody>
      </p:sp>
      <p:sp>
        <p:nvSpPr>
          <p:cNvPr id="9" name="Then carriers"/>
          <p:cNvSpPr/>
          <p:nvPr/>
        </p:nvSpPr>
        <p:spPr>
          <a:xfrm>
            <a:off x="1577340" y="5532120"/>
            <a:ext cx="4572000" cy="1188720"/>
          </a:xfrm>
          <a:prstGeom prst="round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Then carriers text"/>
          <p:cNvSpPr txBox="1"/>
          <p:nvPr/>
        </p:nvSpPr>
        <p:spPr>
          <a:xfrm>
            <a:off x="1714500" y="557784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Phone, cable and broadcast networks</a:t>
            </a:r>
          </a:p>
        </p:txBody>
      </p:sp>
      <p:cxnSp>
        <p:nvCxnSpPr>
          <p:cNvPr id="11" name="Then to now"/>
          <p:cNvCxnSpPr/>
          <p:nvPr/>
        </p:nvCxnSpPr>
        <p:spPr>
          <a:xfrm>
            <a:off x="6560820" y="5120640"/>
            <a:ext cx="594360" cy="0"/>
          </a:xfrm>
          <a:prstGeom prst="line">
            <a:avLst/>
          </a:prstGeom>
          <a:ln w="508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w head"/>
          <p:cNvSpPr txBox="1"/>
          <p:nvPr/>
        </p:nvSpPr>
        <p:spPr>
          <a:xfrm>
            <a:off x="7269480" y="2697480"/>
            <a:ext cx="97612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Now: the line runs through companies, not between them</a:t>
            </a:r>
          </a:p>
        </p:txBody>
      </p:sp>
      <p:sp>
        <p:nvSpPr>
          <p:cNvPr id="13" name="Now 1"/>
          <p:cNvSpPr/>
          <p:nvPr/>
        </p:nvSpPr>
        <p:spPr>
          <a:xfrm>
            <a:off x="726948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N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6290" y="3543300"/>
            <a:ext cx="777240" cy="777240"/>
          </a:xfrm>
          <a:prstGeom prst="rect">
            <a:avLst/>
          </a:prstGeom>
        </p:spPr>
      </p:pic>
      <p:sp>
        <p:nvSpPr>
          <p:cNvPr id="15" name="Now 1 text"/>
          <p:cNvSpPr txBox="1"/>
          <p:nvPr/>
        </p:nvSpPr>
        <p:spPr>
          <a:xfrm>
            <a:off x="7498079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Carriers bought content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Comcast owns NBCUniversal. AT&amp;T bought Time Warner in 2018, then spun it off in 2022.</a:t>
            </a:r>
          </a:p>
        </p:txBody>
      </p:sp>
      <p:sp>
        <p:nvSpPr>
          <p:cNvPr id="16" name="Now 2"/>
          <p:cNvSpPr/>
          <p:nvPr/>
        </p:nvSpPr>
        <p:spPr>
          <a:xfrm>
            <a:off x="1061466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N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61470" y="3543300"/>
            <a:ext cx="777240" cy="777240"/>
          </a:xfrm>
          <a:prstGeom prst="rect">
            <a:avLst/>
          </a:prstGeom>
        </p:spPr>
      </p:pic>
      <p:sp>
        <p:nvSpPr>
          <p:cNvPr id="18" name="Now 2 text"/>
          <p:cNvSpPr txBox="1"/>
          <p:nvPr/>
        </p:nvSpPr>
        <p:spPr>
          <a:xfrm>
            <a:off x="1084326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Content companies built networks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Netflix puts servers inside ISPs. Google, Meta, Amazon and Microsoft own or co-own many undersea cables.</a:t>
            </a:r>
          </a:p>
        </p:txBody>
      </p:sp>
      <p:sp>
        <p:nvSpPr>
          <p:cNvPr id="19" name="Now 3"/>
          <p:cNvSpPr/>
          <p:nvPr/>
        </p:nvSpPr>
        <p:spPr>
          <a:xfrm>
            <a:off x="1395984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N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06649" y="3543300"/>
            <a:ext cx="777240" cy="777240"/>
          </a:xfrm>
          <a:prstGeom prst="rect">
            <a:avLst/>
          </a:prstGeom>
        </p:spPr>
      </p:pic>
      <p:sp>
        <p:nvSpPr>
          <p:cNvPr id="21" name="Now 3 text"/>
          <p:cNvSpPr txBox="1"/>
          <p:nvPr/>
        </p:nvSpPr>
        <p:spPr>
          <a:xfrm>
            <a:off x="1418844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cloud sits in the middle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same few companies host the content, deliver it, and sell the cloud banks run on.</a:t>
            </a:r>
          </a:p>
        </p:txBody>
      </p:sp>
      <p:sp>
        <p:nvSpPr>
          <p:cNvPr id="22" name="Video strip"/>
          <p:cNvSpPr/>
          <p:nvPr/>
        </p:nvSpPr>
        <p:spPr>
          <a:xfrm>
            <a:off x="1257300" y="7223760"/>
            <a:ext cx="15773400" cy="7772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Video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19" y="7360919"/>
            <a:ext cx="502920" cy="502920"/>
          </a:xfrm>
          <a:prstGeom prst="rect">
            <a:avLst/>
          </a:prstGeom>
        </p:spPr>
      </p:pic>
      <p:sp>
        <p:nvSpPr>
          <p:cNvPr id="24" name="Video text"/>
          <p:cNvSpPr txBox="1"/>
          <p:nvPr/>
        </p:nvSpPr>
        <p:spPr>
          <a:xfrm>
            <a:off x="2286000" y="7223760"/>
            <a:ext cx="14538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Most internet traffic is now video, so content lives as close to the user as possible.</a:t>
            </a:r>
          </a:p>
        </p:txBody>
      </p:sp>
      <p:sp>
        <p:nvSpPr>
          <p:cNvPr id="25" name="Bank banner"/>
          <p:cNvSpPr/>
          <p:nvPr/>
        </p:nvSpPr>
        <p:spPr>
          <a:xfrm>
            <a:off x="1257300" y="8183879"/>
            <a:ext cx="1577340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Bank banner text"/>
          <p:cNvSpPr txBox="1"/>
          <p:nvPr/>
        </p:nvSpPr>
        <p:spPr>
          <a:xfrm>
            <a:off x="1554480" y="8211312"/>
            <a:ext cx="15179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 is a content provider too.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Its website and app are usually delivered through a CDN such as Akamai or Cloudflare, often its DDoS protection as well.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3: A Short History of Financial Networking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From Ticker Tape to Terabits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D2572-AB09-DB01-FC8E-152F8FEC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895614" cy="664062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stock ticker (Calahan in 1867, then </a:t>
            </a:r>
            <a:br>
              <a:rPr lang="en-US" dirty="0"/>
            </a:br>
            <a:r>
              <a:rPr lang="en-US" dirty="0"/>
              <a:t>Edison’s improvements) sent prices over </a:t>
            </a:r>
            <a:br>
              <a:rPr lang="en-US" dirty="0"/>
            </a:br>
            <a:r>
              <a:rPr lang="en-US" dirty="0"/>
              <a:t>telegraph wires.</a:t>
            </a:r>
          </a:p>
          <a:p>
            <a:pPr lvl="1"/>
            <a:r>
              <a:rPr lang="en-US" dirty="0"/>
              <a:t>Market data was networked a century </a:t>
            </a:r>
            <a:br>
              <a:rPr lang="en-US" dirty="0"/>
            </a:br>
            <a:r>
              <a:rPr lang="en-US" dirty="0"/>
              <a:t>before computers.</a:t>
            </a:r>
          </a:p>
          <a:p>
            <a:r>
              <a:rPr lang="en-US" dirty="0"/>
              <a:t>Fedwire started in 1918 as a telegraph </a:t>
            </a:r>
            <a:br>
              <a:rPr lang="en-US" dirty="0"/>
            </a:br>
            <a:r>
              <a:rPr lang="en-US" dirty="0"/>
              <a:t>network linking the twelve Reserve Banks. </a:t>
            </a:r>
          </a:p>
          <a:p>
            <a:pPr lvl="1"/>
            <a:r>
              <a:rPr lang="en-US" dirty="0"/>
              <a:t>The Fed’s payment network is older than most </a:t>
            </a:r>
            <a:br>
              <a:rPr lang="en-US" dirty="0"/>
            </a:br>
            <a:r>
              <a:rPr lang="en-US" dirty="0"/>
              <a:t>banks we examine.</a:t>
            </a:r>
          </a:p>
          <a:p>
            <a:r>
              <a:rPr lang="en-US" dirty="0"/>
              <a:t>Banks sent money by telex authenticated </a:t>
            </a:r>
            <a:br>
              <a:rPr lang="en-US" dirty="0"/>
            </a:br>
            <a:r>
              <a:rPr lang="en-US" dirty="0"/>
              <a:t>messages with “test keys” (codes agreed </a:t>
            </a:r>
            <a:br>
              <a:rPr lang="en-US" dirty="0"/>
            </a:br>
            <a:r>
              <a:rPr lang="en-US" dirty="0"/>
              <a:t>in advance.) </a:t>
            </a:r>
          </a:p>
          <a:p>
            <a:pPr lvl="1"/>
            <a:r>
              <a:rPr lang="en-US" dirty="0"/>
              <a:t>Message authentication was a banking problem long before TLS.</a:t>
            </a:r>
          </a:p>
          <a:p>
            <a:endParaRPr lang="en-US" dirty="0"/>
          </a:p>
        </p:txBody>
      </p:sp>
      <p:pic>
        <p:nvPicPr>
          <p:cNvPr id="5" name="Picture 4" descr="A glass dome with a piece of metal and gold&#10;&#10;AI-generated content may be incorrect.">
            <a:extLst>
              <a:ext uri="{FF2B5EF4-FFF2-40B4-BE49-F238E27FC236}">
                <a16:creationId xmlns:a16="http://schemas.microsoft.com/office/drawing/2014/main" id="{8A946DE2-EBFB-2C43-64B2-9EEEB6716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3123" y="1453243"/>
            <a:ext cx="4742381" cy="597625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</a:t>
            </a:r>
            <a:r>
              <a:rPr dirty="0"/>
              <a:t>Banking</a:t>
            </a:r>
            <a:r>
              <a:rPr lang="en-US" dirty="0"/>
              <a:t> Telecom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80DCF-0C77-A6DE-BF70-2FC6B0826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956434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Bank of America’s ERMA system (Electronic Recording Machine, Accounting) automated check processing. It gave us MICR, the magnetic-ink numbers still printed along the bottom of every check. </a:t>
            </a:r>
          </a:p>
          <a:p>
            <a:r>
              <a:rPr lang="en-US" dirty="0"/>
              <a:t>Acoustic couplers were 300bps (!) modems to press a telephone handset into, They existed because you couldn’t connect your own equipment to the phone network until the </a:t>
            </a:r>
            <a:r>
              <a:rPr lang="en-US" dirty="0" err="1"/>
              <a:t>Carterfone</a:t>
            </a:r>
            <a:r>
              <a:rPr lang="en-US" dirty="0"/>
              <a:t> decision in 1968.</a:t>
            </a:r>
          </a:p>
          <a:p>
            <a:endParaRPr lang="en-US" dirty="0"/>
          </a:p>
        </p:txBody>
      </p:sp>
      <p:pic>
        <p:nvPicPr>
          <p:cNvPr id="5" name="Picture 4" descr="A telephone and a corded telephone&#10;&#10;AI-generated content may be incorrect.">
            <a:extLst>
              <a:ext uri="{FF2B5EF4-FFF2-40B4-BE49-F238E27FC236}">
                <a16:creationId xmlns:a16="http://schemas.microsoft.com/office/drawing/2014/main" id="{D0DE9E54-23D6-1733-D952-0A7F08A26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25" y="5026971"/>
            <a:ext cx="5598886" cy="4418030"/>
          </a:xfrm>
          <a:prstGeom prst="rect">
            <a:avLst/>
          </a:prstGeom>
        </p:spPr>
      </p:pic>
      <p:pic>
        <p:nvPicPr>
          <p:cNvPr id="7" name="Picture 6" descr="A piece of paper with numbers and dots&#10;&#10;AI-generated content may be incorrect.">
            <a:extLst>
              <a:ext uri="{FF2B5EF4-FFF2-40B4-BE49-F238E27FC236}">
                <a16:creationId xmlns:a16="http://schemas.microsoft.com/office/drawing/2014/main" id="{262F3457-3473-C5DA-F38D-D822950CA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1991" y="1198958"/>
            <a:ext cx="6019132" cy="268874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6691190" cy="1988345"/>
          </a:xfrm>
        </p:spPr>
        <p:txBody>
          <a:bodyPr/>
          <a:lstStyle/>
          <a:p>
            <a:r>
              <a:rPr dirty="0"/>
              <a:t>People Give Way to</a:t>
            </a:r>
            <a:r>
              <a:rPr lang="en-US" dirty="0"/>
              <a:t> Machines in Both Industries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6A88-85A2-F0DA-F466-989DD44E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328571" cy="696719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Banking:</a:t>
            </a:r>
            <a:r>
              <a:rPr lang="en-US" dirty="0"/>
              <a:t> Tellers gave way to ATMs, first at Barclays in 1967 and in the US in 1969, then to mobile deposit.</a:t>
            </a:r>
          </a:p>
          <a:p>
            <a:r>
              <a:rPr lang="en-US" b="1" dirty="0"/>
              <a:t>Networking:</a:t>
            </a:r>
            <a:r>
              <a:rPr lang="en-US" dirty="0"/>
              <a:t> Human operators gave way to automatic switches.</a:t>
            </a:r>
          </a:p>
          <a:p>
            <a:r>
              <a:rPr lang="en-US" b="1" dirty="0"/>
              <a:t>Checks: </a:t>
            </a:r>
            <a:r>
              <a:rPr lang="en-US" dirty="0"/>
              <a:t>When 9/11 grounded flights, planes carrying checks between clearing centers stopped. That pushed Congress to pass Check 21 in 2003, letting banks clear check images over the network. </a:t>
            </a:r>
          </a:p>
          <a:p>
            <a:r>
              <a:rPr lang="en-US" b="1" dirty="0"/>
              <a:t>Risk changed:</a:t>
            </a:r>
            <a:r>
              <a:rPr lang="en-US" dirty="0"/>
              <a:t> When people did the job, the controls were human controls (e.g. dual signatures and a teller who knew the customer.) When a machine or network does it, the controls must be technical. </a:t>
            </a:r>
          </a:p>
          <a:p>
            <a:pPr lvl="1"/>
            <a:r>
              <a:rPr lang="en-US" dirty="0"/>
              <a:t>This is why we’re here this week!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4: </a:t>
            </a:r>
            <a:br>
              <a:rPr lang="en-US" dirty="0"/>
            </a:br>
            <a:r>
              <a:rPr dirty="0"/>
              <a:t>Designing</a:t>
            </a:r>
            <a:r>
              <a:rPr lang="en-US" dirty="0"/>
              <a:t> </a:t>
            </a:r>
            <a:r>
              <a:rPr dirty="0"/>
              <a:t>Bank Network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EBBDF-C63A-14F8-CEDB-275A625C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Office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0342-29AE-C70D-8924-ED463FDF9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25830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devices are in the branch, and what does each do?</a:t>
            </a:r>
          </a:p>
          <a:p>
            <a:r>
              <a:rPr lang="en-US" dirty="0"/>
              <a:t>Do we need LANs, WANs, or what?</a:t>
            </a:r>
          </a:p>
          <a:p>
            <a:r>
              <a:rPr lang="en-US" dirty="0"/>
              <a:t>How does this differ for different bank offices?</a:t>
            </a:r>
          </a:p>
          <a:p>
            <a:r>
              <a:rPr lang="en-US" dirty="0"/>
              <a:t>How are they connected to each other and the outside?</a:t>
            </a:r>
          </a:p>
          <a:p>
            <a:r>
              <a:rPr lang="en-US" dirty="0"/>
              <a:t>How does this differ from another SMB or other business?</a:t>
            </a:r>
          </a:p>
          <a:p>
            <a:r>
              <a:rPr lang="en-US" dirty="0"/>
              <a:t>Who builds, run, maintains, and secures all this?</a:t>
            </a:r>
          </a:p>
          <a:p>
            <a:endParaRPr lang="en-US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C250E6C1-EA83-3957-DB4F-DA6F5DA30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0281" y="2544419"/>
            <a:ext cx="7245399" cy="651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755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Simple Branch LAN</a:t>
            </a:r>
          </a:p>
        </p:txBody>
      </p:sp>
      <p:pic>
        <p:nvPicPr>
          <p:cNvPr id="101" name="Internet" descr="Internet cloud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0320" y="1528830"/>
            <a:ext cx="2194560" cy="2194560"/>
          </a:xfrm>
          <a:prstGeom prst="rect">
            <a:avLst/>
          </a:prstGeom>
        </p:spPr>
      </p:pic>
      <p:sp>
        <p:nvSpPr>
          <p:cNvPr id="102" name="Internet label"/>
          <p:cNvSpPr txBox="1"/>
          <p:nvPr/>
        </p:nvSpPr>
        <p:spPr>
          <a:xfrm>
            <a:off x="2743200" y="262611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03" name="LTE backup" descr="Cell tower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520" y="3429000"/>
            <a:ext cx="914400" cy="914400"/>
          </a:xfrm>
          <a:prstGeom prst="rect">
            <a:avLst/>
          </a:prstGeom>
        </p:spPr>
      </p:pic>
      <p:sp>
        <p:nvSpPr>
          <p:cNvPr id="104" name="LTE label"/>
          <p:cNvSpPr txBox="1"/>
          <p:nvPr/>
        </p:nvSpPr>
        <p:spPr>
          <a:xfrm>
            <a:off x="182880" y="44348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pic>
        <p:nvPicPr>
          <p:cNvPr id="105" name="Core processor" descr="Core processor data 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499080" y="1600200"/>
            <a:ext cx="1188720" cy="1188720"/>
          </a:xfrm>
          <a:prstGeom prst="rect">
            <a:avLst/>
          </a:prstGeom>
        </p:spPr>
      </p:pic>
      <p:sp>
        <p:nvSpPr>
          <p:cNvPr id="106" name="Core label"/>
          <p:cNvSpPr txBox="1"/>
          <p:nvPr/>
        </p:nvSpPr>
        <p:spPr>
          <a:xfrm>
            <a:off x="14904720" y="28346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07" name="Router-firewall"/>
          <p:cNvSpPr/>
          <p:nvPr/>
        </p:nvSpPr>
        <p:spPr>
          <a:xfrm>
            <a:off x="4846320" y="3429000"/>
            <a:ext cx="384048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sp>
        <p:nvSpPr>
          <p:cNvPr id="108" name="Core VPN device"/>
          <p:cNvSpPr/>
          <p:nvPr/>
        </p:nvSpPr>
        <p:spPr>
          <a:xfrm>
            <a:off x="10881360" y="3429000"/>
            <a:ext cx="310896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sp>
        <p:nvSpPr>
          <p:cNvPr id="109" name="Ethernet switch"/>
          <p:cNvSpPr/>
          <p:nvPr/>
        </p:nvSpPr>
        <p:spPr>
          <a:xfrm>
            <a:off x="1097280" y="5372100"/>
            <a:ext cx="16093440" cy="6858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 keep teller, ATM, voice, camera and guest traffic apart</a:t>
            </a:r>
          </a:p>
        </p:txBody>
      </p:sp>
      <p:cxnSp>
        <p:nvCxnSpPr>
          <p:cNvPr id="110" name="Internet to firewall"/>
          <p:cNvCxnSpPr/>
          <p:nvPr/>
        </p:nvCxnSpPr>
        <p:spPr>
          <a:xfrm>
            <a:off x="4389120" y="3108960"/>
            <a:ext cx="1645920" cy="32004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LTE to firewall"/>
          <p:cNvCxnSpPr/>
          <p:nvPr/>
        </p:nvCxnSpPr>
        <p:spPr>
          <a:xfrm>
            <a:off x="1691640" y="3886200"/>
            <a:ext cx="315468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cxnSp>
        <p:nvCxnSpPr>
          <p:cNvPr id="112" name="Firewall to VPN"/>
          <p:cNvCxnSpPr/>
          <p:nvPr/>
        </p:nvCxnSpPr>
        <p:spPr>
          <a:xfrm>
            <a:off x="8686800" y="3886200"/>
            <a:ext cx="21945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Firewall to switch"/>
          <p:cNvCxnSpPr/>
          <p:nvPr/>
        </p:nvCxnSpPr>
        <p:spPr>
          <a:xfrm>
            <a:off x="6766560" y="4343400"/>
            <a:ext cx="0" cy="10287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Tunnel to core"/>
          <p:cNvCxnSpPr/>
          <p:nvPr/>
        </p:nvCxnSpPr>
        <p:spPr>
          <a:xfrm flipV="1">
            <a:off x="12984480" y="2697480"/>
            <a:ext cx="2560320" cy="73152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Tunnel label"/>
          <p:cNvSpPr txBox="1"/>
          <p:nvPr/>
        </p:nvSpPr>
        <p:spPr>
          <a:xfrm>
            <a:off x="12984480" y="24231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 to the core</a:t>
            </a:r>
          </a:p>
        </p:txBody>
      </p:sp>
      <p:cxnSp>
        <p:nvCxnSpPr>
          <p:cNvPr id="116" name="Ethernet to Teller 1"/>
          <p:cNvCxnSpPr/>
          <p:nvPr/>
        </p:nvCxnSpPr>
        <p:spPr>
          <a:xfrm>
            <a:off x="10972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Teller 1" descr="Teller 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7220" y="6835140"/>
            <a:ext cx="960120" cy="960120"/>
          </a:xfrm>
          <a:prstGeom prst="rect">
            <a:avLst/>
          </a:prstGeom>
        </p:spPr>
      </p:pic>
      <p:cxnSp>
        <p:nvCxnSpPr>
          <p:cNvPr id="118" name="Ethernet to Teller 2"/>
          <p:cNvCxnSpPr/>
          <p:nvPr/>
        </p:nvCxnSpPr>
        <p:spPr>
          <a:xfrm>
            <a:off x="22860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Teller 2" descr="Teller 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05940" y="6835140"/>
            <a:ext cx="960120" cy="960120"/>
          </a:xfrm>
          <a:prstGeom prst="rect">
            <a:avLst/>
          </a:prstGeom>
        </p:spPr>
      </p:pic>
      <p:cxnSp>
        <p:nvCxnSpPr>
          <p:cNvPr id="120" name="Ethernet to Printers"/>
          <p:cNvCxnSpPr/>
          <p:nvPr/>
        </p:nvCxnSpPr>
        <p:spPr>
          <a:xfrm>
            <a:off x="38404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60420" y="6835140"/>
            <a:ext cx="960120" cy="960120"/>
          </a:xfrm>
          <a:prstGeom prst="rect">
            <a:avLst/>
          </a:prstGeom>
        </p:spPr>
      </p:pic>
      <p:sp>
        <p:nvSpPr>
          <p:cNvPr id="122" name="Printers label"/>
          <p:cNvSpPr txBox="1"/>
          <p:nvPr/>
        </p:nvSpPr>
        <p:spPr>
          <a:xfrm>
            <a:off x="29260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3" name="Ethernet to IP phones"/>
          <p:cNvCxnSpPr/>
          <p:nvPr/>
        </p:nvCxnSpPr>
        <p:spPr>
          <a:xfrm>
            <a:off x="530352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IP phones" descr="IP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23460" y="6835140"/>
            <a:ext cx="960120" cy="960120"/>
          </a:xfrm>
          <a:prstGeom prst="rect">
            <a:avLst/>
          </a:prstGeom>
        </p:spPr>
      </p:pic>
      <p:sp>
        <p:nvSpPr>
          <p:cNvPr id="125" name="IP phones label"/>
          <p:cNvSpPr txBox="1"/>
          <p:nvPr/>
        </p:nvSpPr>
        <p:spPr>
          <a:xfrm>
            <a:off x="438912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IP phones</a:t>
            </a:r>
          </a:p>
        </p:txBody>
      </p:sp>
      <p:cxnSp>
        <p:nvCxnSpPr>
          <p:cNvPr id="126" name="Ethernet to Branch server"/>
          <p:cNvCxnSpPr/>
          <p:nvPr/>
        </p:nvCxnSpPr>
        <p:spPr>
          <a:xfrm>
            <a:off x="676656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Branch 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86500" y="6835140"/>
            <a:ext cx="960120" cy="960120"/>
          </a:xfrm>
          <a:prstGeom prst="rect">
            <a:avLst/>
          </a:prstGeom>
        </p:spPr>
      </p:pic>
      <p:sp>
        <p:nvSpPr>
          <p:cNvPr id="128" name="Branch server label"/>
          <p:cNvSpPr txBox="1"/>
          <p:nvPr/>
        </p:nvSpPr>
        <p:spPr>
          <a:xfrm>
            <a:off x="585216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29" name="Ethernet to ATM"/>
          <p:cNvCxnSpPr/>
          <p:nvPr/>
        </p:nvCxnSpPr>
        <p:spPr>
          <a:xfrm>
            <a:off x="82296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49540" y="6835140"/>
            <a:ext cx="960120" cy="960120"/>
          </a:xfrm>
          <a:prstGeom prst="rect">
            <a:avLst/>
          </a:prstGeom>
        </p:spPr>
      </p:pic>
      <p:sp>
        <p:nvSpPr>
          <p:cNvPr id="131" name="ATM label"/>
          <p:cNvSpPr txBox="1"/>
          <p:nvPr/>
        </p:nvSpPr>
        <p:spPr>
          <a:xfrm>
            <a:off x="731520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2" name="Ethernet to Cameras"/>
          <p:cNvCxnSpPr/>
          <p:nvPr/>
        </p:nvCxnSpPr>
        <p:spPr>
          <a:xfrm>
            <a:off x="969264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12580" y="6835140"/>
            <a:ext cx="960120" cy="960120"/>
          </a:xfrm>
          <a:prstGeom prst="rect">
            <a:avLst/>
          </a:prstGeom>
        </p:spPr>
      </p:pic>
      <p:sp>
        <p:nvSpPr>
          <p:cNvPr id="134" name="Cameras label"/>
          <p:cNvSpPr txBox="1"/>
          <p:nvPr/>
        </p:nvSpPr>
        <p:spPr>
          <a:xfrm>
            <a:off x="877824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5" name="Ethernet to Alarm panel"/>
          <p:cNvCxnSpPr/>
          <p:nvPr/>
        </p:nvCxnSpPr>
        <p:spPr>
          <a:xfrm>
            <a:off x="111556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Alarm panel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75620" y="6835140"/>
            <a:ext cx="960120" cy="960120"/>
          </a:xfrm>
          <a:prstGeom prst="rect">
            <a:avLst/>
          </a:prstGeom>
        </p:spPr>
      </p:pic>
      <p:sp>
        <p:nvSpPr>
          <p:cNvPr id="137" name="Alarm panel label"/>
          <p:cNvSpPr txBox="1"/>
          <p:nvPr/>
        </p:nvSpPr>
        <p:spPr>
          <a:xfrm>
            <a:off x="102412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8" name="Ethernet to Staff AP"/>
          <p:cNvCxnSpPr/>
          <p:nvPr/>
        </p:nvCxnSpPr>
        <p:spPr>
          <a:xfrm>
            <a:off x="135331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9" name="Staff AP" descr="Staff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44500" y="6697980"/>
            <a:ext cx="777240" cy="777240"/>
          </a:xfrm>
          <a:prstGeom prst="rect">
            <a:avLst/>
          </a:prstGeom>
        </p:spPr>
      </p:pic>
      <p:sp>
        <p:nvSpPr>
          <p:cNvPr id="140" name="Staff AP label"/>
          <p:cNvSpPr txBox="1"/>
          <p:nvPr/>
        </p:nvSpPr>
        <p:spPr>
          <a:xfrm>
            <a:off x="126187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1" name="Ethernet to Guest AP"/>
          <p:cNvCxnSpPr/>
          <p:nvPr/>
        </p:nvCxnSpPr>
        <p:spPr>
          <a:xfrm>
            <a:off x="162763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Guest AP" descr="Guest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887700" y="6697980"/>
            <a:ext cx="777240" cy="777240"/>
          </a:xfrm>
          <a:prstGeom prst="rect">
            <a:avLst/>
          </a:prstGeom>
        </p:spPr>
      </p:pic>
      <p:sp>
        <p:nvSpPr>
          <p:cNvPr id="143" name="Guest AP label"/>
          <p:cNvSpPr txBox="1"/>
          <p:nvPr/>
        </p:nvSpPr>
        <p:spPr>
          <a:xfrm>
            <a:off x="153619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sp>
        <p:nvSpPr>
          <p:cNvPr id="144" name="Teller label"/>
          <p:cNvSpPr txBox="1"/>
          <p:nvPr/>
        </p:nvSpPr>
        <p:spPr>
          <a:xfrm>
            <a:off x="320040" y="78684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workstations</a:t>
            </a:r>
          </a:p>
        </p:txBody>
      </p:sp>
      <p:cxnSp>
        <p:nvCxnSpPr>
          <p:cNvPr id="145" name="Wi-Fi to Staff laptop"/>
          <p:cNvCxnSpPr/>
          <p:nvPr/>
        </p:nvCxnSpPr>
        <p:spPr>
          <a:xfrm>
            <a:off x="135331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6" name="Staff laptop" descr="Staff laptop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67360" y="8366760"/>
            <a:ext cx="731520" cy="731520"/>
          </a:xfrm>
          <a:prstGeom prst="rect">
            <a:avLst/>
          </a:prstGeom>
        </p:spPr>
      </p:pic>
      <p:sp>
        <p:nvSpPr>
          <p:cNvPr id="147" name="Staff laptop label"/>
          <p:cNvSpPr txBox="1"/>
          <p:nvPr/>
        </p:nvSpPr>
        <p:spPr>
          <a:xfrm>
            <a:off x="125272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8" name="Wi-Fi to Guest phone"/>
          <p:cNvCxnSpPr/>
          <p:nvPr/>
        </p:nvCxnSpPr>
        <p:spPr>
          <a:xfrm>
            <a:off x="162763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Guest phone" descr="Guest phone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10560" y="8366760"/>
            <a:ext cx="731520" cy="731520"/>
          </a:xfrm>
          <a:prstGeom prst="rect">
            <a:avLst/>
          </a:prstGeom>
        </p:spPr>
      </p:pic>
      <p:sp>
        <p:nvSpPr>
          <p:cNvPr id="150" name="Guest phone label"/>
          <p:cNvSpPr txBox="1"/>
          <p:nvPr/>
        </p:nvSpPr>
        <p:spPr>
          <a:xfrm>
            <a:off x="152704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Legend Ethernet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Legend Ethernet text"/>
          <p:cNvSpPr txBox="1"/>
          <p:nvPr/>
        </p:nvSpPr>
        <p:spPr>
          <a:xfrm>
            <a:off x="1417320" y="96743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Legend WiFi"/>
          <p:cNvCxnSpPr/>
          <p:nvPr/>
        </p:nvCxnSpPr>
        <p:spPr>
          <a:xfrm>
            <a:off x="2834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Legend WiFi text"/>
          <p:cNvSpPr txBox="1"/>
          <p:nvPr/>
        </p:nvSpPr>
        <p:spPr>
          <a:xfrm>
            <a:off x="3703320" y="96743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Legend backup"/>
          <p:cNvCxnSpPr/>
          <p:nvPr/>
        </p:nvCxnSpPr>
        <p:spPr>
          <a:xfrm>
            <a:off x="48463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Legend backup text"/>
          <p:cNvSpPr txBox="1"/>
          <p:nvPr/>
        </p:nvSpPr>
        <p:spPr>
          <a:xfrm>
            <a:off x="571500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Legend tunnel"/>
          <p:cNvCxnSpPr/>
          <p:nvPr/>
        </p:nvCxnSpPr>
        <p:spPr>
          <a:xfrm>
            <a:off x="7406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Legend tunnel text"/>
          <p:cNvSpPr txBox="1"/>
          <p:nvPr/>
        </p:nvSpPr>
        <p:spPr>
          <a:xfrm>
            <a:off x="827532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VPN tunnel</a:t>
            </a:r>
          </a:p>
        </p:txBody>
      </p:sp>
    </p:spTree>
    <p:extLst>
      <p:ext uri="{BB962C8B-B14F-4D97-AF65-F5344CB8AC3E}">
        <p14:creationId xmlns:p14="http://schemas.microsoft.com/office/powerpoint/2010/main" val="18109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FEF11-69C7-5843-BA39-6F4484BE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Community Bank Innovation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4FB42-B99C-2B44-90F3-209D1225D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1976100" cy="6967198"/>
          </a:xfrm>
        </p:spPr>
        <p:txBody>
          <a:bodyPr/>
          <a:lstStyle/>
          <a:p>
            <a:r>
              <a:rPr lang="en-US" dirty="0"/>
              <a:t>Small banks are conservative followers, right?</a:t>
            </a:r>
          </a:p>
          <a:p>
            <a:pPr lvl="1"/>
            <a:r>
              <a:rPr lang="en-US" dirty="0"/>
              <a:t>They better not be, or they will lose customers!</a:t>
            </a:r>
          </a:p>
          <a:p>
            <a:r>
              <a:rPr lang="en-US" dirty="0"/>
              <a:t>Many big bank tools are available to all banks</a:t>
            </a:r>
          </a:p>
          <a:p>
            <a:pPr lvl="1"/>
            <a:r>
              <a:rPr lang="en-US" dirty="0"/>
              <a:t>Big Data</a:t>
            </a:r>
          </a:p>
          <a:p>
            <a:pPr lvl="1"/>
            <a:r>
              <a:rPr lang="en-US" dirty="0"/>
              <a:t>Hosted core</a:t>
            </a:r>
          </a:p>
          <a:p>
            <a:pPr lvl="1"/>
            <a:r>
              <a:rPr lang="en-US" dirty="0"/>
              <a:t>Cloud-hosted applications</a:t>
            </a:r>
          </a:p>
          <a:p>
            <a:pPr lvl="1"/>
            <a:r>
              <a:rPr lang="en-US" dirty="0"/>
              <a:t>Artificial Intelligence / Machine Learning</a:t>
            </a:r>
          </a:p>
          <a:p>
            <a:pPr lvl="1"/>
            <a:r>
              <a:rPr lang="en-US" dirty="0"/>
              <a:t>Modern tools + personal service</a:t>
            </a:r>
          </a:p>
          <a:p>
            <a:r>
              <a:rPr lang="en-US" dirty="0"/>
              <a:t>The speed, capacity, security, and capability of all these depend on the network</a:t>
            </a:r>
          </a:p>
        </p:txBody>
      </p:sp>
      <p:pic>
        <p:nvPicPr>
          <p:cNvPr id="4" name="Picture 3" descr="A sign in front of a bank&#10;&#10;AI-generated content may be incorrect.">
            <a:extLst>
              <a:ext uri="{FF2B5EF4-FFF2-40B4-BE49-F238E27FC236}">
                <a16:creationId xmlns:a16="http://schemas.microsoft.com/office/drawing/2014/main" id="{8713C46C-FC51-E57A-B360-3A383B8C5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214" y="2193131"/>
            <a:ext cx="4189412" cy="630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62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core-main"/>
          <p:cNvCxnSpPr/>
          <p:nvPr/>
        </p:nvCxnSpPr>
        <p:spPr>
          <a:xfrm>
            <a:off x="9208008" y="5394960"/>
            <a:ext cx="60569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2" name="!!icon-main" descr="Corner bank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4023360"/>
            <a:ext cx="2743200" cy="2743200"/>
          </a:xfrm>
          <a:prstGeom prst="rect">
            <a:avLst/>
          </a:prstGeom>
        </p:spPr>
      </p:pic>
      <p:sp>
        <p:nvSpPr>
          <p:cNvPr id="103" name="!!label-main"/>
          <p:cNvSpPr txBox="1"/>
          <p:nvPr/>
        </p:nvSpPr>
        <p:spPr>
          <a:xfrm>
            <a:off x="6583680" y="68122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Corner bank</a:t>
            </a:r>
          </a:p>
        </p:txBody>
      </p:sp>
      <p:pic>
        <p:nvPicPr>
          <p:cNvPr id="104" name="!!icon-hhA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2697480"/>
            <a:ext cx="1371600" cy="1371600"/>
          </a:xfrm>
          <a:prstGeom prst="rect">
            <a:avLst/>
          </a:prstGeom>
        </p:spPr>
      </p:pic>
      <p:sp>
        <p:nvSpPr>
          <p:cNvPr id="105" name="!!label-hhA"/>
          <p:cNvSpPr txBox="1"/>
          <p:nvPr/>
        </p:nvSpPr>
        <p:spPr>
          <a:xfrm>
            <a:off x="1828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6" name="!!icon-hhB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6903720"/>
            <a:ext cx="1371600" cy="1371600"/>
          </a:xfrm>
          <a:prstGeom prst="rect">
            <a:avLst/>
          </a:prstGeom>
        </p:spPr>
      </p:pic>
      <p:sp>
        <p:nvSpPr>
          <p:cNvPr id="107" name="!!label-hhB"/>
          <p:cNvSpPr txBox="1"/>
          <p:nvPr/>
        </p:nvSpPr>
        <p:spPr>
          <a:xfrm>
            <a:off x="1828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8" name="!!icon-shop" descr="Shop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7160" y="2697480"/>
            <a:ext cx="1371600" cy="1371600"/>
          </a:xfrm>
          <a:prstGeom prst="rect">
            <a:avLst/>
          </a:prstGeom>
        </p:spPr>
      </p:pic>
      <p:sp>
        <p:nvSpPr>
          <p:cNvPr id="109" name="!!label-shop"/>
          <p:cNvSpPr txBox="1"/>
          <p:nvPr/>
        </p:nvSpPr>
        <p:spPr>
          <a:xfrm>
            <a:off x="10972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Shop</a:t>
            </a:r>
          </a:p>
        </p:txBody>
      </p:sp>
      <p:pic>
        <p:nvPicPr>
          <p:cNvPr id="110" name="!!icon-factory" descr="Factory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67160" y="6903720"/>
            <a:ext cx="1371600" cy="1371600"/>
          </a:xfrm>
          <a:prstGeom prst="rect">
            <a:avLst/>
          </a:prstGeom>
        </p:spPr>
      </p:pic>
      <p:sp>
        <p:nvSpPr>
          <p:cNvPr id="111" name="!!label-factory"/>
          <p:cNvSpPr txBox="1"/>
          <p:nvPr/>
        </p:nvSpPr>
        <p:spPr>
          <a:xfrm>
            <a:off x="10972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Factory</a:t>
            </a:r>
          </a:p>
        </p:txBody>
      </p: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70480" y="4572000"/>
            <a:ext cx="1645920" cy="164592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813280" y="62636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14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 One building: a teller line, a few PCs, and one line out to the core processor</a:t>
            </a:r>
          </a:p>
        </p:txBody>
      </p:sp>
    </p:spTree>
    <p:extLst>
      <p:ext uri="{BB962C8B-B14F-4D97-AF65-F5344CB8AC3E}">
        <p14:creationId xmlns:p14="http://schemas.microsoft.com/office/powerpoint/2010/main" val="140265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2243738" y="3363989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2350922" y="5394960"/>
            <a:ext cx="15992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2243738" y="5953542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main-wan"/>
          <p:cNvCxnSpPr/>
          <p:nvPr/>
        </p:nvCxnSpPr>
        <p:spPr>
          <a:xfrm>
            <a:off x="6473952" y="5394960"/>
            <a:ext cx="1572768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core-main"/>
          <p:cNvCxnSpPr/>
          <p:nvPr/>
        </p:nvCxnSpPr>
        <p:spPr>
          <a:xfrm>
            <a:off x="9852781" y="5597610"/>
            <a:ext cx="4419349" cy="100439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6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2423160"/>
            <a:ext cx="1188720" cy="1188720"/>
          </a:xfrm>
          <a:prstGeom prst="rect">
            <a:avLst/>
          </a:prstGeom>
        </p:spPr>
      </p:pic>
      <p:pic>
        <p:nvPicPr>
          <p:cNvPr id="107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4800600"/>
            <a:ext cx="1188720" cy="1188720"/>
          </a:xfrm>
          <a:prstGeom prst="rect">
            <a:avLst/>
          </a:prstGeom>
        </p:spPr>
      </p:pic>
      <p:pic>
        <p:nvPicPr>
          <p:cNvPr id="108" name="!!icon-b3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7178040"/>
            <a:ext cx="1188720" cy="1188720"/>
          </a:xfrm>
          <a:prstGeom prst="rect">
            <a:avLst/>
          </a:prstGeom>
        </p:spPr>
      </p:pic>
      <p:sp>
        <p:nvSpPr>
          <p:cNvPr id="109" name="!!label-b3"/>
          <p:cNvSpPr txBox="1"/>
          <p:nvPr/>
        </p:nvSpPr>
        <p:spPr>
          <a:xfrm>
            <a:off x="457200" y="84124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1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80" y="4023360"/>
            <a:ext cx="2743200" cy="2743200"/>
          </a:xfrm>
          <a:prstGeom prst="rect">
            <a:avLst/>
          </a:prstGeom>
        </p:spPr>
      </p:pic>
      <p:sp>
        <p:nvSpPr>
          <p:cNvPr id="111" name="!!label-wan"/>
          <p:cNvSpPr txBox="1"/>
          <p:nvPr/>
        </p:nvSpPr>
        <p:spPr>
          <a:xfrm>
            <a:off x="4224528" y="5257800"/>
            <a:ext cx="197510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1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480560"/>
            <a:ext cx="1828800" cy="1828800"/>
          </a:xfrm>
          <a:prstGeom prst="rect">
            <a:avLst/>
          </a:prstGeom>
        </p:spPr>
      </p:pic>
      <p:sp>
        <p:nvSpPr>
          <p:cNvPr id="113" name="!!label-main"/>
          <p:cNvSpPr txBox="1"/>
          <p:nvPr/>
        </p:nvSpPr>
        <p:spPr>
          <a:xfrm>
            <a:off x="7680960" y="63550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14" name="!!icon-hhA" descr="hhA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5680" y="1828800"/>
            <a:ext cx="914400" cy="914400"/>
          </a:xfrm>
          <a:prstGeom prst="rect">
            <a:avLst/>
          </a:prstGeom>
        </p:spPr>
      </p:pic>
      <p:pic>
        <p:nvPicPr>
          <p:cNvPr id="115" name="!!icon-hhB" descr="hhB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01600" y="1828800"/>
            <a:ext cx="914400" cy="914400"/>
          </a:xfrm>
          <a:prstGeom prst="rect">
            <a:avLst/>
          </a:prstGeom>
        </p:spPr>
      </p:pic>
      <p:pic>
        <p:nvPicPr>
          <p:cNvPr id="116" name="!!icon-shop" descr="shop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47520" y="1828800"/>
            <a:ext cx="914400" cy="914400"/>
          </a:xfrm>
          <a:prstGeom prst="rect">
            <a:avLst/>
          </a:prstGeom>
        </p:spPr>
      </p:pic>
      <p:pic>
        <p:nvPicPr>
          <p:cNvPr id="117" name="!!icon-factory" descr="factory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093440" y="1828800"/>
            <a:ext cx="914400" cy="914400"/>
          </a:xfrm>
          <a:prstGeom prst="rect">
            <a:avLst/>
          </a:prstGeom>
        </p:spPr>
      </p:pic>
      <p:pic>
        <p:nvPicPr>
          <p:cNvPr id="118" name="!!icon-core" descr="Core processo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264640" y="6035040"/>
            <a:ext cx="1463040" cy="1463040"/>
          </a:xfrm>
          <a:prstGeom prst="rect">
            <a:avLst/>
          </a:prstGeom>
        </p:spPr>
      </p:pic>
      <p:sp>
        <p:nvSpPr>
          <p:cNvPr id="119" name="!!label-core"/>
          <p:cNvSpPr txBox="1"/>
          <p:nvPr/>
        </p:nvSpPr>
        <p:spPr>
          <a:xfrm>
            <a:off x="13716000" y="7543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20" name="!!glabel-cust"/>
          <p:cNvSpPr txBox="1"/>
          <p:nvPr/>
        </p:nvSpPr>
        <p:spPr>
          <a:xfrm>
            <a:off x="12252960" y="2871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Customers still walk in</a:t>
            </a:r>
          </a:p>
        </p:txBody>
      </p:sp>
      <p:sp>
        <p:nvSpPr>
          <p:cNvPr id="12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2  A few branches: the WAN appears to tie branches to the main office and the core</a:t>
            </a:r>
          </a:p>
        </p:txBody>
      </p:sp>
    </p:spTree>
    <p:extLst>
      <p:ext uri="{BB962C8B-B14F-4D97-AF65-F5344CB8AC3E}">
        <p14:creationId xmlns:p14="http://schemas.microsoft.com/office/powerpoint/2010/main" val="173634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677010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361928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0049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core-dc"/>
          <p:cNvCxnSpPr/>
          <p:nvPr/>
        </p:nvCxnSpPr>
        <p:spPr>
          <a:xfrm>
            <a:off x="8934162" y="5547788"/>
            <a:ext cx="3448574" cy="150483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5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6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7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18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19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1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22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15200" y="4480560"/>
            <a:ext cx="1280160" cy="1280160"/>
          </a:xfrm>
          <a:prstGeom prst="rect">
            <a:avLst/>
          </a:prstGeom>
        </p:spPr>
      </p:pic>
      <p:sp>
        <p:nvSpPr>
          <p:cNvPr id="123" name="!!label-dc"/>
          <p:cNvSpPr txBox="1"/>
          <p:nvPr/>
        </p:nvSpPr>
        <p:spPr>
          <a:xfrm>
            <a:off x="6675120" y="5806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4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5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6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7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28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29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0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1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2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3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4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5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6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7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38" name="!!icon-core" descr="Core processor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44400" y="6675120"/>
            <a:ext cx="1280160" cy="1280160"/>
          </a:xfrm>
          <a:prstGeom prst="rect">
            <a:avLst/>
          </a:prstGeom>
        </p:spPr>
      </p:pic>
      <p:sp>
        <p:nvSpPr>
          <p:cNvPr id="139" name="!!label-core"/>
          <p:cNvSpPr txBox="1"/>
          <p:nvPr/>
        </p:nvSpPr>
        <p:spPr>
          <a:xfrm>
            <a:off x="11704320" y="8001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40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3  Headquarters and a datacenter: an internet connection, a firewall, online banking, remote staff</a:t>
            </a:r>
          </a:p>
        </p:txBody>
      </p:sp>
    </p:spTree>
    <p:extLst>
      <p:ext uri="{BB962C8B-B14F-4D97-AF65-F5344CB8AC3E}">
        <p14:creationId xmlns:p14="http://schemas.microsoft.com/office/powerpoint/2010/main" val="3727927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296474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90779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434365" y="6949440"/>
            <a:ext cx="186263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7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8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9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0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1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3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4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5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6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7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8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9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0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1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2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3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4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5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6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7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8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9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0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355080"/>
            <a:ext cx="1188720" cy="1188720"/>
          </a:xfrm>
          <a:prstGeom prst="rect">
            <a:avLst/>
          </a:prstGeom>
        </p:spPr>
      </p:pic>
      <p:sp>
        <p:nvSpPr>
          <p:cNvPr id="141" name="!!label-core"/>
          <p:cNvSpPr txBox="1"/>
          <p:nvPr/>
        </p:nvSpPr>
        <p:spPr>
          <a:xfrm>
            <a:off x="14630400" y="75895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2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5669280"/>
            <a:ext cx="2560320" cy="2560320"/>
          </a:xfrm>
          <a:prstGeom prst="rect">
            <a:avLst/>
          </a:prstGeom>
        </p:spPr>
      </p:pic>
      <p:sp>
        <p:nvSpPr>
          <p:cNvPr id="143" name="!!label-saas"/>
          <p:cNvSpPr txBox="1"/>
          <p:nvPr/>
        </p:nvSpPr>
        <p:spPr>
          <a:xfrm>
            <a:off x="11331245" y="682142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144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5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4  Cloud and SaaS: Microsoft 365, hosted core, and branches that ride the internet</a:t>
            </a:r>
          </a:p>
        </p:txBody>
      </p:sp>
    </p:spTree>
    <p:extLst>
      <p:ext uri="{BB962C8B-B14F-4D97-AF65-F5344CB8AC3E}">
        <p14:creationId xmlns:p14="http://schemas.microsoft.com/office/powerpoint/2010/main" val="17601527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7069332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198539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679192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353898" y="6675120"/>
            <a:ext cx="19431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7" name="!!line-card-dc"/>
          <p:cNvCxnSpPr/>
          <p:nvPr/>
        </p:nvCxnSpPr>
        <p:spPr>
          <a:xfrm flipH="1">
            <a:off x="6151186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8" name="!!line-dc-fed"/>
          <p:cNvCxnSpPr/>
          <p:nvPr/>
        </p:nvCxnSpPr>
        <p:spPr>
          <a:xfrm>
            <a:off x="8561998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9" name="!!line-fintech-saas"/>
          <p:cNvCxnSpPr/>
          <p:nvPr/>
        </p:nvCxnSpPr>
        <p:spPr>
          <a:xfrm>
            <a:off x="13069841" y="7103983"/>
            <a:ext cx="2449678" cy="128608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20" name="!!line-mssp-saas"/>
          <p:cNvCxnSpPr/>
          <p:nvPr/>
        </p:nvCxnSpPr>
        <p:spPr>
          <a:xfrm>
            <a:off x="12252960" y="7324344"/>
            <a:ext cx="0" cy="101224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22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23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4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5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6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7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8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9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30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7960" y="8275320"/>
            <a:ext cx="822960" cy="822960"/>
          </a:xfrm>
          <a:prstGeom prst="rect">
            <a:avLst/>
          </a:prstGeom>
        </p:spPr>
      </p:pic>
      <p:sp>
        <p:nvSpPr>
          <p:cNvPr id="131" name="!!label-hq"/>
          <p:cNvSpPr txBox="1"/>
          <p:nvPr/>
        </p:nvSpPr>
        <p:spPr>
          <a:xfrm>
            <a:off x="566928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3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49640" y="8275320"/>
            <a:ext cx="822960" cy="822960"/>
          </a:xfrm>
          <a:prstGeom prst="rect">
            <a:avLst/>
          </a:prstGeom>
        </p:spPr>
      </p:pic>
      <p:sp>
        <p:nvSpPr>
          <p:cNvPr id="133" name="!!label-main"/>
          <p:cNvSpPr txBox="1"/>
          <p:nvPr/>
        </p:nvSpPr>
        <p:spPr>
          <a:xfrm>
            <a:off x="768096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4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5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6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7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8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9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40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41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42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43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4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080760"/>
            <a:ext cx="1188720" cy="1188720"/>
          </a:xfrm>
          <a:prstGeom prst="rect">
            <a:avLst/>
          </a:prstGeom>
        </p:spPr>
      </p:pic>
      <p:sp>
        <p:nvSpPr>
          <p:cNvPr id="145" name="!!label-core"/>
          <p:cNvSpPr txBox="1"/>
          <p:nvPr/>
        </p:nvSpPr>
        <p:spPr>
          <a:xfrm>
            <a:off x="14630400" y="73152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6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64240" y="5486400"/>
            <a:ext cx="2377440" cy="2377440"/>
          </a:xfrm>
          <a:prstGeom prst="rect">
            <a:avLst/>
          </a:prstGeom>
        </p:spPr>
      </p:pic>
      <p:sp>
        <p:nvSpPr>
          <p:cNvPr id="147" name="!!label-saas"/>
          <p:cNvSpPr txBox="1"/>
          <p:nvPr/>
        </p:nvSpPr>
        <p:spPr>
          <a:xfrm>
            <a:off x="11397082" y="655624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48" name="!!icon-card" descr="Card processor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440680" y="6995160"/>
            <a:ext cx="822960" cy="822960"/>
          </a:xfrm>
          <a:prstGeom prst="rect">
            <a:avLst/>
          </a:prstGeom>
        </p:spPr>
      </p:pic>
      <p:sp>
        <p:nvSpPr>
          <p:cNvPr id="149" name="!!label-card"/>
          <p:cNvSpPr txBox="1"/>
          <p:nvPr/>
        </p:nvSpPr>
        <p:spPr>
          <a:xfrm>
            <a:off x="457200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Card processor</a:t>
            </a:r>
          </a:p>
        </p:txBody>
      </p:sp>
      <p:pic>
        <p:nvPicPr>
          <p:cNvPr id="150" name="!!icon-fed" descr="Fed &amp; ACH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646920" y="6995160"/>
            <a:ext cx="822960" cy="822960"/>
          </a:xfrm>
          <a:prstGeom prst="rect">
            <a:avLst/>
          </a:prstGeom>
        </p:spPr>
      </p:pic>
      <p:sp>
        <p:nvSpPr>
          <p:cNvPr id="151" name="!!label-fed"/>
          <p:cNvSpPr txBox="1"/>
          <p:nvPr/>
        </p:nvSpPr>
        <p:spPr>
          <a:xfrm>
            <a:off x="877824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Fed &amp; ACH</a:t>
            </a:r>
          </a:p>
        </p:txBody>
      </p:sp>
      <p:pic>
        <p:nvPicPr>
          <p:cNvPr id="152" name="!!icon-fintech" descr="Fintech partner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499080" y="8183880"/>
            <a:ext cx="822960" cy="822960"/>
          </a:xfrm>
          <a:prstGeom prst="rect">
            <a:avLst/>
          </a:prstGeom>
        </p:spPr>
      </p:pic>
      <p:sp>
        <p:nvSpPr>
          <p:cNvPr id="153" name="!!label-fintech"/>
          <p:cNvSpPr txBox="1"/>
          <p:nvPr/>
        </p:nvSpPr>
        <p:spPr>
          <a:xfrm>
            <a:off x="14630400" y="9052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Fintech partners</a:t>
            </a:r>
          </a:p>
        </p:txBody>
      </p:sp>
      <p:pic>
        <p:nvPicPr>
          <p:cNvPr id="154" name="!!icon-mssp" descr="Managed security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841480" y="8366760"/>
            <a:ext cx="822960" cy="822960"/>
          </a:xfrm>
          <a:prstGeom prst="rect">
            <a:avLst/>
          </a:prstGeom>
        </p:spPr>
      </p:pic>
      <p:sp>
        <p:nvSpPr>
          <p:cNvPr id="155" name="!!label-mssp"/>
          <p:cNvSpPr txBox="1"/>
          <p:nvPr/>
        </p:nvSpPr>
        <p:spPr>
          <a:xfrm>
            <a:off x="10972800" y="9235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Managed security</a:t>
            </a:r>
          </a:p>
        </p:txBody>
      </p:sp>
      <p:sp>
        <p:nvSpPr>
          <p:cNvPr id="156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5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5  Vendors and partners: card processing, payments, fintech connections, managed security</a:t>
            </a:r>
          </a:p>
        </p:txBody>
      </p:sp>
    </p:spTree>
    <p:extLst>
      <p:ext uri="{BB962C8B-B14F-4D97-AF65-F5344CB8AC3E}">
        <p14:creationId xmlns:p14="http://schemas.microsoft.com/office/powerpoint/2010/main" val="2227450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3-wan"/>
          <p:cNvCxnSpPr/>
          <p:nvPr/>
        </p:nvCxnSpPr>
        <p:spPr>
          <a:xfrm>
            <a:off x="2902366" y="2507123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2" name="!!line-b6-wan"/>
          <p:cNvCxnSpPr/>
          <p:nvPr/>
        </p:nvCxnSpPr>
        <p:spPr>
          <a:xfrm>
            <a:off x="2972393" y="3294704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3" name="!!line-b9-wan"/>
          <p:cNvCxnSpPr/>
          <p:nvPr/>
        </p:nvCxnSpPr>
        <p:spPr>
          <a:xfrm flipV="1">
            <a:off x="2972393" y="3914786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4" name="!!line-b12-wan"/>
          <p:cNvCxnSpPr/>
          <p:nvPr/>
        </p:nvCxnSpPr>
        <p:spPr>
          <a:xfrm flipV="1">
            <a:off x="2902366" y="4135956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172197" y="3754196"/>
            <a:ext cx="1337780" cy="13377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6" name="!!line-dc2-wan"/>
          <p:cNvCxnSpPr/>
          <p:nvPr/>
        </p:nvCxnSpPr>
        <p:spPr>
          <a:xfrm>
            <a:off x="4929350" y="4043259"/>
            <a:ext cx="1630394" cy="86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7" name="!!line-dc-fw"/>
          <p:cNvCxnSpPr/>
          <p:nvPr/>
        </p:nvCxnSpPr>
        <p:spPr>
          <a:xfrm flipV="1">
            <a:off x="7320241" y="3119315"/>
            <a:ext cx="885043" cy="57267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8" name="!!line-fw-inet"/>
          <p:cNvCxnSpPr/>
          <p:nvPr/>
        </p:nvCxnSpPr>
        <p:spPr>
          <a:xfrm flipV="1">
            <a:off x="8858161" y="2750630"/>
            <a:ext cx="1575705" cy="14324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9" name="!!line-inet-wan"/>
          <p:cNvCxnSpPr/>
          <p:nvPr/>
        </p:nvCxnSpPr>
        <p:spPr>
          <a:xfrm flipV="1">
            <a:off x="5160004" y="2799033"/>
            <a:ext cx="5290358" cy="72742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0" name="!!line-dc2-hq"/>
          <p:cNvCxnSpPr/>
          <p:nvPr/>
        </p:nvCxnSpPr>
        <p:spPr>
          <a:xfrm>
            <a:off x="7680997" y="5559574"/>
            <a:ext cx="718526" cy="43111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1" name="!!line-hq-main"/>
          <p:cNvCxnSpPr/>
          <p:nvPr/>
        </p:nvCxnSpPr>
        <p:spPr>
          <a:xfrm>
            <a:off x="8778240" y="7071055"/>
            <a:ext cx="0" cy="39410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2" name="!!line-card-dc2"/>
          <p:cNvCxnSpPr/>
          <p:nvPr/>
        </p:nvCxnSpPr>
        <p:spPr>
          <a:xfrm flipH="1">
            <a:off x="6203724" y="5883707"/>
            <a:ext cx="364182" cy="72836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3" name="!!line-fed-hq"/>
          <p:cNvCxnSpPr/>
          <p:nvPr/>
        </p:nvCxnSpPr>
        <p:spPr>
          <a:xfrm flipH="1">
            <a:off x="7498430" y="6802629"/>
            <a:ext cx="658557" cy="61981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4" name="!!line-inet-saas"/>
          <p:cNvCxnSpPr/>
          <p:nvPr/>
        </p:nvCxnSpPr>
        <p:spPr>
          <a:xfrm>
            <a:off x="11558516" y="3300582"/>
            <a:ext cx="113951" cy="199414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5" name="!!line-cloud2-saas"/>
          <p:cNvCxnSpPr/>
          <p:nvPr/>
        </p:nvCxnSpPr>
        <p:spPr>
          <a:xfrm flipV="1">
            <a:off x="12535095" y="5310948"/>
            <a:ext cx="928163" cy="28558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6" name="!!line-cloud3-saas"/>
          <p:cNvCxnSpPr/>
          <p:nvPr/>
        </p:nvCxnSpPr>
        <p:spPr>
          <a:xfrm>
            <a:off x="12512071" y="6131766"/>
            <a:ext cx="968095" cy="33511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7" name="!!line-cloud2-core"/>
          <p:cNvCxnSpPr/>
          <p:nvPr/>
        </p:nvCxnSpPr>
        <p:spPr>
          <a:xfrm>
            <a:off x="14598498" y="5397464"/>
            <a:ext cx="1616388" cy="8659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8" name="!!line-inet-phone"/>
          <p:cNvCxnSpPr/>
          <p:nvPr/>
        </p:nvCxnSpPr>
        <p:spPr>
          <a:xfrm flipV="1">
            <a:off x="12592116" y="1880533"/>
            <a:ext cx="4499298" cy="62298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9" name="!!line-hhA-inet"/>
          <p:cNvCxnSpPr/>
          <p:nvPr/>
        </p:nvCxnSpPr>
        <p:spPr>
          <a:xfrm>
            <a:off x="12620821" y="2685587"/>
            <a:ext cx="4467207" cy="13745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0" name="!!line-inet-shop"/>
          <p:cNvCxnSpPr/>
          <p:nvPr/>
        </p:nvCxnSpPr>
        <p:spPr>
          <a:xfrm>
            <a:off x="12561967" y="2859865"/>
            <a:ext cx="4533208" cy="9066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1" name="!!line-factory-inet"/>
          <p:cNvCxnSpPr/>
          <p:nvPr/>
        </p:nvCxnSpPr>
        <p:spPr>
          <a:xfrm>
            <a:off x="12450043" y="2994629"/>
            <a:ext cx="4661156" cy="17210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2" name="!!line-mssp-saas"/>
          <p:cNvCxnSpPr/>
          <p:nvPr/>
        </p:nvCxnSpPr>
        <p:spPr>
          <a:xfrm>
            <a:off x="11741473" y="6409462"/>
            <a:ext cx="120636" cy="180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3" name="!!line-cloud3-fintech"/>
          <p:cNvCxnSpPr/>
          <p:nvPr/>
        </p:nvCxnSpPr>
        <p:spPr>
          <a:xfrm>
            <a:off x="14450708" y="7027297"/>
            <a:ext cx="1369890" cy="13076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4" name="!!line-merger-wan2"/>
          <p:cNvCxnSpPr/>
          <p:nvPr/>
        </p:nvCxnSpPr>
        <p:spPr>
          <a:xfrm>
            <a:off x="2731437" y="7133147"/>
            <a:ext cx="763304" cy="48573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5" name="!!line-ab1-wan2"/>
          <p:cNvCxnSpPr/>
          <p:nvPr/>
        </p:nvCxnSpPr>
        <p:spPr>
          <a:xfrm flipV="1">
            <a:off x="2132188" y="8134305"/>
            <a:ext cx="1175071" cy="29376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6" name="!!line-ab2-wan2"/>
          <p:cNvCxnSpPr/>
          <p:nvPr/>
        </p:nvCxnSpPr>
        <p:spPr>
          <a:xfrm flipV="1">
            <a:off x="2972363" y="8343599"/>
            <a:ext cx="632807" cy="587607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7" name="!!line-ab3-wan2"/>
          <p:cNvCxnSpPr/>
          <p:nvPr/>
        </p:nvCxnSpPr>
        <p:spPr>
          <a:xfrm flipV="1">
            <a:off x="4023360" y="8421624"/>
            <a:ext cx="0" cy="50109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8" name="!!line-wan-wan2"/>
          <p:cNvCxnSpPr/>
          <p:nvPr/>
        </p:nvCxnSpPr>
        <p:spPr>
          <a:xfrm flipV="1">
            <a:off x="4043197" y="4238041"/>
            <a:ext cx="138343" cy="325106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9" name="!!line-globe-wan"/>
          <p:cNvCxnSpPr/>
          <p:nvPr/>
        </p:nvCxnSpPr>
        <p:spPr>
          <a:xfrm flipV="1">
            <a:off x="4852135" y="2463385"/>
            <a:ext cx="1145427" cy="76361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pic>
        <p:nvPicPr>
          <p:cNvPr id="130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1988820"/>
            <a:ext cx="594360" cy="594360"/>
          </a:xfrm>
          <a:prstGeom prst="rect">
            <a:avLst/>
          </a:prstGeom>
        </p:spPr>
      </p:pic>
      <p:pic>
        <p:nvPicPr>
          <p:cNvPr id="131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1988820"/>
            <a:ext cx="594360" cy="594360"/>
          </a:xfrm>
          <a:prstGeom prst="rect">
            <a:avLst/>
          </a:prstGeom>
        </p:spPr>
      </p:pic>
      <p:pic>
        <p:nvPicPr>
          <p:cNvPr id="132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1988820"/>
            <a:ext cx="594360" cy="594360"/>
          </a:xfrm>
          <a:prstGeom prst="rect">
            <a:avLst/>
          </a:prstGeom>
        </p:spPr>
      </p:pic>
      <p:pic>
        <p:nvPicPr>
          <p:cNvPr id="133" name="!!icon-b4" descr="b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2903220"/>
            <a:ext cx="594360" cy="594360"/>
          </a:xfrm>
          <a:prstGeom prst="rect">
            <a:avLst/>
          </a:prstGeom>
        </p:spPr>
      </p:pic>
      <p:pic>
        <p:nvPicPr>
          <p:cNvPr id="134" name="!!icon-b5" descr="b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2903220"/>
            <a:ext cx="594360" cy="594360"/>
          </a:xfrm>
          <a:prstGeom prst="rect">
            <a:avLst/>
          </a:prstGeom>
        </p:spPr>
      </p:pic>
      <p:pic>
        <p:nvPicPr>
          <p:cNvPr id="135" name="!!icon-b6" descr="b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2903220"/>
            <a:ext cx="594360" cy="594360"/>
          </a:xfrm>
          <a:prstGeom prst="rect">
            <a:avLst/>
          </a:prstGeom>
        </p:spPr>
      </p:pic>
      <p:pic>
        <p:nvPicPr>
          <p:cNvPr id="136" name="!!icon-b7" descr="b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3817620"/>
            <a:ext cx="594360" cy="594360"/>
          </a:xfrm>
          <a:prstGeom prst="rect">
            <a:avLst/>
          </a:prstGeom>
        </p:spPr>
      </p:pic>
      <p:pic>
        <p:nvPicPr>
          <p:cNvPr id="137" name="!!icon-b8" descr="b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3817620"/>
            <a:ext cx="594360" cy="594360"/>
          </a:xfrm>
          <a:prstGeom prst="rect">
            <a:avLst/>
          </a:prstGeom>
        </p:spPr>
      </p:pic>
      <p:pic>
        <p:nvPicPr>
          <p:cNvPr id="138" name="!!icon-b9" descr="b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3817620"/>
            <a:ext cx="594360" cy="594360"/>
          </a:xfrm>
          <a:prstGeom prst="rect">
            <a:avLst/>
          </a:prstGeom>
        </p:spPr>
      </p:pic>
      <p:pic>
        <p:nvPicPr>
          <p:cNvPr id="139" name="!!icon-b10" descr="b1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4732020"/>
            <a:ext cx="594360" cy="594360"/>
          </a:xfrm>
          <a:prstGeom prst="rect">
            <a:avLst/>
          </a:prstGeom>
        </p:spPr>
      </p:pic>
      <p:pic>
        <p:nvPicPr>
          <p:cNvPr id="140" name="!!icon-b11" descr="b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4732020"/>
            <a:ext cx="594360" cy="594360"/>
          </a:xfrm>
          <a:prstGeom prst="rect">
            <a:avLst/>
          </a:prstGeom>
        </p:spPr>
      </p:pic>
      <p:pic>
        <p:nvPicPr>
          <p:cNvPr id="141" name="!!icon-b12" descr="b1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4732020"/>
            <a:ext cx="594360" cy="594360"/>
          </a:xfrm>
          <a:prstGeom prst="rect">
            <a:avLst/>
          </a:prstGeom>
        </p:spPr>
      </p:pic>
      <p:pic>
        <p:nvPicPr>
          <p:cNvPr id="14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54680" y="2606040"/>
            <a:ext cx="2103120" cy="2103120"/>
          </a:xfrm>
          <a:prstGeom prst="rect">
            <a:avLst/>
          </a:prstGeom>
        </p:spPr>
      </p:pic>
      <p:sp>
        <p:nvSpPr>
          <p:cNvPr id="143" name="!!label-wan"/>
          <p:cNvSpPr txBox="1"/>
          <p:nvPr/>
        </p:nvSpPr>
        <p:spPr>
          <a:xfrm>
            <a:off x="3449117" y="3552444"/>
            <a:ext cx="1514246" cy="525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44" name="!!icon-dc" descr="dc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3520440"/>
            <a:ext cx="822960" cy="822960"/>
          </a:xfrm>
          <a:prstGeom prst="rect">
            <a:avLst/>
          </a:prstGeom>
        </p:spPr>
      </p:pic>
      <p:pic>
        <p:nvPicPr>
          <p:cNvPr id="145" name="!!icon-dc2" descr="Datacenters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4709160"/>
            <a:ext cx="822960" cy="822960"/>
          </a:xfrm>
          <a:prstGeom prst="rect">
            <a:avLst/>
          </a:prstGeom>
        </p:spPr>
      </p:pic>
      <p:sp>
        <p:nvSpPr>
          <p:cNvPr id="146" name="!!label-dc2"/>
          <p:cNvSpPr txBox="1"/>
          <p:nvPr/>
        </p:nvSpPr>
        <p:spPr>
          <a:xfrm>
            <a:off x="5669280" y="5577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Datacenters</a:t>
            </a:r>
          </a:p>
        </p:txBody>
      </p:sp>
      <p:pic>
        <p:nvPicPr>
          <p:cNvPr id="147" name="!!icon-fw" descr="fw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83880" y="2606040"/>
            <a:ext cx="640080" cy="640080"/>
          </a:xfrm>
          <a:prstGeom prst="rect">
            <a:avLst/>
          </a:prstGeom>
        </p:spPr>
      </p:pic>
      <p:pic>
        <p:nvPicPr>
          <p:cNvPr id="148" name="!!icon-hq" descr="HQ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66760" y="5806440"/>
            <a:ext cx="822960" cy="822960"/>
          </a:xfrm>
          <a:prstGeom prst="rect">
            <a:avLst/>
          </a:prstGeom>
        </p:spPr>
      </p:pic>
      <p:sp>
        <p:nvSpPr>
          <p:cNvPr id="149" name="!!label-hq"/>
          <p:cNvSpPr txBox="1"/>
          <p:nvPr/>
        </p:nvSpPr>
        <p:spPr>
          <a:xfrm>
            <a:off x="7498080" y="66751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50" name="!!icon-main" descr="mai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7498080"/>
            <a:ext cx="731520" cy="731520"/>
          </a:xfrm>
          <a:prstGeom prst="rect">
            <a:avLst/>
          </a:prstGeom>
        </p:spPr>
      </p:pic>
      <p:pic>
        <p:nvPicPr>
          <p:cNvPr id="151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32720" y="1463040"/>
            <a:ext cx="2377440" cy="2377440"/>
          </a:xfrm>
          <a:prstGeom prst="rect">
            <a:avLst/>
          </a:prstGeom>
        </p:spPr>
      </p:pic>
      <p:sp>
        <p:nvSpPr>
          <p:cNvPr id="152" name="!!label-inet"/>
          <p:cNvSpPr txBox="1"/>
          <p:nvPr/>
        </p:nvSpPr>
        <p:spPr>
          <a:xfrm>
            <a:off x="10665562" y="253288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53" name="!!icon-phone" descr="phone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122140" y="1485900"/>
            <a:ext cx="685800" cy="685800"/>
          </a:xfrm>
          <a:prstGeom prst="rect">
            <a:avLst/>
          </a:prstGeom>
        </p:spPr>
      </p:pic>
      <p:pic>
        <p:nvPicPr>
          <p:cNvPr id="154" name="!!icon-hhA" descr="hhA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122140" y="2491740"/>
            <a:ext cx="685800" cy="685800"/>
          </a:xfrm>
          <a:prstGeom prst="rect">
            <a:avLst/>
          </a:prstGeom>
        </p:spPr>
      </p:pic>
      <p:pic>
        <p:nvPicPr>
          <p:cNvPr id="155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7122140" y="3497580"/>
            <a:ext cx="685800" cy="685800"/>
          </a:xfrm>
          <a:prstGeom prst="rect">
            <a:avLst/>
          </a:prstGeom>
        </p:spPr>
      </p:pic>
      <p:pic>
        <p:nvPicPr>
          <p:cNvPr id="156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7122140" y="4503420"/>
            <a:ext cx="685800" cy="685800"/>
          </a:xfrm>
          <a:prstGeom prst="rect">
            <a:avLst/>
          </a:prstGeom>
        </p:spPr>
      </p:pic>
      <p:pic>
        <p:nvPicPr>
          <p:cNvPr id="157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98480" y="4846320"/>
            <a:ext cx="2011680" cy="2011680"/>
          </a:xfrm>
          <a:prstGeom prst="rect">
            <a:avLst/>
          </a:prstGeom>
        </p:spPr>
      </p:pic>
      <p:sp>
        <p:nvSpPr>
          <p:cNvPr id="158" name="!!label-saas"/>
          <p:cNvSpPr txBox="1"/>
          <p:nvPr/>
        </p:nvSpPr>
        <p:spPr>
          <a:xfrm>
            <a:off x="10980115" y="5751576"/>
            <a:ext cx="144841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59" name="!!icon-cloud2" descr="cloud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4389120"/>
            <a:ext cx="1463040" cy="1463040"/>
          </a:xfrm>
          <a:prstGeom prst="rect">
            <a:avLst/>
          </a:prstGeom>
        </p:spPr>
      </p:pic>
      <p:pic>
        <p:nvPicPr>
          <p:cNvPr id="160" name="!!icon-cloud3" descr="cloud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5943600"/>
            <a:ext cx="1463040" cy="1463040"/>
          </a:xfrm>
          <a:prstGeom prst="rect">
            <a:avLst/>
          </a:prstGeom>
        </p:spPr>
      </p:pic>
      <p:pic>
        <p:nvPicPr>
          <p:cNvPr id="161" name="!!icon-core" descr="Hosted core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84880" y="6035040"/>
            <a:ext cx="914400" cy="914400"/>
          </a:xfrm>
          <a:prstGeom prst="rect">
            <a:avLst/>
          </a:prstGeom>
        </p:spPr>
      </p:pic>
      <p:sp>
        <p:nvSpPr>
          <p:cNvPr id="162" name="!!label-core"/>
          <p:cNvSpPr txBox="1"/>
          <p:nvPr/>
        </p:nvSpPr>
        <p:spPr>
          <a:xfrm>
            <a:off x="15361920" y="69951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63" name="!!icon-card" descr="card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692140" y="6606540"/>
            <a:ext cx="685800" cy="685800"/>
          </a:xfrm>
          <a:prstGeom prst="rect">
            <a:avLst/>
          </a:prstGeom>
        </p:spPr>
      </p:pic>
      <p:pic>
        <p:nvPicPr>
          <p:cNvPr id="164" name="!!icon-fed" descr="fed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880860" y="7338060"/>
            <a:ext cx="685800" cy="685800"/>
          </a:xfrm>
          <a:prstGeom prst="rect">
            <a:avLst/>
          </a:prstGeom>
        </p:spPr>
      </p:pic>
      <p:pic>
        <p:nvPicPr>
          <p:cNvPr id="165" name="!!icon-fintech" descr="fintech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750540" y="8252460"/>
            <a:ext cx="685800" cy="685800"/>
          </a:xfrm>
          <a:prstGeom prst="rect">
            <a:avLst/>
          </a:prstGeom>
        </p:spPr>
      </p:pic>
      <p:pic>
        <p:nvPicPr>
          <p:cNvPr id="166" name="!!icon-mssp" descr="mssp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544300" y="8252460"/>
            <a:ext cx="685800" cy="685800"/>
          </a:xfrm>
          <a:prstGeom prst="rect">
            <a:avLst/>
          </a:prstGeom>
        </p:spPr>
      </p:pic>
      <p:pic>
        <p:nvPicPr>
          <p:cNvPr id="167" name="!!icon-merger" descr="Acquired bank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600200" y="6263640"/>
            <a:ext cx="822960" cy="822960"/>
          </a:xfrm>
          <a:prstGeom prst="rect">
            <a:avLst/>
          </a:prstGeom>
        </p:spPr>
      </p:pic>
      <p:sp>
        <p:nvSpPr>
          <p:cNvPr id="168" name="!!label-merger"/>
          <p:cNvSpPr txBox="1"/>
          <p:nvPr/>
        </p:nvSpPr>
        <p:spPr>
          <a:xfrm>
            <a:off x="731520" y="71323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Acquired bank</a:t>
            </a:r>
          </a:p>
        </p:txBody>
      </p:sp>
      <p:pic>
        <p:nvPicPr>
          <p:cNvPr id="169" name="!!icon-wan2" descr="wan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7132320"/>
            <a:ext cx="1645920" cy="1645920"/>
          </a:xfrm>
          <a:prstGeom prst="rect">
            <a:avLst/>
          </a:prstGeom>
        </p:spPr>
      </p:pic>
      <p:pic>
        <p:nvPicPr>
          <p:cNvPr id="170" name="!!icon-ab1" descr="a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8229600"/>
            <a:ext cx="548640" cy="548640"/>
          </a:xfrm>
          <a:prstGeom prst="rect">
            <a:avLst/>
          </a:prstGeom>
        </p:spPr>
      </p:pic>
      <p:pic>
        <p:nvPicPr>
          <p:cNvPr id="171" name="!!icon-ab2" descr="a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68880" y="8869680"/>
            <a:ext cx="548640" cy="548640"/>
          </a:xfrm>
          <a:prstGeom prst="rect">
            <a:avLst/>
          </a:prstGeom>
        </p:spPr>
      </p:pic>
      <p:pic>
        <p:nvPicPr>
          <p:cNvPr id="172" name="!!icon-ab3" descr="a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8961120"/>
            <a:ext cx="548640" cy="548640"/>
          </a:xfrm>
          <a:prstGeom prst="rect">
            <a:avLst/>
          </a:prstGeom>
        </p:spPr>
      </p:pic>
      <p:pic>
        <p:nvPicPr>
          <p:cNvPr id="173" name="!!icon-globe" descr="International offices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943600" y="1737360"/>
            <a:ext cx="914400" cy="914400"/>
          </a:xfrm>
          <a:prstGeom prst="rect">
            <a:avLst/>
          </a:prstGeom>
        </p:spPr>
      </p:pic>
      <p:sp>
        <p:nvSpPr>
          <p:cNvPr id="174" name="!!label-globe"/>
          <p:cNvSpPr txBox="1"/>
          <p:nvPr/>
        </p:nvSpPr>
        <p:spPr>
          <a:xfrm>
            <a:off x="6949440" y="200253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600" b="1" dirty="0">
                <a:latin typeface="Helvetica Neue"/>
                <a:ea typeface="Helvetica Neue"/>
                <a:cs typeface="Helvetica Neue"/>
              </a:rPr>
              <a:t>International offices</a:t>
            </a:r>
          </a:p>
        </p:txBody>
      </p:sp>
      <p:sp>
        <p:nvSpPr>
          <p:cNvPr id="175" name="!!glabel-branches"/>
          <p:cNvSpPr txBox="1"/>
          <p:nvPr/>
        </p:nvSpPr>
        <p:spPr>
          <a:xfrm>
            <a:off x="-91440" y="547725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sp>
        <p:nvSpPr>
          <p:cNvPr id="176" name="!!glabel-multi"/>
          <p:cNvSpPr txBox="1"/>
          <p:nvPr/>
        </p:nvSpPr>
        <p:spPr>
          <a:xfrm>
            <a:off x="12252960" y="739749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Multi-cloud</a:t>
            </a:r>
          </a:p>
        </p:txBody>
      </p:sp>
      <p:sp>
        <p:nvSpPr>
          <p:cNvPr id="17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6  Regional, then multinational: hundreds of branches, an acquired bank, many clouds, international links</a:t>
            </a:r>
          </a:p>
        </p:txBody>
      </p:sp>
    </p:spTree>
    <p:extLst>
      <p:ext uri="{BB962C8B-B14F-4D97-AF65-F5344CB8AC3E}">
        <p14:creationId xmlns:p14="http://schemas.microsoft.com/office/powerpoint/2010/main" val="244857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7030700" cy="1988345"/>
          </a:xfrm>
        </p:spPr>
        <p:txBody>
          <a:bodyPr/>
          <a:lstStyle/>
          <a:p>
            <a:r>
              <a:rPr lang="en-US" sz="6600" b="1" dirty="0">
                <a:latin typeface="Helvetica Neue"/>
                <a:ea typeface="Helvetica Neue"/>
                <a:cs typeface="Helvetica Neue"/>
              </a:rPr>
              <a:t>Current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Themes</a:t>
            </a:r>
            <a:r>
              <a:rPr lang="en-US" sz="6600" b="1" dirty="0">
                <a:latin typeface="Helvetica Neue"/>
                <a:ea typeface="Helvetica Neue"/>
                <a:cs typeface="Helvetica Neue"/>
              </a:rPr>
              <a:t>: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Bank Network Evolution</a:t>
            </a:r>
          </a:p>
        </p:txBody>
      </p:sp>
      <p:graphicFrame>
        <p:nvGraphicFramePr>
          <p:cNvPr id="3" name="Them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169865"/>
              </p:ext>
            </p:extLst>
          </p:nvPr>
        </p:nvGraphicFramePr>
        <p:xfrm>
          <a:off x="1257300" y="2606040"/>
          <a:ext cx="15773400" cy="69585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66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6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changed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did to the network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internet replaced private circuits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Leased lines and MPLS gave way to broadband, SD-WAN and cellular backup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Cheaper and more resilient, but the bank now rides the public internet, and security has to live at every site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Staff work from anywhere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offices, laptops and phones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Remote access went from an exception to the norm</a:t>
                      </a:r>
                      <a:r>
                        <a:rPr lang="en-US"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(maybe)</a:t>
                      </a:r>
                      <a:endParaRPr sz="2200" b="0" dirty="0">
                        <a:solidFill>
                          <a:srgbClr val="00000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Payments went real-time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FedNow, RTP and same-day ACH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overnight batch to catch up in; an outage is felt by customers immediately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Systems moved out of the building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Core, email and files went to vendors and the cloud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connection out of the branch became the lifeline; no connection means no business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Fewer IT people, more vendors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Managed service and security providers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Outsiders run parts of the network, so trust and oversight become the issue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Customers went digital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Online and mobile banking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bank's front door is now an app, often hosted by a vendor, and expected to be up all the time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0382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Before: the traditional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5204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10" name="!!box-vpn"/>
          <p:cNvSpPr/>
          <p:nvPr/>
        </p:nvSpPr>
        <p:spPr>
          <a:xfrm>
            <a:off x="10607040" y="3177540"/>
            <a:ext cx="310896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cxnSp>
        <p:nvCxnSpPr>
          <p:cNvPr id="111" name="!!line-fw-vpn"/>
          <p:cNvCxnSpPr/>
          <p:nvPr/>
        </p:nvCxnSpPr>
        <p:spPr>
          <a:xfrm>
            <a:off x="8869680" y="3611880"/>
            <a:ext cx="17373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74320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7947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4" name="!!tunnel-core"/>
          <p:cNvCxnSpPr/>
          <p:nvPr/>
        </p:nvCxnSpPr>
        <p:spPr>
          <a:xfrm flipV="1">
            <a:off x="13761720" y="3291840"/>
            <a:ext cx="1737360" cy="32004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device in the branch plugs in here</a:t>
            </a:r>
          </a:p>
        </p:txBody>
      </p:sp>
      <p:cxnSp>
        <p:nvCxnSpPr>
          <p:cNvPr id="116" name="!!eth-teller1"/>
          <p:cNvCxnSpPr/>
          <p:nvPr/>
        </p:nvCxnSpPr>
        <p:spPr>
          <a:xfrm>
            <a:off x="10972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!!icon-teller1" descr="teller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" y="6492240"/>
            <a:ext cx="914400" cy="914400"/>
          </a:xfrm>
          <a:prstGeom prst="rect">
            <a:avLst/>
          </a:prstGeom>
        </p:spPr>
      </p:pic>
      <p:cxnSp>
        <p:nvCxnSpPr>
          <p:cNvPr id="118" name="!!eth-teller2"/>
          <p:cNvCxnSpPr/>
          <p:nvPr/>
        </p:nvCxnSpPr>
        <p:spPr>
          <a:xfrm>
            <a:off x="22860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!!icon-teller2" descr="teller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28800" y="6492240"/>
            <a:ext cx="914400" cy="914400"/>
          </a:xfrm>
          <a:prstGeom prst="rect">
            <a:avLst/>
          </a:prstGeom>
        </p:spPr>
      </p:pic>
      <p:sp>
        <p:nvSpPr>
          <p:cNvPr id="120" name="!!label-tellers"/>
          <p:cNvSpPr txBox="1"/>
          <p:nvPr/>
        </p:nvSpPr>
        <p:spPr>
          <a:xfrm>
            <a:off x="320040" y="747979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line</a:t>
            </a:r>
          </a:p>
        </p:txBody>
      </p:sp>
      <p:cxnSp>
        <p:nvCxnSpPr>
          <p:cNvPr id="121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2" name="!!icon-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3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4" name="!!eth-phones"/>
          <p:cNvCxnSpPr/>
          <p:nvPr/>
        </p:nvCxnSpPr>
        <p:spPr>
          <a:xfrm>
            <a:off x="530352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5" name="!!icon-phones" descr="Desk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46320" y="6492240"/>
            <a:ext cx="914400" cy="914400"/>
          </a:xfrm>
          <a:prstGeom prst="rect">
            <a:avLst/>
          </a:prstGeom>
        </p:spPr>
      </p:pic>
      <p:sp>
        <p:nvSpPr>
          <p:cNvPr id="126" name="!!label-phones"/>
          <p:cNvSpPr txBox="1"/>
          <p:nvPr/>
        </p:nvSpPr>
        <p:spPr>
          <a:xfrm>
            <a:off x="429768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Desk phones</a:t>
            </a:r>
          </a:p>
        </p:txBody>
      </p:sp>
      <p:cxnSp>
        <p:nvCxnSpPr>
          <p:cNvPr id="127" name="!!eth-server"/>
          <p:cNvCxnSpPr/>
          <p:nvPr/>
        </p:nvCxnSpPr>
        <p:spPr>
          <a:xfrm>
            <a:off x="67665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8" name="!!icon-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09360" y="6492240"/>
            <a:ext cx="914400" cy="914400"/>
          </a:xfrm>
          <a:prstGeom prst="rect">
            <a:avLst/>
          </a:prstGeom>
        </p:spPr>
      </p:pic>
      <p:sp>
        <p:nvSpPr>
          <p:cNvPr id="129" name="!!label-server"/>
          <p:cNvSpPr txBox="1"/>
          <p:nvPr/>
        </p:nvSpPr>
        <p:spPr>
          <a:xfrm>
            <a:off x="57607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30" name="!!eth-atm"/>
          <p:cNvCxnSpPr/>
          <p:nvPr/>
        </p:nvCxnSpPr>
        <p:spPr>
          <a:xfrm>
            <a:off x="82296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1" name="!!icon-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72400" y="6492240"/>
            <a:ext cx="914400" cy="914400"/>
          </a:xfrm>
          <a:prstGeom prst="rect">
            <a:avLst/>
          </a:prstGeom>
        </p:spPr>
      </p:pic>
      <p:sp>
        <p:nvSpPr>
          <p:cNvPr id="132" name="!!label-atm"/>
          <p:cNvSpPr txBox="1"/>
          <p:nvPr/>
        </p:nvSpPr>
        <p:spPr>
          <a:xfrm>
            <a:off x="722376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3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4" name="!!icon-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5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6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7" name="!!icon-alarm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8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9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0" name="!!icon-staffap" descr="Staff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41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2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3" name="!!icon-staffclient" descr="Staff laptop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4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5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6" name="!!icon-guestap" descr="Guest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7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8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!!icon-guestclient" descr="Customer phones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50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1551414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After: the transformed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4290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  <a:p>
            <a:pPr algn="ctr"/>
            <a:r>
              <a:rPr lang="en-US" sz="1600" b="0" dirty="0">
                <a:latin typeface="Helvetica Neue"/>
                <a:ea typeface="Helvetica Neue"/>
                <a:cs typeface="Helvetica Neue"/>
              </a:rPr>
              <a:t>two providers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5G / 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SD-WAN appliance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remotely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0" name="!!icon-saas" descr="Cloud and Saa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84280" y="1737360"/>
            <a:ext cx="2468880" cy="2468880"/>
          </a:xfrm>
          <a:prstGeom prst="rect">
            <a:avLst/>
          </a:prstGeom>
        </p:spPr>
      </p:pic>
      <p:sp>
        <p:nvSpPr>
          <p:cNvPr id="111" name="!!label-saas"/>
          <p:cNvSpPr txBox="1"/>
          <p:nvPr/>
        </p:nvSpPr>
        <p:spPr>
          <a:xfrm>
            <a:off x="11637414" y="301528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12" name="!!icon-core" descr="Hosted core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88036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9319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cxnSp>
        <p:nvCxnSpPr>
          <p:cNvPr id="114" name="!!tunnel-saas"/>
          <p:cNvCxnSpPr/>
          <p:nvPr/>
        </p:nvCxnSpPr>
        <p:spPr>
          <a:xfrm flipV="1">
            <a:off x="8869680" y="3200400"/>
            <a:ext cx="2606040" cy="22860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cxnSp>
        <p:nvCxnSpPr>
          <p:cNvPr id="115" name="!!tunnel-core"/>
          <p:cNvCxnSpPr/>
          <p:nvPr/>
        </p:nvCxnSpPr>
        <p:spPr>
          <a:xfrm flipV="1">
            <a:off x="8869680" y="3611880"/>
            <a:ext cx="6675120" cy="18288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6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Fewer devices, and most of them depend on the connection out</a:t>
            </a:r>
          </a:p>
        </p:txBody>
      </p:sp>
      <p:cxnSp>
        <p:nvCxnSpPr>
          <p:cNvPr id="117" name="!!eth-teller1"/>
          <p:cNvCxnSpPr/>
          <p:nvPr/>
        </p:nvCxnSpPr>
        <p:spPr>
          <a:xfrm>
            <a:off x="17373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8" name="!!icon-teller1" descr="Thin client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80160" y="6492240"/>
            <a:ext cx="914400" cy="914400"/>
          </a:xfrm>
          <a:prstGeom prst="rect">
            <a:avLst/>
          </a:prstGeom>
        </p:spPr>
      </p:pic>
      <p:sp>
        <p:nvSpPr>
          <p:cNvPr id="119" name="!!label-teller1"/>
          <p:cNvSpPr txBox="1"/>
          <p:nvPr/>
        </p:nvSpPr>
        <p:spPr>
          <a:xfrm>
            <a:off x="7315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Thin client</a:t>
            </a:r>
          </a:p>
        </p:txBody>
      </p:sp>
      <p:cxnSp>
        <p:nvCxnSpPr>
          <p:cNvPr id="120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printers" descr="Receipt printe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2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Receipt printer</a:t>
            </a:r>
          </a:p>
        </p:txBody>
      </p:sp>
      <p:cxnSp>
        <p:nvCxnSpPr>
          <p:cNvPr id="123" name="!!eth-atm"/>
          <p:cNvCxnSpPr/>
          <p:nvPr/>
        </p:nvCxnSpPr>
        <p:spPr>
          <a:xfrm>
            <a:off x="58521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!!icon-atm" descr="Video telle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94960" y="6492240"/>
            <a:ext cx="914400" cy="914400"/>
          </a:xfrm>
          <a:prstGeom prst="rect">
            <a:avLst/>
          </a:prstGeom>
        </p:spPr>
      </p:pic>
      <p:sp>
        <p:nvSpPr>
          <p:cNvPr id="125" name="!!label-atm"/>
          <p:cNvSpPr txBox="1"/>
          <p:nvPr/>
        </p:nvSpPr>
        <p:spPr>
          <a:xfrm>
            <a:off x="48463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live remote teller</a:t>
            </a:r>
          </a:p>
        </p:txBody>
      </p:sp>
      <p:cxnSp>
        <p:nvCxnSpPr>
          <p:cNvPr id="126" name="!!eth-recycler"/>
          <p:cNvCxnSpPr/>
          <p:nvPr/>
        </p:nvCxnSpPr>
        <p:spPr>
          <a:xfrm>
            <a:off x="78638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!!icon-recycler" descr="Cash recycl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06640" y="6492240"/>
            <a:ext cx="914400" cy="914400"/>
          </a:xfrm>
          <a:prstGeom prst="rect">
            <a:avLst/>
          </a:prstGeom>
        </p:spPr>
      </p:pic>
      <p:sp>
        <p:nvSpPr>
          <p:cNvPr id="128" name="!!label-recycler"/>
          <p:cNvSpPr txBox="1"/>
          <p:nvPr/>
        </p:nvSpPr>
        <p:spPr>
          <a:xfrm>
            <a:off x="68580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Cash</a:t>
            </a:r>
            <a:br>
              <a:rPr lang="en-US" sz="1600" b="1" dirty="0">
                <a:latin typeface="Helvetica Neue"/>
                <a:ea typeface="Helvetica Neue"/>
                <a:cs typeface="Helvetica Neue"/>
              </a:rPr>
            </a:br>
            <a:r>
              <a:rPr lang="en-US" sz="1600" b="1" dirty="0">
                <a:latin typeface="Helvetica Neue"/>
                <a:ea typeface="Helvetica Neue"/>
                <a:cs typeface="Helvetica Neue"/>
              </a:rPr>
              <a:t>recycler</a:t>
            </a:r>
          </a:p>
        </p:txBody>
      </p:sp>
      <p:cxnSp>
        <p:nvCxnSpPr>
          <p:cNvPr id="129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!!icon-cameras" descr="Cameras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1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cloud-recorded</a:t>
            </a:r>
          </a:p>
        </p:txBody>
      </p:sp>
      <p:cxnSp>
        <p:nvCxnSpPr>
          <p:cNvPr id="132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!!icon-alarm" descr="Alarm panel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4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5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!!icon-staffap" descr="Staff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37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38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39" name="!!icon-staffclient" descr="Banker tablets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0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Banker tablets</a:t>
            </a:r>
          </a:p>
        </p:txBody>
      </p:sp>
      <p:cxnSp>
        <p:nvCxnSpPr>
          <p:cNvPr id="141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!!icon-guestap" descr="Guest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3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4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5" name="!!icon-guestclient" descr="Customer phone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46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47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48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49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0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1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2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3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4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3108559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5: LANs</a:t>
            </a:r>
            <a:r>
              <a:rPr lang="en-US" dirty="0"/>
              <a:t> i</a:t>
            </a:r>
            <a:r>
              <a:rPr dirty="0"/>
              <a:t>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D6840-EAFF-6943-D475-AA4BF7A41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6D7D4-5972-5126-0AF8-4B931A333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Ethernet is </a:t>
            </a:r>
            <a:r>
              <a:rPr lang="en-US" b="1" i="1" dirty="0"/>
              <a:t>the</a:t>
            </a:r>
            <a:r>
              <a:rPr lang="en-US" dirty="0"/>
              <a:t> wired LAN technology of choice</a:t>
            </a:r>
          </a:p>
          <a:p>
            <a:r>
              <a:rPr lang="en-US" dirty="0"/>
              <a:t>Standards created by the IEEE 802.3 Committee </a:t>
            </a:r>
          </a:p>
          <a:p>
            <a:r>
              <a:rPr lang="en-US" dirty="0"/>
              <a:t>Equivalent to the Physical and Data Link Layers of the OSI model and the Network Interface in the Internet Protocol Suite</a:t>
            </a:r>
          </a:p>
          <a:p>
            <a:r>
              <a:rPr lang="en-US" dirty="0"/>
              <a:t>A variety of Physical Layer options meet a wide variety of application needs</a:t>
            </a:r>
          </a:p>
          <a:p>
            <a:pPr lvl="1"/>
            <a:r>
              <a:rPr lang="en-US" dirty="0"/>
              <a:t>Twisted pair </a:t>
            </a:r>
          </a:p>
          <a:p>
            <a:pPr lvl="1"/>
            <a:r>
              <a:rPr lang="en-US" dirty="0"/>
              <a:t>Optical fiber</a:t>
            </a:r>
          </a:p>
          <a:p>
            <a:pPr lvl="1"/>
            <a:r>
              <a:rPr lang="en-US" dirty="0"/>
              <a:t>Coaxial cable (almost extinct for Ethernet now)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053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7" name="Rectangle 6156">
            <a:extLst>
              <a:ext uri="{FF2B5EF4-FFF2-40B4-BE49-F238E27FC236}">
                <a16:creationId xmlns:a16="http://schemas.microsoft.com/office/drawing/2014/main" id="{21AC6A30-4F22-4C0F-B278-19C5B8A80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9" name="Rectangle 6158">
            <a:extLst>
              <a:ext uri="{FF2B5EF4-FFF2-40B4-BE49-F238E27FC236}">
                <a16:creationId xmlns:a16="http://schemas.microsoft.com/office/drawing/2014/main" id="{BB4335AD-65B1-44E4-90AF-264024FE4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" y="0"/>
            <a:ext cx="18287998" cy="10287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C5EAD8-7F7D-9178-2A32-83FEAD468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5549" y="914400"/>
            <a:ext cx="6400800" cy="202720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(un) Structured Cabling</a:t>
            </a:r>
          </a:p>
        </p:txBody>
      </p:sp>
      <p:pic>
        <p:nvPicPr>
          <p:cNvPr id="6152" name="Picture 8" descr="A group of men working on a computer&#10;&#10;Description automatically generated with low confidence">
            <a:extLst>
              <a:ext uri="{FF2B5EF4-FFF2-40B4-BE49-F238E27FC236}">
                <a16:creationId xmlns:a16="http://schemas.microsoft.com/office/drawing/2014/main" id="{593F2139-6210-7432-B4EA-2D2FC21E31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" y="1"/>
            <a:ext cx="5543549" cy="10287002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BFE3A1-E933-32EB-4F9A-F11A75B31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8449" y="3221035"/>
            <a:ext cx="5715000" cy="6151563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Which cabling job is better? 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might the cabling say about the IT team?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do you see in the average community bank?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F053C1D6-9BB3-2457-85CD-5D3E2E2E7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"/>
          <a:stretch/>
        </p:blipFill>
        <p:spPr bwMode="auto">
          <a:xfrm>
            <a:off x="12870700" y="10"/>
            <a:ext cx="5417300" cy="10286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5458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90A9-9DE7-2F96-F0C6-EF7501859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Evolution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CB073A8-41CA-35EC-4CE0-D95A3A14CB4C}"/>
              </a:ext>
            </a:extLst>
          </p:cNvPr>
          <p:cNvGrpSpPr/>
          <p:nvPr/>
        </p:nvGrpSpPr>
        <p:grpSpPr>
          <a:xfrm>
            <a:off x="2476806" y="2672857"/>
            <a:ext cx="12758021" cy="6806809"/>
            <a:chOff x="475770" y="161150"/>
            <a:chExt cx="7677630" cy="379386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DFEC1CC-D433-1315-F4A0-86BC9F3B1049}"/>
                </a:ext>
              </a:extLst>
            </p:cNvPr>
            <p:cNvSpPr/>
            <p:nvPr/>
          </p:nvSpPr>
          <p:spPr>
            <a:xfrm>
              <a:off x="914400" y="2712481"/>
              <a:ext cx="1066800" cy="12308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97FEC665-0B8B-7E74-AD49-D2AFAC8D4F22}"/>
                </a:ext>
              </a:extLst>
            </p:cNvPr>
            <p:cNvSpPr/>
            <p:nvPr/>
          </p:nvSpPr>
          <p:spPr>
            <a:xfrm>
              <a:off x="609600" y="666750"/>
              <a:ext cx="7543800" cy="533400"/>
            </a:xfrm>
            <a:prstGeom prst="rightArrow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7AF3F45-495E-4362-BF89-9A4BBF5CC7D7}"/>
                </a:ext>
              </a:extLst>
            </p:cNvPr>
            <p:cNvSpPr txBox="1"/>
            <p:nvPr/>
          </p:nvSpPr>
          <p:spPr>
            <a:xfrm>
              <a:off x="7188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4A726F-04D2-3860-DEAC-0A17410C1240}"/>
                </a:ext>
              </a:extLst>
            </p:cNvPr>
            <p:cNvSpPr txBox="1"/>
            <p:nvPr/>
          </p:nvSpPr>
          <p:spPr>
            <a:xfrm>
              <a:off x="39954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AFAE40-2099-3781-2664-C7647C1E6127}"/>
                </a:ext>
              </a:extLst>
            </p:cNvPr>
            <p:cNvSpPr txBox="1"/>
            <p:nvPr/>
          </p:nvSpPr>
          <p:spPr>
            <a:xfrm>
              <a:off x="6862060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2001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69AFDBF-AFC6-A303-6726-63B24E10C80B}"/>
                </a:ext>
              </a:extLst>
            </p:cNvPr>
            <p:cNvSpPr txBox="1"/>
            <p:nvPr/>
          </p:nvSpPr>
          <p:spPr>
            <a:xfrm>
              <a:off x="475770" y="161150"/>
              <a:ext cx="1295204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Ethernet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Invented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4ED9B8-1ACB-A7BE-CF49-7C9EE0B660F3}"/>
                </a:ext>
              </a:extLst>
            </p:cNvPr>
            <p:cNvSpPr txBox="1"/>
            <p:nvPr/>
          </p:nvSpPr>
          <p:spPr>
            <a:xfrm>
              <a:off x="6665775" y="161151"/>
              <a:ext cx="104531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MEF WAN 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B4AF956-1AF7-8073-1D8A-FEE7B01F75D7}"/>
                </a:ext>
              </a:extLst>
            </p:cNvPr>
            <p:cNvSpPr txBox="1"/>
            <p:nvPr/>
          </p:nvSpPr>
          <p:spPr>
            <a:xfrm>
              <a:off x="3648739" y="191184"/>
              <a:ext cx="146552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IEEE 802.3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pic>
          <p:nvPicPr>
            <p:cNvPr id="12" name="Picture 11" descr="Diagram&#10;&#10;Description automatically generated">
              <a:extLst>
                <a:ext uri="{FF2B5EF4-FFF2-40B4-BE49-F238E27FC236}">
                  <a16:creationId xmlns:a16="http://schemas.microsoft.com/office/drawing/2014/main" id="{F091C6C8-691D-27F3-641E-DEFF8F950F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914400" y="2827161"/>
              <a:ext cx="1143000" cy="811390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2C67AF2-69C7-31C1-B2DB-D92716B5E32F}"/>
                </a:ext>
              </a:extLst>
            </p:cNvPr>
            <p:cNvGrpSpPr/>
            <p:nvPr/>
          </p:nvGrpSpPr>
          <p:grpSpPr>
            <a:xfrm>
              <a:off x="3124200" y="2724150"/>
              <a:ext cx="2133600" cy="1230869"/>
              <a:chOff x="3124200" y="2724150"/>
              <a:chExt cx="2133600" cy="1230869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C0F4C92-B66B-9516-CF61-9EA186852134}"/>
                  </a:ext>
                </a:extLst>
              </p:cNvPr>
              <p:cNvSpPr/>
              <p:nvPr/>
            </p:nvSpPr>
            <p:spPr>
              <a:xfrm>
                <a:off x="31242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15" name="Picture 14" descr="Diagram&#10;&#10;Description automatically generated">
                <a:extLst>
                  <a:ext uri="{FF2B5EF4-FFF2-40B4-BE49-F238E27FC236}">
                    <a16:creationId xmlns:a16="http://schemas.microsoft.com/office/drawing/2014/main" id="{3E50CFDF-C896-599B-A902-33EC85835F7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3405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6" name="Picture 15" descr="Diagram&#10;&#10;Description automatically generated">
                <a:extLst>
                  <a:ext uri="{FF2B5EF4-FFF2-40B4-BE49-F238E27FC236}">
                    <a16:creationId xmlns:a16="http://schemas.microsoft.com/office/drawing/2014/main" id="{5A342FB2-BA13-92E8-AB54-ABD96F55769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8287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17" name="Picture 16" descr="Diagram&#10;&#10;Description automatically generated">
                <a:extLst>
                  <a:ext uri="{FF2B5EF4-FFF2-40B4-BE49-F238E27FC236}">
                    <a16:creationId xmlns:a16="http://schemas.microsoft.com/office/drawing/2014/main" id="{B6ABD508-4BB0-E9A9-973B-89764ADF4E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9292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8" name="Picture 17" descr="Diagram&#10;&#10;Description automatically generated">
                <a:extLst>
                  <a:ext uri="{FF2B5EF4-FFF2-40B4-BE49-F238E27FC236}">
                    <a16:creationId xmlns:a16="http://schemas.microsoft.com/office/drawing/2014/main" id="{8E888EDC-D6DA-78C2-9153-4C3934743B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44931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2B15FB6-F2E6-AE52-A84B-DD0AC6D8C1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700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261A031-2487-0D8E-E50A-EA8FE156CDA4}"/>
                  </a:ext>
                </a:extLst>
              </p:cNvPr>
              <p:cNvCxnSpPr>
                <a:cxnSpLocks/>
                <a:stCxn id="17" idx="0"/>
              </p:cNvCxnSpPr>
              <p:nvPr/>
            </p:nvCxnSpPr>
            <p:spPr>
              <a:xfrm flipH="1" flipV="1">
                <a:off x="39931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D6DAC63-9275-5599-8E20-EEF426189B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2966" y="3050872"/>
                <a:ext cx="495234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DA2072-0A42-DB73-5E5D-20DF5A27069D}"/>
                  </a:ext>
                </a:extLst>
              </p:cNvPr>
              <p:cNvSpPr txBox="1"/>
              <p:nvPr/>
            </p:nvSpPr>
            <p:spPr>
              <a:xfrm>
                <a:off x="4507523" y="2848456"/>
                <a:ext cx="412107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Hub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47C52A5-FFA9-FE3E-B32D-A9D691103B17}"/>
                </a:ext>
              </a:extLst>
            </p:cNvPr>
            <p:cNvGrpSpPr/>
            <p:nvPr/>
          </p:nvGrpSpPr>
          <p:grpSpPr>
            <a:xfrm>
              <a:off x="6019800" y="2724150"/>
              <a:ext cx="2133600" cy="1230869"/>
              <a:chOff x="5943600" y="2724150"/>
              <a:chExt cx="2133600" cy="1230869"/>
            </a:xfrm>
          </p:grpSpPr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D3C3197E-93FF-AD65-A09F-2DE3EB32CC04}"/>
                  </a:ext>
                </a:extLst>
              </p:cNvPr>
              <p:cNvSpPr/>
              <p:nvPr/>
            </p:nvSpPr>
            <p:spPr>
              <a:xfrm>
                <a:off x="59436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25" name="Picture 24" descr="Diagram&#10;&#10;Description automatically generated">
                <a:extLst>
                  <a:ext uri="{FF2B5EF4-FFF2-40B4-BE49-F238E27FC236}">
                    <a16:creationId xmlns:a16="http://schemas.microsoft.com/office/drawing/2014/main" id="{4E7F2C2A-2FEC-397A-8F4D-43F79B58C4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1599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6" name="Picture 25" descr="Diagram&#10;&#10;Description automatically generated">
                <a:extLst>
                  <a:ext uri="{FF2B5EF4-FFF2-40B4-BE49-F238E27FC236}">
                    <a16:creationId xmlns:a16="http://schemas.microsoft.com/office/drawing/2014/main" id="{5FCBCCFA-59E7-390E-2369-2649E0FAC38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6481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27" name="Picture 26" descr="Diagram&#10;&#10;Description automatically generated">
                <a:extLst>
                  <a:ext uri="{FF2B5EF4-FFF2-40B4-BE49-F238E27FC236}">
                    <a16:creationId xmlns:a16="http://schemas.microsoft.com/office/drawing/2014/main" id="{1E0DB6EA-0D3A-299D-181B-5F02B1FDA93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7486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8" name="Picture 27" descr="Diagram&#10;&#10;Description automatically generated">
                <a:extLst>
                  <a:ext uri="{FF2B5EF4-FFF2-40B4-BE49-F238E27FC236}">
                    <a16:creationId xmlns:a16="http://schemas.microsoft.com/office/drawing/2014/main" id="{C481DB5A-798E-00B7-EAD4-F476723F5A4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73125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CA7C1A0-572B-1424-8518-4852CFD525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894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7D3B872-238E-0FE2-1458-79211E0C82A4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68125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A129E95-2D0C-CB3F-57EA-08FCF74ED580}"/>
                  </a:ext>
                </a:extLst>
              </p:cNvPr>
              <p:cNvCxnSpPr>
                <a:cxnSpLocks/>
                <a:stCxn id="28" idx="0"/>
              </p:cNvCxnSpPr>
              <p:nvPr/>
            </p:nvCxnSpPr>
            <p:spPr>
              <a:xfrm flipH="1" flipV="1">
                <a:off x="6972366" y="3050872"/>
                <a:ext cx="601886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1CD862-6955-AA4A-C51F-D6F6256DC41A}"/>
                  </a:ext>
                </a:extLst>
              </p:cNvPr>
              <p:cNvSpPr txBox="1"/>
              <p:nvPr/>
            </p:nvSpPr>
            <p:spPr>
              <a:xfrm>
                <a:off x="7326923" y="2848456"/>
                <a:ext cx="610828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Switch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00A3C1B-96E1-E58E-2F8D-4DE65E6D872F}"/>
                </a:ext>
              </a:extLst>
            </p:cNvPr>
            <p:cNvSpPr txBox="1"/>
            <p:nvPr/>
          </p:nvSpPr>
          <p:spPr>
            <a:xfrm>
              <a:off x="574431" y="2247030"/>
              <a:ext cx="1797371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 to early 1980s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03EA6AD-307B-F2FF-B327-D925D3CD13A4}"/>
                </a:ext>
              </a:extLst>
            </p:cNvPr>
            <p:cNvSpPr txBox="1"/>
            <p:nvPr/>
          </p:nvSpPr>
          <p:spPr>
            <a:xfrm>
              <a:off x="3788092" y="2247030"/>
              <a:ext cx="623369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E83B91-7628-E7A6-3DC0-102D102866A5}"/>
                </a:ext>
              </a:extLst>
            </p:cNvPr>
            <p:cNvSpPr txBox="1"/>
            <p:nvPr/>
          </p:nvSpPr>
          <p:spPr>
            <a:xfrm>
              <a:off x="6129216" y="2247030"/>
              <a:ext cx="193971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1990s to present 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5280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E95C1-D990-2D20-6207-392F61C9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Ethernet Physical Layers</a:t>
            </a:r>
          </a:p>
        </p:txBody>
      </p:sp>
      <p:graphicFrame>
        <p:nvGraphicFramePr>
          <p:cNvPr id="4" name="Group 2">
            <a:extLst>
              <a:ext uri="{FF2B5EF4-FFF2-40B4-BE49-F238E27FC236}">
                <a16:creationId xmlns:a16="http://schemas.microsoft.com/office/drawing/2014/main" id="{ACEA1A13-B600-6D12-B612-233406A9B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105982"/>
              </p:ext>
            </p:extLst>
          </p:nvPr>
        </p:nvGraphicFramePr>
        <p:xfrm>
          <a:off x="3015205" y="2555353"/>
          <a:ext cx="11904562" cy="6496049"/>
        </p:xfrm>
        <a:graphic>
          <a:graphicData uri="http://schemas.openxmlformats.org/drawingml/2006/table">
            <a:tbl>
              <a:tblPr/>
              <a:tblGrid>
                <a:gridCol w="3649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5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69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Standard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Length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Cable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10BASE-T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3, 4,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77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100BASE-TX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1000BASE-SX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1000BASE-LX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1000BASE-T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5e, 6, 7 UTP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FFE6757-C013-3E29-9765-9298BCA40BA5}"/>
              </a:ext>
            </a:extLst>
          </p:cNvPr>
          <p:cNvCxnSpPr/>
          <p:nvPr/>
        </p:nvCxnSpPr>
        <p:spPr>
          <a:xfrm>
            <a:off x="3677478" y="4313582"/>
            <a:ext cx="10277061" cy="0"/>
          </a:xfrm>
          <a:prstGeom prst="line">
            <a:avLst/>
          </a:prstGeom>
          <a:ln w="3492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593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AC18-EDED-9C39-8B32-F35C197CB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Typical Ethernet 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ACCC-CE1D-B1D3-6BAC-C3749D19D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devices use a standard Ethernet chipset and use twisted pair connections</a:t>
            </a:r>
          </a:p>
          <a:p>
            <a:r>
              <a:rPr lang="en-US" dirty="0"/>
              <a:t>Autosensing selects speeds 100, 1000 Mbps</a:t>
            </a:r>
          </a:p>
          <a:p>
            <a:r>
              <a:rPr lang="en-US" dirty="0"/>
              <a:t>Connections go from the desk to a patch panel or switch </a:t>
            </a:r>
          </a:p>
          <a:p>
            <a:pPr lvl="1"/>
            <a:r>
              <a:rPr lang="en-US" dirty="0"/>
              <a:t>Allows different speeds on its ports</a:t>
            </a:r>
          </a:p>
          <a:p>
            <a:pPr lvl="1"/>
            <a:r>
              <a:rPr lang="en-US" dirty="0"/>
              <a:t>Provides the ability to have older devices in the same LAN as newer ones, such an old laser printer that only supports 100 Mbps</a:t>
            </a:r>
          </a:p>
          <a:p>
            <a:r>
              <a:rPr lang="en-US" dirty="0"/>
              <a:t>Switches can be interconnected</a:t>
            </a:r>
          </a:p>
          <a:p>
            <a:pPr lvl="1"/>
            <a:r>
              <a:rPr lang="en-US" dirty="0"/>
              <a:t>Twisted pair if close and on the same floor</a:t>
            </a:r>
          </a:p>
          <a:p>
            <a:pPr lvl="1"/>
            <a:r>
              <a:rPr lang="en-US" dirty="0"/>
              <a:t>Optical fiber used when further apart or on different floors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picture containing cable&#10;&#10;Description automatically generated">
            <a:extLst>
              <a:ext uri="{FF2B5EF4-FFF2-40B4-BE49-F238E27FC236}">
                <a16:creationId xmlns:a16="http://schemas.microsoft.com/office/drawing/2014/main" id="{A3FE0BED-CF04-F523-B3C1-3E565E610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5760700" y="8010185"/>
            <a:ext cx="2540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842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F61A01-D6CA-1B47-BAA7-69ACCC921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Frame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447E9B-BB27-174C-98C1-05C9F1795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Ethernet LANs allow any device on the LAN to talk to any other device on the LAN (any-to-any)</a:t>
            </a:r>
          </a:p>
          <a:p>
            <a:r>
              <a:rPr lang="en-US"/>
              <a:t>Addresses are needed to identify who the information is for</a:t>
            </a:r>
          </a:p>
          <a:p>
            <a:r>
              <a:rPr lang="en-US"/>
              <a:t>Ethernet frames include an address (referred to as the MAC address)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/>
              <a:t>MAC address is assigned by device manufacturer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F9146-FF0B-7B44-83EC-0A9B25126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400" y="9534526"/>
            <a:ext cx="4114800" cy="547688"/>
          </a:xfrm>
        </p:spPr>
        <p:txBody>
          <a:bodyPr/>
          <a:lstStyle/>
          <a:p>
            <a:pPr algn="l"/>
            <a:fld id="{E12D0507-9F86-7A45-BE8E-43760B9F92AA}" type="slidenum">
              <a:rPr lang="en-US" smtClean="0"/>
              <a:pPr algn="l"/>
              <a:t>42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4FFF69F-C3B3-1E4B-9B8A-6FCCB0899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6129627"/>
            <a:ext cx="15544800" cy="190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45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416F-3744-E727-037A-665FB5BB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LAN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D94ED-D48B-64F0-954D-3DC817D19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Allows traffic segmentation, for example data and voice</a:t>
            </a:r>
          </a:p>
          <a:p>
            <a:r>
              <a:rPr lang="en-US"/>
              <a:t>Simplest way to create multiple LANs (networks) is to have separate physical networks, requires</a:t>
            </a:r>
          </a:p>
          <a:p>
            <a:pPr lvl="1"/>
            <a:r>
              <a:rPr lang="en-US"/>
              <a:t>Multiple cable drops to the desk</a:t>
            </a:r>
          </a:p>
          <a:p>
            <a:pPr lvl="1"/>
            <a:r>
              <a:rPr lang="en-US"/>
              <a:t>Switches for each LAN</a:t>
            </a:r>
          </a:p>
          <a:p>
            <a:pPr lvl="1"/>
            <a:r>
              <a:rPr lang="en-US"/>
              <a:t>Separate inter-switch (trunk) connections for each LAN</a:t>
            </a:r>
          </a:p>
          <a:p>
            <a:r>
              <a:rPr lang="en-US"/>
              <a:t>Note each LAN (network) will have its own block of IP addresses assigned to it, more on this later</a:t>
            </a:r>
          </a:p>
          <a:p>
            <a:r>
              <a:rPr lang="en-US"/>
              <a:t>What if we could use one infrastructure and create multiple </a:t>
            </a:r>
            <a:r>
              <a:rPr lang="en-US" i="1"/>
              <a:t>logical</a:t>
            </a:r>
            <a:r>
              <a:rPr lang="en-US"/>
              <a:t> LANs to create separate segments?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5551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B6279-70FC-C1D8-F14C-E118FC16B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9A1C1-9F6F-FDD9-D807-1F378704A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Logically creates multiple LANs within a switch</a:t>
            </a:r>
          </a:p>
          <a:p>
            <a:r>
              <a:rPr lang="en-US"/>
              <a:t>Tags used between switches to identify which LAN the frame belongs to</a:t>
            </a:r>
          </a:p>
          <a:p>
            <a:r>
              <a:rPr lang="en-US"/>
              <a:t>Configured on the switches</a:t>
            </a:r>
          </a:p>
          <a:p>
            <a:r>
              <a:rPr lang="en-US"/>
              <a:t>Change requires software update versus physical connection change for separate switches</a:t>
            </a:r>
          </a:p>
          <a:p>
            <a:r>
              <a:rPr lang="en-US"/>
              <a:t>Centralizes switch management</a:t>
            </a:r>
          </a:p>
        </p:txBody>
      </p:sp>
    </p:spTree>
    <p:extLst>
      <p:ext uri="{BB962C8B-B14F-4D97-AF65-F5344CB8AC3E}">
        <p14:creationId xmlns:p14="http://schemas.microsoft.com/office/powerpoint/2010/main" val="12525501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Oval 2"/>
          <p:cNvSpPr>
            <a:spLocks noChangeArrowheads="1"/>
          </p:cNvSpPr>
          <p:nvPr/>
        </p:nvSpPr>
        <p:spPr bwMode="auto">
          <a:xfrm>
            <a:off x="2483645" y="2052640"/>
            <a:ext cx="6660356" cy="7653338"/>
          </a:xfrm>
          <a:prstGeom prst="ellipse">
            <a:avLst/>
          </a:prstGeom>
          <a:gradFill flip="none" rotWithShape="1">
            <a:gsLst>
              <a:gs pos="0">
                <a:srgbClr val="336699">
                  <a:gamma/>
                  <a:tint val="0"/>
                  <a:invGamma/>
                  <a:alpha val="75000"/>
                </a:srgbClr>
              </a:gs>
              <a:gs pos="100000">
                <a:srgbClr val="336699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1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Personnel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853443" name="Oval 3"/>
          <p:cNvSpPr>
            <a:spLocks noChangeArrowheads="1"/>
          </p:cNvSpPr>
          <p:nvPr/>
        </p:nvSpPr>
        <p:spPr bwMode="auto">
          <a:xfrm>
            <a:off x="9144000" y="2052640"/>
            <a:ext cx="6660357" cy="7653338"/>
          </a:xfrm>
          <a:prstGeom prst="ellipse">
            <a:avLst/>
          </a:prstGeom>
          <a:gradFill flip="none" rotWithShape="1">
            <a:gsLst>
              <a:gs pos="0">
                <a:srgbClr val="CC0000">
                  <a:gamma/>
                  <a:tint val="0"/>
                  <a:invGamma/>
                </a:srgbClr>
              </a:gs>
              <a:gs pos="100000">
                <a:srgbClr val="CC0000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2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Engineering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346158" y="3287267"/>
            <a:ext cx="3155156" cy="1585409"/>
            <a:chOff x="1891" y="1732"/>
            <a:chExt cx="1179" cy="592"/>
          </a:xfrm>
        </p:grpSpPr>
        <p:pic>
          <p:nvPicPr>
            <p:cNvPr id="1853445" name="Picture 5"/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891" y="1732"/>
              <a:ext cx="1179" cy="592"/>
            </a:xfrm>
            <a:prstGeom prst="rect">
              <a:avLst/>
            </a:prstGeom>
            <a:noFill/>
          </p:spPr>
        </p:pic>
        <p:sp>
          <p:nvSpPr>
            <p:cNvPr id="1853446" name="Text Box 6"/>
            <p:cNvSpPr txBox="1">
              <a:spLocks noChangeArrowheads="1"/>
            </p:cNvSpPr>
            <p:nvPr/>
          </p:nvSpPr>
          <p:spPr bwMode="auto">
            <a:xfrm>
              <a:off x="2289" y="1831"/>
              <a:ext cx="422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3906" tIns="76956" rIns="153906" bIns="76956">
              <a:spAutoFit/>
            </a:bodyPr>
            <a:lstStyle/>
            <a:p>
              <a:pPr algn="ctr" defTabSz="154067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2400">
                  <a:solidFill>
                    <a:srgbClr val="FFFFFF"/>
                  </a:solidFill>
                  <a:ea typeface="ヒラギノ角ゴ Pro W3" pitchFamily="16" charset="-128"/>
                  <a:cs typeface="Arial" charset="0"/>
                </a:rPr>
                <a:t>Switch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8229509" y="4406785"/>
            <a:ext cx="959645" cy="462087"/>
            <a:chOff x="2478" y="1474"/>
            <a:chExt cx="403" cy="549"/>
          </a:xfrm>
        </p:grpSpPr>
        <p:sp>
          <p:nvSpPr>
            <p:cNvPr id="1853448" name="Rectangle 8"/>
            <p:cNvSpPr>
              <a:spLocks noChangeArrowheads="1"/>
            </p:cNvSpPr>
            <p:nvPr/>
          </p:nvSpPr>
          <p:spPr bwMode="auto">
            <a:xfrm>
              <a:off x="2478" y="1475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2549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0" name="Rectangle 10"/>
            <p:cNvSpPr>
              <a:spLocks noChangeArrowheads="1"/>
            </p:cNvSpPr>
            <p:nvPr/>
          </p:nvSpPr>
          <p:spPr bwMode="auto">
            <a:xfrm>
              <a:off x="2621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1" name="Rectangle 11"/>
            <p:cNvSpPr>
              <a:spLocks noChangeArrowheads="1"/>
            </p:cNvSpPr>
            <p:nvPr/>
          </p:nvSpPr>
          <p:spPr bwMode="auto">
            <a:xfrm>
              <a:off x="2693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2767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3" name="Rectangle 13"/>
            <p:cNvSpPr>
              <a:spLocks noChangeArrowheads="1"/>
            </p:cNvSpPr>
            <p:nvPr/>
          </p:nvSpPr>
          <p:spPr bwMode="auto">
            <a:xfrm>
              <a:off x="2838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grpSp>
        <p:nvGrpSpPr>
          <p:cNvPr id="4" name="Group 14"/>
          <p:cNvGrpSpPr>
            <a:grpSpLocks/>
          </p:cNvGrpSpPr>
          <p:nvPr/>
        </p:nvGrpSpPr>
        <p:grpSpPr bwMode="auto">
          <a:xfrm>
            <a:off x="9277260" y="4408626"/>
            <a:ext cx="1143000" cy="463524"/>
            <a:chOff x="2912" y="1442"/>
            <a:chExt cx="480" cy="614"/>
          </a:xfrm>
        </p:grpSpPr>
        <p:sp>
          <p:nvSpPr>
            <p:cNvPr id="1853455" name="Rectangle 15"/>
            <p:cNvSpPr>
              <a:spLocks noChangeArrowheads="1"/>
            </p:cNvSpPr>
            <p:nvPr/>
          </p:nvSpPr>
          <p:spPr bwMode="auto">
            <a:xfrm>
              <a:off x="2985" y="1443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6" name="Rectangle 16"/>
            <p:cNvSpPr>
              <a:spLocks noChangeArrowheads="1"/>
            </p:cNvSpPr>
            <p:nvPr/>
          </p:nvSpPr>
          <p:spPr bwMode="auto">
            <a:xfrm>
              <a:off x="3058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7" name="Rectangle 17"/>
            <p:cNvSpPr>
              <a:spLocks noChangeArrowheads="1"/>
            </p:cNvSpPr>
            <p:nvPr/>
          </p:nvSpPr>
          <p:spPr bwMode="auto">
            <a:xfrm>
              <a:off x="3130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8" name="Rectangle 18"/>
            <p:cNvSpPr>
              <a:spLocks noChangeArrowheads="1"/>
            </p:cNvSpPr>
            <p:nvPr/>
          </p:nvSpPr>
          <p:spPr bwMode="auto">
            <a:xfrm>
              <a:off x="3204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9" name="Rectangle 19"/>
            <p:cNvSpPr>
              <a:spLocks noChangeArrowheads="1"/>
            </p:cNvSpPr>
            <p:nvPr/>
          </p:nvSpPr>
          <p:spPr bwMode="auto">
            <a:xfrm>
              <a:off x="3276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0" name="Rectangle 20"/>
            <p:cNvSpPr>
              <a:spLocks noChangeArrowheads="1"/>
            </p:cNvSpPr>
            <p:nvPr/>
          </p:nvSpPr>
          <p:spPr bwMode="auto">
            <a:xfrm>
              <a:off x="3349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1" name="Rectangle 21"/>
            <p:cNvSpPr>
              <a:spLocks noChangeArrowheads="1"/>
            </p:cNvSpPr>
            <p:nvPr/>
          </p:nvSpPr>
          <p:spPr bwMode="auto">
            <a:xfrm>
              <a:off x="2912" y="1442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sp>
        <p:nvSpPr>
          <p:cNvPr id="1853462" name="Line 22"/>
          <p:cNvSpPr>
            <a:spLocks noChangeShapeType="1"/>
          </p:cNvSpPr>
          <p:nvPr/>
        </p:nvSpPr>
        <p:spPr bwMode="auto">
          <a:xfrm flipH="1" flipV="1">
            <a:off x="9467849" y="4617244"/>
            <a:ext cx="476250" cy="14406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3" name="Line 23"/>
          <p:cNvSpPr>
            <a:spLocks noChangeShapeType="1"/>
          </p:cNvSpPr>
          <p:nvPr/>
        </p:nvSpPr>
        <p:spPr bwMode="auto">
          <a:xfrm flipH="1" flipV="1">
            <a:off x="9820274" y="4591051"/>
            <a:ext cx="1724025" cy="146684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4" name="Line 24"/>
          <p:cNvSpPr>
            <a:spLocks noChangeShapeType="1"/>
          </p:cNvSpPr>
          <p:nvPr/>
        </p:nvSpPr>
        <p:spPr bwMode="auto">
          <a:xfrm flipH="1" flipV="1">
            <a:off x="9989344" y="4579144"/>
            <a:ext cx="3383756" cy="14787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5" name="Line 25"/>
          <p:cNvSpPr>
            <a:spLocks noChangeShapeType="1"/>
          </p:cNvSpPr>
          <p:nvPr/>
        </p:nvSpPr>
        <p:spPr bwMode="auto">
          <a:xfrm flipH="1" flipV="1">
            <a:off x="10322719" y="4600576"/>
            <a:ext cx="4536281" cy="14573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66" name="Picture 26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297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7" name="Picture 27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6299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8" name="Picture 28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23444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9" name="Picture 2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3963390" y="5858008"/>
            <a:ext cx="1555841" cy="1276349"/>
          </a:xfrm>
          <a:prstGeom prst="rect">
            <a:avLst/>
          </a:prstGeom>
          <a:noFill/>
        </p:spPr>
      </p:pic>
      <p:sp>
        <p:nvSpPr>
          <p:cNvPr id="1853470" name="Text Box 30"/>
          <p:cNvSpPr txBox="1">
            <a:spLocks noChangeArrowheads="1"/>
          </p:cNvSpPr>
          <p:nvPr/>
        </p:nvSpPr>
        <p:spPr bwMode="auto">
          <a:xfrm>
            <a:off x="9720710" y="6100764"/>
            <a:ext cx="504836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71" name="Text Box 31"/>
          <p:cNvSpPr txBox="1">
            <a:spLocks noChangeArrowheads="1"/>
          </p:cNvSpPr>
          <p:nvPr/>
        </p:nvSpPr>
        <p:spPr bwMode="auto">
          <a:xfrm>
            <a:off x="11318105" y="6100764"/>
            <a:ext cx="493615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</a:t>
            </a:r>
          </a:p>
        </p:txBody>
      </p:sp>
      <p:sp>
        <p:nvSpPr>
          <p:cNvPr id="1853472" name="Text Box 32"/>
          <p:cNvSpPr txBox="1">
            <a:spLocks noChangeArrowheads="1"/>
          </p:cNvSpPr>
          <p:nvPr/>
        </p:nvSpPr>
        <p:spPr bwMode="auto">
          <a:xfrm>
            <a:off x="13031589" y="6100764"/>
            <a:ext cx="544912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G</a:t>
            </a:r>
          </a:p>
        </p:txBody>
      </p:sp>
      <p:sp>
        <p:nvSpPr>
          <p:cNvPr id="1853473" name="Text Box 33"/>
          <p:cNvSpPr txBox="1">
            <a:spLocks noChangeArrowheads="1"/>
          </p:cNvSpPr>
          <p:nvPr/>
        </p:nvSpPr>
        <p:spPr bwMode="auto">
          <a:xfrm>
            <a:off x="14673120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</a:t>
            </a: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type="title"/>
          </p:nvPr>
        </p:nvSpPr>
        <p:spPr>
          <a:xfrm>
            <a:off x="1030991" y="322658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LANs (VLANs)</a:t>
            </a:r>
          </a:p>
        </p:txBody>
      </p:sp>
      <p:sp>
        <p:nvSpPr>
          <p:cNvPr id="61" name="Slide Number Placeholder 60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1853475" name="Line 35"/>
          <p:cNvSpPr>
            <a:spLocks noChangeShapeType="1"/>
          </p:cNvSpPr>
          <p:nvPr/>
        </p:nvSpPr>
        <p:spPr bwMode="auto">
          <a:xfrm flipH="1">
            <a:off x="3314700" y="4600577"/>
            <a:ext cx="4926807" cy="15716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6" name="Line 36"/>
          <p:cNvSpPr>
            <a:spLocks noChangeShapeType="1"/>
          </p:cNvSpPr>
          <p:nvPr/>
        </p:nvSpPr>
        <p:spPr bwMode="auto">
          <a:xfrm flipH="1">
            <a:off x="5029199" y="4605339"/>
            <a:ext cx="3400425" cy="145256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7" name="Line 37"/>
          <p:cNvSpPr>
            <a:spLocks noChangeShapeType="1"/>
          </p:cNvSpPr>
          <p:nvPr/>
        </p:nvSpPr>
        <p:spPr bwMode="auto">
          <a:xfrm flipH="1">
            <a:off x="6857999" y="4583907"/>
            <a:ext cx="1728788" cy="14739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8" name="Line 38"/>
          <p:cNvSpPr>
            <a:spLocks noChangeShapeType="1"/>
          </p:cNvSpPr>
          <p:nvPr/>
        </p:nvSpPr>
        <p:spPr bwMode="auto">
          <a:xfrm flipH="1">
            <a:off x="8458199" y="4598194"/>
            <a:ext cx="654845" cy="145970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79" name="Picture 3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5146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0" name="Picture 40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981829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1" name="Picture 41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543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82" name="Text Box 42"/>
          <p:cNvSpPr txBox="1">
            <a:spLocks noChangeArrowheads="1"/>
          </p:cNvSpPr>
          <p:nvPr/>
        </p:nvSpPr>
        <p:spPr bwMode="auto">
          <a:xfrm>
            <a:off x="3200000" y="6100764"/>
            <a:ext cx="51605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</a:t>
            </a:r>
          </a:p>
        </p:txBody>
      </p:sp>
      <p:sp>
        <p:nvSpPr>
          <p:cNvPr id="1853483" name="Text Box 43"/>
          <p:cNvSpPr txBox="1">
            <a:spLocks noChangeArrowheads="1"/>
          </p:cNvSpPr>
          <p:nvPr/>
        </p:nvSpPr>
        <p:spPr bwMode="auto">
          <a:xfrm>
            <a:off x="6668013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</a:t>
            </a:r>
          </a:p>
        </p:txBody>
      </p:sp>
      <p:sp>
        <p:nvSpPr>
          <p:cNvPr id="1853484" name="Text Box 44"/>
          <p:cNvSpPr txBox="1">
            <a:spLocks noChangeArrowheads="1"/>
          </p:cNvSpPr>
          <p:nvPr/>
        </p:nvSpPr>
        <p:spPr bwMode="auto">
          <a:xfrm>
            <a:off x="8205645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</a:t>
            </a:r>
          </a:p>
        </p:txBody>
      </p:sp>
      <p:sp>
        <p:nvSpPr>
          <p:cNvPr id="1853494" name="Text Box 54"/>
          <p:cNvSpPr txBox="1">
            <a:spLocks noChangeArrowheads="1"/>
          </p:cNvSpPr>
          <p:nvPr/>
        </p:nvSpPr>
        <p:spPr bwMode="auto">
          <a:xfrm>
            <a:off x="6935428" y="9372601"/>
            <a:ext cx="4145687" cy="52322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28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Separates End Systems</a:t>
            </a:r>
          </a:p>
        </p:txBody>
      </p:sp>
      <p:pic>
        <p:nvPicPr>
          <p:cNvPr id="1853495" name="Picture 55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114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96" name="Text Box 56"/>
          <p:cNvSpPr txBox="1">
            <a:spLocks noChangeArrowheads="1"/>
          </p:cNvSpPr>
          <p:nvPr/>
        </p:nvSpPr>
        <p:spPr bwMode="auto">
          <a:xfrm>
            <a:off x="4794591" y="6100764"/>
            <a:ext cx="52727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</a:p>
        </p:txBody>
      </p:sp>
      <p:sp>
        <p:nvSpPr>
          <p:cNvPr id="1853497" name="Text Box 57"/>
          <p:cNvSpPr txBox="1">
            <a:spLocks noChangeArrowheads="1"/>
          </p:cNvSpPr>
          <p:nvPr/>
        </p:nvSpPr>
        <p:spPr bwMode="auto">
          <a:xfrm>
            <a:off x="3998120" y="6076952"/>
            <a:ext cx="2228850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8" name="Text Box 58"/>
          <p:cNvSpPr txBox="1">
            <a:spLocks noChangeArrowheads="1"/>
          </p:cNvSpPr>
          <p:nvPr/>
        </p:nvSpPr>
        <p:spPr bwMode="auto">
          <a:xfrm>
            <a:off x="3995738" y="6122195"/>
            <a:ext cx="217884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E</a:t>
            </a:r>
          </a:p>
        </p:txBody>
      </p:sp>
      <p:sp>
        <p:nvSpPr>
          <p:cNvPr id="1853499" name="Text Box 59"/>
          <p:cNvSpPr txBox="1">
            <a:spLocks noChangeArrowheads="1"/>
          </p:cNvSpPr>
          <p:nvPr/>
        </p:nvSpPr>
        <p:spPr bwMode="auto">
          <a:xfrm>
            <a:off x="3995738" y="6131720"/>
            <a:ext cx="2231232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500" name="Text Box 60"/>
          <p:cNvSpPr txBox="1">
            <a:spLocks noChangeArrowheads="1"/>
          </p:cNvSpPr>
          <p:nvPr/>
        </p:nvSpPr>
        <p:spPr bwMode="auto">
          <a:xfrm>
            <a:off x="3995738" y="6122195"/>
            <a:ext cx="212407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 B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85" name="Text Box 45"/>
          <p:cNvSpPr txBox="1">
            <a:spLocks noChangeArrowheads="1"/>
          </p:cNvSpPr>
          <p:nvPr/>
        </p:nvSpPr>
        <p:spPr bwMode="auto">
          <a:xfrm>
            <a:off x="7622383" y="3645695"/>
            <a:ext cx="2250281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6" name="Text Box 46"/>
          <p:cNvSpPr txBox="1">
            <a:spLocks noChangeArrowheads="1"/>
          </p:cNvSpPr>
          <p:nvPr/>
        </p:nvSpPr>
        <p:spPr bwMode="auto">
          <a:xfrm>
            <a:off x="7650957" y="3631408"/>
            <a:ext cx="2235993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7" name="Text Box 47"/>
          <p:cNvSpPr txBox="1">
            <a:spLocks noChangeArrowheads="1"/>
          </p:cNvSpPr>
          <p:nvPr/>
        </p:nvSpPr>
        <p:spPr bwMode="auto">
          <a:xfrm>
            <a:off x="7622382" y="3631408"/>
            <a:ext cx="226456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8" name="Text Box 48"/>
          <p:cNvSpPr txBox="1">
            <a:spLocks noChangeArrowheads="1"/>
          </p:cNvSpPr>
          <p:nvPr/>
        </p:nvSpPr>
        <p:spPr bwMode="auto">
          <a:xfrm>
            <a:off x="7650957" y="3602833"/>
            <a:ext cx="220741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9" name="Text Box 49"/>
          <p:cNvSpPr txBox="1">
            <a:spLocks noChangeArrowheads="1"/>
          </p:cNvSpPr>
          <p:nvPr/>
        </p:nvSpPr>
        <p:spPr bwMode="auto">
          <a:xfrm>
            <a:off x="7631908" y="3602833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0" name="Text Box 50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1" name="Text Box 51"/>
          <p:cNvSpPr txBox="1">
            <a:spLocks noChangeArrowheads="1"/>
          </p:cNvSpPr>
          <p:nvPr/>
        </p:nvSpPr>
        <p:spPr bwMode="auto">
          <a:xfrm>
            <a:off x="7631908" y="3588545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2" name="Text Box 52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93" name="Text Box 53"/>
          <p:cNvSpPr txBox="1">
            <a:spLocks noChangeArrowheads="1"/>
          </p:cNvSpPr>
          <p:nvPr/>
        </p:nvSpPr>
        <p:spPr bwMode="auto">
          <a:xfrm>
            <a:off x="7627145" y="3593308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All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6635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0"/>
                            </p:stCondLst>
                            <p:childTnLst>
                              <p:par>
                                <p:cTn id="1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49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42922 0.23907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29 -0.2427 L 0.59516 -0.003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18604 0.2448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659 0.244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341 0.23907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2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04836 0.244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3.33333E-6 L 0.05903 0.2449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0"/>
                            </p:stCondLst>
                            <p:childTnLst>
                              <p:par>
                                <p:cTn id="4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000"/>
                                        <p:tgtEl>
                                          <p:spTgt spid="1853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1853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000"/>
                                        <p:tgtEl>
                                          <p:spTgt spid="1853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2000"/>
                                        <p:tgtEl>
                                          <p:spTgt spid="1853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2000"/>
                                        <p:tgtEl>
                                          <p:spTgt spid="1853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1853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1853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00339 L 0.28335 -0.24687 L 0.34887 -0.00182 " pathEditMode="relative" rAng="0" ptsTypes="AAA">
                                      <p:cBhvr>
                                        <p:cTn id="75" dur="5000" fill="hold"/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0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000"/>
                            </p:stCondLst>
                            <p:childTnLst>
                              <p:par>
                                <p:cTn id="7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000"/>
                                        <p:tgtEl>
                                          <p:spTgt spid="1853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1853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000"/>
                            </p:stCondLst>
                            <p:childTnLst>
                              <p:par>
                                <p:cTn id="102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3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000"/>
                            </p:stCondLst>
                            <p:childTnLst>
                              <p:par>
                                <p:cTn id="10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4000"/>
                            </p:stCondLst>
                            <p:childTnLst>
                              <p:par>
                                <p:cTn id="110" presetID="49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705 -0.24141 L 0.23596 0.00469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00" y="12300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79 0.2390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00" y="12000"/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115" dur="2000" fill="hold"/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17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2000"/>
                                        <p:tgtEl>
                                          <p:spTgt spid="1853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" dur="2000"/>
                                        <p:tgtEl>
                                          <p:spTgt spid="1853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000"/>
                            </p:stCondLst>
                            <p:childTnLst>
                              <p:par>
                                <p:cTn id="132" presetID="56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09 0.00911 L 0.28627 -0.24193 " pathEditMode="relative" rAng="0" ptsTypes="AA">
                                      <p:cBhvr>
                                        <p:cTn id="133" dur="2000" fill="hold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4000"/>
                            </p:stCondLst>
                            <p:childTnLst>
                              <p:par>
                                <p:cTn id="135" presetID="35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72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3442" grpId="0" animBg="1"/>
      <p:bldP spid="1853443" grpId="0" animBg="1"/>
      <p:bldP spid="1853497" grpId="0" animBg="1"/>
      <p:bldP spid="1853497" grpId="1" animBg="1"/>
      <p:bldP spid="1853497" grpId="2" animBg="1"/>
      <p:bldP spid="1853497" grpId="3" animBg="1"/>
      <p:bldP spid="1853498" grpId="0" animBg="1"/>
      <p:bldP spid="1853498" grpId="1" animBg="1"/>
      <p:bldP spid="1853498" grpId="2" animBg="1"/>
      <p:bldP spid="1853499" grpId="0" animBg="1"/>
      <p:bldP spid="1853499" grpId="1" animBg="1"/>
      <p:bldP spid="1853499" grpId="2" animBg="1"/>
      <p:bldP spid="1853499" grpId="3" animBg="1"/>
      <p:bldP spid="1853500" grpId="0" animBg="1"/>
      <p:bldP spid="1853500" grpId="1" animBg="1"/>
      <p:bldP spid="1853500" grpId="2" animBg="1"/>
      <p:bldP spid="1853485" grpId="0" animBg="1"/>
      <p:bldP spid="1853485" grpId="1" animBg="1"/>
      <p:bldP spid="1853485" grpId="2" animBg="1"/>
      <p:bldP spid="1853486" grpId="0" animBg="1"/>
      <p:bldP spid="1853486" grpId="1" animBg="1"/>
      <p:bldP spid="1853486" grpId="2" animBg="1"/>
      <p:bldP spid="1853487" grpId="0" animBg="1"/>
      <p:bldP spid="1853487" grpId="1" animBg="1"/>
      <p:bldP spid="1853487" grpId="2" animBg="1"/>
      <p:bldP spid="1853488" grpId="0" animBg="1"/>
      <p:bldP spid="1853488" grpId="1" animBg="1"/>
      <p:bldP spid="1853488" grpId="2" animBg="1"/>
      <p:bldP spid="1853489" grpId="0" animBg="1"/>
      <p:bldP spid="1853489" grpId="1" animBg="1"/>
      <p:bldP spid="1853489" grpId="2" animBg="1"/>
      <p:bldP spid="1853490" grpId="0" animBg="1"/>
      <p:bldP spid="1853490" grpId="1" animBg="1"/>
      <p:bldP spid="1853490" grpId="2" animBg="1"/>
      <p:bldP spid="1853491" grpId="0" animBg="1"/>
      <p:bldP spid="1853491" grpId="1" animBg="1"/>
      <p:bldP spid="1853491" grpId="2" animBg="1"/>
      <p:bldP spid="1853492" grpId="0" animBg="1"/>
      <p:bldP spid="1853492" grpId="1" animBg="1"/>
      <p:bldP spid="1853492" grpId="2" animBg="1"/>
      <p:bldP spid="1853493" grpId="0" animBg="1"/>
      <p:bldP spid="1853493" grpId="1" animBg="1"/>
      <p:bldP spid="1853493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</a:t>
            </a:r>
          </a:p>
        </p:txBody>
      </p:sp>
      <p:sp>
        <p:nvSpPr>
          <p:cNvPr id="3941380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409073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ubiquitous as Ethernet in the LAN now</a:t>
            </a:r>
          </a:p>
          <a:p>
            <a:r>
              <a:rPr lang="en-US"/>
              <a:t>Part of IEEE 802.x family of LAN standards</a:t>
            </a:r>
          </a:p>
          <a:p>
            <a:r>
              <a:rPr lang="en-US"/>
              <a:t>802.11 is the IEEE name, but we just say Wi-Fi</a:t>
            </a:r>
          </a:p>
          <a:p>
            <a:r>
              <a:rPr lang="en-US"/>
              <a:t>The Wi-Fi Alliance is helping keep things simple</a:t>
            </a:r>
          </a:p>
          <a:p>
            <a:r>
              <a:rPr lang="en-US"/>
              <a:t>Theoretical speeds run to multi-gigabits, but the reality is usually slower</a:t>
            </a:r>
          </a:p>
          <a:p>
            <a:r>
              <a:rPr lang="en-US"/>
              <a:t>Huge variations in experience and </a:t>
            </a:r>
            <a:br>
              <a:rPr lang="en-US"/>
            </a:br>
            <a:r>
              <a:rPr lang="en-US"/>
              <a:t>management between vendors</a:t>
            </a:r>
          </a:p>
          <a:p>
            <a:r>
              <a:rPr lang="en-US"/>
              <a:t>Ethernet frame with Wi-Fi extras</a:t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040DF1C-D544-4A4C-B379-5D6EE17E9ACE}" type="slidenum">
              <a:rPr lang="en-US">
                <a:solidFill>
                  <a:schemeClr val="tx1"/>
                </a:solidFill>
              </a:rPr>
              <a:pPr/>
              <a:t>46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D5A7D9-FC13-9746-8D52-AAB70A423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0807" y="6113144"/>
            <a:ext cx="6029053" cy="3695226"/>
          </a:xfrm>
          <a:prstGeom prst="rect">
            <a:avLst/>
          </a:prstGeom>
        </p:spPr>
      </p:pic>
      <p:pic>
        <p:nvPicPr>
          <p:cNvPr id="1026" name="Picture 2" descr="Wi-Fi Alliance">
            <a:hlinkClick r:id="rId5"/>
            <a:extLst>
              <a:ext uri="{FF2B5EF4-FFF2-40B4-BE49-F238E27FC236}">
                <a16:creationId xmlns:a16="http://schemas.microsoft.com/office/drawing/2014/main" id="{54DBF548-057A-9546-B77D-02F2BE6A0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21271" y="2193131"/>
            <a:ext cx="2709429" cy="2197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338290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52A56B-F9C6-5659-ED36-D163D3B80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Wi-Fi Standards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B00A6-ED05-FB11-A68A-33FC17289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784" y="2749135"/>
            <a:ext cx="10521387" cy="655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30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Bands and Channels - 2.4 </a:t>
            </a:r>
            <a:r>
              <a:rPr lang="en-US" err="1"/>
              <a:t>Ghz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6D668A4-61BB-BDA3-B38B-A33E55E9C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993" y="2293636"/>
            <a:ext cx="13133554" cy="648101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554009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F68F8-D27F-4E7F-945A-9D3C4659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2.4 GHz Channel Reuse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4E8DCF-D9A3-460A-82AD-15ED7B71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49</a:t>
            </a:fld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FFFC4F-2E4C-DEB3-CED4-67203A084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632" y="1987067"/>
            <a:ext cx="11978758" cy="735370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23905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BC9E-22F8-B51B-CE5B-351E8F4CE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Set Identifier (SSID)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1A340-BF58-3087-A287-6AD522C95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070001" cy="6967198"/>
          </a:xfrm>
        </p:spPr>
        <p:txBody>
          <a:bodyPr/>
          <a:lstStyle/>
          <a:p>
            <a:r>
              <a:rPr lang="en-US" dirty="0"/>
              <a:t>Sometimes referred to as Wi-Fi “Network Name”</a:t>
            </a:r>
          </a:p>
          <a:p>
            <a:r>
              <a:rPr lang="en-US" dirty="0"/>
              <a:t>Clients connect to a specific SSID</a:t>
            </a:r>
          </a:p>
          <a:p>
            <a:r>
              <a:rPr lang="en-US" dirty="0"/>
              <a:t>Multiple SSIDs may exist in Wi-Fi channel</a:t>
            </a:r>
          </a:p>
          <a:p>
            <a:pPr lvl="1"/>
            <a:r>
              <a:rPr lang="en-US" dirty="0"/>
              <a:t>Used to create multiple logical networks</a:t>
            </a:r>
          </a:p>
          <a:p>
            <a:pPr lvl="2"/>
            <a:r>
              <a:rPr lang="en-US" i="1" dirty="0">
                <a:solidFill>
                  <a:srgbClr val="FF0000"/>
                </a:solidFill>
              </a:rPr>
              <a:t>FDIC CU </a:t>
            </a:r>
            <a:r>
              <a:rPr lang="en-US" dirty="0"/>
              <a:t>and </a:t>
            </a:r>
            <a:r>
              <a:rPr lang="en-US" i="1" dirty="0">
                <a:solidFill>
                  <a:srgbClr val="FF0000"/>
                </a:solidFill>
              </a:rPr>
              <a:t>FDIC Guest </a:t>
            </a:r>
            <a:r>
              <a:rPr lang="en-US" dirty="0"/>
              <a:t>being good examples</a:t>
            </a:r>
          </a:p>
          <a:p>
            <a:r>
              <a:rPr lang="en-US" dirty="0"/>
              <a:t>AP broadcasts name so devices can join</a:t>
            </a:r>
          </a:p>
          <a:p>
            <a:r>
              <a:rPr lang="en-US" dirty="0"/>
              <a:t>Like VLAN concept with client required to </a:t>
            </a:r>
            <a:r>
              <a:rPr lang="en-US" i="1" dirty="0"/>
              <a:t>join</a:t>
            </a:r>
            <a:endParaRPr lang="en-US" dirty="0"/>
          </a:p>
          <a:p>
            <a:r>
              <a:rPr lang="en-US" dirty="0"/>
              <a:t>Sometimes an SSID may not be broadcast to </a:t>
            </a:r>
            <a:r>
              <a:rPr lang="en-US" i="1" dirty="0"/>
              <a:t>hide</a:t>
            </a:r>
            <a:r>
              <a:rPr lang="en-US" dirty="0"/>
              <a:t> the network</a:t>
            </a:r>
          </a:p>
          <a:p>
            <a:pPr lvl="1"/>
            <a:r>
              <a:rPr lang="en-US" dirty="0"/>
              <a:t>This is almost always a bad idea and adds no security</a:t>
            </a:r>
          </a:p>
        </p:txBody>
      </p:sp>
    </p:spTree>
    <p:extLst>
      <p:ext uri="{BB962C8B-B14F-4D97-AF65-F5344CB8AC3E}">
        <p14:creationId xmlns:p14="http://schemas.microsoft.com/office/powerpoint/2010/main" val="40494633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75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802.11 Security Issues</a:t>
            </a:r>
          </a:p>
        </p:txBody>
      </p:sp>
      <p:sp>
        <p:nvSpPr>
          <p:cNvPr id="3947524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Unbounded nature of the medium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The signal travels all over!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Need for encryption and authentication</a:t>
            </a:r>
          </a:p>
          <a:p>
            <a:pPr>
              <a:lnSpc>
                <a:spcPct val="90000"/>
              </a:lnSpc>
            </a:pPr>
            <a:r>
              <a:rPr lang="en-US" dirty="0"/>
              <a:t>Original goal to be “equivalent” to wired LAN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Service set identifiers broadcast by access point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Wired equivalent privacy (WEP)</a:t>
            </a:r>
          </a:p>
          <a:p>
            <a:pPr lvl="2"/>
            <a:r>
              <a:rPr lang="en-US" dirty="0"/>
              <a:t>First attempt at Wi-Fi “security”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Turned off by default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No user authentication (MAC address only)</a:t>
            </a:r>
          </a:p>
          <a:p>
            <a:pPr>
              <a:lnSpc>
                <a:spcPct val="90000"/>
              </a:lnSpc>
            </a:pPr>
            <a:r>
              <a:rPr lang="en-US" dirty="0"/>
              <a:t>WEP problems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64-bit RC4 encryption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24-bit known initialization vector (IV) plus 40-bit secret key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RC4 itself considered relatively weak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 key distribution system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All nodes share same key</a:t>
            </a:r>
          </a:p>
          <a:p>
            <a:pPr lvl="1"/>
            <a:r>
              <a:rPr lang="en-US" dirty="0"/>
              <a:t>No longer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4093CF0-D029-4A89-9675-F35517D5144F}" type="slidenum">
              <a:rPr lang="en-US">
                <a:solidFill>
                  <a:schemeClr val="tx1"/>
                </a:solidFill>
              </a:rPr>
              <a:pPr/>
              <a:t>51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0722" name="Picture 2" descr="view detail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15900" y="3175228"/>
            <a:ext cx="4114800" cy="41148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52429635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95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Protected Access (WPA3)</a:t>
            </a:r>
          </a:p>
        </p:txBody>
      </p:sp>
      <p:sp>
        <p:nvSpPr>
          <p:cNvPr id="3949572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7272" cy="696719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Ratified by the Wi-Fi Alliance in 2018 to replace WPA2</a:t>
            </a:r>
          </a:p>
          <a:p>
            <a:pPr>
              <a:lnSpc>
                <a:spcPct val="90000"/>
              </a:lnSpc>
            </a:pPr>
            <a:r>
              <a:rPr lang="en-US" dirty="0"/>
              <a:t>SAE replaces WPA2's pre-shared key handshake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A captured handshake can't be cracked offline by guessing passwords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Forward secrecy: a stolen password doesn't unlock past sessions</a:t>
            </a:r>
          </a:p>
          <a:p>
            <a:pPr>
              <a:lnSpc>
                <a:spcPct val="90000"/>
              </a:lnSpc>
            </a:pPr>
            <a:r>
              <a:rPr lang="en-US" dirty="0"/>
              <a:t>Protected management frames required, blocking easy “kick-off” attacks</a:t>
            </a:r>
          </a:p>
          <a:p>
            <a:pPr>
              <a:lnSpc>
                <a:spcPct val="90000"/>
              </a:lnSpc>
            </a:pPr>
            <a:r>
              <a:rPr lang="en-US" dirty="0"/>
              <a:t>WPA3-Enterprise uses an 802.1X authentication server, with an optional 192-bit mode</a:t>
            </a:r>
          </a:p>
          <a:p>
            <a:pPr>
              <a:lnSpc>
                <a:spcPct val="90000"/>
              </a:lnSpc>
            </a:pPr>
            <a:r>
              <a:rPr lang="en-US" dirty="0"/>
              <a:t>Required on 6 GHz (Wi-Fi 6E and Wi-Fi 7)</a:t>
            </a:r>
          </a:p>
          <a:p>
            <a:pPr>
              <a:lnSpc>
                <a:spcPct val="90000"/>
              </a:lnSpc>
            </a:pPr>
            <a:r>
              <a:rPr lang="en-US" dirty="0"/>
              <a:t>Companion: Enhanced Open encrypts guest Wi-Fi, no password</a:t>
            </a:r>
          </a:p>
          <a:p>
            <a:pPr>
              <a:lnSpc>
                <a:spcPct val="90000"/>
              </a:lnSpc>
            </a:pPr>
            <a:r>
              <a:rPr lang="en-US" dirty="0"/>
              <a:t>Mixed “transition mode” keeps WPA2's weaknesses</a:t>
            </a:r>
          </a:p>
          <a:p>
            <a:pPr>
              <a:lnSpc>
                <a:spcPct val="90000"/>
              </a:lnSpc>
            </a:pPr>
            <a:endParaRPr lang="en-US" sz="3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F11832F7-1B1F-4395-9233-D570030BBC51}" type="slidenum">
              <a:rPr lang="en-US">
                <a:solidFill>
                  <a:schemeClr val="tx1"/>
                </a:solidFill>
              </a:rPr>
              <a:pPr/>
              <a:t>52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2602D6-7578-C741-88E1-B5E402FB37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3172" y="7752115"/>
            <a:ext cx="2171700" cy="129326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884154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9993-6A39-C880-6224-3B3E1AB8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Now We Have 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7C7FA-D54D-13AC-85A7-44757FC97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LANs provide links between devices within a network</a:t>
            </a:r>
          </a:p>
          <a:p>
            <a:r>
              <a:rPr lang="en-US" dirty="0"/>
              <a:t>What makes the network a network?</a:t>
            </a:r>
          </a:p>
          <a:p>
            <a:pPr lvl="1"/>
            <a:r>
              <a:rPr lang="en-US" dirty="0"/>
              <a:t>Common link</a:t>
            </a:r>
          </a:p>
          <a:p>
            <a:pPr lvl="1"/>
            <a:r>
              <a:rPr lang="en-US" dirty="0"/>
              <a:t>Assigned block of network addresses (IP)</a:t>
            </a:r>
          </a:p>
          <a:p>
            <a:r>
              <a:rPr lang="en-US" dirty="0"/>
              <a:t>Connecting to devices (applications) outside of the network needs a gateway (router) between networks </a:t>
            </a:r>
          </a:p>
          <a:p>
            <a:r>
              <a:rPr lang="en-US" dirty="0"/>
              <a:t>Connections within the same network need a way to identify the LAN address of the destination</a:t>
            </a:r>
          </a:p>
          <a:p>
            <a:r>
              <a:rPr lang="en-US" dirty="0"/>
              <a:t>IP and associated protocols create networks and ways to interconnect them</a:t>
            </a:r>
          </a:p>
        </p:txBody>
      </p:sp>
    </p:spTree>
    <p:extLst>
      <p:ext uri="{BB962C8B-B14F-4D97-AF65-F5344CB8AC3E}">
        <p14:creationId xmlns:p14="http://schemas.microsoft.com/office/powerpoint/2010/main" val="2236890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Exercise 1: Annotate the LAN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9248C-E5D8-153C-A4D3-B3F8D8205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Your table will receive a bank network diagram</a:t>
            </a:r>
          </a:p>
          <a:p>
            <a:r>
              <a:rPr lang="en-US" dirty="0"/>
              <a:t>First problem: Find the LAN(s)</a:t>
            </a:r>
          </a:p>
          <a:p>
            <a:r>
              <a:rPr lang="en-US" dirty="0"/>
              <a:t>Annotate your diagram thus:</a:t>
            </a:r>
          </a:p>
          <a:p>
            <a:pPr lvl="1"/>
            <a:r>
              <a:rPr lang="en-US" dirty="0"/>
              <a:t>Circle each LAN in green</a:t>
            </a:r>
          </a:p>
          <a:p>
            <a:pPr lvl="1"/>
            <a:r>
              <a:rPr lang="en-US" dirty="0"/>
              <a:t>Trace Ethernets in blue</a:t>
            </a:r>
          </a:p>
          <a:p>
            <a:pPr lvl="1"/>
            <a:r>
              <a:rPr lang="en-US" dirty="0"/>
              <a:t>Mark Wi-Fi with a blue X</a:t>
            </a:r>
          </a:p>
          <a:p>
            <a:pPr lvl="1"/>
            <a:r>
              <a:rPr lang="en-US" dirty="0"/>
              <a:t>All network exits get a red box</a:t>
            </a:r>
          </a:p>
          <a:p>
            <a:pPr lvl="1"/>
            <a:r>
              <a:rPr lang="en-US" dirty="0"/>
              <a:t>Question marks for anything weird</a:t>
            </a:r>
          </a:p>
          <a:p>
            <a:r>
              <a:rPr lang="en-US" dirty="0"/>
              <a:t>We’re not trying to be perfect. We’re trying to give us something to think and talk about.</a:t>
            </a:r>
          </a:p>
          <a:p>
            <a:r>
              <a:rPr lang="en-US" dirty="0"/>
              <a:t>We’ll be using this diagram later in the week, too.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dirty="0" err="1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InTREx</a:t>
            </a:r>
            <a:r>
              <a:rPr sz="6600" b="1" dirty="0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 Tie-In: Wireless Networks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  Does the institution have a wireless network?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35254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297680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91947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864608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Stand-alone guest network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486400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431536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internal network</a:t>
            </a:r>
          </a:p>
        </p:txBody>
      </p:sp>
      <p:pic>
        <p:nvPicPr>
          <p:cNvPr id="13" name="Wi-Fi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6700" y="4434840"/>
            <a:ext cx="914400" cy="914400"/>
          </a:xfrm>
          <a:prstGeom prst="rect">
            <a:avLst/>
          </a:prstGeom>
        </p:spPr>
      </p:pic>
      <p:sp>
        <p:nvSpPr>
          <p:cNvPr id="14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6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Appropriately segment guest wireless networks from the internal network and accurately depict on the network topology diagram.</a:t>
            </a:r>
          </a:p>
        </p:txBody>
      </p:sp>
      <p:sp>
        <p:nvSpPr>
          <p:cNvPr id="17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guest wireless networks</a:t>
            </a:r>
          </a:p>
        </p:txBody>
      </p:sp>
      <p:sp>
        <p:nvSpPr>
          <p:cNvPr id="18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Did your diagram show it?</a:t>
            </a:r>
          </a:p>
        </p:txBody>
      </p:sp>
      <p:sp>
        <p:nvSpPr>
          <p:cNvPr id="19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4 leads</a:t>
            </a:r>
          </a:p>
        </p:txBody>
      </p:sp>
      <p:sp>
        <p:nvSpPr>
          <p:cNvPr id="20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architecture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Segmentation, with wireless named, and documentation of the network topology</a:t>
            </a:r>
          </a:p>
        </p:txBody>
      </p:sp>
      <p:sp>
        <p:nvSpPr>
          <p:cNvPr id="22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wireless configuration and monitoring are appropriate</a:t>
            </a:r>
          </a:p>
        </p:txBody>
      </p:sp>
      <p:sp>
        <p:nvSpPr>
          <p:cNvPr id="24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strong encryption for Wi-Fi authentication and transmission</a:t>
            </a:r>
          </a:p>
        </p:txBody>
      </p:sp>
      <p:sp>
        <p:nvSpPr>
          <p:cNvPr id="26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expanded analysis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Management approval, minimum standards, periodic testing, guest-network controls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30256943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Could Go Wrong on a LAN?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50FDC5-5087-1EDA-9D40-5E7507BA0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Anyone who plugs in is “in”</a:t>
            </a:r>
          </a:p>
          <a:p>
            <a:r>
              <a:rPr lang="en-US" dirty="0"/>
              <a:t>Networks are often flat and undivided</a:t>
            </a:r>
          </a:p>
          <a:p>
            <a:r>
              <a:rPr lang="en-US" dirty="0"/>
              <a:t>IoT means lots of potential unknown devices</a:t>
            </a:r>
          </a:p>
          <a:p>
            <a:r>
              <a:rPr lang="en-US" dirty="0"/>
              <a:t>Weak Wi-Fi security, passwords, encryption</a:t>
            </a:r>
          </a:p>
          <a:p>
            <a:r>
              <a:rPr lang="en-US" dirty="0"/>
              <a:t>Single points of failure that are hard to find</a:t>
            </a:r>
          </a:p>
          <a:p>
            <a:r>
              <a:rPr lang="en-US" dirty="0"/>
              <a:t>What do you see on your Ex 1 diagram that fits?</a:t>
            </a:r>
          </a:p>
          <a:p>
            <a:endParaRPr lang="en-US" dirty="0"/>
          </a:p>
          <a:p>
            <a:r>
              <a:rPr lang="en-US" dirty="0"/>
              <a:t>There are good controls available for most of this</a:t>
            </a:r>
          </a:p>
          <a:p>
            <a:r>
              <a:rPr lang="en-US" dirty="0"/>
              <a:t>Question is, have they been applied?</a:t>
            </a:r>
          </a:p>
        </p:txBody>
      </p:sp>
      <p:pic>
        <p:nvPicPr>
          <p:cNvPr id="4" name="Picture 3" descr="A close up of a cable&#10;&#10;AI-generated content may be incorrect.">
            <a:extLst>
              <a:ext uri="{FF2B5EF4-FFF2-40B4-BE49-F238E27FC236}">
                <a16:creationId xmlns:a16="http://schemas.microsoft.com/office/drawing/2014/main" id="{F95D8F9B-B365-3372-2A80-5B45E8480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7832" y="683023"/>
            <a:ext cx="3733800" cy="4673600"/>
          </a:xfrm>
          <a:prstGeom prst="rect">
            <a:avLst/>
          </a:prstGeom>
        </p:spPr>
      </p:pic>
      <p:pic>
        <p:nvPicPr>
          <p:cNvPr id="6" name="Picture 5" descr="A bunch of white wires&#10;&#10;AI-generated content may be incorrect.">
            <a:extLst>
              <a:ext uri="{FF2B5EF4-FFF2-40B4-BE49-F238E27FC236}">
                <a16:creationId xmlns:a16="http://schemas.microsoft.com/office/drawing/2014/main" id="{4087A91B-377A-4CAE-B541-0D4E4FFF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7832" y="4693718"/>
            <a:ext cx="3910206" cy="4466611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6: WANs </a:t>
            </a:r>
            <a:r>
              <a:rPr lang="en-US" dirty="0"/>
              <a:t>in Depth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BBAC9-64BA-C7EF-6810-FC1EDC1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Bank Branch Connection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74DF60-3C3C-8D67-6F47-1D601AE4D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Branches need to access applications </a:t>
            </a:r>
          </a:p>
          <a:p>
            <a:pPr lvl="1"/>
            <a:r>
              <a:rPr lang="en-US"/>
              <a:t>Internal applications at the datacenter</a:t>
            </a:r>
          </a:p>
          <a:p>
            <a:pPr lvl="1"/>
            <a:r>
              <a:rPr lang="en-US"/>
              <a:t>Core applications at a service provider</a:t>
            </a:r>
          </a:p>
          <a:p>
            <a:pPr lvl="1"/>
            <a:r>
              <a:rPr lang="en-US"/>
              <a:t>Cloud applications at a cloud datacenter</a:t>
            </a:r>
          </a:p>
          <a:p>
            <a:r>
              <a:rPr lang="en-US"/>
              <a:t>Common network architecture uses private network connection to the internal datacenter for all traffic</a:t>
            </a:r>
          </a:p>
          <a:p>
            <a:r>
              <a:rPr lang="en-US"/>
              <a:t>We have a variety of options for the connection</a:t>
            </a:r>
          </a:p>
          <a:p>
            <a:pPr lvl="1"/>
            <a:r>
              <a:rPr lang="en-US"/>
              <a:t>Private Line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pPr lvl="1"/>
            <a:r>
              <a:rPr lang="en-US"/>
              <a:t>VPN</a:t>
            </a:r>
          </a:p>
        </p:txBody>
      </p:sp>
    </p:spTree>
    <p:extLst>
      <p:ext uri="{BB962C8B-B14F-4D97-AF65-F5344CB8AC3E}">
        <p14:creationId xmlns:p14="http://schemas.microsoft.com/office/powerpoint/2010/main" val="40417939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87B6-2B14-8FF0-ADE8-FA9097000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82D2C-0D1A-0CA7-9832-A3AE9AB42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Dedicated physical connection or bandwidth between sites or as access to carrier service</a:t>
            </a:r>
          </a:p>
          <a:p>
            <a:r>
              <a:rPr lang="en-US"/>
              <a:t>Old school technology, such as T1, were originally designed for the public voice network</a:t>
            </a:r>
          </a:p>
          <a:p>
            <a:r>
              <a:rPr lang="en-US"/>
              <a:t>Most private connections today are optical fiber Ethernet connections to other services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r>
              <a:rPr lang="en-US"/>
              <a:t>Carriers are investing heavily in expanding their fiber footprint</a:t>
            </a:r>
          </a:p>
          <a:p>
            <a:r>
              <a:rPr lang="en-US"/>
              <a:t>Private wireless networks are an option in come cases</a:t>
            </a:r>
          </a:p>
        </p:txBody>
      </p:sp>
    </p:spTree>
    <p:extLst>
      <p:ext uri="{BB962C8B-B14F-4D97-AF65-F5344CB8AC3E}">
        <p14:creationId xmlns:p14="http://schemas.microsoft.com/office/powerpoint/2010/main" val="11534382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AAB33-3825-BF8A-81E7-5941254E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E8F14-2277-4DD4-610C-FE2CEB38B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Ethernet has expanded from the LAN to the WAN</a:t>
            </a:r>
          </a:p>
          <a:p>
            <a:pPr lvl="1"/>
            <a:r>
              <a:rPr lang="en-US" dirty="0"/>
              <a:t>This is strange but true, hold on, we’re getting there</a:t>
            </a:r>
          </a:p>
          <a:p>
            <a:r>
              <a:rPr lang="en-US" dirty="0"/>
              <a:t>Optical fiber is the medium of choice</a:t>
            </a:r>
          </a:p>
          <a:p>
            <a:r>
              <a:rPr lang="en-US" dirty="0"/>
              <a:t>Dedicated fibers frequently used for business services</a:t>
            </a:r>
          </a:p>
          <a:p>
            <a:pPr lvl="1"/>
            <a:r>
              <a:rPr lang="en-US" dirty="0"/>
              <a:t>MPLS</a:t>
            </a:r>
          </a:p>
          <a:p>
            <a:pPr lvl="1"/>
            <a:r>
              <a:rPr lang="en-US" dirty="0"/>
              <a:t>Carrier Ethernet</a:t>
            </a:r>
          </a:p>
          <a:p>
            <a:pPr lvl="1"/>
            <a:r>
              <a:rPr lang="en-US" dirty="0"/>
              <a:t>Internet access</a:t>
            </a:r>
          </a:p>
          <a:p>
            <a:r>
              <a:rPr lang="en-US" dirty="0"/>
              <a:t>Shared access offers lower cost option based on Passive Optical Networking (PON) technology </a:t>
            </a:r>
          </a:p>
          <a:p>
            <a:pPr lvl="1"/>
            <a:r>
              <a:rPr lang="en-US" dirty="0"/>
              <a:t>Originally used for home services</a:t>
            </a:r>
          </a:p>
          <a:p>
            <a:pPr lvl="1"/>
            <a:r>
              <a:rPr lang="en-US" dirty="0"/>
              <a:t>Cost effective approach for business internet access</a:t>
            </a:r>
          </a:p>
        </p:txBody>
      </p:sp>
    </p:spTree>
    <p:extLst>
      <p:ext uri="{BB962C8B-B14F-4D97-AF65-F5344CB8AC3E}">
        <p14:creationId xmlns:p14="http://schemas.microsoft.com/office/powerpoint/2010/main" val="30400544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Passive Optical Network (PON) Access</a:t>
            </a:r>
          </a:p>
        </p:txBody>
      </p:sp>
      <p:pic>
        <p:nvPicPr>
          <p:cNvPr id="3" name="Provid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7280" y="3794759"/>
            <a:ext cx="1280160" cy="1280160"/>
          </a:xfrm>
          <a:prstGeom prst="rect">
            <a:avLst/>
          </a:prstGeom>
        </p:spPr>
      </p:pic>
      <p:sp>
        <p:nvSpPr>
          <p:cNvPr id="4" name="Provider label"/>
          <p:cNvSpPr txBox="1"/>
          <p:nvPr/>
        </p:nvSpPr>
        <p:spPr>
          <a:xfrm>
            <a:off x="548640" y="51663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central office</a:t>
            </a:r>
          </a:p>
        </p:txBody>
      </p:sp>
      <p:sp>
        <p:nvSpPr>
          <p:cNvPr id="5" name="OLT"/>
          <p:cNvSpPr/>
          <p:nvPr/>
        </p:nvSpPr>
        <p:spPr>
          <a:xfrm>
            <a:off x="3017520" y="4206240"/>
            <a:ext cx="1371600" cy="7315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OLT</a:t>
            </a:r>
          </a:p>
        </p:txBody>
      </p:sp>
      <p:cxnSp>
        <p:nvCxnSpPr>
          <p:cNvPr id="6" name="Feeder fiber"/>
          <p:cNvCxnSpPr/>
          <p:nvPr/>
        </p:nvCxnSpPr>
        <p:spPr>
          <a:xfrm>
            <a:off x="4389120" y="4572000"/>
            <a:ext cx="3611880" cy="0"/>
          </a:xfrm>
          <a:prstGeom prst="line">
            <a:avLst/>
          </a:prstGeom>
          <a:ln w="571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eeder label"/>
          <p:cNvSpPr txBox="1"/>
          <p:nvPr/>
        </p:nvSpPr>
        <p:spPr>
          <a:xfrm>
            <a:off x="4480560" y="38862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One shared fiber</a:t>
            </a:r>
          </a:p>
        </p:txBody>
      </p:sp>
      <p:sp>
        <p:nvSpPr>
          <p:cNvPr id="8" name="Distance label"/>
          <p:cNvSpPr txBox="1"/>
          <p:nvPr/>
        </p:nvSpPr>
        <p:spPr>
          <a:xfrm>
            <a:off x="4480560" y="475488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up to about 20 km</a:t>
            </a:r>
          </a:p>
        </p:txBody>
      </p:sp>
      <p:sp>
        <p:nvSpPr>
          <p:cNvPr id="9" name="Splitter"/>
          <p:cNvSpPr/>
          <p:nvPr/>
        </p:nvSpPr>
        <p:spPr>
          <a:xfrm rot="16200000">
            <a:off x="8001000" y="4023360"/>
            <a:ext cx="1097280" cy="1097280"/>
          </a:xfrm>
          <a:prstGeom prst="triangle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Splitter label"/>
          <p:cNvSpPr txBox="1"/>
          <p:nvPr/>
        </p:nvSpPr>
        <p:spPr>
          <a:xfrm>
            <a:off x="7086600" y="52578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Passive splitter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power in the field</a:t>
            </a:r>
          </a:p>
        </p:txBody>
      </p:sp>
      <p:cxnSp>
        <p:nvCxnSpPr>
          <p:cNvPr id="11" name="Drop fiber Bank branch"/>
          <p:cNvCxnSpPr/>
          <p:nvPr/>
        </p:nvCxnSpPr>
        <p:spPr>
          <a:xfrm flipV="1">
            <a:off x="9098280" y="3017520"/>
            <a:ext cx="2788920" cy="15544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NT Bank branch"/>
          <p:cNvSpPr/>
          <p:nvPr/>
        </p:nvSpPr>
        <p:spPr>
          <a:xfrm>
            <a:off x="11887200" y="274320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3" name="Ethernet Bank branch"/>
          <p:cNvCxnSpPr/>
          <p:nvPr/>
        </p:nvCxnSpPr>
        <p:spPr>
          <a:xfrm>
            <a:off x="12984480" y="301752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con Bank branc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78840" y="2606039"/>
            <a:ext cx="822960" cy="822960"/>
          </a:xfrm>
          <a:prstGeom prst="rect">
            <a:avLst/>
          </a:prstGeom>
        </p:spPr>
      </p:pic>
      <p:sp>
        <p:nvSpPr>
          <p:cNvPr id="15" name="Label Bank branch"/>
          <p:cNvSpPr txBox="1"/>
          <p:nvPr/>
        </p:nvSpPr>
        <p:spPr>
          <a:xfrm>
            <a:off x="14584680" y="27889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</p:txBody>
      </p:sp>
      <p:cxnSp>
        <p:nvCxnSpPr>
          <p:cNvPr id="16" name="Drop fiber Homes"/>
          <p:cNvCxnSpPr/>
          <p:nvPr/>
        </p:nvCxnSpPr>
        <p:spPr>
          <a:xfrm flipV="1">
            <a:off x="9098280" y="4069080"/>
            <a:ext cx="2788920" cy="50292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NT Homes"/>
          <p:cNvSpPr/>
          <p:nvPr/>
        </p:nvSpPr>
        <p:spPr>
          <a:xfrm>
            <a:off x="11887200" y="379476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8" name="Ethernet Homes"/>
          <p:cNvCxnSpPr/>
          <p:nvPr/>
        </p:nvCxnSpPr>
        <p:spPr>
          <a:xfrm>
            <a:off x="12984480" y="406908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Icon Homes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578840" y="3657600"/>
            <a:ext cx="822960" cy="822960"/>
          </a:xfrm>
          <a:prstGeom prst="rect">
            <a:avLst/>
          </a:prstGeom>
        </p:spPr>
      </p:pic>
      <p:sp>
        <p:nvSpPr>
          <p:cNvPr id="20" name="Label Homes"/>
          <p:cNvSpPr txBox="1"/>
          <p:nvPr/>
        </p:nvSpPr>
        <p:spPr>
          <a:xfrm>
            <a:off x="14584680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Homes</a:t>
            </a:r>
          </a:p>
        </p:txBody>
      </p:sp>
      <p:cxnSp>
        <p:nvCxnSpPr>
          <p:cNvPr id="21" name="Drop fiber Shops"/>
          <p:cNvCxnSpPr/>
          <p:nvPr/>
        </p:nvCxnSpPr>
        <p:spPr>
          <a:xfrm>
            <a:off x="9098280" y="4572000"/>
            <a:ext cx="2788920" cy="5486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NT Shops"/>
          <p:cNvSpPr/>
          <p:nvPr/>
        </p:nvSpPr>
        <p:spPr>
          <a:xfrm>
            <a:off x="11887200" y="484632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3" name="Ethernet Shops"/>
          <p:cNvCxnSpPr/>
          <p:nvPr/>
        </p:nvCxnSpPr>
        <p:spPr>
          <a:xfrm>
            <a:off x="12984480" y="512064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Icon Shops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578840" y="4709159"/>
            <a:ext cx="822960" cy="822960"/>
          </a:xfrm>
          <a:prstGeom prst="rect">
            <a:avLst/>
          </a:prstGeom>
        </p:spPr>
      </p:pic>
      <p:sp>
        <p:nvSpPr>
          <p:cNvPr id="25" name="Label Shops"/>
          <p:cNvSpPr txBox="1"/>
          <p:nvPr/>
        </p:nvSpPr>
        <p:spPr>
          <a:xfrm>
            <a:off x="14584680" y="4892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Shops</a:t>
            </a:r>
          </a:p>
        </p:txBody>
      </p:sp>
      <p:cxnSp>
        <p:nvCxnSpPr>
          <p:cNvPr id="26" name="Drop fiber Businesses"/>
          <p:cNvCxnSpPr/>
          <p:nvPr/>
        </p:nvCxnSpPr>
        <p:spPr>
          <a:xfrm>
            <a:off x="9098280" y="4572000"/>
            <a:ext cx="2788920" cy="160020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NT Businesses"/>
          <p:cNvSpPr/>
          <p:nvPr/>
        </p:nvSpPr>
        <p:spPr>
          <a:xfrm>
            <a:off x="11887200" y="589788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8" name="Ethernet Businesses"/>
          <p:cNvCxnSpPr/>
          <p:nvPr/>
        </p:nvCxnSpPr>
        <p:spPr>
          <a:xfrm>
            <a:off x="12984480" y="617220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Icon Businesses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578840" y="5760720"/>
            <a:ext cx="822960" cy="822960"/>
          </a:xfrm>
          <a:prstGeom prst="rect">
            <a:avLst/>
          </a:prstGeom>
        </p:spPr>
      </p:pic>
      <p:sp>
        <p:nvSpPr>
          <p:cNvPr id="30" name="Label Businesses"/>
          <p:cNvSpPr txBox="1"/>
          <p:nvPr/>
        </p:nvSpPr>
        <p:spPr>
          <a:xfrm>
            <a:off x="14584680" y="59436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Businesses</a:t>
            </a:r>
          </a:p>
        </p:txBody>
      </p:sp>
      <p:sp>
        <p:nvSpPr>
          <p:cNvPr id="31" name="Split ratio"/>
          <p:cNvSpPr txBox="1"/>
          <p:nvPr/>
        </p:nvSpPr>
        <p:spPr>
          <a:xfrm>
            <a:off x="8778240" y="26060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fiber → 32 or 64 customers</a:t>
            </a:r>
          </a:p>
        </p:txBody>
      </p:sp>
      <p:sp>
        <p:nvSpPr>
          <p:cNvPr id="32" name="Card 1"/>
          <p:cNvSpPr/>
          <p:nvPr/>
        </p:nvSpPr>
        <p:spPr>
          <a:xfrm>
            <a:off x="1257300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1 text"/>
          <p:cNvSpPr txBox="1"/>
          <p:nvPr/>
        </p:nvSpPr>
        <p:spPr>
          <a:xfrm>
            <a:off x="1531620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fiber from the provider feeds dozens of customers through an unpowered splitter. Everyone on it shares the capacity.</a:t>
            </a:r>
          </a:p>
        </p:txBody>
      </p:sp>
      <p:sp>
        <p:nvSpPr>
          <p:cNvPr id="34" name="Card 2"/>
          <p:cNvSpPr/>
          <p:nvPr/>
        </p:nvSpPr>
        <p:spPr>
          <a:xfrm>
            <a:off x="6633972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Card 2 text"/>
          <p:cNvSpPr txBox="1"/>
          <p:nvPr/>
        </p:nvSpPr>
        <p:spPr>
          <a:xfrm>
            <a:off x="6908292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 and inexpensive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GPON: about 2.5 Gbps down and 1.25 Gbps up. XGS-PON: 10 Gbps both ways. Usually far cheaper than dedicated fiber.</a:t>
            </a:r>
          </a:p>
        </p:txBody>
      </p:sp>
      <p:sp>
        <p:nvSpPr>
          <p:cNvPr id="36" name="Card 3"/>
          <p:cNvSpPr/>
          <p:nvPr/>
        </p:nvSpPr>
        <p:spPr>
          <a:xfrm>
            <a:off x="12010644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Card 3 text"/>
          <p:cNvSpPr txBox="1"/>
          <p:nvPr/>
        </p:nvSpPr>
        <p:spPr>
          <a:xfrm>
            <a:off x="12284964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ask the bank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or residential service, and what does the SLA promise? Is there a second, diverse connection? Does the ONT have battery backup?</a:t>
            </a:r>
          </a:p>
        </p:txBody>
      </p:sp>
    </p:spTree>
    <p:extLst>
      <p:ext uri="{BB962C8B-B14F-4D97-AF65-F5344CB8AC3E}">
        <p14:creationId xmlns:p14="http://schemas.microsoft.com/office/powerpoint/2010/main" val="4139656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80952-E6A1-CDAA-A09E-E33F09925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Cable Modem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BF6B4-8373-9913-8D70-0A9EC6E1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Cable company data infrastructure </a:t>
            </a:r>
          </a:p>
          <a:p>
            <a:r>
              <a:rPr lang="en-US"/>
              <a:t>Hybrid Fiber Coax (HFC) </a:t>
            </a:r>
          </a:p>
          <a:p>
            <a:pPr lvl="1"/>
            <a:r>
              <a:rPr lang="en-US"/>
              <a:t>Fiber from cable company headend to a node (near customer)</a:t>
            </a:r>
          </a:p>
          <a:p>
            <a:pPr lvl="1"/>
            <a:r>
              <a:rPr lang="en-US"/>
              <a:t>Coaxial cable from node to customers (shared access)</a:t>
            </a:r>
          </a:p>
          <a:p>
            <a:r>
              <a:rPr lang="en-US"/>
              <a:t>DOCSIS protocols control access and transmission format</a:t>
            </a:r>
          </a:p>
          <a:p>
            <a:pPr lvl="1"/>
            <a:r>
              <a:rPr lang="en-US"/>
              <a:t>Service speeds available vary based on technology deployed</a:t>
            </a:r>
          </a:p>
          <a:p>
            <a:pPr lvl="1"/>
            <a:r>
              <a:rPr lang="en-US"/>
              <a:t>Asymmetric speeds often 1.2 Gbps down and 35 Mbps up</a:t>
            </a:r>
          </a:p>
          <a:p>
            <a:pPr lvl="1"/>
            <a:r>
              <a:rPr lang="en-US"/>
              <a:t>Multi-gigabit symmetric services starting to be deployed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5B2C0E-3684-32FB-CF67-EC3CF11EAC83}"/>
              </a:ext>
            </a:extLst>
          </p:cNvPr>
          <p:cNvGrpSpPr/>
          <p:nvPr/>
        </p:nvGrpSpPr>
        <p:grpSpPr>
          <a:xfrm>
            <a:off x="1257300" y="8093869"/>
            <a:ext cx="13017468" cy="1666956"/>
            <a:chOff x="1996293" y="8091392"/>
            <a:chExt cx="13017468" cy="166695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458F29A-9AB1-0EA5-8E70-70C6566F16B0}"/>
                </a:ext>
              </a:extLst>
            </p:cNvPr>
            <p:cNvSpPr/>
            <p:nvPr/>
          </p:nvSpPr>
          <p:spPr>
            <a:xfrm>
              <a:off x="7396743" y="8643937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CA4A20-8B12-B52F-A8CF-8071A52F918D}"/>
                </a:ext>
              </a:extLst>
            </p:cNvPr>
            <p:cNvSpPr txBox="1"/>
            <p:nvPr/>
          </p:nvSpPr>
          <p:spPr>
            <a:xfrm>
              <a:off x="7996488" y="8727240"/>
              <a:ext cx="9492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Node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80D2B45-3ED0-9178-B015-02F796C4B9B9}"/>
                </a:ext>
              </a:extLst>
            </p:cNvPr>
            <p:cNvSpPr/>
            <p:nvPr/>
          </p:nvSpPr>
          <p:spPr>
            <a:xfrm>
              <a:off x="1996293" y="8563299"/>
              <a:ext cx="2081014" cy="850458"/>
            </a:xfrm>
            <a:prstGeom prst="roundRect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CAB3DA-0610-6CB3-BC23-8B3DEF34BBB2}"/>
                </a:ext>
              </a:extLst>
            </p:cNvPr>
            <p:cNvSpPr txBox="1"/>
            <p:nvPr/>
          </p:nvSpPr>
          <p:spPr>
            <a:xfrm>
              <a:off x="2402652" y="8598598"/>
              <a:ext cx="126829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Cable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Modem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7418D-E5F9-9EF4-3743-717E07C70BF8}"/>
                </a:ext>
              </a:extLst>
            </p:cNvPr>
            <p:cNvCxnSpPr>
              <a:stCxn id="4" idx="1"/>
              <a:endCxn id="6" idx="3"/>
            </p:cNvCxnSpPr>
            <p:nvPr/>
          </p:nvCxnSpPr>
          <p:spPr>
            <a:xfrm flipH="1" flipV="1">
              <a:off x="4077307" y="8988528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3862A5D-F07A-9F29-CB9E-EA891F63C0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3995" y="8988528"/>
              <a:ext cx="2056793" cy="76982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37D6B05-B401-2A7E-D047-4A9B36B57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7430" y="8093869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BC789A-4880-734E-14BD-34BE5212B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34871" y="8091392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D8E33B-ED6F-3CD1-FABF-42CE26BE7CF5}"/>
                </a:ext>
              </a:extLst>
            </p:cNvPr>
            <p:cNvSpPr txBox="1"/>
            <p:nvPr/>
          </p:nvSpPr>
          <p:spPr>
            <a:xfrm>
              <a:off x="5968757" y="9102285"/>
              <a:ext cx="9268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Coax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31FF23-E49C-D03A-FB17-C8145BD0CB21}"/>
                </a:ext>
              </a:extLst>
            </p:cNvPr>
            <p:cNvCxnSpPr/>
            <p:nvPr/>
          </p:nvCxnSpPr>
          <p:spPr>
            <a:xfrm flipH="1" flipV="1">
              <a:off x="9545534" y="9001849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9FD2639-AC5A-8AE9-33E5-AB13A186392E}"/>
                </a:ext>
              </a:extLst>
            </p:cNvPr>
            <p:cNvSpPr txBox="1"/>
            <p:nvPr/>
          </p:nvSpPr>
          <p:spPr>
            <a:xfrm>
              <a:off x="10328104" y="9102284"/>
              <a:ext cx="15536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Fiber Pair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7628A173-3329-ED3B-91A7-6B7DE51B414F}"/>
                </a:ext>
              </a:extLst>
            </p:cNvPr>
            <p:cNvSpPr/>
            <p:nvPr/>
          </p:nvSpPr>
          <p:spPr>
            <a:xfrm>
              <a:off x="12864970" y="8684255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5AE42E-90EB-7CFE-1A4A-DBA80CA47C17}"/>
                </a:ext>
              </a:extLst>
            </p:cNvPr>
            <p:cNvSpPr txBox="1"/>
            <p:nvPr/>
          </p:nvSpPr>
          <p:spPr>
            <a:xfrm>
              <a:off x="13410731" y="8798013"/>
              <a:ext cx="10631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CMTS</a:t>
              </a:r>
            </a:p>
          </p:txBody>
        </p:sp>
      </p:grpSp>
      <p:pic>
        <p:nvPicPr>
          <p:cNvPr id="24" name="Graphic 23" descr="Cloud outline">
            <a:extLst>
              <a:ext uri="{FF2B5EF4-FFF2-40B4-BE49-F238E27FC236}">
                <a16:creationId xmlns:a16="http://schemas.microsoft.com/office/drawing/2014/main" id="{DB6E2763-37C5-F371-4892-EBAA05075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6182" y="5869681"/>
            <a:ext cx="4684423" cy="53921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3E69DB5-D397-1D2E-AC7F-D0CB2D3E6313}"/>
              </a:ext>
            </a:extLst>
          </p:cNvPr>
          <p:cNvSpPr txBox="1"/>
          <p:nvPr/>
        </p:nvSpPr>
        <p:spPr>
          <a:xfrm>
            <a:off x="15681385" y="8698664"/>
            <a:ext cx="1273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6981280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EDBA3-E892-B5F2-8F81-D81037D94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Chapter 7: Private WAN 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7D45F-D6E7-F6A2-F35C-71DCDC035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2615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B704C-5991-903B-AFA9-6B3244E2B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MPLS: </a:t>
            </a:r>
            <a:r>
              <a:rPr lang="en-US" dirty="0" err="1"/>
              <a:t>MultiProtocol</a:t>
            </a:r>
            <a:r>
              <a:rPr lang="en-US" dirty="0"/>
              <a:t> Label Switching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8C86-33C5-0962-9E17-931ACA709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MPLS provides a private IP network between sites</a:t>
            </a:r>
          </a:p>
          <a:p>
            <a:r>
              <a:rPr lang="en-US" dirty="0"/>
              <a:t>Introduced  in the late 1990s it became the predominant private networking solution</a:t>
            </a:r>
          </a:p>
          <a:p>
            <a:r>
              <a:rPr lang="en-US" dirty="0"/>
              <a:t>It does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use </a:t>
            </a:r>
            <a:r>
              <a:rPr lang="en-US" dirty="0">
                <a:solidFill>
                  <a:srgbClr val="FF0000"/>
                </a:solidFill>
              </a:rPr>
              <a:t>the internet </a:t>
            </a:r>
          </a:p>
          <a:p>
            <a:r>
              <a:rPr lang="en-US" dirty="0"/>
              <a:t>Connections to the MPLS service use a variety of private lines</a:t>
            </a:r>
          </a:p>
          <a:p>
            <a:r>
              <a:rPr lang="en-US" dirty="0"/>
              <a:t>Available everywhere</a:t>
            </a:r>
          </a:p>
          <a:p>
            <a:r>
              <a:rPr lang="en-US" dirty="0"/>
              <a:t>Carrier Ethernet started to displace MPLS in mid-00’s for higher speed applications</a:t>
            </a:r>
          </a:p>
          <a:p>
            <a:r>
              <a:rPr lang="en-US" dirty="0"/>
              <a:t>Recently SD WAN has started to become the service of choice for branch networks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3327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EB55-568D-1060-1F2F-CF337059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Carrier 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56637-3F98-E226-40E9-462EC800B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Carrier networks have become fiber rich</a:t>
            </a:r>
          </a:p>
          <a:p>
            <a:r>
              <a:rPr lang="en-US"/>
              <a:t>Growth of fiber in metro areas enabled widespread access to services using Ethernet </a:t>
            </a:r>
          </a:p>
          <a:p>
            <a:r>
              <a:rPr lang="en-US"/>
              <a:t>Led to industry development of Carrier Ethernet service specifications through the Metropolitan Ethernet Forum (MEF)</a:t>
            </a:r>
          </a:p>
          <a:p>
            <a:r>
              <a:rPr lang="en-US"/>
              <a:t>Certification of carriers, equipment and professionals has helped interoperability and grown the market</a:t>
            </a:r>
          </a:p>
          <a:p>
            <a:r>
              <a:rPr lang="en-US"/>
              <a:t>Very popular in metro areas where fiber is widely available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9217BB-A3A5-6FC8-8761-EFD4579DB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3186" y="7865514"/>
            <a:ext cx="3550477" cy="221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26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3E7B1B0-BC72-3244-11A7-6187101B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WAN Deployment Types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1D65A4-850E-4E1C-DA04-0E3EFB055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934" y="2189327"/>
            <a:ext cx="5556455" cy="6967198"/>
          </a:xfrm>
          <a:ln w="38100">
            <a:solidFill>
              <a:srgbClr val="FF0000"/>
            </a:solidFill>
          </a:ln>
        </p:spPr>
        <p:txBody>
          <a:bodyPr/>
          <a:lstStyle/>
          <a:p>
            <a:pPr marL="0" indent="0" algn="ctr">
              <a:buNone/>
            </a:pPr>
            <a:r>
              <a:rPr lang="en-US"/>
              <a:t>Point-to-Point</a:t>
            </a:r>
          </a:p>
          <a:p>
            <a:endParaRPr lang="en-US" sz="3200"/>
          </a:p>
          <a:p>
            <a:r>
              <a:rPr lang="en-US" sz="3200"/>
              <a:t>Data replication between datacenters</a:t>
            </a:r>
          </a:p>
          <a:p>
            <a:r>
              <a:rPr lang="en-US" sz="3200"/>
              <a:t>Connection to partner</a:t>
            </a:r>
          </a:p>
          <a:p>
            <a:pPr lvl="1"/>
            <a:r>
              <a:rPr lang="en-US" sz="2600"/>
              <a:t>Service provider</a:t>
            </a:r>
          </a:p>
          <a:p>
            <a:pPr lvl="1"/>
            <a:r>
              <a:rPr lang="en-US" sz="2600"/>
              <a:t>Cloud services</a:t>
            </a:r>
            <a:endParaRPr lang="en-US" sz="3200"/>
          </a:p>
          <a:p>
            <a:r>
              <a:rPr lang="en-US" sz="3200"/>
              <a:t>Internet access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690E4C-343B-CEB9-D7A0-C1990ABE8330}"/>
              </a:ext>
            </a:extLst>
          </p:cNvPr>
          <p:cNvSpPr txBox="1">
            <a:spLocks/>
          </p:cNvSpPr>
          <p:nvPr/>
        </p:nvSpPr>
        <p:spPr>
          <a:xfrm>
            <a:off x="6637265" y="2189327"/>
            <a:ext cx="5250974" cy="6967198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Point-to-Multipoint</a:t>
            </a:r>
          </a:p>
          <a:p>
            <a:endParaRPr lang="en-US" sz="3200"/>
          </a:p>
          <a:p>
            <a:r>
              <a:rPr lang="en-US" sz="3200"/>
              <a:t>Secure connection to customers</a:t>
            </a:r>
          </a:p>
          <a:p>
            <a:pPr lvl="1"/>
            <a:r>
              <a:rPr lang="en-US" sz="2600"/>
              <a:t>Hospital to specialty providers or another hospital system</a:t>
            </a:r>
          </a:p>
          <a:p>
            <a:r>
              <a:rPr lang="en-US" sz="3200"/>
              <a:t>School district connections from schools to datacenter 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ECFE428F-B5D2-A3CE-816A-98CB4B02358D}"/>
              </a:ext>
            </a:extLst>
          </p:cNvPr>
          <p:cNvSpPr txBox="1">
            <a:spLocks/>
          </p:cNvSpPr>
          <p:nvPr/>
        </p:nvSpPr>
        <p:spPr>
          <a:xfrm>
            <a:off x="12135977" y="2189327"/>
            <a:ext cx="5556455" cy="6967198"/>
          </a:xfrm>
          <a:prstGeom prst="rect">
            <a:avLst/>
          </a:prstGeom>
          <a:ln w="38100">
            <a:solidFill>
              <a:srgbClr val="00B05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Any-to-Any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3200"/>
          </a:p>
          <a:p>
            <a:r>
              <a:rPr lang="en-US" sz="3200"/>
              <a:t>General connectivity between sites</a:t>
            </a:r>
          </a:p>
          <a:p>
            <a:r>
              <a:rPr lang="en-US" sz="3200"/>
              <a:t>WAN functions like a big LAN switch</a:t>
            </a:r>
          </a:p>
          <a:p>
            <a:r>
              <a:rPr lang="en-US" sz="3200"/>
              <a:t>Customers usually put routers on the edge of their network</a:t>
            </a:r>
          </a:p>
        </p:txBody>
      </p:sp>
    </p:spTree>
    <p:extLst>
      <p:ext uri="{BB962C8B-B14F-4D97-AF65-F5344CB8AC3E}">
        <p14:creationId xmlns:p14="http://schemas.microsoft.com/office/powerpoint/2010/main" val="1605085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5D3D8-0226-8B99-7E3A-A8C654BA3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Site-to-Site VPN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82EFD-36DA-FEDF-438F-089E9EBB6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Offers low-cost approach to building a WAN</a:t>
            </a:r>
          </a:p>
          <a:p>
            <a:r>
              <a:rPr lang="en-US"/>
              <a:t>Point-to-Point VPN configured at network edges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A3CDDA-193B-A830-553A-5D9C4DCF2F62}"/>
              </a:ext>
            </a:extLst>
          </p:cNvPr>
          <p:cNvGrpSpPr/>
          <p:nvPr/>
        </p:nvGrpSpPr>
        <p:grpSpPr>
          <a:xfrm>
            <a:off x="2677243" y="840316"/>
            <a:ext cx="15026318" cy="8606368"/>
            <a:chOff x="666201" y="1341230"/>
            <a:chExt cx="15026318" cy="8606368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10C86D9B-9B19-1A80-2E75-AEB9919D2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6126" y="4306174"/>
              <a:ext cx="3872594" cy="4457702"/>
            </a:xfrm>
            <a:prstGeom prst="rect">
              <a:avLst/>
            </a:prstGeom>
          </p:spPr>
        </p:pic>
        <p:pic>
          <p:nvPicPr>
            <p:cNvPr id="8" name="Graphic 7" descr="Bank outline">
              <a:extLst>
                <a:ext uri="{FF2B5EF4-FFF2-40B4-BE49-F238E27FC236}">
                  <a16:creationId xmlns:a16="http://schemas.microsoft.com/office/drawing/2014/main" id="{F09E1139-247F-53A6-30C9-4ADFB9ED0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82051" y="6133133"/>
              <a:ext cx="1436709" cy="1436709"/>
            </a:xfrm>
            <a:prstGeom prst="rect">
              <a:avLst/>
            </a:prstGeom>
          </p:spPr>
        </p:pic>
        <p:pic>
          <p:nvPicPr>
            <p:cNvPr id="9" name="Graphic 8" descr="Bank outline">
              <a:extLst>
                <a:ext uri="{FF2B5EF4-FFF2-40B4-BE49-F238E27FC236}">
                  <a16:creationId xmlns:a16="http://schemas.microsoft.com/office/drawing/2014/main" id="{B449BEF8-79BB-7D6A-F4F5-D2B5C16AF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031982" y="4696424"/>
              <a:ext cx="1436709" cy="1436709"/>
            </a:xfrm>
            <a:prstGeom prst="rect">
              <a:avLst/>
            </a:prstGeom>
          </p:spPr>
        </p:pic>
        <p:pic>
          <p:nvPicPr>
            <p:cNvPr id="10" name="Graphic 9" descr="Bank outline">
              <a:extLst>
                <a:ext uri="{FF2B5EF4-FFF2-40B4-BE49-F238E27FC236}">
                  <a16:creationId xmlns:a16="http://schemas.microsoft.com/office/drawing/2014/main" id="{3801C26A-F782-9EB1-E277-147F6D76A0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5158" y="7804495"/>
              <a:ext cx="1436709" cy="1436709"/>
            </a:xfrm>
            <a:prstGeom prst="rect">
              <a:avLst/>
            </a:prstGeom>
          </p:spPr>
        </p:pic>
        <p:pic>
          <p:nvPicPr>
            <p:cNvPr id="11" name="Graphic 10" descr="Bank outline">
              <a:extLst>
                <a:ext uri="{FF2B5EF4-FFF2-40B4-BE49-F238E27FC236}">
                  <a16:creationId xmlns:a16="http://schemas.microsoft.com/office/drawing/2014/main" id="{2E4F1C3D-80E7-1DE0-0EE8-C84DDA7FC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44054" y="8510889"/>
              <a:ext cx="1436709" cy="1436709"/>
            </a:xfrm>
            <a:prstGeom prst="rect">
              <a:avLst/>
            </a:prstGeom>
          </p:spPr>
        </p:pic>
        <p:pic>
          <p:nvPicPr>
            <p:cNvPr id="12" name="Graphic 11" descr="Building with solid fill">
              <a:extLst>
                <a:ext uri="{FF2B5EF4-FFF2-40B4-BE49-F238E27FC236}">
                  <a16:creationId xmlns:a16="http://schemas.microsoft.com/office/drawing/2014/main" id="{D78D7F4E-889E-D4C5-B5EC-8A5A4808B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98010" y="5994239"/>
              <a:ext cx="2920678" cy="2920678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B170912-9489-FCB5-7032-F809461AD86F}"/>
                </a:ext>
              </a:extLst>
            </p:cNvPr>
            <p:cNvSpPr txBox="1"/>
            <p:nvPr/>
          </p:nvSpPr>
          <p:spPr>
            <a:xfrm>
              <a:off x="5888945" y="6321599"/>
              <a:ext cx="216283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VPNs over</a:t>
              </a:r>
            </a:p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the internet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BF33A0-AAD3-BADF-BB78-480B5C73CFFA}"/>
                </a:ext>
              </a:extLst>
            </p:cNvPr>
            <p:cNvSpPr txBox="1"/>
            <p:nvPr/>
          </p:nvSpPr>
          <p:spPr>
            <a:xfrm>
              <a:off x="9798010" y="9164557"/>
              <a:ext cx="27222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HQ/datacenter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5434E7-E042-C1EE-8825-AF409A95E958}"/>
                </a:ext>
              </a:extLst>
            </p:cNvPr>
            <p:cNvSpPr txBox="1"/>
            <p:nvPr/>
          </p:nvSpPr>
          <p:spPr>
            <a:xfrm>
              <a:off x="666201" y="5471019"/>
              <a:ext cx="1816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Branches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1068B5-A7E8-7BE6-7718-03647B7DB194}"/>
                </a:ext>
              </a:extLst>
            </p:cNvPr>
            <p:cNvSpPr txBox="1"/>
            <p:nvPr/>
          </p:nvSpPr>
          <p:spPr>
            <a:xfrm>
              <a:off x="15507788" y="2218799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FB6BA1E-5176-5EBA-3843-B2F1E7A1B676}"/>
                </a:ext>
              </a:extLst>
            </p:cNvPr>
            <p:cNvCxnSpPr>
              <a:cxnSpLocks/>
            </p:cNvCxnSpPr>
            <p:nvPr/>
          </p:nvCxnSpPr>
          <p:spPr>
            <a:xfrm>
              <a:off x="4130497" y="5667807"/>
              <a:ext cx="1655595" cy="65379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EE17C0-A573-0775-61F9-2BF89D1D10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257" y="7058690"/>
              <a:ext cx="2304253" cy="458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112DE07-3048-4D79-D185-E80D088FBA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64188" y="7339169"/>
              <a:ext cx="2416575" cy="138874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C216177-EEA7-CCFC-E620-A645B3DD3D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8294" y="7569842"/>
              <a:ext cx="921645" cy="1260677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C398531-A4C6-2A0C-D276-8E750D0E68D8}"/>
                </a:ext>
              </a:extLst>
            </p:cNvPr>
            <p:cNvCxnSpPr>
              <a:cxnSpLocks/>
            </p:cNvCxnSpPr>
            <p:nvPr/>
          </p:nvCxnSpPr>
          <p:spPr>
            <a:xfrm>
              <a:off x="8510163" y="7403727"/>
              <a:ext cx="2054546" cy="84404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170E16F-9837-F13C-C4A1-DC713AC190C3}"/>
                </a:ext>
              </a:extLst>
            </p:cNvPr>
            <p:cNvSpPr txBox="1"/>
            <p:nvPr/>
          </p:nvSpPr>
          <p:spPr>
            <a:xfrm>
              <a:off x="9051634" y="1341230"/>
              <a:ext cx="184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91609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6EAD-B3E5-855B-B4B1-C1C6C9CC8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Work From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BB7B-165A-09A1-EA2F-D7A4762A4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VPN offers a secure connection to the bank, cloud and service providers</a:t>
            </a:r>
          </a:p>
          <a:p>
            <a:r>
              <a:rPr lang="en-US"/>
              <a:t>Encrypted tunnel to VPN server coupled with multifactor authentication</a:t>
            </a:r>
          </a:p>
          <a:p>
            <a:r>
              <a:rPr lang="en-US"/>
              <a:t>Where should the VPN server be?</a:t>
            </a:r>
          </a:p>
          <a:p>
            <a:pPr lvl="1"/>
            <a:r>
              <a:rPr lang="en-US"/>
              <a:t>On premises</a:t>
            </a:r>
          </a:p>
          <a:p>
            <a:pPr lvl="1"/>
            <a:r>
              <a:rPr lang="en-US"/>
              <a:t>In the cloud</a:t>
            </a:r>
          </a:p>
          <a:p>
            <a:r>
              <a:rPr lang="en-US"/>
              <a:t>Is there anything else we could do for the home network?</a:t>
            </a:r>
          </a:p>
          <a:p>
            <a:pPr lvl="1"/>
            <a:r>
              <a:rPr lang="en-US"/>
              <a:t>Separate SSID or Access Point</a:t>
            </a:r>
          </a:p>
          <a:p>
            <a:pPr lvl="1"/>
            <a:r>
              <a:rPr lang="en-US"/>
              <a:t>Corporate owned and managed home-based firewall</a:t>
            </a:r>
          </a:p>
        </p:txBody>
      </p:sp>
    </p:spTree>
    <p:extLst>
      <p:ext uri="{BB962C8B-B14F-4D97-AF65-F5344CB8AC3E}">
        <p14:creationId xmlns:p14="http://schemas.microsoft.com/office/powerpoint/2010/main" val="30908353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868F5-3276-FCD1-0DF3-A2CC49F43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VPN as a WAN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8854A-478C-BA8B-FEA9-412DFDB2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Historically a manual configuration in edge devices</a:t>
            </a:r>
          </a:p>
          <a:p>
            <a:pPr lvl="1"/>
            <a:r>
              <a:rPr lang="en-US" dirty="0"/>
              <a:t>Potential for errors</a:t>
            </a:r>
          </a:p>
          <a:p>
            <a:pPr lvl="1"/>
            <a:r>
              <a:rPr lang="en-US" dirty="0"/>
              <a:t>Unlikely to change keys frequently due to effort required</a:t>
            </a:r>
          </a:p>
          <a:p>
            <a:r>
              <a:rPr lang="en-US" dirty="0"/>
              <a:t>Limited visibility into performance</a:t>
            </a:r>
          </a:p>
          <a:p>
            <a:r>
              <a:rPr lang="en-US" dirty="0"/>
              <a:t>No control of applications</a:t>
            </a:r>
          </a:p>
          <a:p>
            <a:endParaRPr lang="en-US" dirty="0"/>
          </a:p>
          <a:p>
            <a:r>
              <a:rPr lang="en-US" dirty="0"/>
              <a:t>If only there were a way for these challenges to be solved automatically, with intelligence of some kind…</a:t>
            </a:r>
          </a:p>
        </p:txBody>
      </p:sp>
    </p:spTree>
    <p:extLst>
      <p:ext uri="{BB962C8B-B14F-4D97-AF65-F5344CB8AC3E}">
        <p14:creationId xmlns:p14="http://schemas.microsoft.com/office/powerpoint/2010/main" val="26283164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3FB6-E576-F8BA-F5D1-26E1AA68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Defined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D1FAC-7BEC-07CA-64B5-7AB5D93A5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SD WAN modernizes the approach to deploying a VPN WAN</a:t>
            </a:r>
          </a:p>
          <a:p>
            <a:endParaRPr lang="en-US"/>
          </a:p>
        </p:txBody>
      </p:sp>
      <p:pic>
        <p:nvPicPr>
          <p:cNvPr id="5" name="Picture 4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E5E76218-65C0-C03D-2608-6200860A5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688" y="3448564"/>
            <a:ext cx="2540000" cy="1905000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46726F40-91C6-DF2C-AAB0-645CE203DB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4054" y="2831866"/>
            <a:ext cx="6663580" cy="76703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5F1FE4C-EF23-99FD-6CC9-6ABA8208054C}"/>
              </a:ext>
            </a:extLst>
          </p:cNvPr>
          <p:cNvSpPr txBox="1"/>
          <p:nvPr/>
        </p:nvSpPr>
        <p:spPr>
          <a:xfrm>
            <a:off x="558566" y="3456948"/>
            <a:ext cx="3376245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Configuration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Network visibility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Business continuity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Security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D74DB95-E07E-DE26-CFE0-91CFCC358593}"/>
              </a:ext>
            </a:extLst>
          </p:cNvPr>
          <p:cNvSpPr/>
          <p:nvPr/>
        </p:nvSpPr>
        <p:spPr>
          <a:xfrm>
            <a:off x="13201473" y="4619501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B05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A7AB8D8-00C7-0E05-C2CE-8B3F45D825DB}"/>
              </a:ext>
            </a:extLst>
          </p:cNvPr>
          <p:cNvSpPr/>
          <p:nvPr/>
        </p:nvSpPr>
        <p:spPr>
          <a:xfrm>
            <a:off x="1506187" y="6322220"/>
            <a:ext cx="4619901" cy="3544953"/>
          </a:xfrm>
          <a:custGeom>
            <a:avLst/>
            <a:gdLst>
              <a:gd name="connsiteX0" fmla="*/ 0 w 4619901"/>
              <a:gd name="connsiteY0" fmla="*/ 590837 h 3544953"/>
              <a:gd name="connsiteX1" fmla="*/ 590837 w 4619901"/>
              <a:gd name="connsiteY1" fmla="*/ 0 h 3544953"/>
              <a:gd name="connsiteX2" fmla="*/ 1232639 w 4619901"/>
              <a:gd name="connsiteY2" fmla="*/ 0 h 3544953"/>
              <a:gd name="connsiteX3" fmla="*/ 1771295 w 4619901"/>
              <a:gd name="connsiteY3" fmla="*/ 0 h 3544953"/>
              <a:gd name="connsiteX4" fmla="*/ 2275568 w 4619901"/>
              <a:gd name="connsiteY4" fmla="*/ 0 h 3544953"/>
              <a:gd name="connsiteX5" fmla="*/ 2882988 w 4619901"/>
              <a:gd name="connsiteY5" fmla="*/ 0 h 3544953"/>
              <a:gd name="connsiteX6" fmla="*/ 3421644 w 4619901"/>
              <a:gd name="connsiteY6" fmla="*/ 0 h 3544953"/>
              <a:gd name="connsiteX7" fmla="*/ 4029064 w 4619901"/>
              <a:gd name="connsiteY7" fmla="*/ 0 h 3544953"/>
              <a:gd name="connsiteX8" fmla="*/ 4619901 w 4619901"/>
              <a:gd name="connsiteY8" fmla="*/ 590837 h 3544953"/>
              <a:gd name="connsiteX9" fmla="*/ 4619901 w 4619901"/>
              <a:gd name="connsiteY9" fmla="*/ 1134391 h 3544953"/>
              <a:gd name="connsiteX10" fmla="*/ 4619901 w 4619901"/>
              <a:gd name="connsiteY10" fmla="*/ 1725211 h 3544953"/>
              <a:gd name="connsiteX11" fmla="*/ 4619901 w 4619901"/>
              <a:gd name="connsiteY11" fmla="*/ 2316031 h 3544953"/>
              <a:gd name="connsiteX12" fmla="*/ 4619901 w 4619901"/>
              <a:gd name="connsiteY12" fmla="*/ 2954116 h 3544953"/>
              <a:gd name="connsiteX13" fmla="*/ 4029064 w 4619901"/>
              <a:gd name="connsiteY13" fmla="*/ 3544953 h 3544953"/>
              <a:gd name="connsiteX14" fmla="*/ 3456026 w 4619901"/>
              <a:gd name="connsiteY14" fmla="*/ 3544953 h 3544953"/>
              <a:gd name="connsiteX15" fmla="*/ 2882988 w 4619901"/>
              <a:gd name="connsiteY15" fmla="*/ 3544953 h 3544953"/>
              <a:gd name="connsiteX16" fmla="*/ 2241186 w 4619901"/>
              <a:gd name="connsiteY16" fmla="*/ 3544953 h 3544953"/>
              <a:gd name="connsiteX17" fmla="*/ 1668148 w 4619901"/>
              <a:gd name="connsiteY17" fmla="*/ 3544953 h 3544953"/>
              <a:gd name="connsiteX18" fmla="*/ 1198257 w 4619901"/>
              <a:gd name="connsiteY18" fmla="*/ 3544953 h 3544953"/>
              <a:gd name="connsiteX19" fmla="*/ 590837 w 4619901"/>
              <a:gd name="connsiteY19" fmla="*/ 3544953 h 3544953"/>
              <a:gd name="connsiteX20" fmla="*/ 0 w 4619901"/>
              <a:gd name="connsiteY20" fmla="*/ 2954116 h 3544953"/>
              <a:gd name="connsiteX21" fmla="*/ 0 w 4619901"/>
              <a:gd name="connsiteY21" fmla="*/ 2386929 h 3544953"/>
              <a:gd name="connsiteX22" fmla="*/ 0 w 4619901"/>
              <a:gd name="connsiteY22" fmla="*/ 1796109 h 3544953"/>
              <a:gd name="connsiteX23" fmla="*/ 0 w 4619901"/>
              <a:gd name="connsiteY23" fmla="*/ 1276188 h 3544953"/>
              <a:gd name="connsiteX24" fmla="*/ 0 w 4619901"/>
              <a:gd name="connsiteY24" fmla="*/ 590837 h 354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619901" h="3544953" extrusionOk="0">
                <a:moveTo>
                  <a:pt x="0" y="590837"/>
                </a:moveTo>
                <a:cubicBezTo>
                  <a:pt x="-52855" y="231925"/>
                  <a:pt x="180028" y="31714"/>
                  <a:pt x="590837" y="0"/>
                </a:cubicBezTo>
                <a:cubicBezTo>
                  <a:pt x="806682" y="-8408"/>
                  <a:pt x="946418" y="72441"/>
                  <a:pt x="1232639" y="0"/>
                </a:cubicBezTo>
                <a:cubicBezTo>
                  <a:pt x="1518860" y="-72441"/>
                  <a:pt x="1615806" y="46341"/>
                  <a:pt x="1771295" y="0"/>
                </a:cubicBezTo>
                <a:cubicBezTo>
                  <a:pt x="1926784" y="-46341"/>
                  <a:pt x="2123442" y="16578"/>
                  <a:pt x="2275568" y="0"/>
                </a:cubicBezTo>
                <a:cubicBezTo>
                  <a:pt x="2427694" y="-16578"/>
                  <a:pt x="2669010" y="57289"/>
                  <a:pt x="2882988" y="0"/>
                </a:cubicBezTo>
                <a:cubicBezTo>
                  <a:pt x="3096966" y="-57289"/>
                  <a:pt x="3201762" y="11953"/>
                  <a:pt x="3421644" y="0"/>
                </a:cubicBezTo>
                <a:cubicBezTo>
                  <a:pt x="3641526" y="-11953"/>
                  <a:pt x="3852552" y="12109"/>
                  <a:pt x="4029064" y="0"/>
                </a:cubicBezTo>
                <a:cubicBezTo>
                  <a:pt x="4346933" y="-80493"/>
                  <a:pt x="4585316" y="312590"/>
                  <a:pt x="4619901" y="590837"/>
                </a:cubicBezTo>
                <a:cubicBezTo>
                  <a:pt x="4670454" y="723381"/>
                  <a:pt x="4577944" y="964582"/>
                  <a:pt x="4619901" y="1134391"/>
                </a:cubicBezTo>
                <a:cubicBezTo>
                  <a:pt x="4661858" y="1304200"/>
                  <a:pt x="4588584" y="1529041"/>
                  <a:pt x="4619901" y="1725211"/>
                </a:cubicBezTo>
                <a:cubicBezTo>
                  <a:pt x="4651218" y="1921381"/>
                  <a:pt x="4596365" y="2056115"/>
                  <a:pt x="4619901" y="2316031"/>
                </a:cubicBezTo>
                <a:cubicBezTo>
                  <a:pt x="4643437" y="2575947"/>
                  <a:pt x="4591696" y="2649973"/>
                  <a:pt x="4619901" y="2954116"/>
                </a:cubicBezTo>
                <a:cubicBezTo>
                  <a:pt x="4680379" y="3354508"/>
                  <a:pt x="4390956" y="3513799"/>
                  <a:pt x="4029064" y="3544953"/>
                </a:cubicBezTo>
                <a:cubicBezTo>
                  <a:pt x="3818948" y="3575198"/>
                  <a:pt x="3660522" y="3518534"/>
                  <a:pt x="3456026" y="3544953"/>
                </a:cubicBezTo>
                <a:cubicBezTo>
                  <a:pt x="3251530" y="3571372"/>
                  <a:pt x="3053479" y="3521122"/>
                  <a:pt x="2882988" y="3544953"/>
                </a:cubicBezTo>
                <a:cubicBezTo>
                  <a:pt x="2712497" y="3568784"/>
                  <a:pt x="2379533" y="3537627"/>
                  <a:pt x="2241186" y="3544953"/>
                </a:cubicBezTo>
                <a:cubicBezTo>
                  <a:pt x="2102839" y="3552279"/>
                  <a:pt x="1871016" y="3535538"/>
                  <a:pt x="1668148" y="3544953"/>
                </a:cubicBezTo>
                <a:cubicBezTo>
                  <a:pt x="1465280" y="3554368"/>
                  <a:pt x="1429523" y="3502691"/>
                  <a:pt x="1198257" y="3544953"/>
                </a:cubicBezTo>
                <a:cubicBezTo>
                  <a:pt x="966991" y="3587215"/>
                  <a:pt x="862218" y="3483088"/>
                  <a:pt x="590837" y="3544953"/>
                </a:cubicBezTo>
                <a:cubicBezTo>
                  <a:pt x="298335" y="3524899"/>
                  <a:pt x="-36584" y="3338505"/>
                  <a:pt x="0" y="2954116"/>
                </a:cubicBezTo>
                <a:cubicBezTo>
                  <a:pt x="-23643" y="2765107"/>
                  <a:pt x="33536" y="2544258"/>
                  <a:pt x="0" y="2386929"/>
                </a:cubicBezTo>
                <a:cubicBezTo>
                  <a:pt x="-33536" y="2229600"/>
                  <a:pt x="60273" y="1987646"/>
                  <a:pt x="0" y="1796109"/>
                </a:cubicBezTo>
                <a:cubicBezTo>
                  <a:pt x="-60273" y="1604572"/>
                  <a:pt x="47874" y="1491138"/>
                  <a:pt x="0" y="1276188"/>
                </a:cubicBezTo>
                <a:cubicBezTo>
                  <a:pt x="-47874" y="1061238"/>
                  <a:pt x="71542" y="825711"/>
                  <a:pt x="0" y="590837"/>
                </a:cubicBezTo>
                <a:close/>
              </a:path>
            </a:pathLst>
          </a:custGeom>
          <a:noFill/>
          <a:ln w="57150"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DF626D5-6249-9B03-1ED9-63B7F3B0BA4A}"/>
              </a:ext>
            </a:extLst>
          </p:cNvPr>
          <p:cNvSpPr/>
          <p:nvPr/>
        </p:nvSpPr>
        <p:spPr>
          <a:xfrm>
            <a:off x="13274263" y="7362365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480E48-3140-CA1E-7526-9BED1B9FDA9C}"/>
              </a:ext>
            </a:extLst>
          </p:cNvPr>
          <p:cNvSpPr txBox="1"/>
          <p:nvPr/>
        </p:nvSpPr>
        <p:spPr>
          <a:xfrm>
            <a:off x="2123916" y="7959539"/>
            <a:ext cx="29306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HQ</a:t>
            </a:r>
          </a:p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Datacenter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B6C79-BFE8-8DA1-87AA-244A05776BD2}"/>
              </a:ext>
            </a:extLst>
          </p:cNvPr>
          <p:cNvSpPr txBox="1"/>
          <p:nvPr/>
        </p:nvSpPr>
        <p:spPr>
          <a:xfrm>
            <a:off x="14006938" y="4774168"/>
            <a:ext cx="27206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C1EC51-C922-8A6E-F151-88144F62F7B1}"/>
              </a:ext>
            </a:extLst>
          </p:cNvPr>
          <p:cNvSpPr txBox="1"/>
          <p:nvPr/>
        </p:nvSpPr>
        <p:spPr>
          <a:xfrm>
            <a:off x="14070340" y="7590207"/>
            <a:ext cx="272061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79A206C-0003-AFD5-88EE-9682571C3D4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5230368" y="5143500"/>
            <a:ext cx="3554071" cy="1566411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8CA16464-77D5-BD5E-F561-2A4BA6FDBDC8}"/>
              </a:ext>
            </a:extLst>
          </p:cNvPr>
          <p:cNvSpPr/>
          <p:nvPr/>
        </p:nvSpPr>
        <p:spPr>
          <a:xfrm>
            <a:off x="5504688" y="6709911"/>
            <a:ext cx="3279751" cy="849306"/>
          </a:xfrm>
          <a:custGeom>
            <a:avLst/>
            <a:gdLst>
              <a:gd name="connsiteX0" fmla="*/ 0 w 3279751"/>
              <a:gd name="connsiteY0" fmla="*/ 724183 h 849306"/>
              <a:gd name="connsiteX1" fmla="*/ 2840748 w 3279751"/>
              <a:gd name="connsiteY1" fmla="*/ 792342 h 849306"/>
              <a:gd name="connsiteX2" fmla="*/ 3226086 w 3279751"/>
              <a:gd name="connsiteY2" fmla="*/ 0 h 849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79751" h="849306" extrusionOk="0">
                <a:moveTo>
                  <a:pt x="0" y="724183"/>
                </a:moveTo>
                <a:cubicBezTo>
                  <a:pt x="1115963" y="796671"/>
                  <a:pt x="2225727" y="942066"/>
                  <a:pt x="2840748" y="792342"/>
                </a:cubicBezTo>
                <a:cubicBezTo>
                  <a:pt x="3389429" y="673961"/>
                  <a:pt x="3269878" y="336852"/>
                  <a:pt x="3226086" y="0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3346598"/>
                      <a:gd name="connsiteY0" fmla="*/ 777240 h 911529"/>
                      <a:gd name="connsiteX1" fmla="*/ 2898648 w 3346598"/>
                      <a:gd name="connsiteY1" fmla="*/ 850392 h 911529"/>
                      <a:gd name="connsiteX2" fmla="*/ 3291840 w 3346598"/>
                      <a:gd name="connsiteY2" fmla="*/ 0 h 91152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346598" h="911529">
                        <a:moveTo>
                          <a:pt x="0" y="777240"/>
                        </a:moveTo>
                        <a:cubicBezTo>
                          <a:pt x="1175004" y="878586"/>
                          <a:pt x="2350008" y="979932"/>
                          <a:pt x="2898648" y="850392"/>
                        </a:cubicBezTo>
                        <a:cubicBezTo>
                          <a:pt x="3447288" y="720852"/>
                          <a:pt x="3369564" y="360426"/>
                          <a:pt x="3291840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28BC84E9-788E-FA39-B58F-265DE6D4DDB7}"/>
              </a:ext>
            </a:extLst>
          </p:cNvPr>
          <p:cNvSpPr/>
          <p:nvPr/>
        </p:nvSpPr>
        <p:spPr>
          <a:xfrm rot="10429115">
            <a:off x="8764997" y="6324663"/>
            <a:ext cx="4911828" cy="146272"/>
          </a:xfrm>
          <a:custGeom>
            <a:avLst/>
            <a:gdLst>
              <a:gd name="connsiteX0" fmla="*/ 0 w 4911828"/>
              <a:gd name="connsiteY0" fmla="*/ 146272 h 146272"/>
              <a:gd name="connsiteX1" fmla="*/ 2264846 w 4911828"/>
              <a:gd name="connsiteY1" fmla="*/ 8827 h 146272"/>
              <a:gd name="connsiteX2" fmla="*/ 4911828 w 4911828"/>
              <a:gd name="connsiteY2" fmla="*/ 25189 h 146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11828" h="146272" extrusionOk="0">
                <a:moveTo>
                  <a:pt x="0" y="146272"/>
                </a:moveTo>
                <a:cubicBezTo>
                  <a:pt x="675043" y="83773"/>
                  <a:pt x="1379937" y="72341"/>
                  <a:pt x="2264846" y="8827"/>
                </a:cubicBezTo>
                <a:cubicBezTo>
                  <a:pt x="3038870" y="-182050"/>
                  <a:pt x="4046348" y="-127843"/>
                  <a:pt x="4911828" y="2518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818888"/>
                      <a:gd name="connsiteY0" fmla="*/ 817428 h 817428"/>
                      <a:gd name="connsiteX1" fmla="*/ 2221992 w 4818888"/>
                      <a:gd name="connsiteY1" fmla="*/ 49332 h 817428"/>
                      <a:gd name="connsiteX2" fmla="*/ 4818888 w 4818888"/>
                      <a:gd name="connsiteY2" fmla="*/ 140772 h 8174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818888" h="817428">
                        <a:moveTo>
                          <a:pt x="0" y="817428"/>
                        </a:moveTo>
                        <a:cubicBezTo>
                          <a:pt x="709422" y="489768"/>
                          <a:pt x="1418844" y="162108"/>
                          <a:pt x="2221992" y="49332"/>
                        </a:cubicBezTo>
                        <a:cubicBezTo>
                          <a:pt x="3025140" y="-63444"/>
                          <a:pt x="3922014" y="38664"/>
                          <a:pt x="4818888" y="140772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FFE981E9-EEC1-4769-F778-B913A4447214}"/>
              </a:ext>
            </a:extLst>
          </p:cNvPr>
          <p:cNvSpPr/>
          <p:nvPr/>
        </p:nvSpPr>
        <p:spPr>
          <a:xfrm>
            <a:off x="8782493" y="6751674"/>
            <a:ext cx="4901609" cy="2073349"/>
          </a:xfrm>
          <a:custGeom>
            <a:avLst/>
            <a:gdLst>
              <a:gd name="connsiteX0" fmla="*/ 0 w 4901609"/>
              <a:gd name="connsiteY0" fmla="*/ 0 h 2073349"/>
              <a:gd name="connsiteX1" fmla="*/ 2232837 w 4901609"/>
              <a:gd name="connsiteY1" fmla="*/ 1318438 h 2073349"/>
              <a:gd name="connsiteX2" fmla="*/ 4901609 w 4901609"/>
              <a:gd name="connsiteY2" fmla="*/ 2073349 h 2073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01609" h="2073349" extrusionOk="0">
                <a:moveTo>
                  <a:pt x="0" y="0"/>
                </a:moveTo>
                <a:cubicBezTo>
                  <a:pt x="665525" y="483027"/>
                  <a:pt x="1332052" y="1027709"/>
                  <a:pt x="2232837" y="1318438"/>
                </a:cubicBezTo>
                <a:cubicBezTo>
                  <a:pt x="3042668" y="1636815"/>
                  <a:pt x="4001133" y="1798257"/>
                  <a:pt x="4901609" y="207334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901609"/>
                      <a:gd name="connsiteY0" fmla="*/ 0 h 2073349"/>
                      <a:gd name="connsiteX1" fmla="*/ 2232837 w 4901609"/>
                      <a:gd name="connsiteY1" fmla="*/ 1318438 h 2073349"/>
                      <a:gd name="connsiteX2" fmla="*/ 4901609 w 4901609"/>
                      <a:gd name="connsiteY2" fmla="*/ 2073349 h 20733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901609" h="2073349">
                        <a:moveTo>
                          <a:pt x="0" y="0"/>
                        </a:moveTo>
                        <a:cubicBezTo>
                          <a:pt x="707951" y="486440"/>
                          <a:pt x="1415902" y="972880"/>
                          <a:pt x="2232837" y="1318438"/>
                        </a:cubicBezTo>
                        <a:cubicBezTo>
                          <a:pt x="3049772" y="1663996"/>
                          <a:pt x="3975690" y="1868672"/>
                          <a:pt x="4901609" y="2073349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2A80B3-811D-1A73-F16D-D23D68345CEC}"/>
              </a:ext>
            </a:extLst>
          </p:cNvPr>
          <p:cNvSpPr txBox="1"/>
          <p:nvPr/>
        </p:nvSpPr>
        <p:spPr>
          <a:xfrm>
            <a:off x="6521654" y="5030398"/>
            <a:ext cx="967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Control</a:t>
            </a:r>
          </a:p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C2BDCDAE-A8B6-4837-5D2C-3D7368E3C6F9}"/>
              </a:ext>
            </a:extLst>
          </p:cNvPr>
          <p:cNvSpPr/>
          <p:nvPr/>
        </p:nvSpPr>
        <p:spPr>
          <a:xfrm>
            <a:off x="5497975" y="5879939"/>
            <a:ext cx="8125428" cy="1423686"/>
          </a:xfrm>
          <a:custGeom>
            <a:avLst/>
            <a:gdLst>
              <a:gd name="connsiteX0" fmla="*/ 0 w 8125428"/>
              <a:gd name="connsiteY0" fmla="*/ 1423686 h 1423686"/>
              <a:gd name="connsiteX1" fmla="*/ 4363655 w 8125428"/>
              <a:gd name="connsiteY1" fmla="*/ 347241 h 1423686"/>
              <a:gd name="connsiteX2" fmla="*/ 8125428 w 8125428"/>
              <a:gd name="connsiteY2" fmla="*/ 0 h 1423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25428" h="1423686">
                <a:moveTo>
                  <a:pt x="0" y="1423686"/>
                </a:moveTo>
                <a:cubicBezTo>
                  <a:pt x="1504708" y="1004104"/>
                  <a:pt x="3009417" y="584522"/>
                  <a:pt x="4363655" y="347241"/>
                </a:cubicBezTo>
                <a:cubicBezTo>
                  <a:pt x="5717893" y="109960"/>
                  <a:pt x="6921660" y="54980"/>
                  <a:pt x="8125428" y="0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FB5706CE-E16F-FDFC-0A00-7007B78BC121}"/>
              </a:ext>
            </a:extLst>
          </p:cNvPr>
          <p:cNvSpPr/>
          <p:nvPr/>
        </p:nvSpPr>
        <p:spPr>
          <a:xfrm>
            <a:off x="5486400" y="7627716"/>
            <a:ext cx="8183301" cy="1453230"/>
          </a:xfrm>
          <a:custGeom>
            <a:avLst/>
            <a:gdLst>
              <a:gd name="connsiteX0" fmla="*/ 0 w 8183301"/>
              <a:gd name="connsiteY0" fmla="*/ 0 h 1453230"/>
              <a:gd name="connsiteX1" fmla="*/ 3622876 w 8183301"/>
              <a:gd name="connsiteY1" fmla="*/ 381965 h 1453230"/>
              <a:gd name="connsiteX2" fmla="*/ 4664597 w 8183301"/>
              <a:gd name="connsiteY2" fmla="*/ 1365813 h 1453230"/>
              <a:gd name="connsiteX3" fmla="*/ 8183301 w 8183301"/>
              <a:gd name="connsiteY3" fmla="*/ 1342664 h 1453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83301" h="1453230">
                <a:moveTo>
                  <a:pt x="0" y="0"/>
                </a:moveTo>
                <a:cubicBezTo>
                  <a:pt x="1422721" y="77165"/>
                  <a:pt x="2845443" y="154330"/>
                  <a:pt x="3622876" y="381965"/>
                </a:cubicBezTo>
                <a:cubicBezTo>
                  <a:pt x="4400309" y="609600"/>
                  <a:pt x="3904526" y="1205696"/>
                  <a:pt x="4664597" y="1365813"/>
                </a:cubicBezTo>
                <a:cubicBezTo>
                  <a:pt x="5424668" y="1525930"/>
                  <a:pt x="6803984" y="1434297"/>
                  <a:pt x="8183301" y="1342664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62F33B3C-B7BD-193C-A690-F9EB734F10B5}"/>
              </a:ext>
            </a:extLst>
          </p:cNvPr>
          <p:cNvSpPr/>
          <p:nvPr/>
        </p:nvSpPr>
        <p:spPr>
          <a:xfrm>
            <a:off x="11516808" y="6157732"/>
            <a:ext cx="2152893" cy="2592729"/>
          </a:xfrm>
          <a:custGeom>
            <a:avLst/>
            <a:gdLst>
              <a:gd name="connsiteX0" fmla="*/ 2141319 w 2152893"/>
              <a:gd name="connsiteY0" fmla="*/ 0 h 2592729"/>
              <a:gd name="connsiteX1" fmla="*/ 2 w 2152893"/>
              <a:gd name="connsiteY1" fmla="*/ 1088020 h 2592729"/>
              <a:gd name="connsiteX2" fmla="*/ 2152893 w 2152893"/>
              <a:gd name="connsiteY2" fmla="*/ 2592729 h 2592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2893" h="2592729">
                <a:moveTo>
                  <a:pt x="2141319" y="0"/>
                </a:moveTo>
                <a:cubicBezTo>
                  <a:pt x="1069696" y="327949"/>
                  <a:pt x="-1927" y="655899"/>
                  <a:pt x="2" y="1088020"/>
                </a:cubicBezTo>
                <a:cubicBezTo>
                  <a:pt x="1931" y="1520142"/>
                  <a:pt x="1077412" y="2056435"/>
                  <a:pt x="2152893" y="2592729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F03F5-14DB-BA8B-A7A0-5D6FDDE9F941}"/>
              </a:ext>
            </a:extLst>
          </p:cNvPr>
          <p:cNvSpPr txBox="1"/>
          <p:nvPr/>
        </p:nvSpPr>
        <p:spPr>
          <a:xfrm>
            <a:off x="10544537" y="713456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FF40FF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VPN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D63098A-FA4F-2A81-EADE-A9325AD86134}"/>
              </a:ext>
            </a:extLst>
          </p:cNvPr>
          <p:cNvGrpSpPr/>
          <p:nvPr/>
        </p:nvGrpSpPr>
        <p:grpSpPr>
          <a:xfrm>
            <a:off x="3942529" y="7095364"/>
            <a:ext cx="1542797" cy="646331"/>
            <a:chOff x="13562784" y="4724230"/>
            <a:chExt cx="1542797" cy="646331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3932912-A7B4-BA15-BFE1-1C421FB25FBC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1668CEC-3812-2808-7C82-6E5882251CAE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781E42-8011-519C-3C2A-5B91271F9057}"/>
              </a:ext>
            </a:extLst>
          </p:cNvPr>
          <p:cNvGrpSpPr/>
          <p:nvPr/>
        </p:nvGrpSpPr>
        <p:grpSpPr>
          <a:xfrm>
            <a:off x="13646080" y="8513998"/>
            <a:ext cx="1542797" cy="646331"/>
            <a:chOff x="13562784" y="4724230"/>
            <a:chExt cx="1542797" cy="64633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1C5E355-3B40-1FB6-5C24-D13FDF191891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DAC1B9-FA3A-AC80-3744-AAA90F87C86D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BFAACB5-E4A5-7186-0F42-6CBFDB2BD571}"/>
              </a:ext>
            </a:extLst>
          </p:cNvPr>
          <p:cNvGrpSpPr/>
          <p:nvPr/>
        </p:nvGrpSpPr>
        <p:grpSpPr>
          <a:xfrm>
            <a:off x="13625601" y="5667768"/>
            <a:ext cx="1542797" cy="646331"/>
            <a:chOff x="13562784" y="4724230"/>
            <a:chExt cx="1542797" cy="646331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95108E9-DEAC-4332-3481-9482AF189640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E653C1-075A-81EB-4845-D7AD921B13F6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5638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A95D-54AF-175C-4279-189BA94F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2A861-5124-597D-7E5B-740D2CCD7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Central configuration and orchestration automates deployment</a:t>
            </a:r>
          </a:p>
          <a:p>
            <a:r>
              <a:rPr lang="en-US"/>
              <a:t>Greater visibility than traditional WAN solutions</a:t>
            </a:r>
          </a:p>
          <a:p>
            <a:r>
              <a:rPr lang="en-US"/>
              <a:t>Application-level routing and management</a:t>
            </a:r>
          </a:p>
          <a:p>
            <a:r>
              <a:rPr lang="en-US"/>
              <a:t>Simple deployment of BCP rules</a:t>
            </a:r>
          </a:p>
          <a:p>
            <a:r>
              <a:rPr lang="en-US"/>
              <a:t>Often sold as a managed or co-managed solution</a:t>
            </a:r>
          </a:p>
          <a:p>
            <a:r>
              <a:rPr lang="en-US"/>
              <a:t>Security at the branch level or in the cloud</a:t>
            </a:r>
          </a:p>
          <a:p>
            <a:r>
              <a:rPr lang="en-US"/>
              <a:t>Secure cloud connectivity</a:t>
            </a:r>
          </a:p>
          <a:p>
            <a:r>
              <a:rPr lang="en-US"/>
              <a:t>Various implementation models</a:t>
            </a:r>
          </a:p>
        </p:txBody>
      </p:sp>
    </p:spTree>
    <p:extLst>
      <p:ext uri="{BB962C8B-B14F-4D97-AF65-F5344CB8AC3E}">
        <p14:creationId xmlns:p14="http://schemas.microsoft.com/office/powerpoint/2010/main" val="37097920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6FC44-0089-E5FD-C38F-515496672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SD WAN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02BFF8-2462-51AD-9472-7DCD14FF95D8}"/>
              </a:ext>
            </a:extLst>
          </p:cNvPr>
          <p:cNvGrpSpPr/>
          <p:nvPr/>
        </p:nvGrpSpPr>
        <p:grpSpPr>
          <a:xfrm>
            <a:off x="2181007" y="6018919"/>
            <a:ext cx="5016548" cy="3141409"/>
            <a:chOff x="10447871" y="4724230"/>
            <a:chExt cx="4777148" cy="102980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F3DE280-D952-1BFD-875B-12462CEEEFC7}"/>
                </a:ext>
              </a:extLst>
            </p:cNvPr>
            <p:cNvSpPr/>
            <p:nvPr/>
          </p:nvSpPr>
          <p:spPr>
            <a:xfrm>
              <a:off x="10447871" y="4724230"/>
              <a:ext cx="4657710" cy="1029809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AAFB89-9C42-ADC3-2C80-0BC358A9A2BF}"/>
                </a:ext>
              </a:extLst>
            </p:cNvPr>
            <p:cNvSpPr txBox="1"/>
            <p:nvPr/>
          </p:nvSpPr>
          <p:spPr>
            <a:xfrm>
              <a:off x="12282864" y="4800243"/>
              <a:ext cx="2942155" cy="8777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Routing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VPN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Security</a:t>
              </a:r>
            </a:p>
          </p:txBody>
        </p:sp>
      </p:grpSp>
      <p:pic>
        <p:nvPicPr>
          <p:cNvPr id="7" name="Picture 6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21004FD1-B49C-20CC-0BA7-B31B36212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716" y="2653990"/>
            <a:ext cx="2540000" cy="1905000"/>
          </a:xfrm>
          <a:prstGeom prst="rect">
            <a:avLst/>
          </a:prstGeom>
        </p:spPr>
      </p:pic>
      <p:pic>
        <p:nvPicPr>
          <p:cNvPr id="8" name="Graphic 7" descr="Cloud outline">
            <a:extLst>
              <a:ext uri="{FF2B5EF4-FFF2-40B4-BE49-F238E27FC236}">
                <a16:creationId xmlns:a16="http://schemas.microsoft.com/office/drawing/2014/main" id="{08EAA671-E425-9523-291C-2B512D536F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47954" y="1470729"/>
            <a:ext cx="8733227" cy="100527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906252-C20F-ECB7-5F37-B476282727EF}"/>
              </a:ext>
            </a:extLst>
          </p:cNvPr>
          <p:cNvSpPr txBox="1"/>
          <p:nvPr/>
        </p:nvSpPr>
        <p:spPr>
          <a:xfrm>
            <a:off x="2104125" y="6044774"/>
            <a:ext cx="25224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Performance</a:t>
            </a: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 Gathering</a:t>
            </a:r>
          </a:p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BCP Rules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4394BA-409C-DF6B-52FB-697A0926B129}"/>
              </a:ext>
            </a:extLst>
          </p:cNvPr>
          <p:cNvCxnSpPr>
            <a:stCxn id="5" idx="0"/>
          </p:cNvCxnSpPr>
          <p:nvPr/>
        </p:nvCxnSpPr>
        <p:spPr>
          <a:xfrm flipH="1">
            <a:off x="4626569" y="6018919"/>
            <a:ext cx="1" cy="3141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3425FA6-59FA-FCEE-D09E-6674494F776E}"/>
              </a:ext>
            </a:extLst>
          </p:cNvPr>
          <p:cNvCxnSpPr>
            <a:cxnSpLocks/>
          </p:cNvCxnSpPr>
          <p:nvPr/>
        </p:nvCxnSpPr>
        <p:spPr>
          <a:xfrm>
            <a:off x="4621487" y="7383602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CDA60B-6B44-9B8A-6904-DCB9F3CF99CB}"/>
              </a:ext>
            </a:extLst>
          </p:cNvPr>
          <p:cNvCxnSpPr>
            <a:cxnSpLocks/>
          </p:cNvCxnSpPr>
          <p:nvPr/>
        </p:nvCxnSpPr>
        <p:spPr>
          <a:xfrm>
            <a:off x="4621487" y="8207333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AF0300-AD82-DF9A-6852-E8E3E9DF9D8C}"/>
              </a:ext>
            </a:extLst>
          </p:cNvPr>
          <p:cNvCxnSpPr>
            <a:cxnSpLocks/>
          </p:cNvCxnSpPr>
          <p:nvPr/>
        </p:nvCxnSpPr>
        <p:spPr>
          <a:xfrm>
            <a:off x="2181007" y="8013374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BF90646-FE42-1620-3E84-549DB28648C6}"/>
              </a:ext>
            </a:extLst>
          </p:cNvPr>
          <p:cNvCxnSpPr/>
          <p:nvPr/>
        </p:nvCxnSpPr>
        <p:spPr>
          <a:xfrm flipV="1">
            <a:off x="3406329" y="3900668"/>
            <a:ext cx="2832425" cy="211825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395FB6-580A-A07E-CC61-089E6213C549}"/>
              </a:ext>
            </a:extLst>
          </p:cNvPr>
          <p:cNvCxnSpPr>
            <a:cxnSpLocks/>
          </p:cNvCxnSpPr>
          <p:nvPr/>
        </p:nvCxnSpPr>
        <p:spPr>
          <a:xfrm>
            <a:off x="7069716" y="6829947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026CB-1547-8A20-95E2-546924BB8970}"/>
              </a:ext>
            </a:extLst>
          </p:cNvPr>
          <p:cNvCxnSpPr>
            <a:cxnSpLocks/>
          </p:cNvCxnSpPr>
          <p:nvPr/>
        </p:nvCxnSpPr>
        <p:spPr>
          <a:xfrm>
            <a:off x="7070437" y="8013374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91AD3A-3E08-6AB2-24AF-2767E251E8CB}"/>
              </a:ext>
            </a:extLst>
          </p:cNvPr>
          <p:cNvSpPr txBox="1"/>
          <p:nvPr/>
        </p:nvSpPr>
        <p:spPr>
          <a:xfrm>
            <a:off x="12478397" y="6625482"/>
            <a:ext cx="209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B487F2-C198-2011-D041-8D2401448D79}"/>
              </a:ext>
            </a:extLst>
          </p:cNvPr>
          <p:cNvSpPr txBox="1"/>
          <p:nvPr/>
        </p:nvSpPr>
        <p:spPr>
          <a:xfrm>
            <a:off x="7975601" y="6231733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409827-11C4-C225-FF74-661734B887E7}"/>
              </a:ext>
            </a:extLst>
          </p:cNvPr>
          <p:cNvSpPr txBox="1"/>
          <p:nvPr/>
        </p:nvSpPr>
        <p:spPr>
          <a:xfrm>
            <a:off x="7979992" y="8119926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B05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2</a:t>
            </a:r>
          </a:p>
        </p:txBody>
      </p:sp>
    </p:spTree>
    <p:extLst>
      <p:ext uri="{BB962C8B-B14F-4D97-AF65-F5344CB8AC3E}">
        <p14:creationId xmlns:p14="http://schemas.microsoft.com/office/powerpoint/2010/main" val="41845870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85204-BFB1-3823-1C08-25F5228C0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Observations for SD WAN Branch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E6678-4CAD-C123-281B-74D0DA608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Benefits</a:t>
            </a:r>
          </a:p>
          <a:p>
            <a:pPr lvl="1"/>
            <a:r>
              <a:rPr lang="en-US"/>
              <a:t>Simpler configuration and implementation</a:t>
            </a:r>
          </a:p>
          <a:p>
            <a:pPr lvl="2"/>
            <a:r>
              <a:rPr lang="en-US"/>
              <a:t>Connectivity</a:t>
            </a:r>
          </a:p>
          <a:p>
            <a:pPr lvl="2"/>
            <a:r>
              <a:rPr lang="en-US"/>
              <a:t>Security</a:t>
            </a:r>
          </a:p>
          <a:p>
            <a:pPr lvl="2"/>
            <a:r>
              <a:rPr lang="en-US"/>
              <a:t>Business continuity</a:t>
            </a:r>
          </a:p>
          <a:p>
            <a:pPr lvl="1"/>
            <a:r>
              <a:rPr lang="en-US"/>
              <a:t>Greater visibility</a:t>
            </a:r>
          </a:p>
          <a:p>
            <a:pPr lvl="2"/>
            <a:r>
              <a:rPr lang="en-US"/>
              <a:t>Overall performance</a:t>
            </a:r>
          </a:p>
          <a:p>
            <a:pPr lvl="2"/>
            <a:r>
              <a:rPr lang="en-US"/>
              <a:t>Application specifics</a:t>
            </a:r>
          </a:p>
          <a:p>
            <a:pPr lvl="1"/>
            <a:r>
              <a:rPr lang="en-US"/>
              <a:t>Lower cost</a:t>
            </a:r>
          </a:p>
          <a:p>
            <a:pPr lvl="1"/>
            <a:r>
              <a:rPr lang="en-US"/>
              <a:t>Cloud integration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 descr="A picture containing screenshot, graphic design, cartoon, art&#10;&#10;Description automatically generated">
            <a:extLst>
              <a:ext uri="{FF2B5EF4-FFF2-40B4-BE49-F238E27FC236}">
                <a16:creationId xmlns:a16="http://schemas.microsoft.com/office/drawing/2014/main" id="{1940CEAB-36E9-8A9F-796C-4A52243B6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9280" y="4275581"/>
            <a:ext cx="5715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87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Remote Access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 Who has remote access capability to network resources?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16966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114800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one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681728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62686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19379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138928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(bank-owned device)</a:t>
            </a:r>
          </a:p>
        </p:txBody>
      </p:sp>
      <p:sp>
        <p:nvSpPr>
          <p:cNvPr id="13" name="Checkbox 4"/>
          <p:cNvSpPr/>
          <p:nvPr/>
        </p:nvSpPr>
        <p:spPr>
          <a:xfrm>
            <a:off x="2125980" y="5705855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2628900" y="5650992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(personal device)</a:t>
            </a:r>
          </a:p>
        </p:txBody>
      </p:sp>
      <p:pic>
        <p:nvPicPr>
          <p:cNvPr id="15" name="Laptop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35340" y="2551176"/>
            <a:ext cx="475488" cy="475488"/>
          </a:xfrm>
          <a:prstGeom prst="rect">
            <a:avLst/>
          </a:prstGeom>
        </p:spPr>
      </p:pic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to critical systems by employees, contractors, and third parties uses encrypted connections and multifactor authentication.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remote access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86400"/>
            <a:ext cx="6400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Who’s behind your red </a:t>
            </a:r>
            <a:r>
              <a:rPr lang="en-US"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boxes</a:t>
            </a: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3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controls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Approvals and audits, secure setup at both ends, strong authentication, vendor accounts on only when needed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and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sessions logged and watched, especially vendors and privileged users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access, bring-your-own-device and bank-issued mobile device policies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staff still connect remotely when working from the backup site?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Profile, Management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11047264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8: </a:t>
            </a:r>
            <a:br>
              <a:rPr lang="en-US" dirty="0"/>
            </a:br>
            <a:r>
              <a:rPr dirty="0"/>
              <a:t>Wireless</a:t>
            </a:r>
            <a:r>
              <a:rPr lang="en-US" dirty="0"/>
              <a:t> WANs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6818A29-ECCA-0574-B47B-BABF34A26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Connecting to the Internet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3A23B-F4A9-439C-6CA5-F96B3D192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wide variety of access options already discussed</a:t>
            </a:r>
          </a:p>
          <a:p>
            <a:pPr lvl="1"/>
            <a:r>
              <a:rPr lang="en-US" dirty="0"/>
              <a:t>DSL</a:t>
            </a:r>
          </a:p>
          <a:p>
            <a:pPr lvl="1"/>
            <a:r>
              <a:rPr lang="en-US" dirty="0"/>
              <a:t>Cable Modem</a:t>
            </a:r>
          </a:p>
          <a:p>
            <a:pPr lvl="1"/>
            <a:r>
              <a:rPr lang="en-US" dirty="0"/>
              <a:t>Ethernet</a:t>
            </a:r>
          </a:p>
          <a:p>
            <a:r>
              <a:rPr lang="en-US" dirty="0"/>
              <a:t>Wireless options have increasingly grown in access share</a:t>
            </a:r>
          </a:p>
          <a:p>
            <a:pPr lvl="1"/>
            <a:r>
              <a:rPr lang="en-US" dirty="0"/>
              <a:t>Mobile phones</a:t>
            </a:r>
          </a:p>
          <a:p>
            <a:pPr lvl="1"/>
            <a:r>
              <a:rPr lang="en-US" dirty="0"/>
              <a:t>Fixed wireless access</a:t>
            </a:r>
          </a:p>
          <a:p>
            <a:pPr lvl="2"/>
            <a:r>
              <a:rPr lang="en-US" dirty="0"/>
              <a:t>Mobile</a:t>
            </a:r>
          </a:p>
          <a:p>
            <a:pPr lvl="2"/>
            <a:r>
              <a:rPr lang="en-US" dirty="0"/>
              <a:t>Wi-Fi </a:t>
            </a:r>
          </a:p>
          <a:p>
            <a:pPr lvl="2"/>
            <a:r>
              <a:rPr lang="en-US" dirty="0"/>
              <a:t>Satellite</a:t>
            </a:r>
          </a:p>
          <a:p>
            <a:pPr lvl="2"/>
            <a:r>
              <a:rPr lang="en-US" dirty="0"/>
              <a:t>Terrestrial Microwave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3829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A137C-7AC6-59CC-1522-EB5A62999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Cellular (Mobile?)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C1253-C54C-EB80-EF0A-F7AC3B236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532996"/>
          </a:xfrm>
        </p:spPr>
        <p:txBody>
          <a:bodyPr>
            <a:normAutofit/>
          </a:bodyPr>
          <a:lstStyle/>
          <a:p>
            <a:r>
              <a:rPr lang="en-US" dirty="0"/>
              <a:t>Many similarities to Wi-Fi</a:t>
            </a:r>
          </a:p>
          <a:p>
            <a:pPr lvl="1"/>
            <a:r>
              <a:rPr lang="en-US" dirty="0"/>
              <a:t>Specific bands allocated for the service </a:t>
            </a:r>
          </a:p>
          <a:p>
            <a:pPr lvl="1"/>
            <a:r>
              <a:rPr lang="en-US" dirty="0"/>
              <a:t>Multiple generations of the technology with each improving performance</a:t>
            </a:r>
          </a:p>
          <a:p>
            <a:pPr lvl="1"/>
            <a:r>
              <a:rPr lang="en-US" dirty="0"/>
              <a:t>Bands vary by country and regulation</a:t>
            </a:r>
          </a:p>
          <a:p>
            <a:pPr lvl="1"/>
            <a:r>
              <a:rPr lang="en-US" dirty="0"/>
              <a:t>Current generations have added new bands to increase capacity</a:t>
            </a:r>
          </a:p>
          <a:p>
            <a:pPr lvl="1"/>
            <a:r>
              <a:rPr lang="en-US" dirty="0"/>
              <a:t>Frequency (channel in Wi-Fi) reuse provides coverage in a wide area</a:t>
            </a:r>
          </a:p>
          <a:p>
            <a:r>
              <a:rPr lang="en-US" dirty="0"/>
              <a:t>Some differences</a:t>
            </a:r>
          </a:p>
          <a:p>
            <a:pPr lvl="1"/>
            <a:r>
              <a:rPr lang="en-US" dirty="0"/>
              <a:t>Original application was voice, data added over time</a:t>
            </a:r>
          </a:p>
          <a:p>
            <a:pPr lvl="1"/>
            <a:r>
              <a:rPr lang="en-US" dirty="0"/>
              <a:t>Handoff between cells creates a WAN</a:t>
            </a:r>
          </a:p>
          <a:p>
            <a:pPr lvl="1"/>
            <a:r>
              <a:rPr lang="en-US" dirty="0"/>
              <a:t>Protocols to interconnect carrier networks part of the standards</a:t>
            </a:r>
          </a:p>
          <a:p>
            <a:pPr lvl="1"/>
            <a:r>
              <a:rPr lang="en-US" dirty="0"/>
              <a:t>Spectrum requires a license from the FCC</a:t>
            </a:r>
          </a:p>
          <a:p>
            <a:endParaRPr lang="en-US" dirty="0"/>
          </a:p>
        </p:txBody>
      </p:sp>
      <p:pic>
        <p:nvPicPr>
          <p:cNvPr id="4" name="Picture 4" descr="180px-DynaTAC8000X">
            <a:hlinkClick r:id="rId3" tooltip="Motorola DynaTAC 8000X AMPS mobile phone"/>
            <a:extLst>
              <a:ext uri="{FF2B5EF4-FFF2-40B4-BE49-F238E27FC236}">
                <a16:creationId xmlns:a16="http://schemas.microsoft.com/office/drawing/2014/main" id="{DD9E72DE-A856-90E8-3DD8-EBA291571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6818397" y="6936624"/>
            <a:ext cx="1469603" cy="32645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874955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DABFD-8287-740E-87AA-910A920A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Cellular Network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BC6DC-D997-B0E5-1FAB-56FC52CA1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Analog to digital</a:t>
            </a:r>
          </a:p>
          <a:p>
            <a:r>
              <a:rPr lang="en-US" dirty="0"/>
              <a:t>Voice to data</a:t>
            </a:r>
          </a:p>
          <a:p>
            <a:pPr lvl="1"/>
            <a:r>
              <a:rPr lang="en-US" dirty="0"/>
              <a:t>Beginning to sound familiar?</a:t>
            </a:r>
          </a:p>
          <a:p>
            <a:r>
              <a:rPr lang="en-US" dirty="0"/>
              <a:t>Single frequency band to multiple bands (varies by country)</a:t>
            </a:r>
          </a:p>
          <a:p>
            <a:r>
              <a:rPr lang="en-US" dirty="0"/>
              <a:t>Multiple technology standards globally to one</a:t>
            </a:r>
          </a:p>
          <a:p>
            <a:r>
              <a:rPr lang="en-US" dirty="0"/>
              <a:t>Increased use of fixed wireless access (FWA) for residential and business internet access</a:t>
            </a:r>
          </a:p>
          <a:p>
            <a:r>
              <a:rPr lang="en-US" dirty="0"/>
              <a:t>Move to edge computing to support low latency applications (industrial controls and self-driving cars being examples)</a:t>
            </a:r>
          </a:p>
        </p:txBody>
      </p:sp>
    </p:spTree>
    <p:extLst>
      <p:ext uri="{BB962C8B-B14F-4D97-AF65-F5344CB8AC3E}">
        <p14:creationId xmlns:p14="http://schemas.microsoft.com/office/powerpoint/2010/main" val="1708313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F4DD-9DBB-BE7A-32D5-02EC9A438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“Cellular”?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E03FF-434D-0A76-47EE-46399C4EE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605" y="2856808"/>
            <a:ext cx="6906546" cy="6967198"/>
          </a:xfrm>
        </p:spPr>
        <p:txBody>
          <a:bodyPr/>
          <a:lstStyle/>
          <a:p>
            <a:r>
              <a:rPr lang="en-US" dirty="0"/>
              <a:t>Cells defined by antennas and base stations</a:t>
            </a:r>
          </a:p>
          <a:p>
            <a:r>
              <a:rPr lang="en-US" dirty="0"/>
              <a:t>Frequency reuse between base stations</a:t>
            </a:r>
          </a:p>
          <a:p>
            <a:r>
              <a:rPr lang="en-US" dirty="0"/>
              <a:t>Base station to base station handoff</a:t>
            </a:r>
          </a:p>
          <a:p>
            <a:r>
              <a:rPr lang="en-US" dirty="0"/>
              <a:t>Base station connection to voice and internet at Mobile Switching Center</a:t>
            </a:r>
          </a:p>
        </p:txBody>
      </p:sp>
      <p:pic>
        <p:nvPicPr>
          <p:cNvPr id="4" name="Picture 3" descr="G2240_Cell-Concept">
            <a:extLst>
              <a:ext uri="{FF2B5EF4-FFF2-40B4-BE49-F238E27FC236}">
                <a16:creationId xmlns:a16="http://schemas.microsoft.com/office/drawing/2014/main" id="{33639F3E-6D67-477E-8297-1AD387E48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24731" y="3087011"/>
            <a:ext cx="10094830" cy="541712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750995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71F4-8AE8-8047-B168-4DC0FDD2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0CB7A-CD4A-FD4B-B286-51E219B4C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6021297" cy="6967198"/>
          </a:xfrm>
        </p:spPr>
        <p:txBody>
          <a:bodyPr>
            <a:normAutofit/>
          </a:bodyPr>
          <a:lstStyle/>
          <a:p>
            <a:r>
              <a:rPr lang="en-US" dirty="0"/>
              <a:t>The current generation of cellular wireless</a:t>
            </a:r>
          </a:p>
          <a:p>
            <a:pPr lvl="1"/>
            <a:r>
              <a:rPr lang="en-US" dirty="0"/>
              <a:t>Widely deployed in urban and suburban environments</a:t>
            </a:r>
          </a:p>
          <a:p>
            <a:pPr lvl="1"/>
            <a:r>
              <a:rPr lang="en-US" dirty="0"/>
              <a:t>Rural areas lagging, as usual (it’s expensive)</a:t>
            </a:r>
          </a:p>
          <a:p>
            <a:pPr lvl="1"/>
            <a:r>
              <a:rPr lang="en-US" dirty="0"/>
              <a:t>Lots of variations in 5G deployments globally</a:t>
            </a:r>
          </a:p>
          <a:p>
            <a:r>
              <a:rPr lang="en-US" dirty="0"/>
              <a:t>Key changes from 4G</a:t>
            </a:r>
          </a:p>
          <a:p>
            <a:pPr lvl="1"/>
            <a:r>
              <a:rPr lang="en-US" dirty="0"/>
              <a:t>New modulation schemes</a:t>
            </a:r>
          </a:p>
          <a:p>
            <a:pPr lvl="1"/>
            <a:r>
              <a:rPr lang="en-US" dirty="0"/>
              <a:t>More frequency bands</a:t>
            </a:r>
          </a:p>
          <a:p>
            <a:pPr lvl="1"/>
            <a:r>
              <a:rPr lang="en-US" dirty="0"/>
              <a:t>Higher speeds</a:t>
            </a:r>
          </a:p>
          <a:p>
            <a:pPr lvl="1"/>
            <a:r>
              <a:rPr lang="en-US" dirty="0"/>
              <a:t>Lower latency</a:t>
            </a:r>
          </a:p>
          <a:p>
            <a:pPr lvl="1"/>
            <a:r>
              <a:rPr lang="en-US" dirty="0"/>
              <a:t>Fixed wireless options</a:t>
            </a:r>
          </a:p>
          <a:p>
            <a:pPr lvl="1"/>
            <a:r>
              <a:rPr lang="en-US" dirty="0"/>
              <a:t>Internet of Things (IoT) support</a:t>
            </a:r>
          </a:p>
        </p:txBody>
      </p:sp>
      <p:pic>
        <p:nvPicPr>
          <p:cNvPr id="5" name="Picture 4" descr="A picture containing text, font&#10;&#10;Description automatically generated">
            <a:extLst>
              <a:ext uri="{FF2B5EF4-FFF2-40B4-BE49-F238E27FC236}">
                <a16:creationId xmlns:a16="http://schemas.microsoft.com/office/drawing/2014/main" id="{BAFD59DF-9387-9CFC-13FF-754FA7123C5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42883" y="2849123"/>
            <a:ext cx="8745117" cy="874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418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Fixed Wireless Internet</a:t>
            </a:r>
          </a:p>
        </p:txBody>
      </p:sp>
      <p:sp>
        <p:nvSpPr>
          <p:cNvPr id="3" name="Kinds heading"/>
          <p:cNvSpPr txBox="1"/>
          <p:nvPr/>
        </p:nvSpPr>
        <p:spPr>
          <a:xfrm>
            <a:off x="1257300" y="2514600"/>
            <a:ext cx="9235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delivered by radio to a building that doesn’t move</a:t>
            </a:r>
          </a:p>
        </p:txBody>
      </p:sp>
      <p:sp>
        <p:nvSpPr>
          <p:cNvPr id="4" name="Kind 1 marker"/>
          <p:cNvSpPr/>
          <p:nvPr/>
        </p:nvSpPr>
        <p:spPr>
          <a:xfrm>
            <a:off x="1257300" y="3227832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Kind 1"/>
          <p:cNvSpPr txBox="1"/>
          <p:nvPr/>
        </p:nvSpPr>
        <p:spPr>
          <a:xfrm>
            <a:off x="1851660" y="3154680"/>
            <a:ext cx="8641080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4G / 5G</a:t>
            </a:r>
          </a:p>
          <a:p>
            <a:pPr algn="l">
              <a:spcAft>
                <a:spcPts val="0"/>
              </a:spcAft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carrier’s box in the window or </a:t>
            </a: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outside</a:t>
            </a: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, using the cellular network</a:t>
            </a:r>
          </a:p>
        </p:txBody>
      </p:sp>
      <p:sp>
        <p:nvSpPr>
          <p:cNvPr id="6" name="Kind 2 marker"/>
          <p:cNvSpPr/>
          <p:nvPr/>
        </p:nvSpPr>
        <p:spPr>
          <a:xfrm>
            <a:off x="1257300" y="3941064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Kind 2"/>
          <p:cNvSpPr txBox="1"/>
          <p:nvPr/>
        </p:nvSpPr>
        <p:spPr>
          <a:xfrm>
            <a:off x="1851660" y="3867912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wireless ISP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rooftop antenna aimed at the provider’s tower; common in rural areas</a:t>
            </a:r>
          </a:p>
        </p:txBody>
      </p:sp>
      <p:sp>
        <p:nvSpPr>
          <p:cNvPr id="8" name="Kind 3 marker"/>
          <p:cNvSpPr/>
          <p:nvPr/>
        </p:nvSpPr>
        <p:spPr>
          <a:xfrm>
            <a:off x="1257300" y="4654296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Kind 3"/>
          <p:cNvSpPr txBox="1"/>
          <p:nvPr/>
        </p:nvSpPr>
        <p:spPr>
          <a:xfrm>
            <a:off x="1851660" y="4581144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Point-to-point link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radio link between two buildings in line of sight</a:t>
            </a:r>
          </a:p>
        </p:txBody>
      </p:sp>
      <p:sp>
        <p:nvSpPr>
          <p:cNvPr id="10" name="Why banks use it"/>
          <p:cNvSpPr txBox="1"/>
          <p:nvPr/>
        </p:nvSpPr>
        <p:spPr>
          <a:xfrm>
            <a:off x="1257300" y="5532120"/>
            <a:ext cx="4297680" cy="17030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might 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best option at some rural branches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Fails differently from wireline, so it makes a natural 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Installed in days, not months</a:t>
            </a:r>
          </a:p>
        </p:txBody>
      </p:sp>
      <p:sp>
        <p:nvSpPr>
          <p:cNvPr id="11" name="What to watch"/>
          <p:cNvSpPr txBox="1"/>
          <p:nvPr/>
        </p:nvSpPr>
        <p:spPr>
          <a:xfrm>
            <a:off x="6012180" y="553212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Line of sight and weather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on cellular it may get lower priority than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terms: no SLA, no static IP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tower may ride the same fiber as the bank’s wireline provider</a:t>
            </a:r>
          </a:p>
        </p:txBody>
      </p:sp>
      <p:sp>
        <p:nvSpPr>
          <p:cNvPr id="12" name="Photo placeholder"/>
          <p:cNvSpPr/>
          <p:nvPr/>
        </p:nvSpPr>
        <p:spPr>
          <a:xfrm>
            <a:off x="10972800" y="2606040"/>
            <a:ext cx="6035040" cy="4206240"/>
          </a:xfrm>
          <a:prstGeom prst="rect">
            <a:avLst/>
          </a:prstGeom>
          <a:solidFill>
            <a:srgbClr val="F2F2F2"/>
          </a:solidFill>
          <a:ln w="190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Questions panel"/>
          <p:cNvSpPr/>
          <p:nvPr/>
        </p:nvSpPr>
        <p:spPr>
          <a:xfrm>
            <a:off x="10972800" y="7086600"/>
            <a:ext cx="6035040" cy="23774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Examiner questions"/>
          <p:cNvSpPr txBox="1"/>
          <p:nvPr/>
        </p:nvSpPr>
        <p:spPr>
          <a:xfrm>
            <a:off x="11292840" y="7269480"/>
            <a:ext cx="5394959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the primary connection or the backup?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business plan with an SLA?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it carry the branch if the wireline fails?</a:t>
            </a:r>
          </a:p>
        </p:txBody>
      </p:sp>
      <p:pic>
        <p:nvPicPr>
          <p:cNvPr id="17" name="Picture 16" descr="A white rectangular object on a metal building&#10;&#10;AI-generated content may be incorrect.">
            <a:extLst>
              <a:ext uri="{FF2B5EF4-FFF2-40B4-BE49-F238E27FC236}">
                <a16:creationId xmlns:a16="http://schemas.microsoft.com/office/drawing/2014/main" id="{854C07CB-8955-FA09-E576-44175DBA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9940" y="2257903"/>
            <a:ext cx="6080760" cy="462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615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arth"/>
          <p:cNvSpPr/>
          <p:nvPr/>
        </p:nvSpPr>
        <p:spPr>
          <a:xfrm>
            <a:off x="-3291840" y="8549640"/>
            <a:ext cx="16093440" cy="8229600"/>
          </a:xfrm>
          <a:prstGeom prst="ellipse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Starlink: Satellite Internet</a:t>
            </a:r>
          </a:p>
        </p:txBody>
      </p:sp>
      <p:pic>
        <p:nvPicPr>
          <p:cNvPr id="4" name="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7818120"/>
            <a:ext cx="914400" cy="914400"/>
          </a:xfrm>
          <a:prstGeom prst="rect">
            <a:avLst/>
          </a:prstGeom>
        </p:spPr>
      </p:pic>
      <p:pic>
        <p:nvPicPr>
          <p:cNvPr id="5" name="Branch dis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0340" y="7932420"/>
            <a:ext cx="685800" cy="685800"/>
          </a:xfrm>
          <a:prstGeom prst="rect">
            <a:avLst/>
          </a:prstGeom>
        </p:spPr>
      </p:pic>
      <p:sp>
        <p:nvSpPr>
          <p:cNvPr id="6" name="Branch label"/>
          <p:cNvSpPr txBox="1"/>
          <p:nvPr/>
        </p:nvSpPr>
        <p:spPr>
          <a:xfrm>
            <a:off x="822960" y="879652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 user dish</a:t>
            </a:r>
          </a:p>
        </p:txBody>
      </p:sp>
      <p:pic>
        <p:nvPicPr>
          <p:cNvPr id="7" name="Gateway dis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69580" y="7795260"/>
            <a:ext cx="868680" cy="868680"/>
          </a:xfrm>
          <a:prstGeom prst="rect">
            <a:avLst/>
          </a:prstGeom>
        </p:spPr>
      </p:pic>
      <p:sp>
        <p:nvSpPr>
          <p:cNvPr id="8" name="Gateway label"/>
          <p:cNvSpPr txBox="1"/>
          <p:nvPr/>
        </p:nvSpPr>
        <p:spPr>
          <a:xfrm>
            <a:off x="7223760" y="8796528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Gateway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ground station</a:t>
            </a:r>
          </a:p>
        </p:txBody>
      </p:sp>
      <p:pic>
        <p:nvPicPr>
          <p:cNvPr id="9" name="Internet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52560" y="6126480"/>
            <a:ext cx="1554480" cy="1554480"/>
          </a:xfrm>
          <a:prstGeom prst="rect">
            <a:avLst/>
          </a:prstGeom>
        </p:spPr>
      </p:pic>
      <p:sp>
        <p:nvSpPr>
          <p:cNvPr id="10" name="Internet label"/>
          <p:cNvSpPr txBox="1"/>
          <p:nvPr/>
        </p:nvSpPr>
        <p:spPr>
          <a:xfrm>
            <a:off x="9235440" y="683971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1" name="Gateway to internet"/>
          <p:cNvCxnSpPr/>
          <p:nvPr/>
        </p:nvCxnSpPr>
        <p:spPr>
          <a:xfrm flipV="1">
            <a:off x="8823960" y="7269480"/>
            <a:ext cx="640080" cy="594360"/>
          </a:xfrm>
          <a:prstGeom prst="line">
            <a:avLst/>
          </a:prstGeom>
          <a:ln w="444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LEO satellite 1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77540" y="4869180"/>
            <a:ext cx="777240" cy="777240"/>
          </a:xfrm>
          <a:prstGeom prst="rect">
            <a:avLst/>
          </a:prstGeom>
        </p:spPr>
      </p:pic>
      <p:pic>
        <p:nvPicPr>
          <p:cNvPr id="13" name="LEO satellite 2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326380" y="4366260"/>
            <a:ext cx="777240" cy="777240"/>
          </a:xfrm>
          <a:prstGeom prst="rect">
            <a:avLst/>
          </a:prstGeom>
        </p:spPr>
      </p:pic>
      <p:pic>
        <p:nvPicPr>
          <p:cNvPr id="14" name="LEO satellite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75219" y="4869180"/>
            <a:ext cx="777240" cy="777240"/>
          </a:xfrm>
          <a:prstGeom prst="rect">
            <a:avLst/>
          </a:prstGeom>
        </p:spPr>
      </p:pic>
      <p:cxnSp>
        <p:nvCxnSpPr>
          <p:cNvPr id="15" name="Laser link 1"/>
          <p:cNvCxnSpPr/>
          <p:nvPr/>
        </p:nvCxnSpPr>
        <p:spPr>
          <a:xfrm flipV="1">
            <a:off x="3977639" y="4846320"/>
            <a:ext cx="1325881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aser link 2"/>
          <p:cNvCxnSpPr/>
          <p:nvPr/>
        </p:nvCxnSpPr>
        <p:spPr>
          <a:xfrm>
            <a:off x="6126480" y="4846320"/>
            <a:ext cx="1325880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aser label"/>
          <p:cNvSpPr txBox="1"/>
          <p:nvPr/>
        </p:nvSpPr>
        <p:spPr>
          <a:xfrm>
            <a:off x="4206240" y="4069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 dirty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laser links between satellites</a:t>
            </a:r>
          </a:p>
        </p:txBody>
      </p:sp>
      <p:cxnSp>
        <p:nvCxnSpPr>
          <p:cNvPr id="18" name="Uplink"/>
          <p:cNvCxnSpPr/>
          <p:nvPr/>
        </p:nvCxnSpPr>
        <p:spPr>
          <a:xfrm flipV="1">
            <a:off x="3154680" y="5669280"/>
            <a:ext cx="365760" cy="22402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ownlink"/>
          <p:cNvCxnSpPr/>
          <p:nvPr/>
        </p:nvCxnSpPr>
        <p:spPr>
          <a:xfrm>
            <a:off x="7909560" y="5669280"/>
            <a:ext cx="502920" cy="21488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O label"/>
          <p:cNvSpPr txBox="1"/>
          <p:nvPr/>
        </p:nvSpPr>
        <p:spPr>
          <a:xfrm>
            <a:off x="914400" y="598932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Low-earth orbit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about 550 km up</a:t>
            </a:r>
          </a:p>
        </p:txBody>
      </p:sp>
      <p:pic>
        <p:nvPicPr>
          <p:cNvPr id="21" name="GEO satellit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49740" y="2537460"/>
            <a:ext cx="685800" cy="685800"/>
          </a:xfrm>
          <a:prstGeom prst="rect">
            <a:avLst/>
          </a:prstGeom>
        </p:spPr>
      </p:pic>
      <p:cxnSp>
        <p:nvCxnSpPr>
          <p:cNvPr id="22" name="GEO path"/>
          <p:cNvCxnSpPr/>
          <p:nvPr/>
        </p:nvCxnSpPr>
        <p:spPr>
          <a:xfrm flipV="1">
            <a:off x="3200400" y="3154680"/>
            <a:ext cx="6217920" cy="4754880"/>
          </a:xfrm>
          <a:prstGeom prst="line">
            <a:avLst/>
          </a:prstGeom>
          <a:ln w="25400">
            <a:solidFill>
              <a:srgbClr val="A6A6A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O label"/>
          <p:cNvSpPr txBox="1"/>
          <p:nvPr/>
        </p:nvSpPr>
        <p:spPr>
          <a:xfrm>
            <a:off x="6766560" y="2514600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Traditional satellite</a:t>
            </a:r>
          </a:p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about 36,000 km up</a:t>
            </a:r>
          </a:p>
        </p:txBody>
      </p:sp>
      <p:sp>
        <p:nvSpPr>
          <p:cNvPr id="24" name="Latency panel"/>
          <p:cNvSpPr/>
          <p:nvPr/>
        </p:nvSpPr>
        <p:spPr>
          <a:xfrm>
            <a:off x="11064240" y="2606040"/>
            <a:ext cx="5943600" cy="146304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Latency big"/>
          <p:cNvSpPr txBox="1"/>
          <p:nvPr/>
        </p:nvSpPr>
        <p:spPr>
          <a:xfrm>
            <a:off x="11338560" y="269748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~20–40 ms</a:t>
            </a:r>
          </a:p>
        </p:txBody>
      </p:sp>
      <p:sp>
        <p:nvSpPr>
          <p:cNvPr id="26" name="Latency small"/>
          <p:cNvSpPr txBox="1"/>
          <p:nvPr/>
        </p:nvSpPr>
        <p:spPr>
          <a:xfrm>
            <a:off x="11338560" y="34290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typical delay, vs. ~600 ms for traditional satellite</a:t>
            </a:r>
          </a:p>
        </p:txBody>
      </p:sp>
      <p:sp>
        <p:nvSpPr>
          <p:cNvPr id="27" name="Why banks use it"/>
          <p:cNvSpPr txBox="1"/>
          <p:nvPr/>
        </p:nvSpPr>
        <p:spPr>
          <a:xfrm>
            <a:off x="11064240" y="4389120"/>
            <a:ext cx="5943600" cy="17184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Shares nothing with the wires in the street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 up in a day, even after a storm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Works at the most rural branch</a:t>
            </a:r>
            <a:r>
              <a:rPr lang="en-US"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seems obvious, perhaps for main connection too?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8" name="What to watch"/>
          <p:cNvSpPr txBox="1"/>
          <p:nvPr/>
        </p:nvSpPr>
        <p:spPr>
          <a:xfrm>
            <a:off x="11064240" y="6553200"/>
            <a:ext cx="5943600" cy="2657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Needs a clear view of the sky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provider, one company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731520" lvl="1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Although competition seems to be coming soon.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priority plans cost more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leaves at a distant gateway, so location-based fraud tools may see the wrong city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Let’s leave politics out of it…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320098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Backup Path: Wireless vs. Second Wireline</a:t>
            </a:r>
          </a:p>
        </p:txBody>
      </p:sp>
      <p:sp>
        <p:nvSpPr>
          <p:cNvPr id="3" name="Key message"/>
          <p:cNvSpPr txBox="1"/>
          <p:nvPr/>
        </p:nvSpPr>
        <p:spPr>
          <a:xfrm>
            <a:off x="1257300" y="2560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backup is only as good as what it doesn’t share with the primary.</a:t>
            </a:r>
          </a:p>
        </p:txBody>
      </p:sp>
      <p:sp>
        <p:nvSpPr>
          <p:cNvPr id="4" name="Trap panel"/>
          <p:cNvSpPr/>
          <p:nvPr/>
        </p:nvSpPr>
        <p:spPr>
          <a:xfrm>
            <a:off x="125730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rap heading"/>
          <p:cNvSpPr txBox="1"/>
          <p:nvPr/>
        </p:nvSpPr>
        <p:spPr>
          <a:xfrm>
            <a:off x="153162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trap: two providers, one trench</a:t>
            </a:r>
          </a:p>
        </p:txBody>
      </p:sp>
      <p:pic>
        <p:nvPicPr>
          <p:cNvPr id="6" name="Trap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4500" y="4251960"/>
            <a:ext cx="914400" cy="914400"/>
          </a:xfrm>
          <a:prstGeom prst="rect">
            <a:avLst/>
          </a:prstGeom>
        </p:spPr>
      </p:pic>
      <p:sp>
        <p:nvSpPr>
          <p:cNvPr id="7" name="Trench"/>
          <p:cNvSpPr/>
          <p:nvPr/>
        </p:nvSpPr>
        <p:spPr>
          <a:xfrm>
            <a:off x="2811780" y="4343400"/>
            <a:ext cx="5486400" cy="731520"/>
          </a:xfrm>
          <a:prstGeom prst="rect">
            <a:avLst/>
          </a:prstGeom>
          <a:solidFill>
            <a:srgbClr val="E7E6E6"/>
          </a:solidFill>
          <a:ln w="635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cxnSp>
        <p:nvCxnSpPr>
          <p:cNvPr id="8" name="Trap fiber"/>
          <p:cNvCxnSpPr/>
          <p:nvPr/>
        </p:nvCxnSpPr>
        <p:spPr>
          <a:xfrm>
            <a:off x="2674620" y="4553712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rap cable"/>
          <p:cNvCxnSpPr/>
          <p:nvPr/>
        </p:nvCxnSpPr>
        <p:spPr>
          <a:xfrm>
            <a:off x="2674620" y="4864608"/>
            <a:ext cx="5715000" cy="0"/>
          </a:xfrm>
          <a:prstGeom prst="line">
            <a:avLst/>
          </a:prstGeom>
          <a:ln w="508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rap labels"/>
          <p:cNvSpPr txBox="1"/>
          <p:nvPr/>
        </p:nvSpPr>
        <p:spPr>
          <a:xfrm>
            <a:off x="6286500" y="38404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+ cable</a:t>
            </a:r>
          </a:p>
        </p:txBody>
      </p:sp>
      <p:cxnSp>
        <p:nvCxnSpPr>
          <p:cNvPr id="11" name="Cut 1"/>
          <p:cNvCxnSpPr/>
          <p:nvPr/>
        </p:nvCxnSpPr>
        <p:spPr>
          <a:xfrm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t 2"/>
          <p:cNvCxnSpPr/>
          <p:nvPr/>
        </p:nvCxnSpPr>
        <p:spPr>
          <a:xfrm flipV="1"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rap caption"/>
          <p:cNvSpPr txBox="1"/>
          <p:nvPr/>
        </p:nvSpPr>
        <p:spPr>
          <a:xfrm>
            <a:off x="153162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backhoe, two outages</a:t>
            </a:r>
          </a:p>
        </p:txBody>
      </p:sp>
      <p:sp>
        <p:nvSpPr>
          <p:cNvPr id="14" name="Fix panel"/>
          <p:cNvSpPr/>
          <p:nvPr/>
        </p:nvSpPr>
        <p:spPr>
          <a:xfrm>
            <a:off x="939546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Fix heading"/>
          <p:cNvSpPr txBox="1"/>
          <p:nvPr/>
        </p:nvSpPr>
        <p:spPr>
          <a:xfrm>
            <a:off x="966978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Better: wireline plus wireless</a:t>
            </a:r>
          </a:p>
        </p:txBody>
      </p:sp>
      <p:pic>
        <p:nvPicPr>
          <p:cNvPr id="16" name="Fix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2660" y="4251960"/>
            <a:ext cx="914400" cy="914400"/>
          </a:xfrm>
          <a:prstGeom prst="rect">
            <a:avLst/>
          </a:prstGeom>
        </p:spPr>
      </p:pic>
      <p:cxnSp>
        <p:nvCxnSpPr>
          <p:cNvPr id="17" name="Fix fiber"/>
          <p:cNvCxnSpPr/>
          <p:nvPr/>
        </p:nvCxnSpPr>
        <p:spPr>
          <a:xfrm>
            <a:off x="10812780" y="4709160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x fiber label"/>
          <p:cNvSpPr txBox="1"/>
          <p:nvPr/>
        </p:nvSpPr>
        <p:spPr>
          <a:xfrm>
            <a:off x="13601700" y="48006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in the street</a:t>
            </a:r>
          </a:p>
        </p:txBody>
      </p:sp>
      <p:pic>
        <p:nvPicPr>
          <p:cNvPr id="19" name="Fix tower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16200" y="3497580"/>
            <a:ext cx="777240" cy="777240"/>
          </a:xfrm>
          <a:prstGeom prst="rect">
            <a:avLst/>
          </a:prstGeom>
        </p:spPr>
      </p:pic>
      <p:cxnSp>
        <p:nvCxnSpPr>
          <p:cNvPr id="20" name="Fix radio"/>
          <p:cNvCxnSpPr/>
          <p:nvPr/>
        </p:nvCxnSpPr>
        <p:spPr>
          <a:xfrm flipV="1">
            <a:off x="10858500" y="3977639"/>
            <a:ext cx="4434840" cy="457201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ix caption"/>
          <p:cNvSpPr txBox="1"/>
          <p:nvPr/>
        </p:nvSpPr>
        <p:spPr>
          <a:xfrm>
            <a:off x="966978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No shared cable, conduit or pole</a:t>
            </a:r>
          </a:p>
        </p:txBody>
      </p:sp>
      <p:graphicFrame>
        <p:nvGraphicFramePr>
          <p:cNvPr id="22" name="Backup options table"/>
          <p:cNvGraphicFramePr>
            <a:graphicFrameLocks noGrp="1"/>
          </p:cNvGraphicFramePr>
          <p:nvPr/>
        </p:nvGraphicFramePr>
        <p:xfrm>
          <a:off x="1257300" y="6217920"/>
          <a:ext cx="1577340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may share with the primary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Time to install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Watch for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Second wireline provider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Poles, conduit, building entry, even the same central office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Weeks to months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Ask for a route map; “diverse” may not be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Cellular 4G / 5G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Nothing on the street; possibly 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Capacity, priority, data caps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Fixed wireless ISP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Line of sight, weather, consumer terms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Satellite (Starlink)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Almost nothing on the ground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day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Sky view, single provider, no static IP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96932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Exercise 2: Annotate WAN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C3C05-41EF-86B3-8C4C-1D5DFF919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Exercise 1 yesterday, consider your table’s topology diagram:</a:t>
            </a:r>
          </a:p>
          <a:p>
            <a:pPr lvl="1"/>
            <a:r>
              <a:rPr lang="en-US" dirty="0"/>
              <a:t>What kind of WAN(s) do(es) it show?</a:t>
            </a:r>
          </a:p>
          <a:p>
            <a:pPr lvl="1"/>
            <a:r>
              <a:rPr lang="en-US" dirty="0"/>
              <a:t>How is it integrated with the bank’s LAN(s)?</a:t>
            </a:r>
          </a:p>
          <a:p>
            <a:pPr lvl="1"/>
            <a:r>
              <a:rPr lang="en-US" dirty="0"/>
              <a:t>What’s the relationship between WAN and internet access?</a:t>
            </a:r>
          </a:p>
          <a:p>
            <a:r>
              <a:rPr lang="en-US" dirty="0"/>
              <a:t>Mark it up:</a:t>
            </a:r>
          </a:p>
          <a:p>
            <a:pPr lvl="1"/>
            <a:r>
              <a:rPr lang="en-US" dirty="0"/>
              <a:t>Question marks for things that seem strange</a:t>
            </a:r>
          </a:p>
          <a:p>
            <a:pPr lvl="1"/>
            <a:r>
              <a:rPr lang="en-US" dirty="0"/>
              <a:t>Purple for any backup services or links</a:t>
            </a:r>
          </a:p>
          <a:p>
            <a:pPr lvl="1"/>
            <a:r>
              <a:rPr lang="en-US" dirty="0"/>
              <a:t>What if there’s no purple? Is that risk?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9:</a:t>
            </a:r>
            <a:br>
              <a:rPr lang="en-US" dirty="0"/>
            </a:br>
            <a:r>
              <a:rPr lang="en-US" dirty="0"/>
              <a:t>The internet and applications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7F34D-9050-DE65-413D-7E2D07A0E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D068F2-EF37-6CBD-2984-636EDE96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Everything we’ve discussed so far is quite “flat” and local</a:t>
            </a:r>
          </a:p>
          <a:p>
            <a:r>
              <a:rPr lang="en-US" dirty="0"/>
              <a:t>LANs and even classic WANs are just “one hop” networks</a:t>
            </a:r>
          </a:p>
          <a:p>
            <a:r>
              <a:rPr lang="en-US" dirty="0"/>
              <a:t>The internet is almost the only network used by most people, banks, and other organizations</a:t>
            </a:r>
          </a:p>
          <a:p>
            <a:pPr lvl="1"/>
            <a:r>
              <a:rPr lang="en-US" dirty="0"/>
              <a:t>Banks formerly built or bought their own private WANs to connect to their own private locations, systems, and database applications</a:t>
            </a:r>
          </a:p>
          <a:p>
            <a:pPr lvl="1"/>
            <a:r>
              <a:rPr lang="en-US" dirty="0"/>
              <a:t>Today we all share the same resources and rent access to them</a:t>
            </a:r>
          </a:p>
          <a:p>
            <a:r>
              <a:rPr lang="en-US" dirty="0"/>
              <a:t>The applications that banks and others use are almost entirely based on internet protocols and infrastructure</a:t>
            </a:r>
          </a:p>
          <a:p>
            <a:r>
              <a:rPr lang="en-US" dirty="0"/>
              <a:t>Understanding how bank networks work beyond their own systems means understanding internet technology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8653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2628900" y="2164558"/>
            <a:ext cx="3057525" cy="1714500"/>
            <a:chOff x="144" y="720"/>
            <a:chExt cx="1284" cy="720"/>
          </a:xfrm>
        </p:grpSpPr>
        <p:sp>
          <p:nvSpPr>
            <p:cNvPr id="1357827" name="Line 3"/>
            <p:cNvSpPr>
              <a:spLocks noChangeShapeType="1"/>
            </p:cNvSpPr>
            <p:nvPr/>
          </p:nvSpPr>
          <p:spPr bwMode="auto">
            <a:xfrm>
              <a:off x="1140" y="1164"/>
              <a:ext cx="288" cy="2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8" name="Cloud"/>
            <p:cNvSpPr>
              <a:spLocks noChangeAspect="1" noEditPoints="1" noChangeArrowheads="1"/>
            </p:cNvSpPr>
            <p:nvPr/>
          </p:nvSpPr>
          <p:spPr bwMode="auto">
            <a:xfrm>
              <a:off x="144" y="720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9" name="Text Box 5"/>
            <p:cNvSpPr txBox="1">
              <a:spLocks noChangeArrowheads="1"/>
            </p:cNvSpPr>
            <p:nvPr/>
          </p:nvSpPr>
          <p:spPr bwMode="auto">
            <a:xfrm>
              <a:off x="352" y="864"/>
              <a:ext cx="748" cy="40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12915900" y="2171700"/>
            <a:ext cx="2743200" cy="2171700"/>
            <a:chOff x="4368" y="624"/>
            <a:chExt cx="1248" cy="900"/>
          </a:xfrm>
        </p:grpSpPr>
        <p:sp>
          <p:nvSpPr>
            <p:cNvPr id="1357831" name="Line 7"/>
            <p:cNvSpPr>
              <a:spLocks noChangeShapeType="1"/>
            </p:cNvSpPr>
            <p:nvPr/>
          </p:nvSpPr>
          <p:spPr bwMode="auto">
            <a:xfrm flipV="1">
              <a:off x="4380" y="1236"/>
              <a:ext cx="336" cy="2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2" name="Cloud"/>
            <p:cNvSpPr>
              <a:spLocks noChangeAspect="1" noEditPoints="1" noChangeArrowheads="1"/>
            </p:cNvSpPr>
            <p:nvPr/>
          </p:nvSpPr>
          <p:spPr bwMode="auto">
            <a:xfrm>
              <a:off x="4368" y="624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3" name="Text Box 9"/>
            <p:cNvSpPr txBox="1">
              <a:spLocks noChangeArrowheads="1"/>
            </p:cNvSpPr>
            <p:nvPr/>
          </p:nvSpPr>
          <p:spPr bwMode="auto">
            <a:xfrm>
              <a:off x="4545" y="768"/>
              <a:ext cx="810" cy="3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12687300" y="5286376"/>
            <a:ext cx="2667000" cy="1195388"/>
            <a:chOff x="4368" y="2031"/>
            <a:chExt cx="1120" cy="502"/>
          </a:xfrm>
        </p:grpSpPr>
        <p:sp>
          <p:nvSpPr>
            <p:cNvPr id="1357835" name="Line 11"/>
            <p:cNvSpPr>
              <a:spLocks noChangeShapeType="1"/>
            </p:cNvSpPr>
            <p:nvPr/>
          </p:nvSpPr>
          <p:spPr bwMode="auto">
            <a:xfrm>
              <a:off x="4368" y="2064"/>
              <a:ext cx="624" cy="19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6" name="Picture 12" descr="2-Floor Office Building"/>
            <p:cNvPicPr>
              <a:picLocks noChangeAspect="1" noChangeArrowheads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8" y="2031"/>
              <a:ext cx="590" cy="502"/>
            </a:xfrm>
            <a:prstGeom prst="rect">
              <a:avLst/>
            </a:prstGeom>
            <a:noFill/>
          </p:spPr>
        </p:pic>
      </p:grpSp>
      <p:grpSp>
        <p:nvGrpSpPr>
          <p:cNvPr id="5" name="Group 13"/>
          <p:cNvGrpSpPr>
            <a:grpSpLocks/>
          </p:cNvGrpSpPr>
          <p:nvPr/>
        </p:nvGrpSpPr>
        <p:grpSpPr bwMode="auto">
          <a:xfrm>
            <a:off x="2743200" y="4221957"/>
            <a:ext cx="2057400" cy="914400"/>
            <a:chOff x="192" y="1584"/>
            <a:chExt cx="864" cy="384"/>
          </a:xfrm>
        </p:grpSpPr>
        <p:sp>
          <p:nvSpPr>
            <p:cNvPr id="1357838" name="Line 14"/>
            <p:cNvSpPr>
              <a:spLocks noChangeShapeType="1"/>
            </p:cNvSpPr>
            <p:nvPr/>
          </p:nvSpPr>
          <p:spPr bwMode="auto">
            <a:xfrm>
              <a:off x="720" y="1824"/>
              <a:ext cx="336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9" name="Picture 15" descr="Basic House"/>
            <p:cNvPicPr>
              <a:picLocks noChangeAspect="1" noChangeArrowheads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584"/>
              <a:ext cx="664" cy="376"/>
            </a:xfrm>
            <a:prstGeom prst="rect">
              <a:avLst/>
            </a:prstGeom>
            <a:noFill/>
          </p:spPr>
        </p:pic>
      </p:grpSp>
      <p:grpSp>
        <p:nvGrpSpPr>
          <p:cNvPr id="6" name="Group 16"/>
          <p:cNvGrpSpPr>
            <a:grpSpLocks/>
          </p:cNvGrpSpPr>
          <p:nvPr/>
        </p:nvGrpSpPr>
        <p:grpSpPr bwMode="auto">
          <a:xfrm>
            <a:off x="2743200" y="6050758"/>
            <a:ext cx="2743200" cy="3043238"/>
            <a:chOff x="192" y="2352"/>
            <a:chExt cx="1152" cy="1278"/>
          </a:xfrm>
        </p:grpSpPr>
        <p:sp>
          <p:nvSpPr>
            <p:cNvPr id="1357841" name="Line 17"/>
            <p:cNvSpPr>
              <a:spLocks noChangeShapeType="1"/>
            </p:cNvSpPr>
            <p:nvPr/>
          </p:nvSpPr>
          <p:spPr bwMode="auto">
            <a:xfrm flipV="1">
              <a:off x="864" y="2640"/>
              <a:ext cx="480" cy="48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2" name="Picture 18" descr="Large Tall Building"/>
            <p:cNvPicPr>
              <a:picLocks noChangeAspect="1" noChangeArrowheads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2352"/>
              <a:ext cx="729" cy="1278"/>
            </a:xfrm>
            <a:prstGeom prst="rect">
              <a:avLst/>
            </a:prstGeom>
            <a:noFill/>
          </p:spPr>
        </p:pic>
      </p:grpSp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9944100" y="7079458"/>
            <a:ext cx="2085975" cy="2240756"/>
            <a:chOff x="3216" y="2784"/>
            <a:chExt cx="876" cy="941"/>
          </a:xfrm>
        </p:grpSpPr>
        <p:sp>
          <p:nvSpPr>
            <p:cNvPr id="1357844" name="Line 20"/>
            <p:cNvSpPr>
              <a:spLocks noChangeShapeType="1"/>
            </p:cNvSpPr>
            <p:nvPr/>
          </p:nvSpPr>
          <p:spPr bwMode="auto">
            <a:xfrm>
              <a:off x="3456" y="2784"/>
              <a:ext cx="96" cy="62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5" name="Picture 21" descr="House 3-D"/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6" y="3216"/>
              <a:ext cx="876" cy="509"/>
            </a:xfrm>
            <a:prstGeom prst="rect">
              <a:avLst/>
            </a:prstGeom>
            <a:noFill/>
          </p:spPr>
        </p:pic>
      </p:grpSp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5486401" y="7308057"/>
            <a:ext cx="3157538" cy="2743200"/>
            <a:chOff x="1344" y="2880"/>
            <a:chExt cx="1326" cy="1152"/>
          </a:xfrm>
        </p:grpSpPr>
        <p:sp>
          <p:nvSpPr>
            <p:cNvPr id="1357847" name="Line 23"/>
            <p:cNvSpPr>
              <a:spLocks noChangeShapeType="1"/>
            </p:cNvSpPr>
            <p:nvPr/>
          </p:nvSpPr>
          <p:spPr bwMode="auto">
            <a:xfrm>
              <a:off x="1968" y="2880"/>
              <a:ext cx="48" cy="76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8" name="Picture 24" descr="Modern Office Building"/>
            <p:cNvPicPr>
              <a:picLocks noChangeAspect="1" noChangeArrowheads="1"/>
            </p:cNvPicPr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4" y="3456"/>
              <a:ext cx="1326" cy="576"/>
            </a:xfrm>
            <a:prstGeom prst="rect">
              <a:avLst/>
            </a:prstGeom>
            <a:noFill/>
          </p:spPr>
        </p:pic>
      </p:grpSp>
      <p:sp>
        <p:nvSpPr>
          <p:cNvPr id="1357849" name="Rectangle 2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The Internet: A Global, Public, Packet Network</a:t>
            </a:r>
          </a:p>
        </p:txBody>
      </p:sp>
      <p:sp>
        <p:nvSpPr>
          <p:cNvPr id="57" name="Slide Number Placeholder 5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1357850" name="Cloud"/>
          <p:cNvSpPr>
            <a:spLocks noChangeAspect="1" noEditPoints="1" noChangeArrowheads="1"/>
          </p:cNvSpPr>
          <p:nvPr/>
        </p:nvSpPr>
        <p:spPr bwMode="auto">
          <a:xfrm>
            <a:off x="4572000" y="2507458"/>
            <a:ext cx="8963025" cy="6005513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CC66">
                  <a:gamma/>
                  <a:tint val="0"/>
                  <a:invGamma/>
                </a:srgbClr>
              </a:gs>
              <a:gs pos="100000">
                <a:srgbClr val="FFCC66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wrap="none" anchor="ctr" anchorCtr="1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12000" b="1">
                <a:solidFill>
                  <a:srgbClr val="000000"/>
                </a:solidFill>
                <a:latin typeface="Arial Narrow" pitchFamily="34" charset="0"/>
              </a:rPr>
              <a:t>Internet</a:t>
            </a:r>
          </a:p>
        </p:txBody>
      </p:sp>
      <p:grpSp>
        <p:nvGrpSpPr>
          <p:cNvPr id="9" name="Group 27"/>
          <p:cNvGrpSpPr>
            <a:grpSpLocks/>
          </p:cNvGrpSpPr>
          <p:nvPr/>
        </p:nvGrpSpPr>
        <p:grpSpPr bwMode="auto">
          <a:xfrm>
            <a:off x="7650957" y="4702969"/>
            <a:ext cx="2971800" cy="1714500"/>
            <a:chOff x="2640" y="2016"/>
            <a:chExt cx="1248" cy="720"/>
          </a:xfrm>
        </p:grpSpPr>
        <p:sp>
          <p:nvSpPr>
            <p:cNvPr id="1357852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3" name="Text Box 29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7343775" y="6365082"/>
            <a:ext cx="2971800" cy="1714500"/>
            <a:chOff x="2640" y="2016"/>
            <a:chExt cx="1248" cy="720"/>
          </a:xfrm>
        </p:grpSpPr>
        <p:sp>
          <p:nvSpPr>
            <p:cNvPr id="1357855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6" name="Text Box 32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1" name="Group 33"/>
          <p:cNvGrpSpPr>
            <a:grpSpLocks/>
          </p:cNvGrpSpPr>
          <p:nvPr/>
        </p:nvGrpSpPr>
        <p:grpSpPr bwMode="auto">
          <a:xfrm>
            <a:off x="7360445" y="3050382"/>
            <a:ext cx="2971800" cy="1714500"/>
            <a:chOff x="2640" y="2016"/>
            <a:chExt cx="1248" cy="720"/>
          </a:xfrm>
        </p:grpSpPr>
        <p:sp>
          <p:nvSpPr>
            <p:cNvPr id="1357858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9" name="Text Box 35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2" name="Group 36"/>
          <p:cNvGrpSpPr>
            <a:grpSpLocks/>
          </p:cNvGrpSpPr>
          <p:nvPr/>
        </p:nvGrpSpPr>
        <p:grpSpPr bwMode="auto">
          <a:xfrm>
            <a:off x="5400675" y="3278982"/>
            <a:ext cx="2971800" cy="1714500"/>
            <a:chOff x="2640" y="2016"/>
            <a:chExt cx="1248" cy="720"/>
          </a:xfrm>
        </p:grpSpPr>
        <p:sp>
          <p:nvSpPr>
            <p:cNvPr id="1357861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2" name="Text Box 38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3" name="Group 39"/>
          <p:cNvGrpSpPr>
            <a:grpSpLocks/>
          </p:cNvGrpSpPr>
          <p:nvPr/>
        </p:nvGrpSpPr>
        <p:grpSpPr bwMode="auto">
          <a:xfrm>
            <a:off x="5179220" y="4526757"/>
            <a:ext cx="2971800" cy="1714500"/>
            <a:chOff x="2640" y="2016"/>
            <a:chExt cx="1248" cy="720"/>
          </a:xfrm>
        </p:grpSpPr>
        <p:sp>
          <p:nvSpPr>
            <p:cNvPr id="1357864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5" name="Text Box 41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4" name="Group 42"/>
          <p:cNvGrpSpPr>
            <a:grpSpLocks/>
          </p:cNvGrpSpPr>
          <p:nvPr/>
        </p:nvGrpSpPr>
        <p:grpSpPr bwMode="auto">
          <a:xfrm>
            <a:off x="9151145" y="2721769"/>
            <a:ext cx="2971800" cy="1714500"/>
            <a:chOff x="2640" y="2016"/>
            <a:chExt cx="1248" cy="720"/>
          </a:xfrm>
        </p:grpSpPr>
        <p:sp>
          <p:nvSpPr>
            <p:cNvPr id="1357867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8" name="Text Box 44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5" name="Group 45"/>
          <p:cNvGrpSpPr>
            <a:grpSpLocks/>
          </p:cNvGrpSpPr>
          <p:nvPr/>
        </p:nvGrpSpPr>
        <p:grpSpPr bwMode="auto">
          <a:xfrm>
            <a:off x="10096500" y="3700462"/>
            <a:ext cx="2971800" cy="1714500"/>
            <a:chOff x="2640" y="2016"/>
            <a:chExt cx="1248" cy="720"/>
          </a:xfrm>
        </p:grpSpPr>
        <p:sp>
          <p:nvSpPr>
            <p:cNvPr id="1357870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1" name="Text Box 47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6" name="Group 48"/>
          <p:cNvGrpSpPr>
            <a:grpSpLocks/>
          </p:cNvGrpSpPr>
          <p:nvPr/>
        </p:nvGrpSpPr>
        <p:grpSpPr bwMode="auto">
          <a:xfrm>
            <a:off x="10263188" y="4800600"/>
            <a:ext cx="2971800" cy="1714500"/>
            <a:chOff x="2640" y="2016"/>
            <a:chExt cx="1248" cy="720"/>
          </a:xfrm>
        </p:grpSpPr>
        <p:sp>
          <p:nvSpPr>
            <p:cNvPr id="1357873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4" name="Text Box 50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7" name="Group 51"/>
          <p:cNvGrpSpPr>
            <a:grpSpLocks/>
          </p:cNvGrpSpPr>
          <p:nvPr/>
        </p:nvGrpSpPr>
        <p:grpSpPr bwMode="auto">
          <a:xfrm>
            <a:off x="9401175" y="5934075"/>
            <a:ext cx="2971800" cy="1714500"/>
            <a:chOff x="2640" y="2016"/>
            <a:chExt cx="1248" cy="720"/>
          </a:xfrm>
        </p:grpSpPr>
        <p:sp>
          <p:nvSpPr>
            <p:cNvPr id="1357876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7" name="Text Box 53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8" name="Group 54"/>
          <p:cNvGrpSpPr>
            <a:grpSpLocks/>
          </p:cNvGrpSpPr>
          <p:nvPr/>
        </p:nvGrpSpPr>
        <p:grpSpPr bwMode="auto">
          <a:xfrm>
            <a:off x="5172075" y="5679282"/>
            <a:ext cx="2971800" cy="1714500"/>
            <a:chOff x="2640" y="2016"/>
            <a:chExt cx="1248" cy="720"/>
          </a:xfrm>
        </p:grpSpPr>
        <p:sp>
          <p:nvSpPr>
            <p:cNvPr id="1357879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80" name="Text Box 56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990795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0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Models and Layers</a:t>
            </a:r>
          </a:p>
        </p:txBody>
      </p:sp>
      <p:sp>
        <p:nvSpPr>
          <p:cNvPr id="3776528" name="Rectangle 16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5444155"/>
      </p:ext>
    </p:extLst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FF50-BE31-22D5-D980-3E1BFFF5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Language of Networking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B8A0D-5FD9-3F33-1058-8EC773554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is complex</a:t>
            </a:r>
          </a:p>
          <a:p>
            <a:pPr lvl="1"/>
            <a:r>
              <a:rPr lang="en-US" dirty="0"/>
              <a:t>Risk is often hidden in that complexity</a:t>
            </a:r>
          </a:p>
          <a:p>
            <a:r>
              <a:rPr lang="en-US" dirty="0"/>
              <a:t>We have developed approaches to describe and build networks, these include</a:t>
            </a:r>
          </a:p>
          <a:p>
            <a:pPr lvl="1"/>
            <a:r>
              <a:rPr lang="en-US" dirty="0"/>
              <a:t>Protocols</a:t>
            </a:r>
          </a:p>
          <a:p>
            <a:pPr lvl="1"/>
            <a:r>
              <a:rPr lang="en-US" dirty="0"/>
              <a:t>Network models</a:t>
            </a:r>
          </a:p>
          <a:p>
            <a:pPr lvl="1"/>
            <a:r>
              <a:rPr lang="en-US" dirty="0"/>
              <a:t>Layers</a:t>
            </a:r>
          </a:p>
          <a:p>
            <a:r>
              <a:rPr lang="en-US" dirty="0"/>
              <a:t>Together these concepts provide the basis for the networkers’ lexicon</a:t>
            </a:r>
          </a:p>
          <a:p>
            <a:r>
              <a:rPr lang="en-US" dirty="0"/>
              <a:t>Familiarity will help in your conversations with a bank’s network team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1326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Protocols </a:t>
            </a:r>
          </a:p>
        </p:txBody>
      </p:sp>
      <p:sp>
        <p:nvSpPr>
          <p:cNvPr id="13516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To communicate, we must have agreements</a:t>
            </a:r>
          </a:p>
          <a:p>
            <a:pPr lvl="1"/>
            <a:r>
              <a:rPr lang="en-US"/>
              <a:t>Example: Don’t interrupt</a:t>
            </a:r>
          </a:p>
          <a:p>
            <a:pPr lvl="1"/>
            <a:r>
              <a:rPr lang="en-US"/>
              <a:t>Example: Speak English</a:t>
            </a:r>
          </a:p>
          <a:p>
            <a:pPr lvl="1"/>
            <a:r>
              <a:rPr lang="en-US"/>
              <a:t>Example: Say, “Please”</a:t>
            </a:r>
          </a:p>
          <a:p>
            <a:r>
              <a:rPr lang="en-US"/>
              <a:t>Agreements that facilitate communication are called </a:t>
            </a:r>
            <a:r>
              <a:rPr lang="en-US" i="1">
                <a:solidFill>
                  <a:srgbClr val="CC0000"/>
                </a:solidFill>
              </a:rPr>
              <a:t>protocols</a:t>
            </a:r>
          </a:p>
          <a:p>
            <a:r>
              <a:rPr lang="en-US"/>
              <a:t>The study of communications is the study of protocols</a:t>
            </a:r>
          </a:p>
          <a:p>
            <a:r>
              <a:rPr lang="en-US"/>
              <a:t>The study of data communications is the study of data and network protocols</a:t>
            </a:r>
          </a:p>
          <a:p>
            <a:r>
              <a:rPr lang="en-US"/>
              <a:t>The complete set of protocols used in a particular network environment is known as a </a:t>
            </a:r>
            <a:r>
              <a:rPr lang="en-US" i="1">
                <a:solidFill>
                  <a:srgbClr val="CC0000"/>
                </a:solidFill>
              </a:rPr>
              <a:t>protocol suite</a:t>
            </a:r>
            <a:endParaRPr lang="en-US">
              <a:solidFill>
                <a:srgbClr val="CC0000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90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6665570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Models</a:t>
            </a:r>
          </a:p>
        </p:txBody>
      </p:sp>
      <p:sp>
        <p:nvSpPr>
          <p:cNvPr id="1353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hypothetical description of a complex entity or process</a:t>
            </a:r>
          </a:p>
          <a:p>
            <a:pPr lvl="1"/>
            <a:r>
              <a:rPr lang="en-US"/>
              <a:t>Identifies the major elements and their relationship to one another</a:t>
            </a:r>
          </a:p>
          <a:p>
            <a:pPr lvl="1"/>
            <a:r>
              <a:rPr lang="en-US"/>
              <a:t>Does not provide implementation details</a:t>
            </a:r>
          </a:p>
          <a:p>
            <a:pPr lvl="1"/>
            <a:r>
              <a:rPr lang="en-US"/>
              <a:t>An architecture</a:t>
            </a:r>
          </a:p>
          <a:p>
            <a:r>
              <a:rPr lang="en-US"/>
              <a:t>Model of a home</a:t>
            </a:r>
          </a:p>
          <a:p>
            <a:pPr lvl="1"/>
            <a:r>
              <a:rPr lang="en-US"/>
              <a:t>Walls, roof, floors, doorways, windows, types of room</a:t>
            </a:r>
          </a:p>
          <a:p>
            <a:pPr lvl="1"/>
            <a:r>
              <a:rPr lang="en-US"/>
              <a:t>Does not include specific materials, design, construction</a:t>
            </a:r>
          </a:p>
          <a:p>
            <a:r>
              <a:rPr lang="en-US"/>
              <a:t>Networking model is about the functions </a:t>
            </a:r>
            <a:br>
              <a:rPr lang="en-US"/>
            </a:br>
            <a:r>
              <a:rPr lang="en-US"/>
              <a:t>that must be present in a network and </a:t>
            </a:r>
            <a:br>
              <a:rPr lang="en-US"/>
            </a:br>
            <a:r>
              <a:rPr lang="en-US"/>
              <a:t>their relationship to one another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Graphic 3" descr="House with solid fill">
            <a:extLst>
              <a:ext uri="{FF2B5EF4-FFF2-40B4-BE49-F238E27FC236}">
                <a16:creationId xmlns:a16="http://schemas.microsoft.com/office/drawing/2014/main" id="{2B817391-A7A3-603B-96AA-FE95E84C8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43656" y="6515100"/>
            <a:ext cx="3406462" cy="340646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92757648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Layering</a:t>
            </a:r>
          </a:p>
        </p:txBody>
      </p:sp>
      <p:sp>
        <p:nvSpPr>
          <p:cNvPr id="13557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Layering breaks a big problem into smaller pieces</a:t>
            </a:r>
          </a:p>
          <a:p>
            <a:r>
              <a:rPr lang="en-US"/>
              <a:t>Large number of protocols required for</a:t>
            </a:r>
            <a:br>
              <a:rPr lang="en-US"/>
            </a:br>
            <a:r>
              <a:rPr lang="en-US"/>
              <a:t>interoperability between two applications</a:t>
            </a:r>
          </a:p>
          <a:p>
            <a:r>
              <a:rPr lang="en-US"/>
              <a:t>Break protocols into subsets, each of which</a:t>
            </a:r>
            <a:br>
              <a:rPr lang="en-US"/>
            </a:br>
            <a:r>
              <a:rPr lang="en-US"/>
              <a:t>addresses specific, closely related issues</a:t>
            </a:r>
          </a:p>
          <a:p>
            <a:endParaRPr lang="en-US"/>
          </a:p>
          <a:p>
            <a:r>
              <a:rPr lang="en-US"/>
              <a:t>Each layer</a:t>
            </a:r>
          </a:p>
          <a:p>
            <a:pPr lvl="1"/>
            <a:r>
              <a:rPr lang="en-US"/>
              <a:t>Provides a well-defined set of services to the layers above it</a:t>
            </a:r>
          </a:p>
          <a:p>
            <a:pPr lvl="1"/>
            <a:r>
              <a:rPr lang="en-US"/>
              <a:t>Receives services from the layer below it</a:t>
            </a:r>
          </a:p>
          <a:p>
            <a:pPr lvl="1"/>
            <a:r>
              <a:rPr lang="en-US"/>
              <a:t>Knows the set of services that are provided to it</a:t>
            </a:r>
          </a:p>
          <a:p>
            <a:pPr lvl="1"/>
            <a:r>
              <a:rPr lang="en-US"/>
              <a:t>Does not know how those services are provided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92</a:t>
            </a:fld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4066045" y="2763440"/>
            <a:ext cx="3383756" cy="3100388"/>
            <a:chOff x="4179" y="682"/>
            <a:chExt cx="1421" cy="1302"/>
          </a:xfrm>
        </p:grpSpPr>
        <p:sp>
          <p:nvSpPr>
            <p:cNvPr id="1355781" name="Line 5"/>
            <p:cNvSpPr>
              <a:spLocks noChangeShapeType="1"/>
            </p:cNvSpPr>
            <p:nvPr/>
          </p:nvSpPr>
          <p:spPr bwMode="auto">
            <a:xfrm flipH="1">
              <a:off x="4889" y="1728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55782" name="AutoShape 6"/>
            <p:cNvSpPr>
              <a:spLocks noChangeArrowheads="1"/>
            </p:cNvSpPr>
            <p:nvPr/>
          </p:nvSpPr>
          <p:spPr bwMode="auto">
            <a:xfrm>
              <a:off x="4179" y="1459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CC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3" name="AutoShape 7"/>
            <p:cNvSpPr>
              <a:spLocks noChangeArrowheads="1"/>
            </p:cNvSpPr>
            <p:nvPr/>
          </p:nvSpPr>
          <p:spPr bwMode="auto">
            <a:xfrm>
              <a:off x="4179" y="1288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66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4" name="AutoShape 8"/>
            <p:cNvSpPr>
              <a:spLocks noChangeArrowheads="1"/>
            </p:cNvSpPr>
            <p:nvPr/>
          </p:nvSpPr>
          <p:spPr bwMode="auto">
            <a:xfrm>
              <a:off x="4179" y="1117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CC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5" name="AutoShape 9"/>
            <p:cNvSpPr>
              <a:spLocks noChangeArrowheads="1"/>
            </p:cNvSpPr>
            <p:nvPr/>
          </p:nvSpPr>
          <p:spPr bwMode="auto">
            <a:xfrm>
              <a:off x="4179" y="946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339966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6" name="AutoShape 10"/>
            <p:cNvSpPr>
              <a:spLocks noChangeArrowheads="1"/>
            </p:cNvSpPr>
            <p:nvPr/>
          </p:nvSpPr>
          <p:spPr bwMode="auto">
            <a:xfrm>
              <a:off x="4179" y="775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00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7" name="Line 11"/>
            <p:cNvSpPr>
              <a:spLocks noChangeShapeType="1"/>
            </p:cNvSpPr>
            <p:nvPr/>
          </p:nvSpPr>
          <p:spPr bwMode="auto">
            <a:xfrm flipH="1" flipV="1">
              <a:off x="4889" y="682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78410442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8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Understanding the OSI RM Layers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93</a:t>
            </a:fld>
            <a:endParaRPr lang="en-US"/>
          </a:p>
        </p:txBody>
      </p:sp>
      <p:pic>
        <p:nvPicPr>
          <p:cNvPr id="1359874" name="Picture 2" descr="OSI-Reference-Model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0420" y="3490913"/>
            <a:ext cx="3936206" cy="5995988"/>
          </a:xfrm>
          <a:prstGeom prst="rect">
            <a:avLst/>
          </a:prstGeom>
          <a:noFill/>
        </p:spPr>
      </p:pic>
      <p:sp>
        <p:nvSpPr>
          <p:cNvPr id="1359876" name="Text Box 4"/>
          <p:cNvSpPr txBox="1">
            <a:spLocks noChangeArrowheads="1"/>
          </p:cNvSpPr>
          <p:nvPr/>
        </p:nvSpPr>
        <p:spPr bwMode="auto">
          <a:xfrm>
            <a:off x="3493295" y="2466976"/>
            <a:ext cx="2516523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Where They Live</a:t>
            </a:r>
          </a:p>
        </p:txBody>
      </p:sp>
      <p:sp>
        <p:nvSpPr>
          <p:cNvPr id="1359877" name="Text Box 5"/>
          <p:cNvSpPr txBox="1">
            <a:spLocks noChangeArrowheads="1"/>
          </p:cNvSpPr>
          <p:nvPr/>
        </p:nvSpPr>
        <p:spPr bwMode="auto">
          <a:xfrm>
            <a:off x="3328006" y="4652963"/>
            <a:ext cx="3278141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End-to-End Layers</a:t>
            </a:r>
          </a:p>
          <a:p>
            <a:pPr defTabSz="1540670"/>
            <a:r>
              <a:rPr lang="en-US" sz="3000" i="1"/>
              <a:t>(End Systems)</a:t>
            </a:r>
          </a:p>
        </p:txBody>
      </p:sp>
      <p:sp>
        <p:nvSpPr>
          <p:cNvPr id="1359878" name="Text Box 6"/>
          <p:cNvSpPr txBox="1">
            <a:spLocks noChangeArrowheads="1"/>
          </p:cNvSpPr>
          <p:nvPr/>
        </p:nvSpPr>
        <p:spPr bwMode="auto">
          <a:xfrm>
            <a:off x="3578075" y="7762876"/>
            <a:ext cx="2758063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Chained Layers</a:t>
            </a:r>
          </a:p>
          <a:p>
            <a:pPr defTabSz="1540670"/>
            <a:r>
              <a:rPr lang="en-US" sz="3000" i="1"/>
              <a:t>(All Systems)</a:t>
            </a:r>
          </a:p>
        </p:txBody>
      </p:sp>
      <p:sp>
        <p:nvSpPr>
          <p:cNvPr id="1359879" name="Text Box 7"/>
          <p:cNvSpPr txBox="1">
            <a:spLocks noChangeArrowheads="1"/>
          </p:cNvSpPr>
          <p:nvPr/>
        </p:nvSpPr>
        <p:spPr bwMode="auto">
          <a:xfrm>
            <a:off x="12232482" y="2466976"/>
            <a:ext cx="2179828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What They Do</a:t>
            </a:r>
          </a:p>
        </p:txBody>
      </p:sp>
      <p:sp>
        <p:nvSpPr>
          <p:cNvPr id="1359880" name="Text Box 8"/>
          <p:cNvSpPr txBox="1">
            <a:spLocks noChangeArrowheads="1"/>
          </p:cNvSpPr>
          <p:nvPr/>
        </p:nvSpPr>
        <p:spPr bwMode="auto">
          <a:xfrm>
            <a:off x="12027276" y="3788570"/>
            <a:ext cx="3127844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Interoperability</a:t>
            </a:r>
          </a:p>
          <a:p>
            <a:pPr defTabSz="1540670"/>
            <a:r>
              <a:rPr lang="en-US" sz="3000" i="1"/>
              <a:t>(Meaningful Work)</a:t>
            </a:r>
          </a:p>
        </p:txBody>
      </p:sp>
      <p:sp>
        <p:nvSpPr>
          <p:cNvPr id="1359881" name="Text Box 9"/>
          <p:cNvSpPr txBox="1">
            <a:spLocks noChangeArrowheads="1"/>
          </p:cNvSpPr>
          <p:nvPr/>
        </p:nvSpPr>
        <p:spPr bwMode="auto">
          <a:xfrm>
            <a:off x="11676209" y="6784183"/>
            <a:ext cx="355552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Connectivity</a:t>
            </a:r>
            <a:br>
              <a:rPr lang="en-US" sz="3300"/>
            </a:br>
            <a:r>
              <a:rPr lang="en-US" sz="3000" i="1"/>
              <a:t>(Successful Exchange)</a:t>
            </a:r>
          </a:p>
        </p:txBody>
      </p:sp>
      <p:sp>
        <p:nvSpPr>
          <p:cNvPr id="1359882" name="Line 10"/>
          <p:cNvSpPr>
            <a:spLocks noChangeShapeType="1"/>
          </p:cNvSpPr>
          <p:nvPr/>
        </p:nvSpPr>
        <p:spPr bwMode="auto">
          <a:xfrm flipH="1">
            <a:off x="2864645" y="6853238"/>
            <a:ext cx="432196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  <p:sp>
        <p:nvSpPr>
          <p:cNvPr id="1359883" name="Line 11"/>
          <p:cNvSpPr>
            <a:spLocks noChangeShapeType="1"/>
          </p:cNvSpPr>
          <p:nvPr/>
        </p:nvSpPr>
        <p:spPr bwMode="auto">
          <a:xfrm flipH="1">
            <a:off x="11063288" y="5181600"/>
            <a:ext cx="432197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76890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9876" grpId="0" animBg="1"/>
      <p:bldP spid="1359877" grpId="0"/>
      <p:bldP spid="1359878" grpId="0"/>
      <p:bldP spid="1359879" grpId="0" animBg="1"/>
      <p:bldP spid="1359880" grpId="0"/>
      <p:bldP spid="1359881" grpId="0"/>
      <p:bldP spid="1359882" grpId="0" animBg="1"/>
      <p:bldP spid="135988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970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40520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Closer Look at the Layers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94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117058" y="7822407"/>
            <a:ext cx="11413331" cy="864393"/>
            <a:chOff x="349" y="3093"/>
            <a:chExt cx="4793" cy="363"/>
          </a:xfrm>
        </p:grpSpPr>
        <p:sp>
          <p:nvSpPr>
            <p:cNvPr id="1363972" name="Rectangle 4"/>
            <p:cNvSpPr>
              <a:spLocks noChangeArrowheads="1"/>
            </p:cNvSpPr>
            <p:nvPr/>
          </p:nvSpPr>
          <p:spPr bwMode="auto">
            <a:xfrm>
              <a:off x="349" y="3093"/>
              <a:ext cx="992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3973" name="Rectangle 5"/>
            <p:cNvSpPr>
              <a:spLocks noChangeArrowheads="1"/>
            </p:cNvSpPr>
            <p:nvPr/>
          </p:nvSpPr>
          <p:spPr bwMode="auto">
            <a:xfrm>
              <a:off x="1581" y="3093"/>
              <a:ext cx="3561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Bit transmission (distance, speed, medium)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3117058" y="6936582"/>
            <a:ext cx="11413331" cy="914400"/>
            <a:chOff x="349" y="2688"/>
            <a:chExt cx="4793" cy="384"/>
          </a:xfrm>
        </p:grpSpPr>
        <p:sp>
          <p:nvSpPr>
            <p:cNvPr id="1363975" name="Rectangle 7"/>
            <p:cNvSpPr>
              <a:spLocks noChangeArrowheads="1"/>
            </p:cNvSpPr>
            <p:nvPr/>
          </p:nvSpPr>
          <p:spPr bwMode="auto">
            <a:xfrm>
              <a:off x="349" y="2688"/>
              <a:ext cx="992" cy="384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3976" name="Rectangle 8"/>
            <p:cNvSpPr>
              <a:spLocks noChangeArrowheads="1"/>
            </p:cNvSpPr>
            <p:nvPr/>
          </p:nvSpPr>
          <p:spPr bwMode="auto">
            <a:xfrm>
              <a:off x="1581" y="2699"/>
              <a:ext cx="3561" cy="363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Node-to-node correctness (access, bit errors)</a:t>
              </a:r>
            </a:p>
          </p:txBody>
        </p:sp>
      </p:grp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117058" y="6096000"/>
            <a:ext cx="11406188" cy="866775"/>
            <a:chOff x="349" y="2282"/>
            <a:chExt cx="4790" cy="364"/>
          </a:xfrm>
        </p:grpSpPr>
        <p:sp>
          <p:nvSpPr>
            <p:cNvPr id="1363978" name="Rectangle 10"/>
            <p:cNvSpPr>
              <a:spLocks noChangeArrowheads="1"/>
            </p:cNvSpPr>
            <p:nvPr/>
          </p:nvSpPr>
          <p:spPr bwMode="auto">
            <a:xfrm>
              <a:off x="349" y="2282"/>
              <a:ext cx="992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3979" name="Rectangle 11"/>
            <p:cNvSpPr>
              <a:spLocks noChangeArrowheads="1"/>
            </p:cNvSpPr>
            <p:nvPr/>
          </p:nvSpPr>
          <p:spPr bwMode="auto">
            <a:xfrm>
              <a:off x="1581" y="2283"/>
              <a:ext cx="3558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Routing (addressing, congestion control)</a:t>
              </a:r>
            </a:p>
          </p:txBody>
        </p:sp>
      </p:grpSp>
      <p:grpSp>
        <p:nvGrpSpPr>
          <p:cNvPr id="5" name="Group 12"/>
          <p:cNvGrpSpPr>
            <a:grpSpLocks/>
          </p:cNvGrpSpPr>
          <p:nvPr/>
        </p:nvGrpSpPr>
        <p:grpSpPr bwMode="auto">
          <a:xfrm>
            <a:off x="3117058" y="5229226"/>
            <a:ext cx="11406188" cy="892970"/>
            <a:chOff x="349" y="1905"/>
            <a:chExt cx="4790" cy="375"/>
          </a:xfrm>
        </p:grpSpPr>
        <p:sp>
          <p:nvSpPr>
            <p:cNvPr id="1363981" name="Rectangle 13"/>
            <p:cNvSpPr>
              <a:spLocks noChangeArrowheads="1"/>
            </p:cNvSpPr>
            <p:nvPr/>
          </p:nvSpPr>
          <p:spPr bwMode="auto">
            <a:xfrm>
              <a:off x="349" y="1905"/>
              <a:ext cx="992" cy="375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3982" name="Rectangle 14"/>
            <p:cNvSpPr>
              <a:spLocks noChangeArrowheads="1"/>
            </p:cNvSpPr>
            <p:nvPr/>
          </p:nvSpPr>
          <p:spPr bwMode="auto">
            <a:xfrm>
              <a:off x="1581" y="1911"/>
              <a:ext cx="3558" cy="363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End-to-end correctness (sequencing, loss)</a:t>
              </a:r>
            </a:p>
          </p:txBody>
        </p: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3117058" y="4362451"/>
            <a:ext cx="11406188" cy="892970"/>
            <a:chOff x="349" y="1542"/>
            <a:chExt cx="4790" cy="375"/>
          </a:xfrm>
        </p:grpSpPr>
        <p:sp>
          <p:nvSpPr>
            <p:cNvPr id="1363984" name="Rectangle 16"/>
            <p:cNvSpPr>
              <a:spLocks noChangeArrowheads="1"/>
            </p:cNvSpPr>
            <p:nvPr/>
          </p:nvSpPr>
          <p:spPr bwMode="auto">
            <a:xfrm>
              <a:off x="349" y="1542"/>
              <a:ext cx="992" cy="375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3985" name="Rectangle 17"/>
            <p:cNvSpPr>
              <a:spLocks noChangeArrowheads="1"/>
            </p:cNvSpPr>
            <p:nvPr/>
          </p:nvSpPr>
          <p:spPr bwMode="auto">
            <a:xfrm>
              <a:off x="1581" y="1548"/>
              <a:ext cx="3558" cy="363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Dialogue/session control (logon, checkpointing)</a:t>
              </a:r>
            </a:p>
          </p:txBody>
        </p:sp>
      </p:grpSp>
      <p:grpSp>
        <p:nvGrpSpPr>
          <p:cNvPr id="7" name="Group 18"/>
          <p:cNvGrpSpPr>
            <a:grpSpLocks/>
          </p:cNvGrpSpPr>
          <p:nvPr/>
        </p:nvGrpSpPr>
        <p:grpSpPr bwMode="auto">
          <a:xfrm>
            <a:off x="3117058" y="3495676"/>
            <a:ext cx="11406188" cy="892970"/>
            <a:chOff x="349" y="1179"/>
            <a:chExt cx="4790" cy="375"/>
          </a:xfrm>
        </p:grpSpPr>
        <p:sp>
          <p:nvSpPr>
            <p:cNvPr id="1363987" name="Rectangle 19"/>
            <p:cNvSpPr>
              <a:spLocks noChangeArrowheads="1"/>
            </p:cNvSpPr>
            <p:nvPr/>
          </p:nvSpPr>
          <p:spPr bwMode="auto">
            <a:xfrm>
              <a:off x="349" y="1179"/>
              <a:ext cx="992" cy="375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3988" name="Rectangle 20"/>
            <p:cNvSpPr>
              <a:spLocks noChangeArrowheads="1"/>
            </p:cNvSpPr>
            <p:nvPr/>
          </p:nvSpPr>
          <p:spPr bwMode="auto">
            <a:xfrm>
              <a:off x="1581" y="1185"/>
              <a:ext cx="3558" cy="363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syntax (compression, encryption)</a:t>
              </a:r>
            </a:p>
          </p:txBody>
        </p:sp>
      </p:grpSp>
      <p:grpSp>
        <p:nvGrpSpPr>
          <p:cNvPr id="8" name="Group 21"/>
          <p:cNvGrpSpPr>
            <a:grpSpLocks/>
          </p:cNvGrpSpPr>
          <p:nvPr/>
        </p:nvGrpSpPr>
        <p:grpSpPr bwMode="auto">
          <a:xfrm>
            <a:off x="3117058" y="2628901"/>
            <a:ext cx="11406188" cy="892970"/>
            <a:chOff x="349" y="816"/>
            <a:chExt cx="4790" cy="375"/>
          </a:xfrm>
        </p:grpSpPr>
        <p:sp>
          <p:nvSpPr>
            <p:cNvPr id="1363990" name="Rectangle 22"/>
            <p:cNvSpPr>
              <a:spLocks noChangeArrowheads="1"/>
            </p:cNvSpPr>
            <p:nvPr/>
          </p:nvSpPr>
          <p:spPr bwMode="auto">
            <a:xfrm>
              <a:off x="349" y="816"/>
              <a:ext cx="992" cy="375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  <p:sp>
          <p:nvSpPr>
            <p:cNvPr id="1363991" name="Rectangle 23"/>
            <p:cNvSpPr>
              <a:spLocks noChangeArrowheads="1"/>
            </p:cNvSpPr>
            <p:nvPr/>
          </p:nvSpPr>
          <p:spPr bwMode="auto">
            <a:xfrm>
              <a:off x="1581" y="822"/>
              <a:ext cx="3558" cy="363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Semantics (email, Web, voice)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618436121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3" name="Rectangle 13"/>
          <p:cNvSpPr>
            <a:spLocks noGrp="1" noChangeArrowheads="1"/>
          </p:cNvSpPr>
          <p:nvPr>
            <p:ph type="title"/>
          </p:nvPr>
        </p:nvSpPr>
        <p:spPr>
          <a:xfrm>
            <a:off x="1257300" y="27584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OSI Provides a Reference Framework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95</a:t>
            </a:fld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26520" y="2283620"/>
            <a:ext cx="2402681" cy="4826793"/>
            <a:chOff x="412" y="689"/>
            <a:chExt cx="1009" cy="2027"/>
          </a:xfrm>
        </p:grpSpPr>
        <p:sp>
          <p:nvSpPr>
            <p:cNvPr id="1361926" name="Rectangle 6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27" name="Rectangle 7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28" name="Rectangle 8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29" name="Rectangle 9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30" name="Rectangle 10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31" name="Rectangle 11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32" name="Rectangle 12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sp>
        <p:nvSpPr>
          <p:cNvPr id="1361934" name="Text Box 14"/>
          <p:cNvSpPr txBox="1">
            <a:spLocks noChangeArrowheads="1"/>
          </p:cNvSpPr>
          <p:nvPr/>
        </p:nvSpPr>
        <p:spPr bwMode="auto">
          <a:xfrm>
            <a:off x="5824538" y="8872538"/>
            <a:ext cx="665559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tIns="0" bIns="137160">
            <a:spAutoFit/>
          </a:bodyPr>
          <a:lstStyle/>
          <a:p>
            <a:pPr algn="ctr"/>
            <a:r>
              <a:rPr lang="en-US" sz="3000"/>
              <a:t>Gives us a language to talk about data network technologies</a:t>
            </a:r>
          </a:p>
        </p:txBody>
      </p:sp>
      <p:pic>
        <p:nvPicPr>
          <p:cNvPr id="1361937" name="Picture 17" descr="Router"/>
          <p:cNvPicPr preferRelativeResize="0"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93882" y="7508083"/>
            <a:ext cx="1914525" cy="1164431"/>
          </a:xfrm>
          <a:prstGeom prst="rect">
            <a:avLst/>
          </a:prstGeom>
          <a:noFill/>
        </p:spPr>
      </p:pic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3275470" y="2283620"/>
            <a:ext cx="2402681" cy="4826793"/>
            <a:chOff x="412" y="689"/>
            <a:chExt cx="1009" cy="2027"/>
          </a:xfrm>
        </p:grpSpPr>
        <p:sp>
          <p:nvSpPr>
            <p:cNvPr id="1361940" name="Rectangle 20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41" name="Rectangle 21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42" name="Rectangle 22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43" name="Rectangle 23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44" name="Rectangle 24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45" name="Rectangle 25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46" name="Rectangle 26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172076" y="2633663"/>
            <a:ext cx="7958138" cy="2071688"/>
            <a:chOff x="1236" y="836"/>
            <a:chExt cx="3342" cy="870"/>
          </a:xfrm>
        </p:grpSpPr>
        <p:grpSp>
          <p:nvGrpSpPr>
            <p:cNvPr id="5" name="Group 28"/>
            <p:cNvGrpSpPr>
              <a:grpSpLocks/>
            </p:cNvGrpSpPr>
            <p:nvPr/>
          </p:nvGrpSpPr>
          <p:grpSpPr bwMode="auto">
            <a:xfrm>
              <a:off x="1236" y="836"/>
              <a:ext cx="3341" cy="286"/>
              <a:chOff x="1105" y="2055"/>
              <a:chExt cx="771" cy="419"/>
            </a:xfrm>
          </p:grpSpPr>
          <p:sp>
            <p:nvSpPr>
              <p:cNvPr id="1361949" name="Line 29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0" name="Line 30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  <p:grpSp>
          <p:nvGrpSpPr>
            <p:cNvPr id="6" name="Group 31"/>
            <p:cNvGrpSpPr>
              <a:grpSpLocks/>
            </p:cNvGrpSpPr>
            <p:nvPr/>
          </p:nvGrpSpPr>
          <p:grpSpPr bwMode="auto">
            <a:xfrm>
              <a:off x="1237" y="1420"/>
              <a:ext cx="3341" cy="286"/>
              <a:chOff x="1105" y="2055"/>
              <a:chExt cx="771" cy="419"/>
            </a:xfrm>
          </p:grpSpPr>
          <p:sp>
            <p:nvSpPr>
              <p:cNvPr id="1361952" name="Line 32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3" name="Line 33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6753226" y="5043488"/>
            <a:ext cx="4798220" cy="2066925"/>
            <a:chOff x="1790" y="1956"/>
            <a:chExt cx="2015" cy="868"/>
          </a:xfrm>
        </p:grpSpPr>
        <p:grpSp>
          <p:nvGrpSpPr>
            <p:cNvPr id="8" name="Group 35"/>
            <p:cNvGrpSpPr>
              <a:grpSpLocks/>
            </p:cNvGrpSpPr>
            <p:nvPr/>
          </p:nvGrpSpPr>
          <p:grpSpPr bwMode="auto">
            <a:xfrm>
              <a:off x="1790" y="2246"/>
              <a:ext cx="1009" cy="578"/>
              <a:chOff x="1790" y="2246"/>
              <a:chExt cx="1009" cy="578"/>
            </a:xfrm>
          </p:grpSpPr>
          <p:sp>
            <p:nvSpPr>
              <p:cNvPr id="1361956" name="Rectangle 36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57" name="Rectangle 37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  <p:sp>
          <p:nvSpPr>
            <p:cNvPr id="1361958" name="Rectangle 38"/>
            <p:cNvSpPr>
              <a:spLocks noChangeArrowheads="1"/>
            </p:cNvSpPr>
            <p:nvPr/>
          </p:nvSpPr>
          <p:spPr bwMode="auto">
            <a:xfrm>
              <a:off x="1790" y="1956"/>
              <a:ext cx="2015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grpSp>
          <p:nvGrpSpPr>
            <p:cNvPr id="9" name="Group 39"/>
            <p:cNvGrpSpPr>
              <a:grpSpLocks/>
            </p:cNvGrpSpPr>
            <p:nvPr/>
          </p:nvGrpSpPr>
          <p:grpSpPr bwMode="auto">
            <a:xfrm>
              <a:off x="2796" y="2246"/>
              <a:ext cx="1009" cy="578"/>
              <a:chOff x="1790" y="2246"/>
              <a:chExt cx="1009" cy="578"/>
            </a:xfrm>
          </p:grpSpPr>
          <p:sp>
            <p:nvSpPr>
              <p:cNvPr id="1361960" name="Rectangle 40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61" name="Rectangle 41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</p:grpSp>
      <p:grpSp>
        <p:nvGrpSpPr>
          <p:cNvPr id="10" name="Group 42"/>
          <p:cNvGrpSpPr>
            <a:grpSpLocks/>
          </p:cNvGrpSpPr>
          <p:nvPr/>
        </p:nvGrpSpPr>
        <p:grpSpPr bwMode="auto">
          <a:xfrm>
            <a:off x="5172075" y="5388770"/>
            <a:ext cx="1466850" cy="1383506"/>
            <a:chOff x="1212" y="1993"/>
            <a:chExt cx="616" cy="581"/>
          </a:xfrm>
        </p:grpSpPr>
        <p:sp>
          <p:nvSpPr>
            <p:cNvPr id="1361963" name="Line 43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4" name="Line 44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5" name="Line 45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11" name="Group 46"/>
          <p:cNvGrpSpPr>
            <a:grpSpLocks/>
          </p:cNvGrpSpPr>
          <p:nvPr/>
        </p:nvGrpSpPr>
        <p:grpSpPr bwMode="auto">
          <a:xfrm>
            <a:off x="11663363" y="5384008"/>
            <a:ext cx="1466850" cy="1383506"/>
            <a:chOff x="1212" y="1993"/>
            <a:chExt cx="616" cy="581"/>
          </a:xfrm>
        </p:grpSpPr>
        <p:sp>
          <p:nvSpPr>
            <p:cNvPr id="1361967" name="Line 47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8" name="Line 48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9" name="Line 49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47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02118521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692" name="Rectangle 20"/>
          <p:cNvSpPr>
            <a:spLocks noGrp="1" noChangeArrowheads="1"/>
          </p:cNvSpPr>
          <p:nvPr>
            <p:ph type="title"/>
          </p:nvPr>
        </p:nvSpPr>
        <p:spPr>
          <a:xfrm>
            <a:off x="1257300" y="292895"/>
            <a:ext cx="15773400" cy="1988345"/>
          </a:xfrm>
        </p:spPr>
        <p:txBody>
          <a:bodyPr/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Different Look, Same Idea: The TCP/IP Model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96</a:t>
            </a:fld>
            <a:endParaRPr lang="en-US"/>
          </a:p>
        </p:txBody>
      </p:sp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7103270" y="4733925"/>
            <a:ext cx="4112418" cy="2031207"/>
            <a:chOff x="1813" y="1328"/>
            <a:chExt cx="1727" cy="853"/>
          </a:xfrm>
        </p:grpSpPr>
        <p:sp>
          <p:nvSpPr>
            <p:cNvPr id="1180675" name="Rectangle 3"/>
            <p:cNvSpPr>
              <a:spLocks noChangeArrowheads="1"/>
            </p:cNvSpPr>
            <p:nvPr/>
          </p:nvSpPr>
          <p:spPr bwMode="auto">
            <a:xfrm>
              <a:off x="1813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6" name="Rectangle 4"/>
            <p:cNvSpPr>
              <a:spLocks noChangeArrowheads="1"/>
            </p:cNvSpPr>
            <p:nvPr/>
          </p:nvSpPr>
          <p:spPr bwMode="auto">
            <a:xfrm>
              <a:off x="2676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7" name="Rectangle 5"/>
            <p:cNvSpPr>
              <a:spLocks noChangeArrowheads="1"/>
            </p:cNvSpPr>
            <p:nvPr/>
          </p:nvSpPr>
          <p:spPr bwMode="auto">
            <a:xfrm>
              <a:off x="1813" y="1328"/>
              <a:ext cx="1727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3" name="Picture 21" descr="DOS Tower Straight on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635038" y="2643188"/>
            <a:ext cx="1340645" cy="2383632"/>
          </a:xfrm>
          <a:prstGeom prst="rect">
            <a:avLst/>
          </a:prstGeom>
          <a:noFill/>
        </p:spPr>
      </p:pic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2702720" y="2643188"/>
            <a:ext cx="2057400" cy="4121945"/>
            <a:chOff x="175" y="1059"/>
            <a:chExt cx="864" cy="1731"/>
          </a:xfrm>
        </p:grpSpPr>
        <p:sp>
          <p:nvSpPr>
            <p:cNvPr id="1180688" name="Rectangle 16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689" name="Rectangle 17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690" name="Rectangle 18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91" name="Rectangle 19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5" name="Picture 23" descr="Router"/>
          <p:cNvPicPr preferRelativeResize="0"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3407" y="7729538"/>
            <a:ext cx="1914525" cy="1164432"/>
          </a:xfrm>
          <a:prstGeom prst="rect">
            <a:avLst/>
          </a:prstGeom>
          <a:noFill/>
        </p:spPr>
      </p:pic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13561220" y="2643188"/>
            <a:ext cx="2057400" cy="4121945"/>
            <a:chOff x="175" y="1059"/>
            <a:chExt cx="864" cy="1731"/>
          </a:xfrm>
        </p:grpSpPr>
        <p:sp>
          <p:nvSpPr>
            <p:cNvPr id="1180711" name="Rectangle 39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712" name="Rectangle 40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713" name="Rectangle 41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714" name="Rectangle 42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grpSp>
        <p:nvGrpSpPr>
          <p:cNvPr id="5" name="Group 48"/>
          <p:cNvGrpSpPr>
            <a:grpSpLocks/>
          </p:cNvGrpSpPr>
          <p:nvPr/>
        </p:nvGrpSpPr>
        <p:grpSpPr bwMode="auto">
          <a:xfrm>
            <a:off x="4981576" y="5269707"/>
            <a:ext cx="1835945" cy="997743"/>
            <a:chOff x="1105" y="2055"/>
            <a:chExt cx="771" cy="419"/>
          </a:xfrm>
        </p:grpSpPr>
        <p:sp>
          <p:nvSpPr>
            <p:cNvPr id="1180700" name="Line 28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19" name="Line 47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11470482" y="5269707"/>
            <a:ext cx="1835943" cy="997743"/>
            <a:chOff x="1105" y="2055"/>
            <a:chExt cx="771" cy="419"/>
          </a:xfrm>
        </p:grpSpPr>
        <p:sp>
          <p:nvSpPr>
            <p:cNvPr id="1180722" name="Line 50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3" name="Line 51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4981575" y="3195638"/>
            <a:ext cx="8324850" cy="997745"/>
            <a:chOff x="1105" y="2055"/>
            <a:chExt cx="771" cy="419"/>
          </a:xfrm>
        </p:grpSpPr>
        <p:sp>
          <p:nvSpPr>
            <p:cNvPr id="1180725" name="Line 53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6" name="Line 54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31" name="Picture 30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33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29517422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DA0B-42B2-BD77-3742-4F0137A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Link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DDA8-BCB2-4E8E-FAA5-F6C27C115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Technically distinct from the physical layer, but usually considered together</a:t>
            </a:r>
          </a:p>
          <a:p>
            <a:r>
              <a:rPr lang="en-US" dirty="0"/>
              <a:t>Connects devices on a shared link</a:t>
            </a:r>
          </a:p>
          <a:p>
            <a:r>
              <a:rPr lang="en-US" dirty="0"/>
              <a:t>Data is sent in a </a:t>
            </a:r>
            <a:r>
              <a:rPr lang="en-US" i="1" dirty="0"/>
              <a:t>frame</a:t>
            </a:r>
          </a:p>
          <a:p>
            <a:r>
              <a:rPr lang="en-US" dirty="0"/>
              <a:t>Common topologies are:</a:t>
            </a:r>
          </a:p>
          <a:p>
            <a:pPr lvl="1"/>
            <a:r>
              <a:rPr lang="en-US" dirty="0"/>
              <a:t>Point-to-Point</a:t>
            </a:r>
          </a:p>
          <a:p>
            <a:pPr lvl="1"/>
            <a:r>
              <a:rPr lang="en-US" dirty="0"/>
              <a:t>Any-to-Any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/>
              <a:t>Wi-Fi</a:t>
            </a:r>
          </a:p>
          <a:p>
            <a:pPr lvl="1"/>
            <a:r>
              <a:rPr lang="en-US" dirty="0"/>
              <a:t>DOCSIS (what cable modems use)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11017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7961E702-A2A3-0D67-3193-6BE48B977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Link Topologies</a:t>
            </a:r>
          </a:p>
        </p:txBody>
      </p:sp>
      <p:pic>
        <p:nvPicPr>
          <p:cNvPr id="5" name="Graphic 4" descr="Computer">
            <a:extLst>
              <a:ext uri="{FF2B5EF4-FFF2-40B4-BE49-F238E27FC236}">
                <a16:creationId xmlns:a16="http://schemas.microsoft.com/office/drawing/2014/main" id="{1B7C54D9-E5E0-EC1C-C130-7501EAA48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01453" y="7381703"/>
            <a:ext cx="1634816" cy="1600880"/>
          </a:xfrm>
          <a:prstGeom prst="rect">
            <a:avLst/>
          </a:prstGeom>
        </p:spPr>
      </p:pic>
      <p:pic>
        <p:nvPicPr>
          <p:cNvPr id="6" name="Graphic 5" descr="Computer">
            <a:extLst>
              <a:ext uri="{FF2B5EF4-FFF2-40B4-BE49-F238E27FC236}">
                <a16:creationId xmlns:a16="http://schemas.microsoft.com/office/drawing/2014/main" id="{5860B113-7DED-CFD9-0198-271BB7F672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4973" y="7381703"/>
            <a:ext cx="1634816" cy="1600880"/>
          </a:xfrm>
          <a:prstGeom prst="rect">
            <a:avLst/>
          </a:prstGeo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27B5BC7D-2030-030F-B3AA-CE859301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44973" y="4378162"/>
            <a:ext cx="2350891" cy="709914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8E94A3CC-8E74-905B-75C0-44B2D55E2C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914887" y="7648516"/>
            <a:ext cx="1442952" cy="110060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5D1834-92BA-3EB7-36A0-01EE341F4469}"/>
              </a:ext>
            </a:extLst>
          </p:cNvPr>
          <p:cNvCxnSpPr>
            <a:cxnSpLocks/>
          </p:cNvCxnSpPr>
          <p:nvPr/>
        </p:nvCxnSpPr>
        <p:spPr>
          <a:xfrm flipV="1">
            <a:off x="9958767" y="4813043"/>
            <a:ext cx="1629416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F016A14-7C92-951A-A82C-E884ED2ACEBF}"/>
              </a:ext>
            </a:extLst>
          </p:cNvPr>
          <p:cNvCxnSpPr>
            <a:cxnSpLocks/>
          </p:cNvCxnSpPr>
          <p:nvPr/>
        </p:nvCxnSpPr>
        <p:spPr>
          <a:xfrm flipV="1">
            <a:off x="11950613" y="4837485"/>
            <a:ext cx="19346" cy="2859621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7461B-10B6-D36C-84F1-98005868960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12941392" y="4813043"/>
            <a:ext cx="2694971" cy="283547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E93ACFF-C971-E36A-DBDC-90F72F030072}"/>
              </a:ext>
            </a:extLst>
          </p:cNvPr>
          <p:cNvCxnSpPr>
            <a:cxnSpLocks/>
          </p:cNvCxnSpPr>
          <p:nvPr/>
        </p:nvCxnSpPr>
        <p:spPr>
          <a:xfrm flipH="1" flipV="1">
            <a:off x="12332388" y="4813043"/>
            <a:ext cx="1640624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78EB7BB8-F38B-7CE6-991C-B8F76BB5F9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6818" y="7381703"/>
            <a:ext cx="1634816" cy="16008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69AF8AB-28CB-4BAA-4626-AD1E6D29F78A}"/>
              </a:ext>
            </a:extLst>
          </p:cNvPr>
          <p:cNvSpPr txBox="1"/>
          <p:nvPr/>
        </p:nvSpPr>
        <p:spPr>
          <a:xfrm>
            <a:off x="11276652" y="3363670"/>
            <a:ext cx="2111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Any-to-Any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BF070B2-0ED6-72AC-20AC-B935C2475E00}"/>
              </a:ext>
            </a:extLst>
          </p:cNvPr>
          <p:cNvGrpSpPr/>
          <p:nvPr/>
        </p:nvGrpSpPr>
        <p:grpSpPr>
          <a:xfrm>
            <a:off x="1367659" y="3634771"/>
            <a:ext cx="7497275" cy="2332187"/>
            <a:chOff x="76200" y="1444358"/>
            <a:chExt cx="4890142" cy="145501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EEAB55-ABE9-610B-4457-BFCFC4A98B42}"/>
                </a:ext>
              </a:extLst>
            </p:cNvPr>
            <p:cNvCxnSpPr/>
            <p:nvPr/>
          </p:nvCxnSpPr>
          <p:spPr>
            <a:xfrm flipV="1">
              <a:off x="876298" y="2033366"/>
              <a:ext cx="2154095" cy="26276"/>
            </a:xfrm>
            <a:prstGeom prst="line">
              <a:avLst/>
            </a:prstGeom>
            <a:ln w="76200" cap="sq"/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7" name="Graphic 16" descr="Laptop">
              <a:extLst>
                <a:ext uri="{FF2B5EF4-FFF2-40B4-BE49-F238E27FC236}">
                  <a16:creationId xmlns:a16="http://schemas.microsoft.com/office/drawing/2014/main" id="{62C62977-DABA-CF13-90C5-F85A088D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200" y="1635125"/>
              <a:ext cx="914400" cy="9144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FC16120-47AA-68BB-8FD1-8F3E1E54C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90600" y="1955966"/>
              <a:ext cx="660400" cy="215900"/>
            </a:xfrm>
            <a:prstGeom prst="rect">
              <a:avLst/>
            </a:prstGeom>
          </p:spPr>
        </p:pic>
        <p:sp>
          <p:nvSpPr>
            <p:cNvPr id="19" name="Cloud 18">
              <a:extLst>
                <a:ext uri="{FF2B5EF4-FFF2-40B4-BE49-F238E27FC236}">
                  <a16:creationId xmlns:a16="http://schemas.microsoft.com/office/drawing/2014/main" id="{53E6F7A2-BAC8-1B42-FEBF-A20E28E43755}"/>
                </a:ext>
              </a:extLst>
            </p:cNvPr>
            <p:cNvSpPr/>
            <p:nvPr/>
          </p:nvSpPr>
          <p:spPr>
            <a:xfrm>
              <a:off x="2995479" y="1444358"/>
              <a:ext cx="1970863" cy="1455015"/>
            </a:xfrm>
            <a:prstGeom prst="cloud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pic>
          <p:nvPicPr>
            <p:cNvPr id="20" name="Picture 19" descr="Background pattern&#10;&#10;Description automatically generated">
              <a:extLst>
                <a:ext uri="{FF2B5EF4-FFF2-40B4-BE49-F238E27FC236}">
                  <a16:creationId xmlns:a16="http://schemas.microsoft.com/office/drawing/2014/main" id="{FF01B418-85ED-FC73-0D09-A8FBD75B4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81298" y="1602442"/>
              <a:ext cx="498191" cy="91440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D44AB6-4B9F-266D-0E77-E55112BF2F76}"/>
                </a:ext>
              </a:extLst>
            </p:cNvPr>
            <p:cNvSpPr txBox="1"/>
            <p:nvPr/>
          </p:nvSpPr>
          <p:spPr>
            <a:xfrm>
              <a:off x="3539321" y="1920277"/>
              <a:ext cx="989358" cy="3264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internet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C79813C-24BD-B932-6D5F-4D4ABA07BD1D}"/>
              </a:ext>
            </a:extLst>
          </p:cNvPr>
          <p:cNvSpPr txBox="1"/>
          <p:nvPr/>
        </p:nvSpPr>
        <p:spPr>
          <a:xfrm>
            <a:off x="2855093" y="2601034"/>
            <a:ext cx="2605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Point-to-Point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20B9A5-DDE4-70BB-7B7D-2F913B918274}"/>
              </a:ext>
            </a:extLst>
          </p:cNvPr>
          <p:cNvSpPr txBox="1"/>
          <p:nvPr/>
        </p:nvSpPr>
        <p:spPr>
          <a:xfrm>
            <a:off x="3332745" y="4936008"/>
            <a:ext cx="934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1B8FCA-55B3-96CA-1A72-12F388D0515A}"/>
              </a:ext>
            </a:extLst>
          </p:cNvPr>
          <p:cNvSpPr txBox="1"/>
          <p:nvPr/>
        </p:nvSpPr>
        <p:spPr>
          <a:xfrm>
            <a:off x="1853214" y="6938752"/>
            <a:ext cx="3607079" cy="1631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 Link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Addressing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Error check </a:t>
            </a:r>
          </a:p>
        </p:txBody>
      </p:sp>
    </p:spTree>
    <p:extLst>
      <p:ext uri="{BB962C8B-B14F-4D97-AF65-F5344CB8AC3E}">
        <p14:creationId xmlns:p14="http://schemas.microsoft.com/office/powerpoint/2010/main" val="38164493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10: </a:t>
            </a:r>
            <a:br>
              <a:rPr lang="en-US" dirty="0"/>
            </a:br>
            <a:r>
              <a:rPr lang="en-US" dirty="0"/>
              <a:t>IP </a:t>
            </a:r>
            <a:r>
              <a:rPr dirty="0"/>
              <a:t>Address</a:t>
            </a:r>
            <a:r>
              <a:rPr lang="en-US" dirty="0"/>
              <a:t>es and Operations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0183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 Protocol</a:t>
            </a:r>
          </a:p>
        </p:txBody>
      </p:sp>
      <p:sp>
        <p:nvSpPr>
          <p:cNvPr id="3890184" name="Rectangle 8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dirty="0"/>
              <a:t>The Network Layer (Layer 3) protocol used on the internet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Has become the protocol for most networks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Primary responsibility is building routing tables, forwarding and delivering packets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Current version is IPv4 with IPv6 growing (largely invisibly)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Packet-oriented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Connectionless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Related protocols include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Routing protocols (RIP, OSPF, EIGRP, BGP)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Address Resolution Protocol (ARP)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Dynamic Host Configuration</a:t>
            </a:r>
            <a:br>
              <a:rPr lang="en-US" sz="3000" dirty="0"/>
            </a:br>
            <a:r>
              <a:rPr lang="en-US" sz="3000" dirty="0"/>
              <a:t>Protocol (DHCP)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Network address translation (NAT)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100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04953" y="5372099"/>
            <a:ext cx="6539948" cy="470058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1398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018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54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IPv4 Address</a:t>
            </a:r>
          </a:p>
        </p:txBody>
      </p:sp>
      <p:sp>
        <p:nvSpPr>
          <p:cNvPr id="3945476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8093870"/>
          </a:xfrm>
        </p:spPr>
        <p:txBody>
          <a:bodyPr/>
          <a:lstStyle/>
          <a:p>
            <a:r>
              <a:rPr lang="en-US"/>
              <a:t>Binary (base two) representation:</a:t>
            </a:r>
          </a:p>
          <a:p>
            <a:pPr marL="1371600" lvl="2" indent="0">
              <a:buNone/>
            </a:pPr>
            <a:r>
              <a:rPr lang="en-US"/>
              <a:t>   </a:t>
            </a:r>
            <a:r>
              <a:rPr lang="en-US" sz="4200"/>
              <a:t>01000111 00111100 10011000 10100000</a:t>
            </a:r>
          </a:p>
          <a:p>
            <a:r>
              <a:rPr lang="en-US"/>
              <a:t>Better known as:</a:t>
            </a:r>
          </a:p>
          <a:p>
            <a:pPr marL="1371600" lvl="2" indent="0">
              <a:buNone/>
            </a:pPr>
            <a:r>
              <a:rPr lang="en-US" sz="3600"/>
              <a:t>   </a:t>
            </a:r>
            <a:r>
              <a:rPr lang="en-US" sz="4200"/>
              <a:t>71.60.152.160</a:t>
            </a:r>
          </a:p>
          <a:p>
            <a:r>
              <a:rPr lang="en-US"/>
              <a:t>Hierarchical structure</a:t>
            </a:r>
          </a:p>
          <a:p>
            <a:r>
              <a:rPr lang="en-US"/>
              <a:t>Like your phone number (area code, phone number)</a:t>
            </a:r>
          </a:p>
          <a:p>
            <a:r>
              <a:rPr lang="en-US"/>
              <a:t>IP address has the Network Identifier (NETID)</a:t>
            </a:r>
            <a:br>
              <a:rPr lang="en-US"/>
            </a:br>
            <a:r>
              <a:rPr lang="en-US"/>
              <a:t>and Host Identifier (HOSTID)</a:t>
            </a:r>
          </a:p>
          <a:p>
            <a:r>
              <a:rPr lang="en-US"/>
              <a:t>Slash notation indicates where the boundary</a:t>
            </a:r>
            <a:br>
              <a:rPr lang="en-US"/>
            </a:br>
            <a:r>
              <a:rPr lang="en-US"/>
              <a:t>between the NETID and HOSTID is located</a:t>
            </a:r>
          </a:p>
          <a:p>
            <a:pPr lvl="1">
              <a:buNone/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101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5" descr="G0371_IPv4-Addresses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25148" y="7319084"/>
            <a:ext cx="4769645" cy="1243013"/>
          </a:xfrm>
          <a:prstGeom prst="rect">
            <a:avLst/>
          </a:prstGeom>
          <a:noFill/>
        </p:spPr>
      </p:pic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3444053" y="8436674"/>
            <a:ext cx="4267515" cy="738664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128.67.38.23 /16</a:t>
            </a:r>
          </a:p>
        </p:txBody>
      </p:sp>
      <p:sp>
        <p:nvSpPr>
          <p:cNvPr id="7" name="Freeform 8"/>
          <p:cNvSpPr>
            <a:spLocks/>
          </p:cNvSpPr>
          <p:nvPr/>
        </p:nvSpPr>
        <p:spPr bwMode="auto">
          <a:xfrm>
            <a:off x="13061156" y="7686676"/>
            <a:ext cx="90488" cy="507831"/>
          </a:xfrm>
          <a:custGeom>
            <a:avLst/>
            <a:gdLst/>
            <a:ahLst/>
            <a:cxnLst>
              <a:cxn ang="0">
                <a:pos x="0" y="488"/>
              </a:cxn>
              <a:cxn ang="0">
                <a:pos x="71" y="217"/>
              </a:cxn>
              <a:cxn ang="0">
                <a:pos x="14" y="241"/>
              </a:cxn>
              <a:cxn ang="0">
                <a:pos x="73" y="0"/>
              </a:cxn>
            </a:cxnLst>
            <a:rect l="0" t="0" r="r" b="b"/>
            <a:pathLst>
              <a:path w="74" h="488">
                <a:moveTo>
                  <a:pt x="0" y="488"/>
                </a:moveTo>
                <a:cubicBezTo>
                  <a:pt x="12" y="443"/>
                  <a:pt x="69" y="258"/>
                  <a:pt x="71" y="217"/>
                </a:cubicBezTo>
                <a:cubicBezTo>
                  <a:pt x="74" y="217"/>
                  <a:pt x="14" y="243"/>
                  <a:pt x="14" y="241"/>
                </a:cubicBezTo>
                <a:cubicBezTo>
                  <a:pt x="12" y="243"/>
                  <a:pt x="61" y="50"/>
                  <a:pt x="73" y="0"/>
                </a:cubicBezTo>
              </a:path>
            </a:pathLst>
          </a:custGeom>
          <a:noFill/>
          <a:ln w="1905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931601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Role of IP Addressing</a:t>
            </a:r>
          </a:p>
        </p:txBody>
      </p:sp>
      <p:sp>
        <p:nvSpPr>
          <p:cNvPr id="15093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IP addresses are used to identify the client computer and the server</a:t>
            </a:r>
          </a:p>
          <a:p>
            <a:r>
              <a:rPr lang="en-US"/>
              <a:t>All packets have a destination address (where it is going) and a source address (the sender’s address)</a:t>
            </a:r>
          </a:p>
          <a:p>
            <a:r>
              <a:rPr lang="en-US"/>
              <a:t>IP addresses</a:t>
            </a:r>
          </a:p>
          <a:p>
            <a:pPr lvl="1"/>
            <a:r>
              <a:rPr lang="en-US"/>
              <a:t>Assigned to devices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Static: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Permanently assigned to a device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Dynamic: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Temporarily allocated to a device</a:t>
            </a:r>
          </a:p>
          <a:p>
            <a:pPr lvl="1"/>
            <a:r>
              <a:rPr lang="en-US"/>
              <a:t>Public</a:t>
            </a:r>
          </a:p>
          <a:p>
            <a:pPr lvl="2"/>
            <a:r>
              <a:rPr lang="en-US"/>
              <a:t>Unique and valid over the Internet</a:t>
            </a:r>
          </a:p>
          <a:p>
            <a:pPr lvl="1"/>
            <a:r>
              <a:rPr lang="en-US"/>
              <a:t>Private </a:t>
            </a:r>
          </a:p>
          <a:p>
            <a:pPr lvl="2"/>
            <a:r>
              <a:rPr lang="en-US"/>
              <a:t>May not be sent over the Internet</a:t>
            </a:r>
          </a:p>
          <a:p>
            <a:pPr lvl="2"/>
            <a:r>
              <a:rPr lang="en-US"/>
              <a:t>Translated by network address translation (NAT) for internet transit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102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50412429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426" name="Line 2"/>
          <p:cNvSpPr>
            <a:spLocks noChangeShapeType="1"/>
          </p:cNvSpPr>
          <p:nvPr/>
        </p:nvSpPr>
        <p:spPr bwMode="auto">
          <a:xfrm flipH="1">
            <a:off x="4400552" y="7620000"/>
            <a:ext cx="2316957" cy="118348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sp>
        <p:nvSpPr>
          <p:cNvPr id="151142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vs. Public IP Address</a:t>
            </a:r>
          </a:p>
        </p:txBody>
      </p:sp>
      <p:sp>
        <p:nvSpPr>
          <p:cNvPr id="1511429" name="Rectangle 5"/>
          <p:cNvSpPr>
            <a:spLocks noGrp="1" noChangeArrowheads="1"/>
          </p:cNvSpPr>
          <p:nvPr>
            <p:ph idx="1"/>
          </p:nvPr>
        </p:nvSpPr>
        <p:spPr>
          <a:xfrm>
            <a:off x="1178721" y="1896323"/>
            <a:ext cx="15773400" cy="6967198"/>
          </a:xfrm>
        </p:spPr>
        <p:txBody>
          <a:bodyPr/>
          <a:lstStyle/>
          <a:p>
            <a:r>
              <a:rPr lang="en-US"/>
              <a:t>To overcome address exhaustion private address are used</a:t>
            </a:r>
          </a:p>
          <a:p>
            <a:pPr lvl="1"/>
            <a:r>
              <a:rPr lang="en-US"/>
              <a:t>10.0.0.0 /8</a:t>
            </a:r>
          </a:p>
          <a:p>
            <a:pPr lvl="1"/>
            <a:r>
              <a:rPr lang="en-US"/>
              <a:t>172.16.0.0 /12</a:t>
            </a:r>
          </a:p>
          <a:p>
            <a:pPr lvl="1"/>
            <a:r>
              <a:rPr lang="en-US"/>
              <a:t>192.168.0.0 /16</a:t>
            </a:r>
          </a:p>
          <a:p>
            <a:r>
              <a:rPr lang="en-US"/>
              <a:t>Private IP address not to be used on the Internet</a:t>
            </a:r>
          </a:p>
          <a:p>
            <a:pPr lvl="1"/>
            <a:r>
              <a:rPr lang="en-US"/>
              <a:t>Must use NAT/PAT to a public address obtained from ISP</a:t>
            </a:r>
          </a:p>
          <a:p>
            <a:endParaRPr lang="en-US"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103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1511430" name="Line 6"/>
          <p:cNvSpPr>
            <a:spLocks noChangeShapeType="1"/>
          </p:cNvSpPr>
          <p:nvPr/>
        </p:nvSpPr>
        <p:spPr bwMode="auto">
          <a:xfrm flipH="1">
            <a:off x="4286252" y="7448550"/>
            <a:ext cx="844153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pic>
        <p:nvPicPr>
          <p:cNvPr id="1511431" name="Picture 7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12634" y="6634163"/>
            <a:ext cx="2235993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2" name="Rectangle 8"/>
          <p:cNvSpPr>
            <a:spLocks noChangeArrowheads="1"/>
          </p:cNvSpPr>
          <p:nvPr/>
        </p:nvSpPr>
        <p:spPr bwMode="auto">
          <a:xfrm>
            <a:off x="6422234" y="7119938"/>
            <a:ext cx="1341118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1511434" name="Picture 10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65421" y="6634163"/>
            <a:ext cx="2238375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5" name="Rectangle 11"/>
          <p:cNvSpPr>
            <a:spLocks noChangeArrowheads="1"/>
          </p:cNvSpPr>
          <p:nvPr/>
        </p:nvSpPr>
        <p:spPr bwMode="auto">
          <a:xfrm>
            <a:off x="9677402" y="7119938"/>
            <a:ext cx="1449931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511437" name="Text Box 13"/>
          <p:cNvSpPr txBox="1">
            <a:spLocks noChangeArrowheads="1"/>
          </p:cNvSpPr>
          <p:nvPr/>
        </p:nvSpPr>
        <p:spPr bwMode="auto">
          <a:xfrm>
            <a:off x="3369471" y="8027195"/>
            <a:ext cx="1363560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solidFill>
                  <a:schemeClr val="bg1"/>
                </a:solidFill>
              </a:rPr>
              <a:t>10.1.1.1</a:t>
            </a:r>
            <a:endParaRPr lang="en-AU" sz="2700">
              <a:solidFill>
                <a:schemeClr val="bg1"/>
              </a:solidFill>
            </a:endParaRPr>
          </a:p>
        </p:txBody>
      </p:sp>
      <p:sp>
        <p:nvSpPr>
          <p:cNvPr id="1511438" name="Text Box 14"/>
          <p:cNvSpPr txBox="1">
            <a:spLocks noChangeArrowheads="1"/>
          </p:cNvSpPr>
          <p:nvPr/>
        </p:nvSpPr>
        <p:spPr bwMode="auto">
          <a:xfrm>
            <a:off x="14461374" y="6599279"/>
            <a:ext cx="2840831" cy="943711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/>
            <a:r>
              <a:rPr lang="en-US" sz="27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class.hillvt.com</a:t>
            </a:r>
            <a:endParaRPr lang="en-US" sz="27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defTabSz="1219200"/>
            <a:r>
              <a:rPr lang="en-AU" sz="27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66.228.126.195</a:t>
            </a:r>
          </a:p>
        </p:txBody>
      </p:sp>
      <p:sp>
        <p:nvSpPr>
          <p:cNvPr id="1511439" name="Rectangle 15"/>
          <p:cNvSpPr>
            <a:spLocks noChangeArrowheads="1"/>
          </p:cNvSpPr>
          <p:nvPr/>
        </p:nvSpPr>
        <p:spPr bwMode="auto">
          <a:xfrm>
            <a:off x="6010562" y="8337100"/>
            <a:ext cx="2253227" cy="1266876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192.168.1.1</a:t>
            </a:r>
          </a:p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192.168.1.2</a:t>
            </a:r>
          </a:p>
        </p:txBody>
      </p:sp>
      <p:sp>
        <p:nvSpPr>
          <p:cNvPr id="1511440" name="Text Box 16"/>
          <p:cNvSpPr txBox="1">
            <a:spLocks noChangeArrowheads="1"/>
          </p:cNvSpPr>
          <p:nvPr/>
        </p:nvSpPr>
        <p:spPr bwMode="auto">
          <a:xfrm>
            <a:off x="9470234" y="8705850"/>
            <a:ext cx="2060412" cy="574379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200.1.1.1</a:t>
            </a:r>
          </a:p>
        </p:txBody>
      </p:sp>
      <p:sp>
        <p:nvSpPr>
          <p:cNvPr id="1511441" name="AutoShape 17"/>
          <p:cNvSpPr>
            <a:spLocks noChangeArrowheads="1"/>
          </p:cNvSpPr>
          <p:nvPr/>
        </p:nvSpPr>
        <p:spPr bwMode="auto">
          <a:xfrm>
            <a:off x="8241508" y="8779670"/>
            <a:ext cx="1016795" cy="407193"/>
          </a:xfrm>
          <a:prstGeom prst="leftRightArrow">
            <a:avLst>
              <a:gd name="adj1" fmla="val 50000"/>
              <a:gd name="adj2" fmla="val 49942"/>
            </a:avLst>
          </a:prstGeom>
          <a:solidFill>
            <a:schemeClr val="tx1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25477" tIns="62739" rIns="125477" bIns="62739" anchor="ctr"/>
          <a:lstStyle/>
          <a:p>
            <a:endParaRPr lang="en-US" sz="2700"/>
          </a:p>
        </p:txBody>
      </p:sp>
      <p:pic>
        <p:nvPicPr>
          <p:cNvPr id="1511442" name="Picture 18" descr="Router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74809" y="7046120"/>
            <a:ext cx="1257300" cy="769143"/>
          </a:xfrm>
          <a:prstGeom prst="rect">
            <a:avLst/>
          </a:prstGeom>
          <a:noFill/>
        </p:spPr>
      </p:pic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8115302" y="7891463"/>
            <a:ext cx="1202532" cy="52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1624" tIns="55812" rIns="111624" bIns="55812">
            <a:spAutoFit/>
          </a:bodyPr>
          <a:lstStyle/>
          <a:p>
            <a:pPr algn="ctr" defTabSz="1219200">
              <a:spcBef>
                <a:spcPct val="50000"/>
              </a:spcBef>
              <a:defRPr/>
            </a:pPr>
            <a:r>
              <a:rPr lang="en-US" sz="2700">
                <a:solidFill>
                  <a:srgbClr val="00206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NAT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80730" y="6857999"/>
            <a:ext cx="2561774" cy="1921331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5537" y="7071135"/>
            <a:ext cx="2389848" cy="179238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0406" y="8392383"/>
            <a:ext cx="2389848" cy="17923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23490644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Static vs. Dynamic IP Address</a:t>
            </a:r>
          </a:p>
        </p:txBody>
      </p:sp>
      <p:sp>
        <p:nvSpPr>
          <p:cNvPr id="15134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5773400" cy="767953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An IP address can be assigned to a system statically or dynamically</a:t>
            </a:r>
          </a:p>
          <a:p>
            <a:r>
              <a:rPr lang="en-US"/>
              <a:t>Static assignment is fixed and permanent</a:t>
            </a:r>
          </a:p>
          <a:p>
            <a:pPr lvl="1"/>
            <a:r>
              <a:rPr lang="en-US"/>
              <a:t>Does not change when a system reboots</a:t>
            </a:r>
          </a:p>
          <a:p>
            <a:pPr lvl="1"/>
            <a:r>
              <a:rPr lang="en-US"/>
              <a:t>Ideal for inbound communication</a:t>
            </a:r>
          </a:p>
          <a:p>
            <a:pPr lvl="2"/>
            <a:r>
              <a:rPr lang="en-US"/>
              <a:t>Web servers</a:t>
            </a:r>
          </a:p>
          <a:p>
            <a:pPr lvl="2"/>
            <a:r>
              <a:rPr lang="en-US"/>
              <a:t>Email servers</a:t>
            </a:r>
          </a:p>
          <a:p>
            <a:pPr lvl="2"/>
            <a:r>
              <a:rPr lang="en-US"/>
              <a:t>FTP servers</a:t>
            </a:r>
          </a:p>
          <a:p>
            <a:pPr lvl="2"/>
            <a:r>
              <a:rPr lang="en-US"/>
              <a:t>DNS servers</a:t>
            </a:r>
          </a:p>
          <a:p>
            <a:pPr lvl="2"/>
            <a:r>
              <a:rPr lang="en-US"/>
              <a:t>VPN access appliances</a:t>
            </a:r>
          </a:p>
          <a:p>
            <a:pPr lvl="2"/>
            <a:r>
              <a:rPr lang="en-US"/>
              <a:t>Routers</a:t>
            </a:r>
          </a:p>
          <a:p>
            <a:r>
              <a:rPr lang="en-US"/>
              <a:t>Dynamic assignment means assignment occurs when a system boots</a:t>
            </a:r>
          </a:p>
          <a:p>
            <a:pPr lvl="1"/>
            <a:r>
              <a:rPr lang="en-US"/>
              <a:t>May change over time</a:t>
            </a:r>
          </a:p>
          <a:p>
            <a:pPr lvl="1"/>
            <a:r>
              <a:rPr lang="en-US"/>
              <a:t>Ideal for outbound communication (e.g., Web, email)</a:t>
            </a:r>
          </a:p>
          <a:p>
            <a:pPr lvl="1"/>
            <a:r>
              <a:rPr lang="en-US"/>
              <a:t>Makes it hard for others to find your IP (not linked to DNS)</a:t>
            </a:r>
          </a:p>
          <a:p>
            <a:r>
              <a:rPr lang="en-US"/>
              <a:t>Dynamic Host Configuration Protocol (DHCP) typically used to assign both static and dynamic IP addresses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104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83989363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40E2-8338-8416-367F-D20866403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Host Configuration Protocol (DHCP)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A0604-DEF7-24B8-CB6F-EFE34240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8082" cy="6967198"/>
          </a:xfrm>
        </p:spPr>
        <p:txBody>
          <a:bodyPr/>
          <a:lstStyle/>
          <a:p>
            <a:r>
              <a:rPr lang="en-US" dirty="0"/>
              <a:t>Is used to give initial configuration to hosts</a:t>
            </a:r>
          </a:p>
          <a:p>
            <a:r>
              <a:rPr lang="en-US" dirty="0"/>
              <a:t>Comes from a router or other central server</a:t>
            </a:r>
          </a:p>
          <a:p>
            <a:r>
              <a:rPr lang="en-US" dirty="0"/>
              <a:t>Supplies:</a:t>
            </a:r>
          </a:p>
          <a:p>
            <a:pPr lvl="1"/>
            <a:r>
              <a:rPr lang="en-US" dirty="0"/>
              <a:t>IP Address, subnet</a:t>
            </a:r>
          </a:p>
          <a:p>
            <a:pPr lvl="1"/>
            <a:r>
              <a:rPr lang="en-US" dirty="0"/>
              <a:t>Nearest router (default gateway)</a:t>
            </a:r>
          </a:p>
          <a:p>
            <a:pPr lvl="1"/>
            <a:r>
              <a:rPr lang="en-US" dirty="0"/>
              <a:t>DNS server address</a:t>
            </a:r>
          </a:p>
          <a:p>
            <a:pPr lvl="1"/>
            <a:r>
              <a:rPr lang="en-US" dirty="0"/>
              <a:t>Sometimes other information</a:t>
            </a:r>
          </a:p>
          <a:p>
            <a:r>
              <a:rPr lang="en-US" dirty="0"/>
              <a:t>Essential to network operation</a:t>
            </a:r>
          </a:p>
          <a:p>
            <a:r>
              <a:rPr lang="en-US" dirty="0"/>
              <a:t>Key part of “automatic” network</a:t>
            </a:r>
            <a:br>
              <a:rPr lang="en-US" dirty="0"/>
            </a:br>
            <a:r>
              <a:rPr lang="en-US" dirty="0"/>
              <a:t>configuration.</a:t>
            </a:r>
          </a:p>
        </p:txBody>
      </p:sp>
      <p:pic>
        <p:nvPicPr>
          <p:cNvPr id="4" name="Picture 40">
            <a:extLst>
              <a:ext uri="{FF2B5EF4-FFF2-40B4-BE49-F238E27FC236}">
                <a16:creationId xmlns:a16="http://schemas.microsoft.com/office/drawing/2014/main" id="{80E5171C-A1EE-1B62-6D93-C0C5A1EC3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4090608" y="3935293"/>
            <a:ext cx="1557723" cy="1277892"/>
          </a:xfrm>
          <a:prstGeom prst="rect">
            <a:avLst/>
          </a:prstGeom>
          <a:noFill/>
        </p:spPr>
      </p:pic>
      <p:sp>
        <p:nvSpPr>
          <p:cNvPr id="5" name="Cloud Callout 4">
            <a:extLst>
              <a:ext uri="{FF2B5EF4-FFF2-40B4-BE49-F238E27FC236}">
                <a16:creationId xmlns:a16="http://schemas.microsoft.com/office/drawing/2014/main" id="{183F4B2E-7965-185D-6AF9-6D84CBAE34BA}"/>
              </a:ext>
            </a:extLst>
          </p:cNvPr>
          <p:cNvSpPr/>
          <p:nvPr/>
        </p:nvSpPr>
        <p:spPr>
          <a:xfrm>
            <a:off x="13017594" y="2193131"/>
            <a:ext cx="2150408" cy="1538289"/>
          </a:xfrm>
          <a:prstGeom prst="cloudCallout">
            <a:avLst>
              <a:gd name="adj1" fmla="val 30861"/>
              <a:gd name="adj2" fmla="val 6016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Wait...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Where am I?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1185138-F3EB-D6E6-28A7-D9833757F3BA}"/>
              </a:ext>
            </a:extLst>
          </p:cNvPr>
          <p:cNvSpPr/>
          <p:nvPr/>
        </p:nvSpPr>
        <p:spPr>
          <a:xfrm>
            <a:off x="15648331" y="4907586"/>
            <a:ext cx="1557723" cy="1538288"/>
          </a:xfrm>
          <a:prstGeom prst="wedgeEllipseCallout">
            <a:avLst>
              <a:gd name="adj1" fmla="val -49608"/>
              <a:gd name="adj2" fmla="val -7153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Help me wake up!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7B8643E9-6A10-6C1F-F4A5-DBBE4FB0E544}"/>
              </a:ext>
            </a:extLst>
          </p:cNvPr>
          <p:cNvSpPr/>
          <p:nvPr/>
        </p:nvSpPr>
        <p:spPr>
          <a:xfrm>
            <a:off x="10995402" y="6445874"/>
            <a:ext cx="2762759" cy="2034738"/>
          </a:xfrm>
          <a:prstGeom prst="wedgeRectCallout">
            <a:avLst>
              <a:gd name="adj1" fmla="val 59639"/>
              <a:gd name="adj2" fmla="val 7659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IP Address is 123.45.67.111</a:t>
            </a:r>
          </a:p>
          <a:p>
            <a:pPr algn="ctr"/>
            <a:r>
              <a:rPr lang="en-US" dirty="0"/>
              <a:t>Your nearest router is 123.45.67.1</a:t>
            </a:r>
          </a:p>
          <a:p>
            <a:pPr algn="ctr"/>
            <a:r>
              <a:rPr lang="en-US" dirty="0"/>
              <a:t>Your DNS server is</a:t>
            </a:r>
          </a:p>
          <a:p>
            <a:pPr algn="ctr"/>
            <a:r>
              <a:rPr lang="en-US" dirty="0"/>
              <a:t>123.45.67.10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2604D2-9984-AB63-7891-3A0F0D5B1F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6045" y="8587613"/>
            <a:ext cx="1261957" cy="1553177"/>
          </a:xfrm>
          <a:prstGeom prst="rect">
            <a:avLst/>
          </a:prstGeom>
        </p:spPr>
      </p:pic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2E5F1946-9893-CB0F-DB01-9DFD6484F8F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517053" y="7545313"/>
            <a:ext cx="1456627" cy="43986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8EBF1-D617-E96C-04AE-0E461CC4857B}"/>
              </a:ext>
            </a:extLst>
          </p:cNvPr>
          <p:cNvCxnSpPr>
            <a:cxnSpLocks/>
          </p:cNvCxnSpPr>
          <p:nvPr/>
        </p:nvCxnSpPr>
        <p:spPr>
          <a:xfrm flipH="1" flipV="1">
            <a:off x="15095147" y="4961513"/>
            <a:ext cx="541216" cy="268700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B0D0A2-5F05-77B0-2468-6549582B04CA}"/>
              </a:ext>
            </a:extLst>
          </p:cNvPr>
          <p:cNvCxnSpPr>
            <a:cxnSpLocks/>
          </p:cNvCxnSpPr>
          <p:nvPr/>
        </p:nvCxnSpPr>
        <p:spPr>
          <a:xfrm flipV="1">
            <a:off x="14690757" y="7786164"/>
            <a:ext cx="957574" cy="891468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39844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690F9-1F42-8934-1882-B347A4401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Address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889FA-C553-02DB-04DB-BF929B64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4623305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Public addresses are managed by the Internet Assigned Number Authority (IANA) </a:t>
            </a:r>
          </a:p>
          <a:p>
            <a:pPr lvl="1"/>
            <a:r>
              <a:rPr lang="en-US"/>
              <a:t>Addresses allocated by geographic region</a:t>
            </a:r>
          </a:p>
          <a:p>
            <a:pPr lvl="1"/>
            <a:r>
              <a:rPr lang="en-US"/>
              <a:t>Regional Registries assign to Internet Service Providers (ISP) and large businesses</a:t>
            </a:r>
          </a:p>
          <a:p>
            <a:r>
              <a:rPr lang="en-US"/>
              <a:t>Private IP blocks allow businesses to allocate addresses internally without regard to the public addresses</a:t>
            </a:r>
          </a:p>
          <a:p>
            <a:pPr lvl="1"/>
            <a:r>
              <a:rPr lang="en-US"/>
              <a:t>Network Address Translation (NAT) at the edge converts from private addresses to public addresses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16F80-A6D4-B08E-FC87-D34695914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6816436"/>
            <a:ext cx="6975987" cy="343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6660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IPv6: What, Where, When, How?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The next generation of IP motivated by the anticipated exhaustions of IP addresses</a:t>
            </a:r>
          </a:p>
          <a:p>
            <a:pPr>
              <a:lnSpc>
                <a:spcPct val="90000"/>
              </a:lnSpc>
            </a:pPr>
            <a:r>
              <a:rPr lang="en-US" dirty="0"/>
              <a:t>Developed in the 1990s</a:t>
            </a:r>
          </a:p>
          <a:p>
            <a:pPr>
              <a:lnSpc>
                <a:spcPct val="90000"/>
              </a:lnSpc>
            </a:pPr>
            <a:r>
              <a:rPr lang="en-US" dirty="0"/>
              <a:t>New packet header structure</a:t>
            </a:r>
          </a:p>
          <a:p>
            <a:pPr>
              <a:lnSpc>
                <a:spcPct val="90000"/>
              </a:lnSpc>
            </a:pPr>
            <a:r>
              <a:rPr lang="en-US" dirty="0"/>
              <a:t>Expanded address range, 128 bits!</a:t>
            </a:r>
          </a:p>
          <a:p>
            <a:pPr>
              <a:lnSpc>
                <a:spcPct val="90000"/>
              </a:lnSpc>
            </a:pPr>
            <a:r>
              <a:rPr lang="en-US" dirty="0"/>
              <a:t>Improved security?</a:t>
            </a:r>
          </a:p>
          <a:p>
            <a:pPr>
              <a:lnSpc>
                <a:spcPct val="90000"/>
              </a:lnSpc>
            </a:pPr>
            <a:r>
              <a:rPr lang="en-US" dirty="0"/>
              <a:t>Flow definition</a:t>
            </a:r>
          </a:p>
          <a:p>
            <a:pPr>
              <a:lnSpc>
                <a:spcPct val="90000"/>
              </a:lnSpc>
            </a:pPr>
            <a:r>
              <a:rPr lang="en-US" dirty="0"/>
              <a:t>Auto configuration built-in</a:t>
            </a:r>
          </a:p>
          <a:p>
            <a:pPr>
              <a:lnSpc>
                <a:spcPct val="90000"/>
              </a:lnSpc>
            </a:pPr>
            <a:r>
              <a:rPr lang="en-US" dirty="0"/>
              <a:t>Anycast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107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3965956" name="Text Box 4"/>
          <p:cNvSpPr txBox="1">
            <a:spLocks noChangeArrowheads="1"/>
          </p:cNvSpPr>
          <p:nvPr/>
        </p:nvSpPr>
        <p:spPr bwMode="auto">
          <a:xfrm>
            <a:off x="3143250" y="9115897"/>
            <a:ext cx="9772652" cy="6924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headEnd/>
            <a:tailEnd/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36" tIns="68568" rIns="137136" bIns="68568">
            <a:spAutoFit/>
          </a:bodyPr>
          <a:lstStyle/>
          <a:p>
            <a:pPr algn="ctr" defTabSz="1369220"/>
            <a:r>
              <a:rPr lang="en-US" sz="3600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Significant effort required to fully migrate</a:t>
            </a:r>
          </a:p>
        </p:txBody>
      </p:sp>
      <p:pic>
        <p:nvPicPr>
          <p:cNvPr id="3965957" name="Picture 5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41903" y="4807339"/>
            <a:ext cx="3486150" cy="4886325"/>
          </a:xfrm>
          <a:prstGeom prst="roundRect">
            <a:avLst>
              <a:gd name="adj" fmla="val 536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1366999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11: </a:t>
            </a:r>
            <a:r>
              <a:rPr lang="en-US" dirty="0"/>
              <a:t>IP </a:t>
            </a:r>
            <a:r>
              <a:rPr dirty="0"/>
              <a:t>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Routing and Forwarding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1"/>
            <a:ext cx="13319173" cy="6967198"/>
          </a:xfrm>
        </p:spPr>
        <p:txBody>
          <a:bodyPr>
            <a:normAutofit/>
          </a:bodyPr>
          <a:lstStyle/>
          <a:p>
            <a:r>
              <a:rPr lang="en-US" dirty="0"/>
              <a:t>These are what routers do to make the internet work.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packets from the source to the destination.</a:t>
            </a:r>
          </a:p>
          <a:p>
            <a:pPr lvl="1"/>
            <a:r>
              <a:rPr lang="en-US" dirty="0"/>
              <a:t>Building tables of destination networks and the neighbors who can get them one “hop” closer to them. This is called </a:t>
            </a:r>
            <a:r>
              <a:rPr lang="en-US" dirty="0">
                <a:solidFill>
                  <a:srgbClr val="FF0000"/>
                </a:solidFill>
              </a:rPr>
              <a:t>Routing</a:t>
            </a:r>
            <a:r>
              <a:rPr lang="en-US" dirty="0"/>
              <a:t>.</a:t>
            </a:r>
          </a:p>
          <a:p>
            <a:r>
              <a:rPr lang="en-US" dirty="0"/>
              <a:t>Annoyingly, </a:t>
            </a:r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is based on the </a:t>
            </a:r>
            <a:r>
              <a:rPr lang="en-US" dirty="0">
                <a:solidFill>
                  <a:srgbClr val="FF0000"/>
                </a:solidFill>
              </a:rPr>
              <a:t>routing table</a:t>
            </a:r>
          </a:p>
          <a:p>
            <a:r>
              <a:rPr lang="en-US" dirty="0"/>
              <a:t>Routing information is shared between routers using routing protocols</a:t>
            </a:r>
          </a:p>
          <a:p>
            <a:pPr lvl="1"/>
            <a:r>
              <a:rPr lang="en-US" dirty="0"/>
              <a:t>Routers can contain rules that determine behavior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76473" y="6124011"/>
            <a:ext cx="3562731" cy="431323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5925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6322220" y="5193507"/>
            <a:ext cx="7989092" cy="4636293"/>
            <a:chOff x="1695" y="2233"/>
            <a:chExt cx="3355" cy="1947"/>
          </a:xfrm>
        </p:grpSpPr>
        <p:sp>
          <p:nvSpPr>
            <p:cNvPr id="3892227" name="Line 3"/>
            <p:cNvSpPr>
              <a:spLocks noChangeShapeType="1"/>
            </p:cNvSpPr>
            <p:nvPr/>
          </p:nvSpPr>
          <p:spPr bwMode="auto">
            <a:xfrm>
              <a:off x="1695" y="370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8" name="Line 4"/>
            <p:cNvSpPr>
              <a:spLocks noChangeShapeType="1"/>
            </p:cNvSpPr>
            <p:nvPr/>
          </p:nvSpPr>
          <p:spPr bwMode="auto">
            <a:xfrm>
              <a:off x="2396" y="3636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9" name="Line 5"/>
            <p:cNvSpPr>
              <a:spLocks noChangeShapeType="1"/>
            </p:cNvSpPr>
            <p:nvPr/>
          </p:nvSpPr>
          <p:spPr bwMode="auto">
            <a:xfrm>
              <a:off x="2493" y="2595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0" name="Cloud"/>
            <p:cNvSpPr>
              <a:spLocks noChangeAspect="1" noEditPoints="1" noChangeArrowheads="1"/>
            </p:cNvSpPr>
            <p:nvPr/>
          </p:nvSpPr>
          <p:spPr bwMode="auto">
            <a:xfrm rot="17040710">
              <a:off x="1768" y="2740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eaVert"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1" name="Line 7"/>
            <p:cNvSpPr>
              <a:spLocks noChangeShapeType="1"/>
            </p:cNvSpPr>
            <p:nvPr/>
          </p:nvSpPr>
          <p:spPr bwMode="auto">
            <a:xfrm>
              <a:off x="3314" y="2571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2862" y="2369"/>
              <a:ext cx="673" cy="620"/>
              <a:chOff x="4861" y="2475"/>
              <a:chExt cx="673" cy="620"/>
            </a:xfrm>
          </p:grpSpPr>
          <p:sp>
            <p:nvSpPr>
              <p:cNvPr id="3892233" name="Text Box 9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1</a:t>
                </a:r>
              </a:p>
            </p:txBody>
          </p:sp>
          <p:pic>
            <p:nvPicPr>
              <p:cNvPr id="3892234" name="Picture 10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35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2233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6" name="Line 12"/>
            <p:cNvSpPr>
              <a:spLocks noChangeShapeType="1"/>
            </p:cNvSpPr>
            <p:nvPr/>
          </p:nvSpPr>
          <p:spPr bwMode="auto">
            <a:xfrm>
              <a:off x="3362" y="364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2862" y="3432"/>
              <a:ext cx="673" cy="620"/>
              <a:chOff x="4861" y="2475"/>
              <a:chExt cx="673" cy="620"/>
            </a:xfrm>
          </p:grpSpPr>
          <p:sp>
            <p:nvSpPr>
              <p:cNvPr id="3892238" name="Text Box 14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2</a:t>
                </a:r>
              </a:p>
            </p:txBody>
          </p:sp>
          <p:pic>
            <p:nvPicPr>
              <p:cNvPr id="3892239" name="Picture 15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40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3297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41" name="Text Box 17"/>
            <p:cNvSpPr txBox="1">
              <a:spLocks noChangeArrowheads="1"/>
            </p:cNvSpPr>
            <p:nvPr/>
          </p:nvSpPr>
          <p:spPr bwMode="auto">
            <a:xfrm>
              <a:off x="3967" y="3587"/>
              <a:ext cx="861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</p:txBody>
        </p:sp>
        <p:sp>
          <p:nvSpPr>
            <p:cNvPr id="3892242" name="Text Box 18"/>
            <p:cNvSpPr txBox="1">
              <a:spLocks noChangeArrowheads="1"/>
            </p:cNvSpPr>
            <p:nvPr/>
          </p:nvSpPr>
          <p:spPr bwMode="auto">
            <a:xfrm>
              <a:off x="4040" y="2499"/>
              <a:ext cx="855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</p:txBody>
        </p:sp>
      </p:grpSp>
      <p:sp>
        <p:nvSpPr>
          <p:cNvPr id="3892243" name="Rectangle 1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Routing</a:t>
            </a:r>
          </a:p>
        </p:txBody>
      </p:sp>
      <p:sp>
        <p:nvSpPr>
          <p:cNvPr id="3892244" name="Rectangle 2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3600"/>
              <a:t>The forwarding of IP packets to the destination</a:t>
            </a:r>
          </a:p>
          <a:p>
            <a:r>
              <a:rPr lang="en-US" sz="3600"/>
              <a:t>End-to-end path is not predetermined</a:t>
            </a:r>
          </a:p>
          <a:p>
            <a:pPr lvl="1"/>
            <a:r>
              <a:rPr lang="en-US" sz="2800"/>
              <a:t>Hop-by-hop routing</a:t>
            </a:r>
          </a:p>
          <a:p>
            <a:pPr lvl="1"/>
            <a:r>
              <a:rPr lang="en-US" sz="2800"/>
              <a:t>Router selects next router based on destination address</a:t>
            </a:r>
          </a:p>
          <a:p>
            <a:r>
              <a:rPr lang="en-US" sz="3600"/>
              <a:t>Often described as best-effort service</a:t>
            </a:r>
          </a:p>
        </p:txBody>
      </p:sp>
      <p:sp>
        <p:nvSpPr>
          <p:cNvPr id="3892245" name="AutoShape 21"/>
          <p:cNvSpPr>
            <a:spLocks noChangeArrowheads="1"/>
          </p:cNvSpPr>
          <p:nvPr/>
        </p:nvSpPr>
        <p:spPr bwMode="auto">
          <a:xfrm>
            <a:off x="3098007" y="8280054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grpSp>
        <p:nvGrpSpPr>
          <p:cNvPr id="5" name="Group 34"/>
          <p:cNvGrpSpPr/>
          <p:nvPr/>
        </p:nvGrpSpPr>
        <p:grpSpPr>
          <a:xfrm>
            <a:off x="3208584" y="5417343"/>
            <a:ext cx="3405144" cy="2964426"/>
            <a:chOff x="813494" y="3276600"/>
            <a:chExt cx="2270096" cy="1976284"/>
          </a:xfrm>
        </p:grpSpPr>
        <p:sp>
          <p:nvSpPr>
            <p:cNvPr id="3892247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0" name="Line 26"/>
            <p:cNvSpPr>
              <a:spLocks noChangeShapeType="1"/>
            </p:cNvSpPr>
            <p:nvPr/>
          </p:nvSpPr>
          <p:spPr bwMode="auto">
            <a:xfrm>
              <a:off x="1959019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1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2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892253" name="Text Box 29"/>
            <p:cNvSpPr txBox="1">
              <a:spLocks noChangeArrowheads="1"/>
            </p:cNvSpPr>
            <p:nvPr/>
          </p:nvSpPr>
          <p:spPr bwMode="auto">
            <a:xfrm>
              <a:off x="2876001" y="4872111"/>
              <a:ext cx="207589" cy="38077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4" name="Text Box 30"/>
            <p:cNvSpPr txBox="1">
              <a:spLocks noChangeArrowheads="1"/>
            </p:cNvSpPr>
            <p:nvPr/>
          </p:nvSpPr>
          <p:spPr bwMode="auto">
            <a:xfrm>
              <a:off x="2112521" y="3280169"/>
              <a:ext cx="97106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Hop</a:t>
              </a:r>
            </a:p>
          </p:txBody>
        </p:sp>
        <p:sp>
          <p:nvSpPr>
            <p:cNvPr id="3892255" name="Text Box 31"/>
            <p:cNvSpPr txBox="1">
              <a:spLocks noChangeArrowheads="1"/>
            </p:cNvSpPr>
            <p:nvPr/>
          </p:nvSpPr>
          <p:spPr bwMode="auto">
            <a:xfrm>
              <a:off x="813494" y="3727817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892256" name="Text Box 32"/>
            <p:cNvSpPr txBox="1">
              <a:spLocks noChangeArrowheads="1"/>
            </p:cNvSpPr>
            <p:nvPr/>
          </p:nvSpPr>
          <p:spPr bwMode="auto">
            <a:xfrm>
              <a:off x="1998357" y="3733800"/>
              <a:ext cx="1017597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sp>
        <p:nvSpPr>
          <p:cNvPr id="3892257" name="AutoShape 33"/>
          <p:cNvSpPr>
            <a:spLocks noChangeArrowheads="1"/>
          </p:cNvSpPr>
          <p:nvPr/>
        </p:nvSpPr>
        <p:spPr bwMode="auto">
          <a:xfrm rot="-2764507">
            <a:off x="6810121" y="7041803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pic>
        <p:nvPicPr>
          <p:cNvPr id="3892258" name="Picture 34" descr="Router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72125" y="8246270"/>
            <a:ext cx="1524000" cy="93106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373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1000"/>
                                        <p:tgtEl>
                                          <p:spTgt spid="3892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2245" grpId="0" animBg="1"/>
      <p:bldP spid="3892257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418" name="Line 2"/>
          <p:cNvSpPr>
            <a:spLocks noChangeShapeType="1"/>
          </p:cNvSpPr>
          <p:nvPr/>
        </p:nvSpPr>
        <p:spPr bwMode="auto">
          <a:xfrm flipV="1">
            <a:off x="4036220" y="8274845"/>
            <a:ext cx="4864893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19" name="Rectangle 3"/>
          <p:cNvSpPr>
            <a:spLocks noGrp="1" noChangeArrowheads="1"/>
          </p:cNvSpPr>
          <p:nvPr>
            <p:ph type="title"/>
          </p:nvPr>
        </p:nvSpPr>
        <p:spPr>
          <a:xfrm>
            <a:off x="1014413" y="33317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Following a Packet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111</a:t>
            </a:fld>
            <a:endParaRPr lang="en-US"/>
          </a:p>
        </p:txBody>
      </p:sp>
      <p:pic>
        <p:nvPicPr>
          <p:cNvPr id="3900420" name="Picture 4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809875" y="7255486"/>
            <a:ext cx="1762125" cy="2168768"/>
          </a:xfrm>
          <a:prstGeom prst="rect">
            <a:avLst/>
          </a:prstGeom>
          <a:noFill/>
        </p:spPr>
      </p:pic>
      <p:sp>
        <p:nvSpPr>
          <p:cNvPr id="3900421" name="Line 5"/>
          <p:cNvSpPr>
            <a:spLocks noChangeShapeType="1"/>
          </p:cNvSpPr>
          <p:nvPr/>
        </p:nvSpPr>
        <p:spPr bwMode="auto">
          <a:xfrm flipV="1">
            <a:off x="4848225" y="3078958"/>
            <a:ext cx="4583907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2" name="Line 6"/>
          <p:cNvSpPr>
            <a:spLocks noChangeShapeType="1"/>
          </p:cNvSpPr>
          <p:nvPr/>
        </p:nvSpPr>
        <p:spPr bwMode="auto">
          <a:xfrm>
            <a:off x="10044113" y="2988470"/>
            <a:ext cx="3945732" cy="25407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3" name="Line 7"/>
          <p:cNvSpPr>
            <a:spLocks noChangeShapeType="1"/>
          </p:cNvSpPr>
          <p:nvPr/>
        </p:nvSpPr>
        <p:spPr bwMode="auto">
          <a:xfrm flipV="1">
            <a:off x="9603583" y="5695950"/>
            <a:ext cx="4317206" cy="27622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00425" name="Picture 9" descr="Rout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004007" y="5124450"/>
            <a:ext cx="2105025" cy="1285875"/>
          </a:xfrm>
          <a:prstGeom prst="rect">
            <a:avLst/>
          </a:prstGeom>
          <a:noFill/>
        </p:spPr>
      </p:pic>
      <p:pic>
        <p:nvPicPr>
          <p:cNvPr id="3900426" name="Picture 10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31381" y="2207418"/>
            <a:ext cx="2390777" cy="1793082"/>
          </a:xfrm>
          <a:prstGeom prst="rect">
            <a:avLst/>
          </a:prstGeom>
          <a:noFill/>
        </p:spPr>
      </p:pic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864645" y="2743205"/>
            <a:ext cx="3271838" cy="509588"/>
            <a:chOff x="139" y="1131"/>
            <a:chExt cx="1374" cy="214"/>
          </a:xfrm>
        </p:grpSpPr>
        <p:sp>
          <p:nvSpPr>
            <p:cNvPr id="3900429" name="Text Box 13"/>
            <p:cNvSpPr txBox="1">
              <a:spLocks noChangeArrowheads="1"/>
            </p:cNvSpPr>
            <p:nvPr/>
          </p:nvSpPr>
          <p:spPr bwMode="auto">
            <a:xfrm>
              <a:off x="139" y="1132"/>
              <a:ext cx="35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0" name="Text Box 14"/>
            <p:cNvSpPr txBox="1">
              <a:spLocks noChangeArrowheads="1"/>
            </p:cNvSpPr>
            <p:nvPr/>
          </p:nvSpPr>
          <p:spPr bwMode="auto">
            <a:xfrm>
              <a:off x="1123" y="1131"/>
              <a:ext cx="39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1" name="Text Box 15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rgbClr val="FFFF99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2" name="Text Box 16"/>
          <p:cNvSpPr txBox="1">
            <a:spLocks noChangeArrowheads="1"/>
          </p:cNvSpPr>
          <p:nvPr/>
        </p:nvSpPr>
        <p:spPr bwMode="auto">
          <a:xfrm>
            <a:off x="3848100" y="27074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12351545" y="5372103"/>
            <a:ext cx="3252788" cy="509588"/>
            <a:chOff x="123" y="1131"/>
            <a:chExt cx="1366" cy="214"/>
          </a:xfrm>
        </p:grpSpPr>
        <p:sp>
          <p:nvSpPr>
            <p:cNvPr id="3900434" name="Text Box 18"/>
            <p:cNvSpPr txBox="1">
              <a:spLocks noChangeArrowheads="1"/>
            </p:cNvSpPr>
            <p:nvPr/>
          </p:nvSpPr>
          <p:spPr bwMode="auto">
            <a:xfrm>
              <a:off x="123" y="1132"/>
              <a:ext cx="39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5" name="Text Box 19"/>
            <p:cNvSpPr txBox="1">
              <a:spLocks noChangeArrowheads="1"/>
            </p:cNvSpPr>
            <p:nvPr/>
          </p:nvSpPr>
          <p:spPr bwMode="auto">
            <a:xfrm>
              <a:off x="1139" y="1131"/>
              <a:ext cx="35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6" name="Text Box 20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chemeClr val="accent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7" name="Text Box 21"/>
          <p:cNvSpPr txBox="1">
            <a:spLocks noChangeArrowheads="1"/>
          </p:cNvSpPr>
          <p:nvPr/>
        </p:nvSpPr>
        <p:spPr bwMode="auto">
          <a:xfrm>
            <a:off x="3574257" y="802481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sp>
        <p:nvSpPr>
          <p:cNvPr id="3900438" name="Text Box 22"/>
          <p:cNvSpPr txBox="1">
            <a:spLocks noChangeArrowheads="1"/>
          </p:cNvSpPr>
          <p:nvPr/>
        </p:nvSpPr>
        <p:spPr bwMode="auto">
          <a:xfrm>
            <a:off x="13385007" y="53363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4" name="Group 34"/>
          <p:cNvGrpSpPr/>
          <p:nvPr/>
        </p:nvGrpSpPr>
        <p:grpSpPr>
          <a:xfrm>
            <a:off x="12305684" y="2307433"/>
            <a:ext cx="3739174" cy="2862263"/>
            <a:chOff x="823952" y="3276600"/>
            <a:chExt cx="2492782" cy="1908175"/>
          </a:xfrm>
        </p:grpSpPr>
        <p:sp>
          <p:nvSpPr>
            <p:cNvPr id="25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7" name="Line 26"/>
            <p:cNvSpPr>
              <a:spLocks noChangeShapeType="1"/>
            </p:cNvSpPr>
            <p:nvPr/>
          </p:nvSpPr>
          <p:spPr bwMode="auto">
            <a:xfrm>
              <a:off x="1959012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8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9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1" name="Text Box 30"/>
            <p:cNvSpPr txBox="1">
              <a:spLocks noChangeArrowheads="1"/>
            </p:cNvSpPr>
            <p:nvPr/>
          </p:nvSpPr>
          <p:spPr bwMode="auto">
            <a:xfrm>
              <a:off x="2112522" y="3280169"/>
              <a:ext cx="705545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Hop</a:t>
              </a:r>
            </a:p>
          </p:txBody>
        </p:sp>
        <p:sp>
          <p:nvSpPr>
            <p:cNvPr id="32" name="Text Box 31"/>
            <p:cNvSpPr txBox="1">
              <a:spLocks noChangeArrowheads="1"/>
            </p:cNvSpPr>
            <p:nvPr/>
          </p:nvSpPr>
          <p:spPr bwMode="auto">
            <a:xfrm>
              <a:off x="823952" y="3733799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3" name="Text Box 32"/>
            <p:cNvSpPr txBox="1">
              <a:spLocks noChangeArrowheads="1"/>
            </p:cNvSpPr>
            <p:nvPr/>
          </p:nvSpPr>
          <p:spPr bwMode="auto">
            <a:xfrm>
              <a:off x="1998355" y="3733800"/>
              <a:ext cx="1318379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pic>
        <p:nvPicPr>
          <p:cNvPr id="35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65345" y="7455694"/>
            <a:ext cx="2059781" cy="1745456"/>
          </a:xfrm>
          <a:prstGeom prst="rect">
            <a:avLst/>
          </a:prstGeom>
          <a:noFill/>
        </p:spPr>
      </p:pic>
      <p:pic>
        <p:nvPicPr>
          <p:cNvPr id="36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1818" y="2298557"/>
            <a:ext cx="2059781" cy="1745456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02971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0.00371 L 0.41702 -0.00371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1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702 -0.00371 L 0.69202 0.2555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50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58025E-6 L -0.34166 0.25926 " pathEditMode="relative" rAng="0" ptsTypes="AA">
                                      <p:cBhvr>
                                        <p:cTn id="43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34166 0.25926 L -0.71632 0.25926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900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32" grpId="0" animBg="1"/>
      <p:bldP spid="3900438" grpId="0" animBg="1"/>
      <p:bldP spid="3900438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Chapter 12:</a:t>
            </a:r>
            <a:br>
              <a:rPr lang="en-US" dirty="0"/>
            </a:br>
            <a:r>
              <a:rPr lang="en-US" dirty="0"/>
              <a:t>The </a:t>
            </a:r>
            <a:r>
              <a:rPr dirty="0"/>
              <a:t>Transport Layer: </a:t>
            </a:r>
            <a:br>
              <a:rPr lang="en-US" dirty="0"/>
            </a:br>
            <a:r>
              <a:rPr lang="en-US" dirty="0"/>
              <a:t>Network </a:t>
            </a:r>
            <a:r>
              <a:rPr dirty="0"/>
              <a:t>Confidentiality and Integrity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C0F19FB-EFD2-0CA3-5B66-C5F3AB8F22EF}"/>
              </a:ext>
            </a:extLst>
          </p:cNvPr>
          <p:cNvSpPr txBox="1">
            <a:spLocks/>
          </p:cNvSpPr>
          <p:nvPr/>
        </p:nvSpPr>
        <p:spPr>
          <a:xfrm>
            <a:off x="8152327" y="1183553"/>
            <a:ext cx="9005015" cy="8655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Transmission Control Protocol</a:t>
            </a:r>
          </a:p>
          <a:p>
            <a:pPr lvl="1"/>
            <a:r>
              <a:rPr lang="en-US" dirty="0"/>
              <a:t>Manages connection to the destination server</a:t>
            </a:r>
          </a:p>
          <a:p>
            <a:pPr lvl="2"/>
            <a:r>
              <a:rPr lang="en-US" dirty="0"/>
              <a:t>Addressing</a:t>
            </a:r>
          </a:p>
          <a:p>
            <a:pPr lvl="2"/>
            <a:r>
              <a:rPr lang="en-US" dirty="0"/>
              <a:t>Data transfer</a:t>
            </a:r>
          </a:p>
          <a:p>
            <a:pPr lvl="2"/>
            <a:r>
              <a:rPr lang="en-US" dirty="0"/>
              <a:t>Receipt acknowledgement</a:t>
            </a:r>
          </a:p>
          <a:p>
            <a:pPr lvl="2"/>
            <a:r>
              <a:rPr lang="en-US" dirty="0"/>
              <a:t>Disconnects from the server</a:t>
            </a:r>
          </a:p>
          <a:p>
            <a:endParaRPr lang="en-US" dirty="0"/>
          </a:p>
          <a:p>
            <a:r>
              <a:rPr lang="en-US" dirty="0"/>
              <a:t>Messages need to get to the destination server using SMTP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A66D8D-9A39-DB49-EEE1-51E9AFE52EC9}"/>
              </a:ext>
            </a:extLst>
          </p:cNvPr>
          <p:cNvSpPr/>
          <p:nvPr/>
        </p:nvSpPr>
        <p:spPr>
          <a:xfrm>
            <a:off x="7769185" y="5924282"/>
            <a:ext cx="8889640" cy="12106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6563B5B-BA7B-2EFC-9FB3-EF7D06284C69}"/>
              </a:ext>
            </a:extLst>
          </p:cNvPr>
          <p:cNvSpPr/>
          <p:nvPr/>
        </p:nvSpPr>
        <p:spPr>
          <a:xfrm>
            <a:off x="679938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8186C4D-7CB9-7BCE-534C-D44BFBF77442}"/>
              </a:ext>
            </a:extLst>
          </p:cNvPr>
          <p:cNvSpPr/>
          <p:nvPr/>
        </p:nvSpPr>
        <p:spPr>
          <a:xfrm>
            <a:off x="5023339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6EF16B-E6CE-B49D-AC21-ECF1CEB67025}"/>
              </a:ext>
            </a:extLst>
          </p:cNvPr>
          <p:cNvGrpSpPr/>
          <p:nvPr/>
        </p:nvGrpSpPr>
        <p:grpSpPr>
          <a:xfrm>
            <a:off x="879231" y="3039079"/>
            <a:ext cx="6166339" cy="1549106"/>
            <a:chOff x="609600" y="3962400"/>
            <a:chExt cx="6166339" cy="154910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D6ECFE7-5616-C299-B82B-9A85D3F01436}"/>
                </a:ext>
              </a:extLst>
            </p:cNvPr>
            <p:cNvSpPr/>
            <p:nvPr/>
          </p:nvSpPr>
          <p:spPr>
            <a:xfrm>
              <a:off x="609600" y="3962400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2F90E42-6637-819F-1CE9-5611C092CAB4}"/>
                </a:ext>
              </a:extLst>
            </p:cNvPr>
            <p:cNvSpPr/>
            <p:nvPr/>
          </p:nvSpPr>
          <p:spPr>
            <a:xfrm>
              <a:off x="4923693" y="4010952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6A28612E-A2AC-C259-CFE3-708F0342743E}"/>
                </a:ext>
              </a:extLst>
            </p:cNvPr>
            <p:cNvSpPr/>
            <p:nvPr/>
          </p:nvSpPr>
          <p:spPr>
            <a:xfrm>
              <a:off x="3383964" y="4507523"/>
              <a:ext cx="1369744" cy="410308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D6CA70C-5EC8-46B2-9AA3-A4C8C31CDF4D}"/>
                </a:ext>
              </a:extLst>
            </p:cNvPr>
            <p:cNvSpPr txBox="1"/>
            <p:nvPr/>
          </p:nvSpPr>
          <p:spPr>
            <a:xfrm>
              <a:off x="3088062" y="4025917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SMTP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E200DA-77A3-9744-744E-2F3DFAD98239}"/>
              </a:ext>
            </a:extLst>
          </p:cNvPr>
          <p:cNvSpPr/>
          <p:nvPr/>
        </p:nvSpPr>
        <p:spPr>
          <a:xfrm>
            <a:off x="849922" y="5174005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Sender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02C84921-0962-A585-240D-6F8DABE069A8}"/>
              </a:ext>
            </a:extLst>
          </p:cNvPr>
          <p:cNvSpPr/>
          <p:nvPr/>
        </p:nvSpPr>
        <p:spPr>
          <a:xfrm rot="10800000">
            <a:off x="2876015" y="3581143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1CAA004-6FCF-B4B1-B8D2-E5C6B29D0241}"/>
              </a:ext>
            </a:extLst>
          </p:cNvPr>
          <p:cNvSpPr/>
          <p:nvPr/>
        </p:nvSpPr>
        <p:spPr>
          <a:xfrm>
            <a:off x="5193324" y="5143500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Receiver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7204719A-D95A-8898-ED4F-B02144216C3C}"/>
              </a:ext>
            </a:extLst>
          </p:cNvPr>
          <p:cNvSpPr/>
          <p:nvPr/>
        </p:nvSpPr>
        <p:spPr>
          <a:xfrm rot="10800000">
            <a:off x="2861893" y="5762910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957CC43-0595-9A28-C848-907ECE161B79}"/>
              </a:ext>
            </a:extLst>
          </p:cNvPr>
          <p:cNvSpPr/>
          <p:nvPr/>
        </p:nvSpPr>
        <p:spPr>
          <a:xfrm>
            <a:off x="3658527" y="5762911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BE7CC4-9331-E284-21BD-2FF06E350ADB}"/>
              </a:ext>
            </a:extLst>
          </p:cNvPr>
          <p:cNvSpPr txBox="1"/>
          <p:nvPr/>
        </p:nvSpPr>
        <p:spPr>
          <a:xfrm>
            <a:off x="3436868" y="533266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TCP</a:t>
            </a:r>
          </a:p>
        </p:txBody>
      </p:sp>
    </p:spTree>
    <p:extLst>
      <p:ext uri="{BB962C8B-B14F-4D97-AF65-F5344CB8AC3E}">
        <p14:creationId xmlns:p14="http://schemas.microsoft.com/office/powerpoint/2010/main" val="3229947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6494AE-C598-91B8-29C8-A8452E623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Connections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71D597-ABBF-17BA-D1D6-E25AF543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Connects client to server</a:t>
            </a:r>
          </a:p>
          <a:p>
            <a:r>
              <a:rPr lang="en-US"/>
              <a:t>Internet Protocol Suite offers two options</a:t>
            </a:r>
          </a:p>
          <a:p>
            <a:pPr lvl="1"/>
            <a:r>
              <a:rPr lang="en-US"/>
              <a:t>Transmission Control Protocol (TCP)</a:t>
            </a:r>
          </a:p>
          <a:p>
            <a:pPr lvl="1"/>
            <a:r>
              <a:rPr lang="en-US"/>
              <a:t>User Datagram Protocol (UDP)</a:t>
            </a:r>
          </a:p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C07066A-D38D-665C-CD90-114A1278200C}"/>
              </a:ext>
            </a:extLst>
          </p:cNvPr>
          <p:cNvGrpSpPr/>
          <p:nvPr/>
        </p:nvGrpSpPr>
        <p:grpSpPr>
          <a:xfrm>
            <a:off x="5111261" y="5444640"/>
            <a:ext cx="7488115" cy="5298457"/>
            <a:chOff x="6858000" y="5193697"/>
            <a:chExt cx="7488115" cy="5298457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D36A2BD6-65EE-C4BE-AB88-D36A28E42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BE66294-9A7A-0296-D2A6-B9EC5BCD88DA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C488DA2-BE27-9078-31C2-0E95ACD01715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498F63C-3A4A-10E9-8EF4-88976585F87A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20CFA8-F6A0-5609-6EF1-13F9252C5080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E948DB-3AE7-1A37-CE98-1A1E199C7C82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0359C09-5BA1-DBC9-BEDB-E123A7491A8C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A0C67F-6E0C-8EA9-CB2A-AB59719290A6}"/>
                </a:ext>
              </a:extLst>
            </p:cNvPr>
            <p:cNvSpPr txBox="1"/>
            <p:nvPr/>
          </p:nvSpPr>
          <p:spPr>
            <a:xfrm>
              <a:off x="9168640" y="5511097"/>
              <a:ext cx="29881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Transport Protocols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F0E5343-C9AA-4CC8-445C-B0FE793CE466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17D4009-FCDE-22B6-28F9-6FCF12C08D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19797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35448" y="4458658"/>
            <a:ext cx="2561774" cy="1921331"/>
          </a:xfrm>
          <a:prstGeom prst="rect">
            <a:avLst/>
          </a:prstGeom>
        </p:spPr>
      </p:pic>
      <p:sp>
        <p:nvSpPr>
          <p:cNvPr id="3898372" name="Text Box 4"/>
          <p:cNvSpPr txBox="1">
            <a:spLocks noChangeArrowheads="1"/>
          </p:cNvSpPr>
          <p:nvPr/>
        </p:nvSpPr>
        <p:spPr bwMode="auto">
          <a:xfrm>
            <a:off x="2557369" y="5971774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  <p:sp>
        <p:nvSpPr>
          <p:cNvPr id="3898373" name="Rectangle 5"/>
          <p:cNvSpPr>
            <a:spLocks noGrp="1" noChangeArrowheads="1"/>
          </p:cNvSpPr>
          <p:nvPr>
            <p:ph type="title"/>
          </p:nvPr>
        </p:nvSpPr>
        <p:spPr>
          <a:xfrm>
            <a:off x="1091045" y="28995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Connectionless Communication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115</a:t>
            </a:fld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591747" y="4667103"/>
            <a:ext cx="2850357" cy="1247267"/>
            <a:chOff x="2586" y="2040"/>
            <a:chExt cx="1197" cy="523"/>
          </a:xfrm>
        </p:grpSpPr>
        <p:sp>
          <p:nvSpPr>
            <p:cNvPr id="3898375" name="AutoShape 7"/>
            <p:cNvSpPr>
              <a:spLocks noChangeArrowheads="1"/>
            </p:cNvSpPr>
            <p:nvPr/>
          </p:nvSpPr>
          <p:spPr bwMode="auto">
            <a:xfrm>
              <a:off x="3676" y="2099"/>
              <a:ext cx="107" cy="407"/>
            </a:xfrm>
            <a:prstGeom prst="rightArrow">
              <a:avLst>
                <a:gd name="adj1" fmla="val 51880"/>
                <a:gd name="adj2" fmla="val 53306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3898376" name="Letter"/>
            <p:cNvSpPr>
              <a:spLocks noEditPoints="1" noChangeArrowheads="1"/>
            </p:cNvSpPr>
            <p:nvPr/>
          </p:nvSpPr>
          <p:spPr bwMode="auto">
            <a:xfrm>
              <a:off x="2586" y="2040"/>
              <a:ext cx="1131" cy="523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1600 w 21600"/>
                <a:gd name="T9" fmla="*/ 2160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0 w 21600"/>
                <a:gd name="T15" fmla="*/ 10800 h 21600"/>
                <a:gd name="T16" fmla="*/ 5304 w 21600"/>
                <a:gd name="T17" fmla="*/ 9216 h 21600"/>
                <a:gd name="T18" fmla="*/ 17504 w 21600"/>
                <a:gd name="T19" fmla="*/ 1837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14" y="0"/>
                  </a:moveTo>
                  <a:lnTo>
                    <a:pt x="21600" y="0"/>
                  </a:lnTo>
                  <a:lnTo>
                    <a:pt x="21600" y="21628"/>
                  </a:lnTo>
                  <a:lnTo>
                    <a:pt x="14" y="21628"/>
                  </a:lnTo>
                  <a:lnTo>
                    <a:pt x="14" y="0"/>
                  </a:lnTo>
                  <a:close/>
                </a:path>
                <a:path w="21600" h="21600" extrusionOk="0">
                  <a:moveTo>
                    <a:pt x="18476" y="2035"/>
                  </a:moveTo>
                  <a:lnTo>
                    <a:pt x="20539" y="2035"/>
                  </a:lnTo>
                  <a:lnTo>
                    <a:pt x="20539" y="6559"/>
                  </a:lnTo>
                  <a:lnTo>
                    <a:pt x="18476" y="6559"/>
                  </a:lnTo>
                  <a:lnTo>
                    <a:pt x="18476" y="2035"/>
                  </a:lnTo>
                  <a:close/>
                </a:path>
                <a:path w="21600" h="21600" extrusionOk="0">
                  <a:moveTo>
                    <a:pt x="884" y="2092"/>
                  </a:moveTo>
                  <a:lnTo>
                    <a:pt x="7425" y="2092"/>
                  </a:lnTo>
                  <a:lnTo>
                    <a:pt x="7425" y="2770"/>
                  </a:lnTo>
                  <a:lnTo>
                    <a:pt x="884" y="2770"/>
                  </a:lnTo>
                  <a:lnTo>
                    <a:pt x="884" y="2092"/>
                  </a:lnTo>
                  <a:close/>
                </a:path>
                <a:path w="21600" h="21600" extrusionOk="0">
                  <a:moveTo>
                    <a:pt x="884" y="3109"/>
                  </a:moveTo>
                  <a:lnTo>
                    <a:pt x="7425" y="3109"/>
                  </a:lnTo>
                  <a:lnTo>
                    <a:pt x="7425" y="3788"/>
                  </a:lnTo>
                  <a:lnTo>
                    <a:pt x="884" y="3788"/>
                  </a:lnTo>
                  <a:lnTo>
                    <a:pt x="884" y="3109"/>
                  </a:lnTo>
                  <a:close/>
                </a:path>
                <a:path w="21600" h="21600" extrusionOk="0">
                  <a:moveTo>
                    <a:pt x="884" y="4127"/>
                  </a:moveTo>
                  <a:lnTo>
                    <a:pt x="7425" y="4127"/>
                  </a:lnTo>
                  <a:lnTo>
                    <a:pt x="7425" y="4806"/>
                  </a:lnTo>
                  <a:lnTo>
                    <a:pt x="884" y="4806"/>
                  </a:lnTo>
                  <a:lnTo>
                    <a:pt x="884" y="4127"/>
                  </a:lnTo>
                  <a:close/>
                </a:path>
                <a:path w="21600" h="21600" extrusionOk="0">
                  <a:moveTo>
                    <a:pt x="5127" y="5145"/>
                  </a:moveTo>
                  <a:lnTo>
                    <a:pt x="7425" y="5145"/>
                  </a:lnTo>
                  <a:lnTo>
                    <a:pt x="7425" y="5824"/>
                  </a:lnTo>
                  <a:lnTo>
                    <a:pt x="5127" y="5824"/>
                  </a:lnTo>
                  <a:lnTo>
                    <a:pt x="5127" y="5145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lIns="137136" tIns="68568" rIns="137136" bIns="68568"/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Stuff</a:t>
              </a:r>
            </a:p>
          </p:txBody>
        </p:sp>
      </p:grp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642" y="5760520"/>
            <a:ext cx="2561774" cy="192133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5000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3.33333E-6 L 0.35642 0.0006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812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29844" y="8053294"/>
            <a:ext cx="2561774" cy="1921331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2060" y="4914901"/>
            <a:ext cx="2561774" cy="1921331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972656" y="7399904"/>
            <a:ext cx="2561774" cy="1921331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097268" y="4851968"/>
            <a:ext cx="2561774" cy="1921331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87255" y="2259955"/>
            <a:ext cx="2561774" cy="1921331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0054" y="2331415"/>
            <a:ext cx="2561774" cy="1921331"/>
          </a:xfrm>
          <a:prstGeom prst="rect">
            <a:avLst/>
          </a:prstGeom>
        </p:spPr>
      </p:pic>
      <p:sp>
        <p:nvSpPr>
          <p:cNvPr id="3900421" name="Rectangle 5"/>
          <p:cNvSpPr>
            <a:spLocks noGrp="1" noChangeArrowheads="1"/>
          </p:cNvSpPr>
          <p:nvPr>
            <p:ph type="title"/>
          </p:nvPr>
        </p:nvSpPr>
        <p:spPr>
          <a:xfrm>
            <a:off x="1190501" y="309554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Connection-Oriented Communication</a:t>
            </a:r>
          </a:p>
        </p:txBody>
      </p:sp>
      <p:sp>
        <p:nvSpPr>
          <p:cNvPr id="44" name="Slide Number Placeholder 4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116</a:t>
            </a:fld>
            <a:endParaRPr lang="en-US"/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7750987" y="2202660"/>
            <a:ext cx="2790798" cy="959644"/>
            <a:chOff x="2268" y="790"/>
            <a:chExt cx="1043" cy="358"/>
          </a:xfrm>
        </p:grpSpPr>
        <p:sp>
          <p:nvSpPr>
            <p:cNvPr id="3900424" name="AutoShape 8"/>
            <p:cNvSpPr>
              <a:spLocks noChangeArrowheads="1"/>
            </p:cNvSpPr>
            <p:nvPr/>
          </p:nvSpPr>
          <p:spPr bwMode="auto">
            <a:xfrm>
              <a:off x="2996" y="79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2268" y="790"/>
              <a:ext cx="858" cy="358"/>
              <a:chOff x="1856" y="688"/>
              <a:chExt cx="961" cy="403"/>
            </a:xfrm>
          </p:grpSpPr>
          <p:sp>
            <p:nvSpPr>
              <p:cNvPr id="3900426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27" name="Text Box 11"/>
              <p:cNvSpPr txBox="1">
                <a:spLocks noChangeArrowheads="1"/>
              </p:cNvSpPr>
              <p:nvPr/>
            </p:nvSpPr>
            <p:spPr bwMode="auto">
              <a:xfrm>
                <a:off x="1856" y="844"/>
                <a:ext cx="96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Can we talk?</a:t>
                </a:r>
              </a:p>
            </p:txBody>
          </p:sp>
        </p:grp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9489281" y="3333748"/>
            <a:ext cx="2855120" cy="957262"/>
            <a:chOff x="2597" y="1212"/>
            <a:chExt cx="1067" cy="358"/>
          </a:xfrm>
        </p:grpSpPr>
        <p:sp>
          <p:nvSpPr>
            <p:cNvPr id="3900429" name="AutoShape 13"/>
            <p:cNvSpPr>
              <a:spLocks noChangeArrowheads="1"/>
            </p:cNvSpPr>
            <p:nvPr/>
          </p:nvSpPr>
          <p:spPr bwMode="auto">
            <a:xfrm flipH="1">
              <a:off x="2597" y="121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5" name="Group 14"/>
            <p:cNvGrpSpPr>
              <a:grpSpLocks/>
            </p:cNvGrpSpPr>
            <p:nvPr/>
          </p:nvGrpSpPr>
          <p:grpSpPr bwMode="auto">
            <a:xfrm>
              <a:off x="2877" y="1212"/>
              <a:ext cx="787" cy="358"/>
              <a:chOff x="2425" y="1156"/>
              <a:chExt cx="884" cy="403"/>
            </a:xfrm>
          </p:grpSpPr>
          <p:sp>
            <p:nvSpPr>
              <p:cNvPr id="3900431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2" name="Text Box 16"/>
              <p:cNvSpPr txBox="1">
                <a:spLocks noChangeArrowheads="1"/>
              </p:cNvSpPr>
              <p:nvPr/>
            </p:nvSpPr>
            <p:spPr bwMode="auto">
              <a:xfrm>
                <a:off x="2658" y="1312"/>
                <a:ext cx="453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Sure!</a:t>
                </a:r>
              </a:p>
            </p:txBody>
          </p:sp>
        </p:grpSp>
      </p:grpSp>
      <p:grpSp>
        <p:nvGrpSpPr>
          <p:cNvPr id="6" name="Group 18"/>
          <p:cNvGrpSpPr>
            <a:grpSpLocks/>
          </p:cNvGrpSpPr>
          <p:nvPr/>
        </p:nvGrpSpPr>
        <p:grpSpPr bwMode="auto">
          <a:xfrm>
            <a:off x="7772401" y="4841085"/>
            <a:ext cx="2769395" cy="957263"/>
            <a:chOff x="2259" y="1775"/>
            <a:chExt cx="1035" cy="358"/>
          </a:xfrm>
        </p:grpSpPr>
        <p:sp>
          <p:nvSpPr>
            <p:cNvPr id="3900435" name="AutoShape 19"/>
            <p:cNvSpPr>
              <a:spLocks noChangeArrowheads="1"/>
            </p:cNvSpPr>
            <p:nvPr/>
          </p:nvSpPr>
          <p:spPr bwMode="auto">
            <a:xfrm>
              <a:off x="2980" y="1777"/>
              <a:ext cx="314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7" name="Group 20"/>
            <p:cNvGrpSpPr>
              <a:grpSpLocks/>
            </p:cNvGrpSpPr>
            <p:nvPr/>
          </p:nvGrpSpPr>
          <p:grpSpPr bwMode="auto">
            <a:xfrm>
              <a:off x="2259" y="1775"/>
              <a:ext cx="786" cy="358"/>
              <a:chOff x="1873" y="688"/>
              <a:chExt cx="884" cy="403"/>
            </a:xfrm>
          </p:grpSpPr>
          <p:sp>
            <p:nvSpPr>
              <p:cNvPr id="3900437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8" name="Text Box 22"/>
              <p:cNvSpPr txBox="1">
                <a:spLocks noChangeArrowheads="1"/>
              </p:cNvSpPr>
              <p:nvPr/>
            </p:nvSpPr>
            <p:spPr bwMode="auto">
              <a:xfrm>
                <a:off x="2124" y="845"/>
                <a:ext cx="42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Stuff</a:t>
                </a:r>
              </a:p>
            </p:txBody>
          </p:sp>
        </p:grp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9544048" y="5991221"/>
            <a:ext cx="2863795" cy="959644"/>
            <a:chOff x="2581" y="2205"/>
            <a:chExt cx="1070" cy="358"/>
          </a:xfrm>
        </p:grpSpPr>
        <p:sp>
          <p:nvSpPr>
            <p:cNvPr id="3900440" name="AutoShape 24"/>
            <p:cNvSpPr>
              <a:spLocks noChangeArrowheads="1"/>
            </p:cNvSpPr>
            <p:nvPr/>
          </p:nvSpPr>
          <p:spPr bwMode="auto">
            <a:xfrm flipH="1">
              <a:off x="2581" y="2207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9" name="Group 25"/>
            <p:cNvGrpSpPr>
              <a:grpSpLocks/>
            </p:cNvGrpSpPr>
            <p:nvPr/>
          </p:nvGrpSpPr>
          <p:grpSpPr bwMode="auto">
            <a:xfrm>
              <a:off x="2864" y="2205"/>
              <a:ext cx="787" cy="358"/>
              <a:chOff x="2425" y="1156"/>
              <a:chExt cx="884" cy="403"/>
            </a:xfrm>
          </p:grpSpPr>
          <p:sp>
            <p:nvSpPr>
              <p:cNvPr id="3900442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43" name="Text Box 27"/>
              <p:cNvSpPr txBox="1">
                <a:spLocks noChangeArrowheads="1"/>
              </p:cNvSpPr>
              <p:nvPr/>
            </p:nvSpPr>
            <p:spPr bwMode="auto">
              <a:xfrm>
                <a:off x="2528" y="1317"/>
                <a:ext cx="512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Got it!</a:t>
                </a:r>
              </a:p>
            </p:txBody>
          </p:sp>
        </p:grpSp>
      </p:grpSp>
      <p:grpSp>
        <p:nvGrpSpPr>
          <p:cNvPr id="10" name="Group 29"/>
          <p:cNvGrpSpPr>
            <a:grpSpLocks/>
          </p:cNvGrpSpPr>
          <p:nvPr/>
        </p:nvGrpSpPr>
        <p:grpSpPr bwMode="auto">
          <a:xfrm>
            <a:off x="7886699" y="7498556"/>
            <a:ext cx="2771774" cy="962025"/>
            <a:chOff x="2263" y="2768"/>
            <a:chExt cx="1036" cy="359"/>
          </a:xfrm>
        </p:grpSpPr>
        <p:sp>
          <p:nvSpPr>
            <p:cNvPr id="3900446" name="AutoShape 30"/>
            <p:cNvSpPr>
              <a:spLocks noChangeArrowheads="1"/>
            </p:cNvSpPr>
            <p:nvPr/>
          </p:nvSpPr>
          <p:spPr bwMode="auto">
            <a:xfrm>
              <a:off x="2983" y="2771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1" name="Group 31"/>
            <p:cNvGrpSpPr>
              <a:grpSpLocks/>
            </p:cNvGrpSpPr>
            <p:nvPr/>
          </p:nvGrpSpPr>
          <p:grpSpPr bwMode="auto">
            <a:xfrm>
              <a:off x="2263" y="2768"/>
              <a:ext cx="787" cy="359"/>
              <a:chOff x="1873" y="688"/>
              <a:chExt cx="884" cy="403"/>
            </a:xfrm>
          </p:grpSpPr>
          <p:sp>
            <p:nvSpPr>
              <p:cNvPr id="3900448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3900449" name="Text Box 33"/>
              <p:cNvSpPr txBox="1">
                <a:spLocks noChangeArrowheads="1"/>
              </p:cNvSpPr>
              <p:nvPr/>
            </p:nvSpPr>
            <p:spPr bwMode="auto">
              <a:xfrm>
                <a:off x="2009" y="845"/>
                <a:ext cx="703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I’m Done</a:t>
                </a:r>
              </a:p>
            </p:txBody>
          </p:sp>
        </p:grpSp>
      </p:grpSp>
      <p:grpSp>
        <p:nvGrpSpPr>
          <p:cNvPr id="12" name="Group 34"/>
          <p:cNvGrpSpPr>
            <a:grpSpLocks/>
          </p:cNvGrpSpPr>
          <p:nvPr/>
        </p:nvGrpSpPr>
        <p:grpSpPr bwMode="auto">
          <a:xfrm>
            <a:off x="9486894" y="8639172"/>
            <a:ext cx="2948467" cy="962025"/>
            <a:chOff x="2584" y="3194"/>
            <a:chExt cx="1102" cy="359"/>
          </a:xfrm>
        </p:grpSpPr>
        <p:sp>
          <p:nvSpPr>
            <p:cNvPr id="3900451" name="AutoShape 35"/>
            <p:cNvSpPr>
              <a:spLocks noChangeArrowheads="1"/>
            </p:cNvSpPr>
            <p:nvPr/>
          </p:nvSpPr>
          <p:spPr bwMode="auto">
            <a:xfrm flipH="1">
              <a:off x="2584" y="3198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3" name="Group 36"/>
            <p:cNvGrpSpPr>
              <a:grpSpLocks/>
            </p:cNvGrpSpPr>
            <p:nvPr/>
          </p:nvGrpSpPr>
          <p:grpSpPr bwMode="auto">
            <a:xfrm>
              <a:off x="2872" y="3194"/>
              <a:ext cx="814" cy="359"/>
              <a:chOff x="2425" y="1156"/>
              <a:chExt cx="911" cy="403"/>
            </a:xfrm>
          </p:grpSpPr>
          <p:sp>
            <p:nvSpPr>
              <p:cNvPr id="3900453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54" name="Text Box 38"/>
              <p:cNvSpPr txBox="1">
                <a:spLocks noChangeArrowheads="1"/>
              </p:cNvSpPr>
              <p:nvPr/>
            </p:nvSpPr>
            <p:spPr bwMode="auto">
              <a:xfrm>
                <a:off x="2521" y="1313"/>
                <a:ext cx="815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squar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K thx bye!</a:t>
                </a:r>
              </a:p>
            </p:txBody>
          </p:sp>
        </p:grpSp>
      </p:grpSp>
      <p:sp>
        <p:nvSpPr>
          <p:cNvPr id="3900455" name="Line 39"/>
          <p:cNvSpPr>
            <a:spLocks noChangeShapeType="1"/>
          </p:cNvSpPr>
          <p:nvPr/>
        </p:nvSpPr>
        <p:spPr bwMode="auto">
          <a:xfrm flipV="1">
            <a:off x="2726532" y="4550570"/>
            <a:ext cx="12418218" cy="30956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6" name="Line 40"/>
          <p:cNvSpPr>
            <a:spLocks noChangeShapeType="1"/>
          </p:cNvSpPr>
          <p:nvPr/>
        </p:nvSpPr>
        <p:spPr bwMode="auto">
          <a:xfrm flipV="1">
            <a:off x="2726532" y="7210425"/>
            <a:ext cx="12418218" cy="28575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7" name="Text Box 41"/>
          <p:cNvSpPr txBox="1">
            <a:spLocks noChangeArrowheads="1"/>
          </p:cNvSpPr>
          <p:nvPr/>
        </p:nvSpPr>
        <p:spPr bwMode="auto">
          <a:xfrm>
            <a:off x="2762251" y="2831307"/>
            <a:ext cx="2463446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Connection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Establishment</a:t>
            </a:r>
          </a:p>
        </p:txBody>
      </p:sp>
      <p:sp>
        <p:nvSpPr>
          <p:cNvPr id="3900458" name="Text Box 42"/>
          <p:cNvSpPr txBox="1">
            <a:spLocks noChangeArrowheads="1"/>
          </p:cNvSpPr>
          <p:nvPr/>
        </p:nvSpPr>
        <p:spPr bwMode="auto">
          <a:xfrm>
            <a:off x="2952751" y="8089107"/>
            <a:ext cx="1883159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ea typeface="ヒラギノ角ゴ Pro W3" pitchFamily="16" charset="-128"/>
              </a:rPr>
              <a:t>Connection</a:t>
            </a:r>
            <a:br>
              <a:rPr lang="en-US" sz="2700">
                <a:ea typeface="ヒラギノ角ゴ Pro W3" pitchFamily="16" charset="-128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Release</a:t>
            </a:r>
          </a:p>
        </p:txBody>
      </p:sp>
      <p:sp>
        <p:nvSpPr>
          <p:cNvPr id="3900459" name="Text Box 43"/>
          <p:cNvSpPr txBox="1">
            <a:spLocks noChangeArrowheads="1"/>
          </p:cNvSpPr>
          <p:nvPr/>
        </p:nvSpPr>
        <p:spPr bwMode="auto">
          <a:xfrm>
            <a:off x="3164682" y="5460207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025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9444E-6 -2.46914E-6 L 0.25 -2.46914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-0.25 0  E" pathEditMode="relative" ptsTypes="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900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4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34568E-6 L -0.25 -2.34568E-6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500"/>
                            </p:stCondLst>
                            <p:childTnLst>
                              <p:par>
                                <p:cTn id="5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3900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3900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7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-4.07407E-6 L -0.25 -4.07407E-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500"/>
                            </p:stCondLst>
                            <p:childTnLst>
                              <p:par>
                                <p:cTn id="8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55" grpId="0" animBg="1"/>
      <p:bldP spid="3900456" grpId="0" animBg="1"/>
      <p:bldP spid="3900458" grpId="0"/>
      <p:bldP spid="390045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Transport Layer Functions</a:t>
            </a:r>
          </a:p>
        </p:txBody>
      </p:sp>
      <p:sp>
        <p:nvSpPr>
          <p:cNvPr id="38963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/>
              <a:t>Connectionless and connection-oriented operation</a:t>
            </a:r>
          </a:p>
          <a:p>
            <a:pPr>
              <a:lnSpc>
                <a:spcPct val="90000"/>
              </a:lnSpc>
            </a:pPr>
            <a:r>
              <a:rPr lang="en-US"/>
              <a:t>Error detection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Error correction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Application addressing</a:t>
            </a:r>
          </a:p>
          <a:p>
            <a:pPr>
              <a:lnSpc>
                <a:spcPct val="90000"/>
              </a:lnSpc>
            </a:pPr>
            <a:r>
              <a:rPr lang="en-US"/>
              <a:t>Flow control</a:t>
            </a:r>
          </a:p>
          <a:p>
            <a:pPr>
              <a:lnSpc>
                <a:spcPct val="90000"/>
              </a:lnSpc>
            </a:pPr>
            <a:r>
              <a:rPr lang="en-US"/>
              <a:t>Enhanced capabilities</a:t>
            </a:r>
          </a:p>
          <a:p>
            <a:pPr lvl="1">
              <a:lnSpc>
                <a:spcPct val="90000"/>
              </a:lnSpc>
            </a:pPr>
            <a:r>
              <a:rPr lang="en-US"/>
              <a:t>Security</a:t>
            </a:r>
          </a:p>
          <a:p>
            <a:pPr lvl="1">
              <a:lnSpc>
                <a:spcPct val="90000"/>
              </a:lnSpc>
            </a:pPr>
            <a:r>
              <a:rPr lang="en-US"/>
              <a:t>Timing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117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93829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secure encrypted connection between client and server</a:t>
            </a:r>
          </a:p>
          <a:p>
            <a:r>
              <a:rPr lang="en-US" dirty="0"/>
              <a:t>Replaced Secure Socket Layer (SSL) although the terminology of SSL continues to be used</a:t>
            </a:r>
          </a:p>
          <a:p>
            <a:r>
              <a:rPr lang="en-US" dirty="0"/>
              <a:t>Part of HTTPS (port 443) for secure web traffic</a:t>
            </a:r>
          </a:p>
          <a:p>
            <a:r>
              <a:rPr lang="en-US" dirty="0"/>
              <a:t>Combines authentication and encryption</a:t>
            </a:r>
          </a:p>
          <a:p>
            <a:r>
              <a:rPr lang="en-US" dirty="0"/>
              <a:t>Current version 1.3</a:t>
            </a:r>
          </a:p>
          <a:p>
            <a:r>
              <a:rPr lang="en-US" dirty="0"/>
              <a:t>Some systems may still use v1.2</a:t>
            </a:r>
          </a:p>
          <a:p>
            <a:pPr lvl="1"/>
            <a:r>
              <a:rPr lang="en-US" dirty="0"/>
              <a:t>Would you be okay with that?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118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Graphic 4" descr="Lock with solid fill">
            <a:extLst>
              <a:ext uri="{FF2B5EF4-FFF2-40B4-BE49-F238E27FC236}">
                <a16:creationId xmlns:a16="http://schemas.microsoft.com/office/drawing/2014/main" id="{8A7DDC01-97CD-A94B-78BB-B303FD3BB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30509" y="6042437"/>
            <a:ext cx="2414422" cy="24144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775157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QUIC: TLS’s Faster Cousin</a:t>
            </a:r>
          </a:p>
        </p:txBody>
      </p:sp>
      <p:sp>
        <p:nvSpPr>
          <p:cNvPr id="3" name="TCP panel"/>
          <p:cNvSpPr/>
          <p:nvPr/>
        </p:nvSpPr>
        <p:spPr>
          <a:xfrm>
            <a:off x="125730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CP heading"/>
          <p:cNvSpPr txBox="1"/>
          <p:nvPr/>
        </p:nvSpPr>
        <p:spPr>
          <a:xfrm>
            <a:off x="153162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 + TLS: the classic way</a:t>
            </a:r>
          </a:p>
        </p:txBody>
      </p:sp>
      <p:sp>
        <p:nvSpPr>
          <p:cNvPr id="5" name="TCP client"/>
          <p:cNvSpPr txBox="1"/>
          <p:nvPr/>
        </p:nvSpPr>
        <p:spPr>
          <a:xfrm>
            <a:off x="16230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6" name="TCP server"/>
          <p:cNvSpPr txBox="1"/>
          <p:nvPr/>
        </p:nvSpPr>
        <p:spPr>
          <a:xfrm>
            <a:off x="68808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7" name="TCP client line"/>
          <p:cNvCxnSpPr/>
          <p:nvPr/>
        </p:nvCxnSpPr>
        <p:spPr>
          <a:xfrm>
            <a:off x="24460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TCP server line"/>
          <p:cNvCxnSpPr/>
          <p:nvPr/>
        </p:nvCxnSpPr>
        <p:spPr>
          <a:xfrm>
            <a:off x="77038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CP msg 1"/>
          <p:cNvCxnSpPr/>
          <p:nvPr/>
        </p:nvCxnSpPr>
        <p:spPr>
          <a:xfrm>
            <a:off x="244602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CP label 1"/>
          <p:cNvSpPr txBox="1"/>
          <p:nvPr/>
        </p:nvSpPr>
        <p:spPr>
          <a:xfrm>
            <a:off x="2994660" y="36073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</a:t>
            </a:r>
          </a:p>
        </p:txBody>
      </p:sp>
      <p:cxnSp>
        <p:nvCxnSpPr>
          <p:cNvPr id="11" name="TCP msg 2"/>
          <p:cNvCxnSpPr/>
          <p:nvPr/>
        </p:nvCxnSpPr>
        <p:spPr>
          <a:xfrm flipH="1">
            <a:off x="244602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CP label 2"/>
          <p:cNvSpPr txBox="1"/>
          <p:nvPr/>
        </p:nvSpPr>
        <p:spPr>
          <a:xfrm>
            <a:off x="2994660" y="40645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 back</a:t>
            </a:r>
          </a:p>
        </p:txBody>
      </p:sp>
      <p:cxnSp>
        <p:nvCxnSpPr>
          <p:cNvPr id="13" name="TCP msg 3"/>
          <p:cNvCxnSpPr/>
          <p:nvPr/>
        </p:nvCxnSpPr>
        <p:spPr>
          <a:xfrm>
            <a:off x="2446020" y="46177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CP label 3"/>
          <p:cNvSpPr txBox="1"/>
          <p:nvPr/>
        </p:nvSpPr>
        <p:spPr>
          <a:xfrm>
            <a:off x="2994660" y="45217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hello, here are my keys</a:t>
            </a:r>
          </a:p>
        </p:txBody>
      </p:sp>
      <p:cxnSp>
        <p:nvCxnSpPr>
          <p:cNvPr id="15" name="TCP msg 4"/>
          <p:cNvCxnSpPr/>
          <p:nvPr/>
        </p:nvCxnSpPr>
        <p:spPr>
          <a:xfrm flipH="1">
            <a:off x="2446020" y="50749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CP label 4"/>
          <p:cNvSpPr txBox="1"/>
          <p:nvPr/>
        </p:nvSpPr>
        <p:spPr>
          <a:xfrm>
            <a:off x="2994660" y="49789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certificate, keys, done</a:t>
            </a:r>
          </a:p>
        </p:txBody>
      </p:sp>
      <p:cxnSp>
        <p:nvCxnSpPr>
          <p:cNvPr id="17" name="TCP msg 5"/>
          <p:cNvCxnSpPr/>
          <p:nvPr/>
        </p:nvCxnSpPr>
        <p:spPr>
          <a:xfrm>
            <a:off x="2446020" y="5532120"/>
            <a:ext cx="5257800" cy="41148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CP label 5"/>
          <p:cNvSpPr txBox="1"/>
          <p:nvPr/>
        </p:nvSpPr>
        <p:spPr>
          <a:xfrm>
            <a:off x="2994660" y="54361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19" name="TCP summary"/>
          <p:cNvSpPr txBox="1"/>
          <p:nvPr/>
        </p:nvSpPr>
        <p:spPr>
          <a:xfrm>
            <a:off x="153162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Two round trips before any data</a:t>
            </a:r>
          </a:p>
        </p:txBody>
      </p:sp>
      <p:sp>
        <p:nvSpPr>
          <p:cNvPr id="20" name="QUIC panel"/>
          <p:cNvSpPr/>
          <p:nvPr/>
        </p:nvSpPr>
        <p:spPr>
          <a:xfrm>
            <a:off x="939546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QUIC heading"/>
          <p:cNvSpPr txBox="1"/>
          <p:nvPr/>
        </p:nvSpPr>
        <p:spPr>
          <a:xfrm>
            <a:off x="966978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QUIC: connection and TLS in one step</a:t>
            </a:r>
          </a:p>
        </p:txBody>
      </p:sp>
      <p:sp>
        <p:nvSpPr>
          <p:cNvPr id="22" name="QUIC client"/>
          <p:cNvSpPr txBox="1"/>
          <p:nvPr/>
        </p:nvSpPr>
        <p:spPr>
          <a:xfrm>
            <a:off x="97612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23" name="QUIC server"/>
          <p:cNvSpPr txBox="1"/>
          <p:nvPr/>
        </p:nvSpPr>
        <p:spPr>
          <a:xfrm>
            <a:off x="150190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24" name="QUIC client line"/>
          <p:cNvCxnSpPr/>
          <p:nvPr/>
        </p:nvCxnSpPr>
        <p:spPr>
          <a:xfrm>
            <a:off x="105841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QUIC server line"/>
          <p:cNvCxnSpPr/>
          <p:nvPr/>
        </p:nvCxnSpPr>
        <p:spPr>
          <a:xfrm>
            <a:off x="158419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QUIC msg 1"/>
          <p:cNvCxnSpPr/>
          <p:nvPr/>
        </p:nvCxnSpPr>
        <p:spPr>
          <a:xfrm>
            <a:off x="1058418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QUIC label 1"/>
          <p:cNvSpPr txBox="1"/>
          <p:nvPr/>
        </p:nvSpPr>
        <p:spPr>
          <a:xfrm>
            <a:off x="11132820" y="36073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 + TLS: hello, here are my keys</a:t>
            </a:r>
          </a:p>
        </p:txBody>
      </p:sp>
      <p:cxnSp>
        <p:nvCxnSpPr>
          <p:cNvPr id="28" name="QUIC msg 2"/>
          <p:cNvCxnSpPr/>
          <p:nvPr/>
        </p:nvCxnSpPr>
        <p:spPr>
          <a:xfrm flipH="1">
            <a:off x="1058418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QUIC label 2"/>
          <p:cNvSpPr txBox="1"/>
          <p:nvPr/>
        </p:nvSpPr>
        <p:spPr>
          <a:xfrm>
            <a:off x="11132820" y="40645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certificate, keys, done</a:t>
            </a:r>
          </a:p>
        </p:txBody>
      </p:sp>
      <p:cxnSp>
        <p:nvCxnSpPr>
          <p:cNvPr id="30" name="QUIC msg 3"/>
          <p:cNvCxnSpPr/>
          <p:nvPr/>
        </p:nvCxnSpPr>
        <p:spPr>
          <a:xfrm>
            <a:off x="10584180" y="4617720"/>
            <a:ext cx="5257800" cy="4114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QUIC label 3"/>
          <p:cNvSpPr txBox="1"/>
          <p:nvPr/>
        </p:nvSpPr>
        <p:spPr>
          <a:xfrm>
            <a:off x="11132820" y="45217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32" name="QUIC summary"/>
          <p:cNvSpPr txBox="1"/>
          <p:nvPr/>
        </p:nvSpPr>
        <p:spPr>
          <a:xfrm>
            <a:off x="966978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One round trip — zero when reconnecting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Faster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Sets up the connection and the encryption together. It’s the engine under HTTP/3, used by many of the biggest websites and apps.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Survives a network change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phone moving from branch Wi-Fi to cellular keeps its session instead of starting over.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49440"/>
            <a:ext cx="5029200" cy="25146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Harder to see into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Runs over UDP and encrypts almost all of its own control information. Firewalls that inspect TLS may not inspect QUIC.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bank inspect QUIC, block it, or let it through?</a:t>
            </a:r>
          </a:p>
        </p:txBody>
      </p:sp>
    </p:spTree>
    <p:extLst>
      <p:ext uri="{BB962C8B-B14F-4D97-AF65-F5344CB8AC3E}">
        <p14:creationId xmlns:p14="http://schemas.microsoft.com/office/powerpoint/2010/main" val="135845067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Real-Time Payments (FedNow/RTP): What Always-On Means for the Network</a:t>
            </a:r>
          </a:p>
        </p:txBody>
      </p:sp>
      <p:pic>
        <p:nvPicPr>
          <p:cNvPr id="3" name="Flow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8739" y="3223260"/>
            <a:ext cx="777240" cy="777240"/>
          </a:xfrm>
          <a:prstGeom prst="rect">
            <a:avLst/>
          </a:prstGeom>
        </p:spPr>
      </p:pic>
      <p:sp>
        <p:nvSpPr>
          <p:cNvPr id="4" name="Flow label 1"/>
          <p:cNvSpPr txBox="1"/>
          <p:nvPr/>
        </p:nvSpPr>
        <p:spPr>
          <a:xfrm>
            <a:off x="5486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Flow arrow 1"/>
          <p:cNvCxnSpPr/>
          <p:nvPr/>
        </p:nvCxnSpPr>
        <p:spPr>
          <a:xfrm>
            <a:off x="228600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Flow icon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66259" y="3223260"/>
            <a:ext cx="777240" cy="777240"/>
          </a:xfrm>
          <a:prstGeom prst="rect">
            <a:avLst/>
          </a:prstGeom>
        </p:spPr>
      </p:pic>
      <p:sp>
        <p:nvSpPr>
          <p:cNvPr id="7" name="Flow label 2"/>
          <p:cNvSpPr txBox="1"/>
          <p:nvPr/>
        </p:nvSpPr>
        <p:spPr>
          <a:xfrm>
            <a:off x="356615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Sending bank</a:t>
            </a:r>
          </a:p>
        </p:txBody>
      </p:sp>
      <p:cxnSp>
        <p:nvCxnSpPr>
          <p:cNvPr id="8" name="Flow arrow 2"/>
          <p:cNvCxnSpPr/>
          <p:nvPr/>
        </p:nvCxnSpPr>
        <p:spPr>
          <a:xfrm>
            <a:off x="530351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Flow icon 3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83779" y="3223260"/>
            <a:ext cx="777240" cy="777240"/>
          </a:xfrm>
          <a:prstGeom prst="rect">
            <a:avLst/>
          </a:prstGeom>
        </p:spPr>
      </p:pic>
      <p:sp>
        <p:nvSpPr>
          <p:cNvPr id="10" name="Flow label 3"/>
          <p:cNvSpPr txBox="1"/>
          <p:nvPr/>
        </p:nvSpPr>
        <p:spPr>
          <a:xfrm>
            <a:off x="6583680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" name="Flow arrow 3"/>
          <p:cNvCxnSpPr/>
          <p:nvPr/>
        </p:nvCxnSpPr>
        <p:spPr>
          <a:xfrm>
            <a:off x="832104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Flow icon 4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1299" y="3223260"/>
            <a:ext cx="777240" cy="777240"/>
          </a:xfrm>
          <a:prstGeom prst="rect">
            <a:avLst/>
          </a:prstGeom>
        </p:spPr>
      </p:pic>
      <p:sp>
        <p:nvSpPr>
          <p:cNvPr id="13" name="Flow label 4"/>
          <p:cNvSpPr txBox="1"/>
          <p:nvPr/>
        </p:nvSpPr>
        <p:spPr>
          <a:xfrm>
            <a:off x="960119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 or RTP</a:t>
            </a:r>
          </a:p>
        </p:txBody>
      </p:sp>
      <p:cxnSp>
        <p:nvCxnSpPr>
          <p:cNvPr id="14" name="Flow arrow 4"/>
          <p:cNvCxnSpPr/>
          <p:nvPr/>
        </p:nvCxnSpPr>
        <p:spPr>
          <a:xfrm>
            <a:off x="1133855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Flow icon 5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18819" y="3223260"/>
            <a:ext cx="777240" cy="777240"/>
          </a:xfrm>
          <a:prstGeom prst="rect">
            <a:avLst/>
          </a:prstGeom>
        </p:spPr>
      </p:pic>
      <p:sp>
        <p:nvSpPr>
          <p:cNvPr id="16" name="Flow label 5"/>
          <p:cNvSpPr txBox="1"/>
          <p:nvPr/>
        </p:nvSpPr>
        <p:spPr>
          <a:xfrm>
            <a:off x="1261871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Receiving bank</a:t>
            </a:r>
          </a:p>
        </p:txBody>
      </p:sp>
      <p:cxnSp>
        <p:nvCxnSpPr>
          <p:cNvPr id="17" name="Flow arrow 5"/>
          <p:cNvCxnSpPr/>
          <p:nvPr/>
        </p:nvCxnSpPr>
        <p:spPr>
          <a:xfrm>
            <a:off x="14356080" y="3611880"/>
            <a:ext cx="192023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Flow icon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36339" y="3223260"/>
            <a:ext cx="777240" cy="777240"/>
          </a:xfrm>
          <a:prstGeom prst="rect">
            <a:avLst/>
          </a:prstGeom>
        </p:spPr>
      </p:pic>
      <p:sp>
        <p:nvSpPr>
          <p:cNvPr id="19" name="Flow label 6"/>
          <p:cNvSpPr txBox="1"/>
          <p:nvPr/>
        </p:nvSpPr>
        <p:spPr>
          <a:xfrm>
            <a:off x="156362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Recipient</a:t>
            </a:r>
          </a:p>
        </p:txBody>
      </p:sp>
      <p:sp>
        <p:nvSpPr>
          <p:cNvPr id="20" name="Flow tag"/>
          <p:cNvSpPr txBox="1"/>
          <p:nvPr/>
        </p:nvSpPr>
        <p:spPr>
          <a:xfrm>
            <a:off x="1257300" y="4526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Seconds end to end · any hour, any day · final once settled</a:t>
            </a:r>
          </a:p>
        </p:txBody>
      </p:sp>
      <p:sp>
        <p:nvSpPr>
          <p:cNvPr id="21" name="Tile 1"/>
          <p:cNvSpPr/>
          <p:nvPr/>
        </p:nvSpPr>
        <p:spPr>
          <a:xfrm>
            <a:off x="125730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ile 1 text"/>
          <p:cNvSpPr txBox="1"/>
          <p:nvPr/>
        </p:nvSpPr>
        <p:spPr>
          <a:xfrm>
            <a:off x="153162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Federal Reserve since July 2023 · 1,800+ banks and credit unions · $10 million cap</a:t>
            </a:r>
          </a:p>
        </p:txBody>
      </p:sp>
      <p:sp>
        <p:nvSpPr>
          <p:cNvPr id="23" name="Tile 2"/>
          <p:cNvSpPr/>
          <p:nvPr/>
        </p:nvSpPr>
        <p:spPr>
          <a:xfrm>
            <a:off x="930402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ile 2 text"/>
          <p:cNvSpPr txBox="1"/>
          <p:nvPr/>
        </p:nvSpPr>
        <p:spPr>
          <a:xfrm>
            <a:off x="957834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RTP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Clearing House since 2017 · 1,200+ institutions · $10 million cap</a:t>
            </a:r>
          </a:p>
        </p:txBody>
      </p:sp>
      <p:sp>
        <p:nvSpPr>
          <p:cNvPr id="25" name="Implications heading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always-on means for the network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quiet hours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Maintenance windows and weekend changes now land on live payments.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link is in the path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Branch, core processor and the connection to the Fed or TCH all need redundancy and tested failover.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has to be watching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 and incident response at 3 a.m. on a Sunday, by the bank or its provider.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 means fast fraud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take-backs: authentication and fraud checks have to work in real time too.</a:t>
            </a:r>
          </a:p>
        </p:txBody>
      </p:sp>
    </p:spTree>
    <p:extLst>
      <p:ext uri="{BB962C8B-B14F-4D97-AF65-F5344CB8AC3E}">
        <p14:creationId xmlns:p14="http://schemas.microsoft.com/office/powerpoint/2010/main" val="41032421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13: </a:t>
            </a:r>
            <a:br>
              <a:rPr lang="en-US" dirty="0"/>
            </a:br>
            <a:r>
              <a:rPr dirty="0"/>
              <a:t>Cryptography In </a:t>
            </a:r>
            <a:r>
              <a:rPr lang="en-US" dirty="0"/>
              <a:t>(some) </a:t>
            </a:r>
            <a:r>
              <a:rPr dirty="0"/>
              <a:t>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Customer Data Lives and Travels on the Bank Network</a:t>
            </a:r>
          </a:p>
        </p:txBody>
      </p:sp>
      <p:sp>
        <p:nvSpPr>
          <p:cNvPr id="3" name="Zone 1"/>
          <p:cNvSpPr/>
          <p:nvPr/>
        </p:nvSpPr>
        <p:spPr>
          <a:xfrm>
            <a:off x="12573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4" name="Zon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540" y="2971800"/>
            <a:ext cx="731520" cy="731520"/>
          </a:xfrm>
          <a:prstGeom prst="rect">
            <a:avLst/>
          </a:prstGeom>
        </p:spPr>
      </p:pic>
      <p:sp>
        <p:nvSpPr>
          <p:cNvPr id="5" name="Zone 1 title"/>
          <p:cNvSpPr txBox="1"/>
          <p:nvPr/>
        </p:nvSpPr>
        <p:spPr>
          <a:xfrm>
            <a:off x="13487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6" name="Zone 1 items"/>
          <p:cNvSpPr txBox="1"/>
          <p:nvPr/>
        </p:nvSpPr>
        <p:spPr>
          <a:xfrm>
            <a:off x="14218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Phones and home computers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 sessions</a:t>
            </a:r>
          </a:p>
        </p:txBody>
      </p:sp>
      <p:cxnSp>
        <p:nvCxnSpPr>
          <p:cNvPr id="7" name="Transit 1"/>
          <p:cNvCxnSpPr/>
          <p:nvPr/>
        </p:nvCxnSpPr>
        <p:spPr>
          <a:xfrm>
            <a:off x="357987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 2"/>
          <p:cNvSpPr/>
          <p:nvPr/>
        </p:nvSpPr>
        <p:spPr>
          <a:xfrm>
            <a:off x="395478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9" name="Zon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2020" y="2971800"/>
            <a:ext cx="731520" cy="731520"/>
          </a:xfrm>
          <a:prstGeom prst="rect">
            <a:avLst/>
          </a:prstGeom>
        </p:spPr>
      </p:pic>
      <p:sp>
        <p:nvSpPr>
          <p:cNvPr id="10" name="Zone 2 title"/>
          <p:cNvSpPr txBox="1"/>
          <p:nvPr/>
        </p:nvSpPr>
        <p:spPr>
          <a:xfrm>
            <a:off x="404622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11" name="Zone 2 items"/>
          <p:cNvSpPr txBox="1"/>
          <p:nvPr/>
        </p:nvSpPr>
        <p:spPr>
          <a:xfrm>
            <a:off x="411937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PCs and printers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Scanned checks and IDs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Paper files</a:t>
            </a:r>
          </a:p>
        </p:txBody>
      </p:sp>
      <p:cxnSp>
        <p:nvCxnSpPr>
          <p:cNvPr id="12" name="Transit 2"/>
          <p:cNvCxnSpPr/>
          <p:nvPr/>
        </p:nvCxnSpPr>
        <p:spPr>
          <a:xfrm>
            <a:off x="627735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 3"/>
          <p:cNvSpPr/>
          <p:nvPr/>
        </p:nvSpPr>
        <p:spPr>
          <a:xfrm>
            <a:off x="665226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4" name="Zon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29500" y="2971800"/>
            <a:ext cx="731520" cy="731520"/>
          </a:xfrm>
          <a:prstGeom prst="rect">
            <a:avLst/>
          </a:prstGeom>
        </p:spPr>
      </p:pic>
      <p:sp>
        <p:nvSpPr>
          <p:cNvPr id="15" name="Zone 3 title"/>
          <p:cNvSpPr txBox="1"/>
          <p:nvPr/>
        </p:nvSpPr>
        <p:spPr>
          <a:xfrm>
            <a:off x="674370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HQ &amp; datacenter</a:t>
            </a:r>
          </a:p>
        </p:txBody>
      </p:sp>
      <p:sp>
        <p:nvSpPr>
          <p:cNvPr id="16" name="Zone 3 items"/>
          <p:cNvSpPr txBox="1"/>
          <p:nvPr/>
        </p:nvSpPr>
        <p:spPr>
          <a:xfrm>
            <a:off x="681685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shares and servers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7" name="Transit 3"/>
          <p:cNvCxnSpPr/>
          <p:nvPr/>
        </p:nvCxnSpPr>
        <p:spPr>
          <a:xfrm>
            <a:off x="897483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 4"/>
          <p:cNvSpPr/>
          <p:nvPr/>
        </p:nvSpPr>
        <p:spPr>
          <a:xfrm>
            <a:off x="934974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9" name="Zon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26980" y="2971800"/>
            <a:ext cx="731520" cy="731520"/>
          </a:xfrm>
          <a:prstGeom prst="rect">
            <a:avLst/>
          </a:prstGeom>
        </p:spPr>
      </p:pic>
      <p:sp>
        <p:nvSpPr>
          <p:cNvPr id="20" name="Zone 4 title"/>
          <p:cNvSpPr txBox="1"/>
          <p:nvPr/>
        </p:nvSpPr>
        <p:spPr>
          <a:xfrm>
            <a:off x="944118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21" name="Zone 4 items"/>
          <p:cNvSpPr txBox="1"/>
          <p:nvPr/>
        </p:nvSpPr>
        <p:spPr>
          <a:xfrm>
            <a:off x="951433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documents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CRM, HR and loan apps</a:t>
            </a:r>
          </a:p>
        </p:txBody>
      </p:sp>
      <p:cxnSp>
        <p:nvCxnSpPr>
          <p:cNvPr id="22" name="Transit 4"/>
          <p:cNvCxnSpPr/>
          <p:nvPr/>
        </p:nvCxnSpPr>
        <p:spPr>
          <a:xfrm>
            <a:off x="1167231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Zone 5"/>
          <p:cNvSpPr/>
          <p:nvPr/>
        </p:nvSpPr>
        <p:spPr>
          <a:xfrm>
            <a:off x="12047220" y="2788920"/>
            <a:ext cx="2286000" cy="3520440"/>
          </a:xfrm>
          <a:prstGeom prst="roundRect">
            <a:avLst/>
          </a:prstGeom>
          <a:solidFill>
            <a:srgbClr val="EEF2F8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4" name="Zone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824460" y="2971800"/>
            <a:ext cx="731520" cy="731520"/>
          </a:xfrm>
          <a:prstGeom prst="rect">
            <a:avLst/>
          </a:prstGeom>
        </p:spPr>
      </p:pic>
      <p:sp>
        <p:nvSpPr>
          <p:cNvPr id="25" name="Zone 5 title"/>
          <p:cNvSpPr txBox="1"/>
          <p:nvPr/>
        </p:nvSpPr>
        <p:spPr>
          <a:xfrm>
            <a:off x="1213866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26" name="Zone 5 items"/>
          <p:cNvSpPr txBox="1"/>
          <p:nvPr/>
        </p:nvSpPr>
        <p:spPr>
          <a:xfrm>
            <a:off x="1221181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system of record: accounts, balances, history</a:t>
            </a:r>
          </a:p>
        </p:txBody>
      </p:sp>
      <p:cxnSp>
        <p:nvCxnSpPr>
          <p:cNvPr id="27" name="Transit 5"/>
          <p:cNvCxnSpPr/>
          <p:nvPr/>
        </p:nvCxnSpPr>
        <p:spPr>
          <a:xfrm>
            <a:off x="1436979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 6"/>
          <p:cNvSpPr/>
          <p:nvPr/>
        </p:nvSpPr>
        <p:spPr>
          <a:xfrm>
            <a:off x="147447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9" name="Zone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5521940" y="2971800"/>
            <a:ext cx="731520" cy="731520"/>
          </a:xfrm>
          <a:prstGeom prst="rect">
            <a:avLst/>
          </a:prstGeom>
        </p:spPr>
      </p:pic>
      <p:sp>
        <p:nvSpPr>
          <p:cNvPr id="30" name="Zone 6 title"/>
          <p:cNvSpPr txBox="1"/>
          <p:nvPr/>
        </p:nvSpPr>
        <p:spPr>
          <a:xfrm>
            <a:off x="148361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Other vendors</a:t>
            </a:r>
          </a:p>
        </p:txBody>
      </p:sp>
      <p:sp>
        <p:nvSpPr>
          <p:cNvPr id="31" name="Zone 6 items"/>
          <p:cNvSpPr txBox="1"/>
          <p:nvPr/>
        </p:nvSpPr>
        <p:spPr>
          <a:xfrm>
            <a:off x="149092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32" name="Transit legend"/>
          <p:cNvSpPr txBox="1"/>
          <p:nvPr/>
        </p:nvSpPr>
        <p:spPr>
          <a:xfrm>
            <a:off x="1257300" y="6419088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box stores customer data (at rest)  ·  every arrow is a network link it crosses (in transit)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box above holds customer data — including laptops, backups and paper.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where it sits?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is a network link: branch to HQ, HQ to cloud, everything to the core and vendors.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on the way?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03720"/>
            <a:ext cx="5029200" cy="26974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examiner’s question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the bank draw this map for its own data, vendors included?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InTREx expects the risk assessment to identify “all information assets and systems, including cloud-based, virtualized, and paper-based systems.”</a:t>
            </a:r>
          </a:p>
        </p:txBody>
      </p:sp>
    </p:spTree>
    <p:extLst>
      <p:ext uri="{BB962C8B-B14F-4D97-AF65-F5344CB8AC3E}">
        <p14:creationId xmlns:p14="http://schemas.microsoft.com/office/powerpoint/2010/main" val="17466053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Data at Rest, Data in Transit</a:t>
            </a:r>
          </a:p>
        </p:txBody>
      </p:sp>
      <p:sp>
        <p:nvSpPr>
          <p:cNvPr id="3" name="Rest panel"/>
          <p:cNvSpPr/>
          <p:nvPr/>
        </p:nvSpPr>
        <p:spPr>
          <a:xfrm>
            <a:off x="125730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Rest band"/>
          <p:cNvSpPr/>
          <p:nvPr/>
        </p:nvSpPr>
        <p:spPr>
          <a:xfrm>
            <a:off x="128473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st heading"/>
          <p:cNvSpPr txBox="1"/>
          <p:nvPr/>
        </p:nvSpPr>
        <p:spPr>
          <a:xfrm>
            <a:off x="157734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</p:txBody>
      </p:sp>
      <p:sp>
        <p:nvSpPr>
          <p:cNvPr id="6" name="Rest sub"/>
          <p:cNvSpPr txBox="1"/>
          <p:nvPr/>
        </p:nvSpPr>
        <p:spPr>
          <a:xfrm>
            <a:off x="157734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Stored somewhere: a disk, a database, a backup, a phone</a:t>
            </a:r>
          </a:p>
        </p:txBody>
      </p:sp>
      <p:pic>
        <p:nvPicPr>
          <p:cNvPr id="7" name="Rest databas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66460" y="3017520"/>
            <a:ext cx="914400" cy="914400"/>
          </a:xfrm>
          <a:prstGeom prst="rect">
            <a:avLst/>
          </a:prstGeom>
        </p:spPr>
      </p:pic>
      <p:pic>
        <p:nvPicPr>
          <p:cNvPr id="8" name="Rest lapto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5179" y="3108960"/>
            <a:ext cx="914400" cy="914400"/>
          </a:xfrm>
          <a:prstGeom prst="rect">
            <a:avLst/>
          </a:prstGeom>
        </p:spPr>
      </p:pic>
      <p:pic>
        <p:nvPicPr>
          <p:cNvPr id="9" name="Res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92440" y="2857500"/>
            <a:ext cx="502920" cy="502920"/>
          </a:xfrm>
          <a:prstGeom prst="rect">
            <a:avLst/>
          </a:prstGeom>
        </p:spPr>
      </p:pic>
      <p:sp>
        <p:nvSpPr>
          <p:cNvPr id="10" name="Rest Where"/>
          <p:cNvSpPr txBox="1"/>
          <p:nvPr/>
        </p:nvSpPr>
        <p:spPr>
          <a:xfrm>
            <a:off x="157734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 and databases, laptops and phones, backups, cloud storage, USB drives</a:t>
            </a:r>
          </a:p>
        </p:txBody>
      </p:sp>
      <p:sp>
        <p:nvSpPr>
          <p:cNvPr id="11" name="Rest How it’s protected"/>
          <p:cNvSpPr txBox="1"/>
          <p:nvPr/>
        </p:nvSpPr>
        <p:spPr>
          <a:xfrm>
            <a:off x="157734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Disk and database encryption, encrypted backups, access controls</a:t>
            </a:r>
          </a:p>
        </p:txBody>
      </p:sp>
      <p:sp>
        <p:nvSpPr>
          <p:cNvPr id="12" name="Rest What goes wrong"/>
          <p:cNvSpPr txBox="1"/>
          <p:nvPr/>
        </p:nvSpPr>
        <p:spPr>
          <a:xfrm>
            <a:off x="157734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lost laptop or backup drive that wasn’t encrypted</a:t>
            </a:r>
          </a:p>
        </p:txBody>
      </p:sp>
      <p:sp>
        <p:nvSpPr>
          <p:cNvPr id="13" name="Transit panel"/>
          <p:cNvSpPr/>
          <p:nvPr/>
        </p:nvSpPr>
        <p:spPr>
          <a:xfrm>
            <a:off x="930402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ransit band"/>
          <p:cNvSpPr/>
          <p:nvPr/>
        </p:nvSpPr>
        <p:spPr>
          <a:xfrm>
            <a:off x="933145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ransit heading"/>
          <p:cNvSpPr txBox="1"/>
          <p:nvPr/>
        </p:nvSpPr>
        <p:spPr>
          <a:xfrm>
            <a:off x="962406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</p:txBody>
      </p:sp>
      <p:sp>
        <p:nvSpPr>
          <p:cNvPr id="16" name="Transit sub"/>
          <p:cNvSpPr txBox="1"/>
          <p:nvPr/>
        </p:nvSpPr>
        <p:spPr>
          <a:xfrm>
            <a:off x="962406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Moving across a network: inside the bank or out to the world</a:t>
            </a:r>
          </a:p>
        </p:txBody>
      </p:sp>
      <p:pic>
        <p:nvPicPr>
          <p:cNvPr id="17" name="Transit bank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47420" y="3063239"/>
            <a:ext cx="822960" cy="822960"/>
          </a:xfrm>
          <a:prstGeom prst="rect">
            <a:avLst/>
          </a:prstGeom>
        </p:spPr>
      </p:pic>
      <p:pic>
        <p:nvPicPr>
          <p:cNvPr id="18" name="Transit cloud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659100" y="2926079"/>
            <a:ext cx="1097280" cy="1097280"/>
          </a:xfrm>
          <a:prstGeom prst="rect">
            <a:avLst/>
          </a:prstGeom>
        </p:spPr>
      </p:pic>
      <p:cxnSp>
        <p:nvCxnSpPr>
          <p:cNvPr id="19" name="Transit line"/>
          <p:cNvCxnSpPr/>
          <p:nvPr/>
        </p:nvCxnSpPr>
        <p:spPr>
          <a:xfrm>
            <a:off x="14561820" y="3474720"/>
            <a:ext cx="109728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Transi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1859" y="2880360"/>
            <a:ext cx="457200" cy="457200"/>
          </a:xfrm>
          <a:prstGeom prst="rect">
            <a:avLst/>
          </a:prstGeom>
        </p:spPr>
      </p:pic>
      <p:sp>
        <p:nvSpPr>
          <p:cNvPr id="21" name="Transit Where"/>
          <p:cNvSpPr txBox="1"/>
          <p:nvPr/>
        </p:nvSpPr>
        <p:spPr>
          <a:xfrm>
            <a:off x="962406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to HQ, HQ to cloud, everything to the core and vendors, customer to app</a:t>
            </a:r>
          </a:p>
        </p:txBody>
      </p:sp>
      <p:sp>
        <p:nvSpPr>
          <p:cNvPr id="22" name="Transit How it’s protected"/>
          <p:cNvSpPr txBox="1"/>
          <p:nvPr/>
        </p:nvSpPr>
        <p:spPr>
          <a:xfrm>
            <a:off x="962406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 for web and apps, VPN and SD-WAN tunnels between sites, encrypted email</a:t>
            </a:r>
          </a:p>
        </p:txBody>
      </p:sp>
      <p:sp>
        <p:nvSpPr>
          <p:cNvPr id="23" name="Transit What goes wrong"/>
          <p:cNvSpPr txBox="1"/>
          <p:nvPr/>
        </p:nvSpPr>
        <p:spPr>
          <a:xfrm>
            <a:off x="962406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 unencrypted protocols, or internal traffic assumed to be safe</a:t>
            </a:r>
          </a:p>
        </p:txBody>
      </p:sp>
      <p:sp>
        <p:nvSpPr>
          <p:cNvPr id="24" name="Baseline panel"/>
          <p:cNvSpPr/>
          <p:nvPr/>
        </p:nvSpPr>
        <p:spPr>
          <a:xfrm>
            <a:off x="1257300" y="8686800"/>
            <a:ext cx="15773400" cy="9144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Baseline"/>
          <p:cNvSpPr txBox="1"/>
          <p:nvPr/>
        </p:nvSpPr>
        <p:spPr>
          <a:xfrm>
            <a:off x="1554480" y="8732520"/>
            <a:ext cx="15179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InTREx baseline: “Confidential data are encrypted when transmitted across public or untrusted networks” and mobile devices are encrypted if they store it. Both depend on the cryptography coming next.</a:t>
            </a:r>
          </a:p>
        </p:txBody>
      </p:sp>
    </p:spTree>
    <p:extLst>
      <p:ext uri="{BB962C8B-B14F-4D97-AF65-F5344CB8AC3E}">
        <p14:creationId xmlns:p14="http://schemas.microsoft.com/office/powerpoint/2010/main" val="80571822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Cryptography</a:t>
            </a:r>
          </a:p>
        </p:txBody>
      </p:sp>
      <p:sp>
        <p:nvSpPr>
          <p:cNvPr id="4403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The science of writing in secret codes</a:t>
            </a:r>
          </a:p>
          <a:p>
            <a:pPr lvl="1"/>
            <a:r>
              <a:rPr lang="en-US" altLang="en-US"/>
              <a:t>Dates back to 1900 BC in Egypt (nonstandard hieroglyphics); probably appeared spontaneously soon after writing was developed</a:t>
            </a:r>
          </a:p>
          <a:p>
            <a:r>
              <a:rPr lang="en-US" altLang="en-US"/>
              <a:t>Necessary in telecommunications when communicating over any untrusted medium or storing sensitive information </a:t>
            </a:r>
          </a:p>
          <a:p>
            <a:r>
              <a:rPr lang="en-US" altLang="en-US"/>
              <a:t>Three types </a:t>
            </a:r>
          </a:p>
          <a:p>
            <a:pPr lvl="1"/>
            <a:r>
              <a:rPr lang="en-US" altLang="en-US"/>
              <a:t>Hash functions</a:t>
            </a:r>
          </a:p>
          <a:p>
            <a:pPr lvl="1"/>
            <a:r>
              <a:rPr lang="en-US" altLang="en-US"/>
              <a:t>Secret key</a:t>
            </a:r>
          </a:p>
          <a:p>
            <a:pPr lvl="1"/>
            <a:r>
              <a:rPr lang="en-US" altLang="en-US"/>
              <a:t>Public key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650060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Hash Functions</a:t>
            </a:r>
          </a:p>
        </p:txBody>
      </p:sp>
      <p:sp>
        <p:nvSpPr>
          <p:cNvPr id="44052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No key</a:t>
            </a:r>
          </a:p>
          <a:p>
            <a:pPr lvl="1"/>
            <a:r>
              <a:rPr lang="en-US" altLang="en-US"/>
              <a:t>The original can't be recovered from the hash (the digest)</a:t>
            </a:r>
          </a:p>
          <a:p>
            <a:pPr lvl="1"/>
            <a:r>
              <a:rPr lang="en-US" altLang="en-US"/>
              <a:t>Current: SHA-256, SHA-3</a:t>
            </a:r>
          </a:p>
          <a:p>
            <a:pPr lvl="1"/>
            <a:r>
              <a:rPr lang="en-US" altLang="en-US"/>
              <a:t>Broken: MD5, SHA-1. Flag them if you see them</a:t>
            </a:r>
          </a:p>
          <a:p>
            <a:pPr lvl="1"/>
            <a:r>
              <a:rPr lang="en-US" altLang="en-US"/>
              <a:t>Also called message digests or one-way encryption</a:t>
            </a:r>
          </a:p>
          <a:p>
            <a:r>
              <a:rPr lang="en-US" altLang="en-US"/>
              <a:t>Primary uses: digital signatures and password storage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5252" name="Picture 4" descr="G1646_Hash-Func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91225" y="2524125"/>
            <a:ext cx="6238875" cy="1247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3564134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7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Secret Key Cryptography</a:t>
            </a:r>
          </a:p>
        </p:txBody>
      </p:sp>
      <p:sp>
        <p:nvSpPr>
          <p:cNvPr id="4407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Single key</a:t>
            </a:r>
          </a:p>
          <a:p>
            <a:pPr lvl="1"/>
            <a:r>
              <a:rPr lang="en-US" altLang="en-US"/>
              <a:t>Same key is used for encryption and decryption</a:t>
            </a:r>
          </a:p>
          <a:p>
            <a:pPr lvl="1"/>
            <a:r>
              <a:rPr lang="en-US" altLang="en-US"/>
              <a:t>Current standard: AES</a:t>
            </a:r>
          </a:p>
          <a:p>
            <a:pPr lvl="1"/>
            <a:r>
              <a:rPr lang="en-US" altLang="en-US"/>
              <a:t>Retired: DES, Triple-DES, RC4. Flag them if you see them</a:t>
            </a:r>
          </a:p>
          <a:p>
            <a:pPr lvl="1"/>
            <a:r>
              <a:rPr lang="en-US" altLang="en-US"/>
              <a:t>Also called symmetric cryptography </a:t>
            </a:r>
          </a:p>
          <a:p>
            <a:r>
              <a:rPr lang="en-US" altLang="en-US"/>
              <a:t>Primary use: Privacy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2915900" y="9534526"/>
            <a:ext cx="3086100" cy="547688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126</a:t>
            </a:fld>
            <a:endParaRPr lang="en-US"/>
          </a:p>
        </p:txBody>
      </p:sp>
      <p:pic>
        <p:nvPicPr>
          <p:cNvPr id="4407300" name="Picture 4" descr="G1647_Secret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45857" y="2514600"/>
            <a:ext cx="8541543" cy="1259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7018664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Advanced Encryption Standard (AES)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144875" cy="6967198"/>
          </a:xfrm>
        </p:spPr>
        <p:txBody>
          <a:bodyPr/>
          <a:lstStyle/>
          <a:p>
            <a:r>
              <a:rPr lang="en-US"/>
              <a:t>Symmetric key cypher with key sizes of 128, 192, and 256 bits</a:t>
            </a:r>
          </a:p>
          <a:p>
            <a:r>
              <a:rPr lang="en-US"/>
              <a:t>Block substitution-permutation cypher based on 128-bit block</a:t>
            </a:r>
          </a:p>
          <a:p>
            <a:r>
              <a:rPr lang="en-US"/>
              <a:t>Number of cycles based on key size</a:t>
            </a:r>
          </a:p>
          <a:p>
            <a:r>
              <a:rPr lang="en-US"/>
              <a:t>Each cycle performs multiple block substitutions, permutations, and mixing to encrypt the data</a:t>
            </a:r>
          </a:p>
          <a:p>
            <a:pPr marL="0" indent="0">
              <a:buNone/>
            </a:pPr>
            <a:r>
              <a:rPr lang="en-US">
                <a:hlinkClick r:id="rId4"/>
              </a:rPr>
              <a:t>ation of the algorithm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2286001" y="9913145"/>
            <a:ext cx="750095" cy="516731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127</a:t>
            </a:fld>
            <a:endParaRPr lang="en-US"/>
          </a:p>
        </p:txBody>
      </p:sp>
      <p:sp>
        <p:nvSpPr>
          <p:cNvPr id="5" name="teal key puzzle piece"/>
          <p:cNvSpPr>
            <a:spLocks/>
          </p:cNvSpPr>
          <p:nvPr/>
        </p:nvSpPr>
        <p:spPr bwMode="auto">
          <a:xfrm>
            <a:off x="9019449" y="6365628"/>
            <a:ext cx="1839051" cy="3578472"/>
          </a:xfrm>
          <a:custGeom>
            <a:avLst/>
            <a:gdLst>
              <a:gd name="T0" fmla="*/ 540 w 647"/>
              <a:gd name="T1" fmla="*/ 509 h 973"/>
              <a:gd name="T2" fmla="*/ 593 w 647"/>
              <a:gd name="T3" fmla="*/ 540 h 973"/>
              <a:gd name="T4" fmla="*/ 647 w 647"/>
              <a:gd name="T5" fmla="*/ 486 h 973"/>
              <a:gd name="T6" fmla="*/ 593 w 647"/>
              <a:gd name="T7" fmla="*/ 433 h 973"/>
              <a:gd name="T8" fmla="*/ 540 w 647"/>
              <a:gd name="T9" fmla="*/ 463 h 973"/>
              <a:gd name="T10" fmla="*/ 523 w 647"/>
              <a:gd name="T11" fmla="*/ 425 h 973"/>
              <a:gd name="T12" fmla="*/ 523 w 647"/>
              <a:gd name="T13" fmla="*/ 1 h 973"/>
              <a:gd name="T14" fmla="*/ 487 w 647"/>
              <a:gd name="T15" fmla="*/ 0 h 973"/>
              <a:gd name="T16" fmla="*/ 0 w 647"/>
              <a:gd name="T17" fmla="*/ 486 h 973"/>
              <a:gd name="T18" fmla="*/ 487 w 647"/>
              <a:gd name="T19" fmla="*/ 973 h 973"/>
              <a:gd name="T20" fmla="*/ 523 w 647"/>
              <a:gd name="T21" fmla="*/ 972 h 973"/>
              <a:gd name="T22" fmla="*/ 523 w 647"/>
              <a:gd name="T23" fmla="*/ 548 h 973"/>
              <a:gd name="T24" fmla="*/ 540 w 647"/>
              <a:gd name="T25" fmla="*/ 509 h 9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47" h="973">
                <a:moveTo>
                  <a:pt x="540" y="509"/>
                </a:moveTo>
                <a:cubicBezTo>
                  <a:pt x="557" y="509"/>
                  <a:pt x="555" y="540"/>
                  <a:pt x="593" y="540"/>
                </a:cubicBezTo>
                <a:cubicBezTo>
                  <a:pt x="623" y="540"/>
                  <a:pt x="647" y="516"/>
                  <a:pt x="647" y="486"/>
                </a:cubicBezTo>
                <a:cubicBezTo>
                  <a:pt x="647" y="457"/>
                  <a:pt x="623" y="433"/>
                  <a:pt x="593" y="433"/>
                </a:cubicBezTo>
                <a:cubicBezTo>
                  <a:pt x="555" y="433"/>
                  <a:pt x="557" y="463"/>
                  <a:pt x="540" y="463"/>
                </a:cubicBezTo>
                <a:cubicBezTo>
                  <a:pt x="521" y="463"/>
                  <a:pt x="523" y="425"/>
                  <a:pt x="523" y="425"/>
                </a:cubicBezTo>
                <a:cubicBezTo>
                  <a:pt x="523" y="1"/>
                  <a:pt x="523" y="1"/>
                  <a:pt x="523" y="1"/>
                </a:cubicBezTo>
                <a:cubicBezTo>
                  <a:pt x="511" y="0"/>
                  <a:pt x="499" y="0"/>
                  <a:pt x="487" y="0"/>
                </a:cubicBezTo>
                <a:cubicBezTo>
                  <a:pt x="218" y="0"/>
                  <a:pt x="0" y="218"/>
                  <a:pt x="0" y="486"/>
                </a:cubicBezTo>
                <a:cubicBezTo>
                  <a:pt x="0" y="755"/>
                  <a:pt x="218" y="973"/>
                  <a:pt x="487" y="973"/>
                </a:cubicBezTo>
                <a:cubicBezTo>
                  <a:pt x="499" y="973"/>
                  <a:pt x="511" y="973"/>
                  <a:pt x="523" y="972"/>
                </a:cubicBezTo>
                <a:cubicBezTo>
                  <a:pt x="523" y="548"/>
                  <a:pt x="523" y="548"/>
                  <a:pt x="523" y="548"/>
                </a:cubicBezTo>
                <a:cubicBezTo>
                  <a:pt x="523" y="548"/>
                  <a:pt x="521" y="509"/>
                  <a:pt x="540" y="509"/>
                </a:cubicBezTo>
                <a:close/>
              </a:path>
            </a:pathLst>
          </a:custGeom>
          <a:solidFill>
            <a:srgbClr val="0432FF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6" name="red key puzzle piece"/>
          <p:cNvSpPr>
            <a:spLocks/>
          </p:cNvSpPr>
          <p:nvPr/>
        </p:nvSpPr>
        <p:spPr bwMode="auto">
          <a:xfrm>
            <a:off x="10515600" y="6374940"/>
            <a:ext cx="2018148" cy="3569160"/>
          </a:xfrm>
          <a:custGeom>
            <a:avLst/>
            <a:gdLst>
              <a:gd name="T0" fmla="*/ 603 w 710"/>
              <a:gd name="T1" fmla="*/ 508 h 971"/>
              <a:gd name="T2" fmla="*/ 657 w 710"/>
              <a:gd name="T3" fmla="*/ 539 h 971"/>
              <a:gd name="T4" fmla="*/ 710 w 710"/>
              <a:gd name="T5" fmla="*/ 485 h 971"/>
              <a:gd name="T6" fmla="*/ 657 w 710"/>
              <a:gd name="T7" fmla="*/ 432 h 971"/>
              <a:gd name="T8" fmla="*/ 603 w 710"/>
              <a:gd name="T9" fmla="*/ 462 h 971"/>
              <a:gd name="T10" fmla="*/ 587 w 710"/>
              <a:gd name="T11" fmla="*/ 424 h 971"/>
              <a:gd name="T12" fmla="*/ 587 w 710"/>
              <a:gd name="T13" fmla="*/ 258 h 971"/>
              <a:gd name="T14" fmla="*/ 396 w 710"/>
              <a:gd name="T15" fmla="*/ 258 h 971"/>
              <a:gd name="T16" fmla="*/ 2 w 710"/>
              <a:gd name="T17" fmla="*/ 0 h 971"/>
              <a:gd name="T18" fmla="*/ 2 w 710"/>
              <a:gd name="T19" fmla="*/ 424 h 971"/>
              <a:gd name="T20" fmla="*/ 19 w 710"/>
              <a:gd name="T21" fmla="*/ 462 h 971"/>
              <a:gd name="T22" fmla="*/ 72 w 710"/>
              <a:gd name="T23" fmla="*/ 432 h 971"/>
              <a:gd name="T24" fmla="*/ 126 w 710"/>
              <a:gd name="T25" fmla="*/ 485 h 971"/>
              <a:gd name="T26" fmla="*/ 72 w 710"/>
              <a:gd name="T27" fmla="*/ 539 h 971"/>
              <a:gd name="T28" fmla="*/ 19 w 710"/>
              <a:gd name="T29" fmla="*/ 508 h 971"/>
              <a:gd name="T30" fmla="*/ 2 w 710"/>
              <a:gd name="T31" fmla="*/ 547 h 971"/>
              <a:gd name="T32" fmla="*/ 2 w 710"/>
              <a:gd name="T33" fmla="*/ 971 h 971"/>
              <a:gd name="T34" fmla="*/ 396 w 710"/>
              <a:gd name="T35" fmla="*/ 713 h 971"/>
              <a:gd name="T36" fmla="*/ 443 w 710"/>
              <a:gd name="T37" fmla="*/ 713 h 971"/>
              <a:gd name="T38" fmla="*/ 467 w 710"/>
              <a:gd name="T39" fmla="*/ 703 h 971"/>
              <a:gd name="T40" fmla="*/ 517 w 710"/>
              <a:gd name="T41" fmla="*/ 650 h 971"/>
              <a:gd name="T42" fmla="*/ 563 w 710"/>
              <a:gd name="T43" fmla="*/ 703 h 971"/>
              <a:gd name="T44" fmla="*/ 587 w 710"/>
              <a:gd name="T45" fmla="*/ 713 h 971"/>
              <a:gd name="T46" fmla="*/ 587 w 710"/>
              <a:gd name="T47" fmla="*/ 547 h 971"/>
              <a:gd name="T48" fmla="*/ 603 w 710"/>
              <a:gd name="T49" fmla="*/ 508 h 9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710" h="971">
                <a:moveTo>
                  <a:pt x="603" y="508"/>
                </a:moveTo>
                <a:cubicBezTo>
                  <a:pt x="621" y="508"/>
                  <a:pt x="619" y="539"/>
                  <a:pt x="657" y="539"/>
                </a:cubicBezTo>
                <a:cubicBezTo>
                  <a:pt x="686" y="539"/>
                  <a:pt x="710" y="515"/>
                  <a:pt x="710" y="485"/>
                </a:cubicBezTo>
                <a:cubicBezTo>
                  <a:pt x="710" y="456"/>
                  <a:pt x="686" y="432"/>
                  <a:pt x="657" y="432"/>
                </a:cubicBezTo>
                <a:cubicBezTo>
                  <a:pt x="619" y="432"/>
                  <a:pt x="621" y="462"/>
                  <a:pt x="603" y="462"/>
                </a:cubicBezTo>
                <a:cubicBezTo>
                  <a:pt x="585" y="462"/>
                  <a:pt x="587" y="424"/>
                  <a:pt x="587" y="424"/>
                </a:cubicBezTo>
                <a:cubicBezTo>
                  <a:pt x="587" y="258"/>
                  <a:pt x="587" y="258"/>
                  <a:pt x="587" y="258"/>
                </a:cubicBezTo>
                <a:cubicBezTo>
                  <a:pt x="396" y="258"/>
                  <a:pt x="396" y="258"/>
                  <a:pt x="396" y="258"/>
                </a:cubicBezTo>
                <a:cubicBezTo>
                  <a:pt x="320" y="114"/>
                  <a:pt x="173" y="13"/>
                  <a:pt x="2" y="0"/>
                </a:cubicBezTo>
                <a:cubicBezTo>
                  <a:pt x="2" y="424"/>
                  <a:pt x="2" y="424"/>
                  <a:pt x="2" y="424"/>
                </a:cubicBezTo>
                <a:cubicBezTo>
                  <a:pt x="2" y="424"/>
                  <a:pt x="0" y="462"/>
                  <a:pt x="19" y="462"/>
                </a:cubicBezTo>
                <a:cubicBezTo>
                  <a:pt x="36" y="462"/>
                  <a:pt x="34" y="432"/>
                  <a:pt x="72" y="432"/>
                </a:cubicBezTo>
                <a:cubicBezTo>
                  <a:pt x="102" y="432"/>
                  <a:pt x="126" y="456"/>
                  <a:pt x="126" y="485"/>
                </a:cubicBezTo>
                <a:cubicBezTo>
                  <a:pt x="126" y="515"/>
                  <a:pt x="102" y="539"/>
                  <a:pt x="72" y="539"/>
                </a:cubicBezTo>
                <a:cubicBezTo>
                  <a:pt x="34" y="539"/>
                  <a:pt x="36" y="508"/>
                  <a:pt x="19" y="508"/>
                </a:cubicBezTo>
                <a:cubicBezTo>
                  <a:pt x="0" y="508"/>
                  <a:pt x="2" y="547"/>
                  <a:pt x="2" y="547"/>
                </a:cubicBezTo>
                <a:cubicBezTo>
                  <a:pt x="2" y="971"/>
                  <a:pt x="2" y="971"/>
                  <a:pt x="2" y="971"/>
                </a:cubicBezTo>
                <a:cubicBezTo>
                  <a:pt x="173" y="958"/>
                  <a:pt x="320" y="857"/>
                  <a:pt x="396" y="713"/>
                </a:cubicBezTo>
                <a:cubicBezTo>
                  <a:pt x="443" y="713"/>
                  <a:pt x="443" y="713"/>
                  <a:pt x="443" y="713"/>
                </a:cubicBezTo>
                <a:cubicBezTo>
                  <a:pt x="452" y="713"/>
                  <a:pt x="461" y="710"/>
                  <a:pt x="467" y="703"/>
                </a:cubicBezTo>
                <a:cubicBezTo>
                  <a:pt x="517" y="650"/>
                  <a:pt x="517" y="650"/>
                  <a:pt x="517" y="650"/>
                </a:cubicBezTo>
                <a:cubicBezTo>
                  <a:pt x="563" y="703"/>
                  <a:pt x="563" y="703"/>
                  <a:pt x="563" y="703"/>
                </a:cubicBezTo>
                <a:cubicBezTo>
                  <a:pt x="569" y="709"/>
                  <a:pt x="578" y="713"/>
                  <a:pt x="587" y="713"/>
                </a:cubicBezTo>
                <a:cubicBezTo>
                  <a:pt x="587" y="547"/>
                  <a:pt x="587" y="547"/>
                  <a:pt x="587" y="547"/>
                </a:cubicBezTo>
                <a:cubicBezTo>
                  <a:pt x="587" y="547"/>
                  <a:pt x="585" y="508"/>
                  <a:pt x="603" y="508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7" name="green key puzzle piece"/>
          <p:cNvSpPr>
            <a:spLocks/>
          </p:cNvSpPr>
          <p:nvPr/>
        </p:nvSpPr>
        <p:spPr bwMode="auto">
          <a:xfrm>
            <a:off x="12155052" y="7315742"/>
            <a:ext cx="2018148" cy="1672851"/>
          </a:xfrm>
          <a:custGeom>
            <a:avLst/>
            <a:gdLst>
              <a:gd name="T0" fmla="*/ 603 w 710"/>
              <a:gd name="T1" fmla="*/ 250 h 455"/>
              <a:gd name="T2" fmla="*/ 656 w 710"/>
              <a:gd name="T3" fmla="*/ 281 h 455"/>
              <a:gd name="T4" fmla="*/ 710 w 710"/>
              <a:gd name="T5" fmla="*/ 227 h 455"/>
              <a:gd name="T6" fmla="*/ 656 w 710"/>
              <a:gd name="T7" fmla="*/ 174 h 455"/>
              <a:gd name="T8" fmla="*/ 603 w 710"/>
              <a:gd name="T9" fmla="*/ 204 h 455"/>
              <a:gd name="T10" fmla="*/ 586 w 710"/>
              <a:gd name="T11" fmla="*/ 166 h 455"/>
              <a:gd name="T12" fmla="*/ 586 w 710"/>
              <a:gd name="T13" fmla="*/ 0 h 455"/>
              <a:gd name="T14" fmla="*/ 2 w 710"/>
              <a:gd name="T15" fmla="*/ 0 h 455"/>
              <a:gd name="T16" fmla="*/ 2 w 710"/>
              <a:gd name="T17" fmla="*/ 166 h 455"/>
              <a:gd name="T18" fmla="*/ 18 w 710"/>
              <a:gd name="T19" fmla="*/ 204 h 455"/>
              <a:gd name="T20" fmla="*/ 72 w 710"/>
              <a:gd name="T21" fmla="*/ 174 h 455"/>
              <a:gd name="T22" fmla="*/ 125 w 710"/>
              <a:gd name="T23" fmla="*/ 227 h 455"/>
              <a:gd name="T24" fmla="*/ 72 w 710"/>
              <a:gd name="T25" fmla="*/ 281 h 455"/>
              <a:gd name="T26" fmla="*/ 18 w 710"/>
              <a:gd name="T27" fmla="*/ 250 h 455"/>
              <a:gd name="T28" fmla="*/ 2 w 710"/>
              <a:gd name="T29" fmla="*/ 289 h 455"/>
              <a:gd name="T30" fmla="*/ 2 w 710"/>
              <a:gd name="T31" fmla="*/ 455 h 455"/>
              <a:gd name="T32" fmla="*/ 3 w 710"/>
              <a:gd name="T33" fmla="*/ 455 h 455"/>
              <a:gd name="T34" fmla="*/ 89 w 710"/>
              <a:gd name="T35" fmla="*/ 455 h 455"/>
              <a:gd name="T36" fmla="*/ 112 w 710"/>
              <a:gd name="T37" fmla="*/ 446 h 455"/>
              <a:gd name="T38" fmla="*/ 143 w 710"/>
              <a:gd name="T39" fmla="*/ 416 h 455"/>
              <a:gd name="T40" fmla="*/ 184 w 710"/>
              <a:gd name="T41" fmla="*/ 448 h 455"/>
              <a:gd name="T42" fmla="*/ 205 w 710"/>
              <a:gd name="T43" fmla="*/ 455 h 455"/>
              <a:gd name="T44" fmla="*/ 370 w 710"/>
              <a:gd name="T45" fmla="*/ 455 h 455"/>
              <a:gd name="T46" fmla="*/ 391 w 710"/>
              <a:gd name="T47" fmla="*/ 449 h 455"/>
              <a:gd name="T48" fmla="*/ 476 w 710"/>
              <a:gd name="T49" fmla="*/ 385 h 455"/>
              <a:gd name="T50" fmla="*/ 562 w 710"/>
              <a:gd name="T51" fmla="*/ 449 h 455"/>
              <a:gd name="T52" fmla="*/ 582 w 710"/>
              <a:gd name="T53" fmla="*/ 455 h 455"/>
              <a:gd name="T54" fmla="*/ 586 w 710"/>
              <a:gd name="T55" fmla="*/ 455 h 455"/>
              <a:gd name="T56" fmla="*/ 586 w 710"/>
              <a:gd name="T57" fmla="*/ 289 h 455"/>
              <a:gd name="T58" fmla="*/ 603 w 710"/>
              <a:gd name="T59" fmla="*/ 250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710" h="455">
                <a:moveTo>
                  <a:pt x="603" y="250"/>
                </a:moveTo>
                <a:cubicBezTo>
                  <a:pt x="620" y="250"/>
                  <a:pt x="618" y="281"/>
                  <a:pt x="656" y="281"/>
                </a:cubicBezTo>
                <a:cubicBezTo>
                  <a:pt x="686" y="281"/>
                  <a:pt x="710" y="257"/>
                  <a:pt x="710" y="227"/>
                </a:cubicBezTo>
                <a:cubicBezTo>
                  <a:pt x="710" y="198"/>
                  <a:pt x="686" y="174"/>
                  <a:pt x="656" y="174"/>
                </a:cubicBezTo>
                <a:cubicBezTo>
                  <a:pt x="618" y="174"/>
                  <a:pt x="620" y="204"/>
                  <a:pt x="603" y="204"/>
                </a:cubicBezTo>
                <a:cubicBezTo>
                  <a:pt x="585" y="204"/>
                  <a:pt x="586" y="166"/>
                  <a:pt x="586" y="166"/>
                </a:cubicBezTo>
                <a:cubicBezTo>
                  <a:pt x="586" y="0"/>
                  <a:pt x="586" y="0"/>
                  <a:pt x="586" y="0"/>
                </a:cubicBezTo>
                <a:cubicBezTo>
                  <a:pt x="2" y="0"/>
                  <a:pt x="2" y="0"/>
                  <a:pt x="2" y="0"/>
                </a:cubicBezTo>
                <a:cubicBezTo>
                  <a:pt x="2" y="166"/>
                  <a:pt x="2" y="166"/>
                  <a:pt x="2" y="166"/>
                </a:cubicBezTo>
                <a:cubicBezTo>
                  <a:pt x="2" y="166"/>
                  <a:pt x="0" y="204"/>
                  <a:pt x="18" y="204"/>
                </a:cubicBezTo>
                <a:cubicBezTo>
                  <a:pt x="36" y="204"/>
                  <a:pt x="34" y="174"/>
                  <a:pt x="72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2" y="281"/>
                </a:cubicBezTo>
                <a:cubicBezTo>
                  <a:pt x="34" y="281"/>
                  <a:pt x="36" y="250"/>
                  <a:pt x="18" y="250"/>
                </a:cubicBezTo>
                <a:cubicBezTo>
                  <a:pt x="0" y="250"/>
                  <a:pt x="2" y="289"/>
                  <a:pt x="2" y="289"/>
                </a:cubicBezTo>
                <a:cubicBezTo>
                  <a:pt x="2" y="455"/>
                  <a:pt x="2" y="455"/>
                  <a:pt x="2" y="455"/>
                </a:cubicBezTo>
                <a:cubicBezTo>
                  <a:pt x="2" y="455"/>
                  <a:pt x="2" y="455"/>
                  <a:pt x="3" y="455"/>
                </a:cubicBezTo>
                <a:cubicBezTo>
                  <a:pt x="89" y="455"/>
                  <a:pt x="89" y="455"/>
                  <a:pt x="89" y="455"/>
                </a:cubicBezTo>
                <a:cubicBezTo>
                  <a:pt x="98" y="455"/>
                  <a:pt x="106" y="452"/>
                  <a:pt x="112" y="446"/>
                </a:cubicBezTo>
                <a:cubicBezTo>
                  <a:pt x="143" y="416"/>
                  <a:pt x="143" y="416"/>
                  <a:pt x="143" y="416"/>
                </a:cubicBezTo>
                <a:cubicBezTo>
                  <a:pt x="184" y="448"/>
                  <a:pt x="184" y="448"/>
                  <a:pt x="184" y="448"/>
                </a:cubicBezTo>
                <a:cubicBezTo>
                  <a:pt x="189" y="453"/>
                  <a:pt x="197" y="455"/>
                  <a:pt x="205" y="455"/>
                </a:cubicBezTo>
                <a:cubicBezTo>
                  <a:pt x="370" y="455"/>
                  <a:pt x="370" y="455"/>
                  <a:pt x="370" y="455"/>
                </a:cubicBezTo>
                <a:cubicBezTo>
                  <a:pt x="378" y="455"/>
                  <a:pt x="385" y="453"/>
                  <a:pt x="391" y="449"/>
                </a:cubicBezTo>
                <a:cubicBezTo>
                  <a:pt x="476" y="385"/>
                  <a:pt x="476" y="385"/>
                  <a:pt x="476" y="385"/>
                </a:cubicBezTo>
                <a:cubicBezTo>
                  <a:pt x="562" y="449"/>
                  <a:pt x="562" y="449"/>
                  <a:pt x="562" y="449"/>
                </a:cubicBezTo>
                <a:cubicBezTo>
                  <a:pt x="568" y="453"/>
                  <a:pt x="575" y="455"/>
                  <a:pt x="582" y="455"/>
                </a:cubicBezTo>
                <a:cubicBezTo>
                  <a:pt x="586" y="455"/>
                  <a:pt x="586" y="455"/>
                  <a:pt x="586" y="455"/>
                </a:cubicBezTo>
                <a:cubicBezTo>
                  <a:pt x="586" y="289"/>
                  <a:pt x="586" y="289"/>
                  <a:pt x="586" y="289"/>
                </a:cubicBezTo>
                <a:cubicBezTo>
                  <a:pt x="586" y="289"/>
                  <a:pt x="585" y="250"/>
                  <a:pt x="603" y="250"/>
                </a:cubicBezTo>
                <a:close/>
              </a:path>
            </a:pathLst>
          </a:custGeom>
          <a:solidFill>
            <a:srgbClr val="FFFF00"/>
          </a:solidFill>
          <a:ln>
            <a:solidFill>
              <a:schemeClr val="bg2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8" name="blue key piece"/>
          <p:cNvSpPr>
            <a:spLocks/>
          </p:cNvSpPr>
          <p:nvPr/>
        </p:nvSpPr>
        <p:spPr bwMode="auto">
          <a:xfrm>
            <a:off x="13817646" y="7315742"/>
            <a:ext cx="1841454" cy="1672851"/>
          </a:xfrm>
          <a:custGeom>
            <a:avLst/>
            <a:gdLst>
              <a:gd name="T0" fmla="*/ 636 w 648"/>
              <a:gd name="T1" fmla="*/ 208 h 455"/>
              <a:gd name="T2" fmla="*/ 355 w 648"/>
              <a:gd name="T3" fmla="*/ 6 h 455"/>
              <a:gd name="T4" fmla="*/ 335 w 648"/>
              <a:gd name="T5" fmla="*/ 0 h 455"/>
              <a:gd name="T6" fmla="*/ 1 w 648"/>
              <a:gd name="T7" fmla="*/ 0 h 455"/>
              <a:gd name="T8" fmla="*/ 1 w 648"/>
              <a:gd name="T9" fmla="*/ 166 h 455"/>
              <a:gd name="T10" fmla="*/ 18 w 648"/>
              <a:gd name="T11" fmla="*/ 204 h 455"/>
              <a:gd name="T12" fmla="*/ 71 w 648"/>
              <a:gd name="T13" fmla="*/ 174 h 455"/>
              <a:gd name="T14" fmla="*/ 125 w 648"/>
              <a:gd name="T15" fmla="*/ 227 h 455"/>
              <a:gd name="T16" fmla="*/ 71 w 648"/>
              <a:gd name="T17" fmla="*/ 281 h 455"/>
              <a:gd name="T18" fmla="*/ 18 w 648"/>
              <a:gd name="T19" fmla="*/ 250 h 455"/>
              <a:gd name="T20" fmla="*/ 1 w 648"/>
              <a:gd name="T21" fmla="*/ 289 h 455"/>
              <a:gd name="T22" fmla="*/ 1 w 648"/>
              <a:gd name="T23" fmla="*/ 455 h 455"/>
              <a:gd name="T24" fmla="*/ 82 w 648"/>
              <a:gd name="T25" fmla="*/ 455 h 455"/>
              <a:gd name="T26" fmla="*/ 103 w 648"/>
              <a:gd name="T27" fmla="*/ 448 h 455"/>
              <a:gd name="T28" fmla="*/ 147 w 648"/>
              <a:gd name="T29" fmla="*/ 414 h 455"/>
              <a:gd name="T30" fmla="*/ 204 w 648"/>
              <a:gd name="T31" fmla="*/ 450 h 455"/>
              <a:gd name="T32" fmla="*/ 223 w 648"/>
              <a:gd name="T33" fmla="*/ 455 h 455"/>
              <a:gd name="T34" fmla="*/ 273 w 648"/>
              <a:gd name="T35" fmla="*/ 455 h 455"/>
              <a:gd name="T36" fmla="*/ 299 w 648"/>
              <a:gd name="T37" fmla="*/ 443 h 455"/>
              <a:gd name="T38" fmla="*/ 346 w 648"/>
              <a:gd name="T39" fmla="*/ 378 h 455"/>
              <a:gd name="T40" fmla="*/ 398 w 648"/>
              <a:gd name="T41" fmla="*/ 399 h 455"/>
              <a:gd name="T42" fmla="*/ 431 w 648"/>
              <a:gd name="T43" fmla="*/ 395 h 455"/>
              <a:gd name="T44" fmla="*/ 636 w 648"/>
              <a:gd name="T45" fmla="*/ 250 h 455"/>
              <a:gd name="T46" fmla="*/ 648 w 648"/>
              <a:gd name="T47" fmla="*/ 229 h 455"/>
              <a:gd name="T48" fmla="*/ 636 w 648"/>
              <a:gd name="T49" fmla="*/ 208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648" h="455">
                <a:moveTo>
                  <a:pt x="636" y="208"/>
                </a:moveTo>
                <a:cubicBezTo>
                  <a:pt x="355" y="6"/>
                  <a:pt x="355" y="6"/>
                  <a:pt x="355" y="6"/>
                </a:cubicBezTo>
                <a:cubicBezTo>
                  <a:pt x="349" y="2"/>
                  <a:pt x="342" y="0"/>
                  <a:pt x="335" y="0"/>
                </a:cubicBezTo>
                <a:cubicBezTo>
                  <a:pt x="1" y="0"/>
                  <a:pt x="1" y="0"/>
                  <a:pt x="1" y="0"/>
                </a:cubicBezTo>
                <a:cubicBezTo>
                  <a:pt x="1" y="166"/>
                  <a:pt x="1" y="166"/>
                  <a:pt x="1" y="166"/>
                </a:cubicBezTo>
                <a:cubicBezTo>
                  <a:pt x="1" y="166"/>
                  <a:pt x="0" y="204"/>
                  <a:pt x="18" y="204"/>
                </a:cubicBezTo>
                <a:cubicBezTo>
                  <a:pt x="35" y="204"/>
                  <a:pt x="33" y="174"/>
                  <a:pt x="71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1" y="281"/>
                </a:cubicBezTo>
                <a:cubicBezTo>
                  <a:pt x="33" y="281"/>
                  <a:pt x="35" y="250"/>
                  <a:pt x="18" y="250"/>
                </a:cubicBezTo>
                <a:cubicBezTo>
                  <a:pt x="0" y="250"/>
                  <a:pt x="1" y="289"/>
                  <a:pt x="1" y="289"/>
                </a:cubicBezTo>
                <a:cubicBezTo>
                  <a:pt x="1" y="455"/>
                  <a:pt x="1" y="455"/>
                  <a:pt x="1" y="455"/>
                </a:cubicBezTo>
                <a:cubicBezTo>
                  <a:pt x="82" y="455"/>
                  <a:pt x="82" y="455"/>
                  <a:pt x="82" y="455"/>
                </a:cubicBezTo>
                <a:cubicBezTo>
                  <a:pt x="90" y="455"/>
                  <a:pt x="97" y="453"/>
                  <a:pt x="103" y="448"/>
                </a:cubicBezTo>
                <a:cubicBezTo>
                  <a:pt x="147" y="414"/>
                  <a:pt x="147" y="414"/>
                  <a:pt x="147" y="414"/>
                </a:cubicBezTo>
                <a:cubicBezTo>
                  <a:pt x="204" y="450"/>
                  <a:pt x="204" y="450"/>
                  <a:pt x="204" y="450"/>
                </a:cubicBezTo>
                <a:cubicBezTo>
                  <a:pt x="210" y="453"/>
                  <a:pt x="216" y="455"/>
                  <a:pt x="223" y="455"/>
                </a:cubicBezTo>
                <a:cubicBezTo>
                  <a:pt x="273" y="455"/>
                  <a:pt x="273" y="455"/>
                  <a:pt x="273" y="455"/>
                </a:cubicBezTo>
                <a:cubicBezTo>
                  <a:pt x="283" y="455"/>
                  <a:pt x="293" y="450"/>
                  <a:pt x="299" y="443"/>
                </a:cubicBezTo>
                <a:cubicBezTo>
                  <a:pt x="346" y="378"/>
                  <a:pt x="346" y="378"/>
                  <a:pt x="346" y="378"/>
                </a:cubicBezTo>
                <a:cubicBezTo>
                  <a:pt x="398" y="399"/>
                  <a:pt x="398" y="399"/>
                  <a:pt x="398" y="399"/>
                </a:cubicBezTo>
                <a:cubicBezTo>
                  <a:pt x="409" y="403"/>
                  <a:pt x="422" y="402"/>
                  <a:pt x="431" y="395"/>
                </a:cubicBezTo>
                <a:cubicBezTo>
                  <a:pt x="636" y="250"/>
                  <a:pt x="636" y="250"/>
                  <a:pt x="636" y="250"/>
                </a:cubicBezTo>
                <a:cubicBezTo>
                  <a:pt x="643" y="245"/>
                  <a:pt x="648" y="237"/>
                  <a:pt x="648" y="229"/>
                </a:cubicBezTo>
                <a:cubicBezTo>
                  <a:pt x="648" y="221"/>
                  <a:pt x="643" y="213"/>
                  <a:pt x="636" y="208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Public Key Cryptography</a:t>
            </a:r>
          </a:p>
        </p:txBody>
      </p:sp>
      <p:sp>
        <p:nvSpPr>
          <p:cNvPr id="44093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Two mathematically related keys: one public, one private</a:t>
            </a:r>
          </a:p>
          <a:p>
            <a:pPr lvl="1"/>
            <a:r>
              <a:rPr lang="en-US" altLang="en-US"/>
              <a:t>One key is used for encryption and the other for decryption</a:t>
            </a:r>
          </a:p>
          <a:p>
            <a:pPr lvl="1"/>
            <a:r>
              <a:rPr lang="en-US" altLang="en-US"/>
              <a:t>Examples: RSA, Diffie-Hellman, elliptic curve (ECC)</a:t>
            </a:r>
          </a:p>
          <a:p>
            <a:pPr lvl="1"/>
            <a:r>
              <a:rPr lang="en-US" altLang="en-US"/>
              <a:t>Also called asymmetric cryptography</a:t>
            </a:r>
          </a:p>
          <a:p>
            <a:r>
              <a:rPr lang="en-US" altLang="en-US"/>
              <a:t>VPN functions </a:t>
            </a:r>
          </a:p>
          <a:p>
            <a:pPr lvl="1"/>
            <a:r>
              <a:rPr lang="en-US" altLang="en-US"/>
              <a:t>Identity verification</a:t>
            </a:r>
          </a:p>
          <a:p>
            <a:pPr lvl="1"/>
            <a:r>
              <a:rPr lang="en-US" altLang="en-US"/>
              <a:t>Secret key exchange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9348" name="Picture 4" descr="G1648_Public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14900" y="2743201"/>
            <a:ext cx="8555832" cy="129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1290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RSA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err="1"/>
              <a:t>Diffie-Hellman (1976) started public key cryptography, for exchanging keys</a:t>
            </a:r>
          </a:p>
          <a:p>
            <a:r>
              <a:rPr lang="en-US"/>
              <a:t>RSA was the first practical system for both encryption and signatures</a:t>
            </a:r>
          </a:p>
          <a:p>
            <a:r>
              <a:rPr lang="en-US"/>
              <a:t>Developed at MIT in 1977</a:t>
            </a:r>
          </a:p>
          <a:p>
            <a:r>
              <a:rPr lang="en-US"/>
              <a:t>Based on creating a public key from the product of two large prime numbers</a:t>
            </a:r>
          </a:p>
          <a:p>
            <a:r>
              <a:rPr lang="en-US"/>
              <a:t>2048-bit keys are today's minimum</a:t>
            </a:r>
          </a:p>
          <a:p>
            <a:r>
              <a:rPr lang="en-US"/>
              <a:t>Used in certificates </a:t>
            </a:r>
          </a:p>
          <a:p>
            <a:r>
              <a:rPr lang="en-US"/>
              <a:t>Being replaced by elliptic-curve cryptography (ECC): 256-bit keys of similar strength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851222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 to TLS: The Same Three Tools in Every Web Session</a:t>
            </a:r>
          </a:p>
        </p:txBody>
      </p:sp>
      <p:sp>
        <p:nvSpPr>
          <p:cNvPr id="3" name="Tool 1"/>
          <p:cNvSpPr/>
          <p:nvPr/>
        </p:nvSpPr>
        <p:spPr>
          <a:xfrm>
            <a:off x="1257300" y="2697480"/>
            <a:ext cx="5029200" cy="3291840"/>
          </a:xfrm>
          <a:prstGeom prst="roundRect">
            <a:avLst/>
          </a:prstGeom>
          <a:solidFill>
            <a:srgbClr val="D9E2F3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ool 1 name"/>
          <p:cNvSpPr txBox="1"/>
          <p:nvPr/>
        </p:nvSpPr>
        <p:spPr>
          <a:xfrm>
            <a:off x="1531620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5" name="Tool 1 role"/>
          <p:cNvSpPr txBox="1"/>
          <p:nvPr/>
        </p:nvSpPr>
        <p:spPr>
          <a:xfrm>
            <a:off x="1531620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introduction</a:t>
            </a:r>
          </a:p>
        </p:txBody>
      </p:sp>
      <p:sp>
        <p:nvSpPr>
          <p:cNvPr id="6" name="Tool 1 desc"/>
          <p:cNvSpPr txBox="1"/>
          <p:nvPr/>
        </p:nvSpPr>
        <p:spPr>
          <a:xfrm>
            <a:off x="1531620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Proves the server is who it claims (certificate) and lets both sides agree on a secret key without sending it</a:t>
            </a:r>
          </a:p>
        </p:txBody>
      </p:sp>
      <p:sp>
        <p:nvSpPr>
          <p:cNvPr id="7" name="Tool 2"/>
          <p:cNvSpPr/>
          <p:nvPr/>
        </p:nvSpPr>
        <p:spPr>
          <a:xfrm>
            <a:off x="6633972" y="2697480"/>
            <a:ext cx="5029200" cy="3291840"/>
          </a:xfrm>
          <a:prstGeom prst="roundRect">
            <a:avLst/>
          </a:prstGeom>
          <a:solidFill>
            <a:srgbClr val="EEF2F8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" name="Tool 2 name"/>
          <p:cNvSpPr txBox="1"/>
          <p:nvPr/>
        </p:nvSpPr>
        <p:spPr>
          <a:xfrm>
            <a:off x="6908292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</a:t>
            </a:r>
          </a:p>
        </p:txBody>
      </p:sp>
      <p:sp>
        <p:nvSpPr>
          <p:cNvPr id="9" name="Tool 2 role"/>
          <p:cNvSpPr txBox="1"/>
          <p:nvPr/>
        </p:nvSpPr>
        <p:spPr>
          <a:xfrm>
            <a:off x="6908292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conversation</a:t>
            </a:r>
          </a:p>
        </p:txBody>
      </p:sp>
      <p:sp>
        <p:nvSpPr>
          <p:cNvPr id="10" name="Tool 2 desc"/>
          <p:cNvSpPr txBox="1"/>
          <p:nvPr/>
        </p:nvSpPr>
        <p:spPr>
          <a:xfrm>
            <a:off x="6908292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Encrypts every byte of the session with that shared key — fast enough for video and file transfers</a:t>
            </a:r>
          </a:p>
        </p:txBody>
      </p:sp>
      <p:sp>
        <p:nvSpPr>
          <p:cNvPr id="11" name="Tool 3"/>
          <p:cNvSpPr/>
          <p:nvPr/>
        </p:nvSpPr>
        <p:spPr>
          <a:xfrm>
            <a:off x="12010644" y="2697480"/>
            <a:ext cx="5029200" cy="3291840"/>
          </a:xfrm>
          <a:prstGeom prst="roundRect">
            <a:avLst/>
          </a:prstGeom>
          <a:solidFill>
            <a:srgbClr val="F2F2F2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ool 3 name"/>
          <p:cNvSpPr txBox="1"/>
          <p:nvPr/>
        </p:nvSpPr>
        <p:spPr>
          <a:xfrm>
            <a:off x="12284964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</a:t>
            </a:r>
          </a:p>
        </p:txBody>
      </p:sp>
      <p:sp>
        <p:nvSpPr>
          <p:cNvPr id="13" name="Tool 3 role"/>
          <p:cNvSpPr txBox="1"/>
          <p:nvPr/>
        </p:nvSpPr>
        <p:spPr>
          <a:xfrm>
            <a:off x="12284964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seal</a:t>
            </a:r>
          </a:p>
        </p:txBody>
      </p:sp>
      <p:sp>
        <p:nvSpPr>
          <p:cNvPr id="14" name="Tool 3 desc"/>
          <p:cNvSpPr txBox="1"/>
          <p:nvPr/>
        </p:nvSpPr>
        <p:spPr>
          <a:xfrm>
            <a:off x="12284964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Fingerprints that reveal any tampering, and a part of every signature</a:t>
            </a:r>
          </a:p>
        </p:txBody>
      </p:sp>
      <p:sp>
        <p:nvSpPr>
          <p:cNvPr id="15" name="Timeline heading"/>
          <p:cNvSpPr txBox="1"/>
          <p:nvPr/>
        </p:nvSpPr>
        <p:spPr>
          <a:xfrm>
            <a:off x="1257300" y="6355080"/>
            <a:ext cx="15773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web session, start to finish</a:t>
            </a:r>
          </a:p>
        </p:txBody>
      </p:sp>
      <p:sp>
        <p:nvSpPr>
          <p:cNvPr id="16" name="Handshake bar"/>
          <p:cNvSpPr/>
          <p:nvPr/>
        </p:nvSpPr>
        <p:spPr>
          <a:xfrm>
            <a:off x="1257300" y="6903720"/>
            <a:ext cx="2926080" cy="685800"/>
          </a:xfrm>
          <a:prstGeom prst="rect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Handshake</a:t>
            </a:r>
          </a:p>
        </p:txBody>
      </p:sp>
      <p:sp>
        <p:nvSpPr>
          <p:cNvPr id="17" name="Session bar"/>
          <p:cNvSpPr/>
          <p:nvPr/>
        </p:nvSpPr>
        <p:spPr>
          <a:xfrm>
            <a:off x="4183380" y="6903720"/>
            <a:ext cx="12847320" cy="685800"/>
          </a:xfrm>
          <a:prstGeom prst="rect">
            <a:avLst/>
          </a:prstGeom>
          <a:solidFill>
            <a:srgbClr val="EEF2F8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session</a:t>
            </a:r>
          </a:p>
        </p:txBody>
      </p:sp>
      <p:sp>
        <p:nvSpPr>
          <p:cNvPr id="18" name="Handshake note"/>
          <p:cNvSpPr txBox="1"/>
          <p:nvPr/>
        </p:nvSpPr>
        <p:spPr>
          <a:xfrm>
            <a:off x="1257300" y="7726679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key: a few milliseconds</a:t>
            </a:r>
          </a:p>
        </p:txBody>
      </p:sp>
      <p:sp>
        <p:nvSpPr>
          <p:cNvPr id="19" name="Session note"/>
          <p:cNvSpPr txBox="1"/>
          <p:nvPr/>
        </p:nvSpPr>
        <p:spPr>
          <a:xfrm>
            <a:off x="4183380" y="7726679"/>
            <a:ext cx="1284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 + hash checks on every packet, for as long as the session lasts</a:t>
            </a:r>
          </a:p>
        </p:txBody>
      </p:sp>
      <p:sp>
        <p:nvSpPr>
          <p:cNvPr id="20" name="Takeaway panel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akeaway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Slow, clever math sets up a fast, simple key. VPNs, SD-WAN tunnels and encrypted email work the same way.</a:t>
            </a:r>
          </a:p>
        </p:txBody>
      </p:sp>
    </p:spTree>
    <p:extLst>
      <p:ext uri="{BB962C8B-B14F-4D97-AF65-F5344CB8AC3E}">
        <p14:creationId xmlns:p14="http://schemas.microsoft.com/office/powerpoint/2010/main" val="145739872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Certificates: Proving Who You’re Talking To</a:t>
            </a:r>
          </a:p>
        </p:txBody>
      </p:sp>
      <p:sp>
        <p:nvSpPr>
          <p:cNvPr id="3" name="Chain heading"/>
          <p:cNvSpPr txBox="1"/>
          <p:nvPr/>
        </p:nvSpPr>
        <p:spPr>
          <a:xfrm>
            <a:off x="1257300" y="260604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chain of trust</a:t>
            </a:r>
          </a:p>
        </p:txBody>
      </p:sp>
      <p:sp>
        <p:nvSpPr>
          <p:cNvPr id="4" name="Chain card 1"/>
          <p:cNvSpPr/>
          <p:nvPr/>
        </p:nvSpPr>
        <p:spPr>
          <a:xfrm>
            <a:off x="1257300" y="3200400"/>
            <a:ext cx="6035040" cy="1325880"/>
          </a:xfrm>
          <a:prstGeom prst="roundRect">
            <a:avLst/>
          </a:prstGeom>
          <a:solidFill>
            <a:srgbClr val="D9E2F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hain text 1"/>
          <p:cNvSpPr txBox="1"/>
          <p:nvPr/>
        </p:nvSpPr>
        <p:spPr>
          <a:xfrm>
            <a:off x="1577340" y="340156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certificate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into every browser, phone and computer</a:t>
            </a:r>
          </a:p>
        </p:txBody>
      </p:sp>
      <p:pic>
        <p:nvPicPr>
          <p:cNvPr id="6" name="Chain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3515868"/>
            <a:ext cx="685800" cy="685800"/>
          </a:xfrm>
          <a:prstGeom prst="rect">
            <a:avLst/>
          </a:prstGeom>
        </p:spPr>
      </p:pic>
      <p:sp>
        <p:nvSpPr>
          <p:cNvPr id="7" name="Chain arrow 1"/>
          <p:cNvSpPr/>
          <p:nvPr/>
        </p:nvSpPr>
        <p:spPr>
          <a:xfrm>
            <a:off x="1805940" y="457200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Vouches 1"/>
          <p:cNvSpPr txBox="1"/>
          <p:nvPr/>
        </p:nvSpPr>
        <p:spPr>
          <a:xfrm>
            <a:off x="2400300" y="46177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9" name="Chain card 2"/>
          <p:cNvSpPr/>
          <p:nvPr/>
        </p:nvSpPr>
        <p:spPr>
          <a:xfrm>
            <a:off x="1257300" y="5074920"/>
            <a:ext cx="6035040" cy="13258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Chain text 2"/>
          <p:cNvSpPr txBox="1"/>
          <p:nvPr/>
        </p:nvSpPr>
        <p:spPr>
          <a:xfrm>
            <a:off x="1577340" y="527608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Intermediate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Issued and vouched for by the root</a:t>
            </a:r>
          </a:p>
        </p:txBody>
      </p:sp>
      <p:pic>
        <p:nvPicPr>
          <p:cNvPr id="11" name="Chain icon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5390388"/>
            <a:ext cx="685800" cy="685800"/>
          </a:xfrm>
          <a:prstGeom prst="rect">
            <a:avLst/>
          </a:prstGeom>
        </p:spPr>
      </p:pic>
      <p:sp>
        <p:nvSpPr>
          <p:cNvPr id="12" name="Chain arrow 2"/>
          <p:cNvSpPr/>
          <p:nvPr/>
        </p:nvSpPr>
        <p:spPr>
          <a:xfrm>
            <a:off x="1805940" y="644652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Vouches 2"/>
          <p:cNvSpPr txBox="1"/>
          <p:nvPr/>
        </p:nvSpPr>
        <p:spPr>
          <a:xfrm>
            <a:off x="2400300" y="64922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14" name="Chain card 3"/>
          <p:cNvSpPr/>
          <p:nvPr/>
        </p:nvSpPr>
        <p:spPr>
          <a:xfrm>
            <a:off x="1257300" y="6949440"/>
            <a:ext cx="603504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Chain text 3"/>
          <p:cNvSpPr txBox="1"/>
          <p:nvPr/>
        </p:nvSpPr>
        <p:spPr>
          <a:xfrm>
            <a:off x="1577340" y="7150607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certificate, with its name and an expiry date</a:t>
            </a:r>
          </a:p>
        </p:txBody>
      </p:sp>
      <p:pic>
        <p:nvPicPr>
          <p:cNvPr id="16" name="Chain icon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7264908"/>
            <a:ext cx="685800" cy="685800"/>
          </a:xfrm>
          <a:prstGeom prst="rect">
            <a:avLst/>
          </a:prstGeom>
        </p:spPr>
      </p:pic>
      <p:sp>
        <p:nvSpPr>
          <p:cNvPr id="17" name="Checks heading"/>
          <p:cNvSpPr txBox="1"/>
          <p:nvPr/>
        </p:nvSpPr>
        <p:spPr>
          <a:xfrm>
            <a:off x="8001000" y="260604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the padlock appears, the browser checks:</a:t>
            </a:r>
          </a:p>
        </p:txBody>
      </p:sp>
      <p:sp>
        <p:nvSpPr>
          <p:cNvPr id="18" name="Check 1 marker"/>
          <p:cNvSpPr/>
          <p:nvPr/>
        </p:nvSpPr>
        <p:spPr>
          <a:xfrm>
            <a:off x="8001000" y="324612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9" name="Check 1"/>
          <p:cNvSpPr txBox="1"/>
          <p:nvPr/>
        </p:nvSpPr>
        <p:spPr>
          <a:xfrm>
            <a:off x="8641080" y="320040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Signed by an authority it trusts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Follows the chain back to a root it already knows</a:t>
            </a:r>
          </a:p>
        </p:txBody>
      </p:sp>
      <p:sp>
        <p:nvSpPr>
          <p:cNvPr id="20" name="Check 2 marker"/>
          <p:cNvSpPr/>
          <p:nvPr/>
        </p:nvSpPr>
        <p:spPr>
          <a:xfrm>
            <a:off x="8001000" y="411480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1" name="Check 2"/>
          <p:cNvSpPr txBox="1"/>
          <p:nvPr/>
        </p:nvSpPr>
        <p:spPr>
          <a:xfrm>
            <a:off x="8641080" y="406908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name matches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certificate says examplebank.com, and that is where you are</a:t>
            </a:r>
          </a:p>
        </p:txBody>
      </p:sp>
      <p:sp>
        <p:nvSpPr>
          <p:cNvPr id="22" name="Check 3 marker"/>
          <p:cNvSpPr/>
          <p:nvPr/>
        </p:nvSpPr>
        <p:spPr>
          <a:xfrm>
            <a:off x="8001000" y="498348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3" name="Check 3"/>
          <p:cNvSpPr txBox="1"/>
          <p:nvPr/>
        </p:nvSpPr>
        <p:spPr>
          <a:xfrm>
            <a:off x="8641080" y="493776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valid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expired, not revoked</a:t>
            </a:r>
          </a:p>
        </p:txBody>
      </p:sp>
      <p:sp>
        <p:nvSpPr>
          <p:cNvPr id="24" name="Check 4 marker"/>
          <p:cNvSpPr/>
          <p:nvPr/>
        </p:nvSpPr>
        <p:spPr>
          <a:xfrm>
            <a:off x="8001000" y="5852159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5" name="Check 4"/>
          <p:cNvSpPr txBox="1"/>
          <p:nvPr/>
        </p:nvSpPr>
        <p:spPr>
          <a:xfrm>
            <a:off x="8641080" y="580644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Then: encryption starts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Only after these checks does TLS set up the encrypted session</a:t>
            </a:r>
          </a:p>
        </p:txBody>
      </p:sp>
      <p:sp>
        <p:nvSpPr>
          <p:cNvPr id="26" name="Analogy panel"/>
          <p:cNvSpPr/>
          <p:nvPr/>
        </p:nvSpPr>
        <p:spPr>
          <a:xfrm>
            <a:off x="8001000" y="6812280"/>
            <a:ext cx="9006840" cy="9601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Analogy"/>
          <p:cNvSpPr txBox="1"/>
          <p:nvPr/>
        </p:nvSpPr>
        <p:spPr>
          <a:xfrm>
            <a:off x="8275320" y="6903720"/>
            <a:ext cx="8458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Like a passport: issued by an authority everyone trusts, with a name and an expiry date — and worthless if anyone could print one.</a:t>
            </a:r>
          </a:p>
        </p:txBody>
      </p:sp>
      <p:sp>
        <p:nvSpPr>
          <p:cNvPr id="28" name="Where it goes wrong"/>
          <p:cNvSpPr txBox="1"/>
          <p:nvPr/>
        </p:nvSpPr>
        <p:spPr>
          <a:xfrm>
            <a:off x="8001000" y="8001000"/>
            <a:ext cx="9006840" cy="1256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it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go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wrong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 can take a website, app or VPN down overnight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lifetimes are shrinking: 200 days now, 47 days by 2029 — renewal has to be automated</a:t>
            </a:r>
          </a:p>
        </p:txBody>
      </p:sp>
    </p:spTree>
    <p:extLst>
      <p:ext uri="{BB962C8B-B14F-4D97-AF65-F5344CB8AC3E}">
        <p14:creationId xmlns:p14="http://schemas.microsoft.com/office/powerpoint/2010/main" val="14441660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Public Key Infrastructure: Who Vouches for Whom</a:t>
            </a:r>
          </a:p>
        </p:txBody>
      </p:sp>
      <p:sp>
        <p:nvSpPr>
          <p:cNvPr id="3" name="Cert card"/>
          <p:cNvSpPr/>
          <p:nvPr/>
        </p:nvSpPr>
        <p:spPr>
          <a:xfrm>
            <a:off x="1257300" y="2697480"/>
            <a:ext cx="6949440" cy="5669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Cert band"/>
          <p:cNvSpPr/>
          <p:nvPr/>
        </p:nvSpPr>
        <p:spPr>
          <a:xfrm>
            <a:off x="1280160" y="2724912"/>
            <a:ext cx="6903720" cy="731520"/>
          </a:xfrm>
          <a:prstGeom prst="rect">
            <a:avLst/>
          </a:prstGeom>
          <a:solidFill>
            <a:srgbClr val="D9E2F3"/>
          </a:solidFill>
          <a:ln w="635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ert band text"/>
          <p:cNvSpPr txBox="1"/>
          <p:nvPr/>
        </p:nvSpPr>
        <p:spPr>
          <a:xfrm>
            <a:off x="1554480" y="2788920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a certificate</a:t>
            </a:r>
          </a:p>
        </p:txBody>
      </p:sp>
      <p:sp>
        <p:nvSpPr>
          <p:cNvPr id="6" name="Field 1 key"/>
          <p:cNvSpPr txBox="1"/>
          <p:nvPr/>
        </p:nvSpPr>
        <p:spPr>
          <a:xfrm>
            <a:off x="1600200" y="370332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Subject</a:t>
            </a:r>
          </a:p>
        </p:txBody>
      </p:sp>
      <p:sp>
        <p:nvSpPr>
          <p:cNvPr id="7" name="Field 1 value"/>
          <p:cNvSpPr txBox="1"/>
          <p:nvPr/>
        </p:nvSpPr>
        <p:spPr>
          <a:xfrm>
            <a:off x="3611880" y="370332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</p:txBody>
      </p:sp>
      <p:cxnSp>
        <p:nvCxnSpPr>
          <p:cNvPr id="8" name="Field rule 1"/>
          <p:cNvCxnSpPr/>
          <p:nvPr/>
        </p:nvCxnSpPr>
        <p:spPr>
          <a:xfrm>
            <a:off x="1600200" y="4434840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ield 2 key"/>
          <p:cNvSpPr txBox="1"/>
          <p:nvPr/>
        </p:nvSpPr>
        <p:spPr>
          <a:xfrm>
            <a:off x="1600200" y="4599431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10" name="Field 2 value"/>
          <p:cNvSpPr txBox="1"/>
          <p:nvPr/>
        </p:nvSpPr>
        <p:spPr>
          <a:xfrm>
            <a:off x="3611880" y="4599431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server’s public key</a:t>
            </a:r>
          </a:p>
        </p:txBody>
      </p:sp>
      <p:cxnSp>
        <p:nvCxnSpPr>
          <p:cNvPr id="11" name="Field rule 2"/>
          <p:cNvCxnSpPr/>
          <p:nvPr/>
        </p:nvCxnSpPr>
        <p:spPr>
          <a:xfrm>
            <a:off x="1600200" y="5330951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ield 3 key"/>
          <p:cNvSpPr txBox="1"/>
          <p:nvPr/>
        </p:nvSpPr>
        <p:spPr>
          <a:xfrm>
            <a:off x="1600200" y="5495544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Issuer</a:t>
            </a:r>
          </a:p>
        </p:txBody>
      </p:sp>
      <p:sp>
        <p:nvSpPr>
          <p:cNvPr id="13" name="Field 3 value"/>
          <p:cNvSpPr txBox="1"/>
          <p:nvPr/>
        </p:nvSpPr>
        <p:spPr>
          <a:xfrm>
            <a:off x="3611880" y="5495544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 Trust CA</a:t>
            </a:r>
          </a:p>
        </p:txBody>
      </p:sp>
      <p:cxnSp>
        <p:nvCxnSpPr>
          <p:cNvPr id="14" name="Field rule 3"/>
          <p:cNvCxnSpPr/>
          <p:nvPr/>
        </p:nvCxnSpPr>
        <p:spPr>
          <a:xfrm>
            <a:off x="1600200" y="6227064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ield 4 key"/>
          <p:cNvSpPr txBox="1"/>
          <p:nvPr/>
        </p:nvSpPr>
        <p:spPr>
          <a:xfrm>
            <a:off x="1600200" y="6391656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Valid</a:t>
            </a:r>
          </a:p>
        </p:txBody>
      </p:sp>
      <p:sp>
        <p:nvSpPr>
          <p:cNvPr id="16" name="Field 4 value"/>
          <p:cNvSpPr txBox="1"/>
          <p:nvPr/>
        </p:nvSpPr>
        <p:spPr>
          <a:xfrm>
            <a:off x="3611880" y="6391656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1 – Sep 17, 2026</a:t>
            </a:r>
          </a:p>
        </p:txBody>
      </p:sp>
      <p:cxnSp>
        <p:nvCxnSpPr>
          <p:cNvPr id="17" name="Field rule 4"/>
          <p:cNvCxnSpPr/>
          <p:nvPr/>
        </p:nvCxnSpPr>
        <p:spPr>
          <a:xfrm>
            <a:off x="1600200" y="7123176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eld 5 key"/>
          <p:cNvSpPr txBox="1"/>
          <p:nvPr/>
        </p:nvSpPr>
        <p:spPr>
          <a:xfrm>
            <a:off x="1600200" y="7287768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Signature</a:t>
            </a:r>
          </a:p>
        </p:txBody>
      </p:sp>
      <p:sp>
        <p:nvSpPr>
          <p:cNvPr id="19" name="Field 5 value"/>
          <p:cNvSpPr txBox="1"/>
          <p:nvPr/>
        </p:nvSpPr>
        <p:spPr>
          <a:xfrm>
            <a:off x="3611880" y="72877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issuer’s seal over all of the above</a:t>
            </a:r>
          </a:p>
        </p:txBody>
      </p:sp>
      <p:pic>
        <p:nvPicPr>
          <p:cNvPr id="20" name="Cert loc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0" y="7589519"/>
            <a:ext cx="548640" cy="548640"/>
          </a:xfrm>
          <a:prstGeom prst="rect">
            <a:avLst/>
          </a:prstGeom>
        </p:spPr>
      </p:pic>
      <p:sp>
        <p:nvSpPr>
          <p:cNvPr id="21" name="Roles heading"/>
          <p:cNvSpPr txBox="1"/>
          <p:nvPr/>
        </p:nvSpPr>
        <p:spPr>
          <a:xfrm>
            <a:off x="8778240" y="26974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does what</a:t>
            </a:r>
          </a:p>
        </p:txBody>
      </p:sp>
      <p:sp>
        <p:nvSpPr>
          <p:cNvPr id="22" name="Role 1 marker"/>
          <p:cNvSpPr/>
          <p:nvPr/>
        </p:nvSpPr>
        <p:spPr>
          <a:xfrm>
            <a:off x="8778240" y="333756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3" name="Role 1"/>
          <p:cNvSpPr txBox="1"/>
          <p:nvPr/>
        </p:nvSpPr>
        <p:spPr>
          <a:xfrm>
            <a:off x="9418320" y="3291840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 authorities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that the requester controls the name, then issue and sign certificates</a:t>
            </a:r>
          </a:p>
        </p:txBody>
      </p:sp>
      <p:sp>
        <p:nvSpPr>
          <p:cNvPr id="24" name="Role 2 marker"/>
          <p:cNvSpPr/>
          <p:nvPr/>
        </p:nvSpPr>
        <p:spPr>
          <a:xfrm>
            <a:off x="8778240" y="4636007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5" name="Role 2"/>
          <p:cNvSpPr txBox="1"/>
          <p:nvPr/>
        </p:nvSpPr>
        <p:spPr>
          <a:xfrm>
            <a:off x="9418320" y="4590288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and phone makers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Decide which root authorities billions of devices trust</a:t>
            </a:r>
          </a:p>
        </p:txBody>
      </p:sp>
      <p:sp>
        <p:nvSpPr>
          <p:cNvPr id="26" name="Role 3 marker"/>
          <p:cNvSpPr/>
          <p:nvPr/>
        </p:nvSpPr>
        <p:spPr>
          <a:xfrm>
            <a:off x="8778240" y="5934455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7" name="Role 3"/>
          <p:cNvSpPr txBox="1"/>
          <p:nvPr/>
        </p:nvSpPr>
        <p:spPr>
          <a:xfrm>
            <a:off x="9418320" y="5888736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Transparency logs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record of every certificate issued — a bank can spot fakes for its own name</a:t>
            </a:r>
          </a:p>
        </p:txBody>
      </p:sp>
      <p:sp>
        <p:nvSpPr>
          <p:cNvPr id="28" name="Role 4 marker"/>
          <p:cNvSpPr/>
          <p:nvPr/>
        </p:nvSpPr>
        <p:spPr>
          <a:xfrm>
            <a:off x="8778240" y="7232903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9" name="Role 4"/>
          <p:cNvSpPr txBox="1"/>
          <p:nvPr/>
        </p:nvSpPr>
        <p:spPr>
          <a:xfrm>
            <a:off x="9418320" y="7187183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private PKI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internal authority for VPN, Wi-Fi logins and devices. Who runs and protects it?</a:t>
            </a:r>
          </a:p>
        </p:txBody>
      </p:sp>
      <p:sp>
        <p:nvSpPr>
          <p:cNvPr id="30" name="PKI takeaway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PKI takeaway text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certificate is only as trustworthy as the authority that signed it — and the people protecting that authority’s keys.</a:t>
            </a:r>
          </a:p>
        </p:txBody>
      </p:sp>
    </p:spTree>
    <p:extLst>
      <p:ext uri="{BB962C8B-B14F-4D97-AF65-F5344CB8AC3E}">
        <p14:creationId xmlns:p14="http://schemas.microsoft.com/office/powerpoint/2010/main" val="278019793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 Lifecycle: Expiry, Revocation, and the Outages They Cause</a:t>
            </a:r>
          </a:p>
        </p:txBody>
      </p:sp>
      <p:sp>
        <p:nvSpPr>
          <p:cNvPr id="3" name="Step 1"/>
          <p:cNvSpPr/>
          <p:nvPr/>
        </p:nvSpPr>
        <p:spPr>
          <a:xfrm>
            <a:off x="1257300" y="3246120"/>
            <a:ext cx="2560320" cy="914400"/>
          </a:xfrm>
          <a:prstGeom prst="homePlate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</a:t>
            </a:r>
          </a:p>
        </p:txBody>
      </p:sp>
      <p:sp>
        <p:nvSpPr>
          <p:cNvPr id="4" name="Step 2"/>
          <p:cNvSpPr/>
          <p:nvPr/>
        </p:nvSpPr>
        <p:spPr>
          <a:xfrm>
            <a:off x="3945635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</p:txBody>
      </p:sp>
      <p:sp>
        <p:nvSpPr>
          <p:cNvPr id="5" name="Step 3"/>
          <p:cNvSpPr/>
          <p:nvPr/>
        </p:nvSpPr>
        <p:spPr>
          <a:xfrm>
            <a:off x="6633972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</a:t>
            </a:r>
          </a:p>
        </p:txBody>
      </p:sp>
      <p:sp>
        <p:nvSpPr>
          <p:cNvPr id="6" name="Step 4"/>
          <p:cNvSpPr/>
          <p:nvPr/>
        </p:nvSpPr>
        <p:spPr>
          <a:xfrm>
            <a:off x="9322308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</a:t>
            </a:r>
          </a:p>
        </p:txBody>
      </p:sp>
      <p:sp>
        <p:nvSpPr>
          <p:cNvPr id="7" name="Step 5"/>
          <p:cNvSpPr/>
          <p:nvPr/>
        </p:nvSpPr>
        <p:spPr>
          <a:xfrm>
            <a:off x="12010644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</a:t>
            </a:r>
          </a:p>
        </p:txBody>
      </p:sp>
      <p:sp>
        <p:nvSpPr>
          <p:cNvPr id="8" name="Step 6"/>
          <p:cNvSpPr/>
          <p:nvPr/>
        </p:nvSpPr>
        <p:spPr>
          <a:xfrm>
            <a:off x="14698980" y="3246120"/>
            <a:ext cx="2560320" cy="914400"/>
          </a:xfrm>
          <a:prstGeom prst="chevron">
            <a:avLst/>
          </a:prstGeom>
          <a:solidFill>
            <a:srgbClr val="2F75B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Renew</a:t>
            </a:r>
          </a:p>
        </p:txBody>
      </p:sp>
      <p:cxnSp>
        <p:nvCxnSpPr>
          <p:cNvPr id="9" name="Loop line"/>
          <p:cNvCxnSpPr/>
          <p:nvPr/>
        </p:nvCxnSpPr>
        <p:spPr>
          <a:xfrm>
            <a:off x="16367759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Loop back"/>
          <p:cNvCxnSpPr/>
          <p:nvPr/>
        </p:nvCxnSpPr>
        <p:spPr>
          <a:xfrm flipH="1">
            <a:off x="2286000" y="4572000"/>
            <a:ext cx="1408175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Loop up"/>
          <p:cNvCxnSpPr/>
          <p:nvPr/>
        </p:nvCxnSpPr>
        <p:spPr>
          <a:xfrm flipV="1">
            <a:off x="2286000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oop label"/>
          <p:cNvSpPr txBox="1"/>
          <p:nvPr/>
        </p:nvSpPr>
        <p:spPr>
          <a:xfrm>
            <a:off x="2743200" y="4636008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and around again — before the old one expires</a:t>
            </a:r>
          </a:p>
        </p:txBody>
      </p:sp>
      <p:sp>
        <p:nvSpPr>
          <p:cNvPr id="13" name="Revoke note"/>
          <p:cNvSpPr txBox="1"/>
          <p:nvPr/>
        </p:nvSpPr>
        <p:spPr>
          <a:xfrm>
            <a:off x="10515600" y="4636008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Or revoke early if the key is lost or stolen</a:t>
            </a:r>
          </a:p>
        </p:txBody>
      </p:sp>
      <p:sp>
        <p:nvSpPr>
          <p:cNvPr id="14" name="Lifetimes heading"/>
          <p:cNvSpPr txBox="1"/>
          <p:nvPr/>
        </p:nvSpPr>
        <p:spPr>
          <a:xfrm>
            <a:off x="1257300" y="52578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certificate lifetime</a:t>
            </a:r>
          </a:p>
        </p:txBody>
      </p:sp>
      <p:sp>
        <p:nvSpPr>
          <p:cNvPr id="15" name="Bar 1 label"/>
          <p:cNvSpPr txBox="1"/>
          <p:nvPr/>
        </p:nvSpPr>
        <p:spPr>
          <a:xfrm>
            <a:off x="1257300" y="594360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Mar 2026</a:t>
            </a:r>
          </a:p>
        </p:txBody>
      </p:sp>
      <p:sp>
        <p:nvSpPr>
          <p:cNvPr id="16" name="Bar 1"/>
          <p:cNvSpPr/>
          <p:nvPr/>
        </p:nvSpPr>
        <p:spPr>
          <a:xfrm>
            <a:off x="3520440" y="5852160"/>
            <a:ext cx="4206240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Bar 1 value"/>
          <p:cNvSpPr txBox="1"/>
          <p:nvPr/>
        </p:nvSpPr>
        <p:spPr>
          <a:xfrm>
            <a:off x="7818120" y="5943600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398 days</a:t>
            </a:r>
          </a:p>
        </p:txBody>
      </p:sp>
      <p:sp>
        <p:nvSpPr>
          <p:cNvPr id="18" name="Bar 2 label"/>
          <p:cNvSpPr txBox="1"/>
          <p:nvPr/>
        </p:nvSpPr>
        <p:spPr>
          <a:xfrm>
            <a:off x="1257300" y="665683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2026</a:t>
            </a:r>
          </a:p>
        </p:txBody>
      </p:sp>
      <p:sp>
        <p:nvSpPr>
          <p:cNvPr id="19" name="Bar 2"/>
          <p:cNvSpPr/>
          <p:nvPr/>
        </p:nvSpPr>
        <p:spPr>
          <a:xfrm>
            <a:off x="3520440" y="6565392"/>
            <a:ext cx="2113688" cy="548640"/>
          </a:xfrm>
          <a:prstGeom prst="rect">
            <a:avLst/>
          </a:prstGeom>
          <a:solidFill>
            <a:srgbClr val="2F75B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Bar 2 value"/>
          <p:cNvSpPr txBox="1"/>
          <p:nvPr/>
        </p:nvSpPr>
        <p:spPr>
          <a:xfrm>
            <a:off x="5725568" y="665683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200 days</a:t>
            </a:r>
          </a:p>
        </p:txBody>
      </p:sp>
      <p:sp>
        <p:nvSpPr>
          <p:cNvPr id="21" name="Bar 3 label"/>
          <p:cNvSpPr txBox="1"/>
          <p:nvPr/>
        </p:nvSpPr>
        <p:spPr>
          <a:xfrm>
            <a:off x="1257300" y="7370064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2027</a:t>
            </a:r>
          </a:p>
        </p:txBody>
      </p:sp>
      <p:sp>
        <p:nvSpPr>
          <p:cNvPr id="22" name="Bar 3"/>
          <p:cNvSpPr/>
          <p:nvPr/>
        </p:nvSpPr>
        <p:spPr>
          <a:xfrm>
            <a:off x="3520440" y="7278624"/>
            <a:ext cx="1056844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Bar 3 value"/>
          <p:cNvSpPr txBox="1"/>
          <p:nvPr/>
        </p:nvSpPr>
        <p:spPr>
          <a:xfrm>
            <a:off x="4668724" y="7370064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 days</a:t>
            </a:r>
          </a:p>
        </p:txBody>
      </p:sp>
      <p:sp>
        <p:nvSpPr>
          <p:cNvPr id="24" name="Bar 4 label"/>
          <p:cNvSpPr txBox="1"/>
          <p:nvPr/>
        </p:nvSpPr>
        <p:spPr>
          <a:xfrm>
            <a:off x="1257300" y="8083296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2029</a:t>
            </a:r>
          </a:p>
        </p:txBody>
      </p:sp>
      <p:sp>
        <p:nvSpPr>
          <p:cNvPr id="25" name="Bar 4"/>
          <p:cNvSpPr/>
          <p:nvPr/>
        </p:nvSpPr>
        <p:spPr>
          <a:xfrm>
            <a:off x="3520440" y="7991856"/>
            <a:ext cx="496716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Bar 4 value"/>
          <p:cNvSpPr txBox="1"/>
          <p:nvPr/>
        </p:nvSpPr>
        <p:spPr>
          <a:xfrm>
            <a:off x="4108596" y="808329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47 days</a:t>
            </a:r>
          </a:p>
        </p:txBody>
      </p:sp>
      <p:sp>
        <p:nvSpPr>
          <p:cNvPr id="27" name="Now marker"/>
          <p:cNvSpPr txBox="1"/>
          <p:nvPr/>
        </p:nvSpPr>
        <p:spPr>
          <a:xfrm>
            <a:off x="1257300" y="877824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We are here: renewing roughly twice a year, heading to every few weeks</a:t>
            </a:r>
          </a:p>
        </p:txBody>
      </p:sp>
      <p:sp>
        <p:nvSpPr>
          <p:cNvPr id="28" name="Outage card"/>
          <p:cNvSpPr/>
          <p:nvPr/>
        </p:nvSpPr>
        <p:spPr>
          <a:xfrm>
            <a:off x="9509760" y="5257800"/>
            <a:ext cx="7516368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Outage card text"/>
          <p:cNvSpPr txBox="1"/>
          <p:nvPr/>
        </p:nvSpPr>
        <p:spPr>
          <a:xfrm>
            <a:off x="9765792" y="5458968"/>
            <a:ext cx="700430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renewal is missed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website, app, VPN or monitoring tool stops working — often at night or on a weekend, and nobody knows which certificate it was.</a:t>
            </a:r>
          </a:p>
        </p:txBody>
      </p:sp>
      <p:sp>
        <p:nvSpPr>
          <p:cNvPr id="30" name="Example card"/>
          <p:cNvSpPr/>
          <p:nvPr/>
        </p:nvSpPr>
        <p:spPr>
          <a:xfrm>
            <a:off x="9509760" y="7406640"/>
            <a:ext cx="7516368" cy="21031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Example card text"/>
          <p:cNvSpPr txBox="1"/>
          <p:nvPr/>
        </p:nvSpPr>
        <p:spPr>
          <a:xfrm>
            <a:off x="9765792" y="7607808"/>
            <a:ext cx="7004304" cy="1210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happens to big organizations too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2017: an expired certificate on Equifax’s traffic-inspection equipment left the breach unseen for months. </a:t>
            </a:r>
            <a:endParaRPr lang="en-US" sz="16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2020: an expired certificate briefly took down Microsoft Teams.</a:t>
            </a:r>
          </a:p>
        </p:txBody>
      </p:sp>
    </p:spTree>
    <p:extLst>
      <p:ext uri="{BB962C8B-B14F-4D97-AF65-F5344CB8AC3E}">
        <p14:creationId xmlns:p14="http://schemas.microsoft.com/office/powerpoint/2010/main" val="13364812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Management: Who Holds the Keys?</a:t>
            </a:r>
          </a:p>
        </p:txBody>
      </p:sp>
      <p:sp>
        <p:nvSpPr>
          <p:cNvPr id="3" name="KM message"/>
          <p:cNvSpPr txBox="1"/>
          <p:nvPr/>
        </p:nvSpPr>
        <p:spPr>
          <a:xfrm>
            <a:off x="1257300" y="2606040"/>
            <a:ext cx="1577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doesn’t remove the risk — it moves it to the keys. Whoever holds the key holds the data.</a:t>
            </a:r>
          </a:p>
        </p:txBody>
      </p:sp>
      <p:sp>
        <p:nvSpPr>
          <p:cNvPr id="4" name="Life 1 marker"/>
          <p:cNvSpPr/>
          <p:nvPr/>
        </p:nvSpPr>
        <p:spPr>
          <a:xfrm>
            <a:off x="12573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Life 1"/>
          <p:cNvSpPr txBox="1"/>
          <p:nvPr/>
        </p:nvSpPr>
        <p:spPr>
          <a:xfrm>
            <a:off x="18059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and random</a:t>
            </a:r>
          </a:p>
        </p:txBody>
      </p:sp>
      <p:sp>
        <p:nvSpPr>
          <p:cNvPr id="6" name="Life 2 marker"/>
          <p:cNvSpPr/>
          <p:nvPr/>
        </p:nvSpPr>
        <p:spPr>
          <a:xfrm>
            <a:off x="44577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Life 2"/>
          <p:cNvSpPr txBox="1"/>
          <p:nvPr/>
        </p:nvSpPr>
        <p:spPr>
          <a:xfrm>
            <a:off x="50063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only the right systems can use it</a:t>
            </a:r>
          </a:p>
        </p:txBody>
      </p:sp>
      <p:sp>
        <p:nvSpPr>
          <p:cNvPr id="8" name="Life 3 marker"/>
          <p:cNvSpPr/>
          <p:nvPr/>
        </p:nvSpPr>
        <p:spPr>
          <a:xfrm>
            <a:off x="76581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Life 3"/>
          <p:cNvSpPr txBox="1"/>
          <p:nvPr/>
        </p:nvSpPr>
        <p:spPr>
          <a:xfrm>
            <a:off x="82067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access logged</a:t>
            </a:r>
          </a:p>
        </p:txBody>
      </p:sp>
      <p:sp>
        <p:nvSpPr>
          <p:cNvPr id="10" name="Life 4 marker"/>
          <p:cNvSpPr/>
          <p:nvPr/>
        </p:nvSpPr>
        <p:spPr>
          <a:xfrm>
            <a:off x="108585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1" name="Life 4"/>
          <p:cNvSpPr txBox="1"/>
          <p:nvPr/>
        </p:nvSpPr>
        <p:spPr>
          <a:xfrm>
            <a:off x="114071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Rotate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 a schedule</a:t>
            </a:r>
          </a:p>
        </p:txBody>
      </p:sp>
      <p:sp>
        <p:nvSpPr>
          <p:cNvPr id="12" name="Life 5 marker"/>
          <p:cNvSpPr/>
          <p:nvPr/>
        </p:nvSpPr>
        <p:spPr>
          <a:xfrm>
            <a:off x="140589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3" name="Life 5"/>
          <p:cNvSpPr txBox="1"/>
          <p:nvPr/>
        </p:nvSpPr>
        <p:spPr>
          <a:xfrm>
            <a:off x="146075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Retire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destroyed when no longer needed</a:t>
            </a:r>
          </a:p>
        </p:txBody>
      </p:sp>
      <p:sp>
        <p:nvSpPr>
          <p:cNvPr id="14" name="Where heading"/>
          <p:cNvSpPr txBox="1"/>
          <p:nvPr/>
        </p:nvSpPr>
        <p:spPr>
          <a:xfrm>
            <a:off x="1257300" y="4709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keys live</a:t>
            </a:r>
          </a:p>
        </p:txBody>
      </p:sp>
      <p:sp>
        <p:nvSpPr>
          <p:cNvPr id="15" name="Place 1"/>
          <p:cNvSpPr/>
          <p:nvPr/>
        </p:nvSpPr>
        <p:spPr>
          <a:xfrm>
            <a:off x="1257300" y="5257800"/>
            <a:ext cx="5029200" cy="173736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Place 1 text"/>
          <p:cNvSpPr txBox="1"/>
          <p:nvPr/>
        </p:nvSpPr>
        <p:spPr>
          <a:xfrm>
            <a:off x="1513332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file on a server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Easy to copy, easy to lose. The weakest option.</a:t>
            </a:r>
          </a:p>
        </p:txBody>
      </p:sp>
      <p:sp>
        <p:nvSpPr>
          <p:cNvPr id="17" name="Place 2"/>
          <p:cNvSpPr/>
          <p:nvPr/>
        </p:nvSpPr>
        <p:spPr>
          <a:xfrm>
            <a:off x="6633972" y="5257800"/>
            <a:ext cx="502920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Place 2 text"/>
          <p:cNvSpPr txBox="1"/>
          <p:nvPr/>
        </p:nvSpPr>
        <p:spPr>
          <a:xfrm>
            <a:off x="6890004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key service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KMS, Azure Key Vault, Google Cloud KMS: access-controlled and logged</a:t>
            </a:r>
          </a:p>
        </p:txBody>
      </p:sp>
      <p:sp>
        <p:nvSpPr>
          <p:cNvPr id="19" name="Place 3"/>
          <p:cNvSpPr/>
          <p:nvPr/>
        </p:nvSpPr>
        <p:spPr>
          <a:xfrm>
            <a:off x="12010644" y="5257800"/>
            <a:ext cx="5029200" cy="1737360"/>
          </a:xfrm>
          <a:prstGeom prst="roundRect">
            <a:avLst/>
          </a:prstGeom>
          <a:solidFill>
            <a:srgbClr val="D9E2F3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Place 3 text"/>
          <p:cNvSpPr txBox="1"/>
          <p:nvPr/>
        </p:nvSpPr>
        <p:spPr>
          <a:xfrm>
            <a:off x="12266676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security module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tamper-resistant device that uses keys without ever revealing them</a:t>
            </a:r>
          </a:p>
        </p:txBody>
      </p:sp>
      <p:cxnSp>
        <p:nvCxnSpPr>
          <p:cNvPr id="21" name="Strength arrow"/>
          <p:cNvCxnSpPr/>
          <p:nvPr/>
        </p:nvCxnSpPr>
        <p:spPr>
          <a:xfrm>
            <a:off x="1463040" y="7223760"/>
            <a:ext cx="1536192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Strength label"/>
          <p:cNvSpPr txBox="1"/>
          <p:nvPr/>
        </p:nvSpPr>
        <p:spPr>
          <a:xfrm>
            <a:off x="1257300" y="7269480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weaker  →  stronger</a:t>
            </a:r>
          </a:p>
        </p:txBody>
      </p:sp>
      <p:sp>
        <p:nvSpPr>
          <p:cNvPr id="23" name="KM questions panel"/>
          <p:cNvSpPr/>
          <p:nvPr/>
        </p:nvSpPr>
        <p:spPr>
          <a:xfrm>
            <a:off x="1257300" y="7818120"/>
            <a:ext cx="157734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KM questions"/>
          <p:cNvSpPr txBox="1"/>
          <p:nvPr/>
        </p:nvSpPr>
        <p:spPr>
          <a:xfrm>
            <a:off x="1554480" y="7936992"/>
            <a:ext cx="1517904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bank’s keys, who can use them, and is there dual control for the most sensitive ones?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 cloud and vendor systems: does the bank or the provider hold the keys — and what happens to them when the contract ends?</a:t>
            </a:r>
          </a:p>
        </p:txBody>
      </p:sp>
    </p:spTree>
    <p:extLst>
      <p:ext uri="{BB962C8B-B14F-4D97-AF65-F5344CB8AC3E}">
        <p14:creationId xmlns:p14="http://schemas.microsoft.com/office/powerpoint/2010/main" val="90646541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6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Final Comments on Cryptography</a:t>
            </a:r>
          </a:p>
        </p:txBody>
      </p:sp>
      <p:sp>
        <p:nvSpPr>
          <p:cNvPr id="44564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Cryptography alone cannot guarantee 100% security</a:t>
            </a:r>
          </a:p>
          <a:p>
            <a:r>
              <a:rPr lang="en-US" altLang="en-US"/>
              <a:t>But we can achieve a high level of risk acceptance where benefits outweigh the losses</a:t>
            </a:r>
          </a:p>
          <a:p>
            <a:r>
              <a:rPr lang="en-US" altLang="en-US"/>
              <a:t>The goal is to balance the possible with the acceptable</a:t>
            </a:r>
          </a:p>
          <a:p>
            <a:r>
              <a:rPr lang="en-US" altLang="en-US"/>
              <a:t>Strong cryptographic systems can withstand attacks up to a point</a:t>
            </a:r>
          </a:p>
          <a:p>
            <a:r>
              <a:rPr lang="en-US" altLang="en-US"/>
              <a:t>The mathematics is rarely the weak link!</a:t>
            </a:r>
          </a:p>
          <a:p>
            <a:r>
              <a:rPr lang="en-US" altLang="en-US"/>
              <a:t>Must consider the threat, system design, implementation, users, and legal/political environment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188740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Encryption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&amp; Delivery module  ·  Encryption procedure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Evaluate the use of encryption for sensitive institution and customer data at rest and in transit. Consider:</a:t>
            </a:r>
          </a:p>
        </p:txBody>
      </p:sp>
      <p:sp>
        <p:nvSpPr>
          <p:cNvPr id="7" name="Checkbox 1"/>
          <p:cNvSpPr/>
          <p:nvPr/>
        </p:nvSpPr>
        <p:spPr>
          <a:xfrm>
            <a:off x="180594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263140" y="40873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Databases</a:t>
            </a:r>
          </a:p>
        </p:txBody>
      </p:sp>
      <p:sp>
        <p:nvSpPr>
          <p:cNvPr id="9" name="Checkbox 2"/>
          <p:cNvSpPr/>
          <p:nvPr/>
        </p:nvSpPr>
        <p:spPr>
          <a:xfrm>
            <a:off x="496062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5417820" y="40873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devices</a:t>
            </a:r>
          </a:p>
        </p:txBody>
      </p:sp>
      <p:sp>
        <p:nvSpPr>
          <p:cNvPr id="11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263140" y="47731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13" name="Checkbox 4"/>
          <p:cNvSpPr/>
          <p:nvPr/>
        </p:nvSpPr>
        <p:spPr>
          <a:xfrm>
            <a:off x="496062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5417820" y="47731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media and storage devices</a:t>
            </a:r>
          </a:p>
        </p:txBody>
      </p:sp>
      <p:sp>
        <p:nvSpPr>
          <p:cNvPr id="15" name="Checkbox 5"/>
          <p:cNvSpPr/>
          <p:nvPr/>
        </p:nvSpPr>
        <p:spPr>
          <a:xfrm>
            <a:off x="180594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ption 5"/>
          <p:cNvSpPr txBox="1"/>
          <p:nvPr/>
        </p:nvSpPr>
        <p:spPr>
          <a:xfrm>
            <a:off x="2263140" y="54589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Transmissions with third parties</a:t>
            </a:r>
          </a:p>
        </p:txBody>
      </p:sp>
      <p:sp>
        <p:nvSpPr>
          <p:cNvPr id="17" name="Checkbox 6"/>
          <p:cNvSpPr/>
          <p:nvPr/>
        </p:nvSpPr>
        <p:spPr>
          <a:xfrm>
            <a:off x="496062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ption 6"/>
          <p:cNvSpPr txBox="1"/>
          <p:nvPr/>
        </p:nvSpPr>
        <p:spPr>
          <a:xfrm>
            <a:off x="5417820" y="54589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 databases</a:t>
            </a:r>
          </a:p>
        </p:txBody>
      </p:sp>
      <p:pic>
        <p:nvPicPr>
          <p:cNvPr id="19" name="Loc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1060" y="2551176"/>
            <a:ext cx="475488" cy="475488"/>
          </a:xfrm>
          <a:prstGeom prst="rect">
            <a:avLst/>
          </a:prstGeom>
        </p:spPr>
      </p:pic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All passwords are encrypted in storage and in transit.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encryption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box would a community bank struggle to check?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shows up all over InTREx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program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of customer information in transit and in storage is a required element (GLBA)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connections and multifactor authentication for employees, contractors and vendors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encryption for Wi-Fi authentication and transmission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 and cloud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Banks must assess whether critical vendors encrypt the customer information they hold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Support &amp; Delivery and Management Expanded Analysis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296204931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14: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70792-42D9-6047-8811-06D128AA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Eats the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82310-140C-A54E-AA0E-011B3EB36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11884542" cy="6967198"/>
          </a:xfrm>
        </p:spPr>
        <p:txBody>
          <a:bodyPr>
            <a:normAutofit fontScale="92500"/>
          </a:bodyPr>
          <a:lstStyle/>
          <a:p>
            <a:r>
              <a:rPr lang="en-US"/>
              <a:t>Marc Andreesen (Netscape, Andreesen Horowitz)</a:t>
            </a:r>
          </a:p>
          <a:p>
            <a:r>
              <a:rPr lang="en-US"/>
              <a:t>Every device, appliance or box in this course is going away or being consolidated with others</a:t>
            </a:r>
          </a:p>
          <a:p>
            <a:r>
              <a:rPr lang="en-US"/>
              <a:t>They are being replaced with software running on:</a:t>
            </a:r>
          </a:p>
          <a:p>
            <a:pPr lvl="1"/>
            <a:r>
              <a:rPr lang="en-US"/>
              <a:t>General purpose silicon (CPUs)</a:t>
            </a:r>
          </a:p>
          <a:p>
            <a:pPr lvl="1"/>
            <a:r>
              <a:rPr lang="en-US"/>
              <a:t>Graphics processors (GPUs)</a:t>
            </a:r>
          </a:p>
          <a:p>
            <a:pPr lvl="1"/>
            <a:r>
              <a:rPr lang="en-US"/>
              <a:t>Embedded Devices</a:t>
            </a:r>
          </a:p>
          <a:p>
            <a:pPr lvl="1"/>
            <a:r>
              <a:rPr lang="en-US"/>
              <a:t>Almost everything else (IoT, appliances, smart devices)</a:t>
            </a:r>
          </a:p>
          <a:p>
            <a:r>
              <a:rPr lang="en-US"/>
              <a:t>This trend is not confined to networking!</a:t>
            </a:r>
          </a:p>
        </p:txBody>
      </p:sp>
      <p:pic>
        <p:nvPicPr>
          <p:cNvPr id="1028" name="Picture 4">
            <a:hlinkClick r:id="rId3"/>
            <a:extLst>
              <a:ext uri="{FF2B5EF4-FFF2-40B4-BE49-F238E27FC236}">
                <a16:creationId xmlns:a16="http://schemas.microsoft.com/office/drawing/2014/main" id="{16A393C5-502D-2243-9716-41C4084E1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47939" y="7137399"/>
            <a:ext cx="6019800" cy="314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0475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248273"/>
            <a:ext cx="11700417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Virtualization started with the recognition that server power had increased significantly and most servers were underutilized</a:t>
            </a:r>
          </a:p>
          <a:p>
            <a:r>
              <a:rPr lang="en-US"/>
              <a:t>Servers often support a single application only</a:t>
            </a:r>
          </a:p>
          <a:p>
            <a:r>
              <a:rPr lang="en-US"/>
              <a:t>The 1960’s virtual machine concept came to the rescue</a:t>
            </a:r>
          </a:p>
          <a:p>
            <a:r>
              <a:rPr lang="en-US"/>
              <a:t>One server can now act as multiple virtual servers</a:t>
            </a:r>
          </a:p>
          <a:p>
            <a:r>
              <a:rPr lang="en-US"/>
              <a:t>Concept has expanded to storage and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B31C567-0AE1-2353-92D5-D0A97CF46BF0}"/>
              </a:ext>
            </a:extLst>
          </p:cNvPr>
          <p:cNvGrpSpPr/>
          <p:nvPr/>
        </p:nvGrpSpPr>
        <p:grpSpPr>
          <a:xfrm>
            <a:off x="14312900" y="5545546"/>
            <a:ext cx="3136900" cy="3151672"/>
            <a:chOff x="14312900" y="5545546"/>
            <a:chExt cx="3136900" cy="315167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DD2843-C7FD-3479-E666-5CA288E4E692}"/>
                </a:ext>
              </a:extLst>
            </p:cNvPr>
            <p:cNvSpPr/>
            <p:nvPr/>
          </p:nvSpPr>
          <p:spPr>
            <a:xfrm>
              <a:off x="14312900" y="5545546"/>
              <a:ext cx="3136900" cy="98225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16735-5E19-549C-172E-7BB3338861EC}"/>
                </a:ext>
              </a:extLst>
            </p:cNvPr>
            <p:cNvSpPr/>
            <p:nvPr/>
          </p:nvSpPr>
          <p:spPr>
            <a:xfrm>
              <a:off x="14312900" y="6542782"/>
              <a:ext cx="3136900" cy="10772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BC10AE-F342-94F7-3BF3-909510FD6AE2}"/>
                </a:ext>
              </a:extLst>
            </p:cNvPr>
            <p:cNvSpPr/>
            <p:nvPr/>
          </p:nvSpPr>
          <p:spPr>
            <a:xfrm>
              <a:off x="14312900" y="7620000"/>
              <a:ext cx="3136900" cy="1077218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4B89C48-37E4-D032-3E2A-83AF5371B9BA}"/>
                </a:ext>
              </a:extLst>
            </p:cNvPr>
            <p:cNvSpPr txBox="1"/>
            <p:nvPr/>
          </p:nvSpPr>
          <p:spPr>
            <a:xfrm>
              <a:off x="14793552" y="5804927"/>
              <a:ext cx="232788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3A7ABB1-7AD9-17E1-1EDA-5BCA58311AE3}"/>
                </a:ext>
              </a:extLst>
            </p:cNvPr>
            <p:cNvSpPr txBox="1"/>
            <p:nvPr/>
          </p:nvSpPr>
          <p:spPr>
            <a:xfrm>
              <a:off x="14793552" y="6536146"/>
              <a:ext cx="2175596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Operating </a:t>
              </a:r>
            </a:p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System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3EDA07-F28A-E25C-B52A-737BE5495DAA}"/>
                </a:ext>
              </a:extLst>
            </p:cNvPr>
            <p:cNvSpPr txBox="1"/>
            <p:nvPr/>
          </p:nvSpPr>
          <p:spPr>
            <a:xfrm>
              <a:off x="14877870" y="7803863"/>
              <a:ext cx="200696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Hardware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5516649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954529" y="279710"/>
            <a:ext cx="15773400" cy="1988345"/>
          </a:xfrm>
        </p:spPr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Machines Benefits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140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3172410" y="1687055"/>
            <a:ext cx="11772900" cy="8249198"/>
            <a:chOff x="590940" y="1201703"/>
            <a:chExt cx="7848600" cy="5499463"/>
          </a:xfrm>
        </p:grpSpPr>
        <p:grpSp>
          <p:nvGrpSpPr>
            <p:cNvPr id="112" name="Group 111"/>
            <p:cNvGrpSpPr/>
            <p:nvPr>
              <p:custDataLst>
                <p:tags r:id="rId2"/>
              </p:custDataLst>
            </p:nvPr>
          </p:nvGrpSpPr>
          <p:grpSpPr>
            <a:xfrm>
              <a:off x="3463722" y="2086328"/>
              <a:ext cx="2145645" cy="2389765"/>
              <a:chOff x="3673021" y="1295400"/>
              <a:chExt cx="2187308" cy="2895600"/>
            </a:xfrm>
          </p:grpSpPr>
          <p:sp>
            <p:nvSpPr>
              <p:cNvPr id="106" name="Rounded Rectangle 105"/>
              <p:cNvSpPr>
                <a:spLocks noChangeAspect="1"/>
              </p:cNvSpPr>
              <p:nvPr/>
            </p:nvSpPr>
            <p:spPr>
              <a:xfrm>
                <a:off x="45970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6" name="Rounded Rectangle 15"/>
              <p:cNvSpPr>
                <a:spLocks noChangeAspect="1"/>
              </p:cNvSpPr>
              <p:nvPr/>
            </p:nvSpPr>
            <p:spPr>
              <a:xfrm>
                <a:off x="36730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1" name="Rounded Rectangle 20"/>
              <p:cNvSpPr>
                <a:spLocks noChangeAspect="1"/>
              </p:cNvSpPr>
              <p:nvPr/>
            </p:nvSpPr>
            <p:spPr>
              <a:xfrm>
                <a:off x="37913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2" name="Rounded Rectangle 21"/>
              <p:cNvSpPr>
                <a:spLocks noChangeAspect="1"/>
              </p:cNvSpPr>
              <p:nvPr/>
            </p:nvSpPr>
            <p:spPr>
              <a:xfrm>
                <a:off x="37932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40208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3763757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38622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1" name="Group 110"/>
            <p:cNvGrpSpPr/>
            <p:nvPr>
              <p:custDataLst>
                <p:tags r:id="rId3"/>
              </p:custDataLst>
            </p:nvPr>
          </p:nvGrpSpPr>
          <p:grpSpPr>
            <a:xfrm>
              <a:off x="5780928" y="2086328"/>
              <a:ext cx="2145645" cy="2389765"/>
              <a:chOff x="6035221" y="1295400"/>
              <a:chExt cx="2187308" cy="2895600"/>
            </a:xfrm>
          </p:grpSpPr>
          <p:sp>
            <p:nvSpPr>
              <p:cNvPr id="107" name="Rounded Rectangle 106"/>
              <p:cNvSpPr>
                <a:spLocks noChangeAspect="1"/>
              </p:cNvSpPr>
              <p:nvPr/>
            </p:nvSpPr>
            <p:spPr>
              <a:xfrm>
                <a:off x="69592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4" name="Rounded Rectangle 43"/>
              <p:cNvSpPr>
                <a:spLocks noChangeAspect="1"/>
              </p:cNvSpPr>
              <p:nvPr/>
            </p:nvSpPr>
            <p:spPr>
              <a:xfrm>
                <a:off x="60352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5" name="Rounded Rectangle 44"/>
              <p:cNvSpPr>
                <a:spLocks noChangeAspect="1"/>
              </p:cNvSpPr>
              <p:nvPr/>
            </p:nvSpPr>
            <p:spPr>
              <a:xfrm>
                <a:off x="61535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6" name="Rounded Rectangle 45"/>
              <p:cNvSpPr>
                <a:spLocks noChangeAspect="1"/>
              </p:cNvSpPr>
              <p:nvPr/>
            </p:nvSpPr>
            <p:spPr>
              <a:xfrm>
                <a:off x="61554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63830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612595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2244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0" name="Group 109"/>
            <p:cNvGrpSpPr/>
            <p:nvPr>
              <p:custDataLst>
                <p:tags r:id="rId4"/>
              </p:custDataLst>
            </p:nvPr>
          </p:nvGrpSpPr>
          <p:grpSpPr>
            <a:xfrm>
              <a:off x="1167323" y="2086328"/>
              <a:ext cx="2145645" cy="2389765"/>
              <a:chOff x="1332032" y="1295400"/>
              <a:chExt cx="2187308" cy="2895600"/>
            </a:xfrm>
          </p:grpSpPr>
          <p:sp>
            <p:nvSpPr>
              <p:cNvPr id="105" name="Rounded Rectangle 104"/>
              <p:cNvSpPr>
                <a:spLocks noChangeAspect="1"/>
              </p:cNvSpPr>
              <p:nvPr/>
            </p:nvSpPr>
            <p:spPr>
              <a:xfrm>
                <a:off x="2286000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5" name="Rounded Rectangle 24"/>
              <p:cNvSpPr>
                <a:spLocks noChangeAspect="1"/>
              </p:cNvSpPr>
              <p:nvPr/>
            </p:nvSpPr>
            <p:spPr>
              <a:xfrm>
                <a:off x="1332032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0" name="Rounded Rectangle 29"/>
              <p:cNvSpPr>
                <a:spLocks noChangeAspect="1"/>
              </p:cNvSpPr>
              <p:nvPr/>
            </p:nvSpPr>
            <p:spPr>
              <a:xfrm>
                <a:off x="1450326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31" name="Rounded Rectangle 30"/>
              <p:cNvSpPr>
                <a:spLocks noChangeAspect="1"/>
              </p:cNvSpPr>
              <p:nvPr/>
            </p:nvSpPr>
            <p:spPr>
              <a:xfrm>
                <a:off x="1452304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1679869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142276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1521297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sp>
          <p:nvSpPr>
            <p:cNvPr id="104" name="Rounded Rectangle 103"/>
            <p:cNvSpPr>
              <a:spLocks noChangeAspect="1"/>
            </p:cNvSpPr>
            <p:nvPr/>
          </p:nvSpPr>
          <p:spPr>
            <a:xfrm>
              <a:off x="2925354" y="4538982"/>
              <a:ext cx="3214189" cy="81755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grpSp>
          <p:nvGrpSpPr>
            <p:cNvPr id="109" name="Group 108"/>
            <p:cNvGrpSpPr/>
            <p:nvPr>
              <p:custDataLst>
                <p:tags r:id="rId5"/>
              </p:custDataLst>
            </p:nvPr>
          </p:nvGrpSpPr>
          <p:grpSpPr>
            <a:xfrm>
              <a:off x="1118472" y="4231988"/>
              <a:ext cx="6808100" cy="621438"/>
              <a:chOff x="1282233" y="3895225"/>
              <a:chExt cx="6940296" cy="752976"/>
            </a:xfrm>
          </p:grpSpPr>
          <p:sp>
            <p:nvSpPr>
              <p:cNvPr id="12" name="Rounded Rectangle 11"/>
              <p:cNvSpPr>
                <a:spLocks noChangeAspect="1"/>
              </p:cNvSpPr>
              <p:nvPr/>
            </p:nvSpPr>
            <p:spPr>
              <a:xfrm>
                <a:off x="1282233" y="3895225"/>
                <a:ext cx="6940296" cy="752976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3092258" y="4025493"/>
                <a:ext cx="3320246" cy="559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900">
                    <a:solidFill>
                      <a:schemeClr val="bg1"/>
                    </a:solidFill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Infrastructure</a:t>
                </a:r>
              </a:p>
            </p:txBody>
          </p:sp>
        </p:grpSp>
        <p:grpSp>
          <p:nvGrpSpPr>
            <p:cNvPr id="108" name="Group 107"/>
            <p:cNvGrpSpPr/>
            <p:nvPr>
              <p:custDataLst>
                <p:tags r:id="rId6"/>
              </p:custDataLst>
            </p:nvPr>
          </p:nvGrpSpPr>
          <p:grpSpPr>
            <a:xfrm>
              <a:off x="590940" y="4928403"/>
              <a:ext cx="7848600" cy="1772763"/>
              <a:chOff x="744457" y="4739046"/>
              <a:chExt cx="8001000" cy="2147999"/>
            </a:xfrm>
          </p:grpSpPr>
          <p:sp>
            <p:nvSpPr>
              <p:cNvPr id="103" name="Rounded Rectangle 102"/>
              <p:cNvSpPr>
                <a:spLocks noChangeAspect="1"/>
              </p:cNvSpPr>
              <p:nvPr/>
            </p:nvSpPr>
            <p:spPr>
              <a:xfrm>
                <a:off x="744457" y="4904447"/>
                <a:ext cx="8001000" cy="198259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4983306" y="5638800"/>
                <a:ext cx="949102" cy="410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Servers</a:t>
                </a:r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>
                <a:off x="3498129" y="5334000"/>
                <a:ext cx="1066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 flipH="1">
                <a:off x="4606493" y="5257800"/>
                <a:ext cx="415636" cy="9144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5174529" y="5410200"/>
                <a:ext cx="9144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 flipH="1" flipV="1">
                <a:off x="6393729" y="5562600"/>
                <a:ext cx="1524000" cy="3810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 flipH="1">
                <a:off x="3269529" y="5334000"/>
                <a:ext cx="304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2050329" y="6096000"/>
                <a:ext cx="1066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Group 72"/>
              <p:cNvGrpSpPr/>
              <p:nvPr/>
            </p:nvGrpSpPr>
            <p:grpSpPr>
              <a:xfrm>
                <a:off x="754929" y="5244664"/>
                <a:ext cx="1600200" cy="1477015"/>
                <a:chOff x="-4648200" y="4495800"/>
                <a:chExt cx="1600200" cy="1477015"/>
              </a:xfrm>
            </p:grpSpPr>
            <p:grpSp>
              <p:nvGrpSpPr>
                <p:cNvPr id="59" name="Group 58"/>
                <p:cNvGrpSpPr/>
                <p:nvPr/>
              </p:nvGrpSpPr>
              <p:grpSpPr>
                <a:xfrm>
                  <a:off x="-4648200" y="4495800"/>
                  <a:ext cx="1600200" cy="1182624"/>
                  <a:chOff x="3048000" y="5980176"/>
                  <a:chExt cx="1600200" cy="1182624"/>
                </a:xfrm>
              </p:grpSpPr>
              <p:pic>
                <p:nvPicPr>
                  <p:cNvPr id="55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048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429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4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810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6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269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7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650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8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4031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7" name="TextBox 66"/>
                <p:cNvSpPr txBox="1"/>
                <p:nvPr/>
              </p:nvSpPr>
              <p:spPr>
                <a:xfrm>
                  <a:off x="-4233053" y="5562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2" name="Group 71"/>
              <p:cNvGrpSpPr/>
              <p:nvPr/>
            </p:nvGrpSpPr>
            <p:grpSpPr>
              <a:xfrm>
                <a:off x="7231929" y="5650468"/>
                <a:ext cx="1378671" cy="1096015"/>
                <a:chOff x="1981200" y="4495800"/>
                <a:chExt cx="1378671" cy="1096015"/>
              </a:xfrm>
            </p:grpSpPr>
            <p:grpSp>
              <p:nvGrpSpPr>
                <p:cNvPr id="68" name="Group 67"/>
                <p:cNvGrpSpPr/>
                <p:nvPr/>
              </p:nvGrpSpPr>
              <p:grpSpPr>
                <a:xfrm>
                  <a:off x="1981200" y="4495800"/>
                  <a:ext cx="1378671" cy="877824"/>
                  <a:chOff x="6781800" y="5675376"/>
                  <a:chExt cx="1378671" cy="877824"/>
                </a:xfrm>
              </p:grpSpPr>
              <p:pic>
                <p:nvPicPr>
                  <p:cNvPr id="61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6781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2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162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43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9" name="TextBox 68"/>
                <p:cNvSpPr txBox="1"/>
                <p:nvPr/>
              </p:nvSpPr>
              <p:spPr>
                <a:xfrm>
                  <a:off x="2180732" y="5181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6" name="Group 75"/>
              <p:cNvGrpSpPr/>
              <p:nvPr/>
            </p:nvGrpSpPr>
            <p:grpSpPr>
              <a:xfrm>
                <a:off x="4117414" y="5524500"/>
                <a:ext cx="1036255" cy="1210315"/>
                <a:chOff x="-1438115" y="4457700"/>
                <a:chExt cx="1036255" cy="1210315"/>
              </a:xfrm>
            </p:grpSpPr>
            <p:pic>
              <p:nvPicPr>
                <p:cNvPr id="71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1396238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4" name="TextBox 73"/>
                <p:cNvSpPr txBox="1"/>
                <p:nvPr/>
              </p:nvSpPr>
              <p:spPr>
                <a:xfrm>
                  <a:off x="-1438115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grpSp>
            <p:nvGrpSpPr>
              <p:cNvPr id="77" name="Group 76"/>
              <p:cNvGrpSpPr/>
              <p:nvPr/>
            </p:nvGrpSpPr>
            <p:grpSpPr>
              <a:xfrm>
                <a:off x="2638829" y="5524500"/>
                <a:ext cx="1036255" cy="1210315"/>
                <a:chOff x="-2916700" y="4457700"/>
                <a:chExt cx="1036255" cy="1210315"/>
              </a:xfrm>
            </p:grpSpPr>
            <p:pic>
              <p:nvPicPr>
                <p:cNvPr id="1026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2874823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5" name="TextBox 74"/>
                <p:cNvSpPr txBox="1"/>
                <p:nvPr/>
              </p:nvSpPr>
              <p:spPr>
                <a:xfrm>
                  <a:off x="-2916700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pic>
            <p:nvPicPr>
              <p:cNvPr id="50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6529" y="4800600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1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9129" y="4739046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2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31729" y="4876800"/>
                <a:ext cx="1905000" cy="1190625"/>
              </a:xfrm>
              <a:prstGeom prst="rect">
                <a:avLst/>
              </a:prstGeom>
              <a:noFill/>
            </p:spPr>
          </p:pic>
        </p:grpSp>
        <p:pic>
          <p:nvPicPr>
            <p:cNvPr id="1027" name="Picture 3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7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2944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6" name="PPTShape_0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8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0149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7" name="PPTShape_1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9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7355" y="1201703"/>
              <a:ext cx="1308100" cy="894197"/>
            </a:xfrm>
            <a:prstGeom prst="rect">
              <a:avLst/>
            </a:prstGeom>
            <a:noFill/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1089547971"/>
      </p:ext>
    </p:extLst>
  </p:cSld>
  <p:clrMapOvr>
    <a:masterClrMapping/>
  </p:clrMapOvr>
  <p:transition spd="slow"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Virtual Networks: From VLANs to Overlays</a:t>
            </a:r>
          </a:p>
        </p:txBody>
      </p:sp>
      <p:sp>
        <p:nvSpPr>
          <p:cNvPr id="3" name="Panel 1"/>
          <p:cNvSpPr/>
          <p:nvPr/>
        </p:nvSpPr>
        <p:spPr>
          <a:xfrm>
            <a:off x="1257300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Panel 1 marker"/>
          <p:cNvSpPr/>
          <p:nvPr/>
        </p:nvSpPr>
        <p:spPr>
          <a:xfrm>
            <a:off x="1531620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Panel 1 title"/>
          <p:cNvSpPr txBox="1"/>
          <p:nvPr/>
        </p:nvSpPr>
        <p:spPr>
          <a:xfrm>
            <a:off x="2080260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</a:t>
            </a:r>
          </a:p>
        </p:txBody>
      </p:sp>
      <p:sp>
        <p:nvSpPr>
          <p:cNvPr id="6" name="Panel 1 day"/>
          <p:cNvSpPr txBox="1"/>
          <p:nvPr/>
        </p:nvSpPr>
        <p:spPr>
          <a:xfrm>
            <a:off x="2080260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One switch, several LANs · Monday</a:t>
            </a:r>
          </a:p>
        </p:txBody>
      </p:sp>
      <p:sp>
        <p:nvSpPr>
          <p:cNvPr id="7" name="VLAN switch"/>
          <p:cNvSpPr/>
          <p:nvPr/>
        </p:nvSpPr>
        <p:spPr>
          <a:xfrm>
            <a:off x="1988819" y="3886200"/>
            <a:ext cx="3566160" cy="5486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Switch</a:t>
            </a:r>
          </a:p>
        </p:txBody>
      </p:sp>
      <p:cxnSp>
        <p:nvCxnSpPr>
          <p:cNvPr id="8" name="VLAN port 1"/>
          <p:cNvCxnSpPr/>
          <p:nvPr/>
        </p:nvCxnSpPr>
        <p:spPr>
          <a:xfrm>
            <a:off x="235458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VLAN pc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7400" y="5006340"/>
            <a:ext cx="594360" cy="594360"/>
          </a:xfrm>
          <a:prstGeom prst="rect">
            <a:avLst/>
          </a:prstGeom>
        </p:spPr>
      </p:pic>
      <p:cxnSp>
        <p:nvCxnSpPr>
          <p:cNvPr id="10" name="VLAN port 2"/>
          <p:cNvCxnSpPr/>
          <p:nvPr/>
        </p:nvCxnSpPr>
        <p:spPr>
          <a:xfrm>
            <a:off x="336042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VLAN pc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63239" y="5006340"/>
            <a:ext cx="594360" cy="594360"/>
          </a:xfrm>
          <a:prstGeom prst="rect">
            <a:avLst/>
          </a:prstGeom>
        </p:spPr>
      </p:pic>
      <p:cxnSp>
        <p:nvCxnSpPr>
          <p:cNvPr id="12" name="VLAN port 3"/>
          <p:cNvCxnSpPr/>
          <p:nvPr/>
        </p:nvCxnSpPr>
        <p:spPr>
          <a:xfrm>
            <a:off x="427482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VLAN pc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39" y="5006340"/>
            <a:ext cx="594360" cy="594360"/>
          </a:xfrm>
          <a:prstGeom prst="rect">
            <a:avLst/>
          </a:prstGeom>
        </p:spPr>
      </p:pic>
      <p:cxnSp>
        <p:nvCxnSpPr>
          <p:cNvPr id="14" name="VLAN port 4"/>
          <p:cNvCxnSpPr/>
          <p:nvPr/>
        </p:nvCxnSpPr>
        <p:spPr>
          <a:xfrm>
            <a:off x="523494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VLAN pc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37759" y="5006340"/>
            <a:ext cx="594360" cy="594360"/>
          </a:xfrm>
          <a:prstGeom prst="rect">
            <a:avLst/>
          </a:prstGeom>
        </p:spPr>
      </p:pic>
      <p:sp>
        <p:nvSpPr>
          <p:cNvPr id="16" name="VLAN key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Teller VLAN</a:t>
            </a:r>
          </a:p>
        </p:txBody>
      </p:sp>
      <p:sp>
        <p:nvSpPr>
          <p:cNvPr id="17" name="VLAN key 2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Guest VLAN</a:t>
            </a:r>
          </a:p>
        </p:txBody>
      </p:sp>
      <p:sp>
        <p:nvSpPr>
          <p:cNvPr id="18" name="Panel 2"/>
          <p:cNvSpPr/>
          <p:nvPr/>
        </p:nvSpPr>
        <p:spPr>
          <a:xfrm>
            <a:off x="6633972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Panel 2 marker"/>
          <p:cNvSpPr/>
          <p:nvPr/>
        </p:nvSpPr>
        <p:spPr>
          <a:xfrm>
            <a:off x="6908292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0" name="Panel 2 title"/>
          <p:cNvSpPr txBox="1"/>
          <p:nvPr/>
        </p:nvSpPr>
        <p:spPr>
          <a:xfrm>
            <a:off x="7456931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Tunnels</a:t>
            </a:r>
          </a:p>
        </p:txBody>
      </p:sp>
      <p:sp>
        <p:nvSpPr>
          <p:cNvPr id="21" name="Panel 2 day"/>
          <p:cNvSpPr txBox="1"/>
          <p:nvPr/>
        </p:nvSpPr>
        <p:spPr>
          <a:xfrm>
            <a:off x="7456931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 private network across the internet · Tuesday</a:t>
            </a:r>
          </a:p>
        </p:txBody>
      </p:sp>
      <p:pic>
        <p:nvPicPr>
          <p:cNvPr id="22" name="Tunnel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2731" y="3611879"/>
            <a:ext cx="2011680" cy="2011680"/>
          </a:xfrm>
          <a:prstGeom prst="rect">
            <a:avLst/>
          </a:prstGeom>
        </p:spPr>
      </p:pic>
      <p:pic>
        <p:nvPicPr>
          <p:cNvPr id="23" name="Tunnel branc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4011" y="4480559"/>
            <a:ext cx="731520" cy="731520"/>
          </a:xfrm>
          <a:prstGeom prst="rect">
            <a:avLst/>
          </a:prstGeom>
        </p:spPr>
      </p:pic>
      <p:pic>
        <p:nvPicPr>
          <p:cNvPr id="24" name="Tunnel hq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11611" y="4480559"/>
            <a:ext cx="731520" cy="731520"/>
          </a:xfrm>
          <a:prstGeom prst="rect">
            <a:avLst/>
          </a:prstGeom>
        </p:spPr>
      </p:pic>
      <p:cxnSp>
        <p:nvCxnSpPr>
          <p:cNvPr id="25" name="Tunnel pip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177800">
            <a:solidFill>
              <a:srgbClr val="BDD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Tunnel cor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317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unnel label"/>
          <p:cNvSpPr txBox="1"/>
          <p:nvPr/>
        </p:nvSpPr>
        <p:spPr>
          <a:xfrm>
            <a:off x="6908292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Encrypted VPN or SD-WAN tunnel</a:t>
            </a:r>
          </a:p>
        </p:txBody>
      </p:sp>
      <p:sp>
        <p:nvSpPr>
          <p:cNvPr id="28" name="Panel 3"/>
          <p:cNvSpPr/>
          <p:nvPr/>
        </p:nvSpPr>
        <p:spPr>
          <a:xfrm>
            <a:off x="12010644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Panel 3 marker"/>
          <p:cNvSpPr/>
          <p:nvPr/>
        </p:nvSpPr>
        <p:spPr>
          <a:xfrm>
            <a:off x="12284964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0" name="Panel 3 title"/>
          <p:cNvSpPr txBox="1"/>
          <p:nvPr/>
        </p:nvSpPr>
        <p:spPr>
          <a:xfrm>
            <a:off x="12833604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Overlays</a:t>
            </a:r>
          </a:p>
        </p:txBody>
      </p:sp>
      <p:sp>
        <p:nvSpPr>
          <p:cNvPr id="31" name="Panel 3 day"/>
          <p:cNvSpPr txBox="1"/>
          <p:nvPr/>
        </p:nvSpPr>
        <p:spPr>
          <a:xfrm>
            <a:off x="12833604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In the datacenter and the cloud · today</a:t>
            </a:r>
          </a:p>
        </p:txBody>
      </p:sp>
      <p:sp>
        <p:nvSpPr>
          <p:cNvPr id="32" name="Server 1"/>
          <p:cNvSpPr/>
          <p:nvPr/>
        </p:nvSpPr>
        <p:spPr>
          <a:xfrm>
            <a:off x="1237640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Server 1 label"/>
          <p:cNvSpPr txBox="1"/>
          <p:nvPr/>
        </p:nvSpPr>
        <p:spPr>
          <a:xfrm>
            <a:off x="1237640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4" name="VM 1a"/>
          <p:cNvSpPr/>
          <p:nvPr/>
        </p:nvSpPr>
        <p:spPr>
          <a:xfrm>
            <a:off x="12513563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5" name="VM 1b"/>
          <p:cNvSpPr/>
          <p:nvPr/>
        </p:nvSpPr>
        <p:spPr>
          <a:xfrm>
            <a:off x="1333652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6" name="Server 2"/>
          <p:cNvSpPr/>
          <p:nvPr/>
        </p:nvSpPr>
        <p:spPr>
          <a:xfrm>
            <a:off x="1493672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Server 2 label"/>
          <p:cNvSpPr txBox="1"/>
          <p:nvPr/>
        </p:nvSpPr>
        <p:spPr>
          <a:xfrm>
            <a:off x="1493672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8" name="VM 2a"/>
          <p:cNvSpPr/>
          <p:nvPr/>
        </p:nvSpPr>
        <p:spPr>
          <a:xfrm>
            <a:off x="1507388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9" name="VM 2b"/>
          <p:cNvSpPr/>
          <p:nvPr/>
        </p:nvSpPr>
        <p:spPr>
          <a:xfrm>
            <a:off x="1589684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cxnSp>
        <p:nvCxnSpPr>
          <p:cNvPr id="40" name="Underlay"/>
          <p:cNvCxnSpPr/>
          <p:nvPr/>
        </p:nvCxnSpPr>
        <p:spPr>
          <a:xfrm>
            <a:off x="14113763" y="5349240"/>
            <a:ext cx="822961" cy="0"/>
          </a:xfrm>
          <a:prstGeom prst="line">
            <a:avLst/>
          </a:prstGeom>
          <a:ln w="508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Overlay blue up1"/>
          <p:cNvCxnSpPr/>
          <p:nvPr/>
        </p:nvCxnSpPr>
        <p:spPr>
          <a:xfrm flipV="1">
            <a:off x="128793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Overlay blue top"/>
          <p:cNvCxnSpPr/>
          <p:nvPr/>
        </p:nvCxnSpPr>
        <p:spPr>
          <a:xfrm>
            <a:off x="12879324" y="3977639"/>
            <a:ext cx="2514600" cy="0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Overlay blue up2"/>
          <p:cNvCxnSpPr/>
          <p:nvPr/>
        </p:nvCxnSpPr>
        <p:spPr>
          <a:xfrm>
            <a:off x="153939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Overlay orange up1"/>
          <p:cNvCxnSpPr/>
          <p:nvPr/>
        </p:nvCxnSpPr>
        <p:spPr>
          <a:xfrm flipV="1">
            <a:off x="1365656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Overlay orange top"/>
          <p:cNvCxnSpPr/>
          <p:nvPr/>
        </p:nvCxnSpPr>
        <p:spPr>
          <a:xfrm>
            <a:off x="13656564" y="4297680"/>
            <a:ext cx="2560320" cy="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Overlay orange up2"/>
          <p:cNvCxnSpPr/>
          <p:nvPr/>
        </p:nvCxnSpPr>
        <p:spPr>
          <a:xfrm>
            <a:off x="1621688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erlay label"/>
          <p:cNvSpPr txBox="1"/>
          <p:nvPr/>
        </p:nvSpPr>
        <p:spPr>
          <a:xfrm>
            <a:off x="12284964" y="361188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virtual networks (overlay)</a:t>
            </a:r>
          </a:p>
        </p:txBody>
      </p:sp>
      <p:sp>
        <p:nvSpPr>
          <p:cNvPr id="48" name="Underlay label"/>
          <p:cNvSpPr txBox="1"/>
          <p:nvPr/>
        </p:nvSpPr>
        <p:spPr>
          <a:xfrm>
            <a:off x="12284964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Physical network underneath (underlay)</a:t>
            </a:r>
          </a:p>
        </p:txBody>
      </p:sp>
      <p:sp>
        <p:nvSpPr>
          <p:cNvPr id="49" name="Same idea"/>
          <p:cNvSpPr txBox="1"/>
          <p:nvPr/>
        </p:nvSpPr>
        <p:spPr>
          <a:xfrm>
            <a:off x="1257300" y="66751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Same idea every time: networks defined by configuration, not by cables</a:t>
            </a:r>
          </a:p>
        </p:txBody>
      </p:sp>
      <p:sp>
        <p:nvSpPr>
          <p:cNvPr id="50" name="Risk 1"/>
          <p:cNvSpPr/>
          <p:nvPr/>
        </p:nvSpPr>
        <p:spPr>
          <a:xfrm>
            <a:off x="1257300" y="7269480"/>
            <a:ext cx="5029200" cy="19202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isk 1 text"/>
          <p:cNvSpPr txBox="1"/>
          <p:nvPr/>
        </p:nvSpPr>
        <p:spPr>
          <a:xfrm>
            <a:off x="1513332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Invisible on the diagram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 networks don’t appear on a cable map. InTREx asks whether the topology accurately depicts the virtualized environment.</a:t>
            </a:r>
          </a:p>
        </p:txBody>
      </p:sp>
      <p:sp>
        <p:nvSpPr>
          <p:cNvPr id="52" name="Risk 2"/>
          <p:cNvSpPr/>
          <p:nvPr/>
        </p:nvSpPr>
        <p:spPr>
          <a:xfrm>
            <a:off x="6633972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isk 2 text"/>
          <p:cNvSpPr txBox="1"/>
          <p:nvPr/>
        </p:nvSpPr>
        <p:spPr>
          <a:xfrm>
            <a:off x="6890004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the firewall never sees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Two virtual machines on the same server can talk without ever crossing a physical firewall.</a:t>
            </a:r>
          </a:p>
        </p:txBody>
      </p:sp>
      <p:sp>
        <p:nvSpPr>
          <p:cNvPr id="54" name="Risk 3"/>
          <p:cNvSpPr/>
          <p:nvPr/>
        </p:nvSpPr>
        <p:spPr>
          <a:xfrm>
            <a:off x="12010644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5" name="Risk 3 text"/>
          <p:cNvSpPr txBox="1"/>
          <p:nvPr/>
        </p:nvSpPr>
        <p:spPr>
          <a:xfrm>
            <a:off x="12266676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change, many networks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single configuration mistake can merge networks that were meant to stay apart.</a:t>
            </a:r>
          </a:p>
        </p:txBody>
      </p:sp>
    </p:spTree>
    <p:extLst>
      <p:ext uri="{BB962C8B-B14F-4D97-AF65-F5344CB8AC3E}">
        <p14:creationId xmlns:p14="http://schemas.microsoft.com/office/powerpoint/2010/main" val="211256260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D9B57-3A76-0A49-9BB9-64D558A13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438" y="204786"/>
            <a:ext cx="17246359" cy="1988345"/>
          </a:xfrm>
        </p:spPr>
        <p:txBody>
          <a:bodyPr/>
          <a:lstStyle/>
          <a:p>
            <a:r>
              <a:rPr lang="en-US"/>
              <a:t>A Step Beyond Virtualization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9E978-5D0B-8440-ADCE-B894B776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142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18B01-09DC-F020-4620-57A0426E9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Clouds initially took existing applications and placed them on virtual servers</a:t>
            </a:r>
          </a:p>
          <a:p>
            <a:r>
              <a:rPr lang="en-US"/>
              <a:t>Each virtual server has its own full-blown operating system</a:t>
            </a:r>
          </a:p>
          <a:p>
            <a:r>
              <a:rPr lang="en-US"/>
              <a:t>Containerization looks at separate (isolated) application space</a:t>
            </a:r>
          </a:p>
          <a:p>
            <a:pPr lvl="1"/>
            <a:r>
              <a:rPr lang="en-US"/>
              <a:t>Operating System (OS)</a:t>
            </a:r>
          </a:p>
          <a:p>
            <a:pPr lvl="1"/>
            <a:r>
              <a:rPr lang="en-US"/>
              <a:t>Application</a:t>
            </a:r>
          </a:p>
          <a:p>
            <a:r>
              <a:rPr lang="en-US"/>
              <a:t>Multiple application containers may run in the same OS container (virtualized OS)</a:t>
            </a:r>
          </a:p>
          <a:p>
            <a:r>
              <a:rPr lang="en-US"/>
              <a:t>OS container may offer limited functions (lightweight) reducing processor load</a:t>
            </a:r>
          </a:p>
          <a:p>
            <a:r>
              <a:rPr lang="en-US"/>
              <a:t>Automated orchestration to manage cloud workloads (e.g. Kubernetes) 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247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Traditional Application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58076" cy="6967198"/>
          </a:xfrm>
        </p:spPr>
        <p:txBody>
          <a:bodyPr/>
          <a:lstStyle/>
          <a:p>
            <a:r>
              <a:rPr lang="en-US"/>
              <a:t>Application a single entity with multiple functions built-in</a:t>
            </a:r>
          </a:p>
          <a:p>
            <a:r>
              <a:rPr lang="en-US"/>
              <a:t>Developed using a single programming language</a:t>
            </a:r>
          </a:p>
          <a:p>
            <a:r>
              <a:rPr lang="en-US"/>
              <a:t>Large complex code set</a:t>
            </a:r>
          </a:p>
          <a:p>
            <a:r>
              <a:rPr lang="en-US"/>
              <a:t>Difficult to modify and redeploy</a:t>
            </a:r>
          </a:p>
          <a:p>
            <a:r>
              <a:rPr lang="en-US"/>
              <a:t>If one function is busy a whole new instance needs to be turned up to meet the demand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ADB6BC-B658-BE03-B4D3-953DE5B7DE7B}"/>
              </a:ext>
            </a:extLst>
          </p:cNvPr>
          <p:cNvGrpSpPr/>
          <p:nvPr/>
        </p:nvGrpSpPr>
        <p:grpSpPr>
          <a:xfrm>
            <a:off x="10551523" y="2542799"/>
            <a:ext cx="6479177" cy="6267861"/>
            <a:chOff x="1991962" y="3814352"/>
            <a:chExt cx="6479177" cy="6267861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FC512C8-FDF9-C75F-4E93-E0D928CAEA62}"/>
                </a:ext>
              </a:extLst>
            </p:cNvPr>
            <p:cNvSpPr/>
            <p:nvPr/>
          </p:nvSpPr>
          <p:spPr>
            <a:xfrm>
              <a:off x="1991962" y="3814352"/>
              <a:ext cx="6479177" cy="626786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3C430C2-36CC-83E3-77A1-9E066B17207C}"/>
                </a:ext>
              </a:extLst>
            </p:cNvPr>
            <p:cNvSpPr txBox="1"/>
            <p:nvPr/>
          </p:nvSpPr>
          <p:spPr>
            <a:xfrm>
              <a:off x="3840481" y="3996784"/>
              <a:ext cx="259398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Monolithic</a:t>
              </a:r>
            </a:p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2455815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5719897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2455816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5719897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2455815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5719897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25274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Containers and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1040" y="2063627"/>
            <a:ext cx="9624062" cy="7838019"/>
          </a:xfrm>
        </p:spPr>
        <p:txBody>
          <a:bodyPr>
            <a:normAutofit lnSpcReduction="10000"/>
          </a:bodyPr>
          <a:lstStyle/>
          <a:p>
            <a:r>
              <a:rPr lang="en-US"/>
              <a:t>Cloud infrastructure offers offers a highly scalable environment for computing, storage and communication across multiple datacenters</a:t>
            </a:r>
          </a:p>
          <a:p>
            <a:r>
              <a:rPr lang="en-US"/>
              <a:t>Containers along with automated orchestration offer a flexible, scalable computing environment</a:t>
            </a:r>
          </a:p>
          <a:p>
            <a:r>
              <a:rPr lang="en-US"/>
              <a:t>Microservices implement functions independently in their own container</a:t>
            </a:r>
          </a:p>
          <a:p>
            <a:r>
              <a:rPr lang="en-US"/>
              <a:t>Microservices communicate with one another to deliver business services</a:t>
            </a:r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9E0FFF-813C-D7F2-CB88-30AA213944A9}"/>
              </a:ext>
            </a:extLst>
          </p:cNvPr>
          <p:cNvGrpSpPr/>
          <p:nvPr/>
        </p:nvGrpSpPr>
        <p:grpSpPr>
          <a:xfrm>
            <a:off x="1250769" y="3724038"/>
            <a:ext cx="5197384" cy="3942222"/>
            <a:chOff x="7161833" y="6898312"/>
            <a:chExt cx="5197384" cy="3942222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7161833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10425915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7161834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10425915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7161833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10425915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09202A-1925-9099-7611-5B9EC38FB1F4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184072" y="566850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187406-1D5A-E971-86E2-5708923D5B4A}"/>
              </a:ext>
            </a:extLst>
          </p:cNvPr>
          <p:cNvCxnSpPr/>
          <p:nvPr/>
        </p:nvCxnSpPr>
        <p:spPr>
          <a:xfrm>
            <a:off x="3184071" y="708636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6E6E9A-ED90-3CFB-7695-2FDD388FD479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2217420" y="4847444"/>
            <a:ext cx="1" cy="259354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20046-0ACB-EE5A-E8FD-1587F9BE43C3}"/>
              </a:ext>
            </a:extLst>
          </p:cNvPr>
          <p:cNvCxnSpPr>
            <a:cxnSpLocks/>
          </p:cNvCxnSpPr>
          <p:nvPr/>
        </p:nvCxnSpPr>
        <p:spPr>
          <a:xfrm flipV="1">
            <a:off x="3045824" y="4847444"/>
            <a:ext cx="1773827" cy="30834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EAB11C3-2F0E-416E-BA1C-54F7AF96E2A4}"/>
              </a:ext>
            </a:extLst>
          </p:cNvPr>
          <p:cNvCxnSpPr>
            <a:cxnSpLocks/>
          </p:cNvCxnSpPr>
          <p:nvPr/>
        </p:nvCxnSpPr>
        <p:spPr>
          <a:xfrm flipV="1">
            <a:off x="3137264" y="6230204"/>
            <a:ext cx="1529987" cy="856157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09C6494-18A6-FFFD-4A25-C4B3307DC409}"/>
              </a:ext>
            </a:extLst>
          </p:cNvPr>
          <p:cNvCxnSpPr/>
          <p:nvPr/>
        </p:nvCxnSpPr>
        <p:spPr>
          <a:xfrm>
            <a:off x="3185161" y="428574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C3AB58-6175-0B34-25C7-01BF5C11F77D}"/>
              </a:ext>
            </a:extLst>
          </p:cNvPr>
          <p:cNvCxnSpPr>
            <a:cxnSpLocks/>
          </p:cNvCxnSpPr>
          <p:nvPr/>
        </p:nvCxnSpPr>
        <p:spPr>
          <a:xfrm>
            <a:off x="3003641" y="6128419"/>
            <a:ext cx="1663610" cy="529863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A8E5A73F-7DD2-4974-DF19-0706BFE5932C}"/>
              </a:ext>
            </a:extLst>
          </p:cNvPr>
          <p:cNvSpPr/>
          <p:nvPr/>
        </p:nvSpPr>
        <p:spPr>
          <a:xfrm>
            <a:off x="1250769" y="4285741"/>
            <a:ext cx="914400" cy="914400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6A58DF17-EB93-1430-1FA3-828A69466623}"/>
              </a:ext>
            </a:extLst>
          </p:cNvPr>
          <p:cNvSpPr/>
          <p:nvPr/>
        </p:nvSpPr>
        <p:spPr>
          <a:xfrm>
            <a:off x="508962" y="4323806"/>
            <a:ext cx="758135" cy="2835053"/>
          </a:xfrm>
          <a:custGeom>
            <a:avLst/>
            <a:gdLst>
              <a:gd name="connsiteX0" fmla="*/ 758135 w 758135"/>
              <a:gd name="connsiteY0" fmla="*/ 0 h 2835053"/>
              <a:gd name="connsiteX1" fmla="*/ 274809 w 758135"/>
              <a:gd name="connsiteY1" fmla="*/ 248194 h 2835053"/>
              <a:gd name="connsiteX2" fmla="*/ 489 w 758135"/>
              <a:gd name="connsiteY2" fmla="*/ 1397725 h 2835053"/>
              <a:gd name="connsiteX3" fmla="*/ 222558 w 758135"/>
              <a:gd name="connsiteY3" fmla="*/ 2599508 h 2835053"/>
              <a:gd name="connsiteX4" fmla="*/ 732009 w 758135"/>
              <a:gd name="connsiteY4" fmla="*/ 2834640 h 2835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8135" h="2835053">
                <a:moveTo>
                  <a:pt x="758135" y="0"/>
                </a:moveTo>
                <a:cubicBezTo>
                  <a:pt x="579609" y="7620"/>
                  <a:pt x="401083" y="15240"/>
                  <a:pt x="274809" y="248194"/>
                </a:cubicBezTo>
                <a:cubicBezTo>
                  <a:pt x="148535" y="481148"/>
                  <a:pt x="9197" y="1005839"/>
                  <a:pt x="489" y="1397725"/>
                </a:cubicBezTo>
                <a:cubicBezTo>
                  <a:pt x="-8220" y="1789611"/>
                  <a:pt x="100638" y="2360022"/>
                  <a:pt x="222558" y="2599508"/>
                </a:cubicBezTo>
                <a:cubicBezTo>
                  <a:pt x="344478" y="2838994"/>
                  <a:pt x="538243" y="2836817"/>
                  <a:pt x="732009" y="283464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05075698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0297-9CB9-3CF5-3C11-589B0E274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57725-B301-981F-B9C2-DB9B1974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Independent processes for every application or function</a:t>
            </a:r>
          </a:p>
          <a:p>
            <a:r>
              <a:rPr lang="en-US" dirty="0"/>
              <a:t>Processes connect via APIs and send data through a communications or messaging system</a:t>
            </a:r>
          </a:p>
          <a:p>
            <a:r>
              <a:rPr lang="en-US" dirty="0"/>
              <a:t>If one process is loaded a new instance can be spun up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Independent development (small teams, different languages...)</a:t>
            </a:r>
          </a:p>
          <a:p>
            <a:pPr lvl="1"/>
            <a:r>
              <a:rPr lang="en-US" dirty="0"/>
              <a:t>Easier to update</a:t>
            </a:r>
          </a:p>
          <a:p>
            <a:pPr lvl="1"/>
            <a:r>
              <a:rPr lang="en-US" dirty="0"/>
              <a:t>Scalable</a:t>
            </a:r>
          </a:p>
          <a:p>
            <a:pPr lvl="1"/>
            <a:r>
              <a:rPr lang="en-US" dirty="0"/>
              <a:t>Expandable</a:t>
            </a:r>
          </a:p>
          <a:p>
            <a:r>
              <a:rPr lang="en-US" dirty="0"/>
              <a:t>Many support tools to facilitate orchestration, communication, workload assignment, security, deploy updated services…</a:t>
            </a:r>
          </a:p>
        </p:txBody>
      </p:sp>
    </p:spTree>
    <p:extLst>
      <p:ext uri="{BB962C8B-B14F-4D97-AF65-F5344CB8AC3E}">
        <p14:creationId xmlns:p14="http://schemas.microsoft.com/office/powerpoint/2010/main" val="14786556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15: Cloud Basics and the Big Three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Deployment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207741" cy="6967198"/>
          </a:xfrm>
        </p:spPr>
        <p:txBody>
          <a:bodyPr/>
          <a:lstStyle/>
          <a:p>
            <a:r>
              <a:rPr lang="en-US"/>
              <a:t>Cloud services come in four variants</a:t>
            </a:r>
          </a:p>
          <a:p>
            <a:pPr lvl="1"/>
            <a:r>
              <a:rPr lang="en-US"/>
              <a:t>Private – infrastructure deployed for a single entity</a:t>
            </a:r>
          </a:p>
          <a:p>
            <a:pPr lvl="1"/>
            <a:r>
              <a:rPr lang="en-US"/>
              <a:t>Community – provisioned for a community (e.g. government agencies)</a:t>
            </a:r>
          </a:p>
          <a:p>
            <a:pPr lvl="1"/>
            <a:r>
              <a:rPr lang="en-US"/>
              <a:t>Public – open to use by anyone</a:t>
            </a:r>
          </a:p>
          <a:p>
            <a:pPr lvl="1"/>
            <a:r>
              <a:rPr lang="en-US"/>
              <a:t>Hybrid – combination of two or more cloud infrastructures</a:t>
            </a:r>
          </a:p>
          <a:p>
            <a:r>
              <a:rPr lang="en-US"/>
              <a:t>Many organizations use cloud services for select applications</a:t>
            </a:r>
          </a:p>
          <a:p>
            <a:r>
              <a:rPr lang="en-US"/>
              <a:t>Multi-cloud is the norm</a:t>
            </a:r>
          </a:p>
          <a:p>
            <a:r>
              <a:rPr lang="en-US"/>
              <a:t>Migration ongoing for most organizations</a:t>
            </a:r>
          </a:p>
          <a:p>
            <a:r>
              <a:rPr lang="en-US"/>
              <a:t>Responsibilities depend on deployment and service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257300" y="9607210"/>
            <a:ext cx="3330454" cy="475003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58771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4655C8F-BC94-3E4F-9DD9-7F3B212DA701}"/>
              </a:ext>
            </a:extLst>
          </p:cNvPr>
          <p:cNvSpPr/>
          <p:nvPr/>
        </p:nvSpPr>
        <p:spPr bwMode="auto">
          <a:xfrm>
            <a:off x="3196686" y="6045270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ADF64B-A717-4267-9922-175EC547B790}"/>
              </a:ext>
            </a:extLst>
          </p:cNvPr>
          <p:cNvSpPr/>
          <p:nvPr/>
        </p:nvSpPr>
        <p:spPr bwMode="auto">
          <a:xfrm>
            <a:off x="10306247" y="8936293"/>
            <a:ext cx="2157864" cy="751131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816B5-5F99-41FD-A62B-48C271A5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Service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5294A-4FB2-477E-886A-F7CC1D44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DCF4-EBDD-4FE1-8465-FD383573D554}" type="slidenum">
              <a:rPr lang="en-US" smtClean="0"/>
              <a:pPr/>
              <a:t>148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F8E1F9-F3C9-4F31-B9D8-7C668E77E258}"/>
              </a:ext>
            </a:extLst>
          </p:cNvPr>
          <p:cNvSpPr/>
          <p:nvPr/>
        </p:nvSpPr>
        <p:spPr bwMode="auto">
          <a:xfrm>
            <a:off x="8001000" y="5257800"/>
            <a:ext cx="72009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solidFill>
                <a:schemeClr val="bg1"/>
              </a:solidFill>
              <a:latin typeface="Arial Narrow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6DCBD8-AF9F-41A4-872E-46FA2D095A97}"/>
              </a:ext>
            </a:extLst>
          </p:cNvPr>
          <p:cNvSpPr/>
          <p:nvPr/>
        </p:nvSpPr>
        <p:spPr bwMode="auto">
          <a:xfrm>
            <a:off x="12881928" y="4473858"/>
            <a:ext cx="2205672" cy="603440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0394D0-A06C-48A1-90D2-FDB546B1DC43}"/>
              </a:ext>
            </a:extLst>
          </p:cNvPr>
          <p:cNvSpPr/>
          <p:nvPr/>
        </p:nvSpPr>
        <p:spPr bwMode="auto">
          <a:xfrm>
            <a:off x="3200400" y="4457700"/>
            <a:ext cx="9681528" cy="6195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010C7B-08CB-4B56-A036-8B22A01010BC}"/>
              </a:ext>
            </a:extLst>
          </p:cNvPr>
          <p:cNvSpPr/>
          <p:nvPr/>
        </p:nvSpPr>
        <p:spPr bwMode="auto">
          <a:xfrm>
            <a:off x="3200400" y="3657600"/>
            <a:ext cx="120015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2EB872-87CC-4360-A645-168A9A7B4981}"/>
              </a:ext>
            </a:extLst>
          </p:cNvPr>
          <p:cNvSpPr/>
          <p:nvPr/>
        </p:nvSpPr>
        <p:spPr bwMode="auto">
          <a:xfrm>
            <a:off x="5600700" y="6858000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798EDF-D4C7-4855-953C-126F2002EBFF}"/>
              </a:ext>
            </a:extLst>
          </p:cNvPr>
          <p:cNvSpPr/>
          <p:nvPr/>
        </p:nvSpPr>
        <p:spPr bwMode="auto">
          <a:xfrm>
            <a:off x="3200400" y="7658100"/>
            <a:ext cx="120015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BC1F20-F9C1-4E0D-9858-29F51A05E9F9}"/>
              </a:ext>
            </a:extLst>
          </p:cNvPr>
          <p:cNvSpPr/>
          <p:nvPr/>
        </p:nvSpPr>
        <p:spPr bwMode="auto">
          <a:xfrm>
            <a:off x="3200400" y="6874158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8045F-E649-4E36-A002-1269B80C8D59}"/>
              </a:ext>
            </a:extLst>
          </p:cNvPr>
          <p:cNvSpPr/>
          <p:nvPr/>
        </p:nvSpPr>
        <p:spPr bwMode="auto">
          <a:xfrm>
            <a:off x="3200400" y="5257800"/>
            <a:ext cx="48006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C5FEA1-1054-41E9-B6D7-DC6E073EDEDC}"/>
              </a:ext>
            </a:extLst>
          </p:cNvPr>
          <p:cNvSpPr txBox="1"/>
          <p:nvPr/>
        </p:nvSpPr>
        <p:spPr>
          <a:xfrm>
            <a:off x="4608197" y="7701476"/>
            <a:ext cx="85472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Facility, power, rack, environment controls, fire control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8ABC02-C72C-45A4-B203-49C1913F1182}"/>
              </a:ext>
            </a:extLst>
          </p:cNvPr>
          <p:cNvSpPr txBox="1"/>
          <p:nvPr/>
        </p:nvSpPr>
        <p:spPr>
          <a:xfrm>
            <a:off x="8827005" y="6856772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777B81-C97A-43F1-9C34-FE77180C1E9B}"/>
              </a:ext>
            </a:extLst>
          </p:cNvPr>
          <p:cNvSpPr txBox="1"/>
          <p:nvPr/>
        </p:nvSpPr>
        <p:spPr>
          <a:xfrm>
            <a:off x="2978193" y="6879074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594784-0CE6-4E36-8DD9-CA2005404F07}"/>
              </a:ext>
            </a:extLst>
          </p:cNvPr>
          <p:cNvSpPr/>
          <p:nvPr/>
        </p:nvSpPr>
        <p:spPr bwMode="auto">
          <a:xfrm>
            <a:off x="5600700" y="6057901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25BA8A-1248-44A0-BE70-6D2E1496512C}"/>
              </a:ext>
            </a:extLst>
          </p:cNvPr>
          <p:cNvSpPr txBox="1"/>
          <p:nvPr/>
        </p:nvSpPr>
        <p:spPr>
          <a:xfrm>
            <a:off x="8842916" y="6056672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252116-2E73-49E7-9D5D-8C5107E4D7F5}"/>
              </a:ext>
            </a:extLst>
          </p:cNvPr>
          <p:cNvSpPr txBox="1"/>
          <p:nvPr/>
        </p:nvSpPr>
        <p:spPr>
          <a:xfrm>
            <a:off x="3380443" y="6078974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AEFAB-113C-4041-AFD9-316CAB7AB24F}"/>
              </a:ext>
            </a:extLst>
          </p:cNvPr>
          <p:cNvSpPr txBox="1"/>
          <p:nvPr/>
        </p:nvSpPr>
        <p:spPr>
          <a:xfrm>
            <a:off x="109404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1B619-E118-4FF6-A30D-3D99B4E45293}"/>
              </a:ext>
            </a:extLst>
          </p:cNvPr>
          <p:cNvSpPr txBox="1"/>
          <p:nvPr/>
        </p:nvSpPr>
        <p:spPr>
          <a:xfrm>
            <a:off x="51111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A856B-FD1B-4127-966A-B60D37F173EB}"/>
              </a:ext>
            </a:extLst>
          </p:cNvPr>
          <p:cNvSpPr txBox="1"/>
          <p:nvPr/>
        </p:nvSpPr>
        <p:spPr>
          <a:xfrm>
            <a:off x="6772679" y="450107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525313-39AB-42D6-8F00-BC582A06B04A}"/>
              </a:ext>
            </a:extLst>
          </p:cNvPr>
          <p:cNvSpPr txBox="1"/>
          <p:nvPr/>
        </p:nvSpPr>
        <p:spPr>
          <a:xfrm>
            <a:off x="12957715" y="452739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DC8ED-6B05-497C-90E2-CE1A7B1AFF94}"/>
              </a:ext>
            </a:extLst>
          </p:cNvPr>
          <p:cNvSpPr txBox="1"/>
          <p:nvPr/>
        </p:nvSpPr>
        <p:spPr>
          <a:xfrm>
            <a:off x="7315201" y="3723278"/>
            <a:ext cx="264207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Access Controls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B540-BA3D-4A4A-BF0C-1F569E86CF16}"/>
              </a:ext>
            </a:extLst>
          </p:cNvPr>
          <p:cNvSpPr/>
          <p:nvPr/>
        </p:nvSpPr>
        <p:spPr bwMode="auto">
          <a:xfrm>
            <a:off x="5176224" y="8985544"/>
            <a:ext cx="2862318" cy="7511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46069B-4A07-40F7-ABCD-3198C59119CA}"/>
              </a:ext>
            </a:extLst>
          </p:cNvPr>
          <p:cNvSpPr txBox="1"/>
          <p:nvPr/>
        </p:nvSpPr>
        <p:spPr>
          <a:xfrm>
            <a:off x="10623077" y="9084111"/>
            <a:ext cx="14795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Provider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B18EF8-05FE-46A4-9A96-10499730A1F4}"/>
              </a:ext>
            </a:extLst>
          </p:cNvPr>
          <p:cNvSpPr txBox="1"/>
          <p:nvPr/>
        </p:nvSpPr>
        <p:spPr>
          <a:xfrm>
            <a:off x="5764268" y="9049992"/>
            <a:ext cx="168623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Customer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0E1641-865C-41EF-8863-859A347CE93D}"/>
              </a:ext>
            </a:extLst>
          </p:cNvPr>
          <p:cNvSpPr txBox="1"/>
          <p:nvPr/>
        </p:nvSpPr>
        <p:spPr>
          <a:xfrm>
            <a:off x="1976441" y="9144000"/>
            <a:ext cx="23374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Responsibility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A8117-6A39-45CE-A3E7-C10FC98E9646}"/>
              </a:ext>
            </a:extLst>
          </p:cNvPr>
          <p:cNvSpPr txBox="1"/>
          <p:nvPr/>
        </p:nvSpPr>
        <p:spPr>
          <a:xfrm>
            <a:off x="3505018" y="2669486"/>
            <a:ext cx="8755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Colo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556EF8-BDA2-4085-94DC-C39EAD94E1B9}"/>
              </a:ext>
            </a:extLst>
          </p:cNvPr>
          <p:cNvSpPr txBox="1"/>
          <p:nvPr/>
        </p:nvSpPr>
        <p:spPr>
          <a:xfrm>
            <a:off x="5937779" y="2669486"/>
            <a:ext cx="8531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IaaS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E738A0-0039-49DF-B93A-CFB52BE353A1}"/>
              </a:ext>
            </a:extLst>
          </p:cNvPr>
          <p:cNvSpPr txBox="1"/>
          <p:nvPr/>
        </p:nvSpPr>
        <p:spPr>
          <a:xfrm>
            <a:off x="9524636" y="2669486"/>
            <a:ext cx="9471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PaaS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205075-3FE1-4EEA-8251-B98195081289}"/>
              </a:ext>
            </a:extLst>
          </p:cNvPr>
          <p:cNvSpPr txBox="1"/>
          <p:nvPr/>
        </p:nvSpPr>
        <p:spPr>
          <a:xfrm>
            <a:off x="13067936" y="2669486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SaaS</a:t>
            </a:r>
          </a:p>
        </p:txBody>
      </p:sp>
    </p:spTree>
    <p:extLst>
      <p:ext uri="{BB962C8B-B14F-4D97-AF65-F5344CB8AC3E}">
        <p14:creationId xmlns:p14="http://schemas.microsoft.com/office/powerpoint/2010/main" val="346104037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Shared Responsibility: Who Secures What</a:t>
            </a:r>
          </a:p>
        </p:txBody>
      </p:sp>
      <p:sp>
        <p:nvSpPr>
          <p:cNvPr id="3" name="Grid head IaaS"/>
          <p:cNvSpPr txBox="1"/>
          <p:nvPr/>
        </p:nvSpPr>
        <p:spPr>
          <a:xfrm>
            <a:off x="480060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IaaS</a:t>
            </a:r>
          </a:p>
        </p:txBody>
      </p:sp>
      <p:sp>
        <p:nvSpPr>
          <p:cNvPr id="4" name="Grid head PaaS"/>
          <p:cNvSpPr txBox="1"/>
          <p:nvPr/>
        </p:nvSpPr>
        <p:spPr>
          <a:xfrm>
            <a:off x="667512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PaaS</a:t>
            </a:r>
          </a:p>
        </p:txBody>
      </p:sp>
      <p:sp>
        <p:nvSpPr>
          <p:cNvPr id="5" name="Grid head SaaS"/>
          <p:cNvSpPr txBox="1"/>
          <p:nvPr/>
        </p:nvSpPr>
        <p:spPr>
          <a:xfrm>
            <a:off x="854964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1257300" y="32461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7" name="Cell 1-1"/>
          <p:cNvSpPr/>
          <p:nvPr/>
        </p:nvSpPr>
        <p:spPr>
          <a:xfrm>
            <a:off x="480060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8" name="Cell 1-2"/>
          <p:cNvSpPr/>
          <p:nvPr/>
        </p:nvSpPr>
        <p:spPr>
          <a:xfrm>
            <a:off x="667512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9" name="Cell 1-3"/>
          <p:cNvSpPr/>
          <p:nvPr/>
        </p:nvSpPr>
        <p:spPr>
          <a:xfrm>
            <a:off x="854964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0" name="Row 2 label"/>
          <p:cNvSpPr txBox="1"/>
          <p:nvPr/>
        </p:nvSpPr>
        <p:spPr>
          <a:xfrm>
            <a:off x="1257300" y="3977639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Identities and access</a:t>
            </a:r>
          </a:p>
        </p:txBody>
      </p:sp>
      <p:sp>
        <p:nvSpPr>
          <p:cNvPr id="11" name="Cell 2-1"/>
          <p:cNvSpPr/>
          <p:nvPr/>
        </p:nvSpPr>
        <p:spPr>
          <a:xfrm>
            <a:off x="480060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2" name="Cell 2-2"/>
          <p:cNvSpPr/>
          <p:nvPr/>
        </p:nvSpPr>
        <p:spPr>
          <a:xfrm>
            <a:off x="667512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3" name="Cell 2-3"/>
          <p:cNvSpPr/>
          <p:nvPr/>
        </p:nvSpPr>
        <p:spPr>
          <a:xfrm>
            <a:off x="854964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4" name="Row 3 label"/>
          <p:cNvSpPr txBox="1"/>
          <p:nvPr/>
        </p:nvSpPr>
        <p:spPr>
          <a:xfrm>
            <a:off x="1257300" y="470916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Configuration and settings</a:t>
            </a:r>
          </a:p>
        </p:txBody>
      </p:sp>
      <p:sp>
        <p:nvSpPr>
          <p:cNvPr id="15" name="Cell 3-1"/>
          <p:cNvSpPr/>
          <p:nvPr/>
        </p:nvSpPr>
        <p:spPr>
          <a:xfrm>
            <a:off x="480060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6" name="Cell 3-2"/>
          <p:cNvSpPr/>
          <p:nvPr/>
        </p:nvSpPr>
        <p:spPr>
          <a:xfrm>
            <a:off x="667512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7" name="Cell 3-3"/>
          <p:cNvSpPr/>
          <p:nvPr/>
        </p:nvSpPr>
        <p:spPr>
          <a:xfrm>
            <a:off x="854964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8" name="Row 4 label"/>
          <p:cNvSpPr txBox="1"/>
          <p:nvPr/>
        </p:nvSpPr>
        <p:spPr>
          <a:xfrm>
            <a:off x="1257300" y="544068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19" name="Cell 4-1"/>
          <p:cNvSpPr/>
          <p:nvPr/>
        </p:nvSpPr>
        <p:spPr>
          <a:xfrm>
            <a:off x="480060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0" name="Cell 4-2"/>
          <p:cNvSpPr/>
          <p:nvPr/>
        </p:nvSpPr>
        <p:spPr>
          <a:xfrm>
            <a:off x="667512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1" name="Cell 4-3"/>
          <p:cNvSpPr/>
          <p:nvPr/>
        </p:nvSpPr>
        <p:spPr>
          <a:xfrm>
            <a:off x="8549640" y="544068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2" name="Row 5 label"/>
          <p:cNvSpPr txBox="1"/>
          <p:nvPr/>
        </p:nvSpPr>
        <p:spPr>
          <a:xfrm>
            <a:off x="1257300" y="617220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Operating systems</a:t>
            </a:r>
          </a:p>
        </p:txBody>
      </p:sp>
      <p:sp>
        <p:nvSpPr>
          <p:cNvPr id="23" name="Cell 5-1"/>
          <p:cNvSpPr/>
          <p:nvPr/>
        </p:nvSpPr>
        <p:spPr>
          <a:xfrm>
            <a:off x="4800600" y="617220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4" name="Cell 5-2"/>
          <p:cNvSpPr/>
          <p:nvPr/>
        </p:nvSpPr>
        <p:spPr>
          <a:xfrm>
            <a:off x="667512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5" name="Cell 5-3"/>
          <p:cNvSpPr/>
          <p:nvPr/>
        </p:nvSpPr>
        <p:spPr>
          <a:xfrm>
            <a:off x="854964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6" name="Row 6 label"/>
          <p:cNvSpPr txBox="1"/>
          <p:nvPr/>
        </p:nvSpPr>
        <p:spPr>
          <a:xfrm>
            <a:off x="1257300" y="69037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and virtualization</a:t>
            </a:r>
          </a:p>
        </p:txBody>
      </p:sp>
      <p:sp>
        <p:nvSpPr>
          <p:cNvPr id="27" name="Cell 6-1"/>
          <p:cNvSpPr/>
          <p:nvPr/>
        </p:nvSpPr>
        <p:spPr>
          <a:xfrm>
            <a:off x="480060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8" name="Cell 6-2"/>
          <p:cNvSpPr/>
          <p:nvPr/>
        </p:nvSpPr>
        <p:spPr>
          <a:xfrm>
            <a:off x="667512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9" name="Cell 6-3"/>
          <p:cNvSpPr/>
          <p:nvPr/>
        </p:nvSpPr>
        <p:spPr>
          <a:xfrm>
            <a:off x="854964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0" name="Row 7 label"/>
          <p:cNvSpPr txBox="1"/>
          <p:nvPr/>
        </p:nvSpPr>
        <p:spPr>
          <a:xfrm>
            <a:off x="1257300" y="763524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and facilities</a:t>
            </a:r>
          </a:p>
        </p:txBody>
      </p:sp>
      <p:sp>
        <p:nvSpPr>
          <p:cNvPr id="31" name="Cell 7-1"/>
          <p:cNvSpPr/>
          <p:nvPr/>
        </p:nvSpPr>
        <p:spPr>
          <a:xfrm>
            <a:off x="480060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2" name="Cell 7-2"/>
          <p:cNvSpPr/>
          <p:nvPr/>
        </p:nvSpPr>
        <p:spPr>
          <a:xfrm>
            <a:off x="667512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3" name="Cell 7-3"/>
          <p:cNvSpPr/>
          <p:nvPr/>
        </p:nvSpPr>
        <p:spPr>
          <a:xfrm>
            <a:off x="854964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cxnSp>
        <p:nvCxnSpPr>
          <p:cNvPr id="34" name="Always-bank line"/>
          <p:cNvCxnSpPr/>
          <p:nvPr/>
        </p:nvCxnSpPr>
        <p:spPr>
          <a:xfrm>
            <a:off x="1257300" y="5404104"/>
            <a:ext cx="9075419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lways-bank note"/>
          <p:cNvSpPr txBox="1"/>
          <p:nvPr/>
        </p:nvSpPr>
        <p:spPr>
          <a:xfrm>
            <a:off x="1257300" y="8458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Above the red line: the bank's job in every model.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Below it, the line moves as the bank buys more of the stack.</a:t>
            </a:r>
          </a:p>
        </p:txBody>
      </p:sp>
      <p:sp>
        <p:nvSpPr>
          <p:cNvPr id="36" name="Never panel"/>
          <p:cNvSpPr/>
          <p:nvPr/>
        </p:nvSpPr>
        <p:spPr>
          <a:xfrm>
            <a:off x="10744200" y="2697480"/>
            <a:ext cx="628650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Never heading"/>
          <p:cNvSpPr txBox="1"/>
          <p:nvPr/>
        </p:nvSpPr>
        <p:spPr>
          <a:xfrm>
            <a:off x="11064240" y="2880360"/>
            <a:ext cx="56464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Never moves to the provider</a:t>
            </a:r>
          </a:p>
        </p:txBody>
      </p:sp>
      <p:sp>
        <p:nvSpPr>
          <p:cNvPr id="38" name="Never list"/>
          <p:cNvSpPr txBox="1"/>
          <p:nvPr/>
        </p:nvSpPr>
        <p:spPr>
          <a:xfrm>
            <a:off x="11064240" y="3474720"/>
            <a:ext cx="56464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data, and knowing where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and with what (MFA)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service is configured, including its network settings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Overseeing the vendor that runs it</a:t>
            </a:r>
          </a:p>
        </p:txBody>
      </p:sp>
      <p:sp>
        <p:nvSpPr>
          <p:cNvPr id="39" name="Wrong heading"/>
          <p:cNvSpPr txBox="1"/>
          <p:nvPr/>
        </p:nvSpPr>
        <p:spPr>
          <a:xfrm>
            <a:off x="10744200" y="6263640"/>
            <a:ext cx="6286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it usually goes wrong</a:t>
            </a:r>
          </a:p>
        </p:txBody>
      </p:sp>
      <p:sp>
        <p:nvSpPr>
          <p:cNvPr id="40" name="Wrong 1 mark"/>
          <p:cNvSpPr/>
          <p:nvPr/>
        </p:nvSpPr>
        <p:spPr>
          <a:xfrm>
            <a:off x="10744200" y="688543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Wrong 1"/>
          <p:cNvSpPr txBox="1"/>
          <p:nvPr/>
        </p:nvSpPr>
        <p:spPr>
          <a:xfrm>
            <a:off x="11064240" y="681228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storage bucket left public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Anyone with the address can read the files</a:t>
            </a:r>
          </a:p>
        </p:txBody>
      </p:sp>
      <p:sp>
        <p:nvSpPr>
          <p:cNvPr id="42" name="Wrong 2 mark"/>
          <p:cNvSpPr/>
          <p:nvPr/>
        </p:nvSpPr>
        <p:spPr>
          <a:xfrm>
            <a:off x="10744200" y="775411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3" name="Wrong 2"/>
          <p:cNvSpPr txBox="1"/>
          <p:nvPr/>
        </p:nvSpPr>
        <p:spPr>
          <a:xfrm>
            <a:off x="11064240" y="768096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Admin accounts without MFA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phished password opens the whole tenant</a:t>
            </a:r>
          </a:p>
        </p:txBody>
      </p:sp>
      <p:sp>
        <p:nvSpPr>
          <p:cNvPr id="44" name="Wrong 3 mark"/>
          <p:cNvSpPr/>
          <p:nvPr/>
        </p:nvSpPr>
        <p:spPr>
          <a:xfrm>
            <a:off x="10744200" y="862279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5" name="Wrong 3"/>
          <p:cNvSpPr txBox="1"/>
          <p:nvPr/>
        </p:nvSpPr>
        <p:spPr>
          <a:xfrm>
            <a:off x="11064240" y="854964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turned off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way to reconstruct what happened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Three: AWS, Azure, and Google Cloud</a:t>
            </a:r>
          </a:p>
        </p:txBody>
      </p:sp>
      <p:sp>
        <p:nvSpPr>
          <p:cNvPr id="3" name="Big AWS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Big AWS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Big AW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0620" y="3291839"/>
            <a:ext cx="822960" cy="822960"/>
          </a:xfrm>
          <a:prstGeom prst="rect">
            <a:avLst/>
          </a:prstGeom>
        </p:spPr>
      </p:pic>
      <p:sp>
        <p:nvSpPr>
          <p:cNvPr id="6" name="Big AWS name"/>
          <p:cNvSpPr txBox="1"/>
          <p:nvPr/>
        </p:nvSpPr>
        <p:spPr>
          <a:xfrm>
            <a:off x="15773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Amazon Web Services</a:t>
            </a:r>
          </a:p>
        </p:txBody>
      </p:sp>
      <p:sp>
        <p:nvSpPr>
          <p:cNvPr id="7" name="Big AWS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~30%</a:t>
            </a:r>
          </a:p>
        </p:txBody>
      </p:sp>
      <p:sp>
        <p:nvSpPr>
          <p:cNvPr id="8" name="Big AWS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9" name="Big AWS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Oldest (2006) and largest. Many fintechs, SaaS products and digital banking platforms run here.</a:t>
            </a:r>
          </a:p>
        </p:txBody>
      </p:sp>
      <p:sp>
        <p:nvSpPr>
          <p:cNvPr id="10" name="Big Azure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Big Azure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ig Azure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2720" y="3291839"/>
            <a:ext cx="822960" cy="822960"/>
          </a:xfrm>
          <a:prstGeom prst="rect">
            <a:avLst/>
          </a:prstGeom>
        </p:spPr>
      </p:pic>
      <p:sp>
        <p:nvSpPr>
          <p:cNvPr id="13" name="Big Azure name"/>
          <p:cNvSpPr txBox="1"/>
          <p:nvPr/>
        </p:nvSpPr>
        <p:spPr>
          <a:xfrm>
            <a:off x="69494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Azure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Microsoft</a:t>
            </a:r>
          </a:p>
        </p:txBody>
      </p:sp>
      <p:sp>
        <p:nvSpPr>
          <p:cNvPr id="14" name="Big Azure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~20%</a:t>
            </a:r>
          </a:p>
        </p:txBody>
      </p:sp>
      <p:sp>
        <p:nvSpPr>
          <p:cNvPr id="15" name="Big Azure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16" name="Big Azure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Behind Microsoft 365, Teams and Entra ID. Most banks are already customers through email and logins.</a:t>
            </a:r>
          </a:p>
        </p:txBody>
      </p:sp>
      <p:sp>
        <p:nvSpPr>
          <p:cNvPr id="17" name="Big Google Cloud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Big Google Cloud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Big Google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04820" y="3291839"/>
            <a:ext cx="822960" cy="822960"/>
          </a:xfrm>
          <a:prstGeom prst="rect">
            <a:avLst/>
          </a:prstGeom>
        </p:spPr>
      </p:pic>
      <p:sp>
        <p:nvSpPr>
          <p:cNvPr id="20" name="Big Google Cloud name"/>
          <p:cNvSpPr txBox="1"/>
          <p:nvPr/>
        </p:nvSpPr>
        <p:spPr>
          <a:xfrm>
            <a:off x="123215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Google Cloud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Google</a:t>
            </a:r>
          </a:p>
        </p:txBody>
      </p:sp>
      <p:sp>
        <p:nvSpPr>
          <p:cNvPr id="21" name="Big Google Cloud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~13%</a:t>
            </a:r>
          </a:p>
        </p:txBody>
      </p:sp>
      <p:sp>
        <p:nvSpPr>
          <p:cNvPr id="22" name="Big Google Cloud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23" name="Big Google Cloud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place; strongest in data analytics and AI. Also behind Google Workspace.</a:t>
            </a:r>
          </a:p>
        </p:txBody>
      </p:sp>
      <p:sp>
        <p:nvSpPr>
          <p:cNvPr id="24" name="No-cloud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No-cloud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bank that says “we don't use the cloud” almost certainly does, through its vendors.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Synergy Research Group estimates for Q2 2025, reported by CRN. Shares are approximate and shift quarter to quarter.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Regions, Availability Zones, and What a Cloud Outage Looks Like</a:t>
            </a:r>
          </a:p>
        </p:txBody>
      </p:sp>
      <p:sp>
        <p:nvSpPr>
          <p:cNvPr id="3" name="Region A box"/>
          <p:cNvSpPr/>
          <p:nvPr/>
        </p:nvSpPr>
        <p:spPr>
          <a:xfrm>
            <a:off x="125730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gion A label"/>
          <p:cNvSpPr txBox="1"/>
          <p:nvPr/>
        </p:nvSpPr>
        <p:spPr>
          <a:xfrm>
            <a:off x="153162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US-East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Northern Virginia</a:t>
            </a:r>
          </a:p>
        </p:txBody>
      </p:sp>
      <p:sp>
        <p:nvSpPr>
          <p:cNvPr id="5" name="Region A AZ 1"/>
          <p:cNvSpPr/>
          <p:nvPr/>
        </p:nvSpPr>
        <p:spPr>
          <a:xfrm>
            <a:off x="153162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Region A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3817620"/>
            <a:ext cx="594360" cy="594360"/>
          </a:xfrm>
          <a:prstGeom prst="rect">
            <a:avLst/>
          </a:prstGeom>
        </p:spPr>
      </p:pic>
      <p:sp>
        <p:nvSpPr>
          <p:cNvPr id="7" name="Region A AZ 1 text"/>
          <p:cNvSpPr txBox="1"/>
          <p:nvPr/>
        </p:nvSpPr>
        <p:spPr>
          <a:xfrm>
            <a:off x="249174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8" name="Region A AZ 2"/>
          <p:cNvSpPr/>
          <p:nvPr/>
        </p:nvSpPr>
        <p:spPr>
          <a:xfrm>
            <a:off x="153162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Region A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4823460"/>
            <a:ext cx="594360" cy="594360"/>
          </a:xfrm>
          <a:prstGeom prst="rect">
            <a:avLst/>
          </a:prstGeom>
        </p:spPr>
      </p:pic>
      <p:sp>
        <p:nvSpPr>
          <p:cNvPr id="10" name="Region A AZ 2 text"/>
          <p:cNvSpPr txBox="1"/>
          <p:nvPr/>
        </p:nvSpPr>
        <p:spPr>
          <a:xfrm>
            <a:off x="249174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11" name="Region A AZ 3"/>
          <p:cNvSpPr/>
          <p:nvPr/>
        </p:nvSpPr>
        <p:spPr>
          <a:xfrm>
            <a:off x="153162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Region A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5829300"/>
            <a:ext cx="594360" cy="594360"/>
          </a:xfrm>
          <a:prstGeom prst="rect">
            <a:avLst/>
          </a:prstGeom>
        </p:spPr>
      </p:pic>
      <p:sp>
        <p:nvSpPr>
          <p:cNvPr id="13" name="Region A AZ 3 text"/>
          <p:cNvSpPr txBox="1"/>
          <p:nvPr/>
        </p:nvSpPr>
        <p:spPr>
          <a:xfrm>
            <a:off x="249174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sp>
        <p:nvSpPr>
          <p:cNvPr id="14" name="Region B box"/>
          <p:cNvSpPr/>
          <p:nvPr/>
        </p:nvSpPr>
        <p:spPr>
          <a:xfrm>
            <a:off x="610362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Region B label"/>
          <p:cNvSpPr txBox="1"/>
          <p:nvPr/>
        </p:nvSpPr>
        <p:spPr>
          <a:xfrm>
            <a:off x="637794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US-West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Oregon</a:t>
            </a:r>
          </a:p>
        </p:txBody>
      </p:sp>
      <p:sp>
        <p:nvSpPr>
          <p:cNvPr id="16" name="Region B AZ 1"/>
          <p:cNvSpPr/>
          <p:nvPr/>
        </p:nvSpPr>
        <p:spPr>
          <a:xfrm>
            <a:off x="637794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Region B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3817620"/>
            <a:ext cx="594360" cy="594360"/>
          </a:xfrm>
          <a:prstGeom prst="rect">
            <a:avLst/>
          </a:prstGeom>
        </p:spPr>
      </p:pic>
      <p:sp>
        <p:nvSpPr>
          <p:cNvPr id="18" name="Region B AZ 1 text"/>
          <p:cNvSpPr txBox="1"/>
          <p:nvPr/>
        </p:nvSpPr>
        <p:spPr>
          <a:xfrm>
            <a:off x="733806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19" name="Region B AZ 2"/>
          <p:cNvSpPr/>
          <p:nvPr/>
        </p:nvSpPr>
        <p:spPr>
          <a:xfrm>
            <a:off x="637794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Region B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4823460"/>
            <a:ext cx="594360" cy="594360"/>
          </a:xfrm>
          <a:prstGeom prst="rect">
            <a:avLst/>
          </a:prstGeom>
        </p:spPr>
      </p:pic>
      <p:sp>
        <p:nvSpPr>
          <p:cNvPr id="21" name="Region B AZ 2 text"/>
          <p:cNvSpPr txBox="1"/>
          <p:nvPr/>
        </p:nvSpPr>
        <p:spPr>
          <a:xfrm>
            <a:off x="733806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22" name="Region B AZ 3"/>
          <p:cNvSpPr/>
          <p:nvPr/>
        </p:nvSpPr>
        <p:spPr>
          <a:xfrm>
            <a:off x="637794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Region B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5829300"/>
            <a:ext cx="594360" cy="594360"/>
          </a:xfrm>
          <a:prstGeom prst="rect">
            <a:avLst/>
          </a:prstGeom>
        </p:spPr>
      </p:pic>
      <p:sp>
        <p:nvSpPr>
          <p:cNvPr id="24" name="Region B AZ 3 text"/>
          <p:cNvSpPr txBox="1"/>
          <p:nvPr/>
        </p:nvSpPr>
        <p:spPr>
          <a:xfrm>
            <a:off x="733806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cxnSp>
        <p:nvCxnSpPr>
          <p:cNvPr id="25" name="Replication arrow"/>
          <p:cNvCxnSpPr/>
          <p:nvPr/>
        </p:nvCxnSpPr>
        <p:spPr>
          <a:xfrm>
            <a:off x="5394960" y="4800600"/>
            <a:ext cx="68580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ulti-AZ note"/>
          <p:cNvSpPr txBox="1"/>
          <p:nvPr/>
        </p:nvSpPr>
        <p:spPr>
          <a:xfrm>
            <a:off x="125730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Multi-AZ: survives one data center</a:t>
            </a:r>
          </a:p>
        </p:txBody>
      </p:sp>
      <p:sp>
        <p:nvSpPr>
          <p:cNvPr id="27" name="Multi-region note"/>
          <p:cNvSpPr txBox="1"/>
          <p:nvPr/>
        </p:nvSpPr>
        <p:spPr>
          <a:xfrm>
            <a:off x="610362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Multi-region: survives a whole region</a:t>
            </a:r>
          </a:p>
        </p:txBody>
      </p:sp>
      <p:sp>
        <p:nvSpPr>
          <p:cNvPr id="28" name="Outage panel"/>
          <p:cNvSpPr/>
          <p:nvPr/>
        </p:nvSpPr>
        <p:spPr>
          <a:xfrm>
            <a:off x="10607040" y="2697480"/>
            <a:ext cx="6423660" cy="46634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Outage bar"/>
          <p:cNvSpPr/>
          <p:nvPr/>
        </p:nvSpPr>
        <p:spPr>
          <a:xfrm>
            <a:off x="10607040" y="2697480"/>
            <a:ext cx="137160" cy="46634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Outage text"/>
          <p:cNvSpPr txBox="1"/>
          <p:nvPr/>
        </p:nvSpPr>
        <p:spPr>
          <a:xfrm>
            <a:off x="11064240" y="2880360"/>
            <a:ext cx="56921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October 20, 2025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AWS US-East-1, Northern Virginia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DNS problem with an internal database service spread through other AWS services for most of a day.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or degraded: Venmo, Coinbase, Square, Lloyds and Halifax banks, and thousands of other apps.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affected firms had no AWS contract. Their vendors did.</a:t>
            </a:r>
          </a:p>
        </p:txBody>
      </p:sp>
      <p:sp>
        <p:nvSpPr>
          <p:cNvPr id="31" name="Ask 1"/>
          <p:cNvSpPr/>
          <p:nvPr/>
        </p:nvSpPr>
        <p:spPr>
          <a:xfrm>
            <a:off x="125730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Ask 1 text"/>
          <p:cNvSpPr txBox="1"/>
          <p:nvPr/>
        </p:nvSpPr>
        <p:spPr>
          <a:xfrm>
            <a:off x="151333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does it run?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provider and which region does each critical vendor use?</a:t>
            </a:r>
          </a:p>
        </p:txBody>
      </p:sp>
      <p:sp>
        <p:nvSpPr>
          <p:cNvPr id="33" name="Ask 2"/>
          <p:cNvSpPr/>
          <p:nvPr/>
        </p:nvSpPr>
        <p:spPr>
          <a:xfrm>
            <a:off x="662178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Ask 2 text"/>
          <p:cNvSpPr txBox="1"/>
          <p:nvPr/>
        </p:nvSpPr>
        <p:spPr>
          <a:xfrm>
            <a:off x="687781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failover tested?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Multi-AZ, multi-region, or neither? When was it last exercised?</a:t>
            </a:r>
          </a:p>
        </p:txBody>
      </p:sp>
      <p:sp>
        <p:nvSpPr>
          <p:cNvPr id="35" name="Ask 3"/>
          <p:cNvSpPr/>
          <p:nvPr/>
        </p:nvSpPr>
        <p:spPr>
          <a:xfrm>
            <a:off x="1198626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sk 3 text"/>
          <p:cNvSpPr txBox="1"/>
          <p:nvPr/>
        </p:nvSpPr>
        <p:spPr>
          <a:xfrm>
            <a:off x="12242291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does the branch do?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services stop if the cloud is unreachable, and for how long?</a:t>
            </a:r>
          </a:p>
        </p:txBody>
      </p:sp>
      <p:sp>
        <p:nvSpPr>
          <p:cNvPr id="3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AWS post-event summary and press coverage of the October 20, 2025 US-EAST-1 outage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a Bank Connects to the Cloud: Internet, VPN, Private Interconnect</a:t>
            </a:r>
          </a:p>
        </p:txBody>
      </p:sp>
      <p:sp>
        <p:nvSpPr>
          <p:cNvPr id="3" name="Col head Encrypted?"/>
          <p:cNvSpPr txBox="1"/>
          <p:nvPr/>
        </p:nvSpPr>
        <p:spPr>
          <a:xfrm>
            <a:off x="9098280" y="269748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Encrypted?</a:t>
            </a:r>
          </a:p>
        </p:txBody>
      </p:sp>
      <p:sp>
        <p:nvSpPr>
          <p:cNvPr id="4" name="Col head Performance"/>
          <p:cNvSpPr txBox="1"/>
          <p:nvPr/>
        </p:nvSpPr>
        <p:spPr>
          <a:xfrm>
            <a:off x="11932920" y="26974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Performance</a:t>
            </a:r>
          </a:p>
        </p:txBody>
      </p:sp>
      <p:sp>
        <p:nvSpPr>
          <p:cNvPr id="5" name="Col head Cost and setup"/>
          <p:cNvSpPr txBox="1"/>
          <p:nvPr/>
        </p:nvSpPr>
        <p:spPr>
          <a:xfrm>
            <a:off x="14630400" y="2697480"/>
            <a:ext cx="2400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Cost and setup</a:t>
            </a:r>
          </a:p>
        </p:txBody>
      </p:sp>
      <p:cxnSp>
        <p:nvCxnSpPr>
          <p:cNvPr id="6" name="Head rule"/>
          <p:cNvCxnSpPr/>
          <p:nvPr/>
        </p:nvCxnSpPr>
        <p:spPr>
          <a:xfrm>
            <a:off x="1257300" y="324612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Lane 1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4000500"/>
            <a:ext cx="777240" cy="777240"/>
          </a:xfrm>
          <a:prstGeom prst="rect">
            <a:avLst/>
          </a:prstGeom>
        </p:spPr>
      </p:pic>
      <p:pic>
        <p:nvPicPr>
          <p:cNvPr id="8" name="Lane 1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3954780"/>
            <a:ext cx="868680" cy="868680"/>
          </a:xfrm>
          <a:prstGeom prst="rect">
            <a:avLst/>
          </a:prstGeom>
        </p:spPr>
      </p:pic>
      <p:cxnSp>
        <p:nvCxnSpPr>
          <p:cNvPr id="9" name="Lane 1 line"/>
          <p:cNvCxnSpPr/>
          <p:nvPr/>
        </p:nvCxnSpPr>
        <p:spPr>
          <a:xfrm>
            <a:off x="2286000" y="4389120"/>
            <a:ext cx="5212079" cy="0"/>
          </a:xfrm>
          <a:prstGeom prst="line">
            <a:avLst/>
          </a:prstGeom>
          <a:ln w="57150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ane 1 mid"/>
          <p:cNvSpPr/>
          <p:nvPr/>
        </p:nvSpPr>
        <p:spPr>
          <a:xfrm>
            <a:off x="4480560" y="3977639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Lane 1 mid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0579" y="4137659"/>
            <a:ext cx="502920" cy="502920"/>
          </a:xfrm>
          <a:prstGeom prst="rect">
            <a:avLst/>
          </a:prstGeom>
        </p:spPr>
      </p:pic>
      <p:sp>
        <p:nvSpPr>
          <p:cNvPr id="12" name="Lane 1 name"/>
          <p:cNvSpPr txBox="1"/>
          <p:nvPr/>
        </p:nvSpPr>
        <p:spPr>
          <a:xfrm>
            <a:off x="1257300" y="342900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1.  Internet + TLS</a:t>
            </a:r>
          </a:p>
        </p:txBody>
      </p:sp>
      <p:sp>
        <p:nvSpPr>
          <p:cNvPr id="13" name="Lane 1 sub"/>
          <p:cNvSpPr txBox="1"/>
          <p:nvPr/>
        </p:nvSpPr>
        <p:spPr>
          <a:xfrm>
            <a:off x="237744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Most SaaS: Microsoft 365, vendor portals</a:t>
            </a:r>
          </a:p>
        </p:txBody>
      </p:sp>
      <p:sp>
        <p:nvSpPr>
          <p:cNvPr id="14" name="Lane 1 Encrypted?"/>
          <p:cNvSpPr txBox="1"/>
          <p:nvPr/>
        </p:nvSpPr>
        <p:spPr>
          <a:xfrm>
            <a:off x="9098280" y="393192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app by app</a:t>
            </a:r>
          </a:p>
        </p:txBody>
      </p:sp>
      <p:sp>
        <p:nvSpPr>
          <p:cNvPr id="15" name="Lane 1 Performance"/>
          <p:cNvSpPr txBox="1"/>
          <p:nvPr/>
        </p:nvSpPr>
        <p:spPr>
          <a:xfrm>
            <a:off x="11932920" y="393192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effort; shares the internet</a:t>
            </a:r>
          </a:p>
        </p:txBody>
      </p:sp>
      <p:sp>
        <p:nvSpPr>
          <p:cNvPr id="16" name="Lane 1 Cost and setup"/>
          <p:cNvSpPr txBox="1"/>
          <p:nvPr/>
        </p:nvSpPr>
        <p:spPr>
          <a:xfrm>
            <a:off x="14630400" y="393192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Lowest; nothing to set up</a:t>
            </a:r>
          </a:p>
        </p:txBody>
      </p:sp>
      <p:cxnSp>
        <p:nvCxnSpPr>
          <p:cNvPr id="17" name="Lane rule 1"/>
          <p:cNvCxnSpPr/>
          <p:nvPr/>
        </p:nvCxnSpPr>
        <p:spPr>
          <a:xfrm>
            <a:off x="1257300" y="51480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Lane 2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5783580"/>
            <a:ext cx="777240" cy="777240"/>
          </a:xfrm>
          <a:prstGeom prst="rect">
            <a:avLst/>
          </a:prstGeom>
        </p:spPr>
      </p:pic>
      <p:pic>
        <p:nvPicPr>
          <p:cNvPr id="19" name="Lane 2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5737860"/>
            <a:ext cx="868680" cy="868680"/>
          </a:xfrm>
          <a:prstGeom prst="rect">
            <a:avLst/>
          </a:prstGeom>
        </p:spPr>
      </p:pic>
      <p:cxnSp>
        <p:nvCxnSpPr>
          <p:cNvPr id="20" name="Lane 2 line"/>
          <p:cNvCxnSpPr/>
          <p:nvPr/>
        </p:nvCxnSpPr>
        <p:spPr>
          <a:xfrm>
            <a:off x="2286000" y="6172200"/>
            <a:ext cx="5212079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ane 2 mid"/>
          <p:cNvSpPr/>
          <p:nvPr/>
        </p:nvSpPr>
        <p:spPr>
          <a:xfrm>
            <a:off x="4480560" y="576072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Lane 2 mid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0579" y="5920740"/>
            <a:ext cx="502920" cy="502920"/>
          </a:xfrm>
          <a:prstGeom prst="rect">
            <a:avLst/>
          </a:prstGeom>
        </p:spPr>
      </p:pic>
      <p:sp>
        <p:nvSpPr>
          <p:cNvPr id="23" name="Lane 2 name"/>
          <p:cNvSpPr txBox="1"/>
          <p:nvPr/>
        </p:nvSpPr>
        <p:spPr>
          <a:xfrm>
            <a:off x="1257300" y="521208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2.  IPsec VPN</a:t>
            </a:r>
          </a:p>
        </p:txBody>
      </p:sp>
      <p:sp>
        <p:nvSpPr>
          <p:cNvPr id="24" name="Lane 2 sub"/>
          <p:cNvSpPr txBox="1"/>
          <p:nvPr/>
        </p:nvSpPr>
        <p:spPr>
          <a:xfrm>
            <a:off x="2377440" y="6629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Encrypted tunnel from the bank's firewall</a:t>
            </a:r>
          </a:p>
        </p:txBody>
      </p:sp>
      <p:sp>
        <p:nvSpPr>
          <p:cNvPr id="25" name="Lane 2 Encrypted?"/>
          <p:cNvSpPr txBox="1"/>
          <p:nvPr/>
        </p:nvSpPr>
        <p:spPr>
          <a:xfrm>
            <a:off x="9098280" y="571500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the whole tunnel</a:t>
            </a:r>
          </a:p>
        </p:txBody>
      </p:sp>
      <p:sp>
        <p:nvSpPr>
          <p:cNvPr id="26" name="Lane 2 Performance"/>
          <p:cNvSpPr txBox="1"/>
          <p:nvPr/>
        </p:nvSpPr>
        <p:spPr>
          <a:xfrm>
            <a:off x="11932920" y="571500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rides the internet</a:t>
            </a:r>
          </a:p>
        </p:txBody>
      </p:sp>
      <p:sp>
        <p:nvSpPr>
          <p:cNvPr id="27" name="Lane 2 Cost and setup"/>
          <p:cNvSpPr txBox="1"/>
          <p:nvPr/>
        </p:nvSpPr>
        <p:spPr>
          <a:xfrm>
            <a:off x="14630400" y="571500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Low; firewall configuration</a:t>
            </a:r>
          </a:p>
        </p:txBody>
      </p:sp>
      <p:cxnSp>
        <p:nvCxnSpPr>
          <p:cNvPr id="28" name="Lane rule 2"/>
          <p:cNvCxnSpPr/>
          <p:nvPr/>
        </p:nvCxnSpPr>
        <p:spPr>
          <a:xfrm>
            <a:off x="1257300" y="693115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Lane 3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7566660"/>
            <a:ext cx="777240" cy="777240"/>
          </a:xfrm>
          <a:prstGeom prst="rect">
            <a:avLst/>
          </a:prstGeom>
        </p:spPr>
      </p:pic>
      <p:pic>
        <p:nvPicPr>
          <p:cNvPr id="30" name="Lane 3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7520940"/>
            <a:ext cx="868680" cy="868680"/>
          </a:xfrm>
          <a:prstGeom prst="rect">
            <a:avLst/>
          </a:prstGeom>
        </p:spPr>
      </p:pic>
      <p:cxnSp>
        <p:nvCxnSpPr>
          <p:cNvPr id="31" name="Lane 3 line"/>
          <p:cNvCxnSpPr/>
          <p:nvPr/>
        </p:nvCxnSpPr>
        <p:spPr>
          <a:xfrm>
            <a:off x="2286000" y="7955280"/>
            <a:ext cx="5212079" cy="0"/>
          </a:xfrm>
          <a:prstGeom prst="line">
            <a:avLst/>
          </a:prstGeom>
          <a:ln w="762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Lane 3 mid"/>
          <p:cNvSpPr/>
          <p:nvPr/>
        </p:nvSpPr>
        <p:spPr>
          <a:xfrm>
            <a:off x="4480560" y="75438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3" name="Lane 3 mid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0579" y="7703820"/>
            <a:ext cx="502920" cy="502920"/>
          </a:xfrm>
          <a:prstGeom prst="rect">
            <a:avLst/>
          </a:prstGeom>
        </p:spPr>
      </p:pic>
      <p:sp>
        <p:nvSpPr>
          <p:cNvPr id="34" name="Lane 3 name"/>
          <p:cNvSpPr txBox="1"/>
          <p:nvPr/>
        </p:nvSpPr>
        <p:spPr>
          <a:xfrm>
            <a:off x="1257300" y="699516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3.  Private interconnect</a:t>
            </a:r>
          </a:p>
        </p:txBody>
      </p:sp>
      <p:sp>
        <p:nvSpPr>
          <p:cNvPr id="35" name="Lane 3 sub"/>
          <p:cNvSpPr txBox="1"/>
          <p:nvPr/>
        </p:nvSpPr>
        <p:spPr>
          <a:xfrm>
            <a:off x="2377440" y="8412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Direct Connect, ExpressRoute, Cloud Interconnect</a:t>
            </a:r>
          </a:p>
        </p:txBody>
      </p:sp>
      <p:sp>
        <p:nvSpPr>
          <p:cNvPr id="36" name="Lane 3 Encrypted?"/>
          <p:cNvSpPr txBox="1"/>
          <p:nvPr/>
        </p:nvSpPr>
        <p:spPr>
          <a:xfrm>
            <a:off x="9098280" y="749808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Not by default! Add MACsec or IPsec</a:t>
            </a:r>
          </a:p>
        </p:txBody>
      </p:sp>
      <p:sp>
        <p:nvSpPr>
          <p:cNvPr id="37" name="Lane 3 Performance"/>
          <p:cNvSpPr txBox="1"/>
          <p:nvPr/>
        </p:nvSpPr>
        <p:spPr>
          <a:xfrm>
            <a:off x="11932920" y="749808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Predictable, low latency</a:t>
            </a:r>
          </a:p>
        </p:txBody>
      </p:sp>
      <p:sp>
        <p:nvSpPr>
          <p:cNvPr id="38" name="Lane 3 Cost and setup"/>
          <p:cNvSpPr txBox="1"/>
          <p:nvPr/>
        </p:nvSpPr>
        <p:spPr>
          <a:xfrm>
            <a:off x="14630400" y="749808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Highest; circuits and ports, weeks to order</a:t>
            </a:r>
          </a:p>
        </p:txBody>
      </p:sp>
      <p:sp>
        <p:nvSpPr>
          <p:cNvPr id="39" name="Interconnect banner"/>
          <p:cNvSpPr/>
          <p:nvPr/>
        </p:nvSpPr>
        <p:spPr>
          <a:xfrm>
            <a:off x="1257300" y="89154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Interconnect banner text"/>
          <p:cNvSpPr txBox="1"/>
          <p:nvPr/>
        </p:nvSpPr>
        <p:spPr>
          <a:xfrm>
            <a:off x="1554480" y="89611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isn't the same as encrypted.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2ACAF-C749-DE4A-818C-ADC09A4A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Changing IT Landscape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F6455-645E-4EB1-9363-0857DBD8F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Businesses are undergoing a digital transformation</a:t>
            </a:r>
          </a:p>
          <a:p>
            <a:r>
              <a:rPr lang="en-US"/>
              <a:t>New applications increase knowledge and efficiency</a:t>
            </a:r>
          </a:p>
          <a:p>
            <a:r>
              <a:rPr lang="en-US"/>
              <a:t>Applications are migrating to the cloud</a:t>
            </a:r>
          </a:p>
          <a:p>
            <a:r>
              <a:rPr lang="en-US"/>
              <a:t>Networks need</a:t>
            </a:r>
          </a:p>
          <a:p>
            <a:pPr lvl="1"/>
            <a:r>
              <a:rPr lang="en-US"/>
              <a:t>Increased bandwidth</a:t>
            </a:r>
          </a:p>
          <a:p>
            <a:pPr lvl="1"/>
            <a:r>
              <a:rPr lang="en-US"/>
              <a:t>Simplified management</a:t>
            </a:r>
          </a:p>
          <a:p>
            <a:pPr lvl="1"/>
            <a:r>
              <a:rPr lang="en-US"/>
              <a:t>Greater visibility</a:t>
            </a:r>
          </a:p>
          <a:p>
            <a:r>
              <a:rPr lang="en-US"/>
              <a:t>These all improve in a cloud context!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D30A4F-36EC-4D45-ABF6-6CFA06D84D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153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9A8816-9B76-488C-9560-C74B64F4E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67786" y="5048251"/>
            <a:ext cx="7178040" cy="44862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7372254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Cloud Services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Does the institution utilize any of the following types of cloud services? Check all that apply.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Software as a Service (SaaS)</a:t>
            </a:r>
          </a:p>
        </p:txBody>
      </p:sp>
      <p:sp>
        <p:nvSpPr>
          <p:cNvPr id="10" name="Checkbox 2"/>
          <p:cNvSpPr/>
          <p:nvPr/>
        </p:nvSpPr>
        <p:spPr>
          <a:xfrm>
            <a:off x="1805940" y="474116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2263140" y="468630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Infrastructure as a Service (IaaS)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522122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5166359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Platform as a Service (PaaS)</a:t>
            </a:r>
          </a:p>
        </p:txBody>
      </p:sp>
      <p:sp>
        <p:nvSpPr>
          <p:cNvPr id="14" name="Checkbox 4"/>
          <p:cNvSpPr/>
          <p:nvPr/>
        </p:nvSpPr>
        <p:spPr>
          <a:xfrm>
            <a:off x="1805940" y="570128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2263140" y="564642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N/A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Institution has an exit strategy, including a de-conversion plan, for cloud services.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cloud computing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Could the bank leave its cloud provider?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2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the bank's policies and processes address cloud computing?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classification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data in the cloud identified, classified and protected to match?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tested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Are cloud controls tested, and does the BCP cover cloud services?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security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program, including encryption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expanded analysis (September 2023 version; verify against the current version)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16: Outsourcing and Vendor Risk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Why Community Banks Outsource</a:t>
            </a:r>
          </a:p>
        </p:txBody>
      </p:sp>
      <p:sp>
        <p:nvSpPr>
          <p:cNvPr id="3" name="Reason 1"/>
          <p:cNvSpPr/>
          <p:nvPr/>
        </p:nvSpPr>
        <p:spPr>
          <a:xfrm>
            <a:off x="125730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ason 1 text"/>
          <p:cNvSpPr txBox="1"/>
          <p:nvPr/>
        </p:nvSpPr>
        <p:spPr>
          <a:xfrm>
            <a:off x="151333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Scale and cost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processor spreads its costs over hundreds of banks</a:t>
            </a:r>
          </a:p>
        </p:txBody>
      </p:sp>
      <p:sp>
        <p:nvSpPr>
          <p:cNvPr id="5" name="Reason 2"/>
          <p:cNvSpPr/>
          <p:nvPr/>
        </p:nvSpPr>
        <p:spPr>
          <a:xfrm>
            <a:off x="528065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ason 2 text"/>
          <p:cNvSpPr txBox="1"/>
          <p:nvPr/>
        </p:nvSpPr>
        <p:spPr>
          <a:xfrm>
            <a:off x="553669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Expertise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Specialists the bank couldn't hire or keep</a:t>
            </a:r>
          </a:p>
        </p:txBody>
      </p:sp>
      <p:sp>
        <p:nvSpPr>
          <p:cNvPr id="7" name="Reason 3"/>
          <p:cNvSpPr/>
          <p:nvPr/>
        </p:nvSpPr>
        <p:spPr>
          <a:xfrm>
            <a:off x="930401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Reason 3 text"/>
          <p:cNvSpPr txBox="1"/>
          <p:nvPr/>
        </p:nvSpPr>
        <p:spPr>
          <a:xfrm>
            <a:off x="956005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Around the clock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24x7 monitoring and support with three IT staff? No.</a:t>
            </a:r>
          </a:p>
        </p:txBody>
      </p:sp>
      <p:sp>
        <p:nvSpPr>
          <p:cNvPr id="9" name="Reason 4"/>
          <p:cNvSpPr/>
          <p:nvPr/>
        </p:nvSpPr>
        <p:spPr>
          <a:xfrm>
            <a:off x="1332738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Reason 4 text"/>
          <p:cNvSpPr txBox="1"/>
          <p:nvPr/>
        </p:nvSpPr>
        <p:spPr>
          <a:xfrm>
            <a:off x="1358341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Technology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apps, real-time payments, fraud models the bank couldn't build</a:t>
            </a:r>
          </a:p>
        </p:txBody>
      </p:sp>
      <p:sp>
        <p:nvSpPr>
          <p:cNvPr id="11" name="Typical heading"/>
          <p:cNvSpPr txBox="1"/>
          <p:nvPr/>
        </p:nvSpPr>
        <p:spPr>
          <a:xfrm>
            <a:off x="1257300" y="54864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 community bank typically outsources</a:t>
            </a:r>
          </a:p>
        </p:txBody>
      </p:sp>
      <p:sp>
        <p:nvSpPr>
          <p:cNvPr id="12" name="Chip 1"/>
          <p:cNvSpPr/>
          <p:nvPr/>
        </p:nvSpPr>
        <p:spPr>
          <a:xfrm>
            <a:off x="125730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processing</a:t>
            </a:r>
          </a:p>
        </p:txBody>
      </p:sp>
      <p:sp>
        <p:nvSpPr>
          <p:cNvPr id="13" name="Chip 2"/>
          <p:cNvSpPr/>
          <p:nvPr/>
        </p:nvSpPr>
        <p:spPr>
          <a:xfrm>
            <a:off x="528065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</p:txBody>
      </p:sp>
      <p:sp>
        <p:nvSpPr>
          <p:cNvPr id="14" name="Chip 3"/>
          <p:cNvSpPr/>
          <p:nvPr/>
        </p:nvSpPr>
        <p:spPr>
          <a:xfrm>
            <a:off x="930401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15" name="Chip 4"/>
          <p:cNvSpPr/>
          <p:nvPr/>
        </p:nvSpPr>
        <p:spPr>
          <a:xfrm>
            <a:off x="1332738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management (MSP)</a:t>
            </a:r>
          </a:p>
        </p:txBody>
      </p:sp>
      <p:sp>
        <p:nvSpPr>
          <p:cNvPr id="16" name="Chip 5"/>
          <p:cNvSpPr/>
          <p:nvPr/>
        </p:nvSpPr>
        <p:spPr>
          <a:xfrm>
            <a:off x="125730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 (MSSP)</a:t>
            </a:r>
          </a:p>
        </p:txBody>
      </p:sp>
      <p:sp>
        <p:nvSpPr>
          <p:cNvPr id="17" name="Chip 6"/>
          <p:cNvSpPr/>
          <p:nvPr/>
        </p:nvSpPr>
        <p:spPr>
          <a:xfrm>
            <a:off x="528065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files (Microsoft 365)</a:t>
            </a:r>
          </a:p>
        </p:txBody>
      </p:sp>
      <p:sp>
        <p:nvSpPr>
          <p:cNvPr id="18" name="Chip 7"/>
          <p:cNvSpPr/>
          <p:nvPr/>
        </p:nvSpPr>
        <p:spPr>
          <a:xfrm>
            <a:off x="930401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and recovery</a:t>
            </a:r>
          </a:p>
        </p:txBody>
      </p:sp>
      <p:sp>
        <p:nvSpPr>
          <p:cNvPr id="19" name="Chip 8"/>
          <p:cNvSpPr/>
          <p:nvPr/>
        </p:nvSpPr>
        <p:spPr>
          <a:xfrm>
            <a:off x="1332738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20" name="Responsibility banner"/>
          <p:cNvSpPr/>
          <p:nvPr/>
        </p:nvSpPr>
        <p:spPr>
          <a:xfrm>
            <a:off x="1257300" y="7909560"/>
            <a:ext cx="157734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Responsibility banner text"/>
          <p:cNvSpPr txBox="1"/>
          <p:nvPr/>
        </p:nvSpPr>
        <p:spPr>
          <a:xfrm>
            <a:off x="1554480" y="7955280"/>
            <a:ext cx="151790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can outsource the work, not the responsibility.</a:t>
            </a:r>
          </a:p>
        </p:txBody>
      </p:sp>
      <p:sp>
        <p:nvSpPr>
          <p:cNvPr id="2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Banner paraphrases the Interagency Guidance on Third-Party Relationships: Risk Management (June 2023)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Every Vendor Is a Network Connection</a:t>
            </a:r>
          </a:p>
        </p:txBody>
      </p:sp>
      <p:cxnSp>
        <p:nvCxnSpPr>
          <p:cNvPr id="3" name="Door 1 line"/>
          <p:cNvCxnSpPr/>
          <p:nvPr/>
        </p:nvCxnSpPr>
        <p:spPr>
          <a:xfrm flipV="1">
            <a:off x="9144000" y="324612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oor 2 line"/>
          <p:cNvCxnSpPr/>
          <p:nvPr/>
        </p:nvCxnSpPr>
        <p:spPr>
          <a:xfrm flipV="1">
            <a:off x="914400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oor 3 line"/>
          <p:cNvCxnSpPr/>
          <p:nvPr/>
        </p:nvCxnSpPr>
        <p:spPr>
          <a:xfrm>
            <a:off x="914400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oor 4 line"/>
          <p:cNvCxnSpPr/>
          <p:nvPr/>
        </p:nvCxnSpPr>
        <p:spPr>
          <a:xfrm>
            <a:off x="914400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oor 5 line"/>
          <p:cNvCxnSpPr/>
          <p:nvPr/>
        </p:nvCxnSpPr>
        <p:spPr>
          <a:xfrm>
            <a:off x="9144000" y="603504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oor 6 line"/>
          <p:cNvCxnSpPr/>
          <p:nvPr/>
        </p:nvCxnSpPr>
        <p:spPr>
          <a:xfrm flipH="1">
            <a:off x="406908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oor 7 line"/>
          <p:cNvCxnSpPr/>
          <p:nvPr/>
        </p:nvCxnSpPr>
        <p:spPr>
          <a:xfrm flipH="1">
            <a:off x="333756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oor 8 line"/>
          <p:cNvCxnSpPr/>
          <p:nvPr/>
        </p:nvCxnSpPr>
        <p:spPr>
          <a:xfrm flipH="1" flipV="1">
            <a:off x="406908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ank disc"/>
          <p:cNvSpPr/>
          <p:nvPr/>
        </p:nvSpPr>
        <p:spPr>
          <a:xfrm>
            <a:off x="8001000" y="4892040"/>
            <a:ext cx="2286000" cy="2286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an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920" y="5257799"/>
            <a:ext cx="1280160" cy="1280160"/>
          </a:xfrm>
          <a:prstGeom prst="rect">
            <a:avLst/>
          </a:prstGeom>
        </p:spPr>
      </p:pic>
      <p:sp>
        <p:nvSpPr>
          <p:cNvPr id="13" name="Bank label"/>
          <p:cNvSpPr txBox="1"/>
          <p:nvPr/>
        </p:nvSpPr>
        <p:spPr>
          <a:xfrm>
            <a:off x="8229600" y="6583679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sp>
        <p:nvSpPr>
          <p:cNvPr id="14" name="Vendor 1"/>
          <p:cNvSpPr/>
          <p:nvPr/>
        </p:nvSpPr>
        <p:spPr>
          <a:xfrm>
            <a:off x="7452360" y="274320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Vendor 1 text"/>
          <p:cNvSpPr txBox="1"/>
          <p:nvPr/>
        </p:nvSpPr>
        <p:spPr>
          <a:xfrm>
            <a:off x="7589520" y="281635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 or private circuit</a:t>
            </a:r>
          </a:p>
        </p:txBody>
      </p:sp>
      <p:sp>
        <p:nvSpPr>
          <p:cNvPr id="16" name="Vendor 2"/>
          <p:cNvSpPr/>
          <p:nvPr/>
        </p:nvSpPr>
        <p:spPr>
          <a:xfrm>
            <a:off x="1252728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Vendor 2 text"/>
          <p:cNvSpPr txBox="1"/>
          <p:nvPr/>
        </p:nvSpPr>
        <p:spPr>
          <a:xfrm>
            <a:off x="1266444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18" name="Vendor 3"/>
          <p:cNvSpPr/>
          <p:nvPr/>
        </p:nvSpPr>
        <p:spPr>
          <a:xfrm>
            <a:off x="13258800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Vendor 3 text"/>
          <p:cNvSpPr txBox="1"/>
          <p:nvPr/>
        </p:nvSpPr>
        <p:spPr>
          <a:xfrm>
            <a:off x="13395960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MSP / MSSP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Remote access, always on</a:t>
            </a:r>
          </a:p>
        </p:txBody>
      </p:sp>
      <p:sp>
        <p:nvSpPr>
          <p:cNvPr id="20" name="Vendor 4"/>
          <p:cNvSpPr/>
          <p:nvPr/>
        </p:nvSpPr>
        <p:spPr>
          <a:xfrm>
            <a:off x="1252728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Vendor 4 text"/>
          <p:cNvSpPr txBox="1"/>
          <p:nvPr/>
        </p:nvSpPr>
        <p:spPr>
          <a:xfrm>
            <a:off x="1266444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apps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</a:t>
            </a:r>
          </a:p>
        </p:txBody>
      </p:sp>
      <p:sp>
        <p:nvSpPr>
          <p:cNvPr id="22" name="Vendor 5"/>
          <p:cNvSpPr/>
          <p:nvPr/>
        </p:nvSpPr>
        <p:spPr>
          <a:xfrm>
            <a:off x="7452360" y="832104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Vendor 5 text"/>
          <p:cNvSpPr txBox="1"/>
          <p:nvPr/>
        </p:nvSpPr>
        <p:spPr>
          <a:xfrm>
            <a:off x="7589520" y="839419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 over the internet</a:t>
            </a:r>
          </a:p>
        </p:txBody>
      </p:sp>
      <p:sp>
        <p:nvSpPr>
          <p:cNvPr id="24" name="Vendor 6"/>
          <p:cNvSpPr/>
          <p:nvPr/>
        </p:nvSpPr>
        <p:spPr>
          <a:xfrm>
            <a:off x="237744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Vendor 6 text"/>
          <p:cNvSpPr txBox="1"/>
          <p:nvPr/>
        </p:nvSpPr>
        <p:spPr>
          <a:xfrm>
            <a:off x="251460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 network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Circuit to the ATM switch</a:t>
            </a:r>
          </a:p>
        </p:txBody>
      </p:sp>
      <p:sp>
        <p:nvSpPr>
          <p:cNvPr id="26" name="Vendor 7"/>
          <p:cNvSpPr/>
          <p:nvPr/>
        </p:nvSpPr>
        <p:spPr>
          <a:xfrm>
            <a:off x="1645919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Vendor 7 text"/>
          <p:cNvSpPr txBox="1"/>
          <p:nvPr/>
        </p:nvSpPr>
        <p:spPr>
          <a:xfrm>
            <a:off x="1783079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Secure file transfer</a:t>
            </a:r>
          </a:p>
        </p:txBody>
      </p:sp>
      <p:sp>
        <p:nvSpPr>
          <p:cNvPr id="28" name="Vendor 8"/>
          <p:cNvSpPr/>
          <p:nvPr/>
        </p:nvSpPr>
        <p:spPr>
          <a:xfrm>
            <a:off x="237744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Vendor 8 text"/>
          <p:cNvSpPr txBox="1"/>
          <p:nvPr/>
        </p:nvSpPr>
        <p:spPr>
          <a:xfrm>
            <a:off x="251460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/ ISP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The circuits themselves</a:t>
            </a:r>
          </a:p>
        </p:txBody>
      </p:sp>
      <p:sp>
        <p:nvSpPr>
          <p:cNvPr id="30" name="Door callout"/>
          <p:cNvSpPr txBox="1"/>
          <p:nvPr/>
        </p:nvSpPr>
        <p:spPr>
          <a:xfrm>
            <a:off x="1257300" y="8915400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Each line is a door into the bank.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BE94-C776-E140-BFDA-5D6FE388C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 Processing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A03D1-0ECB-7147-BF93-F91F832EE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97143" cy="7326426"/>
          </a:xfrm>
        </p:spPr>
        <p:txBody>
          <a:bodyPr>
            <a:normAutofit/>
          </a:bodyPr>
          <a:lstStyle/>
          <a:p>
            <a:r>
              <a:rPr lang="en-US"/>
              <a:t>Historically, Core Processing was owned by a handful of specialized companies</a:t>
            </a:r>
          </a:p>
          <a:p>
            <a:r>
              <a:rPr lang="en-US"/>
              <a:t>Moving to the cloud poses both advantages and risks for core processors</a:t>
            </a:r>
          </a:p>
          <a:p>
            <a:r>
              <a:rPr lang="en-US"/>
              <a:t>Fintech solutions can rapidly add new capabilities and change what “core” means</a:t>
            </a:r>
          </a:p>
          <a:p>
            <a:r>
              <a:rPr lang="en-US"/>
              <a:t>Will the cloud come to the core before the core comes to the cloud?</a:t>
            </a:r>
          </a:p>
        </p:txBody>
      </p:sp>
      <p:pic>
        <p:nvPicPr>
          <p:cNvPr id="5122" name="Picture 2" descr="Jack Henry Banking logo">
            <a:hlinkClick r:id="rId3"/>
            <a:extLst>
              <a:ext uri="{FF2B5EF4-FFF2-40B4-BE49-F238E27FC236}">
                <a16:creationId xmlns:a16="http://schemas.microsoft.com/office/drawing/2014/main" id="{6EE2C50B-E96F-4144-89BD-44EB69438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988125" y="1616628"/>
            <a:ext cx="4972278" cy="2064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719E9A8-FC37-FB4B-8328-7E8ADE34AB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77673" y="3704628"/>
            <a:ext cx="2282730" cy="1154793"/>
          </a:xfrm>
          <a:prstGeom prst="rect">
            <a:avLst/>
          </a:prstGeom>
        </p:spPr>
      </p:pic>
      <p:pic>
        <p:nvPicPr>
          <p:cNvPr id="5130" name="Picture 10" descr="Finastra">
            <a:hlinkClick r:id="rId7" tooltip="Finastra"/>
            <a:extLst>
              <a:ext uri="{FF2B5EF4-FFF2-40B4-BE49-F238E27FC236}">
                <a16:creationId xmlns:a16="http://schemas.microsoft.com/office/drawing/2014/main" id="{A97C0B0A-2B07-3A43-98FB-7520D378C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057067" y="5092983"/>
            <a:ext cx="2881086" cy="141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12" descr="Nymbus">
            <a:hlinkClick r:id="rId9"/>
            <a:extLst>
              <a:ext uri="{FF2B5EF4-FFF2-40B4-BE49-F238E27FC236}">
                <a16:creationId xmlns:a16="http://schemas.microsoft.com/office/drawing/2014/main" id="{79EA0750-5093-D54A-8755-1E70779E9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7000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AutoShape 13" descr="Nymbus">
            <a:extLst>
              <a:ext uri="{FF2B5EF4-FFF2-40B4-BE49-F238E27FC236}">
                <a16:creationId xmlns:a16="http://schemas.microsoft.com/office/drawing/2014/main" id="{8F439D39-DDE5-E441-ADE5-6DBB603DFD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08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91825E-B203-E548-B5D5-233ECD9B11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85588" y="6956553"/>
            <a:ext cx="18669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413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Fintech Partnerships: New Connections Into the Bank</a:t>
            </a:r>
          </a:p>
        </p:txBody>
      </p:sp>
      <p:sp>
        <p:nvSpPr>
          <p:cNvPr id="3" name="Flow 1 card"/>
          <p:cNvSpPr/>
          <p:nvPr/>
        </p:nvSpPr>
        <p:spPr>
          <a:xfrm>
            <a:off x="12573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Fl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017520"/>
            <a:ext cx="1005840" cy="1005840"/>
          </a:xfrm>
          <a:prstGeom prst="rect">
            <a:avLst/>
          </a:prstGeom>
        </p:spPr>
      </p:pic>
      <p:sp>
        <p:nvSpPr>
          <p:cNvPr id="5" name="Flow 1 text"/>
          <p:cNvSpPr txBox="1"/>
          <p:nvPr/>
        </p:nvSpPr>
        <p:spPr>
          <a:xfrm>
            <a:off x="13944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Uses the fintech's app</a:t>
            </a:r>
          </a:p>
        </p:txBody>
      </p:sp>
      <p:cxnSp>
        <p:nvCxnSpPr>
          <p:cNvPr id="6" name="Flow arrow 1"/>
          <p:cNvCxnSpPr/>
          <p:nvPr/>
        </p:nvCxnSpPr>
        <p:spPr>
          <a:xfrm>
            <a:off x="4229100" y="4114800"/>
            <a:ext cx="102870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2 card"/>
          <p:cNvSpPr/>
          <p:nvPr/>
        </p:nvSpPr>
        <p:spPr>
          <a:xfrm>
            <a:off x="530352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Fl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3017520"/>
            <a:ext cx="1005840" cy="1005840"/>
          </a:xfrm>
          <a:prstGeom prst="rect">
            <a:avLst/>
          </a:prstGeom>
        </p:spPr>
      </p:pic>
      <p:sp>
        <p:nvSpPr>
          <p:cNvPr id="9" name="Flow 2 text"/>
          <p:cNvSpPr txBox="1"/>
          <p:nvPr/>
        </p:nvSpPr>
        <p:spPr>
          <a:xfrm>
            <a:off x="544068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app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Owns the customer relationship</a:t>
            </a:r>
          </a:p>
        </p:txBody>
      </p:sp>
      <p:cxnSp>
        <p:nvCxnSpPr>
          <p:cNvPr id="10" name="Flow arrow 2"/>
          <p:cNvCxnSpPr/>
          <p:nvPr/>
        </p:nvCxnSpPr>
        <p:spPr>
          <a:xfrm>
            <a:off x="827532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 card"/>
          <p:cNvSpPr/>
          <p:nvPr/>
        </p:nvSpPr>
        <p:spPr>
          <a:xfrm>
            <a:off x="93726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Fl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32719" y="3017520"/>
            <a:ext cx="1005840" cy="1005840"/>
          </a:xfrm>
          <a:prstGeom prst="rect">
            <a:avLst/>
          </a:prstGeom>
        </p:spPr>
      </p:pic>
      <p:sp>
        <p:nvSpPr>
          <p:cNvPr id="13" name="Flow 3 text"/>
          <p:cNvSpPr txBox="1"/>
          <p:nvPr/>
        </p:nvSpPr>
        <p:spPr>
          <a:xfrm>
            <a:off x="95097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Middleware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Keeps the ledger (sometimes)</a:t>
            </a:r>
          </a:p>
        </p:txBody>
      </p:sp>
      <p:cxnSp>
        <p:nvCxnSpPr>
          <p:cNvPr id="14" name="Flow arrow 3"/>
          <p:cNvCxnSpPr/>
          <p:nvPr/>
        </p:nvCxnSpPr>
        <p:spPr>
          <a:xfrm>
            <a:off x="1234440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4 card"/>
          <p:cNvSpPr/>
          <p:nvPr/>
        </p:nvSpPr>
        <p:spPr>
          <a:xfrm>
            <a:off x="13441680" y="2743200"/>
            <a:ext cx="2926080" cy="2788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Flow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01800" y="3017520"/>
            <a:ext cx="1005840" cy="1005840"/>
          </a:xfrm>
          <a:prstGeom prst="rect">
            <a:avLst/>
          </a:prstGeom>
        </p:spPr>
      </p:pic>
      <p:sp>
        <p:nvSpPr>
          <p:cNvPr id="17" name="Flow 4 text"/>
          <p:cNvSpPr txBox="1"/>
          <p:nvPr/>
        </p:nvSpPr>
        <p:spPr>
          <a:xfrm>
            <a:off x="1357884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Partner bank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 the money</a:t>
            </a:r>
          </a:p>
        </p:txBody>
      </p:sp>
      <p:sp>
        <p:nvSpPr>
          <p:cNvPr id="18" name="API label"/>
          <p:cNvSpPr txBox="1"/>
          <p:nvPr/>
        </p:nvSpPr>
        <p:spPr>
          <a:xfrm>
            <a:off x="388620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app</a:t>
            </a:r>
          </a:p>
        </p:txBody>
      </p:sp>
      <p:sp>
        <p:nvSpPr>
          <p:cNvPr id="19" name="API label 2"/>
          <p:cNvSpPr txBox="1"/>
          <p:nvPr/>
        </p:nvSpPr>
        <p:spPr>
          <a:xfrm>
            <a:off x="7955279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0" name="API label 3"/>
          <p:cNvSpPr txBox="1"/>
          <p:nvPr/>
        </p:nvSpPr>
        <p:spPr>
          <a:xfrm>
            <a:off x="1202436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1" name="Fintech 1"/>
          <p:cNvSpPr/>
          <p:nvPr/>
        </p:nvSpPr>
        <p:spPr>
          <a:xfrm>
            <a:off x="125730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Fintech 1 text"/>
          <p:cNvSpPr txBox="1"/>
          <p:nvPr/>
        </p:nvSpPr>
        <p:spPr>
          <a:xfrm>
            <a:off x="151333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doors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APIs reachable from the internet, protected by keys and tokens instead of a VPN</a:t>
            </a:r>
          </a:p>
        </p:txBody>
      </p:sp>
      <p:sp>
        <p:nvSpPr>
          <p:cNvPr id="23" name="Fintech 2"/>
          <p:cNvSpPr/>
          <p:nvPr/>
        </p:nvSpPr>
        <p:spPr>
          <a:xfrm>
            <a:off x="662178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Fintech 2 text"/>
          <p:cNvSpPr txBox="1"/>
          <p:nvPr/>
        </p:nvSpPr>
        <p:spPr>
          <a:xfrm>
            <a:off x="687781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else's traffic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Volume and peaks driven by the fintech's growth and marketing, not the bank's</a:t>
            </a:r>
          </a:p>
        </p:txBody>
      </p:sp>
      <p:sp>
        <p:nvSpPr>
          <p:cNvPr id="25" name="Fintech 3"/>
          <p:cNvSpPr/>
          <p:nvPr/>
        </p:nvSpPr>
        <p:spPr>
          <a:xfrm>
            <a:off x="1198626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Fintech 3 text"/>
          <p:cNvSpPr txBox="1"/>
          <p:nvPr/>
        </p:nvSpPr>
        <p:spPr>
          <a:xfrm>
            <a:off x="12242291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has the ledger?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middleware holds the records, the bank may not know whose money it holds</a:t>
            </a:r>
          </a:p>
        </p:txBody>
      </p:sp>
      <p:sp>
        <p:nvSpPr>
          <p:cNvPr id="27" name="Synapse card"/>
          <p:cNvSpPr/>
          <p:nvPr/>
        </p:nvSpPr>
        <p:spPr>
          <a:xfrm>
            <a:off x="1257300" y="8732520"/>
            <a:ext cx="15773400" cy="8229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Synapse text"/>
          <p:cNvSpPr txBox="1"/>
          <p:nvPr/>
        </p:nvSpPr>
        <p:spPr>
          <a:xfrm>
            <a:off x="1554480" y="8778240"/>
            <a:ext cx="15179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Synapse, 2024: the middleware firm failed, its records didn't match the banks', and over 100,000 customers couldn't reach their money for months.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Carriers and ISPs Are Vendors Too: Network SLAs</a:t>
            </a:r>
          </a:p>
        </p:txBody>
      </p:sp>
      <p:sp>
        <p:nvSpPr>
          <p:cNvPr id="3" name="Nines heading"/>
          <p:cNvSpPr txBox="1"/>
          <p:nvPr/>
        </p:nvSpPr>
        <p:spPr>
          <a:xfrm>
            <a:off x="1257300" y="26974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“the nines” allow</a:t>
            </a:r>
          </a:p>
        </p:txBody>
      </p:sp>
      <p:sp>
        <p:nvSpPr>
          <p:cNvPr id="4" name="Nines 1 pct"/>
          <p:cNvSpPr txBox="1"/>
          <p:nvPr/>
        </p:nvSpPr>
        <p:spPr>
          <a:xfrm>
            <a:off x="1257300" y="338328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99.9%</a:t>
            </a:r>
          </a:p>
        </p:txBody>
      </p:sp>
      <p:sp>
        <p:nvSpPr>
          <p:cNvPr id="5" name="Nines 1 bar"/>
          <p:cNvSpPr/>
          <p:nvPr/>
        </p:nvSpPr>
        <p:spPr>
          <a:xfrm>
            <a:off x="4023360" y="3520440"/>
            <a:ext cx="4572000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Nines 1 text"/>
          <p:cNvSpPr txBox="1"/>
          <p:nvPr/>
        </p:nvSpPr>
        <p:spPr>
          <a:xfrm>
            <a:off x="4023360" y="4069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8.8 hours a year down</a:t>
            </a:r>
          </a:p>
        </p:txBody>
      </p:sp>
      <p:sp>
        <p:nvSpPr>
          <p:cNvPr id="7" name="Nines 2 pct"/>
          <p:cNvSpPr txBox="1"/>
          <p:nvPr/>
        </p:nvSpPr>
        <p:spPr>
          <a:xfrm>
            <a:off x="1257300" y="480060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99.99%</a:t>
            </a:r>
          </a:p>
        </p:txBody>
      </p:sp>
      <p:sp>
        <p:nvSpPr>
          <p:cNvPr id="8" name="Nines 2 bar"/>
          <p:cNvSpPr/>
          <p:nvPr/>
        </p:nvSpPr>
        <p:spPr>
          <a:xfrm>
            <a:off x="4023360" y="4937760"/>
            <a:ext cx="458931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Nines 2 text"/>
          <p:cNvSpPr txBox="1"/>
          <p:nvPr/>
        </p:nvSpPr>
        <p:spPr>
          <a:xfrm>
            <a:off x="4023360" y="54864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53 minutes a year down</a:t>
            </a:r>
          </a:p>
        </p:txBody>
      </p:sp>
      <p:sp>
        <p:nvSpPr>
          <p:cNvPr id="10" name="Nines 3 pct"/>
          <p:cNvSpPr txBox="1"/>
          <p:nvPr/>
        </p:nvSpPr>
        <p:spPr>
          <a:xfrm>
            <a:off x="1257300" y="621792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99.999%</a:t>
            </a:r>
          </a:p>
        </p:txBody>
      </p:sp>
      <p:sp>
        <p:nvSpPr>
          <p:cNvPr id="11" name="Nines 3 bar"/>
          <p:cNvSpPr/>
          <p:nvPr/>
        </p:nvSpPr>
        <p:spPr>
          <a:xfrm>
            <a:off x="4023360" y="6355080"/>
            <a:ext cx="10972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Nines 3 text"/>
          <p:cNvSpPr txBox="1"/>
          <p:nvPr/>
        </p:nvSpPr>
        <p:spPr>
          <a:xfrm>
            <a:off x="4023360" y="69037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 minutes a year down</a:t>
            </a:r>
          </a:p>
        </p:txBody>
      </p:sp>
      <p:sp>
        <p:nvSpPr>
          <p:cNvPr id="13" name="Nines note"/>
          <p:cNvSpPr txBox="1"/>
          <p:nvPr/>
        </p:nvSpPr>
        <p:spPr>
          <a:xfrm>
            <a:off x="1257300" y="7635240"/>
            <a:ext cx="7589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99.9% is about 44 minutes a month: an afternoon of a dark branch, every quarter, inside the SLA.</a:t>
            </a:r>
          </a:p>
        </p:txBody>
      </p:sp>
      <p:sp>
        <p:nvSpPr>
          <p:cNvPr id="14" name="SLA panel"/>
          <p:cNvSpPr/>
          <p:nvPr/>
        </p:nvSpPr>
        <p:spPr>
          <a:xfrm>
            <a:off x="9509760" y="2697480"/>
            <a:ext cx="7520940" cy="58064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SLA list"/>
          <p:cNvSpPr txBox="1"/>
          <p:nvPr/>
        </p:nvSpPr>
        <p:spPr>
          <a:xfrm>
            <a:off x="9875520" y="2926080"/>
            <a:ext cx="685800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 the SLA for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availability is measured, and whether maintenance counts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to repair, not just time to respond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Latency, jitter and packet loss, for voice and real-time payments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outages are reported, and how fast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Credits: a slice of the bill, not compensation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 diversity, in writing, with a map</a:t>
            </a:r>
          </a:p>
        </p:txBody>
      </p:sp>
      <p:sp>
        <p:nvSpPr>
          <p:cNvPr id="16" name="Carrier banner"/>
          <p:cNvSpPr/>
          <p:nvPr/>
        </p:nvSpPr>
        <p:spPr>
          <a:xfrm>
            <a:off x="1257300" y="873252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Carrier banner text"/>
          <p:cNvSpPr txBox="1"/>
          <p:nvPr/>
        </p:nvSpPr>
        <p:spPr>
          <a:xfrm>
            <a:off x="1554480" y="877824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carrier on the bank's vendor list?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Concentration Risk: When Every Bank Uses the Same Few Providers</a:t>
            </a:r>
          </a:p>
        </p:txBody>
      </p:sp>
      <p:pic>
        <p:nvPicPr>
          <p:cNvPr id="3" name="Small bank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2720340"/>
            <a:ext cx="685800" cy="685800"/>
          </a:xfrm>
          <a:prstGeom prst="rect">
            <a:avLst/>
          </a:prstGeom>
        </p:spPr>
      </p:pic>
      <p:cxnSp>
        <p:nvCxnSpPr>
          <p:cNvPr id="4" name="Funnel 1"/>
          <p:cNvCxnSpPr/>
          <p:nvPr/>
        </p:nvCxnSpPr>
        <p:spPr>
          <a:xfrm>
            <a:off x="2286000" y="3063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Small bank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3634739"/>
            <a:ext cx="685800" cy="685800"/>
          </a:xfrm>
          <a:prstGeom prst="rect">
            <a:avLst/>
          </a:prstGeom>
        </p:spPr>
      </p:pic>
      <p:cxnSp>
        <p:nvCxnSpPr>
          <p:cNvPr id="6" name="Funnel 2"/>
          <p:cNvCxnSpPr/>
          <p:nvPr/>
        </p:nvCxnSpPr>
        <p:spPr>
          <a:xfrm>
            <a:off x="2286000" y="3977639"/>
            <a:ext cx="3566160" cy="1371601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Small bank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4549140"/>
            <a:ext cx="685800" cy="685800"/>
          </a:xfrm>
          <a:prstGeom prst="rect">
            <a:avLst/>
          </a:prstGeom>
        </p:spPr>
      </p:pic>
      <p:cxnSp>
        <p:nvCxnSpPr>
          <p:cNvPr id="8" name="Funnel 3"/>
          <p:cNvCxnSpPr/>
          <p:nvPr/>
        </p:nvCxnSpPr>
        <p:spPr>
          <a:xfrm>
            <a:off x="2286000" y="48920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mall bank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5463540"/>
            <a:ext cx="685800" cy="685800"/>
          </a:xfrm>
          <a:prstGeom prst="rect">
            <a:avLst/>
          </a:prstGeom>
        </p:spPr>
      </p:pic>
      <p:cxnSp>
        <p:nvCxnSpPr>
          <p:cNvPr id="10" name="Funnel 4"/>
          <p:cNvCxnSpPr/>
          <p:nvPr/>
        </p:nvCxnSpPr>
        <p:spPr>
          <a:xfrm flipV="1">
            <a:off x="2286000" y="53492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mall bank 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6377940"/>
            <a:ext cx="685800" cy="685800"/>
          </a:xfrm>
          <a:prstGeom prst="rect">
            <a:avLst/>
          </a:prstGeom>
        </p:spPr>
      </p:pic>
      <p:cxnSp>
        <p:nvCxnSpPr>
          <p:cNvPr id="12" name="Funnel 5"/>
          <p:cNvCxnSpPr/>
          <p:nvPr/>
        </p:nvCxnSpPr>
        <p:spPr>
          <a:xfrm flipV="1">
            <a:off x="2286000" y="5349240"/>
            <a:ext cx="3566160" cy="1371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mall bank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7292340"/>
            <a:ext cx="685800" cy="685800"/>
          </a:xfrm>
          <a:prstGeom prst="rect">
            <a:avLst/>
          </a:prstGeom>
        </p:spPr>
      </p:pic>
      <p:cxnSp>
        <p:nvCxnSpPr>
          <p:cNvPr id="14" name="Funnel 6"/>
          <p:cNvCxnSpPr/>
          <p:nvPr/>
        </p:nvCxnSpPr>
        <p:spPr>
          <a:xfrm flipV="1">
            <a:off x="2286000" y="5349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vider disc"/>
          <p:cNvSpPr/>
          <p:nvPr/>
        </p:nvSpPr>
        <p:spPr>
          <a:xfrm>
            <a:off x="5760720" y="4206240"/>
            <a:ext cx="2286000" cy="2286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Provider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4572000"/>
            <a:ext cx="1188720" cy="1188720"/>
          </a:xfrm>
          <a:prstGeom prst="rect">
            <a:avLst/>
          </a:prstGeom>
        </p:spPr>
      </p:pic>
      <p:sp>
        <p:nvSpPr>
          <p:cNvPr id="17" name="Provider label"/>
          <p:cNvSpPr txBox="1"/>
          <p:nvPr/>
        </p:nvSpPr>
        <p:spPr>
          <a:xfrm>
            <a:off x="5486400" y="57150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provider</a:t>
            </a:r>
          </a:p>
        </p:txBody>
      </p:sp>
      <p:sp>
        <p:nvSpPr>
          <p:cNvPr id="18" name="Funnel note"/>
          <p:cNvSpPr txBox="1"/>
          <p:nvPr/>
        </p:nvSpPr>
        <p:spPr>
          <a:xfrm>
            <a:off x="1257300" y="8183879"/>
            <a:ext cx="7132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banks, one point of failure.</a:t>
            </a:r>
          </a:p>
        </p:txBody>
      </p:sp>
      <p:sp>
        <p:nvSpPr>
          <p:cNvPr id="19" name="Example 1"/>
          <p:cNvSpPr/>
          <p:nvPr/>
        </p:nvSpPr>
        <p:spPr>
          <a:xfrm>
            <a:off x="8961120" y="26974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ample 1 text"/>
          <p:cNvSpPr txBox="1"/>
          <p:nvPr/>
        </p:nvSpPr>
        <p:spPr>
          <a:xfrm>
            <a:off x="9217152" y="28986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CrowdStrike, July 2024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faulty security update crashed about 8.5 million Windows computers in hours. Airlines, hospitals and banks went down at once.</a:t>
            </a:r>
          </a:p>
        </p:txBody>
      </p:sp>
      <p:sp>
        <p:nvSpPr>
          <p:cNvPr id="21" name="Example 2"/>
          <p:cNvSpPr/>
          <p:nvPr/>
        </p:nvSpPr>
        <p:spPr>
          <a:xfrm>
            <a:off x="8961120" y="47548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xample 2 text"/>
          <p:cNvSpPr txBox="1"/>
          <p:nvPr/>
        </p:nvSpPr>
        <p:spPr>
          <a:xfrm>
            <a:off x="9217152" y="49560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US-East-1, October 2025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Companies with no AWS contract went down through their vendors.</a:t>
            </a:r>
          </a:p>
        </p:txBody>
      </p:sp>
      <p:sp>
        <p:nvSpPr>
          <p:cNvPr id="23" name="Example 3"/>
          <p:cNvSpPr/>
          <p:nvPr/>
        </p:nvSpPr>
        <p:spPr>
          <a:xfrm>
            <a:off x="8961120" y="68122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xample 3 text"/>
          <p:cNvSpPr txBox="1"/>
          <p:nvPr/>
        </p:nvSpPr>
        <p:spPr>
          <a:xfrm>
            <a:off x="9217152" y="70134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handful of providers serve most U.S. community banks. One bad morning reaches hundreds of banks.</a:t>
            </a:r>
          </a:p>
        </p:txBody>
      </p:sp>
      <p:sp>
        <p:nvSpPr>
          <p:cNvPr id="25" name="Concentration banner"/>
          <p:cNvSpPr/>
          <p:nvPr/>
        </p:nvSpPr>
        <p:spPr>
          <a:xfrm>
            <a:off x="1257300" y="9006840"/>
            <a:ext cx="15773400" cy="594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oncentration banner text"/>
          <p:cNvSpPr txBox="1"/>
          <p:nvPr/>
        </p:nvSpPr>
        <p:spPr>
          <a:xfrm>
            <a:off x="1554480" y="9052560"/>
            <a:ext cx="15179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single bank can diversify this away. It can know its dependencies and plan to cope.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Fourth Parties: Your Vendor's Vendors</a:t>
            </a:r>
          </a:p>
        </p:txBody>
      </p:sp>
      <p:pic>
        <p:nvPicPr>
          <p:cNvPr id="3" name="Chain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3040" y="3657599"/>
            <a:ext cx="1097280" cy="1097280"/>
          </a:xfrm>
          <a:prstGeom prst="rect">
            <a:avLst/>
          </a:prstGeom>
        </p:spPr>
      </p:pic>
      <p:sp>
        <p:nvSpPr>
          <p:cNvPr id="4" name="Chain bank label"/>
          <p:cNvSpPr txBox="1"/>
          <p:nvPr/>
        </p:nvSpPr>
        <p:spPr>
          <a:xfrm>
            <a:off x="1257300" y="484632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cxnSp>
        <p:nvCxnSpPr>
          <p:cNvPr id="5" name="Chain arrow 1"/>
          <p:cNvCxnSpPr/>
          <p:nvPr/>
        </p:nvCxnSpPr>
        <p:spPr>
          <a:xfrm>
            <a:off x="2743200" y="4206240"/>
            <a:ext cx="146304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hird party"/>
          <p:cNvSpPr/>
          <p:nvPr/>
        </p:nvSpPr>
        <p:spPr>
          <a:xfrm>
            <a:off x="4297680" y="3383280"/>
            <a:ext cx="3291840" cy="1645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hird text"/>
          <p:cNvSpPr txBox="1"/>
          <p:nvPr/>
        </p:nvSpPr>
        <p:spPr>
          <a:xfrm>
            <a:off x="4434840" y="347472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third party: contract, due diligence, SOC report</a:t>
            </a:r>
          </a:p>
        </p:txBody>
      </p:sp>
      <p:cxnSp>
        <p:nvCxnSpPr>
          <p:cNvPr id="8" name="Chain arrow 4-1"/>
          <p:cNvCxnSpPr/>
          <p:nvPr/>
        </p:nvCxnSpPr>
        <p:spPr>
          <a:xfrm flipV="1">
            <a:off x="7589520" y="2880360"/>
            <a:ext cx="1097280" cy="13258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urth 1"/>
          <p:cNvSpPr/>
          <p:nvPr/>
        </p:nvSpPr>
        <p:spPr>
          <a:xfrm>
            <a:off x="8732520" y="25328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cloud host</a:t>
            </a:r>
          </a:p>
        </p:txBody>
      </p:sp>
      <p:cxnSp>
        <p:nvCxnSpPr>
          <p:cNvPr id="10" name="Chain arrow 4-2"/>
          <p:cNvCxnSpPr/>
          <p:nvPr/>
        </p:nvCxnSpPr>
        <p:spPr>
          <a:xfrm flipV="1">
            <a:off x="7589520" y="3794760"/>
            <a:ext cx="1097280" cy="4114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ourth 2"/>
          <p:cNvSpPr/>
          <p:nvPr/>
        </p:nvSpPr>
        <p:spPr>
          <a:xfrm>
            <a:off x="8732520" y="34472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data center</a:t>
            </a:r>
          </a:p>
        </p:txBody>
      </p:sp>
      <p:cxnSp>
        <p:nvCxnSpPr>
          <p:cNvPr id="12" name="Chain arrow 4-3"/>
          <p:cNvCxnSpPr/>
          <p:nvPr/>
        </p:nvCxnSpPr>
        <p:spPr>
          <a:xfrm>
            <a:off x="7589520" y="4206240"/>
            <a:ext cx="1097280" cy="5029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ourth 3"/>
          <p:cNvSpPr/>
          <p:nvPr/>
        </p:nvSpPr>
        <p:spPr>
          <a:xfrm>
            <a:off x="8732520" y="43616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remote-management software</a:t>
            </a:r>
          </a:p>
        </p:txBody>
      </p:sp>
      <p:cxnSp>
        <p:nvCxnSpPr>
          <p:cNvPr id="14" name="Chain arrow 4-4"/>
          <p:cNvCxnSpPr/>
          <p:nvPr/>
        </p:nvCxnSpPr>
        <p:spPr>
          <a:xfrm>
            <a:off x="7589520" y="4206240"/>
            <a:ext cx="1097280" cy="14173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ourth 4"/>
          <p:cNvSpPr/>
          <p:nvPr/>
        </p:nvSpPr>
        <p:spPr>
          <a:xfrm>
            <a:off x="8732520" y="52760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offshore help desk</a:t>
            </a:r>
          </a:p>
        </p:txBody>
      </p:sp>
      <p:sp>
        <p:nvSpPr>
          <p:cNvPr id="16" name="Fourth label"/>
          <p:cNvSpPr txBox="1"/>
          <p:nvPr/>
        </p:nvSpPr>
        <p:spPr>
          <a:xfrm>
            <a:off x="8229600" y="61264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Fourth parties: no contract with the bank</a:t>
            </a:r>
          </a:p>
        </p:txBody>
      </p:sp>
      <p:sp>
        <p:nvSpPr>
          <p:cNvPr id="17" name="Kaseya panel"/>
          <p:cNvSpPr/>
          <p:nvPr/>
        </p:nvSpPr>
        <p:spPr>
          <a:xfrm>
            <a:off x="12893040" y="2697480"/>
            <a:ext cx="4137660" cy="39319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Kaseya text"/>
          <p:cNvSpPr txBox="1"/>
          <p:nvPr/>
        </p:nvSpPr>
        <p:spPr>
          <a:xfrm>
            <a:off x="13167360" y="2880360"/>
            <a:ext cx="361188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rode MSPs' remote-management software to about 1,500 businesses.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Their vendor was the MSP. The MSP's vendor was Kaseya.</a:t>
            </a:r>
          </a:p>
        </p:txBody>
      </p:sp>
      <p:sp>
        <p:nvSpPr>
          <p:cNvPr id="19" name="Look 1"/>
          <p:cNvSpPr/>
          <p:nvPr/>
        </p:nvSpPr>
        <p:spPr>
          <a:xfrm>
            <a:off x="125730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Look 1 text"/>
          <p:cNvSpPr txBox="1"/>
          <p:nvPr/>
        </p:nvSpPr>
        <p:spPr>
          <a:xfrm>
            <a:off x="151333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 carve-outs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Subservice organizations left out of the audit, and who covers them</a:t>
            </a:r>
          </a:p>
        </p:txBody>
      </p:sp>
      <p:sp>
        <p:nvSpPr>
          <p:cNvPr id="21" name="Look 2"/>
          <p:cNvSpPr/>
          <p:nvPr/>
        </p:nvSpPr>
        <p:spPr>
          <a:xfrm>
            <a:off x="662178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Look 2 text"/>
          <p:cNvSpPr txBox="1"/>
          <p:nvPr/>
        </p:nvSpPr>
        <p:spPr>
          <a:xfrm>
            <a:off x="687781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 clause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Must the vendor tell the bank, or get approval, before adding one?</a:t>
            </a:r>
          </a:p>
        </p:txBody>
      </p:sp>
      <p:sp>
        <p:nvSpPr>
          <p:cNvPr id="23" name="Look 3"/>
          <p:cNvSpPr/>
          <p:nvPr/>
        </p:nvSpPr>
        <p:spPr>
          <a:xfrm>
            <a:off x="1198626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Look 3 text"/>
          <p:cNvSpPr txBox="1"/>
          <p:nvPr/>
        </p:nvSpPr>
        <p:spPr>
          <a:xfrm>
            <a:off x="12242291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for the list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critical subcontractors touch the bank's data or network?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Due Diligence Before Signing</a:t>
            </a:r>
          </a:p>
        </p:txBody>
      </p:sp>
      <p:sp>
        <p:nvSpPr>
          <p:cNvPr id="3" name="DD left panel"/>
          <p:cNvSpPr/>
          <p:nvPr/>
        </p:nvSpPr>
        <p:spPr>
          <a:xfrm>
            <a:off x="1257300" y="2697480"/>
            <a:ext cx="768096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D standard"/>
          <p:cNvSpPr txBox="1"/>
          <p:nvPr/>
        </p:nvSpPr>
        <p:spPr>
          <a:xfrm>
            <a:off x="1600200" y="2926080"/>
            <a:ext cx="7040880" cy="6309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standard list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 and sustainability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Experience, reputation and complaints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Qualifications of principals and staff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controls, information security, privacy and audit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and contingency plans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Insurance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 retention practices</a:t>
            </a:r>
          </a:p>
        </p:txBody>
      </p:sp>
      <p:sp>
        <p:nvSpPr>
          <p:cNvPr id="5" name="DD right panel"/>
          <p:cNvSpPr/>
          <p:nvPr/>
        </p:nvSpPr>
        <p:spPr>
          <a:xfrm>
            <a:off x="9349740" y="2697480"/>
            <a:ext cx="768096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DD right head"/>
          <p:cNvSpPr txBox="1"/>
          <p:nvPr/>
        </p:nvSpPr>
        <p:spPr>
          <a:xfrm>
            <a:off x="9692640" y="2926080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Add the network questions</a:t>
            </a:r>
          </a:p>
        </p:txBody>
      </p:sp>
      <p:sp>
        <p:nvSpPr>
          <p:cNvPr id="7" name="DD num 1"/>
          <p:cNvSpPr/>
          <p:nvPr/>
        </p:nvSpPr>
        <p:spPr>
          <a:xfrm>
            <a:off x="9692640" y="3657600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DD q 1"/>
          <p:cNvSpPr txBox="1"/>
          <p:nvPr/>
        </p:nvSpPr>
        <p:spPr>
          <a:xfrm>
            <a:off x="10332720" y="36118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will you connect to us?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VPN, private circuit, or API over the internet</a:t>
            </a:r>
          </a:p>
        </p:txBody>
      </p:sp>
      <p:sp>
        <p:nvSpPr>
          <p:cNvPr id="9" name="DD num 2"/>
          <p:cNvSpPr/>
          <p:nvPr/>
        </p:nvSpPr>
        <p:spPr>
          <a:xfrm>
            <a:off x="9692640" y="4773168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DD q 2"/>
          <p:cNvSpPr txBox="1"/>
          <p:nvPr/>
        </p:nvSpPr>
        <p:spPr>
          <a:xfrm>
            <a:off x="10332720" y="4727448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remote access?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it's authenticated, and whether it's logged</a:t>
            </a:r>
          </a:p>
        </p:txBody>
      </p:sp>
      <p:sp>
        <p:nvSpPr>
          <p:cNvPr id="11" name="DD num 3"/>
          <p:cNvSpPr/>
          <p:nvPr/>
        </p:nvSpPr>
        <p:spPr>
          <a:xfrm>
            <a:off x="9692640" y="5888736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2" name="DD q 3"/>
          <p:cNvSpPr txBox="1"/>
          <p:nvPr/>
        </p:nvSpPr>
        <p:spPr>
          <a:xfrm>
            <a:off x="10332720" y="5843016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will our data live?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Which provider, region and country</a:t>
            </a:r>
          </a:p>
        </p:txBody>
      </p:sp>
      <p:sp>
        <p:nvSpPr>
          <p:cNvPr id="13" name="DD num 4"/>
          <p:cNvSpPr/>
          <p:nvPr/>
        </p:nvSpPr>
        <p:spPr>
          <a:xfrm>
            <a:off x="9692640" y="7004304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DD q 4"/>
          <p:cNvSpPr txBox="1"/>
          <p:nvPr/>
        </p:nvSpPr>
        <p:spPr>
          <a:xfrm>
            <a:off x="10332720" y="6958584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transit and at rest, and who holds the keys</a:t>
            </a:r>
          </a:p>
        </p:txBody>
      </p:sp>
      <p:sp>
        <p:nvSpPr>
          <p:cNvPr id="15" name="DD num 5"/>
          <p:cNvSpPr/>
          <p:nvPr/>
        </p:nvSpPr>
        <p:spPr>
          <a:xfrm>
            <a:off x="9692640" y="8119872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6" name="DD q 5"/>
          <p:cNvSpPr txBox="1"/>
          <p:nvPr/>
        </p:nvSpPr>
        <p:spPr>
          <a:xfrm>
            <a:off x="10332720" y="8074152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you fail?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Failover site or region, and how long until we're back</a:t>
            </a:r>
          </a:p>
        </p:txBody>
      </p:sp>
      <p:sp>
        <p:nvSpPr>
          <p:cNvPr id="1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Acquisition, procedure 2 (September 2023 version; verify against the current version)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Belongs in the Contract: SLAs, Audit Rights, Incident Notice</a:t>
            </a:r>
          </a:p>
        </p:txBody>
      </p:sp>
      <p:sp>
        <p:nvSpPr>
          <p:cNvPr id="3" name="Claus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lause 1 text"/>
          <p:cNvSpPr txBox="1"/>
          <p:nvPr/>
        </p:nvSpPr>
        <p:spPr>
          <a:xfrm>
            <a:off x="151333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Availability, repair time, performance, and what happens when they're missed</a:t>
            </a:r>
          </a:p>
        </p:txBody>
      </p:sp>
      <p:sp>
        <p:nvSpPr>
          <p:cNvPr id="5" name="Claus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Clause 2 text"/>
          <p:cNvSpPr txBox="1"/>
          <p:nvPr/>
        </p:nvSpPr>
        <p:spPr>
          <a:xfrm>
            <a:off x="553669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Audit and exam rights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 audit; regulators can examine the service</a:t>
            </a:r>
          </a:p>
        </p:txBody>
      </p:sp>
      <p:sp>
        <p:nvSpPr>
          <p:cNvPr id="7" name="Claus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lause 3 text"/>
          <p:cNvSpPr txBox="1"/>
          <p:nvPr/>
        </p:nvSpPr>
        <p:spPr>
          <a:xfrm>
            <a:off x="956005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notice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notifies the bank fast; bank tells its regulator within 36 hours</a:t>
            </a:r>
          </a:p>
        </p:txBody>
      </p:sp>
      <p:sp>
        <p:nvSpPr>
          <p:cNvPr id="9" name="Claus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Clause 4 text"/>
          <p:cNvSpPr txBox="1"/>
          <p:nvPr/>
        </p:nvSpPr>
        <p:spPr>
          <a:xfrm>
            <a:off x="1358341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Safeguards for customer information, encryption, access control</a:t>
            </a:r>
          </a:p>
        </p:txBody>
      </p:sp>
      <p:sp>
        <p:nvSpPr>
          <p:cNvPr id="11" name="Clause 5"/>
          <p:cNvSpPr/>
          <p:nvPr/>
        </p:nvSpPr>
        <p:spPr>
          <a:xfrm>
            <a:off x="125730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Clause 5 text"/>
          <p:cNvSpPr txBox="1"/>
          <p:nvPr/>
        </p:nvSpPr>
        <p:spPr>
          <a:xfrm>
            <a:off x="151333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Notice or approval before handing work to a fourth party</a:t>
            </a:r>
          </a:p>
        </p:txBody>
      </p:sp>
      <p:sp>
        <p:nvSpPr>
          <p:cNvPr id="13" name="Clause 6"/>
          <p:cNvSpPr/>
          <p:nvPr/>
        </p:nvSpPr>
        <p:spPr>
          <a:xfrm>
            <a:off x="528065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Clause 6 text"/>
          <p:cNvSpPr txBox="1"/>
          <p:nvPr/>
        </p:nvSpPr>
        <p:spPr>
          <a:xfrm>
            <a:off x="553669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Recovery targets, and joint testing with the bank</a:t>
            </a:r>
          </a:p>
        </p:txBody>
      </p:sp>
      <p:sp>
        <p:nvSpPr>
          <p:cNvPr id="15" name="Clause 7"/>
          <p:cNvSpPr/>
          <p:nvPr/>
        </p:nvSpPr>
        <p:spPr>
          <a:xfrm>
            <a:off x="930401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Clause 7 text"/>
          <p:cNvSpPr txBox="1"/>
          <p:nvPr/>
        </p:nvSpPr>
        <p:spPr>
          <a:xfrm>
            <a:off x="956005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ownership and return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data is the bank's; returned in a usable format</a:t>
            </a:r>
          </a:p>
        </p:txBody>
      </p:sp>
      <p:sp>
        <p:nvSpPr>
          <p:cNvPr id="17" name="Clause 8"/>
          <p:cNvSpPr/>
          <p:nvPr/>
        </p:nvSpPr>
        <p:spPr>
          <a:xfrm>
            <a:off x="1332738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lause 8 text"/>
          <p:cNvSpPr txBox="1"/>
          <p:nvPr/>
        </p:nvSpPr>
        <p:spPr>
          <a:xfrm>
            <a:off x="1358341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Exit and termination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Transition help, timelines, and proof of data destruction</a:t>
            </a:r>
          </a:p>
        </p:txBody>
      </p:sp>
      <p:sp>
        <p:nvSpPr>
          <p:cNvPr id="19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Development and Acquisition, procedure 3 (September 2023 version); Computer-Security Incident Notification rule (2021)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SOC Reports: What They Tell You and What They Don't</a:t>
            </a:r>
          </a:p>
        </p:txBody>
      </p:sp>
      <p:sp>
        <p:nvSpPr>
          <p:cNvPr id="3" name="SOC 1"/>
          <p:cNvSpPr/>
          <p:nvPr/>
        </p:nvSpPr>
        <p:spPr>
          <a:xfrm>
            <a:off x="12573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SOC 1 text"/>
          <p:cNvSpPr txBox="1"/>
          <p:nvPr/>
        </p:nvSpPr>
        <p:spPr>
          <a:xfrm>
            <a:off x="15133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reporting controls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e.g. a core processor posting transactions</a:t>
            </a:r>
          </a:p>
        </p:txBody>
      </p:sp>
      <p:sp>
        <p:nvSpPr>
          <p:cNvPr id="5" name="SOC 2"/>
          <p:cNvSpPr/>
          <p:nvPr/>
        </p:nvSpPr>
        <p:spPr>
          <a:xfrm>
            <a:off x="6629400" y="2697480"/>
            <a:ext cx="5029200" cy="17830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SOC 2 text"/>
          <p:cNvSpPr txBox="1"/>
          <p:nvPr/>
        </p:nvSpPr>
        <p:spPr>
          <a:xfrm>
            <a:off x="68854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2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Security, availability, confidentiality, privacy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one for IT and the network</a:t>
            </a:r>
          </a:p>
        </p:txBody>
      </p:sp>
      <p:sp>
        <p:nvSpPr>
          <p:cNvPr id="7" name="SOC 3"/>
          <p:cNvSpPr/>
          <p:nvPr/>
        </p:nvSpPr>
        <p:spPr>
          <a:xfrm>
            <a:off x="120015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SOC 3 text"/>
          <p:cNvSpPr txBox="1"/>
          <p:nvPr/>
        </p:nvSpPr>
        <p:spPr>
          <a:xfrm>
            <a:off x="122575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summary of a SOC 2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No detail; fine for marketing, not oversight</a:t>
            </a:r>
          </a:p>
        </p:txBody>
      </p:sp>
      <p:sp>
        <p:nvSpPr>
          <p:cNvPr id="9" name="Type heading"/>
          <p:cNvSpPr txBox="1"/>
          <p:nvPr/>
        </p:nvSpPr>
        <p:spPr>
          <a:xfrm>
            <a:off x="1257300" y="470916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 I vs. Type II</a:t>
            </a:r>
          </a:p>
        </p:txBody>
      </p:sp>
      <p:cxnSp>
        <p:nvCxnSpPr>
          <p:cNvPr id="10" name="Timeline"/>
          <p:cNvCxnSpPr/>
          <p:nvPr/>
        </p:nvCxnSpPr>
        <p:spPr>
          <a:xfrm>
            <a:off x="4937760" y="5303520"/>
            <a:ext cx="11887200" cy="0"/>
          </a:xfrm>
          <a:prstGeom prst="line">
            <a:avLst/>
          </a:pr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ype I dot"/>
          <p:cNvSpPr/>
          <p:nvPr/>
        </p:nvSpPr>
        <p:spPr>
          <a:xfrm>
            <a:off x="5760720" y="5120640"/>
            <a:ext cx="365760" cy="365760"/>
          </a:xfrm>
          <a:prstGeom prst="ellips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ype I label"/>
          <p:cNvSpPr txBox="1"/>
          <p:nvPr/>
        </p:nvSpPr>
        <p:spPr>
          <a:xfrm>
            <a:off x="4937760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Type I: one day</a:t>
            </a:r>
          </a:p>
        </p:txBody>
      </p:sp>
      <p:sp>
        <p:nvSpPr>
          <p:cNvPr id="13" name="Type II bar"/>
          <p:cNvSpPr/>
          <p:nvPr/>
        </p:nvSpPr>
        <p:spPr>
          <a:xfrm>
            <a:off x="9601200" y="5120640"/>
            <a:ext cx="7223760" cy="3657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Type II label"/>
          <p:cNvSpPr txBox="1"/>
          <p:nvPr/>
        </p:nvSpPr>
        <p:spPr>
          <a:xfrm>
            <a:off x="9601200" y="4617720"/>
            <a:ext cx="7223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Type II: tested over 6–12 months. Ask for this one.</a:t>
            </a:r>
          </a:p>
        </p:txBody>
      </p:sp>
      <p:sp>
        <p:nvSpPr>
          <p:cNvPr id="15" name="Type I sub"/>
          <p:cNvSpPr txBox="1"/>
          <p:nvPr/>
        </p:nvSpPr>
        <p:spPr>
          <a:xfrm>
            <a:off x="1257300" y="516636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design vs. operation</a:t>
            </a:r>
          </a:p>
        </p:txBody>
      </p:sp>
      <p:sp>
        <p:nvSpPr>
          <p:cNvPr id="16" name="Check heading"/>
          <p:cNvSpPr txBox="1"/>
          <p:nvPr/>
        </p:nvSpPr>
        <p:spPr>
          <a:xfrm>
            <a:off x="1257300" y="5989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report doesn't say unless you look</a:t>
            </a:r>
          </a:p>
        </p:txBody>
      </p:sp>
      <p:sp>
        <p:nvSpPr>
          <p:cNvPr id="17" name="Check 1"/>
          <p:cNvSpPr/>
          <p:nvPr/>
        </p:nvSpPr>
        <p:spPr>
          <a:xfrm>
            <a:off x="1257300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heck 1 text"/>
          <p:cNvSpPr txBox="1"/>
          <p:nvPr/>
        </p:nvSpPr>
        <p:spPr>
          <a:xfrm>
            <a:off x="1513332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Scope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it cover the service and site the bank uses?</a:t>
            </a:r>
          </a:p>
        </p:txBody>
      </p:sp>
      <p:sp>
        <p:nvSpPr>
          <p:cNvPr id="19" name="Check 2"/>
          <p:cNvSpPr/>
          <p:nvPr/>
        </p:nvSpPr>
        <p:spPr>
          <a:xfrm>
            <a:off x="4475988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Check 2 text"/>
          <p:cNvSpPr txBox="1"/>
          <p:nvPr/>
        </p:nvSpPr>
        <p:spPr>
          <a:xfrm>
            <a:off x="4732020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Carve-outs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Fourth parties left out of the audit</a:t>
            </a:r>
          </a:p>
        </p:txBody>
      </p:sp>
      <p:sp>
        <p:nvSpPr>
          <p:cNvPr id="21" name="Check 3"/>
          <p:cNvSpPr/>
          <p:nvPr/>
        </p:nvSpPr>
        <p:spPr>
          <a:xfrm>
            <a:off x="7694675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Check 3 text"/>
          <p:cNvSpPr txBox="1"/>
          <p:nvPr/>
        </p:nvSpPr>
        <p:spPr>
          <a:xfrm>
            <a:off x="7950707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Period gaps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Ended months ago? Ask for a bridge letter</a:t>
            </a:r>
          </a:p>
        </p:txBody>
      </p:sp>
      <p:sp>
        <p:nvSpPr>
          <p:cNvPr id="23" name="Check 4"/>
          <p:cNvSpPr/>
          <p:nvPr/>
        </p:nvSpPr>
        <p:spPr>
          <a:xfrm>
            <a:off x="10913364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heck 4 text"/>
          <p:cNvSpPr txBox="1"/>
          <p:nvPr/>
        </p:nvSpPr>
        <p:spPr>
          <a:xfrm>
            <a:off x="11169396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Exceptions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that failed, and the response</a:t>
            </a:r>
          </a:p>
        </p:txBody>
      </p:sp>
      <p:sp>
        <p:nvSpPr>
          <p:cNvPr id="25" name="Check 5"/>
          <p:cNvSpPr/>
          <p:nvPr/>
        </p:nvSpPr>
        <p:spPr>
          <a:xfrm>
            <a:off x="14132052" y="6583680"/>
            <a:ext cx="2898648" cy="269748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heck 5 text"/>
          <p:cNvSpPr txBox="1"/>
          <p:nvPr/>
        </p:nvSpPr>
        <p:spPr>
          <a:xfrm>
            <a:off x="14388084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CUECs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the vendor assumes the bank has. The bank's homework.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FedRAMP: What a Federal Cloud Authorization Does and Doesn't Tell a Bank</a:t>
            </a:r>
          </a:p>
        </p:txBody>
      </p:sp>
      <p:sp>
        <p:nvSpPr>
          <p:cNvPr id="3" name="Fed col 1"/>
          <p:cNvSpPr/>
          <p:nvPr/>
        </p:nvSpPr>
        <p:spPr>
          <a:xfrm>
            <a:off x="1257300" y="2926080"/>
            <a:ext cx="5029200" cy="4526280"/>
          </a:xfrm>
          <a:prstGeom prst="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ed list 1"/>
          <p:cNvSpPr txBox="1"/>
          <p:nvPr/>
        </p:nvSpPr>
        <p:spPr>
          <a:xfrm>
            <a:off x="15773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U.S. government program for authorizing cloud services for federal agencies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Independent assessor tests against NIST-based security controls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Continuous monitoring after authorization</a:t>
            </a:r>
          </a:p>
        </p:txBody>
      </p:sp>
      <p:sp>
        <p:nvSpPr>
          <p:cNvPr id="5" name="Fed col 2"/>
          <p:cNvSpPr/>
          <p:nvPr/>
        </p:nvSpPr>
        <p:spPr>
          <a:xfrm>
            <a:off x="6629400" y="2926080"/>
            <a:ext cx="5029200" cy="45262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Fed list 2"/>
          <p:cNvSpPr txBox="1"/>
          <p:nvPr/>
        </p:nvSpPr>
        <p:spPr>
          <a:xfrm>
            <a:off x="69494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tells a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 was examined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are monitored, not checked once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Good evidence for due diligence</a:t>
            </a:r>
          </a:p>
        </p:txBody>
      </p:sp>
      <p:sp>
        <p:nvSpPr>
          <p:cNvPr id="7" name="Fed col 3"/>
          <p:cNvSpPr/>
          <p:nvPr/>
        </p:nvSpPr>
        <p:spPr>
          <a:xfrm>
            <a:off x="12001500" y="2926080"/>
            <a:ext cx="5029200" cy="45262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Fed list 3"/>
          <p:cNvSpPr txBox="1"/>
          <p:nvPr/>
        </p:nvSpPr>
        <p:spPr>
          <a:xfrm>
            <a:off x="123215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doesn't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bank configures it (shared responsibility)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vendor's financial condition or the bank's contract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the bank is buying the authorized version</a:t>
            </a:r>
          </a:p>
        </p:txBody>
      </p:sp>
      <p:sp>
        <p:nvSpPr>
          <p:cNvPr id="9" name="Fed 2026 panel"/>
          <p:cNvSpPr/>
          <p:nvPr/>
        </p:nvSpPr>
        <p:spPr>
          <a:xfrm>
            <a:off x="1257300" y="7680960"/>
            <a:ext cx="15773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ed 2026 text"/>
          <p:cNvSpPr txBox="1"/>
          <p:nvPr/>
        </p:nvSpPr>
        <p:spPr>
          <a:xfrm>
            <a:off x="1600200" y="7818120"/>
            <a:ext cx="1508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Changing in 2026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“FedRAMP 20x” is moving to faster, more automated authorizations with new classes A through D; the older Rev5 process is set to phase out by the end of 2028. Ask which authorization, for which service.</a:t>
            </a:r>
          </a:p>
        </p:txBody>
      </p:sp>
      <p:sp>
        <p:nvSpPr>
          <p:cNvPr id="1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FedRAMP program announcements; Crowell &amp; Moring summary of FedRAMP 20x changes (2026)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Ongoing Monitoring: The Relationship After Signing</a:t>
            </a:r>
          </a:p>
        </p:txBody>
      </p:sp>
      <p:sp>
        <p:nvSpPr>
          <p:cNvPr id="3" name="Tier heading"/>
          <p:cNvSpPr txBox="1"/>
          <p:nvPr/>
        </p:nvSpPr>
        <p:spPr>
          <a:xfrm>
            <a:off x="12573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Tier by risk</a:t>
            </a:r>
          </a:p>
        </p:txBody>
      </p:sp>
      <p:sp>
        <p:nvSpPr>
          <p:cNvPr id="4" name="Tier 1"/>
          <p:cNvSpPr/>
          <p:nvPr/>
        </p:nvSpPr>
        <p:spPr>
          <a:xfrm>
            <a:off x="1257300" y="329184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ier 1 text"/>
          <p:cNvSpPr txBox="1"/>
          <p:nvPr/>
        </p:nvSpPr>
        <p:spPr>
          <a:xfrm>
            <a:off x="1508760" y="342900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Critical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processor, MSP, main carrier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Annual or more frequent full review</a:t>
            </a:r>
          </a:p>
        </p:txBody>
      </p:sp>
      <p:sp>
        <p:nvSpPr>
          <p:cNvPr id="6" name="Tier 2"/>
          <p:cNvSpPr/>
          <p:nvPr/>
        </p:nvSpPr>
        <p:spPr>
          <a:xfrm>
            <a:off x="1257300" y="530352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er 2 text"/>
          <p:cNvSpPr txBox="1"/>
          <p:nvPr/>
        </p:nvSpPr>
        <p:spPr>
          <a:xfrm>
            <a:off x="1508760" y="544068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Moderate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processor, SaaS with customer data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Periodic review of key reports</a:t>
            </a:r>
          </a:p>
        </p:txBody>
      </p:sp>
      <p:sp>
        <p:nvSpPr>
          <p:cNvPr id="8" name="Tier 3"/>
          <p:cNvSpPr/>
          <p:nvPr/>
        </p:nvSpPr>
        <p:spPr>
          <a:xfrm>
            <a:off x="1257300" y="731520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Tier 3 text"/>
          <p:cNvSpPr txBox="1"/>
          <p:nvPr/>
        </p:nvSpPr>
        <p:spPr>
          <a:xfrm>
            <a:off x="1508760" y="745236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Office supplies, lawn care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Contract and inventory on file</a:t>
            </a:r>
          </a:p>
        </p:txBody>
      </p:sp>
      <p:sp>
        <p:nvSpPr>
          <p:cNvPr id="10" name="P13 panel"/>
          <p:cNvSpPr/>
          <p:nvPr/>
        </p:nvSpPr>
        <p:spPr>
          <a:xfrm>
            <a:off x="6720840" y="2697480"/>
            <a:ext cx="498348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P13 list"/>
          <p:cNvSpPr txBox="1"/>
          <p:nvPr/>
        </p:nvSpPr>
        <p:spPr>
          <a:xfrm>
            <a:off x="699516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review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reports and audits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statements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and cyber resilience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response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continuity, tested with the bank's plan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 agreement compliance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to the board</a:t>
            </a:r>
          </a:p>
        </p:txBody>
      </p:sp>
      <p:sp>
        <p:nvSpPr>
          <p:cNvPr id="12" name="Net panel"/>
          <p:cNvSpPr/>
          <p:nvPr/>
        </p:nvSpPr>
        <p:spPr>
          <a:xfrm>
            <a:off x="12047220" y="2697480"/>
            <a:ext cx="498348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Net list"/>
          <p:cNvSpPr txBox="1"/>
          <p:nvPr/>
        </p:nvSpPr>
        <p:spPr>
          <a:xfrm>
            <a:off x="1232154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Plus the network 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SLA and outage reports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 of vendor remote sessions: who, when, what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Changes in how the vendor connects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subcontractors or hosting locations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Vendor-caused incidents and near misses</a:t>
            </a:r>
          </a:p>
        </p:txBody>
      </p:sp>
      <p:sp>
        <p:nvSpPr>
          <p:cNvPr id="1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procedure 13 (middle column paraphrased) (September 2023 version; verify against the current version)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8A39D-E77D-BC48-A6CA-A4C0FD343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Talent and Trust as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00E8E-E4DD-D34F-A55D-A5CC10B43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933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network service become more powerful, they become more complex</a:t>
            </a:r>
          </a:p>
          <a:p>
            <a:r>
              <a:rPr lang="en-US"/>
              <a:t>Management software and AI should make things easier</a:t>
            </a:r>
          </a:p>
          <a:p>
            <a:r>
              <a:rPr lang="en-US"/>
              <a:t>But understanding and trusting solutions is still important</a:t>
            </a:r>
          </a:p>
          <a:p>
            <a:r>
              <a:rPr lang="en-US"/>
              <a:t>What happens if the one person at the bank who understands the network quits?</a:t>
            </a:r>
          </a:p>
          <a:p>
            <a:r>
              <a:rPr lang="en-US"/>
              <a:t>What happens if the bank can’t trust an outsourcing provider?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DED85-FD1A-5C4B-BCA8-35F1CDE17293}"/>
              </a:ext>
            </a:extLst>
          </p:cNvPr>
          <p:cNvSpPr txBox="1"/>
          <p:nvPr/>
        </p:nvSpPr>
        <p:spPr>
          <a:xfrm>
            <a:off x="13233400" y="2743200"/>
            <a:ext cx="4356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Education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Certification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Standards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Cross-training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Knowledge in Depth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Outside opinions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What else?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b="1"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9136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Vendor Management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Development and Acquisition  ·  Vendor Management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Evaluate the due diligence process in selecting key vendors. Consider management's review of: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 and security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plans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list of third-party service providers is maintained. A risk assessment is conducted to identify criticality of service providers.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telecom carrier on the list?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vendor management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Depth matched to how critical the service is (D&amp;A 2)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Rights and responsibilities of each party (D&amp;A 3)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Reporting relationships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Telling regulators about service-provider relationships (D&amp;A 4)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Ongoing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Risk-based program after signing (Management 13)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 and Management modules (September 2023 version; verify against the current version)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3: Vendor Risk Tabletop</a:t>
            </a:r>
          </a:p>
        </p:txBody>
      </p:sp>
      <p:sp>
        <p:nvSpPr>
          <p:cNvPr id="3" name="Ex3 num 1"/>
          <p:cNvSpPr/>
          <p:nvPr/>
        </p:nvSpPr>
        <p:spPr>
          <a:xfrm>
            <a:off x="1257300" y="278892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3 step 1"/>
          <p:cNvSpPr txBox="1"/>
          <p:nvPr/>
        </p:nvSpPr>
        <p:spPr>
          <a:xfrm>
            <a:off x="2148840" y="269748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Circle every third party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 the new color. Add vendors you know exist but aren't drawn.</a:t>
            </a:r>
          </a:p>
        </p:txBody>
      </p:sp>
      <p:sp>
        <p:nvSpPr>
          <p:cNvPr id="5" name="Ex3 num 2"/>
          <p:cNvSpPr/>
          <p:nvPr/>
        </p:nvSpPr>
        <p:spPr>
          <a:xfrm>
            <a:off x="1257300" y="411480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3 step 2"/>
          <p:cNvSpPr txBox="1"/>
          <p:nvPr/>
        </p:nvSpPr>
        <p:spPr>
          <a:xfrm>
            <a:off x="2148840" y="402336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Label each connection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 connects, and what it can reach once it's in</a:t>
            </a:r>
          </a:p>
        </p:txBody>
      </p:sp>
      <p:sp>
        <p:nvSpPr>
          <p:cNvPr id="7" name="Ex3 num 3"/>
          <p:cNvSpPr/>
          <p:nvPr/>
        </p:nvSpPr>
        <p:spPr>
          <a:xfrm>
            <a:off x="1257300" y="544067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3 step 3"/>
          <p:cNvSpPr txBox="1"/>
          <p:nvPr/>
        </p:nvSpPr>
        <p:spPr>
          <a:xfrm>
            <a:off x="2148840" y="534924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 the biggest worry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vendor per table. Be ready to say why.</a:t>
            </a:r>
          </a:p>
        </p:txBody>
      </p:sp>
      <p:sp>
        <p:nvSpPr>
          <p:cNvPr id="9" name="Ex3 num 4"/>
          <p:cNvSpPr/>
          <p:nvPr/>
        </p:nvSpPr>
        <p:spPr>
          <a:xfrm>
            <a:off x="1257300" y="676655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3 step 4"/>
          <p:cNvSpPr txBox="1"/>
          <p:nvPr/>
        </p:nvSpPr>
        <p:spPr>
          <a:xfrm>
            <a:off x="2148840" y="667512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five questions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For one vendor, what you'd ask before signing or renewing</a:t>
            </a:r>
          </a:p>
        </p:txBody>
      </p:sp>
      <p:sp>
        <p:nvSpPr>
          <p:cNvPr id="11" name="Ex3 num 5"/>
          <p:cNvSpPr/>
          <p:nvPr/>
        </p:nvSpPr>
        <p:spPr>
          <a:xfrm>
            <a:off x="1257300" y="809244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2" name="Ex3 step 5"/>
          <p:cNvSpPr txBox="1"/>
          <p:nvPr/>
        </p:nvSpPr>
        <p:spPr>
          <a:xfrm>
            <a:off x="2148840" y="800100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Two minutes per table</a:t>
            </a:r>
          </a:p>
        </p:txBody>
      </p:sp>
      <p:sp>
        <p:nvSpPr>
          <p:cNvPr id="13" name="Ex3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3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40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25 at tables, 10–15 report-out</a:t>
            </a:r>
          </a:p>
        </p:txBody>
      </p:sp>
      <p:sp>
        <p:nvSpPr>
          <p:cNvPr id="15" name="Ex3 need panel"/>
          <p:cNvSpPr/>
          <p:nvPr/>
        </p:nvSpPr>
        <p:spPr>
          <a:xfrm>
            <a:off x="11292840" y="4754880"/>
            <a:ext cx="573786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3 need"/>
          <p:cNvSpPr txBox="1"/>
          <p:nvPr/>
        </p:nvSpPr>
        <p:spPr>
          <a:xfrm>
            <a:off x="11612880" y="4892040"/>
            <a:ext cx="50977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 from Exercises 1 and 2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marker in a new color</a:t>
            </a:r>
          </a:p>
        </p:txBody>
      </p:sp>
      <p:sp>
        <p:nvSpPr>
          <p:cNvPr id="17" name="Ex3 out panel"/>
          <p:cNvSpPr/>
          <p:nvPr/>
        </p:nvSpPr>
        <p:spPr>
          <a:xfrm>
            <a:off x="11292840" y="7086600"/>
            <a:ext cx="5737860" cy="2286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3 out"/>
          <p:cNvSpPr txBox="1"/>
          <p:nvPr/>
        </p:nvSpPr>
        <p:spPr>
          <a:xfrm>
            <a:off x="11612880" y="7223760"/>
            <a:ext cx="50977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you starred, and why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best question of the five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vendor you suspect but couldn't see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17: Managed Services and Shadow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Managed Security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Security has become a critical infrastructure issue</a:t>
            </a:r>
          </a:p>
          <a:p>
            <a:r>
              <a:rPr lang="en-US"/>
              <a:t>Threats growing more complex and sophisticated</a:t>
            </a:r>
          </a:p>
          <a:p>
            <a:r>
              <a:rPr lang="en-US"/>
              <a:t>Skilled security personnel shortages drive outsourcing</a:t>
            </a:r>
          </a:p>
          <a:p>
            <a:r>
              <a:rPr lang="en-US"/>
              <a:t>Outsourcing some or all of security a growing industry</a:t>
            </a:r>
          </a:p>
          <a:p>
            <a:r>
              <a:rPr lang="en-US"/>
              <a:t>Usually called Managed Security Service Providers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/>
              <a:pPr algn="ctr"/>
              <a:t>172</a:t>
            </a:fld>
            <a:endParaRPr lang="en-US"/>
          </a:p>
        </p:txBody>
      </p:sp>
      <p:pic>
        <p:nvPicPr>
          <p:cNvPr id="9" name="Graphic 8" descr="Medieval Armor with solid fill">
            <a:extLst>
              <a:ext uri="{FF2B5EF4-FFF2-40B4-BE49-F238E27FC236}">
                <a16:creationId xmlns:a16="http://schemas.microsoft.com/office/drawing/2014/main" id="{422558E1-1D83-2C6A-9297-B5549DC02A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7761" y="6582569"/>
            <a:ext cx="3225800" cy="3225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0672021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Players</a:t>
            </a:r>
          </a:p>
        </p:txBody>
      </p:sp>
      <p:sp>
        <p:nvSpPr>
          <p:cNvPr id="33" name="Content Placeholder 3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5852160"/>
          </a:xfrm>
        </p:spPr>
        <p:txBody>
          <a:bodyPr numCol="2" spcCol="365760">
            <a:noAutofit/>
          </a:bodyPr>
          <a:lstStyle/>
          <a:p>
            <a:r>
              <a:rPr lang="en-US" sz="2800"/>
              <a:t>Network equipment manufacturers</a:t>
            </a:r>
          </a:p>
          <a:p>
            <a:pPr lvl="1"/>
            <a:r>
              <a:rPr lang="en-US" sz="2200"/>
              <a:t>Moved to offer security in their offerings</a:t>
            </a:r>
          </a:p>
          <a:p>
            <a:pPr lvl="1"/>
            <a:r>
              <a:rPr lang="en-US" sz="2200"/>
              <a:t>Security capabilities include subscription for capabilities and ongoing monitoring, updates and management portal access</a:t>
            </a:r>
          </a:p>
          <a:p>
            <a:r>
              <a:rPr lang="en-US" sz="2800"/>
              <a:t>Security software and equipment providers</a:t>
            </a:r>
          </a:p>
          <a:p>
            <a:pPr lvl="1"/>
            <a:r>
              <a:rPr lang="en-US" sz="2200"/>
              <a:t>Historically limited focused offerings</a:t>
            </a:r>
          </a:p>
          <a:p>
            <a:pPr lvl="1"/>
            <a:r>
              <a:rPr lang="en-US" sz="2200"/>
              <a:t>Many expanded service set or have been acquired</a:t>
            </a:r>
          </a:p>
          <a:p>
            <a:pPr lvl="2"/>
            <a:r>
              <a:rPr lang="en-US" sz="1900"/>
              <a:t>Broader range of security offerings (e.g. perimeter security added endpoint)</a:t>
            </a:r>
          </a:p>
          <a:p>
            <a:pPr lvl="2"/>
            <a:r>
              <a:rPr lang="en-US" sz="1900"/>
              <a:t>With AI and ML, monitoring has become integral to the product</a:t>
            </a:r>
          </a:p>
          <a:p>
            <a:pPr lvl="2"/>
            <a:r>
              <a:rPr lang="en-US" sz="1900"/>
              <a:t>Expansion into network space</a:t>
            </a:r>
          </a:p>
          <a:p>
            <a:pPr lvl="2"/>
            <a:r>
              <a:rPr lang="en-US" sz="1900"/>
              <a:t>Professional services (design and incident response)</a:t>
            </a:r>
          </a:p>
          <a:p>
            <a:r>
              <a:rPr lang="en-US" sz="2800"/>
              <a:t>Computer manufacturers</a:t>
            </a:r>
          </a:p>
          <a:p>
            <a:pPr lvl="1"/>
            <a:r>
              <a:rPr lang="en-US" sz="2200"/>
              <a:t>Extension of their professional services business</a:t>
            </a:r>
          </a:p>
          <a:p>
            <a:pPr lvl="1"/>
            <a:r>
              <a:rPr lang="en-US" sz="2200"/>
              <a:t>SOC services </a:t>
            </a:r>
          </a:p>
          <a:p>
            <a:r>
              <a:rPr lang="en-US" sz="2800"/>
              <a:t>Telecommunications service providers</a:t>
            </a:r>
          </a:p>
          <a:p>
            <a:pPr lvl="1"/>
            <a:r>
              <a:rPr lang="en-US" sz="2200"/>
              <a:t>Networks need protecting security often an integral part of the service</a:t>
            </a:r>
          </a:p>
          <a:p>
            <a:pPr lvl="1"/>
            <a:r>
              <a:rPr lang="en-US" sz="2200"/>
              <a:t>Expansion into professional services</a:t>
            </a:r>
          </a:p>
          <a:p>
            <a:r>
              <a:rPr lang="en-US" sz="2800"/>
              <a:t>Systems integrators</a:t>
            </a:r>
          </a:p>
          <a:p>
            <a:pPr lvl="1"/>
            <a:r>
              <a:rPr lang="en-US" sz="2200"/>
              <a:t>Natural expansion of their professional service offerings</a:t>
            </a:r>
          </a:p>
          <a:p>
            <a:r>
              <a:rPr lang="en-US" sz="2800"/>
              <a:t>Local IT providers</a:t>
            </a:r>
          </a:p>
          <a:p>
            <a:r>
              <a:rPr lang="en-US" sz="2800"/>
              <a:t>Financial service technology providers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 algn="ctr"/>
              <a:t>173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3320204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ECB9-A5FA-A882-9E0B-314ED099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take a look at a few MSSPs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F10F4-01E0-A4C7-8266-7300E8E2B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1909010"/>
            <a:ext cx="15773400" cy="789271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Research an MSSP and see what they do, and how. Feel free to glance at them all, but you need only “report” on yours.</a:t>
            </a:r>
          </a:p>
          <a:p>
            <a:r>
              <a:rPr lang="en-US" dirty="0"/>
              <a:t>I’d like to know:</a:t>
            </a:r>
          </a:p>
          <a:p>
            <a:pPr lvl="1"/>
            <a:r>
              <a:rPr lang="en-US" dirty="0"/>
              <a:t>What did you think of this company’s pitch? </a:t>
            </a:r>
          </a:p>
          <a:p>
            <a:pPr lvl="1"/>
            <a:r>
              <a:rPr lang="en-US" dirty="0"/>
              <a:t>What surprised you about them? Anything particularly impressive?</a:t>
            </a:r>
          </a:p>
          <a:p>
            <a:pPr lvl="1"/>
            <a:r>
              <a:rPr lang="en-US" dirty="0"/>
              <a:t>Would you be happy to see them at a bank you examined?</a:t>
            </a:r>
          </a:p>
          <a:p>
            <a:pPr lvl="1"/>
            <a:endParaRPr lang="en-US" dirty="0"/>
          </a:p>
          <a:p>
            <a:r>
              <a:rPr lang="en-US" dirty="0"/>
              <a:t>No stress, you don’t need to make a slide deck! Just informal thoughts and impressions.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Group assignments:</a:t>
            </a:r>
          </a:p>
          <a:p>
            <a:pPr lvl="1"/>
            <a:r>
              <a:rPr lang="en-US" dirty="0"/>
              <a:t>Group 1: SBS Cybersecurity https://</a:t>
            </a:r>
            <a:r>
              <a:rPr lang="en-US" dirty="0" err="1"/>
              <a:t>sbscyber.com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2: Arraya Solutions https://</a:t>
            </a:r>
            <a:r>
              <a:rPr lang="en-US" dirty="0" err="1"/>
              <a:t>www.arrayasolutions.com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3: </a:t>
            </a:r>
            <a:r>
              <a:rPr lang="en-US" dirty="0" err="1"/>
              <a:t>SilverSky</a:t>
            </a:r>
            <a:r>
              <a:rPr lang="en-US" dirty="0"/>
              <a:t> https://</a:t>
            </a:r>
            <a:r>
              <a:rPr lang="en-US" dirty="0" err="1"/>
              <a:t>www.silversky.com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4: Optiv https://</a:t>
            </a:r>
            <a:r>
              <a:rPr lang="en-US" dirty="0" err="1"/>
              <a:t>www.optiv.com</a:t>
            </a:r>
            <a:r>
              <a:rPr lang="en-US" dirty="0"/>
              <a:t>/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25396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Network Monitoring and Operations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5.  Indicate whether network monitoring and network operations are managed in-house or outsourced.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outsourced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in-house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outsourced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in-house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institution is able to detect anomalous activities through monitoring across the environment.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watching at 3 a.m.?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5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monitored, by whom, and how alerts are reviewed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MSSP oversight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Reports, SLAs, and who at the bank reads them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Third-party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 to critical systems is itself monitored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handoff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an MSSP alert becomes the bank's incident response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and Delivery module (September 2023 version; verify against the current version)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SaaS Sprawl and Shadow IT: The Vendors Nobody Approved</a:t>
            </a:r>
          </a:p>
        </p:txBody>
      </p:sp>
      <p:sp>
        <p:nvSpPr>
          <p:cNvPr id="3" name="Water"/>
          <p:cNvSpPr/>
          <p:nvPr/>
        </p:nvSpPr>
        <p:spPr>
          <a:xfrm>
            <a:off x="1257300" y="4480560"/>
            <a:ext cx="7863840" cy="4892040"/>
          </a:xfrm>
          <a:prstGeom prst="rect">
            <a:avLst/>
          </a:prstGeom>
          <a:solidFill>
            <a:srgbClr val="DC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4" name="Waterline"/>
          <p:cNvCxnSpPr/>
          <p:nvPr/>
        </p:nvCxnSpPr>
        <p:spPr>
          <a:xfrm>
            <a:off x="1257300" y="4480560"/>
            <a:ext cx="7863840" cy="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ceberg tip"/>
          <p:cNvSpPr/>
          <p:nvPr/>
        </p:nvSpPr>
        <p:spPr>
          <a:xfrm>
            <a:off x="2834640" y="2788920"/>
            <a:ext cx="4709160" cy="169164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Iceberg body"/>
          <p:cNvSpPr/>
          <p:nvPr/>
        </p:nvSpPr>
        <p:spPr>
          <a:xfrm>
            <a:off x="1828800" y="4480560"/>
            <a:ext cx="6720840" cy="4023360"/>
          </a:xfrm>
          <a:prstGeom prst="trapezoid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p label"/>
          <p:cNvSpPr txBox="1"/>
          <p:nvPr/>
        </p:nvSpPr>
        <p:spPr>
          <a:xfrm>
            <a:off x="1257300" y="2697480"/>
            <a:ext cx="2286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Microsoft 365, the vendors on the list</a:t>
            </a:r>
          </a:p>
        </p:txBody>
      </p:sp>
      <p:sp>
        <p:nvSpPr>
          <p:cNvPr id="8" name="Body label"/>
          <p:cNvSpPr txBox="1"/>
          <p:nvPr/>
        </p:nvSpPr>
        <p:spPr>
          <a:xfrm>
            <a:off x="2926080" y="480060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actually use</a:t>
            </a:r>
          </a:p>
        </p:txBody>
      </p:sp>
      <p:sp>
        <p:nvSpPr>
          <p:cNvPr id="9" name="Under 1"/>
          <p:cNvSpPr/>
          <p:nvPr/>
        </p:nvSpPr>
        <p:spPr>
          <a:xfrm>
            <a:off x="228600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sharing</a:t>
            </a:r>
          </a:p>
        </p:txBody>
      </p:sp>
      <p:sp>
        <p:nvSpPr>
          <p:cNvPr id="10" name="Under 2"/>
          <p:cNvSpPr/>
          <p:nvPr/>
        </p:nvSpPr>
        <p:spPr>
          <a:xfrm>
            <a:off x="534924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11" name="Under 3"/>
          <p:cNvSpPr/>
          <p:nvPr/>
        </p:nvSpPr>
        <p:spPr>
          <a:xfrm>
            <a:off x="228600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chatbots</a:t>
            </a:r>
          </a:p>
        </p:txBody>
      </p:sp>
      <p:sp>
        <p:nvSpPr>
          <p:cNvPr id="12" name="Under 4"/>
          <p:cNvSpPr/>
          <p:nvPr/>
        </p:nvSpPr>
        <p:spPr>
          <a:xfrm>
            <a:off x="534924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Note apps</a:t>
            </a:r>
          </a:p>
        </p:txBody>
      </p:sp>
      <p:sp>
        <p:nvSpPr>
          <p:cNvPr id="13" name="Under 5"/>
          <p:cNvSpPr/>
          <p:nvPr/>
        </p:nvSpPr>
        <p:spPr>
          <a:xfrm>
            <a:off x="228600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extensions</a:t>
            </a:r>
          </a:p>
        </p:txBody>
      </p:sp>
      <p:sp>
        <p:nvSpPr>
          <p:cNvPr id="14" name="Under 6"/>
          <p:cNvSpPr/>
          <p:nvPr/>
        </p:nvSpPr>
        <p:spPr>
          <a:xfrm>
            <a:off x="534924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Personal email</a:t>
            </a:r>
          </a:p>
        </p:txBody>
      </p:sp>
      <p:sp>
        <p:nvSpPr>
          <p:cNvPr id="15" name="Under 7"/>
          <p:cNvSpPr/>
          <p:nvPr/>
        </p:nvSpPr>
        <p:spPr>
          <a:xfrm>
            <a:off x="228600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Survey tools</a:t>
            </a:r>
          </a:p>
        </p:txBody>
      </p:sp>
      <p:sp>
        <p:nvSpPr>
          <p:cNvPr id="16" name="Under 8"/>
          <p:cNvSpPr/>
          <p:nvPr/>
        </p:nvSpPr>
        <p:spPr>
          <a:xfrm>
            <a:off x="534924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Free PDF converters</a:t>
            </a:r>
          </a:p>
        </p:txBody>
      </p:sp>
      <p:sp>
        <p:nvSpPr>
          <p:cNvPr id="17" name="HTTPS note"/>
          <p:cNvSpPr txBox="1"/>
          <p:nvPr/>
        </p:nvSpPr>
        <p:spPr>
          <a:xfrm>
            <a:off x="1257300" y="873252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All of it is HTTPS to the same big clouds as everything else.</a:t>
            </a:r>
          </a:p>
        </p:txBody>
      </p:sp>
      <p:sp>
        <p:nvSpPr>
          <p:cNvPr id="18" name="Find panel"/>
          <p:cNvSpPr/>
          <p:nvPr/>
        </p:nvSpPr>
        <p:spPr>
          <a:xfrm>
            <a:off x="9692640" y="2697480"/>
            <a:ext cx="7338060" cy="3154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Find list"/>
          <p:cNvSpPr txBox="1"/>
          <p:nvPr/>
        </p:nvSpPr>
        <p:spPr>
          <a:xfrm>
            <a:off x="10012680" y="2880360"/>
            <a:ext cx="66751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find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and web proxy logs: which SaaS sites do staff reach?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CASB that inventories cloud app use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Single sign-on: apps outside it stand out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Expense reports and card statements</a:t>
            </a:r>
          </a:p>
        </p:txBody>
      </p:sp>
      <p:sp>
        <p:nvSpPr>
          <p:cNvPr id="20" name="Fix panel"/>
          <p:cNvSpPr/>
          <p:nvPr/>
        </p:nvSpPr>
        <p:spPr>
          <a:xfrm>
            <a:off x="9692640" y="6035040"/>
            <a:ext cx="7338060" cy="21031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x list"/>
          <p:cNvSpPr txBox="1"/>
          <p:nvPr/>
        </p:nvSpPr>
        <p:spPr>
          <a:xfrm>
            <a:off x="10012680" y="6172200"/>
            <a:ext cx="66751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works better than blocking alone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catalog of approved apps, and a fast way to request 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policy on AI tools and customer data</a:t>
            </a:r>
          </a:p>
        </p:txBody>
      </p:sp>
      <p:sp>
        <p:nvSpPr>
          <p:cNvPr id="22" name="Ask panel"/>
          <p:cNvSpPr/>
          <p:nvPr/>
        </p:nvSpPr>
        <p:spPr>
          <a:xfrm>
            <a:off x="9692640" y="8321040"/>
            <a:ext cx="7338060" cy="1051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sk text"/>
          <p:cNvSpPr txBox="1"/>
          <p:nvPr/>
        </p:nvSpPr>
        <p:spPr>
          <a:xfrm>
            <a:off x="10012680" y="8366760"/>
            <a:ext cx="6675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question: does the vendor inventory include SaaS, and how does the bank know what staff use?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18: Applications on the Network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A41A-FDA7-C024-3173-A4D5302E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It’s All About The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1F82E-EB70-8B9D-986B-3B91FBC98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Applications perform tasks to deliver services to users</a:t>
            </a:r>
          </a:p>
          <a:p>
            <a:r>
              <a:rPr lang="en-US"/>
              <a:t>Communications is the act of users interacting with software performing the desired function</a:t>
            </a:r>
          </a:p>
          <a:p>
            <a:r>
              <a:rPr lang="en-US"/>
              <a:t>Application services define the protocols for communication and services supporting communication</a:t>
            </a:r>
          </a:p>
          <a:p>
            <a:r>
              <a:rPr lang="en-US"/>
              <a:t>Two models exist</a:t>
            </a:r>
          </a:p>
          <a:p>
            <a:pPr lvl="1"/>
            <a:r>
              <a:rPr lang="en-US"/>
              <a:t>Client-server</a:t>
            </a:r>
          </a:p>
          <a:p>
            <a:pPr lvl="1"/>
            <a:r>
              <a:rPr lang="en-US"/>
              <a:t>Peer-to-peer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92C2E4-5506-9FEC-1AEE-B3149EE52716}"/>
              </a:ext>
            </a:extLst>
          </p:cNvPr>
          <p:cNvGrpSpPr/>
          <p:nvPr/>
        </p:nvGrpSpPr>
        <p:grpSpPr>
          <a:xfrm>
            <a:off x="10415587" y="5472113"/>
            <a:ext cx="6829425" cy="4457700"/>
            <a:chOff x="3172277" y="2264570"/>
            <a:chExt cx="11486699" cy="6234112"/>
          </a:xfrm>
        </p:grpSpPr>
        <p:sp>
          <p:nvSpPr>
            <p:cNvPr id="7" name="File">
              <a:extLst>
                <a:ext uri="{FF2B5EF4-FFF2-40B4-BE49-F238E27FC236}">
                  <a16:creationId xmlns:a16="http://schemas.microsoft.com/office/drawing/2014/main" id="{B3A6DFC7-282D-BB1E-73E3-6B1A5EBB7FF8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86350" y="2264570"/>
              <a:ext cx="1526382" cy="1088231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4C6C4A2C-41EE-A586-28D8-B64C91F231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101263" y="3236120"/>
              <a:ext cx="4557713" cy="4822032"/>
              <a:chOff x="693" y="1396"/>
              <a:chExt cx="1914" cy="2025"/>
            </a:xfrm>
          </p:grpSpPr>
          <p:grpSp>
            <p:nvGrpSpPr>
              <p:cNvPr id="14" name="Group 5">
                <a:extLst>
                  <a:ext uri="{FF2B5EF4-FFF2-40B4-BE49-F238E27FC236}">
                    <a16:creationId xmlns:a16="http://schemas.microsoft.com/office/drawing/2014/main" id="{EF13F10A-4AF3-9266-5180-21F3DC2A8A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93" y="1396"/>
                <a:ext cx="1914" cy="2025"/>
                <a:chOff x="806" y="1322"/>
                <a:chExt cx="1914" cy="2025"/>
              </a:xfrm>
            </p:grpSpPr>
            <p:pic>
              <p:nvPicPr>
                <p:cNvPr id="16" name="Picture 6" descr="Logo_20Excel">
                  <a:extLst>
                    <a:ext uri="{FF2B5EF4-FFF2-40B4-BE49-F238E27FC236}">
                      <a16:creationId xmlns:a16="http://schemas.microsoft.com/office/drawing/2014/main" id="{6AC32BC6-A240-4B59-8DE3-D6FD07FD71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46" y="2373"/>
                  <a:ext cx="974" cy="974"/>
                </a:xfrm>
                <a:prstGeom prst="rect">
                  <a:avLst/>
                </a:prstGeom>
                <a:noFill/>
              </p:spPr>
            </p:pic>
            <p:pic>
              <p:nvPicPr>
                <p:cNvPr id="17" name="Picture 7" descr="outlook_logo">
                  <a:extLst>
                    <a:ext uri="{FF2B5EF4-FFF2-40B4-BE49-F238E27FC236}">
                      <a16:creationId xmlns:a16="http://schemas.microsoft.com/office/drawing/2014/main" id="{47F06ABD-4B05-65CD-0AEF-AA258D05282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1778" y="1551"/>
                  <a:ext cx="900" cy="900"/>
                </a:xfrm>
                <a:prstGeom prst="rect">
                  <a:avLst/>
                </a:prstGeom>
                <a:noFill/>
              </p:spPr>
            </p:pic>
            <p:pic>
              <p:nvPicPr>
                <p:cNvPr id="18" name="Picture 8" descr="Msword_logo">
                  <a:extLst>
                    <a:ext uri="{FF2B5EF4-FFF2-40B4-BE49-F238E27FC236}">
                      <a16:creationId xmlns:a16="http://schemas.microsoft.com/office/drawing/2014/main" id="{5F2DD35F-A8E9-6151-F662-F1777A863B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 cstate="print"/>
                <a:srcRect/>
                <a:stretch>
                  <a:fillRect/>
                </a:stretch>
              </p:blipFill>
              <p:spPr bwMode="auto">
                <a:xfrm>
                  <a:off x="853" y="2275"/>
                  <a:ext cx="971" cy="981"/>
                </a:xfrm>
                <a:prstGeom prst="rect">
                  <a:avLst/>
                </a:prstGeom>
                <a:noFill/>
              </p:spPr>
            </p:pic>
            <p:pic>
              <p:nvPicPr>
                <p:cNvPr id="19" name="Picture 9" descr="powerpoint_logo">
                  <a:extLst>
                    <a:ext uri="{FF2B5EF4-FFF2-40B4-BE49-F238E27FC236}">
                      <a16:creationId xmlns:a16="http://schemas.microsoft.com/office/drawing/2014/main" id="{DF68639B-B268-694A-8775-CFFD39070E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 cstate="print"/>
                <a:srcRect/>
                <a:stretch>
                  <a:fillRect/>
                </a:stretch>
              </p:blipFill>
              <p:spPr bwMode="auto">
                <a:xfrm>
                  <a:off x="806" y="1322"/>
                  <a:ext cx="996" cy="984"/>
                </a:xfrm>
                <a:prstGeom prst="rect">
                  <a:avLst/>
                </a:prstGeom>
                <a:noFill/>
              </p:spPr>
            </p:pic>
          </p:grpSp>
          <p:sp>
            <p:nvSpPr>
              <p:cNvPr id="15" name="AutoShape 10">
                <a:extLst>
                  <a:ext uri="{FF2B5EF4-FFF2-40B4-BE49-F238E27FC236}">
                    <a16:creationId xmlns:a16="http://schemas.microsoft.com/office/drawing/2014/main" id="{ACCE6421-6B64-B4C7-9A28-2AECA9EFA5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4" y="1911"/>
                <a:ext cx="1432" cy="974"/>
              </a:xfrm>
              <a:custGeom>
                <a:avLst/>
                <a:gdLst>
                  <a:gd name="G0" fmla="+- 1673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817" y="16635"/>
                    </a:moveTo>
                    <a:cubicBezTo>
                      <a:pt x="19180" y="14996"/>
                      <a:pt x="19927" y="12931"/>
                      <a:pt x="19927" y="10800"/>
                    </a:cubicBezTo>
                    <a:cubicBezTo>
                      <a:pt x="19927" y="5759"/>
                      <a:pt x="15840" y="1673"/>
                      <a:pt x="10800" y="1673"/>
                    </a:cubicBezTo>
                    <a:cubicBezTo>
                      <a:pt x="8668" y="1672"/>
                      <a:pt x="6603" y="2419"/>
                      <a:pt x="4964" y="3782"/>
                    </a:cubicBezTo>
                    <a:close/>
                    <a:moveTo>
                      <a:pt x="3782" y="4964"/>
                    </a:moveTo>
                    <a:cubicBezTo>
                      <a:pt x="2419" y="6603"/>
                      <a:pt x="1673" y="8668"/>
                      <a:pt x="1673" y="10799"/>
                    </a:cubicBezTo>
                    <a:cubicBezTo>
                      <a:pt x="1673" y="15840"/>
                      <a:pt x="5759" y="19927"/>
                      <a:pt x="10800" y="19927"/>
                    </a:cubicBezTo>
                    <a:cubicBezTo>
                      <a:pt x="12931" y="19927"/>
                      <a:pt x="14996" y="19180"/>
                      <a:pt x="16635" y="17817"/>
                    </a:cubicBezTo>
                    <a:close/>
                  </a:path>
                </a:pathLst>
              </a:custGeom>
              <a:solidFill>
                <a:srgbClr val="FF000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 anchor="ctr">
                <a:spAutoFit/>
              </a:bodyPr>
              <a:lstStyle/>
              <a:p>
                <a:endParaRPr lang="en-US" sz="2700"/>
              </a:p>
            </p:txBody>
          </p:sp>
        </p:grpSp>
        <p:sp>
          <p:nvSpPr>
            <p:cNvPr id="9" name="AutoShape 14">
              <a:extLst>
                <a:ext uri="{FF2B5EF4-FFF2-40B4-BE49-F238E27FC236}">
                  <a16:creationId xmlns:a16="http://schemas.microsoft.com/office/drawing/2014/main" id="{EE2A36BE-6A5C-345A-7371-9090F108F6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7685" y="3781426"/>
              <a:ext cx="2473530" cy="596816"/>
            </a:xfrm>
            <a:prstGeom prst="curvedDownArrow">
              <a:avLst>
                <a:gd name="adj1" fmla="val 53974"/>
                <a:gd name="adj2" fmla="val 120215"/>
                <a:gd name="adj3" fmla="val 47141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0" name="AutoShape 15">
              <a:extLst>
                <a:ext uri="{FF2B5EF4-FFF2-40B4-BE49-F238E27FC236}">
                  <a16:creationId xmlns:a16="http://schemas.microsoft.com/office/drawing/2014/main" id="{0B7872D9-808A-2B67-10B8-D8982DE180F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4497286" y="6706479"/>
              <a:ext cx="2473530" cy="450368"/>
            </a:xfrm>
            <a:prstGeom prst="curvedDownArrow">
              <a:avLst>
                <a:gd name="adj1" fmla="val 53974"/>
                <a:gd name="adj2" fmla="val 120215"/>
                <a:gd name="adj3" fmla="val 61868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1" name="PPTShape_0">
              <a:extLst>
                <a:ext uri="{FF2B5EF4-FFF2-40B4-BE49-F238E27FC236}">
                  <a16:creationId xmlns:a16="http://schemas.microsoft.com/office/drawing/2014/main" id="{5544725A-9839-A84A-9939-8D68DDEA936E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67301" y="7410450"/>
              <a:ext cx="1521620" cy="1088232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E056AC6-57AC-0CE7-087E-D73D008E4F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349093" y="4544786"/>
              <a:ext cx="2561774" cy="192133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8D056D5-2756-C847-7533-EDCF4BEDD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72277" y="4618604"/>
              <a:ext cx="2561774" cy="1921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674318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8" name="Line 2"/>
          <p:cNvSpPr>
            <a:spLocks noChangeShapeType="1"/>
          </p:cNvSpPr>
          <p:nvPr/>
        </p:nvSpPr>
        <p:spPr bwMode="auto">
          <a:xfrm flipH="1" flipV="1">
            <a:off x="9358313" y="4919663"/>
            <a:ext cx="2607470" cy="131206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41379" name="Line 3"/>
          <p:cNvSpPr>
            <a:spLocks noChangeShapeType="1"/>
          </p:cNvSpPr>
          <p:nvPr/>
        </p:nvSpPr>
        <p:spPr bwMode="auto">
          <a:xfrm flipV="1">
            <a:off x="7029451" y="4691063"/>
            <a:ext cx="2100263" cy="11191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41380" name="Picture 4" descr="computer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10150" y="4498181"/>
            <a:ext cx="2857500" cy="3086100"/>
          </a:xfrm>
          <a:prstGeom prst="rect">
            <a:avLst/>
          </a:prstGeom>
          <a:noFill/>
        </p:spPr>
      </p:pic>
      <p:pic>
        <p:nvPicPr>
          <p:cNvPr id="3941381" name="Picture 5" descr="serv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51320" y="4552951"/>
            <a:ext cx="2859881" cy="3202781"/>
          </a:xfrm>
          <a:prstGeom prst="rect">
            <a:avLst/>
          </a:prstGeom>
          <a:noFill/>
        </p:spPr>
      </p:pic>
      <p:sp>
        <p:nvSpPr>
          <p:cNvPr id="3941382" name="Rectangle 6"/>
          <p:cNvSpPr>
            <a:spLocks noGrp="1" noChangeArrowheads="1"/>
          </p:cNvSpPr>
          <p:nvPr>
            <p:ph type="title"/>
          </p:nvPr>
        </p:nvSpPr>
        <p:spPr>
          <a:xfrm>
            <a:off x="1243014" y="35537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Clients and Servers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179</a:t>
            </a:fld>
            <a:endParaRPr lang="en-US"/>
          </a:p>
        </p:txBody>
      </p:sp>
      <p:sp>
        <p:nvSpPr>
          <p:cNvPr id="3941383" name="Text Box 7"/>
          <p:cNvSpPr txBox="1">
            <a:spLocks noChangeArrowheads="1"/>
          </p:cNvSpPr>
          <p:nvPr/>
        </p:nvSpPr>
        <p:spPr bwMode="auto">
          <a:xfrm>
            <a:off x="5805167" y="5666965"/>
            <a:ext cx="123715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Client</a:t>
            </a:r>
          </a:p>
        </p:txBody>
      </p:sp>
      <p:sp>
        <p:nvSpPr>
          <p:cNvPr id="3941384" name="Text Box 8"/>
          <p:cNvSpPr txBox="1">
            <a:spLocks noChangeArrowheads="1"/>
          </p:cNvSpPr>
          <p:nvPr/>
        </p:nvSpPr>
        <p:spPr bwMode="auto">
          <a:xfrm rot="5400000">
            <a:off x="11247049" y="5900617"/>
            <a:ext cx="134936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Server</a:t>
            </a:r>
          </a:p>
        </p:txBody>
      </p:sp>
      <p:sp>
        <p:nvSpPr>
          <p:cNvPr id="3941385" name="AutoShape 9"/>
          <p:cNvSpPr>
            <a:spLocks noChangeArrowheads="1"/>
          </p:cNvSpPr>
          <p:nvPr/>
        </p:nvSpPr>
        <p:spPr bwMode="auto">
          <a:xfrm>
            <a:off x="2326481" y="3264694"/>
            <a:ext cx="3764758" cy="2216945"/>
          </a:xfrm>
          <a:prstGeom prst="cloudCallout">
            <a:avLst>
              <a:gd name="adj1" fmla="val 44796"/>
              <a:gd name="adj2" fmla="val 54403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That system’s got something I need…</a:t>
            </a:r>
          </a:p>
        </p:txBody>
      </p:sp>
      <p:sp>
        <p:nvSpPr>
          <p:cNvPr id="3941386" name="AutoShape 10"/>
          <p:cNvSpPr>
            <a:spLocks noChangeArrowheads="1"/>
          </p:cNvSpPr>
          <p:nvPr/>
        </p:nvSpPr>
        <p:spPr bwMode="auto">
          <a:xfrm>
            <a:off x="12370595" y="2400300"/>
            <a:ext cx="3542340" cy="2295525"/>
          </a:xfrm>
          <a:prstGeom prst="cloudCallout">
            <a:avLst>
              <a:gd name="adj1" fmla="val -44810"/>
              <a:gd name="adj2" fmla="val 71889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I’ve got something that system wants…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7934326" y="3840956"/>
            <a:ext cx="3005138" cy="1940720"/>
            <a:chOff x="2333" y="1344"/>
            <a:chExt cx="1262" cy="816"/>
          </a:xfrm>
        </p:grpSpPr>
        <p:pic>
          <p:nvPicPr>
            <p:cNvPr id="3941388" name="Picture 12" descr="cloud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2333" y="1344"/>
              <a:ext cx="1262" cy="816"/>
            </a:xfrm>
            <a:prstGeom prst="rect">
              <a:avLst/>
            </a:prstGeom>
            <a:noFill/>
          </p:spPr>
        </p:pic>
        <p:sp>
          <p:nvSpPr>
            <p:cNvPr id="3941389" name="Text Box 13"/>
            <p:cNvSpPr txBox="1">
              <a:spLocks noChangeArrowheads="1"/>
            </p:cNvSpPr>
            <p:nvPr/>
          </p:nvSpPr>
          <p:spPr bwMode="auto">
            <a:xfrm>
              <a:off x="2613" y="1653"/>
              <a:ext cx="701" cy="23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37136" tIns="68568" rIns="137136" bIns="68568">
              <a:spAutoFit/>
            </a:bodyPr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</p:grpSp>
      <p:sp>
        <p:nvSpPr>
          <p:cNvPr id="3941390" name="Text Box 14"/>
          <p:cNvSpPr txBox="1">
            <a:spLocks noChangeArrowheads="1"/>
          </p:cNvSpPr>
          <p:nvPr/>
        </p:nvSpPr>
        <p:spPr bwMode="auto">
          <a:xfrm>
            <a:off x="5169695" y="7355681"/>
            <a:ext cx="2434641" cy="21698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Desktops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Laptops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Tablets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Cell phones</a:t>
            </a:r>
          </a:p>
          <a:p>
            <a:pPr eaLnBrk="0" hangingPunct="0">
              <a:buClr>
                <a:schemeClr val="tx1"/>
              </a:buClr>
              <a:buSzPct val="75000"/>
            </a:pPr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62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941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941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41385" grpId="0" animBg="1"/>
      <p:bldP spid="394138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Relationship: Client/Server</a:t>
            </a:r>
          </a:p>
        </p:txBody>
      </p:sp>
      <p:sp>
        <p:nvSpPr>
          <p:cNvPr id="39434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Applications have clearly defined roles</a:t>
            </a:r>
          </a:p>
          <a:p>
            <a:pPr lvl="1"/>
            <a:r>
              <a:rPr lang="en-US"/>
              <a:t>Client initiates request</a:t>
            </a:r>
          </a:p>
          <a:p>
            <a:pPr lvl="1"/>
            <a:r>
              <a:rPr lang="en-US"/>
              <a:t>Server responds to client’s request</a:t>
            </a:r>
          </a:p>
          <a:p>
            <a:r>
              <a:rPr lang="en-US"/>
              <a:t>Server software is passive but available</a:t>
            </a:r>
          </a:p>
          <a:p>
            <a:pPr lvl="1"/>
            <a:r>
              <a:rPr lang="en-US"/>
              <a:t>Connects to local Transport Layer</a:t>
            </a:r>
            <a:br>
              <a:rPr lang="en-US"/>
            </a:br>
            <a:r>
              <a:rPr lang="en-US"/>
              <a:t>and waits for connection requests</a:t>
            </a:r>
          </a:p>
          <a:p>
            <a:r>
              <a:rPr lang="en-US"/>
              <a:t>Client transient in nature</a:t>
            </a:r>
          </a:p>
          <a:p>
            <a:pPr lvl="1"/>
            <a:r>
              <a:rPr lang="en-US"/>
              <a:t>Application is enabled on-demand</a:t>
            </a:r>
          </a:p>
          <a:p>
            <a:pPr lvl="1"/>
            <a:r>
              <a:rPr lang="en-US"/>
              <a:t>Connection to local Transport Layer</a:t>
            </a:r>
            <a:br>
              <a:rPr lang="en-US"/>
            </a:br>
            <a:r>
              <a:rPr lang="en-US"/>
              <a:t>is made/broken as needed</a:t>
            </a:r>
          </a:p>
          <a:p>
            <a:r>
              <a:rPr lang="en-US"/>
              <a:t>Examples </a:t>
            </a:r>
          </a:p>
          <a:p>
            <a:pPr lvl="1"/>
            <a:r>
              <a:rPr lang="en-US" err="1"/>
              <a:t>HyperText</a:t>
            </a:r>
            <a:r>
              <a:rPr lang="en-US"/>
              <a:t> Transfer Protocol (HTTP)</a:t>
            </a:r>
          </a:p>
          <a:p>
            <a:pPr lvl="1"/>
            <a:r>
              <a:rPr lang="en-US"/>
              <a:t>Simple Mail Transfer Protocol (SMTP)</a:t>
            </a:r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180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AC3FB3-4A82-8890-AD72-AA1B35188731}"/>
              </a:ext>
            </a:extLst>
          </p:cNvPr>
          <p:cNvGrpSpPr/>
          <p:nvPr/>
        </p:nvGrpSpPr>
        <p:grpSpPr>
          <a:xfrm>
            <a:off x="10658475" y="4611204"/>
            <a:ext cx="6755788" cy="5313848"/>
            <a:chOff x="6858000" y="5193697"/>
            <a:chExt cx="7488115" cy="5298457"/>
          </a:xfrm>
        </p:grpSpPr>
        <p:pic>
          <p:nvPicPr>
            <p:cNvPr id="5" name="Graphic 4" descr="Cloud outline">
              <a:extLst>
                <a:ext uri="{FF2B5EF4-FFF2-40B4-BE49-F238E27FC236}">
                  <a16:creationId xmlns:a16="http://schemas.microsoft.com/office/drawing/2014/main" id="{6A99E5B1-FCDE-E68A-95F3-86FB3234D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8C5EE69-85BA-E501-5129-CB56F8F8BE77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E576189-29E3-5FE9-E151-B4164712E6CA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5C24663-8359-4E23-4A53-C490ED154E2B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FB60EC-A333-070F-40A7-A23DF11E7CDA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74BF66E-264D-4CFC-8934-1BC3DEBEA0E3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56F7B7-135D-6B78-472C-4571732170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6E0E0E-BC6B-42A5-2F8F-DA41DDA9A451}"/>
                </a:ext>
              </a:extLst>
            </p:cNvPr>
            <p:cNvSpPr txBox="1"/>
            <p:nvPr/>
          </p:nvSpPr>
          <p:spPr>
            <a:xfrm>
              <a:off x="9656255" y="5265870"/>
              <a:ext cx="2079175" cy="828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</a:t>
              </a:r>
            </a:p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Protocols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43B593-4CF9-6A1A-4EAC-7C229101BA3A}"/>
                </a:ext>
              </a:extLst>
            </p:cNvPr>
            <p:cNvCxnSpPr>
              <a:stCxn id="7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4FAADC8-F35D-8CB9-8459-10883E53E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8411468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Well-Known TCP/UDP 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 identifies higher layer protocol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181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 descr="g0411_well-known-tcp-udp-po.jpg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0401" y="3210401"/>
            <a:ext cx="12180809" cy="60479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94540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the Bank's Applications Live Now: On-Premises, Hosted, SaaS</a:t>
            </a:r>
          </a:p>
        </p:txBody>
      </p:sp>
      <p:cxnSp>
        <p:nvCxnSpPr>
          <p:cNvPr id="3" name="Anchor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l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l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Col 1 head"/>
          <p:cNvSpPr txBox="1"/>
          <p:nvPr/>
        </p:nvSpPr>
        <p:spPr>
          <a:xfrm>
            <a:off x="1257300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7" name="Col 1 box"/>
          <p:cNvSpPr/>
          <p:nvPr/>
        </p:nvSpPr>
        <p:spPr>
          <a:xfrm>
            <a:off x="1257300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ol 1 list"/>
          <p:cNvSpPr txBox="1"/>
          <p:nvPr/>
        </p:nvSpPr>
        <p:spPr>
          <a:xfrm>
            <a:off x="1485900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and platform PCs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 and alarm</a:t>
            </a:r>
          </a:p>
        </p:txBody>
      </p:sp>
      <p:sp>
        <p:nvSpPr>
          <p:cNvPr id="9" name="Col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Col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11" name="Col 2 head"/>
          <p:cNvSpPr txBox="1"/>
          <p:nvPr/>
        </p:nvSpPr>
        <p:spPr>
          <a:xfrm>
            <a:off x="4475988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Headquarters</a:t>
            </a:r>
          </a:p>
        </p:txBody>
      </p:sp>
      <p:sp>
        <p:nvSpPr>
          <p:cNvPr id="12" name="Col 2 box"/>
          <p:cNvSpPr/>
          <p:nvPr/>
        </p:nvSpPr>
        <p:spPr>
          <a:xfrm>
            <a:off x="4475988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Col 2 list"/>
          <p:cNvSpPr txBox="1"/>
          <p:nvPr/>
        </p:nvSpPr>
        <p:spPr>
          <a:xfrm>
            <a:off x="4704588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and print servers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system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and ops workstations</a:t>
            </a:r>
          </a:p>
        </p:txBody>
      </p:sp>
      <p:sp>
        <p:nvSpPr>
          <p:cNvPr id="14" name="Col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Col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6" name="Col 3 head"/>
          <p:cNvSpPr txBox="1"/>
          <p:nvPr/>
        </p:nvSpPr>
        <p:spPr>
          <a:xfrm>
            <a:off x="7694675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data center</a:t>
            </a:r>
          </a:p>
        </p:txBody>
      </p:sp>
      <p:sp>
        <p:nvSpPr>
          <p:cNvPr id="17" name="Col 3 box"/>
          <p:cNvSpPr/>
          <p:nvPr/>
        </p:nvSpPr>
        <p:spPr>
          <a:xfrm>
            <a:off x="7694675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l 3 list"/>
          <p:cNvSpPr txBox="1"/>
          <p:nvPr/>
        </p:nvSpPr>
        <p:spPr>
          <a:xfrm>
            <a:off x="7923275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Active Directory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 core (a few banks)</a:t>
            </a:r>
          </a:p>
        </p:txBody>
      </p:sp>
      <p:sp>
        <p:nvSpPr>
          <p:cNvPr id="19" name="Col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ol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21" name="Col 4 head"/>
          <p:cNvSpPr txBox="1"/>
          <p:nvPr/>
        </p:nvSpPr>
        <p:spPr>
          <a:xfrm>
            <a:off x="10913364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</a:t>
            </a:r>
          </a:p>
        </p:txBody>
      </p:sp>
      <p:sp>
        <p:nvSpPr>
          <p:cNvPr id="22" name="Col 4 box"/>
          <p:cNvSpPr/>
          <p:nvPr/>
        </p:nvSpPr>
        <p:spPr>
          <a:xfrm>
            <a:off x="10913364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ol 4 list"/>
          <p:cNvSpPr txBox="1"/>
          <p:nvPr/>
        </p:nvSpPr>
        <p:spPr>
          <a:xfrm>
            <a:off x="11141964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HR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24" name="Col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l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26" name="Col 5 head"/>
          <p:cNvSpPr txBox="1"/>
          <p:nvPr/>
        </p:nvSpPr>
        <p:spPr>
          <a:xfrm>
            <a:off x="14132052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27" name="Col 5 box"/>
          <p:cNvSpPr/>
          <p:nvPr/>
        </p:nvSpPr>
        <p:spPr>
          <a:xfrm>
            <a:off x="14132052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ol 5 list"/>
          <p:cNvSpPr txBox="1"/>
          <p:nvPr/>
        </p:nvSpPr>
        <p:spPr>
          <a:xfrm>
            <a:off x="14360652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29" name="Model 1"/>
          <p:cNvSpPr/>
          <p:nvPr/>
        </p:nvSpPr>
        <p:spPr>
          <a:xfrm>
            <a:off x="12573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odel 1 text"/>
          <p:cNvSpPr txBox="1"/>
          <p:nvPr/>
        </p:nvSpPr>
        <p:spPr>
          <a:xfrm>
            <a:off x="15316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On-premises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owns and runs the servers, in its own building</a:t>
            </a:r>
          </a:p>
        </p:txBody>
      </p:sp>
      <p:sp>
        <p:nvSpPr>
          <p:cNvPr id="31" name="Model 2"/>
          <p:cNvSpPr/>
          <p:nvPr/>
        </p:nvSpPr>
        <p:spPr>
          <a:xfrm>
            <a:off x="66294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odel 2 text"/>
          <p:cNvSpPr txBox="1"/>
          <p:nvPr/>
        </p:nvSpPr>
        <p:spPr>
          <a:xfrm>
            <a:off x="69037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runs a copy dedicated to the bank, in the vendor's data center</a:t>
            </a:r>
          </a:p>
        </p:txBody>
      </p:sp>
      <p:sp>
        <p:nvSpPr>
          <p:cNvPr id="33" name="Model 3"/>
          <p:cNvSpPr/>
          <p:nvPr/>
        </p:nvSpPr>
        <p:spPr>
          <a:xfrm>
            <a:off x="120015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odel 3 text"/>
          <p:cNvSpPr txBox="1"/>
          <p:nvPr/>
        </p:nvSpPr>
        <p:spPr>
          <a:xfrm>
            <a:off x="122758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shared application for many customers, reached over the internet</a:t>
            </a:r>
          </a:p>
        </p:txBody>
      </p:sp>
      <p:sp>
        <p:nvSpPr>
          <p:cNvPr id="35" name="Apps banner"/>
          <p:cNvSpPr/>
          <p:nvPr/>
        </p:nvSpPr>
        <p:spPr>
          <a:xfrm>
            <a:off x="1257300" y="873252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pps banner text"/>
          <p:cNvSpPr txBox="1"/>
          <p:nvPr/>
        </p:nvSpPr>
        <p:spPr>
          <a:xfrm>
            <a:off x="1554480" y="877824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between these columns is a network path.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19: Core Banking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a Core System Does</a:t>
            </a:r>
          </a:p>
        </p:txBody>
      </p:sp>
      <p:sp>
        <p:nvSpPr>
          <p:cNvPr id="3" name="Chan 1"/>
          <p:cNvSpPr/>
          <p:nvPr/>
        </p:nvSpPr>
        <p:spPr>
          <a:xfrm>
            <a:off x="1257300" y="274320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Cha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2948940"/>
            <a:ext cx="548640" cy="548640"/>
          </a:xfrm>
          <a:prstGeom prst="rect">
            <a:avLst/>
          </a:prstGeom>
        </p:spPr>
      </p:pic>
      <p:sp>
        <p:nvSpPr>
          <p:cNvPr id="5" name="Chan 1 text"/>
          <p:cNvSpPr txBox="1"/>
          <p:nvPr/>
        </p:nvSpPr>
        <p:spPr>
          <a:xfrm>
            <a:off x="2286000" y="274320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Tellers</a:t>
            </a:r>
          </a:p>
        </p:txBody>
      </p:sp>
      <p:cxnSp>
        <p:nvCxnSpPr>
          <p:cNvPr id="6" name="Chan 1 arrow"/>
          <p:cNvCxnSpPr/>
          <p:nvPr/>
        </p:nvCxnSpPr>
        <p:spPr>
          <a:xfrm>
            <a:off x="5212080" y="3223260"/>
            <a:ext cx="1691640" cy="2354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han 2"/>
          <p:cNvSpPr/>
          <p:nvPr/>
        </p:nvSpPr>
        <p:spPr>
          <a:xfrm>
            <a:off x="1257300" y="393192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Cha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8760" y="4137660"/>
            <a:ext cx="548640" cy="548640"/>
          </a:xfrm>
          <a:prstGeom prst="rect">
            <a:avLst/>
          </a:prstGeom>
        </p:spPr>
      </p:pic>
      <p:sp>
        <p:nvSpPr>
          <p:cNvPr id="9" name="Chan 2 text"/>
          <p:cNvSpPr txBox="1"/>
          <p:nvPr/>
        </p:nvSpPr>
        <p:spPr>
          <a:xfrm>
            <a:off x="2286000" y="393192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ATMs and debit</a:t>
            </a:r>
          </a:p>
        </p:txBody>
      </p:sp>
      <p:cxnSp>
        <p:nvCxnSpPr>
          <p:cNvPr id="10" name="Chan 2 arrow"/>
          <p:cNvCxnSpPr/>
          <p:nvPr/>
        </p:nvCxnSpPr>
        <p:spPr>
          <a:xfrm>
            <a:off x="5212080" y="4411980"/>
            <a:ext cx="1691640" cy="1165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an 3"/>
          <p:cNvSpPr/>
          <p:nvPr/>
        </p:nvSpPr>
        <p:spPr>
          <a:xfrm>
            <a:off x="1257300" y="512064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ha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08760" y="5326380"/>
            <a:ext cx="548640" cy="548640"/>
          </a:xfrm>
          <a:prstGeom prst="rect">
            <a:avLst/>
          </a:prstGeom>
        </p:spPr>
      </p:pic>
      <p:sp>
        <p:nvSpPr>
          <p:cNvPr id="13" name="Chan 3 text"/>
          <p:cNvSpPr txBox="1"/>
          <p:nvPr/>
        </p:nvSpPr>
        <p:spPr>
          <a:xfrm>
            <a:off x="2286000" y="512064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</a:t>
            </a:r>
          </a:p>
        </p:txBody>
      </p:sp>
      <p:cxnSp>
        <p:nvCxnSpPr>
          <p:cNvPr id="14" name="Chan 3 arrow"/>
          <p:cNvCxnSpPr/>
          <p:nvPr/>
        </p:nvCxnSpPr>
        <p:spPr>
          <a:xfrm flipV="1">
            <a:off x="5212080" y="5577840"/>
            <a:ext cx="1691640" cy="22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an 4"/>
          <p:cNvSpPr/>
          <p:nvPr/>
        </p:nvSpPr>
        <p:spPr>
          <a:xfrm>
            <a:off x="1257300" y="630936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Chan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08760" y="6515100"/>
            <a:ext cx="548640" cy="548640"/>
          </a:xfrm>
          <a:prstGeom prst="rect">
            <a:avLst/>
          </a:prstGeom>
        </p:spPr>
      </p:pic>
      <p:sp>
        <p:nvSpPr>
          <p:cNvPr id="17" name="Chan 4 text"/>
          <p:cNvSpPr txBox="1"/>
          <p:nvPr/>
        </p:nvSpPr>
        <p:spPr>
          <a:xfrm>
            <a:off x="2286000" y="630936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ACH and wires</a:t>
            </a:r>
          </a:p>
        </p:txBody>
      </p:sp>
      <p:cxnSp>
        <p:nvCxnSpPr>
          <p:cNvPr id="18" name="Chan 4 arrow"/>
          <p:cNvCxnSpPr/>
          <p:nvPr/>
        </p:nvCxnSpPr>
        <p:spPr>
          <a:xfrm flipV="1">
            <a:off x="5212080" y="5577840"/>
            <a:ext cx="1691640" cy="1211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an 5"/>
          <p:cNvSpPr/>
          <p:nvPr/>
        </p:nvSpPr>
        <p:spPr>
          <a:xfrm>
            <a:off x="1257300" y="7498079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han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8760" y="7703819"/>
            <a:ext cx="548640" cy="548640"/>
          </a:xfrm>
          <a:prstGeom prst="rect">
            <a:avLst/>
          </a:prstGeom>
        </p:spPr>
      </p:pic>
      <p:sp>
        <p:nvSpPr>
          <p:cNvPr id="21" name="Chan 5 text"/>
          <p:cNvSpPr txBox="1"/>
          <p:nvPr/>
        </p:nvSpPr>
        <p:spPr>
          <a:xfrm>
            <a:off x="2286000" y="7498079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networks</a:t>
            </a:r>
          </a:p>
        </p:txBody>
      </p:sp>
      <p:cxnSp>
        <p:nvCxnSpPr>
          <p:cNvPr id="22" name="Chan 5 arrow"/>
          <p:cNvCxnSpPr/>
          <p:nvPr/>
        </p:nvCxnSpPr>
        <p:spPr>
          <a:xfrm flipV="1">
            <a:off x="5212080" y="5577840"/>
            <a:ext cx="1691640" cy="240030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annels label"/>
          <p:cNvSpPr txBox="1"/>
          <p:nvPr/>
        </p:nvSpPr>
        <p:spPr>
          <a:xfrm>
            <a:off x="1257300" y="8732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Channels feed it</a:t>
            </a:r>
          </a:p>
        </p:txBody>
      </p:sp>
      <p:sp>
        <p:nvSpPr>
          <p:cNvPr id="24" name="Core box"/>
          <p:cNvSpPr/>
          <p:nvPr/>
        </p:nvSpPr>
        <p:spPr>
          <a:xfrm>
            <a:off x="6949440" y="4023360"/>
            <a:ext cx="4023360" cy="3108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re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58200" y="4297680"/>
            <a:ext cx="1005840" cy="1005840"/>
          </a:xfrm>
          <a:prstGeom prst="rect">
            <a:avLst/>
          </a:prstGeom>
        </p:spPr>
      </p:pic>
      <p:sp>
        <p:nvSpPr>
          <p:cNvPr id="26" name="Core text"/>
          <p:cNvSpPr txBox="1"/>
          <p:nvPr/>
        </p:nvSpPr>
        <p:spPr>
          <a:xfrm>
            <a:off x="7132320" y="548640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core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bank's system of record</a:t>
            </a:r>
          </a:p>
        </p:txBody>
      </p:sp>
      <p:cxnSp>
        <p:nvCxnSpPr>
          <p:cNvPr id="27" name="Rec 1 arrow"/>
          <p:cNvCxnSpPr/>
          <p:nvPr/>
        </p:nvCxnSpPr>
        <p:spPr>
          <a:xfrm flipV="1">
            <a:off x="11018520" y="3154680"/>
            <a:ext cx="1554480" cy="242316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 1"/>
          <p:cNvSpPr/>
          <p:nvPr/>
        </p:nvSpPr>
        <p:spPr>
          <a:xfrm>
            <a:off x="12618720" y="274320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 accounts</a:t>
            </a:r>
          </a:p>
        </p:txBody>
      </p:sp>
      <p:cxnSp>
        <p:nvCxnSpPr>
          <p:cNvPr id="29" name="Rec 2 arrow"/>
          <p:cNvCxnSpPr/>
          <p:nvPr/>
        </p:nvCxnSpPr>
        <p:spPr>
          <a:xfrm flipV="1">
            <a:off x="11018520" y="4142232"/>
            <a:ext cx="1554480" cy="143560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 2"/>
          <p:cNvSpPr/>
          <p:nvPr/>
        </p:nvSpPr>
        <p:spPr>
          <a:xfrm>
            <a:off x="12618720" y="3730752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accounts</a:t>
            </a:r>
          </a:p>
        </p:txBody>
      </p:sp>
      <p:cxnSp>
        <p:nvCxnSpPr>
          <p:cNvPr id="31" name="Rec 3 arrow"/>
          <p:cNvCxnSpPr/>
          <p:nvPr/>
        </p:nvCxnSpPr>
        <p:spPr>
          <a:xfrm flipV="1">
            <a:off x="11018520" y="5129784"/>
            <a:ext cx="1554480" cy="44805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 3"/>
          <p:cNvSpPr/>
          <p:nvPr/>
        </p:nvSpPr>
        <p:spPr>
          <a:xfrm>
            <a:off x="12618720" y="4718304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 file</a:t>
            </a:r>
          </a:p>
        </p:txBody>
      </p:sp>
      <p:cxnSp>
        <p:nvCxnSpPr>
          <p:cNvPr id="33" name="Rec 4 arrow"/>
          <p:cNvCxnSpPr/>
          <p:nvPr/>
        </p:nvCxnSpPr>
        <p:spPr>
          <a:xfrm>
            <a:off x="11018520" y="5577840"/>
            <a:ext cx="1554480" cy="53949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 4"/>
          <p:cNvSpPr/>
          <p:nvPr/>
        </p:nvSpPr>
        <p:spPr>
          <a:xfrm>
            <a:off x="12618720" y="5705856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Interest and fees</a:t>
            </a:r>
          </a:p>
        </p:txBody>
      </p:sp>
      <p:cxnSp>
        <p:nvCxnSpPr>
          <p:cNvPr id="35" name="Rec 5 arrow"/>
          <p:cNvCxnSpPr/>
          <p:nvPr/>
        </p:nvCxnSpPr>
        <p:spPr>
          <a:xfrm>
            <a:off x="11018520" y="5577840"/>
            <a:ext cx="1554480" cy="152704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 5"/>
          <p:cNvSpPr/>
          <p:nvPr/>
        </p:nvSpPr>
        <p:spPr>
          <a:xfrm>
            <a:off x="12618720" y="6693408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cxnSp>
        <p:nvCxnSpPr>
          <p:cNvPr id="37" name="Rec 6 arrow"/>
          <p:cNvCxnSpPr/>
          <p:nvPr/>
        </p:nvCxnSpPr>
        <p:spPr>
          <a:xfrm>
            <a:off x="11018520" y="5577840"/>
            <a:ext cx="1554480" cy="251460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 6"/>
          <p:cNvSpPr/>
          <p:nvPr/>
        </p:nvSpPr>
        <p:spPr>
          <a:xfrm>
            <a:off x="12618720" y="768096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Statements and notices</a:t>
            </a:r>
          </a:p>
        </p:txBody>
      </p:sp>
      <p:sp>
        <p:nvSpPr>
          <p:cNvPr id="39" name="Records label"/>
          <p:cNvSpPr txBox="1"/>
          <p:nvPr/>
        </p:nvSpPr>
        <p:spPr>
          <a:xfrm>
            <a:off x="12618720" y="8732520"/>
            <a:ext cx="44119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it keeps</a:t>
            </a:r>
          </a:p>
        </p:txBody>
      </p:sp>
      <p:sp>
        <p:nvSpPr>
          <p:cNvPr id="40" name="Core down"/>
          <p:cNvSpPr/>
          <p:nvPr/>
        </p:nvSpPr>
        <p:spPr>
          <a:xfrm>
            <a:off x="6035040" y="7589520"/>
            <a:ext cx="5852160" cy="15544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Core down text"/>
          <p:cNvSpPr txBox="1"/>
          <p:nvPr/>
        </p:nvSpPr>
        <p:spPr>
          <a:xfrm>
            <a:off x="6263640" y="7680960"/>
            <a:ext cx="53949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core is down, or the path to it is,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can't post a transaction.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Core Providers: Jack Henry, Fiserv, FIS</a:t>
            </a:r>
          </a:p>
        </p:txBody>
      </p:sp>
      <p:sp>
        <p:nvSpPr>
          <p:cNvPr id="3" name="Core Fiserv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ore Fiserv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re Fiserv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3480" y="3268980"/>
            <a:ext cx="777240" cy="777240"/>
          </a:xfrm>
          <a:prstGeom prst="rect">
            <a:avLst/>
          </a:prstGeom>
        </p:spPr>
      </p:pic>
      <p:sp>
        <p:nvSpPr>
          <p:cNvPr id="6" name="Core Fiserv name"/>
          <p:cNvSpPr txBox="1"/>
          <p:nvPr/>
        </p:nvSpPr>
        <p:spPr>
          <a:xfrm>
            <a:off x="15773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Fiserv</a:t>
            </a:r>
          </a:p>
        </p:txBody>
      </p:sp>
      <p:sp>
        <p:nvSpPr>
          <p:cNvPr id="7" name="Core Fiserv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~42%</a:t>
            </a:r>
          </a:p>
        </p:txBody>
      </p:sp>
      <p:sp>
        <p:nvSpPr>
          <p:cNvPr id="8" name="Core Fiserv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9" name="Core Fiserv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Largest by number of banks. Several core platforms, many from acquisitions.</a:t>
            </a:r>
          </a:p>
        </p:txBody>
      </p:sp>
      <p:sp>
        <p:nvSpPr>
          <p:cNvPr id="10" name="Core Jack Henry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Core Jack Henry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ore Jack Henry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55580" y="3268980"/>
            <a:ext cx="777240" cy="777240"/>
          </a:xfrm>
          <a:prstGeom prst="rect">
            <a:avLst/>
          </a:prstGeom>
        </p:spPr>
      </p:pic>
      <p:sp>
        <p:nvSpPr>
          <p:cNvPr id="13" name="Core Jack Henry name"/>
          <p:cNvSpPr txBox="1"/>
          <p:nvPr/>
        </p:nvSpPr>
        <p:spPr>
          <a:xfrm>
            <a:off x="69494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Jack Henry</a:t>
            </a:r>
          </a:p>
        </p:txBody>
      </p:sp>
      <p:sp>
        <p:nvSpPr>
          <p:cNvPr id="14" name="Core Jack Henry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~21%</a:t>
            </a:r>
          </a:p>
        </p:txBody>
      </p:sp>
      <p:sp>
        <p:nvSpPr>
          <p:cNvPr id="15" name="Core Jack Henry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16" name="Core Jack Henry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Focused on community banks and credit unions. Building a cloud-native core.</a:t>
            </a:r>
          </a:p>
        </p:txBody>
      </p:sp>
      <p:sp>
        <p:nvSpPr>
          <p:cNvPr id="17" name="Core FIS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re FIS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Core FI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27680" y="3268980"/>
            <a:ext cx="777240" cy="777240"/>
          </a:xfrm>
          <a:prstGeom prst="rect">
            <a:avLst/>
          </a:prstGeom>
        </p:spPr>
      </p:pic>
      <p:sp>
        <p:nvSpPr>
          <p:cNvPr id="20" name="Core FIS name"/>
          <p:cNvSpPr txBox="1"/>
          <p:nvPr/>
        </p:nvSpPr>
        <p:spPr>
          <a:xfrm>
            <a:off x="123215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</a:t>
            </a:r>
          </a:p>
        </p:txBody>
      </p:sp>
      <p:sp>
        <p:nvSpPr>
          <p:cNvPr id="21" name="Core FIS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~9%</a:t>
            </a:r>
          </a:p>
        </p:txBody>
      </p:sp>
      <p:sp>
        <p:nvSpPr>
          <p:cNvPr id="22" name="Core FIS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23" name="Core FIS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Stronger among larger banks. Also a major card and payments processor.</a:t>
            </a:r>
          </a:p>
        </p:txBody>
      </p:sp>
      <p:sp>
        <p:nvSpPr>
          <p:cNvPr id="24" name="Core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ore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Together, the core provider for more than 70% of U.S. banks: concentration risk, in one slide.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Federal Reserve Bank of Kansas City, "Market Structure of Core Banking Services Providers" (2022 data). Shares are approximate.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the Branch Talks to the Core: The Network Path of a Transaction</a:t>
            </a:r>
          </a:p>
        </p:txBody>
      </p:sp>
      <p:sp>
        <p:nvSpPr>
          <p:cNvPr id="3" name="Path 1"/>
          <p:cNvSpPr/>
          <p:nvPr/>
        </p:nvSpPr>
        <p:spPr>
          <a:xfrm>
            <a:off x="12573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Path num 1"/>
          <p:cNvSpPr/>
          <p:nvPr/>
        </p:nvSpPr>
        <p:spPr>
          <a:xfrm>
            <a:off x="13944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pic>
        <p:nvPicPr>
          <p:cNvPr id="5" name="Path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200400"/>
            <a:ext cx="822960" cy="822960"/>
          </a:xfrm>
          <a:prstGeom prst="rect">
            <a:avLst/>
          </a:prstGeom>
        </p:spPr>
      </p:pic>
      <p:sp>
        <p:nvSpPr>
          <p:cNvPr id="6" name="Path 1 text"/>
          <p:cNvSpPr txBox="1"/>
          <p:nvPr/>
        </p:nvSpPr>
        <p:spPr>
          <a:xfrm>
            <a:off x="13944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Deposit entered</a:t>
            </a:r>
          </a:p>
        </p:txBody>
      </p:sp>
      <p:cxnSp>
        <p:nvCxnSpPr>
          <p:cNvPr id="7" name="Path arrow 1"/>
          <p:cNvCxnSpPr/>
          <p:nvPr/>
        </p:nvCxnSpPr>
        <p:spPr>
          <a:xfrm>
            <a:off x="40462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th 2"/>
          <p:cNvSpPr/>
          <p:nvPr/>
        </p:nvSpPr>
        <p:spPr>
          <a:xfrm>
            <a:off x="45148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ath num 2"/>
          <p:cNvSpPr/>
          <p:nvPr/>
        </p:nvSpPr>
        <p:spPr>
          <a:xfrm>
            <a:off x="46520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pic>
        <p:nvPicPr>
          <p:cNvPr id="10" name="Path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4970" y="3200400"/>
            <a:ext cx="822960" cy="822960"/>
          </a:xfrm>
          <a:prstGeom prst="rect">
            <a:avLst/>
          </a:prstGeom>
        </p:spPr>
      </p:pic>
      <p:sp>
        <p:nvSpPr>
          <p:cNvPr id="11" name="Path 2 text"/>
          <p:cNvSpPr txBox="1"/>
          <p:nvPr/>
        </p:nvSpPr>
        <p:spPr>
          <a:xfrm>
            <a:off x="46520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router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Leaves the LAN</a:t>
            </a:r>
          </a:p>
        </p:txBody>
      </p:sp>
      <p:cxnSp>
        <p:nvCxnSpPr>
          <p:cNvPr id="12" name="Path arrow 2"/>
          <p:cNvCxnSpPr/>
          <p:nvPr/>
        </p:nvCxnSpPr>
        <p:spPr>
          <a:xfrm>
            <a:off x="7303770" y="4023360"/>
            <a:ext cx="42290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th 3"/>
          <p:cNvSpPr/>
          <p:nvPr/>
        </p:nvSpPr>
        <p:spPr>
          <a:xfrm>
            <a:off x="77724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Path num 3"/>
          <p:cNvSpPr/>
          <p:nvPr/>
        </p:nvSpPr>
        <p:spPr>
          <a:xfrm>
            <a:off x="79095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15" name="Path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2520" y="3200400"/>
            <a:ext cx="822960" cy="822960"/>
          </a:xfrm>
          <a:prstGeom prst="rect">
            <a:avLst/>
          </a:prstGeom>
        </p:spPr>
      </p:pic>
      <p:sp>
        <p:nvSpPr>
          <p:cNvPr id="16" name="Path 3 text"/>
          <p:cNvSpPr txBox="1"/>
          <p:nvPr/>
        </p:nvSpPr>
        <p:spPr>
          <a:xfrm>
            <a:off x="79095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MPLS, SD-WAN or VPN</a:t>
            </a:r>
          </a:p>
        </p:txBody>
      </p:sp>
      <p:cxnSp>
        <p:nvCxnSpPr>
          <p:cNvPr id="17" name="Path arrow 3"/>
          <p:cNvCxnSpPr/>
          <p:nvPr/>
        </p:nvCxnSpPr>
        <p:spPr>
          <a:xfrm>
            <a:off x="105613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 4"/>
          <p:cNvSpPr/>
          <p:nvPr/>
        </p:nvSpPr>
        <p:spPr>
          <a:xfrm>
            <a:off x="110299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ath num 4"/>
          <p:cNvSpPr/>
          <p:nvPr/>
        </p:nvSpPr>
        <p:spPr>
          <a:xfrm>
            <a:off x="111671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0" name="Path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990070" y="3200400"/>
            <a:ext cx="822960" cy="822960"/>
          </a:xfrm>
          <a:prstGeom prst="rect">
            <a:avLst/>
          </a:prstGeom>
        </p:spPr>
      </p:pic>
      <p:sp>
        <p:nvSpPr>
          <p:cNvPr id="21" name="Path 4 text"/>
          <p:cNvSpPr txBox="1"/>
          <p:nvPr/>
        </p:nvSpPr>
        <p:spPr>
          <a:xfrm>
            <a:off x="111671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Data center</a:t>
            </a:r>
          </a:p>
        </p:txBody>
      </p:sp>
      <p:cxnSp>
        <p:nvCxnSpPr>
          <p:cNvPr id="22" name="Path arrow 4"/>
          <p:cNvCxnSpPr/>
          <p:nvPr/>
        </p:nvCxnSpPr>
        <p:spPr>
          <a:xfrm>
            <a:off x="1381887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ath 5"/>
          <p:cNvSpPr/>
          <p:nvPr/>
        </p:nvSpPr>
        <p:spPr>
          <a:xfrm>
            <a:off x="14287500" y="2834640"/>
            <a:ext cx="2743200" cy="23774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Path num 5"/>
          <p:cNvSpPr/>
          <p:nvPr/>
        </p:nvSpPr>
        <p:spPr>
          <a:xfrm>
            <a:off x="144246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25" name="Path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7620" y="3200400"/>
            <a:ext cx="822960" cy="822960"/>
          </a:xfrm>
          <a:prstGeom prst="rect">
            <a:avLst/>
          </a:prstGeom>
        </p:spPr>
      </p:pic>
      <p:sp>
        <p:nvSpPr>
          <p:cNvPr id="26" name="Path 5 text"/>
          <p:cNvSpPr txBox="1"/>
          <p:nvPr/>
        </p:nvSpPr>
        <p:spPr>
          <a:xfrm>
            <a:off x="144246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Posts and replies</a:t>
            </a:r>
          </a:p>
        </p:txBody>
      </p:sp>
      <p:sp>
        <p:nvSpPr>
          <p:cNvPr id="27" name="Round trip"/>
          <p:cNvSpPr txBox="1"/>
          <p:nvPr/>
        </p:nvSpPr>
        <p:spPr>
          <a:xfrm>
            <a:off x="1257300" y="54406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Round trip: well under a second, hundreds of times a day per branch.</a:t>
            </a:r>
          </a:p>
        </p:txBody>
      </p:sp>
      <p:sp>
        <p:nvSpPr>
          <p:cNvPr id="28" name="Breaks heading"/>
          <p:cNvSpPr txBox="1"/>
          <p:nvPr/>
        </p:nvSpPr>
        <p:spPr>
          <a:xfrm>
            <a:off x="1257300" y="61722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breaks it</a:t>
            </a:r>
          </a:p>
        </p:txBody>
      </p:sp>
      <p:sp>
        <p:nvSpPr>
          <p:cNvPr id="29" name="Break 1"/>
          <p:cNvSpPr/>
          <p:nvPr/>
        </p:nvSpPr>
        <p:spPr>
          <a:xfrm>
            <a:off x="125730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Break 1 text"/>
          <p:cNvSpPr txBox="1"/>
          <p:nvPr/>
        </p:nvSpPr>
        <p:spPr>
          <a:xfrm>
            <a:off x="151333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circuit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backup path means no transactions</a:t>
            </a:r>
          </a:p>
        </p:txBody>
      </p:sp>
      <p:sp>
        <p:nvSpPr>
          <p:cNvPr id="31" name="Break 2"/>
          <p:cNvSpPr/>
          <p:nvPr/>
        </p:nvSpPr>
        <p:spPr>
          <a:xfrm>
            <a:off x="528065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Break 2 text"/>
          <p:cNvSpPr txBox="1"/>
          <p:nvPr/>
        </p:nvSpPr>
        <p:spPr>
          <a:xfrm>
            <a:off x="553669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 or circuit to the processor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at the bank end or the processor end</a:t>
            </a:r>
          </a:p>
        </p:txBody>
      </p:sp>
      <p:sp>
        <p:nvSpPr>
          <p:cNvPr id="33" name="Break 3"/>
          <p:cNvSpPr/>
          <p:nvPr/>
        </p:nvSpPr>
        <p:spPr>
          <a:xfrm>
            <a:off x="930401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Break 3 text"/>
          <p:cNvSpPr txBox="1"/>
          <p:nvPr/>
        </p:nvSpPr>
        <p:spPr>
          <a:xfrm>
            <a:off x="956005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outage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Hundreds of banks at once</a:t>
            </a:r>
          </a:p>
        </p:txBody>
      </p:sp>
      <p:sp>
        <p:nvSpPr>
          <p:cNvPr id="35" name="Break 4"/>
          <p:cNvSpPr/>
          <p:nvPr/>
        </p:nvSpPr>
        <p:spPr>
          <a:xfrm>
            <a:off x="1332738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Break 4 text"/>
          <p:cNvSpPr txBox="1"/>
          <p:nvPr/>
        </p:nvSpPr>
        <p:spPr>
          <a:xfrm>
            <a:off x="1358341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quiet ones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certificate, a DNS error, a bad firewall change</a:t>
            </a:r>
          </a:p>
        </p:txBody>
      </p:sp>
      <p:sp>
        <p:nvSpPr>
          <p:cNvPr id="37" name="Offline banner"/>
          <p:cNvSpPr/>
          <p:nvPr/>
        </p:nvSpPr>
        <p:spPr>
          <a:xfrm>
            <a:off x="1257300" y="8915400"/>
            <a:ext cx="15773400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Offline banner text"/>
          <p:cNvSpPr txBox="1"/>
          <p:nvPr/>
        </p:nvSpPr>
        <p:spPr>
          <a:xfrm>
            <a:off x="1554480" y="8961120"/>
            <a:ext cx="15179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teller system have an offline mode, and when was it last used?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From Service Bureau to Cloud: How Core Delivery Has Changed</a:t>
            </a:r>
          </a:p>
        </p:txBody>
      </p:sp>
      <p:cxnSp>
        <p:nvCxnSpPr>
          <p:cNvPr id="3" name="Era line"/>
          <p:cNvCxnSpPr/>
          <p:nvPr/>
        </p:nvCxnSpPr>
        <p:spPr>
          <a:xfrm>
            <a:off x="1257300" y="3291840"/>
            <a:ext cx="15773400" cy="0"/>
          </a:xfrm>
          <a:prstGeom prst="line">
            <a:avLst/>
          </a:prstGeom>
          <a:ln w="381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ra 1 disc"/>
          <p:cNvSpPr/>
          <p:nvPr/>
        </p:nvSpPr>
        <p:spPr>
          <a:xfrm>
            <a:off x="256032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Era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48940"/>
            <a:ext cx="685800" cy="685800"/>
          </a:xfrm>
          <a:prstGeom prst="rect">
            <a:avLst/>
          </a:prstGeom>
        </p:spPr>
      </p:pic>
      <p:sp>
        <p:nvSpPr>
          <p:cNvPr id="6" name="Era 1 head"/>
          <p:cNvSpPr txBox="1"/>
          <p:nvPr/>
        </p:nvSpPr>
        <p:spPr>
          <a:xfrm>
            <a:off x="125730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</a:t>
            </a:r>
          </a:p>
        </p:txBody>
      </p:sp>
      <p:sp>
        <p:nvSpPr>
          <p:cNvPr id="7" name="Era 1 box"/>
          <p:cNvSpPr/>
          <p:nvPr/>
        </p:nvSpPr>
        <p:spPr>
          <a:xfrm>
            <a:off x="125730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Era 1 body"/>
          <p:cNvSpPr txBox="1"/>
          <p:nvPr/>
        </p:nvSpPr>
        <p:spPr>
          <a:xfrm>
            <a:off x="148590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Bank's own hardware and staff</a:t>
            </a:r>
          </a:p>
        </p:txBody>
      </p:sp>
      <p:sp>
        <p:nvSpPr>
          <p:cNvPr id="9" name="Era 1 conn"/>
          <p:cNvSpPr/>
          <p:nvPr/>
        </p:nvSpPr>
        <p:spPr>
          <a:xfrm>
            <a:off x="148590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Era 1 conn text"/>
          <p:cNvSpPr txBox="1"/>
          <p:nvPr/>
        </p:nvSpPr>
        <p:spPr>
          <a:xfrm>
            <a:off x="1577340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the bank's LAN</a:t>
            </a:r>
          </a:p>
        </p:txBody>
      </p:sp>
      <p:sp>
        <p:nvSpPr>
          <p:cNvPr id="11" name="Era 2 disc"/>
          <p:cNvSpPr/>
          <p:nvPr/>
        </p:nvSpPr>
        <p:spPr>
          <a:xfrm>
            <a:off x="658367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Era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48940"/>
            <a:ext cx="685800" cy="685800"/>
          </a:xfrm>
          <a:prstGeom prst="rect">
            <a:avLst/>
          </a:prstGeom>
        </p:spPr>
      </p:pic>
      <p:sp>
        <p:nvSpPr>
          <p:cNvPr id="13" name="Era 2 head"/>
          <p:cNvSpPr txBox="1"/>
          <p:nvPr/>
        </p:nvSpPr>
        <p:spPr>
          <a:xfrm>
            <a:off x="528065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bureau</a:t>
            </a:r>
          </a:p>
        </p:txBody>
      </p:sp>
      <p:sp>
        <p:nvSpPr>
          <p:cNvPr id="14" name="Era 2 box"/>
          <p:cNvSpPr/>
          <p:nvPr/>
        </p:nvSpPr>
        <p:spPr>
          <a:xfrm>
            <a:off x="528065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Era 2 body"/>
          <p:cNvSpPr txBox="1"/>
          <p:nvPr/>
        </p:nvSpPr>
        <p:spPr>
          <a:xfrm>
            <a:off x="550925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runs one system for many banks</a:t>
            </a:r>
          </a:p>
        </p:txBody>
      </p:sp>
      <p:sp>
        <p:nvSpPr>
          <p:cNvPr id="16" name="Era 2 conn"/>
          <p:cNvSpPr/>
          <p:nvPr/>
        </p:nvSpPr>
        <p:spPr>
          <a:xfrm>
            <a:off x="550925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Era 2 conn text"/>
          <p:cNvSpPr txBox="1"/>
          <p:nvPr/>
        </p:nvSpPr>
        <p:spPr>
          <a:xfrm>
            <a:off x="560069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Leased line to the processor</a:t>
            </a:r>
          </a:p>
        </p:txBody>
      </p:sp>
      <p:sp>
        <p:nvSpPr>
          <p:cNvPr id="18" name="Era 3 disc"/>
          <p:cNvSpPr/>
          <p:nvPr/>
        </p:nvSpPr>
        <p:spPr>
          <a:xfrm>
            <a:off x="1060704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Era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48940"/>
            <a:ext cx="685800" cy="685800"/>
          </a:xfrm>
          <a:prstGeom prst="rect">
            <a:avLst/>
          </a:prstGeom>
        </p:spPr>
      </p:pic>
      <p:sp>
        <p:nvSpPr>
          <p:cNvPr id="20" name="Era 3 head"/>
          <p:cNvSpPr txBox="1"/>
          <p:nvPr/>
        </p:nvSpPr>
        <p:spPr>
          <a:xfrm>
            <a:off x="930401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</p:txBody>
      </p:sp>
      <p:sp>
        <p:nvSpPr>
          <p:cNvPr id="21" name="Era 3 box"/>
          <p:cNvSpPr/>
          <p:nvPr/>
        </p:nvSpPr>
        <p:spPr>
          <a:xfrm>
            <a:off x="930401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ra 3 body"/>
          <p:cNvSpPr txBox="1"/>
          <p:nvPr/>
        </p:nvSpPr>
        <p:spPr>
          <a:xfrm>
            <a:off x="953261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own instance, in the vendor's data center</a:t>
            </a:r>
          </a:p>
        </p:txBody>
      </p:sp>
      <p:sp>
        <p:nvSpPr>
          <p:cNvPr id="23" name="Era 3 conn"/>
          <p:cNvSpPr/>
          <p:nvPr/>
        </p:nvSpPr>
        <p:spPr>
          <a:xfrm>
            <a:off x="953261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ra 3 conn text"/>
          <p:cNvSpPr txBox="1"/>
          <p:nvPr/>
        </p:nvSpPr>
        <p:spPr>
          <a:xfrm>
            <a:off x="962405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25" name="Era 4 disc"/>
          <p:cNvSpPr/>
          <p:nvPr/>
        </p:nvSpPr>
        <p:spPr>
          <a:xfrm>
            <a:off x="1463039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6" name="Era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48940"/>
            <a:ext cx="685800" cy="685800"/>
          </a:xfrm>
          <a:prstGeom prst="rect">
            <a:avLst/>
          </a:prstGeom>
        </p:spPr>
      </p:pic>
      <p:sp>
        <p:nvSpPr>
          <p:cNvPr id="27" name="Era 4 head"/>
          <p:cNvSpPr txBox="1"/>
          <p:nvPr/>
        </p:nvSpPr>
        <p:spPr>
          <a:xfrm>
            <a:off x="1332738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Cloud-delivered</a:t>
            </a:r>
          </a:p>
        </p:txBody>
      </p:sp>
      <p:sp>
        <p:nvSpPr>
          <p:cNvPr id="28" name="Era 4 box"/>
          <p:cNvSpPr/>
          <p:nvPr/>
        </p:nvSpPr>
        <p:spPr>
          <a:xfrm>
            <a:off x="1332738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Era 4 body"/>
          <p:cNvSpPr txBox="1"/>
          <p:nvPr/>
        </p:nvSpPr>
        <p:spPr>
          <a:xfrm>
            <a:off x="1355598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runs it in its cloud or a public cloud</a:t>
            </a:r>
          </a:p>
        </p:txBody>
      </p:sp>
      <p:sp>
        <p:nvSpPr>
          <p:cNvPr id="30" name="Era 4 conn"/>
          <p:cNvSpPr/>
          <p:nvPr/>
        </p:nvSpPr>
        <p:spPr>
          <a:xfrm>
            <a:off x="1355598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Era 4 conn text"/>
          <p:cNvSpPr txBox="1"/>
          <p:nvPr/>
        </p:nvSpPr>
        <p:spPr>
          <a:xfrm>
            <a:off x="1364741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Internet, VPN and APIs</a:t>
            </a:r>
          </a:p>
        </p:txBody>
      </p:sp>
      <p:cxnSp>
        <p:nvCxnSpPr>
          <p:cNvPr id="32" name="Era arrow"/>
          <p:cNvCxnSpPr/>
          <p:nvPr/>
        </p:nvCxnSpPr>
        <p:spPr>
          <a:xfrm>
            <a:off x="1257300" y="7635240"/>
            <a:ext cx="15773400" cy="0"/>
          </a:xfrm>
          <a:prstGeom prst="line">
            <a:avLst/>
          </a:prstGeom>
          <a:ln w="31750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ra arrow label"/>
          <p:cNvSpPr txBox="1"/>
          <p:nvPr/>
        </p:nvSpPr>
        <p:spPr>
          <a:xfrm>
            <a:off x="1257300" y="7726679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Older  →  newer.  All four still exist today.</a:t>
            </a:r>
          </a:p>
        </p:txBody>
      </p:sp>
      <p:sp>
        <p:nvSpPr>
          <p:cNvPr id="34" name="Era banner"/>
          <p:cNvSpPr/>
          <p:nvPr/>
        </p:nvSpPr>
        <p:spPr>
          <a:xfrm>
            <a:off x="1257300" y="84124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5" name="Era banner text"/>
          <p:cNvSpPr txBox="1"/>
          <p:nvPr/>
        </p:nvSpPr>
        <p:spPr>
          <a:xfrm>
            <a:off x="1554480" y="84582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connection to the processor became the bank's most important circuit, and its backup just as important.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What's Next for Core: APIs and Modular Cores</a:t>
            </a:r>
          </a:p>
        </p:txBody>
      </p:sp>
      <p:sp>
        <p:nvSpPr>
          <p:cNvPr id="3" name="Mono head"/>
          <p:cNvSpPr txBox="1"/>
          <p:nvPr/>
        </p:nvSpPr>
        <p:spPr>
          <a:xfrm>
            <a:off x="1257300" y="26974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Traditional: one big system</a:t>
            </a:r>
          </a:p>
        </p:txBody>
      </p:sp>
      <p:sp>
        <p:nvSpPr>
          <p:cNvPr id="4" name="Monolith"/>
          <p:cNvSpPr/>
          <p:nvPr/>
        </p:nvSpPr>
        <p:spPr>
          <a:xfrm>
            <a:off x="1257300" y="3291840"/>
            <a:ext cx="6949440" cy="3200400"/>
          </a:xfrm>
          <a:prstGeom prst="roundRect">
            <a:avLst/>
          </a:prstGeom>
          <a:solidFill>
            <a:srgbClr val="D9D9D9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Mono part 1"/>
          <p:cNvSpPr/>
          <p:nvPr/>
        </p:nvSpPr>
        <p:spPr>
          <a:xfrm>
            <a:off x="155448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6" name="Mono part 2"/>
          <p:cNvSpPr/>
          <p:nvPr/>
        </p:nvSpPr>
        <p:spPr>
          <a:xfrm>
            <a:off x="370332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7" name="Mono part 3"/>
          <p:cNvSpPr/>
          <p:nvPr/>
        </p:nvSpPr>
        <p:spPr>
          <a:xfrm>
            <a:off x="585216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8" name="Mono part 4"/>
          <p:cNvSpPr/>
          <p:nvPr/>
        </p:nvSpPr>
        <p:spPr>
          <a:xfrm>
            <a:off x="155448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sp>
        <p:nvSpPr>
          <p:cNvPr id="9" name="Mono part 5"/>
          <p:cNvSpPr/>
          <p:nvPr/>
        </p:nvSpPr>
        <p:spPr>
          <a:xfrm>
            <a:off x="370332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sp>
        <p:nvSpPr>
          <p:cNvPr id="10" name="Mono part 6"/>
          <p:cNvSpPr/>
          <p:nvPr/>
        </p:nvSpPr>
        <p:spPr>
          <a:xfrm>
            <a:off x="585216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</a:t>
            </a:r>
          </a:p>
        </p:txBody>
      </p:sp>
      <p:sp>
        <p:nvSpPr>
          <p:cNvPr id="11" name="Mono note"/>
          <p:cNvSpPr txBox="1"/>
          <p:nvPr/>
        </p:nvSpPr>
        <p:spPr>
          <a:xfrm>
            <a:off x="1257300" y="65836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Integrations go through the core vendor</a:t>
            </a:r>
          </a:p>
        </p:txBody>
      </p:sp>
      <p:sp>
        <p:nvSpPr>
          <p:cNvPr id="12" name="Mod head"/>
          <p:cNvSpPr txBox="1"/>
          <p:nvPr/>
        </p:nvSpPr>
        <p:spPr>
          <a:xfrm>
            <a:off x="9144000" y="26974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Modular: components linked by APIs</a:t>
            </a:r>
          </a:p>
        </p:txBody>
      </p:sp>
      <p:sp>
        <p:nvSpPr>
          <p:cNvPr id="13" name="API layer"/>
          <p:cNvSpPr/>
          <p:nvPr/>
        </p:nvSpPr>
        <p:spPr>
          <a:xfrm>
            <a:off x="9144000" y="4617720"/>
            <a:ext cx="7886700" cy="5486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API layer</a:t>
            </a:r>
          </a:p>
        </p:txBody>
      </p:sp>
      <p:sp>
        <p:nvSpPr>
          <p:cNvPr id="14" name="Mod part 1"/>
          <p:cNvSpPr/>
          <p:nvPr/>
        </p:nvSpPr>
        <p:spPr>
          <a:xfrm>
            <a:off x="914400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cxnSp>
        <p:nvCxnSpPr>
          <p:cNvPr id="15" name="Mod link 1"/>
          <p:cNvCxnSpPr/>
          <p:nvPr/>
        </p:nvCxnSpPr>
        <p:spPr>
          <a:xfrm>
            <a:off x="1006754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Mod part 2"/>
          <p:cNvSpPr/>
          <p:nvPr/>
        </p:nvSpPr>
        <p:spPr>
          <a:xfrm>
            <a:off x="1115568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Lending</a:t>
            </a:r>
          </a:p>
        </p:txBody>
      </p:sp>
      <p:cxnSp>
        <p:nvCxnSpPr>
          <p:cNvPr id="17" name="Mod link 2"/>
          <p:cNvCxnSpPr/>
          <p:nvPr/>
        </p:nvCxnSpPr>
        <p:spPr>
          <a:xfrm>
            <a:off x="1207922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Mod part 3"/>
          <p:cNvSpPr/>
          <p:nvPr/>
        </p:nvSpPr>
        <p:spPr>
          <a:xfrm>
            <a:off x="1316736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cxnSp>
        <p:nvCxnSpPr>
          <p:cNvPr id="19" name="Mod link 3"/>
          <p:cNvCxnSpPr/>
          <p:nvPr/>
        </p:nvCxnSpPr>
        <p:spPr>
          <a:xfrm>
            <a:off x="1409090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od part 4"/>
          <p:cNvSpPr/>
          <p:nvPr/>
        </p:nvSpPr>
        <p:spPr>
          <a:xfrm>
            <a:off x="1517904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cxnSp>
        <p:nvCxnSpPr>
          <p:cNvPr id="21" name="Mod link 4"/>
          <p:cNvCxnSpPr/>
          <p:nvPr/>
        </p:nvCxnSpPr>
        <p:spPr>
          <a:xfrm>
            <a:off x="1610258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Out link 1"/>
          <p:cNvCxnSpPr/>
          <p:nvPr/>
        </p:nvCxnSpPr>
        <p:spPr>
          <a:xfrm>
            <a:off x="1037844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ut part 1"/>
          <p:cNvSpPr/>
          <p:nvPr/>
        </p:nvSpPr>
        <p:spPr>
          <a:xfrm>
            <a:off x="914400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</a:t>
            </a:r>
          </a:p>
        </p:txBody>
      </p:sp>
      <p:cxnSp>
        <p:nvCxnSpPr>
          <p:cNvPr id="24" name="Out link 2"/>
          <p:cNvCxnSpPr/>
          <p:nvPr/>
        </p:nvCxnSpPr>
        <p:spPr>
          <a:xfrm>
            <a:off x="13075919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ut part 2"/>
          <p:cNvSpPr/>
          <p:nvPr/>
        </p:nvSpPr>
        <p:spPr>
          <a:xfrm>
            <a:off x="1184148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</p:txBody>
      </p:sp>
      <p:cxnSp>
        <p:nvCxnSpPr>
          <p:cNvPr id="26" name="Out link 3"/>
          <p:cNvCxnSpPr/>
          <p:nvPr/>
        </p:nvCxnSpPr>
        <p:spPr>
          <a:xfrm>
            <a:off x="1577340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ut part 3"/>
          <p:cNvSpPr/>
          <p:nvPr/>
        </p:nvSpPr>
        <p:spPr>
          <a:xfrm>
            <a:off x="1453896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Analytics</a:t>
            </a:r>
          </a:p>
        </p:txBody>
      </p:sp>
      <p:sp>
        <p:nvSpPr>
          <p:cNvPr id="28" name="Mod note"/>
          <p:cNvSpPr txBox="1"/>
          <p:nvPr/>
        </p:nvSpPr>
        <p:spPr>
          <a:xfrm>
            <a:off x="9144000" y="65836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Add a product or partner without waiting on one vendor</a:t>
            </a:r>
          </a:p>
        </p:txBody>
      </p:sp>
      <p:sp>
        <p:nvSpPr>
          <p:cNvPr id="29" name="Core net 1"/>
          <p:cNvSpPr/>
          <p:nvPr/>
        </p:nvSpPr>
        <p:spPr>
          <a:xfrm>
            <a:off x="125730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ore net 1 text"/>
          <p:cNvSpPr txBox="1"/>
          <p:nvPr/>
        </p:nvSpPr>
        <p:spPr>
          <a:xfrm>
            <a:off x="151333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API traffic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of it over the internet</a:t>
            </a:r>
          </a:p>
        </p:txBody>
      </p:sp>
      <p:sp>
        <p:nvSpPr>
          <p:cNvPr id="31" name="Core net 2"/>
          <p:cNvSpPr/>
          <p:nvPr/>
        </p:nvSpPr>
        <p:spPr>
          <a:xfrm>
            <a:off x="528065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ore net 2 text"/>
          <p:cNvSpPr txBox="1"/>
          <p:nvPr/>
        </p:nvSpPr>
        <p:spPr>
          <a:xfrm>
            <a:off x="553669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parties in the path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one a vendor to manage</a:t>
            </a:r>
          </a:p>
        </p:txBody>
      </p:sp>
      <p:sp>
        <p:nvSpPr>
          <p:cNvPr id="33" name="Core net 3"/>
          <p:cNvSpPr/>
          <p:nvPr/>
        </p:nvSpPr>
        <p:spPr>
          <a:xfrm>
            <a:off x="930401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re net 3 text"/>
          <p:cNvSpPr txBox="1"/>
          <p:nvPr/>
        </p:nvSpPr>
        <p:spPr>
          <a:xfrm>
            <a:off x="956005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Keys and tokens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credentials to protect</a:t>
            </a:r>
          </a:p>
        </p:txBody>
      </p:sp>
      <p:sp>
        <p:nvSpPr>
          <p:cNvPr id="35" name="Core net 4"/>
          <p:cNvSpPr/>
          <p:nvPr/>
        </p:nvSpPr>
        <p:spPr>
          <a:xfrm>
            <a:off x="1332738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re net 4 text"/>
          <p:cNvSpPr txBox="1"/>
          <p:nvPr/>
        </p:nvSpPr>
        <p:spPr>
          <a:xfrm>
            <a:off x="1358341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ledger is official?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Remember Synapse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Open Banking and the API Economy: The Network View</a:t>
            </a:r>
          </a:p>
        </p:txBody>
      </p:sp>
      <p:sp>
        <p:nvSpPr>
          <p:cNvPr id="3" name="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Screen scraping</a:t>
            </a:r>
          </a:p>
        </p:txBody>
      </p:sp>
      <p:sp>
        <p:nvSpPr>
          <p:cNvPr id="4" name="Old panel"/>
          <p:cNvSpPr/>
          <p:nvPr/>
        </p:nvSpPr>
        <p:spPr>
          <a:xfrm>
            <a:off x="1257300" y="3246120"/>
            <a:ext cx="7680960" cy="30175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Old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3080" y="3794759"/>
            <a:ext cx="822960" cy="822960"/>
          </a:xfrm>
          <a:prstGeom prst="rect">
            <a:avLst/>
          </a:prstGeom>
        </p:spPr>
      </p:pic>
      <p:pic>
        <p:nvPicPr>
          <p:cNvPr id="6" name="Old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0580" y="3771900"/>
            <a:ext cx="868680" cy="868680"/>
          </a:xfrm>
          <a:prstGeom prst="rect">
            <a:avLst/>
          </a:prstGeom>
        </p:spPr>
      </p:pic>
      <p:pic>
        <p:nvPicPr>
          <p:cNvPr id="7" name="Old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20940" y="3771900"/>
            <a:ext cx="868680" cy="868680"/>
          </a:xfrm>
          <a:prstGeom prst="rect">
            <a:avLst/>
          </a:prstGeom>
        </p:spPr>
      </p:pic>
      <p:cxnSp>
        <p:nvCxnSpPr>
          <p:cNvPr id="8" name="Old a1"/>
          <p:cNvCxnSpPr/>
          <p:nvPr/>
        </p:nvCxnSpPr>
        <p:spPr>
          <a:xfrm>
            <a:off x="2697480" y="4206240"/>
            <a:ext cx="1828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Old a2"/>
          <p:cNvCxnSpPr/>
          <p:nvPr/>
        </p:nvCxnSpPr>
        <p:spPr>
          <a:xfrm>
            <a:off x="5623560" y="4206240"/>
            <a:ext cx="178308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ld l1"/>
          <p:cNvSpPr txBox="1"/>
          <p:nvPr/>
        </p:nvSpPr>
        <p:spPr>
          <a:xfrm>
            <a:off x="237744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password</a:t>
            </a:r>
          </a:p>
        </p:txBody>
      </p:sp>
      <p:sp>
        <p:nvSpPr>
          <p:cNvPr id="11" name="Old l2"/>
          <p:cNvSpPr txBox="1"/>
          <p:nvPr/>
        </p:nvSpPr>
        <p:spPr>
          <a:xfrm>
            <a:off x="534924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logs in as you</a:t>
            </a:r>
          </a:p>
        </p:txBody>
      </p:sp>
      <p:sp>
        <p:nvSpPr>
          <p:cNvPr id="12" name="Old body"/>
          <p:cNvSpPr txBox="1"/>
          <p:nvPr/>
        </p:nvSpPr>
        <p:spPr>
          <a:xfrm>
            <a:off x="155448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 holds the customer's password. The bank can't tell the app from the customer.</a:t>
            </a:r>
          </a:p>
        </p:txBody>
      </p:sp>
      <p:sp>
        <p:nvSpPr>
          <p:cNvPr id="13" name="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with a token</a:t>
            </a:r>
          </a:p>
        </p:txBody>
      </p:sp>
      <p:sp>
        <p:nvSpPr>
          <p:cNvPr id="14" name="New panel"/>
          <p:cNvSpPr/>
          <p:nvPr/>
        </p:nvSpPr>
        <p:spPr>
          <a:xfrm>
            <a:off x="9349740" y="3246120"/>
            <a:ext cx="7680960" cy="30175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New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0" y="3794759"/>
            <a:ext cx="822960" cy="822960"/>
          </a:xfrm>
          <a:prstGeom prst="rect">
            <a:avLst/>
          </a:prstGeom>
        </p:spPr>
      </p:pic>
      <p:pic>
        <p:nvPicPr>
          <p:cNvPr id="16" name="New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733020" y="3771900"/>
            <a:ext cx="868680" cy="868680"/>
          </a:xfrm>
          <a:prstGeom prst="rect">
            <a:avLst/>
          </a:prstGeom>
        </p:spPr>
      </p:pic>
      <p:pic>
        <p:nvPicPr>
          <p:cNvPr id="17" name="New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13380" y="3771900"/>
            <a:ext cx="868680" cy="868680"/>
          </a:xfrm>
          <a:prstGeom prst="rect">
            <a:avLst/>
          </a:prstGeom>
        </p:spPr>
      </p:pic>
      <p:cxnSp>
        <p:nvCxnSpPr>
          <p:cNvPr id="18" name="New a1"/>
          <p:cNvCxnSpPr/>
          <p:nvPr/>
        </p:nvCxnSpPr>
        <p:spPr>
          <a:xfrm>
            <a:off x="10789920" y="4206240"/>
            <a:ext cx="182880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New a2"/>
          <p:cNvCxnSpPr/>
          <p:nvPr/>
        </p:nvCxnSpPr>
        <p:spPr>
          <a:xfrm>
            <a:off x="13716000" y="4206240"/>
            <a:ext cx="178308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ew l1"/>
          <p:cNvSpPr txBox="1"/>
          <p:nvPr/>
        </p:nvSpPr>
        <p:spPr>
          <a:xfrm>
            <a:off x="1046988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approves</a:t>
            </a:r>
          </a:p>
        </p:txBody>
      </p:sp>
      <p:sp>
        <p:nvSpPr>
          <p:cNvPr id="21" name="New l2"/>
          <p:cNvSpPr txBox="1"/>
          <p:nvPr/>
        </p:nvSpPr>
        <p:spPr>
          <a:xfrm>
            <a:off x="1344168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+ token</a:t>
            </a:r>
          </a:p>
        </p:txBody>
      </p:sp>
      <p:sp>
        <p:nvSpPr>
          <p:cNvPr id="22" name="New body"/>
          <p:cNvSpPr txBox="1"/>
          <p:nvPr/>
        </p:nvSpPr>
        <p:spPr>
          <a:xfrm>
            <a:off x="964692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limited token instead of the password. The bank sees who's calling and can revoke it.</a:t>
            </a:r>
          </a:p>
        </p:txBody>
      </p:sp>
      <p:sp>
        <p:nvSpPr>
          <p:cNvPr id="23" name="Rule panel"/>
          <p:cNvSpPr/>
          <p:nvPr/>
        </p:nvSpPr>
        <p:spPr>
          <a:xfrm>
            <a:off x="1257300" y="6583680"/>
            <a:ext cx="768096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Rule text"/>
          <p:cNvSpPr txBox="1"/>
          <p:nvPr/>
        </p:nvSpPr>
        <p:spPr>
          <a:xfrm>
            <a:off x="155448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CFPB Section 1033 rule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Finalized October 2024. Being rewritten since 2025; a court blocked enforcement in October 2025.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Deadlines effectively on hold. Check the news before class.</a:t>
            </a:r>
          </a:p>
        </p:txBody>
      </p:sp>
      <p:sp>
        <p:nvSpPr>
          <p:cNvPr id="25" name="Net panel"/>
          <p:cNvSpPr/>
          <p:nvPr/>
        </p:nvSpPr>
        <p:spPr>
          <a:xfrm>
            <a:off x="9349740" y="6583680"/>
            <a:ext cx="7680960" cy="27889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Net list"/>
          <p:cNvSpPr txBox="1"/>
          <p:nvPr/>
        </p:nvSpPr>
        <p:spPr>
          <a:xfrm>
            <a:off x="964692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Either way, the network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API gateway in front of the bank's data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Rate limits and monitoring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answer to who is calling</a:t>
            </a:r>
          </a:p>
        </p:txBody>
      </p:sp>
      <p:sp>
        <p:nvSpPr>
          <p:cNvPr id="2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CFPB Personal Financial Data Rights rule (Oct 2024); Open Banking Tracker, Section 1033 status (June 2026)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Core Processing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Core Processing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 Indicate whether core applications are outsourced or hosted in-house. (Each: Outsourced or In-House)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Investments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Trust</a:t>
            </a:r>
          </a:p>
        </p:txBody>
      </p:sp>
      <p:sp>
        <p:nvSpPr>
          <p:cNvPr id="18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0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critical business processes that are dependent on external connectivity have been identified.</a:t>
            </a:r>
          </a:p>
        </p:txBody>
      </p:sp>
      <p:sp>
        <p:nvSpPr>
          <p:cNvPr id="21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</a:t>
            </a:r>
          </a:p>
        </p:txBody>
      </p:sp>
      <p:sp>
        <p:nvSpPr>
          <p:cNvPr id="22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circuit to the core went down at 10 a.m.?</a:t>
            </a:r>
          </a:p>
        </p:txBody>
      </p:sp>
      <p:sp>
        <p:nvSpPr>
          <p:cNvPr id="23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1 leads</a:t>
            </a:r>
          </a:p>
        </p:txBody>
      </p:sp>
      <p:sp>
        <p:nvSpPr>
          <p:cNvPr id="24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management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diligence, contracts and monitoring of the core processor</a:t>
            </a:r>
          </a:p>
        </p:txBody>
      </p:sp>
      <p:sp>
        <p:nvSpPr>
          <p:cNvPr id="26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path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circuit to the processor, and its backup</a:t>
            </a:r>
          </a:p>
        </p:txBody>
      </p:sp>
      <p:sp>
        <p:nvSpPr>
          <p:cNvPr id="28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branches do when the core is unreachable</a:t>
            </a:r>
          </a:p>
        </p:txBody>
      </p:sp>
      <p:sp>
        <p:nvSpPr>
          <p:cNvPr id="30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flow diagrams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information flow to external parties is documented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module (September 2023 version)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20: </a:t>
            </a:r>
            <a:br>
              <a:rPr lang="en-US" dirty="0"/>
            </a:br>
            <a:r>
              <a:rPr dirty="0"/>
              <a:t>SaaS and Business Applications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Microsoft 365: Email, Files, and Identity in the Cloud</a:t>
            </a:r>
          </a:p>
        </p:txBody>
      </p:sp>
      <p:sp>
        <p:nvSpPr>
          <p:cNvPr id="3" name="M365 cloud panel"/>
          <p:cNvSpPr/>
          <p:nvPr/>
        </p:nvSpPr>
        <p:spPr>
          <a:xfrm>
            <a:off x="5669280" y="2697480"/>
            <a:ext cx="694944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M365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5040" y="2880360"/>
            <a:ext cx="731520" cy="731520"/>
          </a:xfrm>
          <a:prstGeom prst="rect">
            <a:avLst/>
          </a:prstGeom>
        </p:spPr>
      </p:pic>
      <p:sp>
        <p:nvSpPr>
          <p:cNvPr id="5" name="M365 head"/>
          <p:cNvSpPr txBox="1"/>
          <p:nvPr/>
        </p:nvSpPr>
        <p:spPr>
          <a:xfrm>
            <a:off x="6949440" y="292608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</p:txBody>
      </p:sp>
      <p:sp>
        <p:nvSpPr>
          <p:cNvPr id="6" name="M365 part 1"/>
          <p:cNvSpPr/>
          <p:nvPr/>
        </p:nvSpPr>
        <p:spPr>
          <a:xfrm>
            <a:off x="594360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M365 part 1 text"/>
          <p:cNvSpPr txBox="1"/>
          <p:nvPr/>
        </p:nvSpPr>
        <p:spPr>
          <a:xfrm>
            <a:off x="603504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Exchange Online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8" name="M365 part 2"/>
          <p:cNvSpPr/>
          <p:nvPr/>
        </p:nvSpPr>
        <p:spPr>
          <a:xfrm>
            <a:off x="813816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M365 part 2 text"/>
          <p:cNvSpPr txBox="1"/>
          <p:nvPr/>
        </p:nvSpPr>
        <p:spPr>
          <a:xfrm>
            <a:off x="822960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SharePoint and OneDrive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files</a:t>
            </a:r>
          </a:p>
        </p:txBody>
      </p:sp>
      <p:sp>
        <p:nvSpPr>
          <p:cNvPr id="10" name="M365 part 3"/>
          <p:cNvSpPr/>
          <p:nvPr/>
        </p:nvSpPr>
        <p:spPr>
          <a:xfrm>
            <a:off x="1033272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M365 part 3 text"/>
          <p:cNvSpPr txBox="1"/>
          <p:nvPr/>
        </p:nvSpPr>
        <p:spPr>
          <a:xfrm>
            <a:off x="1042416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Teams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chat, meetings, calls</a:t>
            </a:r>
          </a:p>
        </p:txBody>
      </p:sp>
      <p:sp>
        <p:nvSpPr>
          <p:cNvPr id="12" name="Entra"/>
          <p:cNvSpPr/>
          <p:nvPr/>
        </p:nvSpPr>
        <p:spPr>
          <a:xfrm>
            <a:off x="5943600" y="5349240"/>
            <a:ext cx="6400800" cy="12801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Entra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5669280"/>
            <a:ext cx="640080" cy="640080"/>
          </a:xfrm>
          <a:prstGeom prst="rect">
            <a:avLst/>
          </a:prstGeom>
        </p:spPr>
      </p:pic>
      <p:sp>
        <p:nvSpPr>
          <p:cNvPr id="14" name="Entra text"/>
          <p:cNvSpPr txBox="1"/>
          <p:nvPr/>
        </p:nvSpPr>
        <p:spPr>
          <a:xfrm>
            <a:off x="7086600" y="539496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Entra ID: identity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login for all of it, and often other SaaS apps too</a:t>
            </a:r>
          </a:p>
        </p:txBody>
      </p:sp>
      <p:pic>
        <p:nvPicPr>
          <p:cNvPr id="15" name="User 1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3040" y="3108960"/>
            <a:ext cx="731520" cy="731520"/>
          </a:xfrm>
          <a:prstGeom prst="rect">
            <a:avLst/>
          </a:prstGeom>
        </p:spPr>
      </p:pic>
      <p:sp>
        <p:nvSpPr>
          <p:cNvPr id="16" name="User 1 text"/>
          <p:cNvSpPr txBox="1"/>
          <p:nvPr/>
        </p:nvSpPr>
        <p:spPr>
          <a:xfrm>
            <a:off x="2377440" y="32004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7" name="User 1 arrow"/>
          <p:cNvCxnSpPr/>
          <p:nvPr/>
        </p:nvCxnSpPr>
        <p:spPr>
          <a:xfrm>
            <a:off x="4023360" y="3474720"/>
            <a:ext cx="1600200" cy="13258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User 2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63040" y="4297680"/>
            <a:ext cx="731520" cy="731520"/>
          </a:xfrm>
          <a:prstGeom prst="rect">
            <a:avLst/>
          </a:prstGeom>
        </p:spPr>
      </p:pic>
      <p:sp>
        <p:nvSpPr>
          <p:cNvPr id="19" name="User 2 text"/>
          <p:cNvSpPr txBox="1"/>
          <p:nvPr/>
        </p:nvSpPr>
        <p:spPr>
          <a:xfrm>
            <a:off x="2377440" y="43891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 office</a:t>
            </a:r>
          </a:p>
        </p:txBody>
      </p:sp>
      <p:cxnSp>
        <p:nvCxnSpPr>
          <p:cNvPr id="20" name="User 2 arrow"/>
          <p:cNvCxnSpPr/>
          <p:nvPr/>
        </p:nvCxnSpPr>
        <p:spPr>
          <a:xfrm>
            <a:off x="4023360" y="4663440"/>
            <a:ext cx="1600200" cy="1371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User 3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63040" y="5486400"/>
            <a:ext cx="731520" cy="731520"/>
          </a:xfrm>
          <a:prstGeom prst="rect">
            <a:avLst/>
          </a:prstGeom>
        </p:spPr>
      </p:pic>
      <p:sp>
        <p:nvSpPr>
          <p:cNvPr id="22" name="User 3 text"/>
          <p:cNvSpPr txBox="1"/>
          <p:nvPr/>
        </p:nvSpPr>
        <p:spPr>
          <a:xfrm>
            <a:off x="2377440" y="55778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Anywhere</a:t>
            </a:r>
          </a:p>
        </p:txBody>
      </p:sp>
      <p:cxnSp>
        <p:nvCxnSpPr>
          <p:cNvPr id="23" name="User 3 arrow"/>
          <p:cNvCxnSpPr/>
          <p:nvPr/>
        </p:nvCxnSpPr>
        <p:spPr>
          <a:xfrm flipV="1">
            <a:off x="4023360" y="4800600"/>
            <a:ext cx="160020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Users note"/>
          <p:cNvSpPr txBox="1"/>
          <p:nvPr/>
        </p:nvSpPr>
        <p:spPr>
          <a:xfrm>
            <a:off x="1257300" y="640080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internet, from anywhere</a:t>
            </a:r>
          </a:p>
        </p:txBody>
      </p:sp>
      <p:sp>
        <p:nvSpPr>
          <p:cNvPr id="25" name="Perimeter panel"/>
          <p:cNvSpPr/>
          <p:nvPr/>
        </p:nvSpPr>
        <p:spPr>
          <a:xfrm>
            <a:off x="12984480" y="2697480"/>
            <a:ext cx="4046220" cy="42062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Perimeter text"/>
          <p:cNvSpPr txBox="1"/>
          <p:nvPr/>
        </p:nvSpPr>
        <p:spPr>
          <a:xfrm>
            <a:off x="13258800" y="2880360"/>
            <a:ext cx="35204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Identity is the new perimeter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stolen password without MFA opens email, files and more, from anywhere, without touching the bank's firewall.</a:t>
            </a:r>
          </a:p>
        </p:txBody>
      </p:sp>
      <p:sp>
        <p:nvSpPr>
          <p:cNvPr id="27" name="M365 ask 1"/>
          <p:cNvSpPr/>
          <p:nvPr/>
        </p:nvSpPr>
        <p:spPr>
          <a:xfrm>
            <a:off x="125730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M365 ask 1 text"/>
          <p:cNvSpPr txBox="1"/>
          <p:nvPr/>
        </p:nvSpPr>
        <p:spPr>
          <a:xfrm>
            <a:off x="151333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and conditional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from what device, from where</a:t>
            </a:r>
          </a:p>
        </p:txBody>
      </p:sp>
      <p:sp>
        <p:nvSpPr>
          <p:cNvPr id="29" name="M365 ask 2"/>
          <p:cNvSpPr/>
          <p:nvPr/>
        </p:nvSpPr>
        <p:spPr>
          <a:xfrm>
            <a:off x="528065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365 ask 2 text"/>
          <p:cNvSpPr txBox="1"/>
          <p:nvPr/>
        </p:nvSpPr>
        <p:spPr>
          <a:xfrm>
            <a:off x="553669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Tenant configuration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side of shared responsibility</a:t>
            </a:r>
          </a:p>
        </p:txBody>
      </p:sp>
      <p:sp>
        <p:nvSpPr>
          <p:cNvPr id="31" name="M365 ask 3"/>
          <p:cNvSpPr/>
          <p:nvPr/>
        </p:nvSpPr>
        <p:spPr>
          <a:xfrm>
            <a:off x="930401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365 ask 3 text"/>
          <p:cNvSpPr txBox="1"/>
          <p:nvPr/>
        </p:nvSpPr>
        <p:spPr>
          <a:xfrm>
            <a:off x="956005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email, files or Teams: what's the plan?</a:t>
            </a:r>
          </a:p>
        </p:txBody>
      </p:sp>
      <p:sp>
        <p:nvSpPr>
          <p:cNvPr id="33" name="M365 ask 4"/>
          <p:cNvSpPr/>
          <p:nvPr/>
        </p:nvSpPr>
        <p:spPr>
          <a:xfrm>
            <a:off x="1332738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365 ask 4 text"/>
          <p:cNvSpPr txBox="1"/>
          <p:nvPr/>
        </p:nvSpPr>
        <p:spPr>
          <a:xfrm>
            <a:off x="1358341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Retention isn't backup; many banks add a third-party backup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3179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Email Services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xfrm>
            <a:off x="11972925" y="9534527"/>
            <a:ext cx="30861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193</a:t>
            </a:fld>
            <a:endParaRPr lang="en-US"/>
          </a:p>
        </p:txBody>
      </p:sp>
      <p:pic>
        <p:nvPicPr>
          <p:cNvPr id="1679363" name="Picture 3" descr="MCj00787290000[1]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0" y="1902620"/>
            <a:ext cx="8277225" cy="6224588"/>
          </a:xfrm>
          <a:prstGeom prst="rect">
            <a:avLst/>
          </a:prstGeom>
          <a:noFill/>
        </p:spPr>
      </p:pic>
      <p:sp>
        <p:nvSpPr>
          <p:cNvPr id="1679364" name="Text Box 4"/>
          <p:cNvSpPr txBox="1">
            <a:spLocks noChangeArrowheads="1"/>
          </p:cNvSpPr>
          <p:nvPr/>
        </p:nvSpPr>
        <p:spPr bwMode="auto">
          <a:xfrm>
            <a:off x="4743450" y="8977313"/>
            <a:ext cx="6945556" cy="83099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800">
                <a:solidFill>
                  <a:srgbClr val="CC0000"/>
                </a:solidFill>
              </a:rPr>
              <a:t>Your_Name</a:t>
            </a:r>
            <a:r>
              <a:rPr lang="en-US" sz="4800"/>
              <a:t>@</a:t>
            </a:r>
            <a:r>
              <a:rPr lang="en-US" sz="4800">
                <a:solidFill>
                  <a:schemeClr val="accent2"/>
                </a:solidFill>
              </a:rPr>
              <a:t>aDomain.TLD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9551194" y="7703343"/>
            <a:ext cx="2543175" cy="1078706"/>
            <a:chOff x="2763" y="3091"/>
            <a:chExt cx="1068" cy="453"/>
          </a:xfrm>
        </p:grpSpPr>
        <p:sp>
          <p:nvSpPr>
            <p:cNvPr id="1679366" name="AutoShape 6"/>
            <p:cNvSpPr>
              <a:spLocks/>
            </p:cNvSpPr>
            <p:nvPr/>
          </p:nvSpPr>
          <p:spPr bwMode="auto">
            <a:xfrm rot="15042902" flipV="1">
              <a:off x="3607" y="3067"/>
              <a:ext cx="200" cy="248"/>
            </a:xfrm>
            <a:prstGeom prst="leftBrace">
              <a:avLst>
                <a:gd name="adj1" fmla="val 47000"/>
                <a:gd name="adj2" fmla="val 50000"/>
              </a:avLst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67" name="Freeform 7"/>
            <p:cNvSpPr>
              <a:spLocks/>
            </p:cNvSpPr>
            <p:nvPr/>
          </p:nvSpPr>
          <p:spPr bwMode="auto">
            <a:xfrm>
              <a:off x="2763" y="3331"/>
              <a:ext cx="78" cy="213"/>
            </a:xfrm>
            <a:custGeom>
              <a:avLst/>
              <a:gdLst/>
              <a:ahLst/>
              <a:cxnLst>
                <a:cxn ang="0">
                  <a:pos x="997" y="0"/>
                </a:cxn>
                <a:cxn ang="0">
                  <a:pos x="934" y="195"/>
                </a:cxn>
                <a:cxn ang="0">
                  <a:pos x="140" y="109"/>
                </a:cxn>
                <a:cxn ang="0">
                  <a:pos x="94" y="304"/>
                </a:cxn>
              </a:cxnLst>
              <a:rect l="0" t="0" r="r" b="b"/>
              <a:pathLst>
                <a:path w="1077" h="304">
                  <a:moveTo>
                    <a:pt x="997" y="0"/>
                  </a:moveTo>
                  <a:cubicBezTo>
                    <a:pt x="1037" y="88"/>
                    <a:pt x="1077" y="177"/>
                    <a:pt x="934" y="195"/>
                  </a:cubicBezTo>
                  <a:cubicBezTo>
                    <a:pt x="791" y="213"/>
                    <a:pt x="280" y="91"/>
                    <a:pt x="140" y="109"/>
                  </a:cubicBezTo>
                  <a:cubicBezTo>
                    <a:pt x="0" y="127"/>
                    <a:pt x="47" y="215"/>
                    <a:pt x="94" y="304"/>
                  </a:cubicBezTo>
                </a:path>
              </a:pathLst>
            </a:cu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5972175" y="4748212"/>
            <a:ext cx="3069432" cy="1366837"/>
            <a:chOff x="1260" y="1850"/>
            <a:chExt cx="1289" cy="574"/>
          </a:xfrm>
        </p:grpSpPr>
        <p:sp>
          <p:nvSpPr>
            <p:cNvPr id="1679369" name="Oval 9"/>
            <p:cNvSpPr>
              <a:spLocks noChangeArrowheads="1"/>
            </p:cNvSpPr>
            <p:nvPr/>
          </p:nvSpPr>
          <p:spPr bwMode="auto">
            <a:xfrm rot="1396737">
              <a:off x="2440" y="1850"/>
              <a:ext cx="109" cy="300"/>
            </a:xfrm>
            <a:prstGeom prst="ellipse">
              <a:avLst/>
            </a:prstGeom>
            <a:noFill/>
            <a:ln w="38100" algn="ctr">
              <a:solidFill>
                <a:srgbClr val="CC0000"/>
              </a:solidFill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70" name="Freeform 10"/>
            <p:cNvSpPr>
              <a:spLocks/>
            </p:cNvSpPr>
            <p:nvPr/>
          </p:nvSpPr>
          <p:spPr bwMode="auto">
            <a:xfrm>
              <a:off x="1260" y="2211"/>
              <a:ext cx="78" cy="213"/>
            </a:xfrm>
            <a:custGeom>
              <a:avLst/>
              <a:gdLst/>
              <a:ahLst/>
              <a:cxnLst>
                <a:cxn ang="0">
                  <a:pos x="1246" y="0"/>
                </a:cxn>
                <a:cxn ang="0">
                  <a:pos x="1005" y="1035"/>
                </a:cxn>
                <a:cxn ang="0">
                  <a:pos x="149" y="1120"/>
                </a:cxn>
                <a:cxn ang="0">
                  <a:pos x="110" y="1424"/>
                </a:cxn>
              </a:cxnLst>
              <a:rect l="0" t="0" r="r" b="b"/>
              <a:pathLst>
                <a:path w="1246" h="1424">
                  <a:moveTo>
                    <a:pt x="1246" y="0"/>
                  </a:moveTo>
                  <a:cubicBezTo>
                    <a:pt x="1217" y="424"/>
                    <a:pt x="1188" y="848"/>
                    <a:pt x="1005" y="1035"/>
                  </a:cubicBezTo>
                  <a:cubicBezTo>
                    <a:pt x="822" y="1222"/>
                    <a:pt x="298" y="1055"/>
                    <a:pt x="149" y="1120"/>
                  </a:cubicBezTo>
                  <a:cubicBezTo>
                    <a:pt x="0" y="1185"/>
                    <a:pt x="55" y="1304"/>
                    <a:pt x="110" y="1424"/>
                  </a:cubicBezTo>
                </a:path>
              </a:pathLst>
            </a:custGeom>
            <a:noFill/>
            <a:ln w="38100" cap="flat" cmpd="sng">
              <a:solidFill>
                <a:srgbClr val="CC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sp>
        <p:nvSpPr>
          <p:cNvPr id="1679371" name="Line 11"/>
          <p:cNvSpPr>
            <a:spLocks noChangeShapeType="1"/>
          </p:cNvSpPr>
          <p:nvPr/>
        </p:nvSpPr>
        <p:spPr bwMode="auto">
          <a:xfrm>
            <a:off x="4836320" y="9029700"/>
            <a:ext cx="2671763" cy="0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endParaRPr lang="en-US" sz="2700"/>
          </a:p>
        </p:txBody>
      </p:sp>
      <p:sp>
        <p:nvSpPr>
          <p:cNvPr id="1679372" name="Line 12"/>
          <p:cNvSpPr>
            <a:spLocks noChangeShapeType="1"/>
          </p:cNvSpPr>
          <p:nvPr/>
        </p:nvSpPr>
        <p:spPr bwMode="auto">
          <a:xfrm>
            <a:off x="8174833" y="9010650"/>
            <a:ext cx="3059906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618267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944016"/>
            <a:ext cx="18288000" cy="5342984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3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9A3B4ED1-FD16-1D4E-AF19-2B492AEA7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298" y="1681014"/>
            <a:ext cx="10532270" cy="3462486"/>
          </a:xfrm>
        </p:spPr>
        <p:txBody>
          <a:bodyPr>
            <a:normAutofit/>
          </a:bodyPr>
          <a:lstStyle/>
          <a:p>
            <a:pPr algn="l"/>
            <a:r>
              <a:rPr lang="en-US" sz="10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Let me ask you…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C79960F-3A4B-EC4E-825C-7D94F0C53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2536" y="5714998"/>
            <a:ext cx="14547445" cy="1519167"/>
          </a:xfrm>
        </p:spPr>
        <p:txBody>
          <a:bodyPr>
            <a:normAutofit/>
          </a:bodyPr>
          <a:lstStyle/>
          <a:p>
            <a:pPr algn="l"/>
            <a:r>
              <a:rPr lang="en-US" sz="33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Google Gmail an email service, a WWW service or something else?</a:t>
            </a:r>
          </a:p>
          <a:p>
            <a:pPr algn="l"/>
            <a:endParaRPr lang="en-US" sz="33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32478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Mail Transfer Protocol</a:t>
            </a:r>
          </a:p>
        </p:txBody>
      </p:sp>
      <p:sp>
        <p:nvSpPr>
          <p:cNvPr id="1681411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4242193"/>
            <a:ext cx="15773400" cy="598765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endParaRPr lang="en-US"/>
          </a:p>
          <a:p>
            <a:pPr>
              <a:lnSpc>
                <a:spcPct val="90000"/>
              </a:lnSpc>
            </a:pPr>
            <a:r>
              <a:rPr lang="en-US" sz="3900"/>
              <a:t>Client/server model</a:t>
            </a:r>
          </a:p>
          <a:p>
            <a:pPr>
              <a:lnSpc>
                <a:spcPct val="90000"/>
              </a:lnSpc>
            </a:pPr>
            <a:r>
              <a:rPr lang="en-US" sz="3900"/>
              <a:t>Simple, text-based command language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Identify sender and receiver(s), transmit message, and provide confirmation</a:t>
            </a:r>
          </a:p>
          <a:p>
            <a:pPr>
              <a:lnSpc>
                <a:spcPct val="90000"/>
              </a:lnSpc>
            </a:pPr>
            <a:r>
              <a:rPr lang="en-US" sz="3900"/>
              <a:t>Developed to transport simple text notes only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Extended using MIME to include attachments</a:t>
            </a:r>
          </a:p>
          <a:p>
            <a:pPr>
              <a:lnSpc>
                <a:spcPct val="90000"/>
              </a:lnSpc>
            </a:pPr>
            <a:r>
              <a:rPr lang="en-US" sz="3900"/>
              <a:t>Requires retrieval protocols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Post Office Protocol v3 (POP3)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Internet Message Access Protocol (IMAP)</a:t>
            </a:r>
          </a:p>
          <a:p>
            <a:pPr lvl="1">
              <a:lnSpc>
                <a:spcPct val="90000"/>
              </a:lnSpc>
            </a:pPr>
            <a:r>
              <a:rPr lang="en-US" sz="3500" err="1"/>
              <a:t>HyperText</a:t>
            </a:r>
            <a:r>
              <a:rPr lang="en-US" sz="3500"/>
              <a:t> Transfer Protocol (HTTP) for web-based access</a:t>
            </a: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195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AC2269-41E0-90F7-C193-ABB4EDB958E9}"/>
              </a:ext>
            </a:extLst>
          </p:cNvPr>
          <p:cNvGrpSpPr/>
          <p:nvPr/>
        </p:nvGrpSpPr>
        <p:grpSpPr>
          <a:xfrm>
            <a:off x="2857502" y="1899051"/>
            <a:ext cx="12863507" cy="2643185"/>
            <a:chOff x="2743202" y="2083596"/>
            <a:chExt cx="12863507" cy="2643185"/>
          </a:xfrm>
        </p:grpSpPr>
        <p:grpSp>
          <p:nvGrpSpPr>
            <p:cNvPr id="2" name="Group 4"/>
            <p:cNvGrpSpPr>
              <a:grpSpLocks/>
            </p:cNvGrpSpPr>
            <p:nvPr/>
          </p:nvGrpSpPr>
          <p:grpSpPr bwMode="auto">
            <a:xfrm>
              <a:off x="2743202" y="2290762"/>
              <a:ext cx="2119311" cy="2407444"/>
              <a:chOff x="102" y="1021"/>
              <a:chExt cx="890" cy="1011"/>
            </a:xfrm>
          </p:grpSpPr>
          <p:pic>
            <p:nvPicPr>
              <p:cNvPr id="1681413" name="Picture 5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02" y="1021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4" name="Text Box 6"/>
              <p:cNvSpPr txBox="1">
                <a:spLocks noChangeArrowheads="1"/>
              </p:cNvSpPr>
              <p:nvPr/>
            </p:nvSpPr>
            <p:spPr bwMode="auto">
              <a:xfrm>
                <a:off x="234" y="1631"/>
                <a:ext cx="651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Sending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Client</a:t>
                </a:r>
              </a:p>
            </p:txBody>
          </p:sp>
        </p:grp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13487398" y="2357436"/>
              <a:ext cx="2119311" cy="2369344"/>
              <a:chOff x="4614" y="1049"/>
              <a:chExt cx="890" cy="995"/>
            </a:xfrm>
          </p:grpSpPr>
          <p:pic>
            <p:nvPicPr>
              <p:cNvPr id="1681416" name="Picture 8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4614" y="1049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7" name="Text Box 9"/>
              <p:cNvSpPr txBox="1">
                <a:spLocks noChangeArrowheads="1"/>
              </p:cNvSpPr>
              <p:nvPr/>
            </p:nvSpPr>
            <p:spPr bwMode="auto">
              <a:xfrm>
                <a:off x="4717" y="1643"/>
                <a:ext cx="739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Intended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</a:t>
                </a:r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6500816" y="2197893"/>
              <a:ext cx="1628776" cy="2528888"/>
              <a:chOff x="1787" y="982"/>
              <a:chExt cx="684" cy="1062"/>
            </a:xfrm>
          </p:grpSpPr>
          <p:pic>
            <p:nvPicPr>
              <p:cNvPr id="1681419" name="Picture 11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841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0" name="Text Box 12"/>
              <p:cNvSpPr txBox="1">
                <a:spLocks noChangeArrowheads="1"/>
              </p:cNvSpPr>
              <p:nvPr/>
            </p:nvSpPr>
            <p:spPr bwMode="auto">
              <a:xfrm>
                <a:off x="1787" y="1643"/>
                <a:ext cx="684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Sender’s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9941724" y="2197893"/>
              <a:ext cx="2016919" cy="2528888"/>
              <a:chOff x="3160" y="982"/>
              <a:chExt cx="847" cy="1062"/>
            </a:xfrm>
          </p:grpSpPr>
          <p:pic>
            <p:nvPicPr>
              <p:cNvPr id="1681422" name="Picture 14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3257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3" name="Text Box 15"/>
              <p:cNvSpPr txBox="1">
                <a:spLocks noChangeArrowheads="1"/>
              </p:cNvSpPr>
              <p:nvPr/>
            </p:nvSpPr>
            <p:spPr bwMode="auto">
              <a:xfrm>
                <a:off x="3160" y="1643"/>
                <a:ext cx="847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6" name="Group 16"/>
            <p:cNvGrpSpPr>
              <a:grpSpLocks/>
            </p:cNvGrpSpPr>
            <p:nvPr/>
          </p:nvGrpSpPr>
          <p:grpSpPr bwMode="auto">
            <a:xfrm>
              <a:off x="4755358" y="2707481"/>
              <a:ext cx="1745456" cy="523874"/>
              <a:chOff x="934" y="1154"/>
              <a:chExt cx="733" cy="220"/>
            </a:xfrm>
          </p:grpSpPr>
          <p:sp>
            <p:nvSpPr>
              <p:cNvPr id="1681425" name="Text Box 17"/>
              <p:cNvSpPr txBox="1">
                <a:spLocks noChangeArrowheads="1"/>
              </p:cNvSpPr>
              <p:nvPr/>
            </p:nvSpPr>
            <p:spPr bwMode="auto">
              <a:xfrm>
                <a:off x="1118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6" name="Line 18"/>
              <p:cNvSpPr>
                <a:spLocks noChangeShapeType="1"/>
              </p:cNvSpPr>
              <p:nvPr/>
            </p:nvSpPr>
            <p:spPr bwMode="auto">
              <a:xfrm>
                <a:off x="934" y="1374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7" name="Group 19"/>
            <p:cNvGrpSpPr>
              <a:grpSpLocks/>
            </p:cNvGrpSpPr>
            <p:nvPr/>
          </p:nvGrpSpPr>
          <p:grpSpPr bwMode="auto">
            <a:xfrm>
              <a:off x="8229600" y="2664616"/>
              <a:ext cx="1745457" cy="566736"/>
              <a:chOff x="2373" y="1154"/>
              <a:chExt cx="733" cy="238"/>
            </a:xfrm>
          </p:grpSpPr>
          <p:sp>
            <p:nvSpPr>
              <p:cNvPr id="1681428" name="Text Box 20"/>
              <p:cNvSpPr txBox="1">
                <a:spLocks noChangeArrowheads="1"/>
              </p:cNvSpPr>
              <p:nvPr/>
            </p:nvSpPr>
            <p:spPr bwMode="auto">
              <a:xfrm>
                <a:off x="2557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9" name="Line 21"/>
              <p:cNvSpPr>
                <a:spLocks noChangeShapeType="1"/>
              </p:cNvSpPr>
              <p:nvPr/>
            </p:nvSpPr>
            <p:spPr bwMode="auto">
              <a:xfrm>
                <a:off x="2373" y="1392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8" name="Group 22"/>
            <p:cNvGrpSpPr>
              <a:grpSpLocks/>
            </p:cNvGrpSpPr>
            <p:nvPr/>
          </p:nvGrpSpPr>
          <p:grpSpPr bwMode="auto">
            <a:xfrm>
              <a:off x="11749090" y="2083596"/>
              <a:ext cx="1745458" cy="1147764"/>
              <a:chOff x="3818" y="981"/>
              <a:chExt cx="733" cy="482"/>
            </a:xfrm>
          </p:grpSpPr>
          <p:sp>
            <p:nvSpPr>
              <p:cNvPr id="1681431" name="Text Box 23"/>
              <p:cNvSpPr txBox="1">
                <a:spLocks noChangeArrowheads="1"/>
              </p:cNvSpPr>
              <p:nvPr/>
            </p:nvSpPr>
            <p:spPr bwMode="auto">
              <a:xfrm>
                <a:off x="3991" y="981"/>
                <a:ext cx="441" cy="36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POP3,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IMAP</a:t>
                </a:r>
              </a:p>
            </p:txBody>
          </p:sp>
          <p:sp>
            <p:nvSpPr>
              <p:cNvPr id="1681432" name="Line 24"/>
              <p:cNvSpPr>
                <a:spLocks noChangeShapeType="1"/>
              </p:cNvSpPr>
              <p:nvPr/>
            </p:nvSpPr>
            <p:spPr bwMode="auto">
              <a:xfrm flipH="1">
                <a:off x="3818" y="1463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97406422"/>
      </p:ext>
    </p:extLst>
  </p:cSld>
  <p:clrMapOvr>
    <a:masterClrMapping/>
  </p:clrMapOvr>
  <p:transition/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Internet and Mobile Banking: Usually Someone Else's Servers</a:t>
            </a:r>
          </a:p>
        </p:txBody>
      </p:sp>
      <p:sp>
        <p:nvSpPr>
          <p:cNvPr id="3" name="Dig 1"/>
          <p:cNvSpPr/>
          <p:nvPr/>
        </p:nvSpPr>
        <p:spPr>
          <a:xfrm>
            <a:off x="11887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ig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0240" y="3017520"/>
            <a:ext cx="914400" cy="914400"/>
          </a:xfrm>
          <a:prstGeom prst="rect">
            <a:avLst/>
          </a:prstGeom>
        </p:spPr>
      </p:pic>
      <p:sp>
        <p:nvSpPr>
          <p:cNvPr id="5" name="Dig 1 text"/>
          <p:cNvSpPr txBox="1"/>
          <p:nvPr/>
        </p:nvSpPr>
        <p:spPr>
          <a:xfrm>
            <a:off x="12801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Phone or browser</a:t>
            </a:r>
          </a:p>
        </p:txBody>
      </p:sp>
      <p:sp>
        <p:nvSpPr>
          <p:cNvPr id="6" name="Dig 2"/>
          <p:cNvSpPr/>
          <p:nvPr/>
        </p:nvSpPr>
        <p:spPr>
          <a:xfrm>
            <a:off x="475488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ig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0" y="3017520"/>
            <a:ext cx="914400" cy="914400"/>
          </a:xfrm>
          <a:prstGeom prst="rect">
            <a:avLst/>
          </a:prstGeom>
        </p:spPr>
      </p:pic>
      <p:sp>
        <p:nvSpPr>
          <p:cNvPr id="8" name="Dig 2 text"/>
          <p:cNvSpPr txBox="1"/>
          <p:nvPr/>
        </p:nvSpPr>
        <p:spPr>
          <a:xfrm>
            <a:off x="484632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sp>
        <p:nvSpPr>
          <p:cNvPr id="9" name="Dig 3"/>
          <p:cNvSpPr/>
          <p:nvPr/>
        </p:nvSpPr>
        <p:spPr>
          <a:xfrm>
            <a:off x="8412480" y="2743200"/>
            <a:ext cx="3291840" cy="251460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ig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01200" y="3017520"/>
            <a:ext cx="914400" cy="914400"/>
          </a:xfrm>
          <a:prstGeom prst="rect">
            <a:avLst/>
          </a:prstGeom>
        </p:spPr>
      </p:pic>
      <p:sp>
        <p:nvSpPr>
          <p:cNvPr id="11" name="Dig 3 text"/>
          <p:cNvSpPr txBox="1"/>
          <p:nvPr/>
        </p:nvSpPr>
        <p:spPr>
          <a:xfrm>
            <a:off x="8503919" y="40690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 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Vendor data center or public cloud</a:t>
            </a:r>
          </a:p>
        </p:txBody>
      </p:sp>
      <p:sp>
        <p:nvSpPr>
          <p:cNvPr id="12" name="Dig 4"/>
          <p:cNvSpPr/>
          <p:nvPr/>
        </p:nvSpPr>
        <p:spPr>
          <a:xfrm>
            <a:off x="135331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ig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64640" y="3017520"/>
            <a:ext cx="914400" cy="914400"/>
          </a:xfrm>
          <a:prstGeom prst="rect">
            <a:avLst/>
          </a:prstGeom>
        </p:spPr>
      </p:pic>
      <p:sp>
        <p:nvSpPr>
          <p:cNvPr id="14" name="Dig 4 text"/>
          <p:cNvSpPr txBox="1"/>
          <p:nvPr/>
        </p:nvSpPr>
        <p:spPr>
          <a:xfrm>
            <a:off x="136245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5" name="Dig arrow 1"/>
          <p:cNvCxnSpPr/>
          <p:nvPr/>
        </p:nvCxnSpPr>
        <p:spPr>
          <a:xfrm>
            <a:off x="3611880" y="3977639"/>
            <a:ext cx="109728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g arrow 2"/>
          <p:cNvCxnSpPr/>
          <p:nvPr/>
        </p:nvCxnSpPr>
        <p:spPr>
          <a:xfrm>
            <a:off x="7178040" y="3977639"/>
            <a:ext cx="118871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g arrow 3"/>
          <p:cNvCxnSpPr/>
          <p:nvPr/>
        </p:nvCxnSpPr>
        <p:spPr>
          <a:xfrm>
            <a:off x="11750040" y="3977639"/>
            <a:ext cx="173736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PN label"/>
          <p:cNvSpPr txBox="1"/>
          <p:nvPr/>
        </p:nvSpPr>
        <p:spPr>
          <a:xfrm>
            <a:off x="11750040" y="34290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VPN, circuit or API</a:t>
            </a:r>
          </a:p>
        </p:txBody>
      </p:sp>
      <p:pic>
        <p:nvPicPr>
          <p:cNvPr id="19" name="Bank asid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356080" y="5806440"/>
            <a:ext cx="731520" cy="731520"/>
          </a:xfrm>
          <a:prstGeom prst="rect">
            <a:avLst/>
          </a:prstGeom>
        </p:spPr>
      </p:pic>
      <p:sp>
        <p:nvSpPr>
          <p:cNvPr id="20" name="Bank aside text"/>
          <p:cNvSpPr txBox="1"/>
          <p:nvPr/>
        </p:nvSpPr>
        <p:spPr>
          <a:xfrm>
            <a:off x="12527280" y="662940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bank's own network: often not in the path</a:t>
            </a:r>
          </a:p>
        </p:txBody>
      </p:sp>
      <p:sp>
        <p:nvSpPr>
          <p:cNvPr id="21" name="ITP6 panel"/>
          <p:cNvSpPr/>
          <p:nvPr/>
        </p:nvSpPr>
        <p:spPr>
          <a:xfrm>
            <a:off x="1257300" y="5669280"/>
            <a:ext cx="10058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ITP6 text"/>
          <p:cNvSpPr txBox="1"/>
          <p:nvPr/>
        </p:nvSpPr>
        <p:spPr>
          <a:xfrm>
            <a:off x="1554480" y="5760720"/>
            <a:ext cx="9509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Profile question 6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and commercial internet banking, mobile banking, mobile deposit, remote deposit capture: outsourced or in-house? Expect “outsourced.”</a:t>
            </a:r>
          </a:p>
        </p:txBody>
      </p:sp>
      <p:sp>
        <p:nvSpPr>
          <p:cNvPr id="23" name="Dig ask 1"/>
          <p:cNvSpPr/>
          <p:nvPr/>
        </p:nvSpPr>
        <p:spPr>
          <a:xfrm>
            <a:off x="125730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Dig ask 1 text"/>
          <p:cNvSpPr txBox="1"/>
          <p:nvPr/>
        </p:nvSpPr>
        <p:spPr>
          <a:xfrm>
            <a:off x="151333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Front-door protection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handles DDoS and bot attacks?</a:t>
            </a:r>
          </a:p>
        </p:txBody>
      </p:sp>
      <p:sp>
        <p:nvSpPr>
          <p:cNvPr id="25" name="Dig ask 2"/>
          <p:cNvSpPr/>
          <p:nvPr/>
        </p:nvSpPr>
        <p:spPr>
          <a:xfrm>
            <a:off x="528065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ig ask 2 text"/>
          <p:cNvSpPr txBox="1"/>
          <p:nvPr/>
        </p:nvSpPr>
        <p:spPr>
          <a:xfrm>
            <a:off x="553669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authentication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MFA, device recognition, step-up for risky actions</a:t>
            </a:r>
          </a:p>
        </p:txBody>
      </p:sp>
      <p:sp>
        <p:nvSpPr>
          <p:cNvPr id="27" name="Dig ask 3"/>
          <p:cNvSpPr/>
          <p:nvPr/>
        </p:nvSpPr>
        <p:spPr>
          <a:xfrm>
            <a:off x="930401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Dig ask 3 text"/>
          <p:cNvSpPr txBox="1"/>
          <p:nvPr/>
        </p:nvSpPr>
        <p:spPr>
          <a:xfrm>
            <a:off x="956005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Always 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 expect 24x7; what does the SLA promise?</a:t>
            </a:r>
          </a:p>
        </p:txBody>
      </p:sp>
      <p:sp>
        <p:nvSpPr>
          <p:cNvPr id="29" name="Dig ask 4"/>
          <p:cNvSpPr/>
          <p:nvPr/>
        </p:nvSpPr>
        <p:spPr>
          <a:xfrm>
            <a:off x="1332738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Dig ask 4 text"/>
          <p:cNvSpPr txBox="1"/>
          <p:nvPr/>
        </p:nvSpPr>
        <p:spPr>
          <a:xfrm>
            <a:off x="1358341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Real or fake?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FDIC digital sign on the login page by April 1, 2027</a:t>
            </a:r>
          </a:p>
        </p:txBody>
      </p:sp>
      <p:sp>
        <p:nvSpPr>
          <p:cNvPr id="3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IT Profile Q6 (September 2023 version); FDIC final rule amending 12 CFR Part 328 (Federal Register, January 29, 2026)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CRM, HR, and the Rest of the SaaS Stack</a:t>
            </a:r>
          </a:p>
        </p:txBody>
      </p:sp>
      <p:sp>
        <p:nvSpPr>
          <p:cNvPr id="3" name="App 1"/>
          <p:cNvSpPr/>
          <p:nvPr/>
        </p:nvSpPr>
        <p:spPr>
          <a:xfrm>
            <a:off x="125730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pp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19" y="2971800"/>
            <a:ext cx="640080" cy="640080"/>
          </a:xfrm>
          <a:prstGeom prst="rect">
            <a:avLst/>
          </a:prstGeom>
        </p:spPr>
      </p:pic>
      <p:sp>
        <p:nvSpPr>
          <p:cNvPr id="5" name="App 1 head"/>
          <p:cNvSpPr txBox="1"/>
          <p:nvPr/>
        </p:nvSpPr>
        <p:spPr>
          <a:xfrm>
            <a:off x="230886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</a:t>
            </a:r>
          </a:p>
        </p:txBody>
      </p:sp>
      <p:sp>
        <p:nvSpPr>
          <p:cNvPr id="6" name="App 1 body"/>
          <p:cNvSpPr txBox="1"/>
          <p:nvPr/>
        </p:nvSpPr>
        <p:spPr>
          <a:xfrm>
            <a:off x="153162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contacts, sales pipeline</a:t>
            </a:r>
          </a:p>
        </p:txBody>
      </p:sp>
      <p:sp>
        <p:nvSpPr>
          <p:cNvPr id="7" name="App 2"/>
          <p:cNvSpPr/>
          <p:nvPr/>
        </p:nvSpPr>
        <p:spPr>
          <a:xfrm>
            <a:off x="528065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App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80" y="2971800"/>
            <a:ext cx="640080" cy="640080"/>
          </a:xfrm>
          <a:prstGeom prst="rect">
            <a:avLst/>
          </a:prstGeom>
        </p:spPr>
      </p:pic>
      <p:sp>
        <p:nvSpPr>
          <p:cNvPr id="9" name="App 2 head"/>
          <p:cNvSpPr txBox="1"/>
          <p:nvPr/>
        </p:nvSpPr>
        <p:spPr>
          <a:xfrm>
            <a:off x="6332219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HR and payroll</a:t>
            </a:r>
          </a:p>
        </p:txBody>
      </p:sp>
      <p:sp>
        <p:nvSpPr>
          <p:cNvPr id="10" name="App 2 body"/>
          <p:cNvSpPr txBox="1"/>
          <p:nvPr/>
        </p:nvSpPr>
        <p:spPr>
          <a:xfrm>
            <a:off x="5554979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Employee SSNs and bank accounts</a:t>
            </a:r>
          </a:p>
        </p:txBody>
      </p:sp>
      <p:sp>
        <p:nvSpPr>
          <p:cNvPr id="11" name="App 3"/>
          <p:cNvSpPr/>
          <p:nvPr/>
        </p:nvSpPr>
        <p:spPr>
          <a:xfrm>
            <a:off x="930401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App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2971800"/>
            <a:ext cx="640080" cy="640080"/>
          </a:xfrm>
          <a:prstGeom prst="rect">
            <a:avLst/>
          </a:prstGeom>
        </p:spPr>
      </p:pic>
      <p:sp>
        <p:nvSpPr>
          <p:cNvPr id="13" name="App 3 head"/>
          <p:cNvSpPr txBox="1"/>
          <p:nvPr/>
        </p:nvSpPr>
        <p:spPr>
          <a:xfrm>
            <a:off x="1035558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origination</a:t>
            </a:r>
          </a:p>
        </p:txBody>
      </p:sp>
      <p:sp>
        <p:nvSpPr>
          <p:cNvPr id="14" name="App 3 body"/>
          <p:cNvSpPr txBox="1"/>
          <p:nvPr/>
        </p:nvSpPr>
        <p:spPr>
          <a:xfrm>
            <a:off x="957834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Full credit files</a:t>
            </a:r>
          </a:p>
        </p:txBody>
      </p:sp>
      <p:sp>
        <p:nvSpPr>
          <p:cNvPr id="15" name="App 4"/>
          <p:cNvSpPr/>
          <p:nvPr/>
        </p:nvSpPr>
        <p:spPr>
          <a:xfrm>
            <a:off x="1332738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App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2971800"/>
            <a:ext cx="640080" cy="640080"/>
          </a:xfrm>
          <a:prstGeom prst="rect">
            <a:avLst/>
          </a:prstGeom>
        </p:spPr>
      </p:pic>
      <p:sp>
        <p:nvSpPr>
          <p:cNvPr id="17" name="App 4 head"/>
          <p:cNvSpPr txBox="1"/>
          <p:nvPr/>
        </p:nvSpPr>
        <p:spPr>
          <a:xfrm>
            <a:off x="1437894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18" name="App 4 body"/>
          <p:cNvSpPr txBox="1"/>
          <p:nvPr/>
        </p:nvSpPr>
        <p:spPr>
          <a:xfrm>
            <a:off x="1360170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Minutes, exam findings</a:t>
            </a:r>
          </a:p>
        </p:txBody>
      </p:sp>
      <p:sp>
        <p:nvSpPr>
          <p:cNvPr id="19" name="App 5"/>
          <p:cNvSpPr/>
          <p:nvPr/>
        </p:nvSpPr>
        <p:spPr>
          <a:xfrm>
            <a:off x="125730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App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19" y="5486400"/>
            <a:ext cx="640080" cy="640080"/>
          </a:xfrm>
          <a:prstGeom prst="rect">
            <a:avLst/>
          </a:prstGeom>
        </p:spPr>
      </p:pic>
      <p:sp>
        <p:nvSpPr>
          <p:cNvPr id="21" name="App 5 head"/>
          <p:cNvSpPr txBox="1"/>
          <p:nvPr/>
        </p:nvSpPr>
        <p:spPr>
          <a:xfrm>
            <a:off x="230886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22" name="App 5 body"/>
          <p:cNvSpPr txBox="1"/>
          <p:nvPr/>
        </p:nvSpPr>
        <p:spPr>
          <a:xfrm>
            <a:off x="153162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Signed loan and account documents</a:t>
            </a:r>
          </a:p>
        </p:txBody>
      </p:sp>
      <p:sp>
        <p:nvSpPr>
          <p:cNvPr id="23" name="App 6"/>
          <p:cNvSpPr/>
          <p:nvPr/>
        </p:nvSpPr>
        <p:spPr>
          <a:xfrm>
            <a:off x="528065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App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80" y="5486400"/>
            <a:ext cx="640080" cy="640080"/>
          </a:xfrm>
          <a:prstGeom prst="rect">
            <a:avLst/>
          </a:prstGeom>
        </p:spPr>
      </p:pic>
      <p:sp>
        <p:nvSpPr>
          <p:cNvPr id="25" name="App 6 head"/>
          <p:cNvSpPr txBox="1"/>
          <p:nvPr/>
        </p:nvSpPr>
        <p:spPr>
          <a:xfrm>
            <a:off x="6332219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Accounting and AP</a:t>
            </a:r>
          </a:p>
        </p:txBody>
      </p:sp>
      <p:sp>
        <p:nvSpPr>
          <p:cNvPr id="26" name="App 6 body"/>
          <p:cNvSpPr txBox="1"/>
          <p:nvPr/>
        </p:nvSpPr>
        <p:spPr>
          <a:xfrm>
            <a:off x="5554979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Vendor payments</a:t>
            </a:r>
          </a:p>
        </p:txBody>
      </p:sp>
      <p:sp>
        <p:nvSpPr>
          <p:cNvPr id="27" name="App 7"/>
          <p:cNvSpPr/>
          <p:nvPr/>
        </p:nvSpPr>
        <p:spPr>
          <a:xfrm>
            <a:off x="930401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8" name="App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486400"/>
            <a:ext cx="640080" cy="640080"/>
          </a:xfrm>
          <a:prstGeom prst="rect">
            <a:avLst/>
          </a:prstGeom>
        </p:spPr>
      </p:pic>
      <p:sp>
        <p:nvSpPr>
          <p:cNvPr id="29" name="App 7 head"/>
          <p:cNvSpPr txBox="1"/>
          <p:nvPr/>
        </p:nvSpPr>
        <p:spPr>
          <a:xfrm>
            <a:off x="1035558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Training</a:t>
            </a:r>
          </a:p>
        </p:txBody>
      </p:sp>
      <p:sp>
        <p:nvSpPr>
          <p:cNvPr id="30" name="App 7 body"/>
          <p:cNvSpPr txBox="1"/>
          <p:nvPr/>
        </p:nvSpPr>
        <p:spPr>
          <a:xfrm>
            <a:off x="957834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Staff records</a:t>
            </a:r>
          </a:p>
        </p:txBody>
      </p:sp>
      <p:sp>
        <p:nvSpPr>
          <p:cNvPr id="31" name="App 8"/>
          <p:cNvSpPr/>
          <p:nvPr/>
        </p:nvSpPr>
        <p:spPr>
          <a:xfrm>
            <a:off x="1332738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2" name="App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486400"/>
            <a:ext cx="640080" cy="640080"/>
          </a:xfrm>
          <a:prstGeom prst="rect">
            <a:avLst/>
          </a:prstGeom>
        </p:spPr>
      </p:pic>
      <p:sp>
        <p:nvSpPr>
          <p:cNvPr id="33" name="App 8 head"/>
          <p:cNvSpPr txBox="1"/>
          <p:nvPr/>
        </p:nvSpPr>
        <p:spPr>
          <a:xfrm>
            <a:off x="1437894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Marketing email</a:t>
            </a:r>
          </a:p>
        </p:txBody>
      </p:sp>
      <p:sp>
        <p:nvSpPr>
          <p:cNvPr id="34" name="App 8 body"/>
          <p:cNvSpPr txBox="1"/>
          <p:nvPr/>
        </p:nvSpPr>
        <p:spPr>
          <a:xfrm>
            <a:off x="1360170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email lists</a:t>
            </a:r>
          </a:p>
        </p:txBody>
      </p:sp>
      <p:sp>
        <p:nvSpPr>
          <p:cNvPr id="35" name="SaaS banner"/>
          <p:cNvSpPr/>
          <p:nvPr/>
        </p:nvSpPr>
        <p:spPr>
          <a:xfrm>
            <a:off x="1257300" y="7863840"/>
            <a:ext cx="15773400" cy="7315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SaaS banner text"/>
          <p:cNvSpPr txBox="1"/>
          <p:nvPr/>
        </p:nvSpPr>
        <p:spPr>
          <a:xfrm>
            <a:off x="1554480" y="7909560"/>
            <a:ext cx="15179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holds bank data, each is a vendor, each is reached over HTTPS.</a:t>
            </a:r>
          </a:p>
        </p:txBody>
      </p:sp>
      <p:sp>
        <p:nvSpPr>
          <p:cNvPr id="37" name="SaaS ask"/>
          <p:cNvSpPr txBox="1"/>
          <p:nvPr/>
        </p:nvSpPr>
        <p:spPr>
          <a:xfrm>
            <a:off x="1257300" y="873252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Single sign-on and MFA help. Is every one of these in the vendor inventory?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21: DNS In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A70A-C467-EB05-A83B-3672BDC0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We find 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0D0BA-0020-62EA-8C77-056927785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Domain Name System (DNS) provides a distributed directory of internet resources</a:t>
            </a:r>
          </a:p>
          <a:p>
            <a:r>
              <a:rPr lang="en-US"/>
              <a:t>Essentially the directory assistance of the internet</a:t>
            </a:r>
          </a:p>
          <a:p>
            <a:r>
              <a:rPr lang="en-US"/>
              <a:t>Converts </a:t>
            </a:r>
            <a:r>
              <a:rPr lang="en-US" i="1"/>
              <a:t>uniform resource locators</a:t>
            </a:r>
            <a:r>
              <a:rPr lang="en-US"/>
              <a:t> (URLs) to IP addresses</a:t>
            </a:r>
          </a:p>
          <a:p>
            <a:r>
              <a:rPr lang="en-US"/>
              <a:t>Registries are databases that contain the domain names under the </a:t>
            </a:r>
            <a:r>
              <a:rPr lang="en-US" i="1"/>
              <a:t>top-level domains</a:t>
            </a:r>
            <a:r>
              <a:rPr lang="en-US"/>
              <a:t> they administer</a:t>
            </a:r>
          </a:p>
          <a:p>
            <a:r>
              <a:rPr lang="en-US"/>
              <a:t>Registrars are accredited companies that delegate domain names to interested parties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1660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Resolving a Name, Step by Step</a:t>
            </a:r>
          </a:p>
        </p:txBody>
      </p:sp>
      <p:pic>
        <p:nvPicPr>
          <p:cNvPr id="3" name="Res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4617720"/>
            <a:ext cx="1005840" cy="1005840"/>
          </a:xfrm>
          <a:prstGeom prst="rect">
            <a:avLst/>
          </a:prstGeom>
        </p:spPr>
      </p:pic>
      <p:sp>
        <p:nvSpPr>
          <p:cNvPr id="4" name="Res laptop text"/>
          <p:cNvSpPr txBox="1"/>
          <p:nvPr/>
        </p:nvSpPr>
        <p:spPr>
          <a:xfrm>
            <a:off x="1257300" y="5715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laptop</a:t>
            </a:r>
          </a:p>
        </p:txBody>
      </p:sp>
      <p:sp>
        <p:nvSpPr>
          <p:cNvPr id="5" name="Resolver"/>
          <p:cNvSpPr/>
          <p:nvPr/>
        </p:nvSpPr>
        <p:spPr>
          <a:xfrm>
            <a:off x="4206240" y="4343400"/>
            <a:ext cx="3108960" cy="15544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solver text"/>
          <p:cNvSpPr txBox="1"/>
          <p:nvPr/>
        </p:nvSpPr>
        <p:spPr>
          <a:xfrm>
            <a:off x="4297680" y="438912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Resolver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DNS, ISP, or protective DNS</a:t>
            </a:r>
          </a:p>
          <a:p>
            <a:pPr algn="ctr">
              <a:spcAft>
                <a:spcPts val="100"/>
              </a:spcAft>
            </a:pPr>
            <a:r>
              <a:rPr sz="14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caches answers</a:t>
            </a:r>
          </a:p>
        </p:txBody>
      </p:sp>
      <p:cxnSp>
        <p:nvCxnSpPr>
          <p:cNvPr id="7" name="Res a1"/>
          <p:cNvCxnSpPr/>
          <p:nvPr/>
        </p:nvCxnSpPr>
        <p:spPr>
          <a:xfrm>
            <a:off x="2651760" y="4983480"/>
            <a:ext cx="150876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 n1"/>
          <p:cNvSpPr txBox="1"/>
          <p:nvPr/>
        </p:nvSpPr>
        <p:spPr>
          <a:xfrm>
            <a:off x="2834640" y="44805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cxnSp>
        <p:nvCxnSpPr>
          <p:cNvPr id="9" name="Res a8"/>
          <p:cNvCxnSpPr/>
          <p:nvPr/>
        </p:nvCxnSpPr>
        <p:spPr>
          <a:xfrm flipH="1">
            <a:off x="2651760" y="5349240"/>
            <a:ext cx="150876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s n8"/>
          <p:cNvSpPr txBox="1"/>
          <p:nvPr/>
        </p:nvSpPr>
        <p:spPr>
          <a:xfrm>
            <a:off x="2834640" y="53949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11" name="Srv 1"/>
          <p:cNvSpPr/>
          <p:nvPr/>
        </p:nvSpPr>
        <p:spPr>
          <a:xfrm>
            <a:off x="10607040" y="27432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Srv 1 text"/>
          <p:cNvSpPr txBox="1"/>
          <p:nvPr/>
        </p:nvSpPr>
        <p:spPr>
          <a:xfrm>
            <a:off x="10744200" y="27889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.com”</a:t>
            </a:r>
          </a:p>
        </p:txBody>
      </p:sp>
      <p:cxnSp>
        <p:nvCxnSpPr>
          <p:cNvPr id="13" name="Srv ask 1"/>
          <p:cNvCxnSpPr/>
          <p:nvPr/>
        </p:nvCxnSpPr>
        <p:spPr>
          <a:xfrm flipV="1">
            <a:off x="7360920" y="3200400"/>
            <a:ext cx="3200400" cy="164592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rv ans 1"/>
          <p:cNvCxnSpPr/>
          <p:nvPr/>
        </p:nvCxnSpPr>
        <p:spPr>
          <a:xfrm flipH="1">
            <a:off x="7360920" y="3611880"/>
            <a:ext cx="3200400" cy="164592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rv n 1"/>
          <p:cNvSpPr txBox="1"/>
          <p:nvPr/>
        </p:nvSpPr>
        <p:spPr>
          <a:xfrm>
            <a:off x="14767559" y="31089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2–3</a:t>
            </a:r>
          </a:p>
        </p:txBody>
      </p:sp>
      <p:sp>
        <p:nvSpPr>
          <p:cNvPr id="16" name="Srv 2"/>
          <p:cNvSpPr/>
          <p:nvPr/>
        </p:nvSpPr>
        <p:spPr>
          <a:xfrm>
            <a:off x="10607040" y="45720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Srv 2 text"/>
          <p:cNvSpPr txBox="1"/>
          <p:nvPr/>
        </p:nvSpPr>
        <p:spPr>
          <a:xfrm>
            <a:off x="10744200" y="46177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.com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examplebank's servers”</a:t>
            </a:r>
          </a:p>
        </p:txBody>
      </p:sp>
      <p:cxnSp>
        <p:nvCxnSpPr>
          <p:cNvPr id="18" name="Srv ask 2"/>
          <p:cNvCxnSpPr/>
          <p:nvPr/>
        </p:nvCxnSpPr>
        <p:spPr>
          <a:xfrm>
            <a:off x="7360920" y="4846320"/>
            <a:ext cx="3200400" cy="1828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rv ans 2"/>
          <p:cNvCxnSpPr/>
          <p:nvPr/>
        </p:nvCxnSpPr>
        <p:spPr>
          <a:xfrm flipH="1" flipV="1">
            <a:off x="7360920" y="525780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rv n 2"/>
          <p:cNvSpPr txBox="1"/>
          <p:nvPr/>
        </p:nvSpPr>
        <p:spPr>
          <a:xfrm>
            <a:off x="14767559" y="49377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4–5</a:t>
            </a:r>
          </a:p>
        </p:txBody>
      </p:sp>
      <p:sp>
        <p:nvSpPr>
          <p:cNvPr id="21" name="Srv 3"/>
          <p:cNvSpPr/>
          <p:nvPr/>
        </p:nvSpPr>
        <p:spPr>
          <a:xfrm>
            <a:off x="10607040" y="64008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rv 3 text"/>
          <p:cNvSpPr txBox="1"/>
          <p:nvPr/>
        </p:nvSpPr>
        <p:spPr>
          <a:xfrm>
            <a:off x="10744200" y="64465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examplebank.com authoritative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“Here's the address”</a:t>
            </a:r>
          </a:p>
        </p:txBody>
      </p:sp>
      <p:cxnSp>
        <p:nvCxnSpPr>
          <p:cNvPr id="23" name="Srv ask 3"/>
          <p:cNvCxnSpPr/>
          <p:nvPr/>
        </p:nvCxnSpPr>
        <p:spPr>
          <a:xfrm>
            <a:off x="7360920" y="4846320"/>
            <a:ext cx="3200400" cy="20116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rv ans 3"/>
          <p:cNvCxnSpPr/>
          <p:nvPr/>
        </p:nvCxnSpPr>
        <p:spPr>
          <a:xfrm flipH="1" flipV="1">
            <a:off x="7360920" y="5257800"/>
            <a:ext cx="3200400" cy="20116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rv n 3"/>
          <p:cNvSpPr txBox="1"/>
          <p:nvPr/>
        </p:nvSpPr>
        <p:spPr>
          <a:xfrm>
            <a:off x="14767559" y="67665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6–7</a:t>
            </a:r>
          </a:p>
        </p:txBody>
      </p:sp>
      <p:sp>
        <p:nvSpPr>
          <p:cNvPr id="26" name="Res query"/>
          <p:cNvSpPr txBox="1"/>
          <p:nvPr/>
        </p:nvSpPr>
        <p:spPr>
          <a:xfrm>
            <a:off x="4206240" y="27432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Looking up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online.examplebank.com</a:t>
            </a:r>
          </a:p>
        </p:txBody>
      </p:sp>
      <p:sp>
        <p:nvSpPr>
          <p:cNvPr id="27" name="Res take 1"/>
          <p:cNvSpPr/>
          <p:nvPr/>
        </p:nvSpPr>
        <p:spPr>
          <a:xfrm>
            <a:off x="125730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Res take 1 text"/>
          <p:cNvSpPr txBox="1"/>
          <p:nvPr/>
        </p:nvSpPr>
        <p:spPr>
          <a:xfrm>
            <a:off x="151333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resolver sees every lookup</a:t>
            </a:r>
          </a:p>
        </p:txBody>
      </p:sp>
      <p:sp>
        <p:nvSpPr>
          <p:cNvPr id="29" name="Res take 2"/>
          <p:cNvSpPr/>
          <p:nvPr/>
        </p:nvSpPr>
        <p:spPr>
          <a:xfrm>
            <a:off x="662178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es take 2 text"/>
          <p:cNvSpPr txBox="1"/>
          <p:nvPr/>
        </p:nvSpPr>
        <p:spPr>
          <a:xfrm>
            <a:off x="687781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Caching is why changes take time</a:t>
            </a:r>
          </a:p>
        </p:txBody>
      </p:sp>
      <p:sp>
        <p:nvSpPr>
          <p:cNvPr id="31" name="Res take 3"/>
          <p:cNvSpPr/>
          <p:nvPr/>
        </p:nvSpPr>
        <p:spPr>
          <a:xfrm>
            <a:off x="1198626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es take 3 text"/>
          <p:cNvSpPr txBox="1"/>
          <p:nvPr/>
        </p:nvSpPr>
        <p:spPr>
          <a:xfrm>
            <a:off x="12242291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 any step, redirect everyone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Who Controls the Bank's Domain</a:t>
            </a:r>
          </a:p>
        </p:txBody>
      </p:sp>
      <p:sp>
        <p:nvSpPr>
          <p:cNvPr id="3" name="Rol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Rol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26080"/>
            <a:ext cx="685800" cy="685800"/>
          </a:xfrm>
          <a:prstGeom prst="rect">
            <a:avLst/>
          </a:prstGeom>
        </p:spPr>
      </p:pic>
      <p:sp>
        <p:nvSpPr>
          <p:cNvPr id="5" name="Role 1 text"/>
          <p:cNvSpPr txBox="1"/>
          <p:nvPr/>
        </p:nvSpPr>
        <p:spPr>
          <a:xfrm>
            <a:off x="144018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top-level domain. Verisign runs .com; fTLD runs .bank</a:t>
            </a:r>
          </a:p>
        </p:txBody>
      </p:sp>
      <p:sp>
        <p:nvSpPr>
          <p:cNvPr id="6" name="Rol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Rol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26080"/>
            <a:ext cx="685800" cy="685800"/>
          </a:xfrm>
          <a:prstGeom prst="rect">
            <a:avLst/>
          </a:prstGeom>
        </p:spPr>
      </p:pic>
      <p:sp>
        <p:nvSpPr>
          <p:cNvPr id="8" name="Role 2 text"/>
          <p:cNvSpPr txBox="1"/>
          <p:nvPr/>
        </p:nvSpPr>
        <p:spPr>
          <a:xfrm>
            <a:off x="546354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Sells and manages the registration. The account that controls the domain</a:t>
            </a:r>
          </a:p>
        </p:txBody>
      </p:sp>
      <p:sp>
        <p:nvSpPr>
          <p:cNvPr id="9" name="Rol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Rol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26080"/>
            <a:ext cx="685800" cy="685800"/>
          </a:xfrm>
          <a:prstGeom prst="rect">
            <a:avLst/>
          </a:prstGeom>
        </p:spPr>
      </p:pic>
      <p:sp>
        <p:nvSpPr>
          <p:cNvPr id="11" name="Role 3 text"/>
          <p:cNvSpPr txBox="1"/>
          <p:nvPr/>
        </p:nvSpPr>
        <p:spPr>
          <a:xfrm>
            <a:off x="948689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Registrant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legal owner. Should be the bank, not a person</a:t>
            </a:r>
          </a:p>
        </p:txBody>
      </p:sp>
      <p:sp>
        <p:nvSpPr>
          <p:cNvPr id="12" name="Rol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Rol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26080"/>
            <a:ext cx="685800" cy="685800"/>
          </a:xfrm>
          <a:prstGeom prst="rect">
            <a:avLst/>
          </a:prstGeom>
        </p:spPr>
      </p:pic>
      <p:sp>
        <p:nvSpPr>
          <p:cNvPr id="14" name="Role 4 text"/>
          <p:cNvSpPr txBox="1"/>
          <p:nvPr/>
        </p:nvSpPr>
        <p:spPr>
          <a:xfrm>
            <a:off x="1351025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host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authoritative servers. May be another company again</a:t>
            </a:r>
          </a:p>
        </p:txBody>
      </p:sp>
      <p:sp>
        <p:nvSpPr>
          <p:cNvPr id="15" name="Fail heading"/>
          <p:cNvSpPr txBox="1"/>
          <p:nvPr/>
        </p:nvSpPr>
        <p:spPr>
          <a:xfrm>
            <a:off x="125730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lose control of their domain</a:t>
            </a:r>
          </a:p>
        </p:txBody>
      </p:sp>
      <p:sp>
        <p:nvSpPr>
          <p:cNvPr id="16" name="Fail list"/>
          <p:cNvSpPr txBox="1"/>
          <p:nvPr/>
        </p:nvSpPr>
        <p:spPr>
          <a:xfrm>
            <a:off x="1257300" y="6492240"/>
            <a:ext cx="100584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years ago by a former employee or web designer, on a personal email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Expired because the renewal card expired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account phished, no MFA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Records changed with no alert</a:t>
            </a:r>
          </a:p>
        </p:txBody>
      </p:sp>
      <p:sp>
        <p:nvSpPr>
          <p:cNvPr id="17" name="Ask panel"/>
          <p:cNvSpPr/>
          <p:nvPr/>
        </p:nvSpPr>
        <p:spPr>
          <a:xfrm>
            <a:off x="11704320" y="5943600"/>
            <a:ext cx="5326380" cy="3429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Ask list"/>
          <p:cNvSpPr txBox="1"/>
          <p:nvPr/>
        </p:nvSpPr>
        <p:spPr>
          <a:xfrm>
            <a:off x="11978640" y="6126480"/>
            <a:ext cx="48463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Whose name and email is the registrar account in?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MFA on? Auto-renew?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registry lock enabled?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alerted to changes?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Records That Matter to a Bank</a:t>
            </a:r>
          </a:p>
        </p:txBody>
      </p:sp>
      <p:sp>
        <p:nvSpPr>
          <p:cNvPr id="3" name="Rec h1"/>
          <p:cNvSpPr txBox="1"/>
          <p:nvPr/>
        </p:nvSpPr>
        <p:spPr>
          <a:xfrm>
            <a:off x="1257300" y="26974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Record</a:t>
            </a:r>
          </a:p>
        </p:txBody>
      </p:sp>
      <p:sp>
        <p:nvSpPr>
          <p:cNvPr id="4" name="Rec h2"/>
          <p:cNvSpPr txBox="1"/>
          <p:nvPr/>
        </p:nvSpPr>
        <p:spPr>
          <a:xfrm>
            <a:off x="3611880" y="26974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</p:txBody>
      </p:sp>
      <p:sp>
        <p:nvSpPr>
          <p:cNvPr id="5" name="Rec h3"/>
          <p:cNvSpPr txBox="1"/>
          <p:nvPr/>
        </p:nvSpPr>
        <p:spPr>
          <a:xfrm>
            <a:off x="11750040" y="2697480"/>
            <a:ext cx="52806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Why it matters to a bank</a:t>
            </a:r>
          </a:p>
        </p:txBody>
      </p:sp>
      <p:cxnSp>
        <p:nvCxnSpPr>
          <p:cNvPr id="6" name="Rec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 1 tag"/>
          <p:cNvSpPr/>
          <p:nvPr/>
        </p:nvSpPr>
        <p:spPr>
          <a:xfrm>
            <a:off x="1257300" y="3474720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/ AAAA</a:t>
            </a:r>
          </a:p>
        </p:txBody>
      </p:sp>
      <p:sp>
        <p:nvSpPr>
          <p:cNvPr id="8" name="Rec 1 ex"/>
          <p:cNvSpPr txBox="1"/>
          <p:nvPr/>
        </p:nvSpPr>
        <p:spPr>
          <a:xfrm>
            <a:off x="3611880" y="3337560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www.examplebank.com  →  203.0.113.10</a:t>
            </a:r>
          </a:p>
        </p:txBody>
      </p:sp>
      <p:sp>
        <p:nvSpPr>
          <p:cNvPr id="9" name="Rec 1 why"/>
          <p:cNvSpPr txBox="1"/>
          <p:nvPr/>
        </p:nvSpPr>
        <p:spPr>
          <a:xfrm>
            <a:off x="11750040" y="3337560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the website is</a:t>
            </a:r>
          </a:p>
        </p:txBody>
      </p:sp>
      <p:cxnSp>
        <p:nvCxnSpPr>
          <p:cNvPr id="10" name="Rec rule 1"/>
          <p:cNvCxnSpPr/>
          <p:nvPr/>
        </p:nvCxnSpPr>
        <p:spPr>
          <a:xfrm>
            <a:off x="1257300" y="4471416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 2 tag"/>
          <p:cNvSpPr/>
          <p:nvPr/>
        </p:nvSpPr>
        <p:spPr>
          <a:xfrm>
            <a:off x="1257300" y="4681728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MX</a:t>
            </a:r>
          </a:p>
        </p:txBody>
      </p:sp>
      <p:sp>
        <p:nvSpPr>
          <p:cNvPr id="12" name="Rec 2 ex"/>
          <p:cNvSpPr txBox="1"/>
          <p:nvPr/>
        </p:nvSpPr>
        <p:spPr>
          <a:xfrm>
            <a:off x="3611880" y="4544568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mail.protection.outlook.com</a:t>
            </a:r>
          </a:p>
        </p:txBody>
      </p:sp>
      <p:sp>
        <p:nvSpPr>
          <p:cNvPr id="13" name="Rec 2 why"/>
          <p:cNvSpPr txBox="1"/>
          <p:nvPr/>
        </p:nvSpPr>
        <p:spPr>
          <a:xfrm>
            <a:off x="11750040" y="4544568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email is delivered</a:t>
            </a:r>
          </a:p>
        </p:txBody>
      </p:sp>
      <p:cxnSp>
        <p:nvCxnSpPr>
          <p:cNvPr id="14" name="Rec rule 2"/>
          <p:cNvCxnSpPr/>
          <p:nvPr/>
        </p:nvCxnSpPr>
        <p:spPr>
          <a:xfrm>
            <a:off x="1257300" y="5678424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 3 tag"/>
          <p:cNvSpPr/>
          <p:nvPr/>
        </p:nvSpPr>
        <p:spPr>
          <a:xfrm>
            <a:off x="1257300" y="5888736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CNAME</a:t>
            </a:r>
          </a:p>
        </p:txBody>
      </p:sp>
      <p:sp>
        <p:nvSpPr>
          <p:cNvPr id="16" name="Rec 3 ex"/>
          <p:cNvSpPr txBox="1"/>
          <p:nvPr/>
        </p:nvSpPr>
        <p:spPr>
          <a:xfrm>
            <a:off x="3611880" y="5751576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online.examplebank.com  →  bankname.digitalvendor.com</a:t>
            </a:r>
          </a:p>
        </p:txBody>
      </p:sp>
      <p:sp>
        <p:nvSpPr>
          <p:cNvPr id="17" name="Rec 3 why"/>
          <p:cNvSpPr txBox="1"/>
          <p:nvPr/>
        </p:nvSpPr>
        <p:spPr>
          <a:xfrm>
            <a:off x="11750040" y="5751576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Points to a vendor; dangling after a vendor change</a:t>
            </a:r>
          </a:p>
        </p:txBody>
      </p:sp>
      <p:cxnSp>
        <p:nvCxnSpPr>
          <p:cNvPr id="18" name="Rec rule 3"/>
          <p:cNvCxnSpPr/>
          <p:nvPr/>
        </p:nvCxnSpPr>
        <p:spPr>
          <a:xfrm>
            <a:off x="1257300" y="68854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 4 tag"/>
          <p:cNvSpPr/>
          <p:nvPr/>
        </p:nvSpPr>
        <p:spPr>
          <a:xfrm>
            <a:off x="1257300" y="7095744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TXT</a:t>
            </a:r>
          </a:p>
        </p:txBody>
      </p:sp>
      <p:sp>
        <p:nvSpPr>
          <p:cNvPr id="20" name="Rec 4 ex"/>
          <p:cNvSpPr txBox="1"/>
          <p:nvPr/>
        </p:nvSpPr>
        <p:spPr>
          <a:xfrm>
            <a:off x="3611880" y="6958583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v=spf1 include:spf.protection.outlook.com -all</a:t>
            </a:r>
          </a:p>
        </p:txBody>
      </p:sp>
      <p:sp>
        <p:nvSpPr>
          <p:cNvPr id="21" name="Rec 4 why"/>
          <p:cNvSpPr txBox="1"/>
          <p:nvPr/>
        </p:nvSpPr>
        <p:spPr>
          <a:xfrm>
            <a:off x="11750040" y="6958583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authentication and ownership proof</a:t>
            </a:r>
          </a:p>
        </p:txBody>
      </p:sp>
      <p:cxnSp>
        <p:nvCxnSpPr>
          <p:cNvPr id="22" name="Rec rule 4"/>
          <p:cNvCxnSpPr/>
          <p:nvPr/>
        </p:nvCxnSpPr>
        <p:spPr>
          <a:xfrm>
            <a:off x="1257300" y="8092440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 5 tag"/>
          <p:cNvSpPr/>
          <p:nvPr/>
        </p:nvSpPr>
        <p:spPr>
          <a:xfrm>
            <a:off x="1257300" y="8302752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NS</a:t>
            </a:r>
          </a:p>
        </p:txBody>
      </p:sp>
      <p:sp>
        <p:nvSpPr>
          <p:cNvPr id="24" name="Rec 5 ex"/>
          <p:cNvSpPr txBox="1"/>
          <p:nvPr/>
        </p:nvSpPr>
        <p:spPr>
          <a:xfrm>
            <a:off x="3611880" y="8165592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ns1.dnshost.net</a:t>
            </a:r>
          </a:p>
        </p:txBody>
      </p:sp>
      <p:sp>
        <p:nvSpPr>
          <p:cNvPr id="25" name="Rec 5 why"/>
          <p:cNvSpPr txBox="1"/>
          <p:nvPr/>
        </p:nvSpPr>
        <p:spPr>
          <a:xfrm>
            <a:off x="11750040" y="8165592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in charge of the domain</a:t>
            </a:r>
          </a:p>
        </p:txBody>
      </p:sp>
      <p:sp>
        <p:nvSpPr>
          <p:cNvPr id="26" name="Rec banner"/>
          <p:cNvSpPr/>
          <p:nvPr/>
        </p:nvSpPr>
        <p:spPr>
          <a:xfrm>
            <a:off x="1257300" y="9144000"/>
            <a:ext cx="15773400" cy="4572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ec banner text"/>
          <p:cNvSpPr txBox="1"/>
          <p:nvPr/>
        </p:nvSpPr>
        <p:spPr>
          <a:xfrm>
            <a:off x="1554480" y="9189720"/>
            <a:ext cx="15179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should know what records exist, and clean them up when vendors change.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Email Authentication: </a:t>
            </a:r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SPF, DKIM, DMARC</a:t>
            </a:r>
          </a:p>
        </p:txBody>
      </p:sp>
      <p:sp>
        <p:nvSpPr>
          <p:cNvPr id="3" name="Auth 1"/>
          <p:cNvSpPr/>
          <p:nvPr/>
        </p:nvSpPr>
        <p:spPr>
          <a:xfrm>
            <a:off x="12573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Auth 1 text"/>
          <p:cNvSpPr txBox="1"/>
          <p:nvPr/>
        </p:nvSpPr>
        <p:spPr>
          <a:xfrm>
            <a:off x="15773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SPF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may send for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list of allowed sending servers</a:t>
            </a:r>
          </a:p>
        </p:txBody>
      </p:sp>
      <p:sp>
        <p:nvSpPr>
          <p:cNvPr id="5" name="Auth 2"/>
          <p:cNvSpPr/>
          <p:nvPr/>
        </p:nvSpPr>
        <p:spPr>
          <a:xfrm>
            <a:off x="66294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Auth 2 text"/>
          <p:cNvSpPr txBox="1"/>
          <p:nvPr/>
        </p:nvSpPr>
        <p:spPr>
          <a:xfrm>
            <a:off x="69494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DKIM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Proof it came from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signature on each message; the key is in DNS</a:t>
            </a:r>
          </a:p>
        </p:txBody>
      </p:sp>
      <p:sp>
        <p:nvSpPr>
          <p:cNvPr id="7" name="Auth 3"/>
          <p:cNvSpPr/>
          <p:nvPr/>
        </p:nvSpPr>
        <p:spPr>
          <a:xfrm>
            <a:off x="120015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Auth 3 text"/>
          <p:cNvSpPr txBox="1"/>
          <p:nvPr/>
        </p:nvSpPr>
        <p:spPr>
          <a:xfrm>
            <a:off x="123215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DMARC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do if checks fail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None, quarantine or reject, plus reports to the bank</a:t>
            </a:r>
          </a:p>
        </p:txBody>
      </p:sp>
      <p:sp>
        <p:nvSpPr>
          <p:cNvPr id="9" name="Auth example box"/>
          <p:cNvSpPr/>
          <p:nvPr/>
        </p:nvSpPr>
        <p:spPr>
          <a:xfrm>
            <a:off x="1257300" y="5715000"/>
            <a:ext cx="1577340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Auth example"/>
          <p:cNvSpPr txBox="1"/>
          <p:nvPr/>
        </p:nvSpPr>
        <p:spPr>
          <a:xfrm>
            <a:off x="1485900" y="5852160"/>
            <a:ext cx="15316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            TXT  "v=spf1 include:spf.protection.outlook.com -all"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_dmarc.examplebank.com       TXT  "v=DMARC1; p=reject; rua=mailto:dmarc@examplebank.com"</a:t>
            </a:r>
          </a:p>
        </p:txBody>
      </p:sp>
      <p:sp>
        <p:nvSpPr>
          <p:cNvPr id="11" name="Trap"/>
          <p:cNvSpPr/>
          <p:nvPr/>
        </p:nvSpPr>
        <p:spPr>
          <a:xfrm>
            <a:off x="1257300" y="7589520"/>
            <a:ext cx="7680960" cy="17830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rap text"/>
          <p:cNvSpPr txBox="1"/>
          <p:nvPr/>
        </p:nvSpPr>
        <p:spPr>
          <a:xfrm>
            <a:off x="155448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p=none is monitoring, not protection.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what the bank's DMARC policy is, and how long it's been there.</a:t>
            </a:r>
          </a:p>
        </p:txBody>
      </p:sp>
      <p:sp>
        <p:nvSpPr>
          <p:cNvPr id="13" name="Lookalike"/>
          <p:cNvSpPr/>
          <p:nvPr/>
        </p:nvSpPr>
        <p:spPr>
          <a:xfrm>
            <a:off x="9349740" y="7589520"/>
            <a:ext cx="768096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Lookalike text"/>
          <p:cNvSpPr txBox="1"/>
          <p:nvPr/>
        </p:nvSpPr>
        <p:spPr>
          <a:xfrm>
            <a:off x="964692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Protects the bank's own domain.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nothing against examp1ebank.com. That's Exercise 4.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When DNS Fails: Outages, Hijacking, and Lookalike Domains</a:t>
            </a:r>
          </a:p>
        </p:txBody>
      </p:sp>
      <p:sp>
        <p:nvSpPr>
          <p:cNvPr id="3" name="Fail 1"/>
          <p:cNvSpPr/>
          <p:nvPr/>
        </p:nvSpPr>
        <p:spPr>
          <a:xfrm>
            <a:off x="12573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ail 1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ail 1 text"/>
          <p:cNvSpPr txBox="1"/>
          <p:nvPr/>
        </p:nvSpPr>
        <p:spPr>
          <a:xfrm>
            <a:off x="15773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Names stop resolving; working servers become unreachable.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Dyn, 2016; AWS, October 2025</a:t>
            </a:r>
          </a:p>
        </p:txBody>
      </p:sp>
      <p:sp>
        <p:nvSpPr>
          <p:cNvPr id="6" name="Fail 1 fix"/>
          <p:cNvSpPr/>
          <p:nvPr/>
        </p:nvSpPr>
        <p:spPr>
          <a:xfrm>
            <a:off x="15316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Fail 1 fix text"/>
          <p:cNvSpPr txBox="1"/>
          <p:nvPr/>
        </p:nvSpPr>
        <p:spPr>
          <a:xfrm>
            <a:off x="17602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Redundant DNS hosting</a:t>
            </a:r>
          </a:p>
        </p:txBody>
      </p:sp>
      <p:sp>
        <p:nvSpPr>
          <p:cNvPr id="8" name="Fail 2"/>
          <p:cNvSpPr/>
          <p:nvPr/>
        </p:nvSpPr>
        <p:spPr>
          <a:xfrm>
            <a:off x="66294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Fail 2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ail 2 text"/>
          <p:cNvSpPr txBox="1"/>
          <p:nvPr/>
        </p:nvSpPr>
        <p:spPr>
          <a:xfrm>
            <a:off x="69494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Hijacking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changes where the bank's name points.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or DNS host account taken over</a:t>
            </a:r>
          </a:p>
        </p:txBody>
      </p:sp>
      <p:sp>
        <p:nvSpPr>
          <p:cNvPr id="11" name="Fail 2 fix"/>
          <p:cNvSpPr/>
          <p:nvPr/>
        </p:nvSpPr>
        <p:spPr>
          <a:xfrm>
            <a:off x="69037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Fail 2 fix text"/>
          <p:cNvSpPr txBox="1"/>
          <p:nvPr/>
        </p:nvSpPr>
        <p:spPr>
          <a:xfrm>
            <a:off x="71323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 lock, MFA, DNSSEC, change alerts</a:t>
            </a:r>
          </a:p>
        </p:txBody>
      </p:sp>
      <p:sp>
        <p:nvSpPr>
          <p:cNvPr id="13" name="Fail 3"/>
          <p:cNvSpPr/>
          <p:nvPr/>
        </p:nvSpPr>
        <p:spPr>
          <a:xfrm>
            <a:off x="120015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Fail 3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Fail 3 text"/>
          <p:cNvSpPr txBox="1"/>
          <p:nvPr/>
        </p:nvSpPr>
        <p:spPr>
          <a:xfrm>
            <a:off x="123215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domains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registers a name that looks like the bank's.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examp1ebank.com, examplebank-secure.com</a:t>
            </a:r>
          </a:p>
        </p:txBody>
      </p:sp>
      <p:sp>
        <p:nvSpPr>
          <p:cNvPr id="16" name="Fail 3 fix"/>
          <p:cNvSpPr/>
          <p:nvPr/>
        </p:nvSpPr>
        <p:spPr>
          <a:xfrm>
            <a:off x="122758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Fail 3 fix text"/>
          <p:cNvSpPr txBox="1"/>
          <p:nvPr/>
        </p:nvSpPr>
        <p:spPr>
          <a:xfrm>
            <a:off x="125044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monitoring, sender warnings, call-back checks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Protective DNS and Filtering</a:t>
            </a:r>
          </a:p>
        </p:txBody>
      </p:sp>
      <p:pic>
        <p:nvPicPr>
          <p:cNvPr id="3" name="PD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PD q"/>
          <p:cNvSpPr txBox="1"/>
          <p:nvPr/>
        </p:nvSpPr>
        <p:spPr>
          <a:xfrm>
            <a:off x="1257300" y="27432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“Where is badsite.com?”</a:t>
            </a:r>
          </a:p>
        </p:txBody>
      </p:sp>
      <p:cxnSp>
        <p:nvCxnSpPr>
          <p:cNvPr id="5" name="PD a1"/>
          <p:cNvCxnSpPr/>
          <p:nvPr/>
        </p:nvCxnSpPr>
        <p:spPr>
          <a:xfrm>
            <a:off x="2651760" y="4023360"/>
            <a:ext cx="22860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D resolver"/>
          <p:cNvSpPr/>
          <p:nvPr/>
        </p:nvSpPr>
        <p:spPr>
          <a:xfrm>
            <a:off x="4983480" y="2926080"/>
            <a:ext cx="4206240" cy="219456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PD shiel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0660" y="3634740"/>
            <a:ext cx="777240" cy="777240"/>
          </a:xfrm>
          <a:prstGeom prst="rect">
            <a:avLst/>
          </a:prstGeom>
        </p:spPr>
      </p:pic>
      <p:sp>
        <p:nvSpPr>
          <p:cNvPr id="8" name="PD resolver text"/>
          <p:cNvSpPr txBox="1"/>
          <p:nvPr/>
        </p:nvSpPr>
        <p:spPr>
          <a:xfrm>
            <a:off x="6217920" y="3017520"/>
            <a:ext cx="288036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Protective DNS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Checks every lookup against threat intelligence</a:t>
            </a:r>
          </a:p>
        </p:txBody>
      </p:sp>
      <p:cxnSp>
        <p:nvCxnSpPr>
          <p:cNvPr id="9" name="PD a2"/>
          <p:cNvCxnSpPr/>
          <p:nvPr/>
        </p:nvCxnSpPr>
        <p:spPr>
          <a:xfrm flipV="1">
            <a:off x="9235440" y="3108960"/>
            <a:ext cx="219456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D ok"/>
          <p:cNvSpPr/>
          <p:nvPr/>
        </p:nvSpPr>
        <p:spPr>
          <a:xfrm>
            <a:off x="11475720" y="2697480"/>
            <a:ext cx="5554980" cy="914400"/>
          </a:xfrm>
          <a:prstGeom prst="round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Normal site: answered</a:t>
            </a:r>
          </a:p>
        </p:txBody>
      </p:sp>
      <p:cxnSp>
        <p:nvCxnSpPr>
          <p:cNvPr id="11" name="PD a3"/>
          <p:cNvCxnSpPr/>
          <p:nvPr/>
        </p:nvCxnSpPr>
        <p:spPr>
          <a:xfrm>
            <a:off x="9235440" y="4480560"/>
            <a:ext cx="2194560" cy="457200"/>
          </a:xfrm>
          <a:prstGeom prst="line">
            <a:avLst/>
          </a:prstGeom>
          <a:ln w="381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D block"/>
          <p:cNvSpPr/>
          <p:nvPr/>
        </p:nvSpPr>
        <p:spPr>
          <a:xfrm>
            <a:off x="11475720" y="4480560"/>
            <a:ext cx="5554980" cy="914400"/>
          </a:xfrm>
          <a:prstGeom prst="round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Known bad or brand-new domain: blocked</a:t>
            </a:r>
          </a:p>
        </p:txBody>
      </p:sp>
      <p:cxnSp>
        <p:nvCxnSpPr>
          <p:cNvPr id="13" name="PD log line"/>
          <p:cNvCxnSpPr/>
          <p:nvPr/>
        </p:nvCxnSpPr>
        <p:spPr>
          <a:xfrm>
            <a:off x="7086600" y="5166360"/>
            <a:ext cx="0" cy="548640"/>
          </a:xfrm>
          <a:prstGeom prst="line">
            <a:avLst/>
          </a:prstGeom>
          <a:ln w="254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D log"/>
          <p:cNvSpPr/>
          <p:nvPr/>
        </p:nvSpPr>
        <p:spPr>
          <a:xfrm>
            <a:off x="4983480" y="5715000"/>
            <a:ext cx="420624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lookup logged</a:t>
            </a:r>
          </a:p>
        </p:txBody>
      </p:sp>
      <p:sp>
        <p:nvSpPr>
          <p:cNvPr id="15" name="PD row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D row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Blocks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 sites, malware call-backs, newly registered domains</a:t>
            </a:r>
          </a:p>
        </p:txBody>
      </p:sp>
      <p:sp>
        <p:nvSpPr>
          <p:cNvPr id="17" name="PD row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PD row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and devices actually reach: shadow IT, incident evidence</a:t>
            </a:r>
          </a:p>
        </p:txBody>
      </p:sp>
      <p:sp>
        <p:nvSpPr>
          <p:cNvPr id="19" name="PD row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PD row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Bypassed by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Laptops at home, phones on cellular, browsers using encrypted DNS</a:t>
            </a:r>
          </a:p>
        </p:txBody>
      </p:sp>
      <p:sp>
        <p:nvSpPr>
          <p:cNvPr id="21" name="PD row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D row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provides 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Usually the firewall vendor or MSSP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4: The Lookalike Domain</a:t>
            </a:r>
          </a:p>
        </p:txBody>
      </p:sp>
      <p:sp>
        <p:nvSpPr>
          <p:cNvPr id="3" name="Ex4 email"/>
          <p:cNvSpPr/>
          <p:nvPr/>
        </p:nvSpPr>
        <p:spPr>
          <a:xfrm>
            <a:off x="1257300" y="2697480"/>
            <a:ext cx="7680960" cy="31546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Ex4 email bar"/>
          <p:cNvSpPr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solidFill>
            <a:srgbClr val="D9D9D9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Ex4 email bar text"/>
          <p:cNvSpPr txBox="1"/>
          <p:nvPr/>
        </p:nvSpPr>
        <p:spPr>
          <a:xfrm>
            <a:off x="1508760" y="2724912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Monday, 9:12 a.m.</a:t>
            </a:r>
          </a:p>
        </p:txBody>
      </p:sp>
      <p:sp>
        <p:nvSpPr>
          <p:cNvPr id="6" name="Ex4 headers"/>
          <p:cNvSpPr txBox="1"/>
          <p:nvPr/>
        </p:nvSpPr>
        <p:spPr>
          <a:xfrm>
            <a:off x="1554480" y="3291840"/>
            <a:ext cx="7132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From: Tom Reilly, CEO  &lt;ceo@examp1ebank.com&gt;</a:t>
            </a:r>
          </a:p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To: CFO</a:t>
            </a:r>
          </a:p>
        </p:txBody>
      </p:sp>
      <p:sp>
        <p:nvSpPr>
          <p:cNvPr id="7" name="Ex4 body"/>
          <p:cNvSpPr txBox="1"/>
          <p:nvPr/>
        </p:nvSpPr>
        <p:spPr>
          <a:xfrm>
            <a:off x="1554480" y="4160520"/>
            <a:ext cx="7132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 a wire of $48,000 to our new title company today. I'm traveling and can't talk. Instructions attached. Thanks, Tom</a:t>
            </a:r>
          </a:p>
        </p:txBody>
      </p:sp>
      <p:sp>
        <p:nvSpPr>
          <p:cNvPr id="8" name="Ex4 hint"/>
          <p:cNvSpPr txBox="1"/>
          <p:nvPr/>
        </p:nvSpPr>
        <p:spPr>
          <a:xfrm>
            <a:off x="1257300" y="594360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The real domain is examplebank.com.</a:t>
            </a:r>
          </a:p>
        </p:txBody>
      </p:sp>
      <p:sp>
        <p:nvSpPr>
          <p:cNvPr id="9" name="Ex4 num 1"/>
          <p:cNvSpPr/>
          <p:nvPr/>
        </p:nvSpPr>
        <p:spPr>
          <a:xfrm>
            <a:off x="9372600" y="2788920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Ex4 q 1"/>
          <p:cNvSpPr txBox="1"/>
          <p:nvPr/>
        </p:nvSpPr>
        <p:spPr>
          <a:xfrm>
            <a:off x="10195560" y="2697480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Would SPF, DKIM or DMARC have stopped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 the bank's real domain</a:t>
            </a:r>
          </a:p>
        </p:txBody>
      </p:sp>
      <p:sp>
        <p:nvSpPr>
          <p:cNvPr id="11" name="Ex4 num 2"/>
          <p:cNvSpPr/>
          <p:nvPr/>
        </p:nvSpPr>
        <p:spPr>
          <a:xfrm>
            <a:off x="9372600" y="3995928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Ex4 q 2"/>
          <p:cNvSpPr txBox="1"/>
          <p:nvPr/>
        </p:nvSpPr>
        <p:spPr>
          <a:xfrm>
            <a:off x="10195560" y="3904488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could have flagged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Email, DNS and monitoring controls</a:t>
            </a:r>
          </a:p>
        </p:txBody>
      </p:sp>
      <p:sp>
        <p:nvSpPr>
          <p:cNvPr id="13" name="Ex4 num 3"/>
          <p:cNvSpPr/>
          <p:nvPr/>
        </p:nvSpPr>
        <p:spPr>
          <a:xfrm>
            <a:off x="9372600" y="5202936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Ex4 q 3"/>
          <p:cNvSpPr txBox="1"/>
          <p:nvPr/>
        </p:nvSpPr>
        <p:spPr>
          <a:xfrm>
            <a:off x="10195560" y="5111496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stop the wire anyway?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Process controls</a:t>
            </a:r>
          </a:p>
        </p:txBody>
      </p:sp>
      <p:sp>
        <p:nvSpPr>
          <p:cNvPr id="15" name="Ex4 num 4"/>
          <p:cNvSpPr/>
          <p:nvPr/>
        </p:nvSpPr>
        <p:spPr>
          <a:xfrm>
            <a:off x="9372600" y="6409944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6" name="Ex4 q 4"/>
          <p:cNvSpPr txBox="1"/>
          <p:nvPr/>
        </p:nvSpPr>
        <p:spPr>
          <a:xfrm>
            <a:off x="10195560" y="6318504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wire already went out, who do you call first?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order</a:t>
            </a:r>
          </a:p>
        </p:txBody>
      </p:sp>
      <p:sp>
        <p:nvSpPr>
          <p:cNvPr id="17" name="Ex4 time"/>
          <p:cNvSpPr/>
          <p:nvPr/>
        </p:nvSpPr>
        <p:spPr>
          <a:xfrm>
            <a:off x="1257300" y="6766560"/>
            <a:ext cx="7680960" cy="26060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4 time text"/>
          <p:cNvSpPr txBox="1"/>
          <p:nvPr/>
        </p:nvSpPr>
        <p:spPr>
          <a:xfrm>
            <a:off x="1554480" y="6903720"/>
            <a:ext cx="7132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30 minutes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10 report-out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diagram needed for this one</a:t>
            </a:r>
          </a:p>
        </p:txBody>
      </p:sp>
      <p:sp>
        <p:nvSpPr>
          <p:cNvPr id="19" name="Ex4 out"/>
          <p:cNvSpPr/>
          <p:nvPr/>
        </p:nvSpPr>
        <p:spPr>
          <a:xfrm>
            <a:off x="9349740" y="7635240"/>
            <a:ext cx="7680960" cy="17373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4 out text"/>
          <p:cNvSpPr txBox="1"/>
          <p:nvPr/>
        </p:nvSpPr>
        <p:spPr>
          <a:xfrm>
            <a:off x="9646920" y="7726679"/>
            <a:ext cx="7132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answer to question 4, and the one control you'd add first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22: Voice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Thoughts on Telephony </a:t>
            </a:r>
          </a:p>
        </p:txBody>
      </p:sp>
      <p:sp>
        <p:nvSpPr>
          <p:cNvPr id="1153028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7341395"/>
          </a:xfrm>
        </p:spPr>
        <p:txBody>
          <a:bodyPr>
            <a:normAutofit lnSpcReduction="10000"/>
          </a:bodyPr>
          <a:lstStyle/>
          <a:p>
            <a:r>
              <a:rPr lang="en-US"/>
              <a:t>It changed the world</a:t>
            </a:r>
          </a:p>
          <a:p>
            <a:r>
              <a:rPr lang="en-US"/>
              <a:t>Ability to talk in real time over long distances changed society</a:t>
            </a:r>
          </a:p>
          <a:p>
            <a:pPr lvl="1"/>
            <a:r>
              <a:rPr lang="en-US"/>
              <a:t>News could be learned in real time</a:t>
            </a:r>
          </a:p>
          <a:p>
            <a:pPr lvl="1"/>
            <a:r>
              <a:rPr lang="en-US"/>
              <a:t>Commerce could be conducted quickly</a:t>
            </a:r>
          </a:p>
          <a:p>
            <a:pPr lvl="1"/>
            <a:r>
              <a:rPr lang="en-US"/>
              <a:t>Relationships made and maintained</a:t>
            </a:r>
          </a:p>
          <a:p>
            <a:r>
              <a:rPr lang="en-US"/>
              <a:t>Spurred technology innovation</a:t>
            </a:r>
          </a:p>
          <a:p>
            <a:pPr lvl="1"/>
            <a:r>
              <a:rPr lang="en-US"/>
              <a:t>AT&amp;T Bell Labs was a global leader in invention and development</a:t>
            </a:r>
          </a:p>
          <a:p>
            <a:pPr lvl="1"/>
            <a:r>
              <a:rPr lang="en-US"/>
              <a:t>AT&amp;T competition was equally inventive</a:t>
            </a:r>
          </a:p>
          <a:p>
            <a:r>
              <a:rPr lang="en-US"/>
              <a:t>Was the home of tech giants in its heyday </a:t>
            </a:r>
          </a:p>
          <a:p>
            <a:r>
              <a:rPr lang="en-US"/>
              <a:t>Telephone networks were used to connect computers</a:t>
            </a:r>
          </a:p>
          <a:p>
            <a:r>
              <a:rPr lang="en-US"/>
              <a:t>Now relegated to being an application in a world of data</a:t>
            </a:r>
          </a:p>
          <a:p>
            <a:pPr lv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208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81655648"/>
      </p:ext>
    </p:extLst>
  </p:cSld>
  <p:clrMapOvr>
    <a:masterClrMapping/>
  </p:clrMapOvr>
  <p:transition/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160D4D6-6583-2845-C6BB-1C33BA611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94" y="2106383"/>
            <a:ext cx="16392811" cy="7168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99D675-7148-E3AD-9539-3CE36804C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010" y="319482"/>
            <a:ext cx="15773400" cy="1988345"/>
          </a:xfrm>
        </p:spPr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Telephone Network Elements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DA9DAB-2834-544F-8CC3-9FB5181D0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D0507-9F86-7A45-BE8E-43760B9F92AA}" type="slidenum">
              <a:rPr lang="en-US" smtClean="0"/>
              <a:pPr/>
              <a:t>209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168E23-110B-55B1-2B37-CE521FB68AC2}"/>
              </a:ext>
            </a:extLst>
          </p:cNvPr>
          <p:cNvGrpSpPr/>
          <p:nvPr/>
        </p:nvGrpSpPr>
        <p:grpSpPr>
          <a:xfrm>
            <a:off x="7789762" y="3955416"/>
            <a:ext cx="3565006" cy="1065701"/>
            <a:chOff x="7675255" y="4610077"/>
            <a:chExt cx="3919448" cy="10657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F30F5F7-DC0B-7F77-370B-2653DBCA3BDF}"/>
                </a:ext>
              </a:extLst>
            </p:cNvPr>
            <p:cNvSpPr/>
            <p:nvPr/>
          </p:nvSpPr>
          <p:spPr>
            <a:xfrm>
              <a:off x="7675255" y="5440102"/>
              <a:ext cx="3919448" cy="23567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C16DE33-DAC8-67B0-7798-DE14EBB69B75}"/>
                </a:ext>
              </a:extLst>
            </p:cNvPr>
            <p:cNvSpPr txBox="1"/>
            <p:nvPr/>
          </p:nvSpPr>
          <p:spPr>
            <a:xfrm>
              <a:off x="8868330" y="4610077"/>
              <a:ext cx="12718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/>
                <a:t>Trunk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5775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Branch Exchange</a:t>
            </a:r>
          </a:p>
        </p:txBody>
      </p:sp>
      <p:sp>
        <p:nvSpPr>
          <p:cNvPr id="5428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PBX places telephone switch on business site</a:t>
            </a:r>
          </a:p>
          <a:p>
            <a:pPr lvl="1"/>
            <a:r>
              <a:rPr lang="en-US" err="1"/>
              <a:t>CapEx</a:t>
            </a:r>
            <a:r>
              <a:rPr lang="en-US"/>
              <a:t> reduces </a:t>
            </a:r>
            <a:r>
              <a:rPr lang="en-US" err="1"/>
              <a:t>OpEx</a:t>
            </a:r>
            <a:endParaRPr lang="en-US"/>
          </a:p>
          <a:p>
            <a:r>
              <a:rPr lang="en-US"/>
              <a:t>Phones connect to switch using premises wiring</a:t>
            </a:r>
          </a:p>
          <a:p>
            <a:r>
              <a:rPr lang="en-US"/>
              <a:t>Switch connects to the PSTN using a trunk</a:t>
            </a:r>
          </a:p>
          <a:p>
            <a:r>
              <a:rPr lang="en-US"/>
              <a:t>Offered lots of features</a:t>
            </a:r>
          </a:p>
          <a:p>
            <a:r>
              <a:rPr lang="en-US"/>
              <a:t>Very popular 1980s to early 2000s</a:t>
            </a:r>
          </a:p>
          <a:p>
            <a:r>
              <a:rPr lang="en-US"/>
              <a:t>Many business have migrated to </a:t>
            </a:r>
            <a:r>
              <a:rPr lang="en-US" i="1"/>
              <a:t>hosted</a:t>
            </a:r>
            <a:r>
              <a:rPr lang="en-US"/>
              <a:t> solutions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" name="Graphic 2" descr="Building with solid fill">
            <a:extLst>
              <a:ext uri="{FF2B5EF4-FFF2-40B4-BE49-F238E27FC236}">
                <a16:creationId xmlns:a16="http://schemas.microsoft.com/office/drawing/2014/main" id="{8B07436E-D6B0-3B3F-BC8A-284A2A4B50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802810" y="4605277"/>
            <a:ext cx="3578024" cy="357802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11310747"/>
      </p:ext>
    </p:extLst>
  </p:cSld>
  <p:clrMapOvr>
    <a:masterClrMapping/>
  </p:clrMapOvr>
  <p:transition/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Systems: The Small-Office Phone System</a:t>
            </a:r>
          </a:p>
        </p:txBody>
      </p:sp>
      <p:sp>
        <p:nvSpPr>
          <p:cNvPr id="3" name="KS carrier"/>
          <p:cNvSpPr/>
          <p:nvPr/>
        </p:nvSpPr>
        <p:spPr>
          <a:xfrm>
            <a:off x="1257300" y="3108960"/>
            <a:ext cx="2560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KS carri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25979" y="3337559"/>
            <a:ext cx="822960" cy="822960"/>
          </a:xfrm>
          <a:prstGeom prst="rect">
            <a:avLst/>
          </a:prstGeom>
        </p:spPr>
      </p:pic>
      <p:sp>
        <p:nvSpPr>
          <p:cNvPr id="5" name="KS carrier text"/>
          <p:cNvSpPr txBox="1"/>
          <p:nvPr/>
        </p:nvSpPr>
        <p:spPr>
          <a:xfrm>
            <a:off x="1371600" y="429768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</a:t>
            </a:r>
          </a:p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copper lines</a:t>
            </a:r>
          </a:p>
        </p:txBody>
      </p:sp>
      <p:cxnSp>
        <p:nvCxnSpPr>
          <p:cNvPr id="6" name="KS line 1"/>
          <p:cNvCxnSpPr/>
          <p:nvPr/>
        </p:nvCxnSpPr>
        <p:spPr>
          <a:xfrm>
            <a:off x="3840480" y="384048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KS line 2"/>
          <p:cNvCxnSpPr/>
          <p:nvPr/>
        </p:nvCxnSpPr>
        <p:spPr>
          <a:xfrm>
            <a:off x="3840480" y="420624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KS line 3"/>
          <p:cNvCxnSpPr/>
          <p:nvPr/>
        </p:nvCxnSpPr>
        <p:spPr>
          <a:xfrm>
            <a:off x="3840480" y="457200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KS lines label"/>
          <p:cNvSpPr txBox="1"/>
          <p:nvPr/>
        </p:nvSpPr>
        <p:spPr>
          <a:xfrm>
            <a:off x="3840480" y="31089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8B5A2B"/>
                </a:solidFill>
                <a:latin typeface="Helvetica Neue"/>
                <a:ea typeface="Helvetica Neue"/>
                <a:cs typeface="Helvetica Neue"/>
              </a:rPr>
              <a:t>3 lines</a:t>
            </a:r>
          </a:p>
        </p:txBody>
      </p:sp>
      <p:sp>
        <p:nvSpPr>
          <p:cNvPr id="10" name="KSU"/>
          <p:cNvSpPr/>
          <p:nvPr/>
        </p:nvSpPr>
        <p:spPr>
          <a:xfrm>
            <a:off x="5577840" y="3291840"/>
            <a:ext cx="2011680" cy="201168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KSU text"/>
          <p:cNvSpPr txBox="1"/>
          <p:nvPr/>
        </p:nvSpPr>
        <p:spPr>
          <a:xfrm>
            <a:off x="5623560" y="3337560"/>
            <a:ext cx="1920240" cy="1920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Key system unit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the closet</a:t>
            </a:r>
          </a:p>
        </p:txBody>
      </p:sp>
      <p:cxnSp>
        <p:nvCxnSpPr>
          <p:cNvPr id="12" name="KS ext 1"/>
          <p:cNvCxnSpPr/>
          <p:nvPr/>
        </p:nvCxnSpPr>
        <p:spPr>
          <a:xfrm flipV="1">
            <a:off x="7589520" y="306324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KS phone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2788920"/>
            <a:ext cx="548640" cy="548640"/>
          </a:xfrm>
          <a:prstGeom prst="rect">
            <a:avLst/>
          </a:prstGeom>
        </p:spPr>
      </p:pic>
      <p:sp>
        <p:nvSpPr>
          <p:cNvPr id="14" name="KS btn 1-1"/>
          <p:cNvSpPr/>
          <p:nvPr/>
        </p:nvSpPr>
        <p:spPr>
          <a:xfrm>
            <a:off x="960120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15" name="KS btn 1-2"/>
          <p:cNvSpPr/>
          <p:nvPr/>
        </p:nvSpPr>
        <p:spPr>
          <a:xfrm>
            <a:off x="1010412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16" name="KS btn 1-3"/>
          <p:cNvSpPr/>
          <p:nvPr/>
        </p:nvSpPr>
        <p:spPr>
          <a:xfrm>
            <a:off x="1060704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17" name="KS ext 2"/>
          <p:cNvCxnSpPr/>
          <p:nvPr/>
        </p:nvCxnSpPr>
        <p:spPr>
          <a:xfrm flipV="1">
            <a:off x="7589520" y="3886200"/>
            <a:ext cx="1188720" cy="41148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KS phone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3611880"/>
            <a:ext cx="548640" cy="548640"/>
          </a:xfrm>
          <a:prstGeom prst="rect">
            <a:avLst/>
          </a:prstGeom>
        </p:spPr>
      </p:pic>
      <p:sp>
        <p:nvSpPr>
          <p:cNvPr id="19" name="KS btn 2-1"/>
          <p:cNvSpPr/>
          <p:nvPr/>
        </p:nvSpPr>
        <p:spPr>
          <a:xfrm>
            <a:off x="960120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0" name="KS btn 2-2"/>
          <p:cNvSpPr/>
          <p:nvPr/>
        </p:nvSpPr>
        <p:spPr>
          <a:xfrm>
            <a:off x="1010412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1" name="KS btn 2-3"/>
          <p:cNvSpPr/>
          <p:nvPr/>
        </p:nvSpPr>
        <p:spPr>
          <a:xfrm>
            <a:off x="1060704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2" name="KS ext 3"/>
          <p:cNvCxnSpPr/>
          <p:nvPr/>
        </p:nvCxnSpPr>
        <p:spPr>
          <a:xfrm>
            <a:off x="7589520" y="4297680"/>
            <a:ext cx="1188720" cy="411479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KS phone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4434840"/>
            <a:ext cx="548640" cy="548640"/>
          </a:xfrm>
          <a:prstGeom prst="rect">
            <a:avLst/>
          </a:prstGeom>
        </p:spPr>
      </p:pic>
      <p:sp>
        <p:nvSpPr>
          <p:cNvPr id="24" name="KS btn 3-1"/>
          <p:cNvSpPr/>
          <p:nvPr/>
        </p:nvSpPr>
        <p:spPr>
          <a:xfrm>
            <a:off x="960120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5" name="KS btn 3-2"/>
          <p:cNvSpPr/>
          <p:nvPr/>
        </p:nvSpPr>
        <p:spPr>
          <a:xfrm>
            <a:off x="1010412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6" name="KS btn 3-3"/>
          <p:cNvSpPr/>
          <p:nvPr/>
        </p:nvSpPr>
        <p:spPr>
          <a:xfrm>
            <a:off x="1060704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7" name="KS ext 4"/>
          <p:cNvCxnSpPr/>
          <p:nvPr/>
        </p:nvCxnSpPr>
        <p:spPr>
          <a:xfrm>
            <a:off x="7589520" y="429768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KS phone 4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5257800"/>
            <a:ext cx="548640" cy="548640"/>
          </a:xfrm>
          <a:prstGeom prst="rect">
            <a:avLst/>
          </a:prstGeom>
        </p:spPr>
      </p:pic>
      <p:sp>
        <p:nvSpPr>
          <p:cNvPr id="29" name="KS btn 4-1"/>
          <p:cNvSpPr/>
          <p:nvPr/>
        </p:nvSpPr>
        <p:spPr>
          <a:xfrm>
            <a:off x="960120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30" name="KS btn 4-2"/>
          <p:cNvSpPr/>
          <p:nvPr/>
        </p:nvSpPr>
        <p:spPr>
          <a:xfrm>
            <a:off x="1010412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31" name="KS btn 4-3"/>
          <p:cNvSpPr/>
          <p:nvPr/>
        </p:nvSpPr>
        <p:spPr>
          <a:xfrm>
            <a:off x="1060704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sp>
        <p:nvSpPr>
          <p:cNvPr id="32" name="KS phones note"/>
          <p:cNvSpPr txBox="1"/>
          <p:nvPr/>
        </p:nvSpPr>
        <p:spPr>
          <a:xfrm>
            <a:off x="8778240" y="59893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Every phone has a button for every line</a:t>
            </a:r>
          </a:p>
        </p:txBody>
      </p:sp>
      <p:sp>
        <p:nvSpPr>
          <p:cNvPr id="33" name="Copper panel"/>
          <p:cNvSpPr/>
          <p:nvPr/>
        </p:nvSpPr>
        <p:spPr>
          <a:xfrm>
            <a:off x="12710160" y="2697480"/>
            <a:ext cx="4320540" cy="36576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pper list"/>
          <p:cNvSpPr txBox="1"/>
          <p:nvPr/>
        </p:nvSpPr>
        <p:spPr>
          <a:xfrm>
            <a:off x="12984480" y="2880360"/>
            <a:ext cx="38404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 on copper, same closet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and fire panels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Elevator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Fax machines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dial lines</a:t>
            </a:r>
          </a:p>
        </p:txBody>
      </p:sp>
      <p:sp>
        <p:nvSpPr>
          <p:cNvPr id="35" name="Copper banner"/>
          <p:cNvSpPr/>
          <p:nvPr/>
        </p:nvSpPr>
        <p:spPr>
          <a:xfrm>
            <a:off x="1257300" y="6720840"/>
            <a:ext cx="1577340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pper banner text"/>
          <p:cNvSpPr txBox="1"/>
          <p:nvPr/>
        </p:nvSpPr>
        <p:spPr>
          <a:xfrm>
            <a:off x="1554480" y="6766559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 are retiring copper phone lines. Everything on them needs a new path.</a:t>
            </a:r>
          </a:p>
        </p:txBody>
      </p:sp>
      <p:sp>
        <p:nvSpPr>
          <p:cNvPr id="37" name="KS ask 1"/>
          <p:cNvSpPr/>
          <p:nvPr/>
        </p:nvSpPr>
        <p:spPr>
          <a:xfrm>
            <a:off x="125730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KS ask 1 text"/>
          <p:cNvSpPr txBox="1"/>
          <p:nvPr/>
        </p:nvSpPr>
        <p:spPr>
          <a:xfrm>
            <a:off x="151333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inventory of copper lines?</a:t>
            </a:r>
          </a:p>
        </p:txBody>
      </p:sp>
      <p:sp>
        <p:nvSpPr>
          <p:cNvPr id="39" name="KS ask 2"/>
          <p:cNvSpPr/>
          <p:nvPr/>
        </p:nvSpPr>
        <p:spPr>
          <a:xfrm>
            <a:off x="662178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KS ask 2 text"/>
          <p:cNvSpPr txBox="1"/>
          <p:nvPr/>
        </p:nvSpPr>
        <p:spPr>
          <a:xfrm>
            <a:off x="687781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is each one for?</a:t>
            </a:r>
          </a:p>
        </p:txBody>
      </p:sp>
      <p:sp>
        <p:nvSpPr>
          <p:cNvPr id="41" name="KS ask 3"/>
          <p:cNvSpPr/>
          <p:nvPr/>
        </p:nvSpPr>
        <p:spPr>
          <a:xfrm>
            <a:off x="1198626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2" name="KS ask 3 text"/>
          <p:cNvSpPr txBox="1"/>
          <p:nvPr/>
        </p:nvSpPr>
        <p:spPr>
          <a:xfrm>
            <a:off x="12242291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replaces it: cellular or VoIP?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065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moves to IP</a:t>
            </a:r>
          </a:p>
        </p:txBody>
      </p:sp>
      <p:sp>
        <p:nvSpPr>
          <p:cNvPr id="1197066" name="Rectangle 10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3789789" cy="7726374"/>
          </a:xfrm>
        </p:spPr>
        <p:txBody>
          <a:bodyPr>
            <a:normAutofit/>
          </a:bodyPr>
          <a:lstStyle/>
          <a:p>
            <a:r>
              <a:rPr lang="en-US"/>
              <a:t>The 1990s saw the commercialization of the internet</a:t>
            </a:r>
          </a:p>
          <a:p>
            <a:r>
              <a:rPr lang="en-US"/>
              <a:t>As the internet took off, millions of users were looking for things to do in this new world</a:t>
            </a:r>
          </a:p>
          <a:p>
            <a:r>
              <a:rPr lang="en-US"/>
              <a:t>Innovation drove significant advances in technology of networking, computing and applications</a:t>
            </a:r>
          </a:p>
          <a:p>
            <a:r>
              <a:rPr lang="en-US"/>
              <a:t>As corporate networks moved to IP technology, so did the world of telephony</a:t>
            </a:r>
          </a:p>
          <a:p>
            <a:r>
              <a:rPr lang="en-US"/>
              <a:t>Voice over IP (VoIP) has almost completely replaced the old phones and switching systems</a:t>
            </a:r>
          </a:p>
          <a:p>
            <a:r>
              <a:rPr lang="en-US"/>
              <a:t>VoIP may, or may not, use the internet for connection and transport</a:t>
            </a: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212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644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7066" grpId="0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1367-DAA6-B837-20E2-BD5F2778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Brings New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1B89C-CFE4-06F7-A6A0-AEA9529F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Greater call control capabilities managed via a portal</a:t>
            </a:r>
          </a:p>
          <a:p>
            <a:r>
              <a:rPr lang="en-US"/>
              <a:t>Allows simple call forwarding to other devices (phones, apps)</a:t>
            </a:r>
          </a:p>
          <a:p>
            <a:pPr lvl="1"/>
            <a:r>
              <a:rPr lang="en-US"/>
              <a:t>One number, many devices, anywhere</a:t>
            </a:r>
          </a:p>
          <a:p>
            <a:r>
              <a:rPr lang="en-US"/>
              <a:t>Mobile phone apps allow calling from the </a:t>
            </a:r>
            <a:r>
              <a:rPr lang="en-US" i="1"/>
              <a:t>office number</a:t>
            </a:r>
            <a:r>
              <a:rPr lang="en-US"/>
              <a:t> within the app</a:t>
            </a:r>
          </a:p>
          <a:p>
            <a:r>
              <a:rPr lang="en-US"/>
              <a:t>Rich in traditional telephony features, simpler to use</a:t>
            </a:r>
          </a:p>
          <a:p>
            <a:r>
              <a:rPr lang="en-US"/>
              <a:t>Integration with conferencing capabilities (video, chat/IM, etc.)</a:t>
            </a:r>
          </a:p>
          <a:p>
            <a:r>
              <a:rPr lang="en-US"/>
              <a:t>Improved business continuity options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6100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Signaling Control: The Role of SIP</a:t>
            </a:r>
          </a:p>
        </p:txBody>
      </p:sp>
      <p:sp>
        <p:nvSpPr>
          <p:cNvPr id="11980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Signaling protocol for multimedia sessions</a:t>
            </a:r>
          </a:p>
          <a:p>
            <a:r>
              <a:rPr lang="en-US"/>
              <a:t>Dominant IPT signaling protocol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98084" name="Line 4"/>
          <p:cNvSpPr>
            <a:spLocks noChangeShapeType="1"/>
          </p:cNvSpPr>
          <p:nvPr/>
        </p:nvSpPr>
        <p:spPr bwMode="auto">
          <a:xfrm flipV="1">
            <a:off x="5931695" y="6207920"/>
            <a:ext cx="4543425" cy="1428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85" name="Line 5"/>
          <p:cNvSpPr>
            <a:spLocks noChangeShapeType="1"/>
          </p:cNvSpPr>
          <p:nvPr/>
        </p:nvSpPr>
        <p:spPr bwMode="auto">
          <a:xfrm flipH="1" flipV="1">
            <a:off x="11127583" y="6222208"/>
            <a:ext cx="2700338" cy="142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pic>
        <p:nvPicPr>
          <p:cNvPr id="1198086" name="Picture 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284995" y="5434013"/>
            <a:ext cx="933450" cy="1571625"/>
          </a:xfrm>
          <a:prstGeom prst="rect">
            <a:avLst/>
          </a:prstGeom>
          <a:noFill/>
        </p:spPr>
      </p:pic>
      <p:sp>
        <p:nvSpPr>
          <p:cNvPr id="1198087" name="Cloud"/>
          <p:cNvSpPr>
            <a:spLocks noChangeAspect="1" noEditPoints="1" noChangeArrowheads="1"/>
          </p:cNvSpPr>
          <p:nvPr/>
        </p:nvSpPr>
        <p:spPr bwMode="auto">
          <a:xfrm>
            <a:off x="7853363" y="4814888"/>
            <a:ext cx="4114800" cy="2757488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rgbClr val="B4B5DC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3743326" y="4200526"/>
            <a:ext cx="2071688" cy="1385888"/>
            <a:chOff x="493" y="1155"/>
            <a:chExt cx="870" cy="582"/>
          </a:xfrm>
        </p:grpSpPr>
        <p:sp>
          <p:nvSpPr>
            <p:cNvPr id="1198089" name="Text Box 9"/>
            <p:cNvSpPr txBox="1">
              <a:spLocks noChangeArrowheads="1"/>
            </p:cNvSpPr>
            <p:nvPr/>
          </p:nvSpPr>
          <p:spPr bwMode="auto">
            <a:xfrm>
              <a:off x="493" y="1155"/>
              <a:ext cx="749" cy="23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anchorCtr="1">
              <a:spAutoFit/>
            </a:bodyPr>
            <a:lstStyle/>
            <a:p>
              <a:pPr algn="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IP </a:t>
              </a:r>
              <a:r>
                <a:rPr lang="en-US" sz="3600">
                  <a:solidFill>
                    <a:srgbClr val="000000"/>
                  </a:solidFill>
                </a:rPr>
                <a:t>P</a:t>
              </a: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hone</a:t>
              </a:r>
            </a:p>
          </p:txBody>
        </p:sp>
        <p:sp>
          <p:nvSpPr>
            <p:cNvPr id="1198090" name="Line 10"/>
            <p:cNvSpPr>
              <a:spLocks noChangeShapeType="1"/>
            </p:cNvSpPr>
            <p:nvPr/>
          </p:nvSpPr>
          <p:spPr bwMode="auto">
            <a:xfrm>
              <a:off x="1071" y="1411"/>
              <a:ext cx="292" cy="326"/>
            </a:xfrm>
            <a:prstGeom prst="line">
              <a:avLst/>
            </a:prstGeom>
            <a:noFill/>
            <a:ln w="57150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</p:grpSp>
      <p:sp>
        <p:nvSpPr>
          <p:cNvPr id="1198091" name="Text Box 11"/>
          <p:cNvSpPr txBox="1">
            <a:spLocks noChangeArrowheads="1"/>
          </p:cNvSpPr>
          <p:nvPr/>
        </p:nvSpPr>
        <p:spPr bwMode="auto">
          <a:xfrm>
            <a:off x="13189417" y="2962276"/>
            <a:ext cx="1888659" cy="10341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Signaling</a:t>
            </a:r>
            <a:br>
              <a:rPr lang="en-US" sz="3600" b="1">
                <a:solidFill>
                  <a:srgbClr val="000000"/>
                </a:solidFill>
                <a:latin typeface="Arial Narrow" pitchFamily="34" charset="0"/>
              </a:rPr>
            </a:b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Control</a:t>
            </a:r>
          </a:p>
        </p:txBody>
      </p:sp>
      <p:sp>
        <p:nvSpPr>
          <p:cNvPr id="1198092" name="Line 12"/>
          <p:cNvSpPr>
            <a:spLocks noChangeShapeType="1"/>
          </p:cNvSpPr>
          <p:nvPr/>
        </p:nvSpPr>
        <p:spPr bwMode="auto">
          <a:xfrm flipH="1">
            <a:off x="13735051" y="4033838"/>
            <a:ext cx="483395" cy="1278732"/>
          </a:xfrm>
          <a:prstGeom prst="line">
            <a:avLst/>
          </a:prstGeom>
          <a:noFill/>
          <a:ln w="57150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93" name="AutoShape 13"/>
          <p:cNvSpPr>
            <a:spLocks noChangeArrowheads="1"/>
          </p:cNvSpPr>
          <p:nvPr/>
        </p:nvSpPr>
        <p:spPr bwMode="auto">
          <a:xfrm>
            <a:off x="6912770" y="5600701"/>
            <a:ext cx="5893593" cy="1254920"/>
          </a:xfrm>
          <a:prstGeom prst="leftRightArrow">
            <a:avLst>
              <a:gd name="adj1" fmla="val 62426"/>
              <a:gd name="adj2" fmla="val 70272"/>
            </a:avLst>
          </a:prstGeom>
          <a:solidFill>
            <a:srgbClr val="FBDE81"/>
          </a:solidFill>
          <a:ln w="9525" algn="ctr">
            <a:solidFill>
              <a:srgbClr val="000000"/>
            </a:solidFill>
            <a:miter lim="800000"/>
            <a:headEnd/>
            <a:tailEnd/>
          </a:ln>
          <a:effectLst/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 wrap="none" anchor="ctr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4200" b="1">
                <a:solidFill>
                  <a:srgbClr val="000000"/>
                </a:solidFill>
                <a:latin typeface="Arial Narrow" pitchFamily="34" charset="0"/>
              </a:rPr>
              <a:t>SIP</a:t>
            </a:r>
          </a:p>
        </p:txBody>
      </p:sp>
      <p:pic>
        <p:nvPicPr>
          <p:cNvPr id="16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58904" y="5586413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62991426"/>
      </p:ext>
    </p:extLst>
  </p:cSld>
  <p:clrMapOvr>
    <a:masterClrMapping/>
  </p:clrMapOvr>
  <p:transition/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27">
            <a:extLst>
              <a:ext uri="{FF2B5EF4-FFF2-40B4-BE49-F238E27FC236}">
                <a16:creationId xmlns:a16="http://schemas.microsoft.com/office/drawing/2014/main" id="{DF152340-E7F1-942D-3F7D-45D384F0CD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15839" y="7915857"/>
            <a:ext cx="1477425" cy="87574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SIP Trunks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IP telephony (IPT) trunk</a:t>
            </a:r>
          </a:p>
          <a:p>
            <a:r>
              <a:rPr lang="en-US"/>
              <a:t>Designed for use with an IP PBX</a:t>
            </a:r>
          </a:p>
          <a:p>
            <a:r>
              <a:rPr lang="en-US"/>
              <a:t>Typically shares voice and data</a:t>
            </a:r>
          </a:p>
          <a:p>
            <a:pPr lvl="1"/>
            <a:r>
              <a:rPr lang="en-US"/>
              <a:t>Burst data when voice not in use</a:t>
            </a:r>
          </a:p>
          <a:p>
            <a:pPr lvl="1"/>
            <a:r>
              <a:rPr lang="en-US"/>
              <a:t>Maximum concurrent calls configured</a:t>
            </a:r>
          </a:p>
          <a:p>
            <a:r>
              <a:rPr lang="en-US"/>
              <a:t>Call signaling over the trunk is SIP</a:t>
            </a:r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50" name="Line 27"/>
          <p:cNvSpPr>
            <a:spLocks noChangeShapeType="1"/>
          </p:cNvSpPr>
          <p:nvPr/>
        </p:nvSpPr>
        <p:spPr bwMode="auto">
          <a:xfrm>
            <a:off x="9925050" y="7886700"/>
            <a:ext cx="2693193" cy="165496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1" name="Line 27"/>
          <p:cNvSpPr>
            <a:spLocks noChangeShapeType="1"/>
          </p:cNvSpPr>
          <p:nvPr/>
        </p:nvSpPr>
        <p:spPr bwMode="auto">
          <a:xfrm flipV="1">
            <a:off x="5579269" y="7636668"/>
            <a:ext cx="5033963" cy="190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4" name="Line 35"/>
          <p:cNvSpPr>
            <a:spLocks noChangeShapeType="1"/>
          </p:cNvSpPr>
          <p:nvPr/>
        </p:nvSpPr>
        <p:spPr bwMode="auto">
          <a:xfrm flipV="1">
            <a:off x="6124576" y="8274843"/>
            <a:ext cx="1945481" cy="752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pic>
        <p:nvPicPr>
          <p:cNvPr id="2055" name="Picture 3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76913" y="8320088"/>
            <a:ext cx="933450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11434" name="Cloud"/>
          <p:cNvSpPr>
            <a:spLocks noChangeAspect="1" noEditPoints="1" noChangeArrowheads="1"/>
          </p:cNvSpPr>
          <p:nvPr/>
        </p:nvSpPr>
        <p:spPr bwMode="auto">
          <a:xfrm>
            <a:off x="6872288" y="6903245"/>
            <a:ext cx="4852988" cy="2031206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7" name="Text Box 43"/>
          <p:cNvSpPr txBox="1">
            <a:spLocks noChangeArrowheads="1"/>
          </p:cNvSpPr>
          <p:nvPr/>
        </p:nvSpPr>
        <p:spPr bwMode="auto">
          <a:xfrm>
            <a:off x="8025968" y="7000876"/>
            <a:ext cx="2548009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Private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Corporate IP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8" name="Line 15"/>
          <p:cNvSpPr>
            <a:spLocks noChangeShapeType="1"/>
          </p:cNvSpPr>
          <p:nvPr/>
        </p:nvSpPr>
        <p:spPr bwMode="auto">
          <a:xfrm flipV="1">
            <a:off x="10784681" y="2514601"/>
            <a:ext cx="2845595" cy="4583906"/>
          </a:xfrm>
          <a:prstGeom prst="line">
            <a:avLst/>
          </a:prstGeom>
          <a:noFill/>
          <a:ln w="76200">
            <a:solidFill>
              <a:schemeClr val="accent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grpSp>
        <p:nvGrpSpPr>
          <p:cNvPr id="3" name="Group 20"/>
          <p:cNvGrpSpPr>
            <a:grpSpLocks noChangeAspect="1"/>
          </p:cNvGrpSpPr>
          <p:nvPr/>
        </p:nvGrpSpPr>
        <p:grpSpPr bwMode="auto">
          <a:xfrm>
            <a:off x="10358438" y="6691313"/>
            <a:ext cx="1035843" cy="633413"/>
            <a:chOff x="2372" y="1318"/>
            <a:chExt cx="515" cy="315"/>
          </a:xfrm>
        </p:grpSpPr>
        <p:sp>
          <p:nvSpPr>
            <p:cNvPr id="2060" name="AutoShape 21"/>
            <p:cNvSpPr>
              <a:spLocks noChangeAspect="1" noChangeArrowheads="1"/>
            </p:cNvSpPr>
            <p:nvPr/>
          </p:nvSpPr>
          <p:spPr bwMode="auto">
            <a:xfrm>
              <a:off x="2372" y="1318"/>
              <a:ext cx="515" cy="3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endParaRPr lang="en-US" sz="2700"/>
            </a:p>
          </p:txBody>
        </p:sp>
        <p:sp>
          <p:nvSpPr>
            <p:cNvPr id="2061" name="Freeform 22"/>
            <p:cNvSpPr>
              <a:spLocks/>
            </p:cNvSpPr>
            <p:nvPr/>
          </p:nvSpPr>
          <p:spPr bwMode="auto">
            <a:xfrm>
              <a:off x="2400" y="1346"/>
              <a:ext cx="481" cy="281"/>
            </a:xfrm>
            <a:custGeom>
              <a:avLst/>
              <a:gdLst>
                <a:gd name="T0" fmla="*/ 481 w 481"/>
                <a:gd name="T1" fmla="*/ 109 h 281"/>
                <a:gd name="T2" fmla="*/ 481 w 481"/>
                <a:gd name="T3" fmla="*/ 109 h 281"/>
                <a:gd name="T4" fmla="*/ 481 w 481"/>
                <a:gd name="T5" fmla="*/ 97 h 281"/>
                <a:gd name="T6" fmla="*/ 479 w 481"/>
                <a:gd name="T7" fmla="*/ 86 h 281"/>
                <a:gd name="T8" fmla="*/ 473 w 481"/>
                <a:gd name="T9" fmla="*/ 75 h 281"/>
                <a:gd name="T10" fmla="*/ 465 w 481"/>
                <a:gd name="T11" fmla="*/ 67 h 281"/>
                <a:gd name="T12" fmla="*/ 454 w 481"/>
                <a:gd name="T13" fmla="*/ 56 h 281"/>
                <a:gd name="T14" fmla="*/ 442 w 481"/>
                <a:gd name="T15" fmla="*/ 47 h 281"/>
                <a:gd name="T16" fmla="*/ 412 w 481"/>
                <a:gd name="T17" fmla="*/ 31 h 281"/>
                <a:gd name="T18" fmla="*/ 378 w 481"/>
                <a:gd name="T19" fmla="*/ 19 h 281"/>
                <a:gd name="T20" fmla="*/ 337 w 481"/>
                <a:gd name="T21" fmla="*/ 8 h 281"/>
                <a:gd name="T22" fmla="*/ 289 w 481"/>
                <a:gd name="T23" fmla="*/ 3 h 281"/>
                <a:gd name="T24" fmla="*/ 242 w 481"/>
                <a:gd name="T25" fmla="*/ 0 h 281"/>
                <a:gd name="T26" fmla="*/ 242 w 481"/>
                <a:gd name="T27" fmla="*/ 0 h 281"/>
                <a:gd name="T28" fmla="*/ 192 w 481"/>
                <a:gd name="T29" fmla="*/ 3 h 281"/>
                <a:gd name="T30" fmla="*/ 147 w 481"/>
                <a:gd name="T31" fmla="*/ 8 h 281"/>
                <a:gd name="T32" fmla="*/ 106 w 481"/>
                <a:gd name="T33" fmla="*/ 19 h 281"/>
                <a:gd name="T34" fmla="*/ 69 w 481"/>
                <a:gd name="T35" fmla="*/ 31 h 281"/>
                <a:gd name="T36" fmla="*/ 42 w 481"/>
                <a:gd name="T37" fmla="*/ 47 h 281"/>
                <a:gd name="T38" fmla="*/ 28 w 481"/>
                <a:gd name="T39" fmla="*/ 56 h 281"/>
                <a:gd name="T40" fmla="*/ 19 w 481"/>
                <a:gd name="T41" fmla="*/ 67 h 281"/>
                <a:gd name="T42" fmla="*/ 11 w 481"/>
                <a:gd name="T43" fmla="*/ 75 h 281"/>
                <a:gd name="T44" fmla="*/ 5 w 481"/>
                <a:gd name="T45" fmla="*/ 86 h 281"/>
                <a:gd name="T46" fmla="*/ 0 w 481"/>
                <a:gd name="T47" fmla="*/ 97 h 281"/>
                <a:gd name="T48" fmla="*/ 0 w 481"/>
                <a:gd name="T49" fmla="*/ 109 h 281"/>
                <a:gd name="T50" fmla="*/ 0 w 481"/>
                <a:gd name="T51" fmla="*/ 111 h 281"/>
                <a:gd name="T52" fmla="*/ 0 w 481"/>
                <a:gd name="T53" fmla="*/ 173 h 281"/>
                <a:gd name="T54" fmla="*/ 0 w 481"/>
                <a:gd name="T55" fmla="*/ 173 h 281"/>
                <a:gd name="T56" fmla="*/ 0 w 481"/>
                <a:gd name="T57" fmla="*/ 184 h 281"/>
                <a:gd name="T58" fmla="*/ 5 w 481"/>
                <a:gd name="T59" fmla="*/ 195 h 281"/>
                <a:gd name="T60" fmla="*/ 11 w 481"/>
                <a:gd name="T61" fmla="*/ 206 h 281"/>
                <a:gd name="T62" fmla="*/ 19 w 481"/>
                <a:gd name="T63" fmla="*/ 215 h 281"/>
                <a:gd name="T64" fmla="*/ 28 w 481"/>
                <a:gd name="T65" fmla="*/ 226 h 281"/>
                <a:gd name="T66" fmla="*/ 42 w 481"/>
                <a:gd name="T67" fmla="*/ 234 h 281"/>
                <a:gd name="T68" fmla="*/ 69 w 481"/>
                <a:gd name="T69" fmla="*/ 251 h 281"/>
                <a:gd name="T70" fmla="*/ 106 w 481"/>
                <a:gd name="T71" fmla="*/ 262 h 281"/>
                <a:gd name="T72" fmla="*/ 147 w 481"/>
                <a:gd name="T73" fmla="*/ 273 h 281"/>
                <a:gd name="T74" fmla="*/ 192 w 481"/>
                <a:gd name="T75" fmla="*/ 279 h 281"/>
                <a:gd name="T76" fmla="*/ 242 w 481"/>
                <a:gd name="T77" fmla="*/ 281 h 281"/>
                <a:gd name="T78" fmla="*/ 242 w 481"/>
                <a:gd name="T79" fmla="*/ 281 h 281"/>
                <a:gd name="T80" fmla="*/ 289 w 481"/>
                <a:gd name="T81" fmla="*/ 279 h 281"/>
                <a:gd name="T82" fmla="*/ 337 w 481"/>
                <a:gd name="T83" fmla="*/ 273 h 281"/>
                <a:gd name="T84" fmla="*/ 378 w 481"/>
                <a:gd name="T85" fmla="*/ 262 h 281"/>
                <a:gd name="T86" fmla="*/ 412 w 481"/>
                <a:gd name="T87" fmla="*/ 251 h 281"/>
                <a:gd name="T88" fmla="*/ 442 w 481"/>
                <a:gd name="T89" fmla="*/ 234 h 281"/>
                <a:gd name="T90" fmla="*/ 454 w 481"/>
                <a:gd name="T91" fmla="*/ 226 h 281"/>
                <a:gd name="T92" fmla="*/ 465 w 481"/>
                <a:gd name="T93" fmla="*/ 215 h 281"/>
                <a:gd name="T94" fmla="*/ 473 w 481"/>
                <a:gd name="T95" fmla="*/ 206 h 281"/>
                <a:gd name="T96" fmla="*/ 479 w 481"/>
                <a:gd name="T97" fmla="*/ 195 h 281"/>
                <a:gd name="T98" fmla="*/ 481 w 481"/>
                <a:gd name="T99" fmla="*/ 184 h 281"/>
                <a:gd name="T100" fmla="*/ 481 w 481"/>
                <a:gd name="T101" fmla="*/ 173 h 281"/>
                <a:gd name="T102" fmla="*/ 481 w 481"/>
                <a:gd name="T103" fmla="*/ 111 h 281"/>
                <a:gd name="T104" fmla="*/ 481 w 481"/>
                <a:gd name="T105" fmla="*/ 111 h 281"/>
                <a:gd name="T106" fmla="*/ 481 w 481"/>
                <a:gd name="T107" fmla="*/ 109 h 281"/>
                <a:gd name="T108" fmla="*/ 481 w 481"/>
                <a:gd name="T109" fmla="*/ 109 h 281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w 481"/>
                <a:gd name="T166" fmla="*/ 0 h 281"/>
                <a:gd name="T167" fmla="*/ 481 w 481"/>
                <a:gd name="T168" fmla="*/ 281 h 281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T165" t="T166" r="T167" b="T168"/>
              <a:pathLst>
                <a:path w="481" h="281">
                  <a:moveTo>
                    <a:pt x="481" y="109"/>
                  </a:moveTo>
                  <a:lnTo>
                    <a:pt x="481" y="109"/>
                  </a:lnTo>
                  <a:lnTo>
                    <a:pt x="481" y="97"/>
                  </a:lnTo>
                  <a:lnTo>
                    <a:pt x="479" y="86"/>
                  </a:lnTo>
                  <a:lnTo>
                    <a:pt x="473" y="75"/>
                  </a:lnTo>
                  <a:lnTo>
                    <a:pt x="465" y="67"/>
                  </a:lnTo>
                  <a:lnTo>
                    <a:pt x="454" y="56"/>
                  </a:lnTo>
                  <a:lnTo>
                    <a:pt x="442" y="47"/>
                  </a:lnTo>
                  <a:lnTo>
                    <a:pt x="412" y="31"/>
                  </a:lnTo>
                  <a:lnTo>
                    <a:pt x="378" y="19"/>
                  </a:lnTo>
                  <a:lnTo>
                    <a:pt x="337" y="8"/>
                  </a:lnTo>
                  <a:lnTo>
                    <a:pt x="289" y="3"/>
                  </a:lnTo>
                  <a:lnTo>
                    <a:pt x="242" y="0"/>
                  </a:lnTo>
                  <a:lnTo>
                    <a:pt x="192" y="3"/>
                  </a:lnTo>
                  <a:lnTo>
                    <a:pt x="147" y="8"/>
                  </a:lnTo>
                  <a:lnTo>
                    <a:pt x="106" y="19"/>
                  </a:lnTo>
                  <a:lnTo>
                    <a:pt x="69" y="31"/>
                  </a:lnTo>
                  <a:lnTo>
                    <a:pt x="42" y="47"/>
                  </a:lnTo>
                  <a:lnTo>
                    <a:pt x="28" y="56"/>
                  </a:lnTo>
                  <a:lnTo>
                    <a:pt x="19" y="67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9"/>
                  </a:lnTo>
                  <a:lnTo>
                    <a:pt x="0" y="111"/>
                  </a:lnTo>
                  <a:lnTo>
                    <a:pt x="0" y="173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6"/>
                  </a:lnTo>
                  <a:lnTo>
                    <a:pt x="19" y="215"/>
                  </a:lnTo>
                  <a:lnTo>
                    <a:pt x="28" y="226"/>
                  </a:lnTo>
                  <a:lnTo>
                    <a:pt x="42" y="234"/>
                  </a:lnTo>
                  <a:lnTo>
                    <a:pt x="69" y="251"/>
                  </a:lnTo>
                  <a:lnTo>
                    <a:pt x="106" y="262"/>
                  </a:lnTo>
                  <a:lnTo>
                    <a:pt x="147" y="273"/>
                  </a:lnTo>
                  <a:lnTo>
                    <a:pt x="192" y="279"/>
                  </a:lnTo>
                  <a:lnTo>
                    <a:pt x="242" y="281"/>
                  </a:lnTo>
                  <a:lnTo>
                    <a:pt x="289" y="279"/>
                  </a:lnTo>
                  <a:lnTo>
                    <a:pt x="337" y="273"/>
                  </a:lnTo>
                  <a:lnTo>
                    <a:pt x="378" y="262"/>
                  </a:lnTo>
                  <a:lnTo>
                    <a:pt x="412" y="251"/>
                  </a:lnTo>
                  <a:lnTo>
                    <a:pt x="442" y="234"/>
                  </a:lnTo>
                  <a:lnTo>
                    <a:pt x="454" y="226"/>
                  </a:lnTo>
                  <a:lnTo>
                    <a:pt x="465" y="215"/>
                  </a:lnTo>
                  <a:lnTo>
                    <a:pt x="473" y="206"/>
                  </a:lnTo>
                  <a:lnTo>
                    <a:pt x="479" y="195"/>
                  </a:lnTo>
                  <a:lnTo>
                    <a:pt x="481" y="184"/>
                  </a:lnTo>
                  <a:lnTo>
                    <a:pt x="481" y="173"/>
                  </a:lnTo>
                  <a:lnTo>
                    <a:pt x="481" y="111"/>
                  </a:lnTo>
                  <a:lnTo>
                    <a:pt x="481" y="109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2" name="Freeform 23"/>
            <p:cNvSpPr>
              <a:spLocks/>
            </p:cNvSpPr>
            <p:nvPr/>
          </p:nvSpPr>
          <p:spPr bwMode="auto">
            <a:xfrm>
              <a:off x="2389" y="1335"/>
              <a:ext cx="459" cy="259"/>
            </a:xfrm>
            <a:custGeom>
              <a:avLst/>
              <a:gdLst>
                <a:gd name="T0" fmla="*/ 459 w 459"/>
                <a:gd name="T1" fmla="*/ 97 h 259"/>
                <a:gd name="T2" fmla="*/ 459 w 459"/>
                <a:gd name="T3" fmla="*/ 97 h 259"/>
                <a:gd name="T4" fmla="*/ 459 w 459"/>
                <a:gd name="T5" fmla="*/ 86 h 259"/>
                <a:gd name="T6" fmla="*/ 456 w 459"/>
                <a:gd name="T7" fmla="*/ 78 h 259"/>
                <a:gd name="T8" fmla="*/ 451 w 459"/>
                <a:gd name="T9" fmla="*/ 69 h 259"/>
                <a:gd name="T10" fmla="*/ 442 w 459"/>
                <a:gd name="T11" fmla="*/ 58 h 259"/>
                <a:gd name="T12" fmla="*/ 420 w 459"/>
                <a:gd name="T13" fmla="*/ 42 h 259"/>
                <a:gd name="T14" fmla="*/ 392 w 459"/>
                <a:gd name="T15" fmla="*/ 28 h 259"/>
                <a:gd name="T16" fmla="*/ 359 w 459"/>
                <a:gd name="T17" fmla="*/ 16 h 259"/>
                <a:gd name="T18" fmla="*/ 320 w 459"/>
                <a:gd name="T19" fmla="*/ 8 h 259"/>
                <a:gd name="T20" fmla="*/ 275 w 459"/>
                <a:gd name="T21" fmla="*/ 3 h 259"/>
                <a:gd name="T22" fmla="*/ 231 w 459"/>
                <a:gd name="T23" fmla="*/ 0 h 259"/>
                <a:gd name="T24" fmla="*/ 231 w 459"/>
                <a:gd name="T25" fmla="*/ 0 h 259"/>
                <a:gd name="T26" fmla="*/ 183 w 459"/>
                <a:gd name="T27" fmla="*/ 3 h 259"/>
                <a:gd name="T28" fmla="*/ 139 w 459"/>
                <a:gd name="T29" fmla="*/ 8 h 259"/>
                <a:gd name="T30" fmla="*/ 100 w 459"/>
                <a:gd name="T31" fmla="*/ 16 h 259"/>
                <a:gd name="T32" fmla="*/ 67 w 459"/>
                <a:gd name="T33" fmla="*/ 28 h 259"/>
                <a:gd name="T34" fmla="*/ 39 w 459"/>
                <a:gd name="T35" fmla="*/ 42 h 259"/>
                <a:gd name="T36" fmla="*/ 16 w 459"/>
                <a:gd name="T37" fmla="*/ 58 h 259"/>
                <a:gd name="T38" fmla="*/ 11 w 459"/>
                <a:gd name="T39" fmla="*/ 69 h 259"/>
                <a:gd name="T40" fmla="*/ 5 w 459"/>
                <a:gd name="T41" fmla="*/ 78 h 259"/>
                <a:gd name="T42" fmla="*/ 0 w 459"/>
                <a:gd name="T43" fmla="*/ 86 h 259"/>
                <a:gd name="T44" fmla="*/ 0 w 459"/>
                <a:gd name="T45" fmla="*/ 97 h 259"/>
                <a:gd name="T46" fmla="*/ 0 w 459"/>
                <a:gd name="T47" fmla="*/ 97 h 259"/>
                <a:gd name="T48" fmla="*/ 0 w 459"/>
                <a:gd name="T49" fmla="*/ 100 h 259"/>
                <a:gd name="T50" fmla="*/ 0 w 459"/>
                <a:gd name="T51" fmla="*/ 100 h 259"/>
                <a:gd name="T52" fmla="*/ 0 w 459"/>
                <a:gd name="T53" fmla="*/ 161 h 259"/>
                <a:gd name="T54" fmla="*/ 0 w 459"/>
                <a:gd name="T55" fmla="*/ 161 h 259"/>
                <a:gd name="T56" fmla="*/ 0 w 459"/>
                <a:gd name="T57" fmla="*/ 170 h 259"/>
                <a:gd name="T58" fmla="*/ 5 w 459"/>
                <a:gd name="T59" fmla="*/ 181 h 259"/>
                <a:gd name="T60" fmla="*/ 11 w 459"/>
                <a:gd name="T61" fmla="*/ 189 h 259"/>
                <a:gd name="T62" fmla="*/ 16 w 459"/>
                <a:gd name="T63" fmla="*/ 198 h 259"/>
                <a:gd name="T64" fmla="*/ 39 w 459"/>
                <a:gd name="T65" fmla="*/ 214 h 259"/>
                <a:gd name="T66" fmla="*/ 67 w 459"/>
                <a:gd name="T67" fmla="*/ 231 h 259"/>
                <a:gd name="T68" fmla="*/ 100 w 459"/>
                <a:gd name="T69" fmla="*/ 242 h 259"/>
                <a:gd name="T70" fmla="*/ 139 w 459"/>
                <a:gd name="T71" fmla="*/ 251 h 259"/>
                <a:gd name="T72" fmla="*/ 183 w 459"/>
                <a:gd name="T73" fmla="*/ 256 h 259"/>
                <a:gd name="T74" fmla="*/ 231 w 459"/>
                <a:gd name="T75" fmla="*/ 259 h 259"/>
                <a:gd name="T76" fmla="*/ 231 w 459"/>
                <a:gd name="T77" fmla="*/ 259 h 259"/>
                <a:gd name="T78" fmla="*/ 275 w 459"/>
                <a:gd name="T79" fmla="*/ 256 h 259"/>
                <a:gd name="T80" fmla="*/ 320 w 459"/>
                <a:gd name="T81" fmla="*/ 251 h 259"/>
                <a:gd name="T82" fmla="*/ 359 w 459"/>
                <a:gd name="T83" fmla="*/ 242 h 259"/>
                <a:gd name="T84" fmla="*/ 392 w 459"/>
                <a:gd name="T85" fmla="*/ 231 h 259"/>
                <a:gd name="T86" fmla="*/ 420 w 459"/>
                <a:gd name="T87" fmla="*/ 214 h 259"/>
                <a:gd name="T88" fmla="*/ 442 w 459"/>
                <a:gd name="T89" fmla="*/ 198 h 259"/>
                <a:gd name="T90" fmla="*/ 451 w 459"/>
                <a:gd name="T91" fmla="*/ 189 h 259"/>
                <a:gd name="T92" fmla="*/ 456 w 459"/>
                <a:gd name="T93" fmla="*/ 181 h 259"/>
                <a:gd name="T94" fmla="*/ 459 w 459"/>
                <a:gd name="T95" fmla="*/ 170 h 259"/>
                <a:gd name="T96" fmla="*/ 459 w 459"/>
                <a:gd name="T97" fmla="*/ 161 h 259"/>
                <a:gd name="T98" fmla="*/ 459 w 459"/>
                <a:gd name="T99" fmla="*/ 100 h 259"/>
                <a:gd name="T100" fmla="*/ 459 w 459"/>
                <a:gd name="T101" fmla="*/ 100 h 259"/>
                <a:gd name="T102" fmla="*/ 459 w 459"/>
                <a:gd name="T103" fmla="*/ 100 h 259"/>
                <a:gd name="T104" fmla="*/ 459 w 459"/>
                <a:gd name="T105" fmla="*/ 97 h 259"/>
                <a:gd name="T106" fmla="*/ 459 w 459"/>
                <a:gd name="T107" fmla="*/ 97 h 259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459"/>
                <a:gd name="T163" fmla="*/ 0 h 259"/>
                <a:gd name="T164" fmla="*/ 459 w 459"/>
                <a:gd name="T165" fmla="*/ 259 h 259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459" h="259">
                  <a:moveTo>
                    <a:pt x="459" y="97"/>
                  </a:moveTo>
                  <a:lnTo>
                    <a:pt x="459" y="97"/>
                  </a:lnTo>
                  <a:lnTo>
                    <a:pt x="459" y="86"/>
                  </a:lnTo>
                  <a:lnTo>
                    <a:pt x="456" y="78"/>
                  </a:lnTo>
                  <a:lnTo>
                    <a:pt x="451" y="69"/>
                  </a:lnTo>
                  <a:lnTo>
                    <a:pt x="442" y="58"/>
                  </a:lnTo>
                  <a:lnTo>
                    <a:pt x="420" y="42"/>
                  </a:lnTo>
                  <a:lnTo>
                    <a:pt x="392" y="28"/>
                  </a:lnTo>
                  <a:lnTo>
                    <a:pt x="359" y="16"/>
                  </a:lnTo>
                  <a:lnTo>
                    <a:pt x="320" y="8"/>
                  </a:lnTo>
                  <a:lnTo>
                    <a:pt x="275" y="3"/>
                  </a:lnTo>
                  <a:lnTo>
                    <a:pt x="231" y="0"/>
                  </a:lnTo>
                  <a:lnTo>
                    <a:pt x="183" y="3"/>
                  </a:lnTo>
                  <a:lnTo>
                    <a:pt x="139" y="8"/>
                  </a:lnTo>
                  <a:lnTo>
                    <a:pt x="100" y="16"/>
                  </a:lnTo>
                  <a:lnTo>
                    <a:pt x="67" y="28"/>
                  </a:lnTo>
                  <a:lnTo>
                    <a:pt x="39" y="42"/>
                  </a:lnTo>
                  <a:lnTo>
                    <a:pt x="16" y="58"/>
                  </a:lnTo>
                  <a:lnTo>
                    <a:pt x="11" y="69"/>
                  </a:lnTo>
                  <a:lnTo>
                    <a:pt x="5" y="78"/>
                  </a:lnTo>
                  <a:lnTo>
                    <a:pt x="0" y="86"/>
                  </a:lnTo>
                  <a:lnTo>
                    <a:pt x="0" y="97"/>
                  </a:lnTo>
                  <a:lnTo>
                    <a:pt x="0" y="100"/>
                  </a:lnTo>
                  <a:lnTo>
                    <a:pt x="0" y="161"/>
                  </a:lnTo>
                  <a:lnTo>
                    <a:pt x="0" y="170"/>
                  </a:lnTo>
                  <a:lnTo>
                    <a:pt x="5" y="181"/>
                  </a:lnTo>
                  <a:lnTo>
                    <a:pt x="11" y="189"/>
                  </a:lnTo>
                  <a:lnTo>
                    <a:pt x="16" y="198"/>
                  </a:lnTo>
                  <a:lnTo>
                    <a:pt x="39" y="214"/>
                  </a:lnTo>
                  <a:lnTo>
                    <a:pt x="67" y="231"/>
                  </a:lnTo>
                  <a:lnTo>
                    <a:pt x="100" y="242"/>
                  </a:lnTo>
                  <a:lnTo>
                    <a:pt x="139" y="251"/>
                  </a:lnTo>
                  <a:lnTo>
                    <a:pt x="183" y="256"/>
                  </a:lnTo>
                  <a:lnTo>
                    <a:pt x="231" y="259"/>
                  </a:lnTo>
                  <a:lnTo>
                    <a:pt x="275" y="256"/>
                  </a:lnTo>
                  <a:lnTo>
                    <a:pt x="320" y="251"/>
                  </a:lnTo>
                  <a:lnTo>
                    <a:pt x="359" y="242"/>
                  </a:lnTo>
                  <a:lnTo>
                    <a:pt x="392" y="231"/>
                  </a:lnTo>
                  <a:lnTo>
                    <a:pt x="420" y="214"/>
                  </a:lnTo>
                  <a:lnTo>
                    <a:pt x="442" y="198"/>
                  </a:lnTo>
                  <a:lnTo>
                    <a:pt x="451" y="189"/>
                  </a:lnTo>
                  <a:lnTo>
                    <a:pt x="456" y="181"/>
                  </a:lnTo>
                  <a:lnTo>
                    <a:pt x="459" y="170"/>
                  </a:lnTo>
                  <a:lnTo>
                    <a:pt x="459" y="161"/>
                  </a:lnTo>
                  <a:lnTo>
                    <a:pt x="459" y="100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3" name="Freeform 24"/>
            <p:cNvSpPr>
              <a:spLocks noEditPoints="1"/>
            </p:cNvSpPr>
            <p:nvPr/>
          </p:nvSpPr>
          <p:spPr bwMode="auto">
            <a:xfrm>
              <a:off x="2378" y="1324"/>
              <a:ext cx="481" cy="281"/>
            </a:xfrm>
            <a:custGeom>
              <a:avLst/>
              <a:gdLst>
                <a:gd name="T0" fmla="*/ 0 w 481"/>
                <a:gd name="T1" fmla="*/ 111 h 281"/>
                <a:gd name="T2" fmla="*/ 0 w 481"/>
                <a:gd name="T3" fmla="*/ 172 h 281"/>
                <a:gd name="T4" fmla="*/ 5 w 481"/>
                <a:gd name="T5" fmla="*/ 195 h 281"/>
                <a:gd name="T6" fmla="*/ 19 w 481"/>
                <a:gd name="T7" fmla="*/ 214 h 281"/>
                <a:gd name="T8" fmla="*/ 41 w 481"/>
                <a:gd name="T9" fmla="*/ 234 h 281"/>
                <a:gd name="T10" fmla="*/ 105 w 481"/>
                <a:gd name="T11" fmla="*/ 262 h 281"/>
                <a:gd name="T12" fmla="*/ 192 w 481"/>
                <a:gd name="T13" fmla="*/ 278 h 281"/>
                <a:gd name="T14" fmla="*/ 242 w 481"/>
                <a:gd name="T15" fmla="*/ 281 h 281"/>
                <a:gd name="T16" fmla="*/ 336 w 481"/>
                <a:gd name="T17" fmla="*/ 273 h 281"/>
                <a:gd name="T18" fmla="*/ 412 w 481"/>
                <a:gd name="T19" fmla="*/ 248 h 281"/>
                <a:gd name="T20" fmla="*/ 453 w 481"/>
                <a:gd name="T21" fmla="*/ 225 h 281"/>
                <a:gd name="T22" fmla="*/ 473 w 481"/>
                <a:gd name="T23" fmla="*/ 203 h 281"/>
                <a:gd name="T24" fmla="*/ 481 w 481"/>
                <a:gd name="T25" fmla="*/ 184 h 281"/>
                <a:gd name="T26" fmla="*/ 481 w 481"/>
                <a:gd name="T27" fmla="*/ 111 h 281"/>
                <a:gd name="T28" fmla="*/ 481 w 481"/>
                <a:gd name="T29" fmla="*/ 108 h 281"/>
                <a:gd name="T30" fmla="*/ 481 w 481"/>
                <a:gd name="T31" fmla="*/ 97 h 281"/>
                <a:gd name="T32" fmla="*/ 473 w 481"/>
                <a:gd name="T33" fmla="*/ 75 h 281"/>
                <a:gd name="T34" fmla="*/ 453 w 481"/>
                <a:gd name="T35" fmla="*/ 55 h 281"/>
                <a:gd name="T36" fmla="*/ 412 w 481"/>
                <a:gd name="T37" fmla="*/ 30 h 281"/>
                <a:gd name="T38" fmla="*/ 336 w 481"/>
                <a:gd name="T39" fmla="*/ 8 h 281"/>
                <a:gd name="T40" fmla="*/ 242 w 481"/>
                <a:gd name="T41" fmla="*/ 0 h 281"/>
                <a:gd name="T42" fmla="*/ 192 w 481"/>
                <a:gd name="T43" fmla="*/ 2 h 281"/>
                <a:gd name="T44" fmla="*/ 105 w 481"/>
                <a:gd name="T45" fmla="*/ 19 h 281"/>
                <a:gd name="T46" fmla="*/ 41 w 481"/>
                <a:gd name="T47" fmla="*/ 47 h 281"/>
                <a:gd name="T48" fmla="*/ 19 w 481"/>
                <a:gd name="T49" fmla="*/ 66 h 281"/>
                <a:gd name="T50" fmla="*/ 5 w 481"/>
                <a:gd name="T51" fmla="*/ 86 h 281"/>
                <a:gd name="T52" fmla="*/ 0 w 481"/>
                <a:gd name="T53" fmla="*/ 108 h 281"/>
                <a:gd name="T54" fmla="*/ 22 w 481"/>
                <a:gd name="T55" fmla="*/ 172 h 281"/>
                <a:gd name="T56" fmla="*/ 22 w 481"/>
                <a:gd name="T57" fmla="*/ 108 h 281"/>
                <a:gd name="T58" fmla="*/ 22 w 481"/>
                <a:gd name="T59" fmla="*/ 100 h 281"/>
                <a:gd name="T60" fmla="*/ 39 w 481"/>
                <a:gd name="T61" fmla="*/ 78 h 281"/>
                <a:gd name="T62" fmla="*/ 83 w 481"/>
                <a:gd name="T63" fmla="*/ 50 h 281"/>
                <a:gd name="T64" fmla="*/ 153 w 481"/>
                <a:gd name="T65" fmla="*/ 30 h 281"/>
                <a:gd name="T66" fmla="*/ 242 w 481"/>
                <a:gd name="T67" fmla="*/ 22 h 281"/>
                <a:gd name="T68" fmla="*/ 289 w 481"/>
                <a:gd name="T69" fmla="*/ 25 h 281"/>
                <a:gd name="T70" fmla="*/ 367 w 481"/>
                <a:gd name="T71" fmla="*/ 39 h 281"/>
                <a:gd name="T72" fmla="*/ 425 w 481"/>
                <a:gd name="T73" fmla="*/ 64 h 281"/>
                <a:gd name="T74" fmla="*/ 456 w 481"/>
                <a:gd name="T75" fmla="*/ 92 h 281"/>
                <a:gd name="T76" fmla="*/ 459 w 481"/>
                <a:gd name="T77" fmla="*/ 108 h 281"/>
                <a:gd name="T78" fmla="*/ 459 w 481"/>
                <a:gd name="T79" fmla="*/ 172 h 281"/>
                <a:gd name="T80" fmla="*/ 456 w 481"/>
                <a:gd name="T81" fmla="*/ 186 h 281"/>
                <a:gd name="T82" fmla="*/ 425 w 481"/>
                <a:gd name="T83" fmla="*/ 217 h 281"/>
                <a:gd name="T84" fmla="*/ 367 w 481"/>
                <a:gd name="T85" fmla="*/ 242 h 281"/>
                <a:gd name="T86" fmla="*/ 289 w 481"/>
                <a:gd name="T87" fmla="*/ 256 h 281"/>
                <a:gd name="T88" fmla="*/ 242 w 481"/>
                <a:gd name="T89" fmla="*/ 259 h 281"/>
                <a:gd name="T90" fmla="*/ 153 w 481"/>
                <a:gd name="T91" fmla="*/ 250 h 281"/>
                <a:gd name="T92" fmla="*/ 83 w 481"/>
                <a:gd name="T93" fmla="*/ 231 h 281"/>
                <a:gd name="T94" fmla="*/ 39 w 481"/>
                <a:gd name="T95" fmla="*/ 203 h 281"/>
                <a:gd name="T96" fmla="*/ 22 w 481"/>
                <a:gd name="T97" fmla="*/ 181 h 281"/>
                <a:gd name="T98" fmla="*/ 22 w 481"/>
                <a:gd name="T99" fmla="*/ 172 h 281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481"/>
                <a:gd name="T151" fmla="*/ 0 h 281"/>
                <a:gd name="T152" fmla="*/ 481 w 481"/>
                <a:gd name="T153" fmla="*/ 281 h 281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481" h="281">
                  <a:moveTo>
                    <a:pt x="0" y="108"/>
                  </a:moveTo>
                  <a:lnTo>
                    <a:pt x="0" y="111"/>
                  </a:lnTo>
                  <a:lnTo>
                    <a:pt x="0" y="172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3"/>
                  </a:lnTo>
                  <a:lnTo>
                    <a:pt x="19" y="214"/>
                  </a:lnTo>
                  <a:lnTo>
                    <a:pt x="27" y="225"/>
                  </a:lnTo>
                  <a:lnTo>
                    <a:pt x="41" y="234"/>
                  </a:lnTo>
                  <a:lnTo>
                    <a:pt x="69" y="248"/>
                  </a:lnTo>
                  <a:lnTo>
                    <a:pt x="105" y="262"/>
                  </a:lnTo>
                  <a:lnTo>
                    <a:pt x="147" y="273"/>
                  </a:lnTo>
                  <a:lnTo>
                    <a:pt x="192" y="278"/>
                  </a:lnTo>
                  <a:lnTo>
                    <a:pt x="242" y="281"/>
                  </a:lnTo>
                  <a:lnTo>
                    <a:pt x="289" y="278"/>
                  </a:lnTo>
                  <a:lnTo>
                    <a:pt x="336" y="273"/>
                  </a:lnTo>
                  <a:lnTo>
                    <a:pt x="375" y="262"/>
                  </a:lnTo>
                  <a:lnTo>
                    <a:pt x="412" y="248"/>
                  </a:lnTo>
                  <a:lnTo>
                    <a:pt x="442" y="234"/>
                  </a:lnTo>
                  <a:lnTo>
                    <a:pt x="453" y="225"/>
                  </a:lnTo>
                  <a:lnTo>
                    <a:pt x="464" y="214"/>
                  </a:lnTo>
                  <a:lnTo>
                    <a:pt x="473" y="203"/>
                  </a:lnTo>
                  <a:lnTo>
                    <a:pt x="478" y="195"/>
                  </a:lnTo>
                  <a:lnTo>
                    <a:pt x="481" y="184"/>
                  </a:lnTo>
                  <a:lnTo>
                    <a:pt x="481" y="172"/>
                  </a:lnTo>
                  <a:lnTo>
                    <a:pt x="481" y="111"/>
                  </a:lnTo>
                  <a:lnTo>
                    <a:pt x="481" y="108"/>
                  </a:lnTo>
                  <a:lnTo>
                    <a:pt x="481" y="97"/>
                  </a:lnTo>
                  <a:lnTo>
                    <a:pt x="478" y="86"/>
                  </a:lnTo>
                  <a:lnTo>
                    <a:pt x="473" y="75"/>
                  </a:lnTo>
                  <a:lnTo>
                    <a:pt x="464" y="66"/>
                  </a:lnTo>
                  <a:lnTo>
                    <a:pt x="453" y="55"/>
                  </a:lnTo>
                  <a:lnTo>
                    <a:pt x="442" y="47"/>
                  </a:lnTo>
                  <a:lnTo>
                    <a:pt x="412" y="30"/>
                  </a:lnTo>
                  <a:lnTo>
                    <a:pt x="375" y="19"/>
                  </a:lnTo>
                  <a:lnTo>
                    <a:pt x="336" y="8"/>
                  </a:lnTo>
                  <a:lnTo>
                    <a:pt x="289" y="2"/>
                  </a:lnTo>
                  <a:lnTo>
                    <a:pt x="242" y="0"/>
                  </a:lnTo>
                  <a:lnTo>
                    <a:pt x="192" y="2"/>
                  </a:lnTo>
                  <a:lnTo>
                    <a:pt x="147" y="8"/>
                  </a:lnTo>
                  <a:lnTo>
                    <a:pt x="105" y="19"/>
                  </a:lnTo>
                  <a:lnTo>
                    <a:pt x="69" y="30"/>
                  </a:lnTo>
                  <a:lnTo>
                    <a:pt x="41" y="47"/>
                  </a:lnTo>
                  <a:lnTo>
                    <a:pt x="27" y="55"/>
                  </a:lnTo>
                  <a:lnTo>
                    <a:pt x="19" y="66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8"/>
                  </a:lnTo>
                  <a:close/>
                  <a:moveTo>
                    <a:pt x="22" y="172"/>
                  </a:moveTo>
                  <a:lnTo>
                    <a:pt x="22" y="108"/>
                  </a:lnTo>
                  <a:lnTo>
                    <a:pt x="22" y="100"/>
                  </a:lnTo>
                  <a:lnTo>
                    <a:pt x="25" y="92"/>
                  </a:lnTo>
                  <a:lnTo>
                    <a:pt x="39" y="78"/>
                  </a:lnTo>
                  <a:lnTo>
                    <a:pt x="55" y="64"/>
                  </a:lnTo>
                  <a:lnTo>
                    <a:pt x="83" y="50"/>
                  </a:lnTo>
                  <a:lnTo>
                    <a:pt x="114" y="39"/>
                  </a:lnTo>
                  <a:lnTo>
                    <a:pt x="153" y="30"/>
                  </a:lnTo>
                  <a:lnTo>
                    <a:pt x="194" y="25"/>
                  </a:lnTo>
                  <a:lnTo>
                    <a:pt x="242" y="22"/>
                  </a:lnTo>
                  <a:lnTo>
                    <a:pt x="289" y="25"/>
                  </a:lnTo>
                  <a:lnTo>
                    <a:pt x="331" y="30"/>
                  </a:lnTo>
                  <a:lnTo>
                    <a:pt x="367" y="39"/>
                  </a:lnTo>
                  <a:lnTo>
                    <a:pt x="400" y="50"/>
                  </a:lnTo>
                  <a:lnTo>
                    <a:pt x="425" y="64"/>
                  </a:lnTo>
                  <a:lnTo>
                    <a:pt x="445" y="78"/>
                  </a:lnTo>
                  <a:lnTo>
                    <a:pt x="456" y="92"/>
                  </a:lnTo>
                  <a:lnTo>
                    <a:pt x="459" y="100"/>
                  </a:lnTo>
                  <a:lnTo>
                    <a:pt x="459" y="108"/>
                  </a:lnTo>
                  <a:lnTo>
                    <a:pt x="459" y="172"/>
                  </a:lnTo>
                  <a:lnTo>
                    <a:pt x="459" y="181"/>
                  </a:lnTo>
                  <a:lnTo>
                    <a:pt x="456" y="186"/>
                  </a:lnTo>
                  <a:lnTo>
                    <a:pt x="445" y="203"/>
                  </a:lnTo>
                  <a:lnTo>
                    <a:pt x="425" y="217"/>
                  </a:lnTo>
                  <a:lnTo>
                    <a:pt x="400" y="231"/>
                  </a:lnTo>
                  <a:lnTo>
                    <a:pt x="367" y="242"/>
                  </a:lnTo>
                  <a:lnTo>
                    <a:pt x="331" y="250"/>
                  </a:lnTo>
                  <a:lnTo>
                    <a:pt x="289" y="256"/>
                  </a:lnTo>
                  <a:lnTo>
                    <a:pt x="242" y="259"/>
                  </a:lnTo>
                  <a:lnTo>
                    <a:pt x="194" y="256"/>
                  </a:lnTo>
                  <a:lnTo>
                    <a:pt x="153" y="250"/>
                  </a:lnTo>
                  <a:lnTo>
                    <a:pt x="114" y="242"/>
                  </a:lnTo>
                  <a:lnTo>
                    <a:pt x="83" y="231"/>
                  </a:lnTo>
                  <a:lnTo>
                    <a:pt x="55" y="217"/>
                  </a:lnTo>
                  <a:lnTo>
                    <a:pt x="39" y="203"/>
                  </a:lnTo>
                  <a:lnTo>
                    <a:pt x="25" y="186"/>
                  </a:lnTo>
                  <a:lnTo>
                    <a:pt x="22" y="181"/>
                  </a:lnTo>
                  <a:lnTo>
                    <a:pt x="22" y="17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4" name="Freeform 25"/>
            <p:cNvSpPr>
              <a:spLocks/>
            </p:cNvSpPr>
            <p:nvPr/>
          </p:nvSpPr>
          <p:spPr bwMode="auto">
            <a:xfrm>
              <a:off x="2389" y="1435"/>
              <a:ext cx="53" cy="123"/>
            </a:xfrm>
            <a:custGeom>
              <a:avLst/>
              <a:gdLst>
                <a:gd name="T0" fmla="*/ 53 w 53"/>
                <a:gd name="T1" fmla="*/ 0 h 123"/>
                <a:gd name="T2" fmla="*/ 0 w 53"/>
                <a:gd name="T3" fmla="*/ 0 h 123"/>
                <a:gd name="T4" fmla="*/ 0 w 53"/>
                <a:gd name="T5" fmla="*/ 61 h 123"/>
                <a:gd name="T6" fmla="*/ 0 w 53"/>
                <a:gd name="T7" fmla="*/ 61 h 123"/>
                <a:gd name="T8" fmla="*/ 0 w 53"/>
                <a:gd name="T9" fmla="*/ 70 h 123"/>
                <a:gd name="T10" fmla="*/ 2 w 53"/>
                <a:gd name="T11" fmla="*/ 78 h 123"/>
                <a:gd name="T12" fmla="*/ 14 w 53"/>
                <a:gd name="T13" fmla="*/ 95 h 123"/>
                <a:gd name="T14" fmla="*/ 30 w 53"/>
                <a:gd name="T15" fmla="*/ 109 h 123"/>
                <a:gd name="T16" fmla="*/ 53 w 53"/>
                <a:gd name="T17" fmla="*/ 123 h 123"/>
                <a:gd name="T18" fmla="*/ 53 w 53"/>
                <a:gd name="T19" fmla="*/ 0 h 12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3"/>
                <a:gd name="T31" fmla="*/ 0 h 123"/>
                <a:gd name="T32" fmla="*/ 53 w 53"/>
                <a:gd name="T33" fmla="*/ 123 h 12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3" h="123">
                  <a:moveTo>
                    <a:pt x="53" y="0"/>
                  </a:moveTo>
                  <a:lnTo>
                    <a:pt x="0" y="0"/>
                  </a:lnTo>
                  <a:lnTo>
                    <a:pt x="0" y="61"/>
                  </a:lnTo>
                  <a:lnTo>
                    <a:pt x="0" y="70"/>
                  </a:lnTo>
                  <a:lnTo>
                    <a:pt x="2" y="78"/>
                  </a:lnTo>
                  <a:lnTo>
                    <a:pt x="14" y="95"/>
                  </a:lnTo>
                  <a:lnTo>
                    <a:pt x="30" y="109"/>
                  </a:lnTo>
                  <a:lnTo>
                    <a:pt x="53" y="123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5" name="Freeform 26"/>
            <p:cNvSpPr>
              <a:spLocks/>
            </p:cNvSpPr>
            <p:nvPr/>
          </p:nvSpPr>
          <p:spPr bwMode="auto">
            <a:xfrm>
              <a:off x="2442" y="1435"/>
              <a:ext cx="91" cy="151"/>
            </a:xfrm>
            <a:custGeom>
              <a:avLst/>
              <a:gdLst>
                <a:gd name="T0" fmla="*/ 91 w 91"/>
                <a:gd name="T1" fmla="*/ 0 h 151"/>
                <a:gd name="T2" fmla="*/ 0 w 91"/>
                <a:gd name="T3" fmla="*/ 0 h 151"/>
                <a:gd name="T4" fmla="*/ 0 w 91"/>
                <a:gd name="T5" fmla="*/ 123 h 151"/>
                <a:gd name="T6" fmla="*/ 0 w 91"/>
                <a:gd name="T7" fmla="*/ 123 h 151"/>
                <a:gd name="T8" fmla="*/ 19 w 91"/>
                <a:gd name="T9" fmla="*/ 131 h 151"/>
                <a:gd name="T10" fmla="*/ 41 w 91"/>
                <a:gd name="T11" fmla="*/ 139 h 151"/>
                <a:gd name="T12" fmla="*/ 66 w 91"/>
                <a:gd name="T13" fmla="*/ 148 h 151"/>
                <a:gd name="T14" fmla="*/ 91 w 91"/>
                <a:gd name="T15" fmla="*/ 151 h 151"/>
                <a:gd name="T16" fmla="*/ 91 w 91"/>
                <a:gd name="T17" fmla="*/ 0 h 15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91"/>
                <a:gd name="T28" fmla="*/ 0 h 151"/>
                <a:gd name="T29" fmla="*/ 91 w 91"/>
                <a:gd name="T30" fmla="*/ 151 h 15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91" h="151">
                  <a:moveTo>
                    <a:pt x="91" y="0"/>
                  </a:moveTo>
                  <a:lnTo>
                    <a:pt x="0" y="0"/>
                  </a:lnTo>
                  <a:lnTo>
                    <a:pt x="0" y="123"/>
                  </a:lnTo>
                  <a:lnTo>
                    <a:pt x="19" y="131"/>
                  </a:lnTo>
                  <a:lnTo>
                    <a:pt x="41" y="139"/>
                  </a:lnTo>
                  <a:lnTo>
                    <a:pt x="66" y="148"/>
                  </a:lnTo>
                  <a:lnTo>
                    <a:pt x="91" y="15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8C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6" name="Freeform 27"/>
            <p:cNvSpPr>
              <a:spLocks/>
            </p:cNvSpPr>
            <p:nvPr/>
          </p:nvSpPr>
          <p:spPr bwMode="auto">
            <a:xfrm>
              <a:off x="2533" y="1435"/>
              <a:ext cx="140" cy="159"/>
            </a:xfrm>
            <a:custGeom>
              <a:avLst/>
              <a:gdLst>
                <a:gd name="T0" fmla="*/ 140 w 140"/>
                <a:gd name="T1" fmla="*/ 0 h 159"/>
                <a:gd name="T2" fmla="*/ 0 w 140"/>
                <a:gd name="T3" fmla="*/ 0 h 159"/>
                <a:gd name="T4" fmla="*/ 0 w 140"/>
                <a:gd name="T5" fmla="*/ 151 h 159"/>
                <a:gd name="T6" fmla="*/ 0 w 140"/>
                <a:gd name="T7" fmla="*/ 151 h 159"/>
                <a:gd name="T8" fmla="*/ 42 w 140"/>
                <a:gd name="T9" fmla="*/ 156 h 159"/>
                <a:gd name="T10" fmla="*/ 87 w 140"/>
                <a:gd name="T11" fmla="*/ 159 h 159"/>
                <a:gd name="T12" fmla="*/ 87 w 140"/>
                <a:gd name="T13" fmla="*/ 159 h 159"/>
                <a:gd name="T14" fmla="*/ 140 w 140"/>
                <a:gd name="T15" fmla="*/ 156 h 159"/>
                <a:gd name="T16" fmla="*/ 140 w 140"/>
                <a:gd name="T17" fmla="*/ 0 h 15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0"/>
                <a:gd name="T28" fmla="*/ 0 h 159"/>
                <a:gd name="T29" fmla="*/ 140 w 140"/>
                <a:gd name="T30" fmla="*/ 159 h 15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0" h="159">
                  <a:moveTo>
                    <a:pt x="140" y="0"/>
                  </a:moveTo>
                  <a:lnTo>
                    <a:pt x="0" y="0"/>
                  </a:lnTo>
                  <a:lnTo>
                    <a:pt x="0" y="151"/>
                  </a:lnTo>
                  <a:lnTo>
                    <a:pt x="42" y="156"/>
                  </a:lnTo>
                  <a:lnTo>
                    <a:pt x="87" y="159"/>
                  </a:lnTo>
                  <a:lnTo>
                    <a:pt x="140" y="156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7" name="Freeform 28"/>
            <p:cNvSpPr>
              <a:spLocks/>
            </p:cNvSpPr>
            <p:nvPr/>
          </p:nvSpPr>
          <p:spPr bwMode="auto">
            <a:xfrm>
              <a:off x="2773" y="1435"/>
              <a:ext cx="75" cy="134"/>
            </a:xfrm>
            <a:custGeom>
              <a:avLst/>
              <a:gdLst>
                <a:gd name="T0" fmla="*/ 0 w 75"/>
                <a:gd name="T1" fmla="*/ 134 h 134"/>
                <a:gd name="T2" fmla="*/ 0 w 75"/>
                <a:gd name="T3" fmla="*/ 134 h 134"/>
                <a:gd name="T4" fmla="*/ 30 w 75"/>
                <a:gd name="T5" fmla="*/ 120 h 134"/>
                <a:gd name="T6" fmla="*/ 44 w 75"/>
                <a:gd name="T7" fmla="*/ 112 h 134"/>
                <a:gd name="T8" fmla="*/ 56 w 75"/>
                <a:gd name="T9" fmla="*/ 100 h 134"/>
                <a:gd name="T10" fmla="*/ 64 w 75"/>
                <a:gd name="T11" fmla="*/ 92 h 134"/>
                <a:gd name="T12" fmla="*/ 69 w 75"/>
                <a:gd name="T13" fmla="*/ 81 h 134"/>
                <a:gd name="T14" fmla="*/ 75 w 75"/>
                <a:gd name="T15" fmla="*/ 73 h 134"/>
                <a:gd name="T16" fmla="*/ 75 w 75"/>
                <a:gd name="T17" fmla="*/ 61 h 134"/>
                <a:gd name="T18" fmla="*/ 75 w 75"/>
                <a:gd name="T19" fmla="*/ 0 h 134"/>
                <a:gd name="T20" fmla="*/ 0 w 75"/>
                <a:gd name="T21" fmla="*/ 0 h 134"/>
                <a:gd name="T22" fmla="*/ 0 w 75"/>
                <a:gd name="T23" fmla="*/ 134 h 134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5"/>
                <a:gd name="T37" fmla="*/ 0 h 134"/>
                <a:gd name="T38" fmla="*/ 75 w 75"/>
                <a:gd name="T39" fmla="*/ 134 h 134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5" h="134">
                  <a:moveTo>
                    <a:pt x="0" y="134"/>
                  </a:moveTo>
                  <a:lnTo>
                    <a:pt x="0" y="134"/>
                  </a:lnTo>
                  <a:lnTo>
                    <a:pt x="30" y="120"/>
                  </a:lnTo>
                  <a:lnTo>
                    <a:pt x="44" y="112"/>
                  </a:lnTo>
                  <a:lnTo>
                    <a:pt x="56" y="100"/>
                  </a:lnTo>
                  <a:lnTo>
                    <a:pt x="64" y="92"/>
                  </a:lnTo>
                  <a:lnTo>
                    <a:pt x="69" y="81"/>
                  </a:lnTo>
                  <a:lnTo>
                    <a:pt x="75" y="73"/>
                  </a:lnTo>
                  <a:lnTo>
                    <a:pt x="75" y="61"/>
                  </a:lnTo>
                  <a:lnTo>
                    <a:pt x="75" y="0"/>
                  </a:lnTo>
                  <a:lnTo>
                    <a:pt x="0" y="0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134D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8" name="Freeform 29"/>
            <p:cNvSpPr>
              <a:spLocks/>
            </p:cNvSpPr>
            <p:nvPr/>
          </p:nvSpPr>
          <p:spPr bwMode="auto">
            <a:xfrm>
              <a:off x="2673" y="1435"/>
              <a:ext cx="100" cy="156"/>
            </a:xfrm>
            <a:custGeom>
              <a:avLst/>
              <a:gdLst>
                <a:gd name="T0" fmla="*/ 100 w 100"/>
                <a:gd name="T1" fmla="*/ 0 h 156"/>
                <a:gd name="T2" fmla="*/ 0 w 100"/>
                <a:gd name="T3" fmla="*/ 0 h 156"/>
                <a:gd name="T4" fmla="*/ 0 w 100"/>
                <a:gd name="T5" fmla="*/ 156 h 156"/>
                <a:gd name="T6" fmla="*/ 0 w 100"/>
                <a:gd name="T7" fmla="*/ 156 h 156"/>
                <a:gd name="T8" fmla="*/ 53 w 100"/>
                <a:gd name="T9" fmla="*/ 148 h 156"/>
                <a:gd name="T10" fmla="*/ 78 w 100"/>
                <a:gd name="T11" fmla="*/ 142 h 156"/>
                <a:gd name="T12" fmla="*/ 100 w 100"/>
                <a:gd name="T13" fmla="*/ 134 h 156"/>
                <a:gd name="T14" fmla="*/ 100 w 100"/>
                <a:gd name="T15" fmla="*/ 0 h 1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00"/>
                <a:gd name="T25" fmla="*/ 0 h 156"/>
                <a:gd name="T26" fmla="*/ 100 w 100"/>
                <a:gd name="T27" fmla="*/ 156 h 1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00" h="156">
                  <a:moveTo>
                    <a:pt x="100" y="0"/>
                  </a:moveTo>
                  <a:lnTo>
                    <a:pt x="0" y="0"/>
                  </a:lnTo>
                  <a:lnTo>
                    <a:pt x="0" y="156"/>
                  </a:lnTo>
                  <a:lnTo>
                    <a:pt x="53" y="148"/>
                  </a:lnTo>
                  <a:lnTo>
                    <a:pt x="78" y="142"/>
                  </a:lnTo>
                  <a:lnTo>
                    <a:pt x="100" y="134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9" name="Freeform 30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0" name="Freeform 31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1" name="Freeform 32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2" name="Freeform 33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3" name="Freeform 34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4" name="Freeform 35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5" name="Freeform 36"/>
            <p:cNvSpPr>
              <a:spLocks/>
            </p:cNvSpPr>
            <p:nvPr/>
          </p:nvSpPr>
          <p:spPr bwMode="auto">
            <a:xfrm>
              <a:off x="2458" y="1368"/>
              <a:ext cx="142" cy="59"/>
            </a:xfrm>
            <a:custGeom>
              <a:avLst/>
              <a:gdLst>
                <a:gd name="T0" fmla="*/ 142 w 142"/>
                <a:gd name="T1" fmla="*/ 59 h 59"/>
                <a:gd name="T2" fmla="*/ 106 w 142"/>
                <a:gd name="T3" fmla="*/ 14 h 59"/>
                <a:gd name="T4" fmla="*/ 78 w 142"/>
                <a:gd name="T5" fmla="*/ 25 h 59"/>
                <a:gd name="T6" fmla="*/ 20 w 142"/>
                <a:gd name="T7" fmla="*/ 0 h 59"/>
                <a:gd name="T8" fmla="*/ 0 w 142"/>
                <a:gd name="T9" fmla="*/ 9 h 59"/>
                <a:gd name="T10" fmla="*/ 59 w 142"/>
                <a:gd name="T11" fmla="*/ 31 h 59"/>
                <a:gd name="T12" fmla="*/ 34 w 142"/>
                <a:gd name="T13" fmla="*/ 42 h 59"/>
                <a:gd name="T14" fmla="*/ 142 w 142"/>
                <a:gd name="T15" fmla="*/ 59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59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9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9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6" name="Freeform 37"/>
            <p:cNvSpPr>
              <a:spLocks noEditPoints="1"/>
            </p:cNvSpPr>
            <p:nvPr/>
          </p:nvSpPr>
          <p:spPr bwMode="auto">
            <a:xfrm>
              <a:off x="2453" y="1363"/>
              <a:ext cx="153" cy="69"/>
            </a:xfrm>
            <a:custGeom>
              <a:avLst/>
              <a:gdLst>
                <a:gd name="T0" fmla="*/ 5 w 153"/>
                <a:gd name="T1" fmla="*/ 8 h 69"/>
                <a:gd name="T2" fmla="*/ 3 w 153"/>
                <a:gd name="T3" fmla="*/ 11 h 69"/>
                <a:gd name="T4" fmla="*/ 0 w 153"/>
                <a:gd name="T5" fmla="*/ 14 h 69"/>
                <a:gd name="T6" fmla="*/ 3 w 153"/>
                <a:gd name="T7" fmla="*/ 16 h 69"/>
                <a:gd name="T8" fmla="*/ 5 w 153"/>
                <a:gd name="T9" fmla="*/ 19 h 69"/>
                <a:gd name="T10" fmla="*/ 50 w 153"/>
                <a:gd name="T11" fmla="*/ 36 h 69"/>
                <a:gd name="T12" fmla="*/ 36 w 153"/>
                <a:gd name="T13" fmla="*/ 41 h 69"/>
                <a:gd name="T14" fmla="*/ 33 w 153"/>
                <a:gd name="T15" fmla="*/ 47 h 69"/>
                <a:gd name="T16" fmla="*/ 33 w 153"/>
                <a:gd name="T17" fmla="*/ 47 h 69"/>
                <a:gd name="T18" fmla="*/ 33 w 153"/>
                <a:gd name="T19" fmla="*/ 53 h 69"/>
                <a:gd name="T20" fmla="*/ 144 w 153"/>
                <a:gd name="T21" fmla="*/ 69 h 69"/>
                <a:gd name="T22" fmla="*/ 150 w 153"/>
                <a:gd name="T23" fmla="*/ 67 h 69"/>
                <a:gd name="T24" fmla="*/ 150 w 153"/>
                <a:gd name="T25" fmla="*/ 64 h 69"/>
                <a:gd name="T26" fmla="*/ 150 w 153"/>
                <a:gd name="T27" fmla="*/ 58 h 69"/>
                <a:gd name="T28" fmla="*/ 114 w 153"/>
                <a:gd name="T29" fmla="*/ 14 h 69"/>
                <a:gd name="T30" fmla="*/ 108 w 153"/>
                <a:gd name="T31" fmla="*/ 14 h 69"/>
                <a:gd name="T32" fmla="*/ 83 w 153"/>
                <a:gd name="T33" fmla="*/ 25 h 69"/>
                <a:gd name="T34" fmla="*/ 28 w 153"/>
                <a:gd name="T35" fmla="*/ 0 h 69"/>
                <a:gd name="T36" fmla="*/ 22 w 153"/>
                <a:gd name="T37" fmla="*/ 0 h 69"/>
                <a:gd name="T38" fmla="*/ 25 w 153"/>
                <a:gd name="T39" fmla="*/ 11 h 69"/>
                <a:gd name="T40" fmla="*/ 80 w 153"/>
                <a:gd name="T41" fmla="*/ 36 h 69"/>
                <a:gd name="T42" fmla="*/ 83 w 153"/>
                <a:gd name="T43" fmla="*/ 36 h 69"/>
                <a:gd name="T44" fmla="*/ 108 w 153"/>
                <a:gd name="T45" fmla="*/ 25 h 69"/>
                <a:gd name="T46" fmla="*/ 133 w 153"/>
                <a:gd name="T47" fmla="*/ 55 h 69"/>
                <a:gd name="T48" fmla="*/ 58 w 153"/>
                <a:gd name="T49" fmla="*/ 44 h 69"/>
                <a:gd name="T50" fmla="*/ 67 w 153"/>
                <a:gd name="T51" fmla="*/ 41 h 69"/>
                <a:gd name="T52" fmla="*/ 69 w 153"/>
                <a:gd name="T53" fmla="*/ 39 h 69"/>
                <a:gd name="T54" fmla="*/ 69 w 153"/>
                <a:gd name="T55" fmla="*/ 36 h 69"/>
                <a:gd name="T56" fmla="*/ 69 w 153"/>
                <a:gd name="T57" fmla="*/ 33 h 69"/>
                <a:gd name="T58" fmla="*/ 67 w 153"/>
                <a:gd name="T59" fmla="*/ 30 h 69"/>
                <a:gd name="T60" fmla="*/ 22 w 153"/>
                <a:gd name="T61" fmla="*/ 14 h 69"/>
                <a:gd name="T62" fmla="*/ 25 w 153"/>
                <a:gd name="T63" fmla="*/ 11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9"/>
                <a:gd name="T98" fmla="*/ 153 w 153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9">
                  <a:moveTo>
                    <a:pt x="22" y="0"/>
                  </a:moveTo>
                  <a:lnTo>
                    <a:pt x="5" y="8"/>
                  </a:lnTo>
                  <a:lnTo>
                    <a:pt x="3" y="11"/>
                  </a:lnTo>
                  <a:lnTo>
                    <a:pt x="0" y="14"/>
                  </a:lnTo>
                  <a:lnTo>
                    <a:pt x="3" y="16"/>
                  </a:lnTo>
                  <a:lnTo>
                    <a:pt x="5" y="19"/>
                  </a:lnTo>
                  <a:lnTo>
                    <a:pt x="50" y="36"/>
                  </a:lnTo>
                  <a:lnTo>
                    <a:pt x="36" y="41"/>
                  </a:lnTo>
                  <a:lnTo>
                    <a:pt x="33" y="44"/>
                  </a:lnTo>
                  <a:lnTo>
                    <a:pt x="33" y="47"/>
                  </a:lnTo>
                  <a:lnTo>
                    <a:pt x="33" y="53"/>
                  </a:lnTo>
                  <a:lnTo>
                    <a:pt x="39" y="53"/>
                  </a:lnTo>
                  <a:lnTo>
                    <a:pt x="144" y="69"/>
                  </a:lnTo>
                  <a:lnTo>
                    <a:pt x="150" y="67"/>
                  </a:lnTo>
                  <a:lnTo>
                    <a:pt x="150" y="64"/>
                  </a:lnTo>
                  <a:lnTo>
                    <a:pt x="153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4"/>
                  </a:lnTo>
                  <a:lnTo>
                    <a:pt x="108" y="14"/>
                  </a:lnTo>
                  <a:lnTo>
                    <a:pt x="83" y="25"/>
                  </a:lnTo>
                  <a:lnTo>
                    <a:pt x="28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6"/>
                  </a:lnTo>
                  <a:lnTo>
                    <a:pt x="83" y="36"/>
                  </a:lnTo>
                  <a:lnTo>
                    <a:pt x="108" y="25"/>
                  </a:lnTo>
                  <a:lnTo>
                    <a:pt x="133" y="55"/>
                  </a:lnTo>
                  <a:lnTo>
                    <a:pt x="58" y="44"/>
                  </a:lnTo>
                  <a:lnTo>
                    <a:pt x="67" y="41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4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7" name="Freeform 38"/>
            <p:cNvSpPr>
              <a:spLocks/>
            </p:cNvSpPr>
            <p:nvPr/>
          </p:nvSpPr>
          <p:spPr bwMode="auto">
            <a:xfrm>
              <a:off x="2625" y="1435"/>
              <a:ext cx="145" cy="59"/>
            </a:xfrm>
            <a:custGeom>
              <a:avLst/>
              <a:gdLst>
                <a:gd name="T0" fmla="*/ 0 w 145"/>
                <a:gd name="T1" fmla="*/ 0 h 59"/>
                <a:gd name="T2" fmla="*/ 37 w 145"/>
                <a:gd name="T3" fmla="*/ 45 h 59"/>
                <a:gd name="T4" fmla="*/ 64 w 145"/>
                <a:gd name="T5" fmla="*/ 34 h 59"/>
                <a:gd name="T6" fmla="*/ 126 w 145"/>
                <a:gd name="T7" fmla="*/ 59 h 59"/>
                <a:gd name="T8" fmla="*/ 145 w 145"/>
                <a:gd name="T9" fmla="*/ 53 h 59"/>
                <a:gd name="T10" fmla="*/ 81 w 145"/>
                <a:gd name="T11" fmla="*/ 28 h 59"/>
                <a:gd name="T12" fmla="*/ 109 w 145"/>
                <a:gd name="T13" fmla="*/ 17 h 59"/>
                <a:gd name="T14" fmla="*/ 0 w 145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9"/>
                <a:gd name="T26" fmla="*/ 145 w 145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8" name="Freeform 39"/>
            <p:cNvSpPr>
              <a:spLocks noEditPoints="1"/>
            </p:cNvSpPr>
            <p:nvPr/>
          </p:nvSpPr>
          <p:spPr bwMode="auto">
            <a:xfrm>
              <a:off x="2620" y="1430"/>
              <a:ext cx="156" cy="69"/>
            </a:xfrm>
            <a:custGeom>
              <a:avLst/>
              <a:gdLst>
                <a:gd name="T0" fmla="*/ 0 w 156"/>
                <a:gd name="T1" fmla="*/ 2 h 69"/>
                <a:gd name="T2" fmla="*/ 3 w 156"/>
                <a:gd name="T3" fmla="*/ 11 h 69"/>
                <a:gd name="T4" fmla="*/ 39 w 156"/>
                <a:gd name="T5" fmla="*/ 52 h 69"/>
                <a:gd name="T6" fmla="*/ 44 w 156"/>
                <a:gd name="T7" fmla="*/ 55 h 69"/>
                <a:gd name="T8" fmla="*/ 69 w 156"/>
                <a:gd name="T9" fmla="*/ 44 h 69"/>
                <a:gd name="T10" fmla="*/ 128 w 156"/>
                <a:gd name="T11" fmla="*/ 69 h 69"/>
                <a:gd name="T12" fmla="*/ 133 w 156"/>
                <a:gd name="T13" fmla="*/ 69 h 69"/>
                <a:gd name="T14" fmla="*/ 150 w 156"/>
                <a:gd name="T15" fmla="*/ 61 h 69"/>
                <a:gd name="T16" fmla="*/ 156 w 156"/>
                <a:gd name="T17" fmla="*/ 58 h 69"/>
                <a:gd name="T18" fmla="*/ 156 w 156"/>
                <a:gd name="T19" fmla="*/ 58 h 69"/>
                <a:gd name="T20" fmla="*/ 150 w 156"/>
                <a:gd name="T21" fmla="*/ 52 h 69"/>
                <a:gd name="T22" fmla="*/ 103 w 156"/>
                <a:gd name="T23" fmla="*/ 33 h 69"/>
                <a:gd name="T24" fmla="*/ 117 w 156"/>
                <a:gd name="T25" fmla="*/ 27 h 69"/>
                <a:gd name="T26" fmla="*/ 119 w 156"/>
                <a:gd name="T27" fmla="*/ 25 h 69"/>
                <a:gd name="T28" fmla="*/ 119 w 156"/>
                <a:gd name="T29" fmla="*/ 22 h 69"/>
                <a:gd name="T30" fmla="*/ 119 w 156"/>
                <a:gd name="T31" fmla="*/ 19 h 69"/>
                <a:gd name="T32" fmla="*/ 114 w 156"/>
                <a:gd name="T33" fmla="*/ 16 h 69"/>
                <a:gd name="T34" fmla="*/ 5 w 156"/>
                <a:gd name="T35" fmla="*/ 0 h 69"/>
                <a:gd name="T36" fmla="*/ 0 w 156"/>
                <a:gd name="T37" fmla="*/ 2 h 69"/>
                <a:gd name="T38" fmla="*/ 19 w 156"/>
                <a:gd name="T39" fmla="*/ 13 h 69"/>
                <a:gd name="T40" fmla="*/ 92 w 156"/>
                <a:gd name="T41" fmla="*/ 25 h 69"/>
                <a:gd name="T42" fmla="*/ 86 w 156"/>
                <a:gd name="T43" fmla="*/ 27 h 69"/>
                <a:gd name="T44" fmla="*/ 83 w 156"/>
                <a:gd name="T45" fmla="*/ 27 h 69"/>
                <a:gd name="T46" fmla="*/ 80 w 156"/>
                <a:gd name="T47" fmla="*/ 33 h 69"/>
                <a:gd name="T48" fmla="*/ 83 w 156"/>
                <a:gd name="T49" fmla="*/ 36 h 69"/>
                <a:gd name="T50" fmla="*/ 86 w 156"/>
                <a:gd name="T51" fmla="*/ 36 h 69"/>
                <a:gd name="T52" fmla="*/ 133 w 156"/>
                <a:gd name="T53" fmla="*/ 58 h 69"/>
                <a:gd name="T54" fmla="*/ 131 w 156"/>
                <a:gd name="T55" fmla="*/ 58 h 69"/>
                <a:gd name="T56" fmla="*/ 72 w 156"/>
                <a:gd name="T57" fmla="*/ 33 h 69"/>
                <a:gd name="T58" fmla="*/ 67 w 156"/>
                <a:gd name="T59" fmla="*/ 33 h 69"/>
                <a:gd name="T60" fmla="*/ 44 w 156"/>
                <a:gd name="T61" fmla="*/ 44 h 69"/>
                <a:gd name="T62" fmla="*/ 19 w 156"/>
                <a:gd name="T63" fmla="*/ 13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6"/>
                <a:gd name="T97" fmla="*/ 0 h 69"/>
                <a:gd name="T98" fmla="*/ 156 w 156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6" h="69">
                  <a:moveTo>
                    <a:pt x="0" y="2"/>
                  </a:moveTo>
                  <a:lnTo>
                    <a:pt x="0" y="2"/>
                  </a:lnTo>
                  <a:lnTo>
                    <a:pt x="0" y="8"/>
                  </a:lnTo>
                  <a:lnTo>
                    <a:pt x="3" y="11"/>
                  </a:lnTo>
                  <a:lnTo>
                    <a:pt x="39" y="52"/>
                  </a:lnTo>
                  <a:lnTo>
                    <a:pt x="42" y="55"/>
                  </a:lnTo>
                  <a:lnTo>
                    <a:pt x="44" y="55"/>
                  </a:lnTo>
                  <a:lnTo>
                    <a:pt x="69" y="44"/>
                  </a:lnTo>
                  <a:lnTo>
                    <a:pt x="128" y="69"/>
                  </a:lnTo>
                  <a:lnTo>
                    <a:pt x="133" y="69"/>
                  </a:lnTo>
                  <a:lnTo>
                    <a:pt x="150" y="61"/>
                  </a:lnTo>
                  <a:lnTo>
                    <a:pt x="153" y="61"/>
                  </a:lnTo>
                  <a:lnTo>
                    <a:pt x="156" y="58"/>
                  </a:lnTo>
                  <a:lnTo>
                    <a:pt x="153" y="52"/>
                  </a:lnTo>
                  <a:lnTo>
                    <a:pt x="150" y="52"/>
                  </a:lnTo>
                  <a:lnTo>
                    <a:pt x="103" y="33"/>
                  </a:lnTo>
                  <a:lnTo>
                    <a:pt x="117" y="27"/>
                  </a:lnTo>
                  <a:lnTo>
                    <a:pt x="119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6"/>
                  </a:lnTo>
                  <a:lnTo>
                    <a:pt x="5" y="0"/>
                  </a:lnTo>
                  <a:lnTo>
                    <a:pt x="3" y="2"/>
                  </a:lnTo>
                  <a:lnTo>
                    <a:pt x="0" y="2"/>
                  </a:lnTo>
                  <a:close/>
                  <a:moveTo>
                    <a:pt x="19" y="13"/>
                  </a:moveTo>
                  <a:lnTo>
                    <a:pt x="19" y="13"/>
                  </a:lnTo>
                  <a:lnTo>
                    <a:pt x="92" y="25"/>
                  </a:lnTo>
                  <a:lnTo>
                    <a:pt x="86" y="27"/>
                  </a:lnTo>
                  <a:lnTo>
                    <a:pt x="83" y="27"/>
                  </a:lnTo>
                  <a:lnTo>
                    <a:pt x="80" y="33"/>
                  </a:lnTo>
                  <a:lnTo>
                    <a:pt x="83" y="36"/>
                  </a:lnTo>
                  <a:lnTo>
                    <a:pt x="86" y="36"/>
                  </a:lnTo>
                  <a:lnTo>
                    <a:pt x="133" y="58"/>
                  </a:lnTo>
                  <a:lnTo>
                    <a:pt x="131" y="58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4"/>
                  </a:lnTo>
                  <a:lnTo>
                    <a:pt x="19" y="1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9" name="Freeform 40"/>
            <p:cNvSpPr>
              <a:spLocks/>
            </p:cNvSpPr>
            <p:nvPr/>
          </p:nvSpPr>
          <p:spPr bwMode="auto">
            <a:xfrm>
              <a:off x="2461" y="1438"/>
              <a:ext cx="139" cy="56"/>
            </a:xfrm>
            <a:custGeom>
              <a:avLst/>
              <a:gdLst>
                <a:gd name="T0" fmla="*/ 0 w 139"/>
                <a:gd name="T1" fmla="*/ 56 h 56"/>
                <a:gd name="T2" fmla="*/ 109 w 139"/>
                <a:gd name="T3" fmla="*/ 42 h 56"/>
                <a:gd name="T4" fmla="*/ 81 w 139"/>
                <a:gd name="T5" fmla="*/ 31 h 56"/>
                <a:gd name="T6" fmla="*/ 139 w 139"/>
                <a:gd name="T7" fmla="*/ 5 h 56"/>
                <a:gd name="T8" fmla="*/ 123 w 139"/>
                <a:gd name="T9" fmla="*/ 0 h 56"/>
                <a:gd name="T10" fmla="*/ 64 w 139"/>
                <a:gd name="T11" fmla="*/ 22 h 56"/>
                <a:gd name="T12" fmla="*/ 36 w 139"/>
                <a:gd name="T13" fmla="*/ 11 h 56"/>
                <a:gd name="T14" fmla="*/ 0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0" y="56"/>
                  </a:moveTo>
                  <a:lnTo>
                    <a:pt x="109" y="42"/>
                  </a:lnTo>
                  <a:lnTo>
                    <a:pt x="81" y="31"/>
                  </a:lnTo>
                  <a:lnTo>
                    <a:pt x="139" y="5"/>
                  </a:lnTo>
                  <a:lnTo>
                    <a:pt x="123" y="0"/>
                  </a:lnTo>
                  <a:lnTo>
                    <a:pt x="64" y="22"/>
                  </a:lnTo>
                  <a:lnTo>
                    <a:pt x="36" y="11"/>
                  </a:lnTo>
                  <a:lnTo>
                    <a:pt x="0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0" name="Freeform 41"/>
            <p:cNvSpPr>
              <a:spLocks noEditPoints="1"/>
            </p:cNvSpPr>
            <p:nvPr/>
          </p:nvSpPr>
          <p:spPr bwMode="auto">
            <a:xfrm>
              <a:off x="2456" y="1432"/>
              <a:ext cx="150" cy="67"/>
            </a:xfrm>
            <a:custGeom>
              <a:avLst/>
              <a:gdLst>
                <a:gd name="T0" fmla="*/ 125 w 150"/>
                <a:gd name="T1" fmla="*/ 0 h 67"/>
                <a:gd name="T2" fmla="*/ 69 w 150"/>
                <a:gd name="T3" fmla="*/ 23 h 67"/>
                <a:gd name="T4" fmla="*/ 44 w 150"/>
                <a:gd name="T5" fmla="*/ 11 h 67"/>
                <a:gd name="T6" fmla="*/ 38 w 150"/>
                <a:gd name="T7" fmla="*/ 14 h 67"/>
                <a:gd name="T8" fmla="*/ 0 w 150"/>
                <a:gd name="T9" fmla="*/ 59 h 67"/>
                <a:gd name="T10" fmla="*/ 0 w 150"/>
                <a:gd name="T11" fmla="*/ 64 h 67"/>
                <a:gd name="T12" fmla="*/ 2 w 150"/>
                <a:gd name="T13" fmla="*/ 67 h 67"/>
                <a:gd name="T14" fmla="*/ 114 w 150"/>
                <a:gd name="T15" fmla="*/ 53 h 67"/>
                <a:gd name="T16" fmla="*/ 116 w 150"/>
                <a:gd name="T17" fmla="*/ 50 h 67"/>
                <a:gd name="T18" fmla="*/ 119 w 150"/>
                <a:gd name="T19" fmla="*/ 48 h 67"/>
                <a:gd name="T20" fmla="*/ 119 w 150"/>
                <a:gd name="T21" fmla="*/ 48 h 67"/>
                <a:gd name="T22" fmla="*/ 116 w 150"/>
                <a:gd name="T23" fmla="*/ 42 h 67"/>
                <a:gd name="T24" fmla="*/ 100 w 150"/>
                <a:gd name="T25" fmla="*/ 37 h 67"/>
                <a:gd name="T26" fmla="*/ 147 w 150"/>
                <a:gd name="T27" fmla="*/ 17 h 67"/>
                <a:gd name="T28" fmla="*/ 150 w 150"/>
                <a:gd name="T29" fmla="*/ 14 h 67"/>
                <a:gd name="T30" fmla="*/ 150 w 150"/>
                <a:gd name="T31" fmla="*/ 11 h 67"/>
                <a:gd name="T32" fmla="*/ 150 w 150"/>
                <a:gd name="T33" fmla="*/ 9 h 67"/>
                <a:gd name="T34" fmla="*/ 130 w 150"/>
                <a:gd name="T35" fmla="*/ 0 h 67"/>
                <a:gd name="T36" fmla="*/ 125 w 150"/>
                <a:gd name="T37" fmla="*/ 0 h 67"/>
                <a:gd name="T38" fmla="*/ 69 w 150"/>
                <a:gd name="T39" fmla="*/ 34 h 67"/>
                <a:gd name="T40" fmla="*/ 128 w 150"/>
                <a:gd name="T41" fmla="*/ 11 h 67"/>
                <a:gd name="T42" fmla="*/ 130 w 150"/>
                <a:gd name="T43" fmla="*/ 11 h 67"/>
                <a:gd name="T44" fmla="*/ 83 w 150"/>
                <a:gd name="T45" fmla="*/ 31 h 67"/>
                <a:gd name="T46" fmla="*/ 80 w 150"/>
                <a:gd name="T47" fmla="*/ 34 h 67"/>
                <a:gd name="T48" fmla="*/ 80 w 150"/>
                <a:gd name="T49" fmla="*/ 37 h 67"/>
                <a:gd name="T50" fmla="*/ 80 w 150"/>
                <a:gd name="T51" fmla="*/ 39 h 67"/>
                <a:gd name="T52" fmla="*/ 83 w 150"/>
                <a:gd name="T53" fmla="*/ 42 h 67"/>
                <a:gd name="T54" fmla="*/ 91 w 150"/>
                <a:gd name="T55" fmla="*/ 45 h 67"/>
                <a:gd name="T56" fmla="*/ 19 w 150"/>
                <a:gd name="T57" fmla="*/ 53 h 67"/>
                <a:gd name="T58" fmla="*/ 44 w 150"/>
                <a:gd name="T59" fmla="*/ 25 h 67"/>
                <a:gd name="T60" fmla="*/ 66 w 150"/>
                <a:gd name="T61" fmla="*/ 34 h 67"/>
                <a:gd name="T62" fmla="*/ 69 w 150"/>
                <a:gd name="T63" fmla="*/ 34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125" y="0"/>
                  </a:moveTo>
                  <a:lnTo>
                    <a:pt x="125" y="0"/>
                  </a:lnTo>
                  <a:lnTo>
                    <a:pt x="69" y="23"/>
                  </a:lnTo>
                  <a:lnTo>
                    <a:pt x="44" y="11"/>
                  </a:lnTo>
                  <a:lnTo>
                    <a:pt x="41" y="11"/>
                  </a:lnTo>
                  <a:lnTo>
                    <a:pt x="38" y="14"/>
                  </a:lnTo>
                  <a:lnTo>
                    <a:pt x="0" y="59"/>
                  </a:lnTo>
                  <a:lnTo>
                    <a:pt x="0" y="62"/>
                  </a:lnTo>
                  <a:lnTo>
                    <a:pt x="0" y="64"/>
                  </a:lnTo>
                  <a:lnTo>
                    <a:pt x="2" y="67"/>
                  </a:lnTo>
                  <a:lnTo>
                    <a:pt x="5" y="67"/>
                  </a:lnTo>
                  <a:lnTo>
                    <a:pt x="114" y="53"/>
                  </a:lnTo>
                  <a:lnTo>
                    <a:pt x="116" y="50"/>
                  </a:lnTo>
                  <a:lnTo>
                    <a:pt x="119" y="48"/>
                  </a:lnTo>
                  <a:lnTo>
                    <a:pt x="119" y="45"/>
                  </a:lnTo>
                  <a:lnTo>
                    <a:pt x="116" y="42"/>
                  </a:lnTo>
                  <a:lnTo>
                    <a:pt x="100" y="37"/>
                  </a:lnTo>
                  <a:lnTo>
                    <a:pt x="147" y="17"/>
                  </a:lnTo>
                  <a:lnTo>
                    <a:pt x="150" y="14"/>
                  </a:lnTo>
                  <a:lnTo>
                    <a:pt x="150" y="11"/>
                  </a:lnTo>
                  <a:lnTo>
                    <a:pt x="150" y="9"/>
                  </a:lnTo>
                  <a:lnTo>
                    <a:pt x="147" y="6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69" y="34"/>
                  </a:moveTo>
                  <a:lnTo>
                    <a:pt x="69" y="34"/>
                  </a:lnTo>
                  <a:lnTo>
                    <a:pt x="128" y="11"/>
                  </a:lnTo>
                  <a:lnTo>
                    <a:pt x="130" y="11"/>
                  </a:lnTo>
                  <a:lnTo>
                    <a:pt x="83" y="31"/>
                  </a:lnTo>
                  <a:lnTo>
                    <a:pt x="80" y="34"/>
                  </a:lnTo>
                  <a:lnTo>
                    <a:pt x="80" y="37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5"/>
                  </a:lnTo>
                  <a:lnTo>
                    <a:pt x="19" y="53"/>
                  </a:lnTo>
                  <a:lnTo>
                    <a:pt x="44" y="25"/>
                  </a:lnTo>
                  <a:lnTo>
                    <a:pt x="66" y="34"/>
                  </a:lnTo>
                  <a:lnTo>
                    <a:pt x="69" y="3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1" name="Freeform 42"/>
            <p:cNvSpPr>
              <a:spLocks/>
            </p:cNvSpPr>
            <p:nvPr/>
          </p:nvSpPr>
          <p:spPr bwMode="auto">
            <a:xfrm>
              <a:off x="2625" y="1371"/>
              <a:ext cx="142" cy="56"/>
            </a:xfrm>
            <a:custGeom>
              <a:avLst/>
              <a:gdLst>
                <a:gd name="T0" fmla="*/ 142 w 142"/>
                <a:gd name="T1" fmla="*/ 0 h 56"/>
                <a:gd name="T2" fmla="*/ 34 w 142"/>
                <a:gd name="T3" fmla="*/ 14 h 56"/>
                <a:gd name="T4" fmla="*/ 62 w 142"/>
                <a:gd name="T5" fmla="*/ 25 h 56"/>
                <a:gd name="T6" fmla="*/ 0 w 142"/>
                <a:gd name="T7" fmla="*/ 50 h 56"/>
                <a:gd name="T8" fmla="*/ 17 w 142"/>
                <a:gd name="T9" fmla="*/ 56 h 56"/>
                <a:gd name="T10" fmla="*/ 78 w 142"/>
                <a:gd name="T11" fmla="*/ 33 h 56"/>
                <a:gd name="T12" fmla="*/ 106 w 142"/>
                <a:gd name="T13" fmla="*/ 42 h 56"/>
                <a:gd name="T14" fmla="*/ 142 w 142"/>
                <a:gd name="T15" fmla="*/ 0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0"/>
                  </a:moveTo>
                  <a:lnTo>
                    <a:pt x="34" y="14"/>
                  </a:lnTo>
                  <a:lnTo>
                    <a:pt x="62" y="25"/>
                  </a:lnTo>
                  <a:lnTo>
                    <a:pt x="0" y="50"/>
                  </a:lnTo>
                  <a:lnTo>
                    <a:pt x="17" y="56"/>
                  </a:lnTo>
                  <a:lnTo>
                    <a:pt x="78" y="33"/>
                  </a:lnTo>
                  <a:lnTo>
                    <a:pt x="106" y="42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2" name="Freeform 43"/>
            <p:cNvSpPr>
              <a:spLocks noEditPoints="1"/>
            </p:cNvSpPr>
            <p:nvPr/>
          </p:nvSpPr>
          <p:spPr bwMode="auto">
            <a:xfrm>
              <a:off x="2620" y="1365"/>
              <a:ext cx="153" cy="67"/>
            </a:xfrm>
            <a:custGeom>
              <a:avLst/>
              <a:gdLst>
                <a:gd name="T0" fmla="*/ 36 w 153"/>
                <a:gd name="T1" fmla="*/ 14 h 67"/>
                <a:gd name="T2" fmla="*/ 33 w 153"/>
                <a:gd name="T3" fmla="*/ 17 h 67"/>
                <a:gd name="T4" fmla="*/ 33 w 153"/>
                <a:gd name="T5" fmla="*/ 20 h 67"/>
                <a:gd name="T6" fmla="*/ 33 w 153"/>
                <a:gd name="T7" fmla="*/ 20 h 67"/>
                <a:gd name="T8" fmla="*/ 36 w 153"/>
                <a:gd name="T9" fmla="*/ 25 h 67"/>
                <a:gd name="T10" fmla="*/ 50 w 153"/>
                <a:gd name="T11" fmla="*/ 31 h 67"/>
                <a:gd name="T12" fmla="*/ 3 w 153"/>
                <a:gd name="T13" fmla="*/ 51 h 67"/>
                <a:gd name="T14" fmla="*/ 0 w 153"/>
                <a:gd name="T15" fmla="*/ 53 h 67"/>
                <a:gd name="T16" fmla="*/ 0 w 153"/>
                <a:gd name="T17" fmla="*/ 56 h 67"/>
                <a:gd name="T18" fmla="*/ 0 w 153"/>
                <a:gd name="T19" fmla="*/ 59 h 67"/>
                <a:gd name="T20" fmla="*/ 19 w 153"/>
                <a:gd name="T21" fmla="*/ 67 h 67"/>
                <a:gd name="T22" fmla="*/ 25 w 153"/>
                <a:gd name="T23" fmla="*/ 67 h 67"/>
                <a:gd name="T24" fmla="*/ 83 w 153"/>
                <a:gd name="T25" fmla="*/ 45 h 67"/>
                <a:gd name="T26" fmla="*/ 108 w 153"/>
                <a:gd name="T27" fmla="*/ 53 h 67"/>
                <a:gd name="T28" fmla="*/ 111 w 153"/>
                <a:gd name="T29" fmla="*/ 53 h 67"/>
                <a:gd name="T30" fmla="*/ 150 w 153"/>
                <a:gd name="T31" fmla="*/ 9 h 67"/>
                <a:gd name="T32" fmla="*/ 153 w 153"/>
                <a:gd name="T33" fmla="*/ 6 h 67"/>
                <a:gd name="T34" fmla="*/ 150 w 153"/>
                <a:gd name="T35" fmla="*/ 3 h 67"/>
                <a:gd name="T36" fmla="*/ 145 w 153"/>
                <a:gd name="T37" fmla="*/ 0 h 67"/>
                <a:gd name="T38" fmla="*/ 133 w 153"/>
                <a:gd name="T39" fmla="*/ 12 h 67"/>
                <a:gd name="T40" fmla="*/ 108 w 153"/>
                <a:gd name="T41" fmla="*/ 42 h 67"/>
                <a:gd name="T42" fmla="*/ 86 w 153"/>
                <a:gd name="T43" fmla="*/ 34 h 67"/>
                <a:gd name="T44" fmla="*/ 80 w 153"/>
                <a:gd name="T45" fmla="*/ 34 h 67"/>
                <a:gd name="T46" fmla="*/ 22 w 153"/>
                <a:gd name="T47" fmla="*/ 56 h 67"/>
                <a:gd name="T48" fmla="*/ 19 w 153"/>
                <a:gd name="T49" fmla="*/ 56 h 67"/>
                <a:gd name="T50" fmla="*/ 67 w 153"/>
                <a:gd name="T51" fmla="*/ 37 h 67"/>
                <a:gd name="T52" fmla="*/ 69 w 153"/>
                <a:gd name="T53" fmla="*/ 34 h 67"/>
                <a:gd name="T54" fmla="*/ 72 w 153"/>
                <a:gd name="T55" fmla="*/ 31 h 67"/>
                <a:gd name="T56" fmla="*/ 69 w 153"/>
                <a:gd name="T57" fmla="*/ 28 h 67"/>
                <a:gd name="T58" fmla="*/ 67 w 153"/>
                <a:gd name="T59" fmla="*/ 25 h 67"/>
                <a:gd name="T60" fmla="*/ 58 w 153"/>
                <a:gd name="T61" fmla="*/ 23 h 67"/>
                <a:gd name="T62" fmla="*/ 133 w 153"/>
                <a:gd name="T63" fmla="*/ 12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145" y="0"/>
                  </a:moveTo>
                  <a:lnTo>
                    <a:pt x="36" y="14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3"/>
                  </a:lnTo>
                  <a:lnTo>
                    <a:pt x="36" y="25"/>
                  </a:lnTo>
                  <a:lnTo>
                    <a:pt x="50" y="31"/>
                  </a:lnTo>
                  <a:lnTo>
                    <a:pt x="3" y="51"/>
                  </a:lnTo>
                  <a:lnTo>
                    <a:pt x="0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3" y="62"/>
                  </a:lnTo>
                  <a:lnTo>
                    <a:pt x="19" y="67"/>
                  </a:lnTo>
                  <a:lnTo>
                    <a:pt x="25" y="67"/>
                  </a:lnTo>
                  <a:lnTo>
                    <a:pt x="83" y="45"/>
                  </a:lnTo>
                  <a:lnTo>
                    <a:pt x="108" y="53"/>
                  </a:lnTo>
                  <a:lnTo>
                    <a:pt x="111" y="53"/>
                  </a:lnTo>
                  <a:lnTo>
                    <a:pt x="114" y="53"/>
                  </a:lnTo>
                  <a:lnTo>
                    <a:pt x="150" y="9"/>
                  </a:lnTo>
                  <a:lnTo>
                    <a:pt x="153" y="6"/>
                  </a:lnTo>
                  <a:lnTo>
                    <a:pt x="150" y="3"/>
                  </a:lnTo>
                  <a:lnTo>
                    <a:pt x="147" y="0"/>
                  </a:lnTo>
                  <a:lnTo>
                    <a:pt x="145" y="0"/>
                  </a:lnTo>
                  <a:close/>
                  <a:moveTo>
                    <a:pt x="133" y="12"/>
                  </a:moveTo>
                  <a:lnTo>
                    <a:pt x="133" y="12"/>
                  </a:lnTo>
                  <a:lnTo>
                    <a:pt x="108" y="42"/>
                  </a:lnTo>
                  <a:lnTo>
                    <a:pt x="86" y="34"/>
                  </a:lnTo>
                  <a:lnTo>
                    <a:pt x="80" y="34"/>
                  </a:lnTo>
                  <a:lnTo>
                    <a:pt x="22" y="56"/>
                  </a:lnTo>
                  <a:lnTo>
                    <a:pt x="19" y="56"/>
                  </a:lnTo>
                  <a:lnTo>
                    <a:pt x="67" y="37"/>
                  </a:lnTo>
                  <a:lnTo>
                    <a:pt x="69" y="34"/>
                  </a:lnTo>
                  <a:lnTo>
                    <a:pt x="72" y="31"/>
                  </a:lnTo>
                  <a:lnTo>
                    <a:pt x="69" y="28"/>
                  </a:lnTo>
                  <a:lnTo>
                    <a:pt x="67" y="25"/>
                  </a:lnTo>
                  <a:lnTo>
                    <a:pt x="58" y="23"/>
                  </a:lnTo>
                  <a:lnTo>
                    <a:pt x="133" y="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3" name="Freeform 44"/>
            <p:cNvSpPr>
              <a:spLocks/>
            </p:cNvSpPr>
            <p:nvPr/>
          </p:nvSpPr>
          <p:spPr bwMode="auto">
            <a:xfrm>
              <a:off x="2458" y="1365"/>
              <a:ext cx="139" cy="56"/>
            </a:xfrm>
            <a:custGeom>
              <a:avLst/>
              <a:gdLst>
                <a:gd name="T0" fmla="*/ 139 w 139"/>
                <a:gd name="T1" fmla="*/ 56 h 56"/>
                <a:gd name="T2" fmla="*/ 103 w 139"/>
                <a:gd name="T3" fmla="*/ 12 h 56"/>
                <a:gd name="T4" fmla="*/ 78 w 139"/>
                <a:gd name="T5" fmla="*/ 23 h 56"/>
                <a:gd name="T6" fmla="*/ 20 w 139"/>
                <a:gd name="T7" fmla="*/ 0 h 56"/>
                <a:gd name="T8" fmla="*/ 0 w 139"/>
                <a:gd name="T9" fmla="*/ 6 h 56"/>
                <a:gd name="T10" fmla="*/ 59 w 139"/>
                <a:gd name="T11" fmla="*/ 31 h 56"/>
                <a:gd name="T12" fmla="*/ 34 w 139"/>
                <a:gd name="T13" fmla="*/ 42 h 56"/>
                <a:gd name="T14" fmla="*/ 139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139" y="56"/>
                  </a:moveTo>
                  <a:lnTo>
                    <a:pt x="103" y="12"/>
                  </a:lnTo>
                  <a:lnTo>
                    <a:pt x="78" y="23"/>
                  </a:lnTo>
                  <a:lnTo>
                    <a:pt x="20" y="0"/>
                  </a:lnTo>
                  <a:lnTo>
                    <a:pt x="0" y="6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39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4" name="Freeform 45"/>
            <p:cNvSpPr>
              <a:spLocks noEditPoints="1"/>
            </p:cNvSpPr>
            <p:nvPr/>
          </p:nvSpPr>
          <p:spPr bwMode="auto">
            <a:xfrm>
              <a:off x="2453" y="1360"/>
              <a:ext cx="150" cy="67"/>
            </a:xfrm>
            <a:custGeom>
              <a:avLst/>
              <a:gdLst>
                <a:gd name="T0" fmla="*/ 3 w 150"/>
                <a:gd name="T1" fmla="*/ 5 h 67"/>
                <a:gd name="T2" fmla="*/ 3 w 150"/>
                <a:gd name="T3" fmla="*/ 8 h 67"/>
                <a:gd name="T4" fmla="*/ 0 w 150"/>
                <a:gd name="T5" fmla="*/ 11 h 67"/>
                <a:gd name="T6" fmla="*/ 3 w 150"/>
                <a:gd name="T7" fmla="*/ 14 h 67"/>
                <a:gd name="T8" fmla="*/ 3 w 150"/>
                <a:gd name="T9" fmla="*/ 17 h 67"/>
                <a:gd name="T10" fmla="*/ 50 w 150"/>
                <a:gd name="T11" fmla="*/ 36 h 67"/>
                <a:gd name="T12" fmla="*/ 36 w 150"/>
                <a:gd name="T13" fmla="*/ 42 h 67"/>
                <a:gd name="T14" fmla="*/ 33 w 150"/>
                <a:gd name="T15" fmla="*/ 47 h 67"/>
                <a:gd name="T16" fmla="*/ 33 w 150"/>
                <a:gd name="T17" fmla="*/ 47 h 67"/>
                <a:gd name="T18" fmla="*/ 33 w 150"/>
                <a:gd name="T19" fmla="*/ 50 h 67"/>
                <a:gd name="T20" fmla="*/ 144 w 150"/>
                <a:gd name="T21" fmla="*/ 67 h 67"/>
                <a:gd name="T22" fmla="*/ 147 w 150"/>
                <a:gd name="T23" fmla="*/ 67 h 67"/>
                <a:gd name="T24" fmla="*/ 150 w 150"/>
                <a:gd name="T25" fmla="*/ 64 h 67"/>
                <a:gd name="T26" fmla="*/ 150 w 150"/>
                <a:gd name="T27" fmla="*/ 58 h 67"/>
                <a:gd name="T28" fmla="*/ 114 w 150"/>
                <a:gd name="T29" fmla="*/ 14 h 67"/>
                <a:gd name="T30" fmla="*/ 108 w 150"/>
                <a:gd name="T31" fmla="*/ 11 h 67"/>
                <a:gd name="T32" fmla="*/ 83 w 150"/>
                <a:gd name="T33" fmla="*/ 22 h 67"/>
                <a:gd name="T34" fmla="*/ 25 w 150"/>
                <a:gd name="T35" fmla="*/ 0 h 67"/>
                <a:gd name="T36" fmla="*/ 22 w 150"/>
                <a:gd name="T37" fmla="*/ 0 h 67"/>
                <a:gd name="T38" fmla="*/ 25 w 150"/>
                <a:gd name="T39" fmla="*/ 11 h 67"/>
                <a:gd name="T40" fmla="*/ 80 w 150"/>
                <a:gd name="T41" fmla="*/ 33 h 67"/>
                <a:gd name="T42" fmla="*/ 83 w 150"/>
                <a:gd name="T43" fmla="*/ 33 h 67"/>
                <a:gd name="T44" fmla="*/ 108 w 150"/>
                <a:gd name="T45" fmla="*/ 25 h 67"/>
                <a:gd name="T46" fmla="*/ 133 w 150"/>
                <a:gd name="T47" fmla="*/ 53 h 67"/>
                <a:gd name="T48" fmla="*/ 58 w 150"/>
                <a:gd name="T49" fmla="*/ 44 h 67"/>
                <a:gd name="T50" fmla="*/ 67 w 150"/>
                <a:gd name="T51" fmla="*/ 42 h 67"/>
                <a:gd name="T52" fmla="*/ 69 w 150"/>
                <a:gd name="T53" fmla="*/ 39 h 67"/>
                <a:gd name="T54" fmla="*/ 69 w 150"/>
                <a:gd name="T55" fmla="*/ 36 h 67"/>
                <a:gd name="T56" fmla="*/ 69 w 150"/>
                <a:gd name="T57" fmla="*/ 33 h 67"/>
                <a:gd name="T58" fmla="*/ 67 w 150"/>
                <a:gd name="T59" fmla="*/ 30 h 67"/>
                <a:gd name="T60" fmla="*/ 22 w 150"/>
                <a:gd name="T61" fmla="*/ 11 h 67"/>
                <a:gd name="T62" fmla="*/ 25 w 150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22" y="0"/>
                  </a:moveTo>
                  <a:lnTo>
                    <a:pt x="3" y="5"/>
                  </a:lnTo>
                  <a:lnTo>
                    <a:pt x="3" y="8"/>
                  </a:lnTo>
                  <a:lnTo>
                    <a:pt x="0" y="11"/>
                  </a:lnTo>
                  <a:lnTo>
                    <a:pt x="3" y="14"/>
                  </a:lnTo>
                  <a:lnTo>
                    <a:pt x="3" y="17"/>
                  </a:lnTo>
                  <a:lnTo>
                    <a:pt x="50" y="36"/>
                  </a:lnTo>
                  <a:lnTo>
                    <a:pt x="36" y="42"/>
                  </a:lnTo>
                  <a:lnTo>
                    <a:pt x="33" y="42"/>
                  </a:lnTo>
                  <a:lnTo>
                    <a:pt x="33" y="47"/>
                  </a:lnTo>
                  <a:lnTo>
                    <a:pt x="33" y="50"/>
                  </a:lnTo>
                  <a:lnTo>
                    <a:pt x="36" y="53"/>
                  </a:lnTo>
                  <a:lnTo>
                    <a:pt x="144" y="67"/>
                  </a:lnTo>
                  <a:lnTo>
                    <a:pt x="147" y="67"/>
                  </a:lnTo>
                  <a:lnTo>
                    <a:pt x="150" y="64"/>
                  </a:lnTo>
                  <a:lnTo>
                    <a:pt x="150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1"/>
                  </a:lnTo>
                  <a:lnTo>
                    <a:pt x="108" y="11"/>
                  </a:lnTo>
                  <a:lnTo>
                    <a:pt x="83" y="22"/>
                  </a:lnTo>
                  <a:lnTo>
                    <a:pt x="25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3"/>
                  </a:lnTo>
                  <a:lnTo>
                    <a:pt x="83" y="33"/>
                  </a:lnTo>
                  <a:lnTo>
                    <a:pt x="108" y="25"/>
                  </a:lnTo>
                  <a:lnTo>
                    <a:pt x="133" y="53"/>
                  </a:lnTo>
                  <a:lnTo>
                    <a:pt x="58" y="44"/>
                  </a:lnTo>
                  <a:lnTo>
                    <a:pt x="67" y="42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1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5" name="Freeform 46"/>
            <p:cNvSpPr>
              <a:spLocks/>
            </p:cNvSpPr>
            <p:nvPr/>
          </p:nvSpPr>
          <p:spPr bwMode="auto">
            <a:xfrm>
              <a:off x="2625" y="1432"/>
              <a:ext cx="142" cy="59"/>
            </a:xfrm>
            <a:custGeom>
              <a:avLst/>
              <a:gdLst>
                <a:gd name="T0" fmla="*/ 0 w 142"/>
                <a:gd name="T1" fmla="*/ 0 h 59"/>
                <a:gd name="T2" fmla="*/ 37 w 142"/>
                <a:gd name="T3" fmla="*/ 45 h 59"/>
                <a:gd name="T4" fmla="*/ 64 w 142"/>
                <a:gd name="T5" fmla="*/ 34 h 59"/>
                <a:gd name="T6" fmla="*/ 126 w 142"/>
                <a:gd name="T7" fmla="*/ 59 h 59"/>
                <a:gd name="T8" fmla="*/ 142 w 142"/>
                <a:gd name="T9" fmla="*/ 50 h 59"/>
                <a:gd name="T10" fmla="*/ 81 w 142"/>
                <a:gd name="T11" fmla="*/ 25 h 59"/>
                <a:gd name="T12" fmla="*/ 109 w 142"/>
                <a:gd name="T13" fmla="*/ 14 h 59"/>
                <a:gd name="T14" fmla="*/ 0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2" y="50"/>
                  </a:lnTo>
                  <a:lnTo>
                    <a:pt x="81" y="25"/>
                  </a:lnTo>
                  <a:lnTo>
                    <a:pt x="109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6" name="Freeform 47"/>
            <p:cNvSpPr>
              <a:spLocks noEditPoints="1"/>
            </p:cNvSpPr>
            <p:nvPr/>
          </p:nvSpPr>
          <p:spPr bwMode="auto">
            <a:xfrm>
              <a:off x="2620" y="1427"/>
              <a:ext cx="153" cy="67"/>
            </a:xfrm>
            <a:custGeom>
              <a:avLst/>
              <a:gdLst>
                <a:gd name="T0" fmla="*/ 0 w 153"/>
                <a:gd name="T1" fmla="*/ 3 h 67"/>
                <a:gd name="T2" fmla="*/ 0 w 153"/>
                <a:gd name="T3" fmla="*/ 8 h 67"/>
                <a:gd name="T4" fmla="*/ 36 w 153"/>
                <a:gd name="T5" fmla="*/ 53 h 67"/>
                <a:gd name="T6" fmla="*/ 44 w 153"/>
                <a:gd name="T7" fmla="*/ 53 h 67"/>
                <a:gd name="T8" fmla="*/ 69 w 153"/>
                <a:gd name="T9" fmla="*/ 44 h 67"/>
                <a:gd name="T10" fmla="*/ 128 w 153"/>
                <a:gd name="T11" fmla="*/ 67 h 67"/>
                <a:gd name="T12" fmla="*/ 133 w 153"/>
                <a:gd name="T13" fmla="*/ 67 h 67"/>
                <a:gd name="T14" fmla="*/ 150 w 153"/>
                <a:gd name="T15" fmla="*/ 61 h 67"/>
                <a:gd name="T16" fmla="*/ 153 w 153"/>
                <a:gd name="T17" fmla="*/ 55 h 67"/>
                <a:gd name="T18" fmla="*/ 153 w 153"/>
                <a:gd name="T19" fmla="*/ 55 h 67"/>
                <a:gd name="T20" fmla="*/ 150 w 153"/>
                <a:gd name="T21" fmla="*/ 50 h 67"/>
                <a:gd name="T22" fmla="*/ 103 w 153"/>
                <a:gd name="T23" fmla="*/ 30 h 67"/>
                <a:gd name="T24" fmla="*/ 117 w 153"/>
                <a:gd name="T25" fmla="*/ 25 h 67"/>
                <a:gd name="T26" fmla="*/ 119 w 153"/>
                <a:gd name="T27" fmla="*/ 22 h 67"/>
                <a:gd name="T28" fmla="*/ 119 w 153"/>
                <a:gd name="T29" fmla="*/ 19 h 67"/>
                <a:gd name="T30" fmla="*/ 119 w 153"/>
                <a:gd name="T31" fmla="*/ 19 h 67"/>
                <a:gd name="T32" fmla="*/ 114 w 153"/>
                <a:gd name="T33" fmla="*/ 14 h 67"/>
                <a:gd name="T34" fmla="*/ 5 w 153"/>
                <a:gd name="T35" fmla="*/ 0 h 67"/>
                <a:gd name="T36" fmla="*/ 0 w 153"/>
                <a:gd name="T37" fmla="*/ 3 h 67"/>
                <a:gd name="T38" fmla="*/ 19 w 153"/>
                <a:gd name="T39" fmla="*/ 11 h 67"/>
                <a:gd name="T40" fmla="*/ 92 w 153"/>
                <a:gd name="T41" fmla="*/ 22 h 67"/>
                <a:gd name="T42" fmla="*/ 86 w 153"/>
                <a:gd name="T43" fmla="*/ 25 h 67"/>
                <a:gd name="T44" fmla="*/ 83 w 153"/>
                <a:gd name="T45" fmla="*/ 28 h 67"/>
                <a:gd name="T46" fmla="*/ 80 w 153"/>
                <a:gd name="T47" fmla="*/ 30 h 67"/>
                <a:gd name="T48" fmla="*/ 83 w 153"/>
                <a:gd name="T49" fmla="*/ 33 h 67"/>
                <a:gd name="T50" fmla="*/ 86 w 153"/>
                <a:gd name="T51" fmla="*/ 36 h 67"/>
                <a:gd name="T52" fmla="*/ 133 w 153"/>
                <a:gd name="T53" fmla="*/ 55 h 67"/>
                <a:gd name="T54" fmla="*/ 131 w 153"/>
                <a:gd name="T55" fmla="*/ 55 h 67"/>
                <a:gd name="T56" fmla="*/ 72 w 153"/>
                <a:gd name="T57" fmla="*/ 33 h 67"/>
                <a:gd name="T58" fmla="*/ 67 w 153"/>
                <a:gd name="T59" fmla="*/ 33 h 67"/>
                <a:gd name="T60" fmla="*/ 44 w 153"/>
                <a:gd name="T61" fmla="*/ 42 h 67"/>
                <a:gd name="T62" fmla="*/ 19 w 153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0" y="3"/>
                  </a:moveTo>
                  <a:lnTo>
                    <a:pt x="0" y="3"/>
                  </a:lnTo>
                  <a:lnTo>
                    <a:pt x="0" y="5"/>
                  </a:lnTo>
                  <a:lnTo>
                    <a:pt x="0" y="8"/>
                  </a:lnTo>
                  <a:lnTo>
                    <a:pt x="36" y="53"/>
                  </a:lnTo>
                  <a:lnTo>
                    <a:pt x="42" y="55"/>
                  </a:lnTo>
                  <a:lnTo>
                    <a:pt x="44" y="53"/>
                  </a:lnTo>
                  <a:lnTo>
                    <a:pt x="69" y="44"/>
                  </a:lnTo>
                  <a:lnTo>
                    <a:pt x="128" y="67"/>
                  </a:lnTo>
                  <a:lnTo>
                    <a:pt x="133" y="67"/>
                  </a:lnTo>
                  <a:lnTo>
                    <a:pt x="150" y="61"/>
                  </a:lnTo>
                  <a:lnTo>
                    <a:pt x="153" y="58"/>
                  </a:lnTo>
                  <a:lnTo>
                    <a:pt x="153" y="55"/>
                  </a:lnTo>
                  <a:lnTo>
                    <a:pt x="153" y="53"/>
                  </a:lnTo>
                  <a:lnTo>
                    <a:pt x="150" y="50"/>
                  </a:lnTo>
                  <a:lnTo>
                    <a:pt x="103" y="30"/>
                  </a:lnTo>
                  <a:lnTo>
                    <a:pt x="117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4"/>
                  </a:lnTo>
                  <a:lnTo>
                    <a:pt x="5" y="0"/>
                  </a:lnTo>
                  <a:lnTo>
                    <a:pt x="3" y="0"/>
                  </a:lnTo>
                  <a:lnTo>
                    <a:pt x="0" y="3"/>
                  </a:lnTo>
                  <a:close/>
                  <a:moveTo>
                    <a:pt x="19" y="11"/>
                  </a:moveTo>
                  <a:lnTo>
                    <a:pt x="19" y="11"/>
                  </a:lnTo>
                  <a:lnTo>
                    <a:pt x="92" y="22"/>
                  </a:lnTo>
                  <a:lnTo>
                    <a:pt x="86" y="25"/>
                  </a:lnTo>
                  <a:lnTo>
                    <a:pt x="83" y="28"/>
                  </a:lnTo>
                  <a:lnTo>
                    <a:pt x="80" y="30"/>
                  </a:lnTo>
                  <a:lnTo>
                    <a:pt x="83" y="33"/>
                  </a:lnTo>
                  <a:lnTo>
                    <a:pt x="86" y="36"/>
                  </a:lnTo>
                  <a:lnTo>
                    <a:pt x="133" y="55"/>
                  </a:lnTo>
                  <a:lnTo>
                    <a:pt x="131" y="55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2"/>
                  </a:lnTo>
                  <a:lnTo>
                    <a:pt x="1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7" name="Freeform 48"/>
            <p:cNvSpPr>
              <a:spLocks/>
            </p:cNvSpPr>
            <p:nvPr/>
          </p:nvSpPr>
          <p:spPr bwMode="auto">
            <a:xfrm>
              <a:off x="2461" y="1430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4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3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4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3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8" name="Freeform 49"/>
            <p:cNvSpPr>
              <a:spLocks noEditPoints="1"/>
            </p:cNvSpPr>
            <p:nvPr/>
          </p:nvSpPr>
          <p:spPr bwMode="auto">
            <a:xfrm>
              <a:off x="2456" y="1424"/>
              <a:ext cx="153" cy="70"/>
            </a:xfrm>
            <a:custGeom>
              <a:avLst/>
              <a:gdLst>
                <a:gd name="T0" fmla="*/ 125 w 153"/>
                <a:gd name="T1" fmla="*/ 0 h 70"/>
                <a:gd name="T2" fmla="*/ 69 w 153"/>
                <a:gd name="T3" fmla="*/ 25 h 70"/>
                <a:gd name="T4" fmla="*/ 44 w 153"/>
                <a:gd name="T5" fmla="*/ 14 h 70"/>
                <a:gd name="T6" fmla="*/ 38 w 153"/>
                <a:gd name="T7" fmla="*/ 17 h 70"/>
                <a:gd name="T8" fmla="*/ 2 w 153"/>
                <a:gd name="T9" fmla="*/ 61 h 70"/>
                <a:gd name="T10" fmla="*/ 0 w 153"/>
                <a:gd name="T11" fmla="*/ 67 h 70"/>
                <a:gd name="T12" fmla="*/ 2 w 153"/>
                <a:gd name="T13" fmla="*/ 70 h 70"/>
                <a:gd name="T14" fmla="*/ 114 w 153"/>
                <a:gd name="T15" fmla="*/ 56 h 70"/>
                <a:gd name="T16" fmla="*/ 119 w 153"/>
                <a:gd name="T17" fmla="*/ 53 h 70"/>
                <a:gd name="T18" fmla="*/ 119 w 153"/>
                <a:gd name="T19" fmla="*/ 50 h 70"/>
                <a:gd name="T20" fmla="*/ 119 w 153"/>
                <a:gd name="T21" fmla="*/ 50 h 70"/>
                <a:gd name="T22" fmla="*/ 116 w 153"/>
                <a:gd name="T23" fmla="*/ 45 h 70"/>
                <a:gd name="T24" fmla="*/ 103 w 153"/>
                <a:gd name="T25" fmla="*/ 39 h 70"/>
                <a:gd name="T26" fmla="*/ 147 w 153"/>
                <a:gd name="T27" fmla="*/ 19 h 70"/>
                <a:gd name="T28" fmla="*/ 150 w 153"/>
                <a:gd name="T29" fmla="*/ 17 h 70"/>
                <a:gd name="T30" fmla="*/ 153 w 153"/>
                <a:gd name="T31" fmla="*/ 14 h 70"/>
                <a:gd name="T32" fmla="*/ 150 w 153"/>
                <a:gd name="T33" fmla="*/ 11 h 70"/>
                <a:gd name="T34" fmla="*/ 130 w 153"/>
                <a:gd name="T35" fmla="*/ 0 h 70"/>
                <a:gd name="T36" fmla="*/ 125 w 153"/>
                <a:gd name="T37" fmla="*/ 0 h 70"/>
                <a:gd name="T38" fmla="*/ 72 w 153"/>
                <a:gd name="T39" fmla="*/ 36 h 70"/>
                <a:gd name="T40" fmla="*/ 128 w 153"/>
                <a:gd name="T41" fmla="*/ 11 h 70"/>
                <a:gd name="T42" fmla="*/ 130 w 153"/>
                <a:gd name="T43" fmla="*/ 14 h 70"/>
                <a:gd name="T44" fmla="*/ 83 w 153"/>
                <a:gd name="T45" fmla="*/ 33 h 70"/>
                <a:gd name="T46" fmla="*/ 83 w 153"/>
                <a:gd name="T47" fmla="*/ 33 h 70"/>
                <a:gd name="T48" fmla="*/ 80 w 153"/>
                <a:gd name="T49" fmla="*/ 39 h 70"/>
                <a:gd name="T50" fmla="*/ 83 w 153"/>
                <a:gd name="T51" fmla="*/ 42 h 70"/>
                <a:gd name="T52" fmla="*/ 83 w 153"/>
                <a:gd name="T53" fmla="*/ 42 h 70"/>
                <a:gd name="T54" fmla="*/ 91 w 153"/>
                <a:gd name="T55" fmla="*/ 47 h 70"/>
                <a:gd name="T56" fmla="*/ 19 w 153"/>
                <a:gd name="T57" fmla="*/ 56 h 70"/>
                <a:gd name="T58" fmla="*/ 44 w 153"/>
                <a:gd name="T59" fmla="*/ 28 h 70"/>
                <a:gd name="T60" fmla="*/ 66 w 153"/>
                <a:gd name="T61" fmla="*/ 36 h 70"/>
                <a:gd name="T62" fmla="*/ 72 w 153"/>
                <a:gd name="T63" fmla="*/ 36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25" y="0"/>
                  </a:moveTo>
                  <a:lnTo>
                    <a:pt x="125" y="0"/>
                  </a:lnTo>
                  <a:lnTo>
                    <a:pt x="69" y="25"/>
                  </a:lnTo>
                  <a:lnTo>
                    <a:pt x="44" y="14"/>
                  </a:lnTo>
                  <a:lnTo>
                    <a:pt x="41" y="14"/>
                  </a:lnTo>
                  <a:lnTo>
                    <a:pt x="38" y="17"/>
                  </a:lnTo>
                  <a:lnTo>
                    <a:pt x="2" y="61"/>
                  </a:lnTo>
                  <a:lnTo>
                    <a:pt x="0" y="64"/>
                  </a:lnTo>
                  <a:lnTo>
                    <a:pt x="0" y="67"/>
                  </a:lnTo>
                  <a:lnTo>
                    <a:pt x="2" y="70"/>
                  </a:lnTo>
                  <a:lnTo>
                    <a:pt x="5" y="70"/>
                  </a:lnTo>
                  <a:lnTo>
                    <a:pt x="114" y="56"/>
                  </a:lnTo>
                  <a:lnTo>
                    <a:pt x="119" y="53"/>
                  </a:lnTo>
                  <a:lnTo>
                    <a:pt x="119" y="50"/>
                  </a:lnTo>
                  <a:lnTo>
                    <a:pt x="119" y="47"/>
                  </a:lnTo>
                  <a:lnTo>
                    <a:pt x="116" y="45"/>
                  </a:lnTo>
                  <a:lnTo>
                    <a:pt x="103" y="39"/>
                  </a:lnTo>
                  <a:lnTo>
                    <a:pt x="147" y="19"/>
                  </a:lnTo>
                  <a:lnTo>
                    <a:pt x="150" y="17"/>
                  </a:lnTo>
                  <a:lnTo>
                    <a:pt x="153" y="14"/>
                  </a:lnTo>
                  <a:lnTo>
                    <a:pt x="150" y="11"/>
                  </a:lnTo>
                  <a:lnTo>
                    <a:pt x="147" y="8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72" y="36"/>
                  </a:moveTo>
                  <a:lnTo>
                    <a:pt x="72" y="36"/>
                  </a:lnTo>
                  <a:lnTo>
                    <a:pt x="128" y="11"/>
                  </a:lnTo>
                  <a:lnTo>
                    <a:pt x="130" y="14"/>
                  </a:lnTo>
                  <a:lnTo>
                    <a:pt x="83" y="33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7"/>
                  </a:lnTo>
                  <a:lnTo>
                    <a:pt x="19" y="56"/>
                  </a:lnTo>
                  <a:lnTo>
                    <a:pt x="44" y="28"/>
                  </a:lnTo>
                  <a:lnTo>
                    <a:pt x="66" y="36"/>
                  </a:lnTo>
                  <a:lnTo>
                    <a:pt x="72" y="36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9" name="Freeform 50"/>
            <p:cNvSpPr>
              <a:spLocks/>
            </p:cNvSpPr>
            <p:nvPr/>
          </p:nvSpPr>
          <p:spPr bwMode="auto">
            <a:xfrm>
              <a:off x="2625" y="1363"/>
              <a:ext cx="142" cy="58"/>
            </a:xfrm>
            <a:custGeom>
              <a:avLst/>
              <a:gdLst>
                <a:gd name="T0" fmla="*/ 142 w 142"/>
                <a:gd name="T1" fmla="*/ 0 h 58"/>
                <a:gd name="T2" fmla="*/ 34 w 142"/>
                <a:gd name="T3" fmla="*/ 16 h 58"/>
                <a:gd name="T4" fmla="*/ 62 w 142"/>
                <a:gd name="T5" fmla="*/ 27 h 58"/>
                <a:gd name="T6" fmla="*/ 0 w 142"/>
                <a:gd name="T7" fmla="*/ 53 h 58"/>
                <a:gd name="T8" fmla="*/ 17 w 142"/>
                <a:gd name="T9" fmla="*/ 58 h 58"/>
                <a:gd name="T10" fmla="*/ 78 w 142"/>
                <a:gd name="T11" fmla="*/ 33 h 58"/>
                <a:gd name="T12" fmla="*/ 106 w 142"/>
                <a:gd name="T13" fmla="*/ 44 h 58"/>
                <a:gd name="T14" fmla="*/ 142 w 142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142" y="0"/>
                  </a:moveTo>
                  <a:lnTo>
                    <a:pt x="34" y="16"/>
                  </a:lnTo>
                  <a:lnTo>
                    <a:pt x="62" y="27"/>
                  </a:lnTo>
                  <a:lnTo>
                    <a:pt x="0" y="53"/>
                  </a:lnTo>
                  <a:lnTo>
                    <a:pt x="17" y="58"/>
                  </a:lnTo>
                  <a:lnTo>
                    <a:pt x="78" y="33"/>
                  </a:lnTo>
                  <a:lnTo>
                    <a:pt x="106" y="4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0" name="Freeform 51"/>
            <p:cNvSpPr>
              <a:spLocks noEditPoints="1"/>
            </p:cNvSpPr>
            <p:nvPr/>
          </p:nvSpPr>
          <p:spPr bwMode="auto">
            <a:xfrm>
              <a:off x="2620" y="1357"/>
              <a:ext cx="153" cy="70"/>
            </a:xfrm>
            <a:custGeom>
              <a:avLst/>
              <a:gdLst>
                <a:gd name="T0" fmla="*/ 39 w 153"/>
                <a:gd name="T1" fmla="*/ 17 h 70"/>
                <a:gd name="T2" fmla="*/ 33 w 153"/>
                <a:gd name="T3" fmla="*/ 17 h 70"/>
                <a:gd name="T4" fmla="*/ 33 w 153"/>
                <a:gd name="T5" fmla="*/ 20 h 70"/>
                <a:gd name="T6" fmla="*/ 33 w 153"/>
                <a:gd name="T7" fmla="*/ 22 h 70"/>
                <a:gd name="T8" fmla="*/ 36 w 153"/>
                <a:gd name="T9" fmla="*/ 28 h 70"/>
                <a:gd name="T10" fmla="*/ 50 w 153"/>
                <a:gd name="T11" fmla="*/ 33 h 70"/>
                <a:gd name="T12" fmla="*/ 3 w 153"/>
                <a:gd name="T13" fmla="*/ 53 h 70"/>
                <a:gd name="T14" fmla="*/ 0 w 153"/>
                <a:gd name="T15" fmla="*/ 56 h 70"/>
                <a:gd name="T16" fmla="*/ 0 w 153"/>
                <a:gd name="T17" fmla="*/ 59 h 70"/>
                <a:gd name="T18" fmla="*/ 0 w 153"/>
                <a:gd name="T19" fmla="*/ 61 h 70"/>
                <a:gd name="T20" fmla="*/ 19 w 153"/>
                <a:gd name="T21" fmla="*/ 70 h 70"/>
                <a:gd name="T22" fmla="*/ 25 w 153"/>
                <a:gd name="T23" fmla="*/ 70 h 70"/>
                <a:gd name="T24" fmla="*/ 83 w 153"/>
                <a:gd name="T25" fmla="*/ 45 h 70"/>
                <a:gd name="T26" fmla="*/ 108 w 153"/>
                <a:gd name="T27" fmla="*/ 56 h 70"/>
                <a:gd name="T28" fmla="*/ 111 w 153"/>
                <a:gd name="T29" fmla="*/ 56 h 70"/>
                <a:gd name="T30" fmla="*/ 150 w 153"/>
                <a:gd name="T31" fmla="*/ 11 h 70"/>
                <a:gd name="T32" fmla="*/ 153 w 153"/>
                <a:gd name="T33" fmla="*/ 8 h 70"/>
                <a:gd name="T34" fmla="*/ 153 w 153"/>
                <a:gd name="T35" fmla="*/ 3 h 70"/>
                <a:gd name="T36" fmla="*/ 147 w 153"/>
                <a:gd name="T37" fmla="*/ 0 h 70"/>
                <a:gd name="T38" fmla="*/ 133 w 153"/>
                <a:gd name="T39" fmla="*/ 14 h 70"/>
                <a:gd name="T40" fmla="*/ 108 w 153"/>
                <a:gd name="T41" fmla="*/ 45 h 70"/>
                <a:gd name="T42" fmla="*/ 86 w 153"/>
                <a:gd name="T43" fmla="*/ 33 h 70"/>
                <a:gd name="T44" fmla="*/ 80 w 153"/>
                <a:gd name="T45" fmla="*/ 33 h 70"/>
                <a:gd name="T46" fmla="*/ 22 w 153"/>
                <a:gd name="T47" fmla="*/ 59 h 70"/>
                <a:gd name="T48" fmla="*/ 19 w 153"/>
                <a:gd name="T49" fmla="*/ 59 h 70"/>
                <a:gd name="T50" fmla="*/ 69 w 153"/>
                <a:gd name="T51" fmla="*/ 39 h 70"/>
                <a:gd name="T52" fmla="*/ 69 w 153"/>
                <a:gd name="T53" fmla="*/ 36 h 70"/>
                <a:gd name="T54" fmla="*/ 72 w 153"/>
                <a:gd name="T55" fmla="*/ 33 h 70"/>
                <a:gd name="T56" fmla="*/ 69 w 153"/>
                <a:gd name="T57" fmla="*/ 31 h 70"/>
                <a:gd name="T58" fmla="*/ 69 w 153"/>
                <a:gd name="T59" fmla="*/ 28 h 70"/>
                <a:gd name="T60" fmla="*/ 61 w 153"/>
                <a:gd name="T61" fmla="*/ 25 h 70"/>
                <a:gd name="T62" fmla="*/ 133 w 153"/>
                <a:gd name="T63" fmla="*/ 14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47" y="0"/>
                  </a:moveTo>
                  <a:lnTo>
                    <a:pt x="39" y="17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2"/>
                  </a:lnTo>
                  <a:lnTo>
                    <a:pt x="33" y="25"/>
                  </a:lnTo>
                  <a:lnTo>
                    <a:pt x="36" y="28"/>
                  </a:lnTo>
                  <a:lnTo>
                    <a:pt x="50" y="33"/>
                  </a:lnTo>
                  <a:lnTo>
                    <a:pt x="3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0" y="61"/>
                  </a:lnTo>
                  <a:lnTo>
                    <a:pt x="3" y="64"/>
                  </a:lnTo>
                  <a:lnTo>
                    <a:pt x="19" y="70"/>
                  </a:lnTo>
                  <a:lnTo>
                    <a:pt x="25" y="70"/>
                  </a:lnTo>
                  <a:lnTo>
                    <a:pt x="83" y="45"/>
                  </a:lnTo>
                  <a:lnTo>
                    <a:pt x="108" y="56"/>
                  </a:lnTo>
                  <a:lnTo>
                    <a:pt x="111" y="56"/>
                  </a:lnTo>
                  <a:lnTo>
                    <a:pt x="114" y="53"/>
                  </a:lnTo>
                  <a:lnTo>
                    <a:pt x="150" y="11"/>
                  </a:lnTo>
                  <a:lnTo>
                    <a:pt x="153" y="8"/>
                  </a:lnTo>
                  <a:lnTo>
                    <a:pt x="153" y="3"/>
                  </a:lnTo>
                  <a:lnTo>
                    <a:pt x="150" y="3"/>
                  </a:lnTo>
                  <a:lnTo>
                    <a:pt x="147" y="0"/>
                  </a:lnTo>
                  <a:close/>
                  <a:moveTo>
                    <a:pt x="133" y="14"/>
                  </a:moveTo>
                  <a:lnTo>
                    <a:pt x="133" y="14"/>
                  </a:lnTo>
                  <a:lnTo>
                    <a:pt x="108" y="45"/>
                  </a:lnTo>
                  <a:lnTo>
                    <a:pt x="86" y="33"/>
                  </a:lnTo>
                  <a:lnTo>
                    <a:pt x="80" y="33"/>
                  </a:lnTo>
                  <a:lnTo>
                    <a:pt x="22" y="59"/>
                  </a:lnTo>
                  <a:lnTo>
                    <a:pt x="19" y="59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72" y="33"/>
                  </a:lnTo>
                  <a:lnTo>
                    <a:pt x="69" y="31"/>
                  </a:lnTo>
                  <a:lnTo>
                    <a:pt x="69" y="28"/>
                  </a:lnTo>
                  <a:lnTo>
                    <a:pt x="61" y="25"/>
                  </a:lnTo>
                  <a:lnTo>
                    <a:pt x="133" y="1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1" name="Freeform 52"/>
            <p:cNvSpPr>
              <a:spLocks/>
            </p:cNvSpPr>
            <p:nvPr/>
          </p:nvSpPr>
          <p:spPr bwMode="auto">
            <a:xfrm>
              <a:off x="2458" y="1357"/>
              <a:ext cx="142" cy="56"/>
            </a:xfrm>
            <a:custGeom>
              <a:avLst/>
              <a:gdLst>
                <a:gd name="T0" fmla="*/ 142 w 142"/>
                <a:gd name="T1" fmla="*/ 56 h 56"/>
                <a:gd name="T2" fmla="*/ 106 w 142"/>
                <a:gd name="T3" fmla="*/ 14 h 56"/>
                <a:gd name="T4" fmla="*/ 78 w 142"/>
                <a:gd name="T5" fmla="*/ 25 h 56"/>
                <a:gd name="T6" fmla="*/ 20 w 142"/>
                <a:gd name="T7" fmla="*/ 0 h 56"/>
                <a:gd name="T8" fmla="*/ 0 w 142"/>
                <a:gd name="T9" fmla="*/ 8 h 56"/>
                <a:gd name="T10" fmla="*/ 59 w 142"/>
                <a:gd name="T11" fmla="*/ 31 h 56"/>
                <a:gd name="T12" fmla="*/ 34 w 142"/>
                <a:gd name="T13" fmla="*/ 42 h 56"/>
                <a:gd name="T14" fmla="*/ 142 w 142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56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8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2" name="Freeform 53"/>
            <p:cNvSpPr>
              <a:spLocks noEditPoints="1"/>
            </p:cNvSpPr>
            <p:nvPr/>
          </p:nvSpPr>
          <p:spPr bwMode="auto">
            <a:xfrm>
              <a:off x="2456" y="1357"/>
              <a:ext cx="147" cy="59"/>
            </a:xfrm>
            <a:custGeom>
              <a:avLst/>
              <a:gdLst>
                <a:gd name="T0" fmla="*/ 2 w 147"/>
                <a:gd name="T1" fmla="*/ 6 h 59"/>
                <a:gd name="T2" fmla="*/ 0 w 147"/>
                <a:gd name="T3" fmla="*/ 8 h 59"/>
                <a:gd name="T4" fmla="*/ 0 w 147"/>
                <a:gd name="T5" fmla="*/ 8 h 59"/>
                <a:gd name="T6" fmla="*/ 58 w 147"/>
                <a:gd name="T7" fmla="*/ 31 h 59"/>
                <a:gd name="T8" fmla="*/ 58 w 147"/>
                <a:gd name="T9" fmla="*/ 31 h 59"/>
                <a:gd name="T10" fmla="*/ 30 w 147"/>
                <a:gd name="T11" fmla="*/ 42 h 59"/>
                <a:gd name="T12" fmla="*/ 147 w 147"/>
                <a:gd name="T13" fmla="*/ 59 h 59"/>
                <a:gd name="T14" fmla="*/ 108 w 147"/>
                <a:gd name="T15" fmla="*/ 11 h 59"/>
                <a:gd name="T16" fmla="*/ 80 w 147"/>
                <a:gd name="T17" fmla="*/ 22 h 59"/>
                <a:gd name="T18" fmla="*/ 22 w 147"/>
                <a:gd name="T19" fmla="*/ 0 h 59"/>
                <a:gd name="T20" fmla="*/ 2 w 147"/>
                <a:gd name="T21" fmla="*/ 6 h 59"/>
                <a:gd name="T22" fmla="*/ 22 w 147"/>
                <a:gd name="T23" fmla="*/ 3 h 59"/>
                <a:gd name="T24" fmla="*/ 80 w 147"/>
                <a:gd name="T25" fmla="*/ 25 h 59"/>
                <a:gd name="T26" fmla="*/ 80 w 147"/>
                <a:gd name="T27" fmla="*/ 25 h 59"/>
                <a:gd name="T28" fmla="*/ 105 w 147"/>
                <a:gd name="T29" fmla="*/ 14 h 59"/>
                <a:gd name="T30" fmla="*/ 105 w 147"/>
                <a:gd name="T31" fmla="*/ 14 h 59"/>
                <a:gd name="T32" fmla="*/ 139 w 147"/>
                <a:gd name="T33" fmla="*/ 56 h 59"/>
                <a:gd name="T34" fmla="*/ 139 w 147"/>
                <a:gd name="T35" fmla="*/ 56 h 59"/>
                <a:gd name="T36" fmla="*/ 41 w 147"/>
                <a:gd name="T37" fmla="*/ 42 h 59"/>
                <a:gd name="T38" fmla="*/ 41 w 147"/>
                <a:gd name="T39" fmla="*/ 42 h 59"/>
                <a:gd name="T40" fmla="*/ 66 w 147"/>
                <a:gd name="T41" fmla="*/ 31 h 59"/>
                <a:gd name="T42" fmla="*/ 66 w 147"/>
                <a:gd name="T43" fmla="*/ 31 h 59"/>
                <a:gd name="T44" fmla="*/ 8 w 147"/>
                <a:gd name="T45" fmla="*/ 8 h 59"/>
                <a:gd name="T46" fmla="*/ 8 w 147"/>
                <a:gd name="T47" fmla="*/ 8 h 59"/>
                <a:gd name="T48" fmla="*/ 22 w 147"/>
                <a:gd name="T49" fmla="*/ 3 h 59"/>
                <a:gd name="T50" fmla="*/ 22 w 147"/>
                <a:gd name="T51" fmla="*/ 3 h 59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47"/>
                <a:gd name="T79" fmla="*/ 0 h 59"/>
                <a:gd name="T80" fmla="*/ 147 w 147"/>
                <a:gd name="T81" fmla="*/ 59 h 59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47" h="59">
                  <a:moveTo>
                    <a:pt x="2" y="6"/>
                  </a:moveTo>
                  <a:lnTo>
                    <a:pt x="0" y="8"/>
                  </a:lnTo>
                  <a:lnTo>
                    <a:pt x="58" y="31"/>
                  </a:lnTo>
                  <a:lnTo>
                    <a:pt x="30" y="42"/>
                  </a:lnTo>
                  <a:lnTo>
                    <a:pt x="147" y="59"/>
                  </a:lnTo>
                  <a:lnTo>
                    <a:pt x="108" y="11"/>
                  </a:lnTo>
                  <a:lnTo>
                    <a:pt x="80" y="22"/>
                  </a:lnTo>
                  <a:lnTo>
                    <a:pt x="22" y="0"/>
                  </a:lnTo>
                  <a:lnTo>
                    <a:pt x="2" y="6"/>
                  </a:lnTo>
                  <a:close/>
                  <a:moveTo>
                    <a:pt x="22" y="3"/>
                  </a:moveTo>
                  <a:lnTo>
                    <a:pt x="80" y="25"/>
                  </a:lnTo>
                  <a:lnTo>
                    <a:pt x="105" y="14"/>
                  </a:lnTo>
                  <a:lnTo>
                    <a:pt x="139" y="56"/>
                  </a:lnTo>
                  <a:lnTo>
                    <a:pt x="41" y="42"/>
                  </a:lnTo>
                  <a:lnTo>
                    <a:pt x="66" y="31"/>
                  </a:lnTo>
                  <a:lnTo>
                    <a:pt x="8" y="8"/>
                  </a:lnTo>
                  <a:lnTo>
                    <a:pt x="22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3" name="Freeform 54"/>
            <p:cNvSpPr>
              <a:spLocks/>
            </p:cNvSpPr>
            <p:nvPr/>
          </p:nvSpPr>
          <p:spPr bwMode="auto">
            <a:xfrm>
              <a:off x="2625" y="1424"/>
              <a:ext cx="145" cy="58"/>
            </a:xfrm>
            <a:custGeom>
              <a:avLst/>
              <a:gdLst>
                <a:gd name="T0" fmla="*/ 0 w 145"/>
                <a:gd name="T1" fmla="*/ 0 h 58"/>
                <a:gd name="T2" fmla="*/ 37 w 145"/>
                <a:gd name="T3" fmla="*/ 45 h 58"/>
                <a:gd name="T4" fmla="*/ 64 w 145"/>
                <a:gd name="T5" fmla="*/ 33 h 58"/>
                <a:gd name="T6" fmla="*/ 126 w 145"/>
                <a:gd name="T7" fmla="*/ 58 h 58"/>
                <a:gd name="T8" fmla="*/ 145 w 145"/>
                <a:gd name="T9" fmla="*/ 53 h 58"/>
                <a:gd name="T10" fmla="*/ 81 w 145"/>
                <a:gd name="T11" fmla="*/ 28 h 58"/>
                <a:gd name="T12" fmla="*/ 109 w 145"/>
                <a:gd name="T13" fmla="*/ 17 h 58"/>
                <a:gd name="T14" fmla="*/ 0 w 145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8"/>
                <a:gd name="T26" fmla="*/ 145 w 145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8">
                  <a:moveTo>
                    <a:pt x="0" y="0"/>
                  </a:moveTo>
                  <a:lnTo>
                    <a:pt x="37" y="45"/>
                  </a:lnTo>
                  <a:lnTo>
                    <a:pt x="64" y="33"/>
                  </a:lnTo>
                  <a:lnTo>
                    <a:pt x="126" y="58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4" name="Freeform 55"/>
            <p:cNvSpPr>
              <a:spLocks noEditPoints="1"/>
            </p:cNvSpPr>
            <p:nvPr/>
          </p:nvSpPr>
          <p:spPr bwMode="auto">
            <a:xfrm>
              <a:off x="2623" y="1424"/>
              <a:ext cx="150" cy="61"/>
            </a:xfrm>
            <a:custGeom>
              <a:avLst/>
              <a:gdLst>
                <a:gd name="T0" fmla="*/ 2 w 150"/>
                <a:gd name="T1" fmla="*/ 3 h 61"/>
                <a:gd name="T2" fmla="*/ 39 w 150"/>
                <a:gd name="T3" fmla="*/ 47 h 61"/>
                <a:gd name="T4" fmla="*/ 66 w 150"/>
                <a:gd name="T5" fmla="*/ 36 h 61"/>
                <a:gd name="T6" fmla="*/ 128 w 150"/>
                <a:gd name="T7" fmla="*/ 61 h 61"/>
                <a:gd name="T8" fmla="*/ 147 w 150"/>
                <a:gd name="T9" fmla="*/ 53 h 61"/>
                <a:gd name="T10" fmla="*/ 150 w 150"/>
                <a:gd name="T11" fmla="*/ 53 h 61"/>
                <a:gd name="T12" fmla="*/ 150 w 150"/>
                <a:gd name="T13" fmla="*/ 53 h 61"/>
                <a:gd name="T14" fmla="*/ 89 w 150"/>
                <a:gd name="T15" fmla="*/ 28 h 61"/>
                <a:gd name="T16" fmla="*/ 89 w 150"/>
                <a:gd name="T17" fmla="*/ 28 h 61"/>
                <a:gd name="T18" fmla="*/ 116 w 150"/>
                <a:gd name="T19" fmla="*/ 14 h 61"/>
                <a:gd name="T20" fmla="*/ 0 w 150"/>
                <a:gd name="T21" fmla="*/ 0 h 61"/>
                <a:gd name="T22" fmla="*/ 2 w 150"/>
                <a:gd name="T23" fmla="*/ 3 h 61"/>
                <a:gd name="T24" fmla="*/ 5 w 150"/>
                <a:gd name="T25" fmla="*/ 3 h 61"/>
                <a:gd name="T26" fmla="*/ 5 w 150"/>
                <a:gd name="T27" fmla="*/ 3 h 61"/>
                <a:gd name="T28" fmla="*/ 105 w 150"/>
                <a:gd name="T29" fmla="*/ 17 h 61"/>
                <a:gd name="T30" fmla="*/ 105 w 150"/>
                <a:gd name="T31" fmla="*/ 17 h 61"/>
                <a:gd name="T32" fmla="*/ 80 w 150"/>
                <a:gd name="T33" fmla="*/ 28 h 61"/>
                <a:gd name="T34" fmla="*/ 80 w 150"/>
                <a:gd name="T35" fmla="*/ 28 h 61"/>
                <a:gd name="T36" fmla="*/ 142 w 150"/>
                <a:gd name="T37" fmla="*/ 53 h 61"/>
                <a:gd name="T38" fmla="*/ 142 w 150"/>
                <a:gd name="T39" fmla="*/ 53 h 61"/>
                <a:gd name="T40" fmla="*/ 128 w 150"/>
                <a:gd name="T41" fmla="*/ 58 h 61"/>
                <a:gd name="T42" fmla="*/ 66 w 150"/>
                <a:gd name="T43" fmla="*/ 33 h 61"/>
                <a:gd name="T44" fmla="*/ 66 w 150"/>
                <a:gd name="T45" fmla="*/ 33 h 61"/>
                <a:gd name="T46" fmla="*/ 39 w 150"/>
                <a:gd name="T47" fmla="*/ 45 h 61"/>
                <a:gd name="T48" fmla="*/ 39 w 150"/>
                <a:gd name="T49" fmla="*/ 45 h 61"/>
                <a:gd name="T50" fmla="*/ 5 w 150"/>
                <a:gd name="T51" fmla="*/ 3 h 61"/>
                <a:gd name="T52" fmla="*/ 5 w 150"/>
                <a:gd name="T53" fmla="*/ 3 h 61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w 150"/>
                <a:gd name="T82" fmla="*/ 0 h 61"/>
                <a:gd name="T83" fmla="*/ 150 w 150"/>
                <a:gd name="T84" fmla="*/ 61 h 61"/>
              </a:gdLst>
              <a:ahLst/>
              <a:cxnLst>
                <a:cxn ang="T54">
                  <a:pos x="T0" y="T1"/>
                </a:cxn>
                <a:cxn ang="T55">
                  <a:pos x="T2" y="T3"/>
                </a:cxn>
                <a:cxn ang="T56">
                  <a:pos x="T4" y="T5"/>
                </a:cxn>
                <a:cxn ang="T57">
                  <a:pos x="T6" y="T7"/>
                </a:cxn>
                <a:cxn ang="T58">
                  <a:pos x="T8" y="T9"/>
                </a:cxn>
                <a:cxn ang="T59">
                  <a:pos x="T10" y="T11"/>
                </a:cxn>
                <a:cxn ang="T60">
                  <a:pos x="T12" y="T13"/>
                </a:cxn>
                <a:cxn ang="T61">
                  <a:pos x="T14" y="T15"/>
                </a:cxn>
                <a:cxn ang="T62">
                  <a:pos x="T16" y="T17"/>
                </a:cxn>
                <a:cxn ang="T63">
                  <a:pos x="T18" y="T19"/>
                </a:cxn>
                <a:cxn ang="T64">
                  <a:pos x="T20" y="T21"/>
                </a:cxn>
                <a:cxn ang="T65">
                  <a:pos x="T22" y="T23"/>
                </a:cxn>
                <a:cxn ang="T66">
                  <a:pos x="T24" y="T25"/>
                </a:cxn>
                <a:cxn ang="T67">
                  <a:pos x="T26" y="T27"/>
                </a:cxn>
                <a:cxn ang="T68">
                  <a:pos x="T28" y="T29"/>
                </a:cxn>
                <a:cxn ang="T69">
                  <a:pos x="T30" y="T31"/>
                </a:cxn>
                <a:cxn ang="T70">
                  <a:pos x="T32" y="T33"/>
                </a:cxn>
                <a:cxn ang="T71">
                  <a:pos x="T34" y="T35"/>
                </a:cxn>
                <a:cxn ang="T72">
                  <a:pos x="T36" y="T37"/>
                </a:cxn>
                <a:cxn ang="T73">
                  <a:pos x="T38" y="T39"/>
                </a:cxn>
                <a:cxn ang="T74">
                  <a:pos x="T40" y="T41"/>
                </a:cxn>
                <a:cxn ang="T75">
                  <a:pos x="T42" y="T43"/>
                </a:cxn>
                <a:cxn ang="T76">
                  <a:pos x="T44" y="T45"/>
                </a:cxn>
                <a:cxn ang="T77">
                  <a:pos x="T46" y="T47"/>
                </a:cxn>
                <a:cxn ang="T78">
                  <a:pos x="T48" y="T49"/>
                </a:cxn>
                <a:cxn ang="T79">
                  <a:pos x="T50" y="T51"/>
                </a:cxn>
                <a:cxn ang="T80">
                  <a:pos x="T52" y="T53"/>
                </a:cxn>
              </a:cxnLst>
              <a:rect l="T81" t="T82" r="T83" b="T84"/>
              <a:pathLst>
                <a:path w="150" h="61">
                  <a:moveTo>
                    <a:pt x="2" y="3"/>
                  </a:moveTo>
                  <a:lnTo>
                    <a:pt x="39" y="47"/>
                  </a:lnTo>
                  <a:lnTo>
                    <a:pt x="66" y="36"/>
                  </a:lnTo>
                  <a:lnTo>
                    <a:pt x="128" y="61"/>
                  </a:lnTo>
                  <a:lnTo>
                    <a:pt x="147" y="53"/>
                  </a:lnTo>
                  <a:lnTo>
                    <a:pt x="150" y="53"/>
                  </a:lnTo>
                  <a:lnTo>
                    <a:pt x="89" y="28"/>
                  </a:lnTo>
                  <a:lnTo>
                    <a:pt x="116" y="14"/>
                  </a:lnTo>
                  <a:lnTo>
                    <a:pt x="0" y="0"/>
                  </a:lnTo>
                  <a:lnTo>
                    <a:pt x="2" y="3"/>
                  </a:lnTo>
                  <a:close/>
                  <a:moveTo>
                    <a:pt x="5" y="3"/>
                  </a:moveTo>
                  <a:lnTo>
                    <a:pt x="5" y="3"/>
                  </a:lnTo>
                  <a:lnTo>
                    <a:pt x="105" y="17"/>
                  </a:lnTo>
                  <a:lnTo>
                    <a:pt x="80" y="28"/>
                  </a:lnTo>
                  <a:lnTo>
                    <a:pt x="142" y="53"/>
                  </a:lnTo>
                  <a:lnTo>
                    <a:pt x="128" y="58"/>
                  </a:lnTo>
                  <a:lnTo>
                    <a:pt x="66" y="33"/>
                  </a:lnTo>
                  <a:lnTo>
                    <a:pt x="39" y="45"/>
                  </a:lnTo>
                  <a:lnTo>
                    <a:pt x="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5" name="Freeform 56"/>
            <p:cNvSpPr>
              <a:spLocks/>
            </p:cNvSpPr>
            <p:nvPr/>
          </p:nvSpPr>
          <p:spPr bwMode="auto">
            <a:xfrm>
              <a:off x="2461" y="1424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5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4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5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4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6" name="Freeform 57"/>
            <p:cNvSpPr>
              <a:spLocks noEditPoints="1"/>
            </p:cNvSpPr>
            <p:nvPr/>
          </p:nvSpPr>
          <p:spPr bwMode="auto">
            <a:xfrm>
              <a:off x="2458" y="1424"/>
              <a:ext cx="148" cy="61"/>
            </a:xfrm>
            <a:custGeom>
              <a:avLst/>
              <a:gdLst>
                <a:gd name="T0" fmla="*/ 67 w 148"/>
                <a:gd name="T1" fmla="*/ 25 h 61"/>
                <a:gd name="T2" fmla="*/ 39 w 148"/>
                <a:gd name="T3" fmla="*/ 14 h 61"/>
                <a:gd name="T4" fmla="*/ 0 w 148"/>
                <a:gd name="T5" fmla="*/ 61 h 61"/>
                <a:gd name="T6" fmla="*/ 117 w 148"/>
                <a:gd name="T7" fmla="*/ 45 h 61"/>
                <a:gd name="T8" fmla="*/ 117 w 148"/>
                <a:gd name="T9" fmla="*/ 45 h 61"/>
                <a:gd name="T10" fmla="*/ 89 w 148"/>
                <a:gd name="T11" fmla="*/ 33 h 61"/>
                <a:gd name="T12" fmla="*/ 89 w 148"/>
                <a:gd name="T13" fmla="*/ 33 h 61"/>
                <a:gd name="T14" fmla="*/ 148 w 148"/>
                <a:gd name="T15" fmla="*/ 8 h 61"/>
                <a:gd name="T16" fmla="*/ 126 w 148"/>
                <a:gd name="T17" fmla="*/ 0 h 61"/>
                <a:gd name="T18" fmla="*/ 67 w 148"/>
                <a:gd name="T19" fmla="*/ 25 h 61"/>
                <a:gd name="T20" fmla="*/ 126 w 148"/>
                <a:gd name="T21" fmla="*/ 3 h 61"/>
                <a:gd name="T22" fmla="*/ 126 w 148"/>
                <a:gd name="T23" fmla="*/ 3 h 61"/>
                <a:gd name="T24" fmla="*/ 139 w 148"/>
                <a:gd name="T25" fmla="*/ 8 h 61"/>
                <a:gd name="T26" fmla="*/ 139 w 148"/>
                <a:gd name="T27" fmla="*/ 8 h 61"/>
                <a:gd name="T28" fmla="*/ 81 w 148"/>
                <a:gd name="T29" fmla="*/ 33 h 61"/>
                <a:gd name="T30" fmla="*/ 81 w 148"/>
                <a:gd name="T31" fmla="*/ 33 h 61"/>
                <a:gd name="T32" fmla="*/ 106 w 148"/>
                <a:gd name="T33" fmla="*/ 42 h 61"/>
                <a:gd name="T34" fmla="*/ 106 w 148"/>
                <a:gd name="T35" fmla="*/ 42 h 61"/>
                <a:gd name="T36" fmla="*/ 6 w 148"/>
                <a:gd name="T37" fmla="*/ 56 h 61"/>
                <a:gd name="T38" fmla="*/ 6 w 148"/>
                <a:gd name="T39" fmla="*/ 56 h 61"/>
                <a:gd name="T40" fmla="*/ 39 w 148"/>
                <a:gd name="T41" fmla="*/ 17 h 61"/>
                <a:gd name="T42" fmla="*/ 39 w 148"/>
                <a:gd name="T43" fmla="*/ 17 h 61"/>
                <a:gd name="T44" fmla="*/ 67 w 148"/>
                <a:gd name="T45" fmla="*/ 25 h 61"/>
                <a:gd name="T46" fmla="*/ 126 w 148"/>
                <a:gd name="T47" fmla="*/ 3 h 61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48"/>
                <a:gd name="T73" fmla="*/ 0 h 61"/>
                <a:gd name="T74" fmla="*/ 148 w 148"/>
                <a:gd name="T75" fmla="*/ 61 h 61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48" h="61">
                  <a:moveTo>
                    <a:pt x="67" y="25"/>
                  </a:moveTo>
                  <a:lnTo>
                    <a:pt x="39" y="14"/>
                  </a:lnTo>
                  <a:lnTo>
                    <a:pt x="0" y="61"/>
                  </a:lnTo>
                  <a:lnTo>
                    <a:pt x="117" y="45"/>
                  </a:lnTo>
                  <a:lnTo>
                    <a:pt x="89" y="33"/>
                  </a:lnTo>
                  <a:lnTo>
                    <a:pt x="148" y="8"/>
                  </a:lnTo>
                  <a:lnTo>
                    <a:pt x="126" y="0"/>
                  </a:lnTo>
                  <a:lnTo>
                    <a:pt x="67" y="25"/>
                  </a:lnTo>
                  <a:close/>
                  <a:moveTo>
                    <a:pt x="126" y="3"/>
                  </a:moveTo>
                  <a:lnTo>
                    <a:pt x="126" y="3"/>
                  </a:lnTo>
                  <a:lnTo>
                    <a:pt x="139" y="8"/>
                  </a:lnTo>
                  <a:lnTo>
                    <a:pt x="81" y="33"/>
                  </a:lnTo>
                  <a:lnTo>
                    <a:pt x="106" y="42"/>
                  </a:lnTo>
                  <a:lnTo>
                    <a:pt x="6" y="56"/>
                  </a:lnTo>
                  <a:lnTo>
                    <a:pt x="39" y="17"/>
                  </a:lnTo>
                  <a:lnTo>
                    <a:pt x="67" y="25"/>
                  </a:lnTo>
                  <a:lnTo>
                    <a:pt x="126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7" name="Freeform 58"/>
            <p:cNvSpPr>
              <a:spLocks/>
            </p:cNvSpPr>
            <p:nvPr/>
          </p:nvSpPr>
          <p:spPr bwMode="auto">
            <a:xfrm>
              <a:off x="2625" y="1357"/>
              <a:ext cx="142" cy="59"/>
            </a:xfrm>
            <a:custGeom>
              <a:avLst/>
              <a:gdLst>
                <a:gd name="T0" fmla="*/ 142 w 142"/>
                <a:gd name="T1" fmla="*/ 0 h 59"/>
                <a:gd name="T2" fmla="*/ 34 w 142"/>
                <a:gd name="T3" fmla="*/ 17 h 59"/>
                <a:gd name="T4" fmla="*/ 62 w 142"/>
                <a:gd name="T5" fmla="*/ 28 h 59"/>
                <a:gd name="T6" fmla="*/ 0 w 142"/>
                <a:gd name="T7" fmla="*/ 53 h 59"/>
                <a:gd name="T8" fmla="*/ 17 w 142"/>
                <a:gd name="T9" fmla="*/ 59 h 59"/>
                <a:gd name="T10" fmla="*/ 78 w 142"/>
                <a:gd name="T11" fmla="*/ 33 h 59"/>
                <a:gd name="T12" fmla="*/ 106 w 142"/>
                <a:gd name="T13" fmla="*/ 45 h 59"/>
                <a:gd name="T14" fmla="*/ 142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0"/>
                  </a:moveTo>
                  <a:lnTo>
                    <a:pt x="34" y="17"/>
                  </a:lnTo>
                  <a:lnTo>
                    <a:pt x="62" y="28"/>
                  </a:lnTo>
                  <a:lnTo>
                    <a:pt x="0" y="53"/>
                  </a:lnTo>
                  <a:lnTo>
                    <a:pt x="17" y="59"/>
                  </a:lnTo>
                  <a:lnTo>
                    <a:pt x="78" y="33"/>
                  </a:lnTo>
                  <a:lnTo>
                    <a:pt x="106" y="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8" name="Freeform 59"/>
            <p:cNvSpPr>
              <a:spLocks noEditPoints="1"/>
            </p:cNvSpPr>
            <p:nvPr/>
          </p:nvSpPr>
          <p:spPr bwMode="auto">
            <a:xfrm>
              <a:off x="2620" y="1357"/>
              <a:ext cx="150" cy="61"/>
            </a:xfrm>
            <a:custGeom>
              <a:avLst/>
              <a:gdLst>
                <a:gd name="T0" fmla="*/ 147 w 150"/>
                <a:gd name="T1" fmla="*/ 0 h 61"/>
                <a:gd name="T2" fmla="*/ 33 w 150"/>
                <a:gd name="T3" fmla="*/ 14 h 61"/>
                <a:gd name="T4" fmla="*/ 33 w 150"/>
                <a:gd name="T5" fmla="*/ 14 h 61"/>
                <a:gd name="T6" fmla="*/ 61 w 150"/>
                <a:gd name="T7" fmla="*/ 28 h 61"/>
                <a:gd name="T8" fmla="*/ 61 w 150"/>
                <a:gd name="T9" fmla="*/ 28 h 61"/>
                <a:gd name="T10" fmla="*/ 0 w 150"/>
                <a:gd name="T11" fmla="*/ 53 h 61"/>
                <a:gd name="T12" fmla="*/ 22 w 150"/>
                <a:gd name="T13" fmla="*/ 61 h 61"/>
                <a:gd name="T14" fmla="*/ 83 w 150"/>
                <a:gd name="T15" fmla="*/ 36 h 61"/>
                <a:gd name="T16" fmla="*/ 111 w 150"/>
                <a:gd name="T17" fmla="*/ 47 h 61"/>
                <a:gd name="T18" fmla="*/ 150 w 150"/>
                <a:gd name="T19" fmla="*/ 0 h 61"/>
                <a:gd name="T20" fmla="*/ 147 w 150"/>
                <a:gd name="T21" fmla="*/ 0 h 61"/>
                <a:gd name="T22" fmla="*/ 145 w 150"/>
                <a:gd name="T23" fmla="*/ 3 h 61"/>
                <a:gd name="T24" fmla="*/ 145 w 150"/>
                <a:gd name="T25" fmla="*/ 3 h 61"/>
                <a:gd name="T26" fmla="*/ 111 w 150"/>
                <a:gd name="T27" fmla="*/ 45 h 61"/>
                <a:gd name="T28" fmla="*/ 111 w 150"/>
                <a:gd name="T29" fmla="*/ 45 h 61"/>
                <a:gd name="T30" fmla="*/ 83 w 150"/>
                <a:gd name="T31" fmla="*/ 33 h 61"/>
                <a:gd name="T32" fmla="*/ 22 w 150"/>
                <a:gd name="T33" fmla="*/ 59 h 61"/>
                <a:gd name="T34" fmla="*/ 22 w 150"/>
                <a:gd name="T35" fmla="*/ 59 h 61"/>
                <a:gd name="T36" fmla="*/ 8 w 150"/>
                <a:gd name="T37" fmla="*/ 53 h 61"/>
                <a:gd name="T38" fmla="*/ 8 w 150"/>
                <a:gd name="T39" fmla="*/ 53 h 61"/>
                <a:gd name="T40" fmla="*/ 69 w 150"/>
                <a:gd name="T41" fmla="*/ 28 h 61"/>
                <a:gd name="T42" fmla="*/ 69 w 150"/>
                <a:gd name="T43" fmla="*/ 28 h 61"/>
                <a:gd name="T44" fmla="*/ 44 w 150"/>
                <a:gd name="T45" fmla="*/ 17 h 61"/>
                <a:gd name="T46" fmla="*/ 44 w 150"/>
                <a:gd name="T47" fmla="*/ 17 h 61"/>
                <a:gd name="T48" fmla="*/ 145 w 150"/>
                <a:gd name="T49" fmla="*/ 3 h 61"/>
                <a:gd name="T50" fmla="*/ 145 w 150"/>
                <a:gd name="T51" fmla="*/ 3 h 61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50"/>
                <a:gd name="T79" fmla="*/ 0 h 61"/>
                <a:gd name="T80" fmla="*/ 150 w 150"/>
                <a:gd name="T81" fmla="*/ 61 h 61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50" h="61">
                  <a:moveTo>
                    <a:pt x="147" y="0"/>
                  </a:moveTo>
                  <a:lnTo>
                    <a:pt x="33" y="14"/>
                  </a:lnTo>
                  <a:lnTo>
                    <a:pt x="61" y="28"/>
                  </a:lnTo>
                  <a:lnTo>
                    <a:pt x="0" y="53"/>
                  </a:lnTo>
                  <a:lnTo>
                    <a:pt x="22" y="61"/>
                  </a:lnTo>
                  <a:lnTo>
                    <a:pt x="83" y="36"/>
                  </a:lnTo>
                  <a:lnTo>
                    <a:pt x="111" y="47"/>
                  </a:lnTo>
                  <a:lnTo>
                    <a:pt x="150" y="0"/>
                  </a:lnTo>
                  <a:lnTo>
                    <a:pt x="147" y="0"/>
                  </a:lnTo>
                  <a:close/>
                  <a:moveTo>
                    <a:pt x="145" y="3"/>
                  </a:moveTo>
                  <a:lnTo>
                    <a:pt x="145" y="3"/>
                  </a:lnTo>
                  <a:lnTo>
                    <a:pt x="111" y="45"/>
                  </a:lnTo>
                  <a:lnTo>
                    <a:pt x="83" y="33"/>
                  </a:lnTo>
                  <a:lnTo>
                    <a:pt x="22" y="59"/>
                  </a:lnTo>
                  <a:lnTo>
                    <a:pt x="8" y="53"/>
                  </a:lnTo>
                  <a:lnTo>
                    <a:pt x="69" y="28"/>
                  </a:lnTo>
                  <a:lnTo>
                    <a:pt x="44" y="17"/>
                  </a:lnTo>
                  <a:lnTo>
                    <a:pt x="14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211432" name="Cloud"/>
          <p:cNvSpPr>
            <a:spLocks noChangeAspect="1" noEditPoints="1" noChangeArrowheads="1"/>
          </p:cNvSpPr>
          <p:nvPr/>
        </p:nvSpPr>
        <p:spPr bwMode="auto">
          <a:xfrm>
            <a:off x="10884694" y="2205038"/>
            <a:ext cx="4852988" cy="2031207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101" name="Text Box 41"/>
          <p:cNvSpPr txBox="1">
            <a:spLocks noChangeArrowheads="1"/>
          </p:cNvSpPr>
          <p:nvPr/>
        </p:nvSpPr>
        <p:spPr bwMode="auto">
          <a:xfrm>
            <a:off x="11849466" y="2300288"/>
            <a:ext cx="2921061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Carrier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Voice Services</a:t>
            </a:r>
          </a:p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IP 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pic>
        <p:nvPicPr>
          <p:cNvPr id="57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77273" y="6709932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16355" y="8594029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2115801" y="5372101"/>
            <a:ext cx="15198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/>
              <a:t>SIP Trunk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68129347"/>
      </p:ext>
    </p:extLst>
  </p:cSld>
  <p:clrMapOvr>
    <a:masterClrMapping/>
  </p:clrMapOvr>
  <p:transition/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Hosted VoIP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 to the old model of the intelligence (switch) being in a provider’s network</a:t>
            </a:r>
          </a:p>
          <a:p>
            <a:r>
              <a:rPr lang="en-US" dirty="0"/>
              <a:t>Looks and acts like a land line.</a:t>
            </a:r>
          </a:p>
          <a:p>
            <a:r>
              <a:rPr lang="en-US" dirty="0"/>
              <a:t>Offers many business continuity capabilities</a:t>
            </a:r>
          </a:p>
          <a:p>
            <a:r>
              <a:rPr lang="en-US" dirty="0"/>
              <a:t>Generally lower cost than premises solution for small and medium sized businesses</a:t>
            </a:r>
          </a:p>
          <a:p>
            <a:r>
              <a:rPr lang="en-US" dirty="0"/>
              <a:t>Like old systems most features are lightly used</a:t>
            </a:r>
          </a:p>
          <a:p>
            <a:r>
              <a:rPr lang="en-US" dirty="0"/>
              <a:t>Solutions may use the internet for access or private (trunk) connection</a:t>
            </a:r>
          </a:p>
          <a:p>
            <a:endParaRPr lang="en-US" dirty="0"/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3709160"/>
      </p:ext>
    </p:extLst>
  </p:cSld>
  <p:clrMapOvr>
    <a:masterClrMapping/>
  </p:clrMapOvr>
  <p:transition/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Contact Centers Move to the Cloud</a:t>
            </a:r>
          </a:p>
        </p:txBody>
      </p:sp>
      <p:pic>
        <p:nvPicPr>
          <p:cNvPr id="3" name="CC custome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CC customer text"/>
          <p:cNvSpPr txBox="1"/>
          <p:nvPr/>
        </p:nvSpPr>
        <p:spPr>
          <a:xfrm>
            <a:off x="1257300" y="457200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CC a1"/>
          <p:cNvCxnSpPr/>
          <p:nvPr/>
        </p:nvCxnSpPr>
        <p:spPr>
          <a:xfrm>
            <a:off x="2651760" y="4023360"/>
            <a:ext cx="20574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C platform"/>
          <p:cNvSpPr/>
          <p:nvPr/>
        </p:nvSpPr>
        <p:spPr>
          <a:xfrm>
            <a:off x="4754880" y="2697480"/>
            <a:ext cx="5852160" cy="3063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CC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97780" y="2903220"/>
            <a:ext cx="685800" cy="685800"/>
          </a:xfrm>
          <a:prstGeom prst="rect">
            <a:avLst/>
          </a:prstGeom>
        </p:spPr>
      </p:pic>
      <p:sp>
        <p:nvSpPr>
          <p:cNvPr id="8" name="CC platform head"/>
          <p:cNvSpPr txBox="1"/>
          <p:nvPr/>
        </p:nvSpPr>
        <p:spPr>
          <a:xfrm>
            <a:off x="5943600" y="2880360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Cloud contact center</a:t>
            </a:r>
          </a:p>
        </p:txBody>
      </p:sp>
      <p:sp>
        <p:nvSpPr>
          <p:cNvPr id="9" name="CC feat 1"/>
          <p:cNvSpPr/>
          <p:nvPr/>
        </p:nvSpPr>
        <p:spPr>
          <a:xfrm>
            <a:off x="5029200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menu (IVR)</a:t>
            </a:r>
          </a:p>
        </p:txBody>
      </p:sp>
      <p:sp>
        <p:nvSpPr>
          <p:cNvPr id="10" name="CC feat 2"/>
          <p:cNvSpPr/>
          <p:nvPr/>
        </p:nvSpPr>
        <p:spPr>
          <a:xfrm>
            <a:off x="7726679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Queues and routing</a:t>
            </a:r>
          </a:p>
        </p:txBody>
      </p:sp>
      <p:sp>
        <p:nvSpPr>
          <p:cNvPr id="11" name="CC feat 3"/>
          <p:cNvSpPr/>
          <p:nvPr/>
        </p:nvSpPr>
        <p:spPr>
          <a:xfrm>
            <a:off x="5029200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 recording</a:t>
            </a:r>
          </a:p>
        </p:txBody>
      </p:sp>
      <p:sp>
        <p:nvSpPr>
          <p:cNvPr id="12" name="CC feat 4"/>
          <p:cNvSpPr/>
          <p:nvPr/>
        </p:nvSpPr>
        <p:spPr>
          <a:xfrm>
            <a:off x="7726679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</a:t>
            </a:r>
          </a:p>
        </p:txBody>
      </p:sp>
      <p:cxnSp>
        <p:nvCxnSpPr>
          <p:cNvPr id="13" name="CC agent arrow 1"/>
          <p:cNvCxnSpPr/>
          <p:nvPr/>
        </p:nvCxnSpPr>
        <p:spPr>
          <a:xfrm flipV="1">
            <a:off x="10652760" y="315468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CC agent 1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360" y="2834640"/>
            <a:ext cx="640080" cy="640080"/>
          </a:xfrm>
          <a:prstGeom prst="rect">
            <a:avLst/>
          </a:prstGeom>
        </p:spPr>
      </p:pic>
      <p:sp>
        <p:nvSpPr>
          <p:cNvPr id="15" name="CC agent 1 text"/>
          <p:cNvSpPr txBox="1"/>
          <p:nvPr/>
        </p:nvSpPr>
        <p:spPr>
          <a:xfrm>
            <a:off x="12801600" y="288036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6" name="CC agent arrow 2"/>
          <p:cNvCxnSpPr/>
          <p:nvPr/>
        </p:nvCxnSpPr>
        <p:spPr>
          <a:xfrm>
            <a:off x="10652760" y="4206240"/>
            <a:ext cx="123444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CC agent 2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24360" y="3886200"/>
            <a:ext cx="640080" cy="640080"/>
          </a:xfrm>
          <a:prstGeom prst="rect">
            <a:avLst/>
          </a:prstGeom>
        </p:spPr>
      </p:pic>
      <p:sp>
        <p:nvSpPr>
          <p:cNvPr id="18" name="CC agent 2 text"/>
          <p:cNvSpPr txBox="1"/>
          <p:nvPr/>
        </p:nvSpPr>
        <p:spPr>
          <a:xfrm>
            <a:off x="12801600" y="39319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Ops center</a:t>
            </a:r>
          </a:p>
        </p:txBody>
      </p:sp>
      <p:cxnSp>
        <p:nvCxnSpPr>
          <p:cNvPr id="19" name="CC agent arrow 3"/>
          <p:cNvCxnSpPr/>
          <p:nvPr/>
        </p:nvCxnSpPr>
        <p:spPr>
          <a:xfrm>
            <a:off x="10652760" y="420624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CC agent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024360" y="4937760"/>
            <a:ext cx="640080" cy="640080"/>
          </a:xfrm>
          <a:prstGeom prst="rect">
            <a:avLst/>
          </a:prstGeom>
        </p:spPr>
      </p:pic>
      <p:sp>
        <p:nvSpPr>
          <p:cNvPr id="21" name="CC agent 3 text"/>
          <p:cNvSpPr txBox="1"/>
          <p:nvPr/>
        </p:nvSpPr>
        <p:spPr>
          <a:xfrm>
            <a:off x="12801600" y="49834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</a:t>
            </a:r>
          </a:p>
        </p:txBody>
      </p:sp>
      <p:sp>
        <p:nvSpPr>
          <p:cNvPr id="22" name="CC agents label"/>
          <p:cNvSpPr txBox="1"/>
          <p:nvPr/>
        </p:nvSpPr>
        <p:spPr>
          <a:xfrm>
            <a:off x="11887200" y="58521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Agents, over the internet</a:t>
            </a:r>
          </a:p>
        </p:txBody>
      </p:sp>
      <p:sp>
        <p:nvSpPr>
          <p:cNvPr id="23" name="CC crm"/>
          <p:cNvSpPr/>
          <p:nvPr/>
        </p:nvSpPr>
        <p:spPr>
          <a:xfrm>
            <a:off x="14996159" y="3108960"/>
            <a:ext cx="20345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C crm text"/>
          <p:cNvSpPr txBox="1"/>
          <p:nvPr/>
        </p:nvSpPr>
        <p:spPr>
          <a:xfrm>
            <a:off x="15087600" y="3154680"/>
            <a:ext cx="18288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customer record pops up for the agent</a:t>
            </a:r>
          </a:p>
        </p:txBody>
      </p:sp>
      <p:sp>
        <p:nvSpPr>
          <p:cNvPr id="25" name="CC row 1"/>
          <p:cNvSpPr/>
          <p:nvPr/>
        </p:nvSpPr>
        <p:spPr>
          <a:xfrm>
            <a:off x="125730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C row 1 text"/>
          <p:cNvSpPr txBox="1"/>
          <p:nvPr/>
        </p:nvSpPr>
        <p:spPr>
          <a:xfrm>
            <a:off x="151333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 quality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Depends on the internet path to every agent</a:t>
            </a:r>
          </a:p>
        </p:txBody>
      </p:sp>
      <p:sp>
        <p:nvSpPr>
          <p:cNvPr id="27" name="CC row 2"/>
          <p:cNvSpPr/>
          <p:nvPr/>
        </p:nvSpPr>
        <p:spPr>
          <a:xfrm>
            <a:off x="528065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C row 2 text"/>
          <p:cNvSpPr txBox="1"/>
          <p:nvPr/>
        </p:nvSpPr>
        <p:spPr>
          <a:xfrm>
            <a:off x="553669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Recordings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information, stored in the vendor's cloud</a:t>
            </a:r>
          </a:p>
        </p:txBody>
      </p:sp>
      <p:sp>
        <p:nvSpPr>
          <p:cNvPr id="29" name="CC row 3"/>
          <p:cNvSpPr/>
          <p:nvPr/>
        </p:nvSpPr>
        <p:spPr>
          <a:xfrm>
            <a:off x="930401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C row 3 text"/>
          <p:cNvSpPr txBox="1"/>
          <p:nvPr/>
        </p:nvSpPr>
        <p:spPr>
          <a:xfrm>
            <a:off x="956005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Caller authentication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phone menu can move money: a fraud target</a:t>
            </a:r>
          </a:p>
        </p:txBody>
      </p:sp>
      <p:sp>
        <p:nvSpPr>
          <p:cNvPr id="31" name="CC row 4"/>
          <p:cNvSpPr/>
          <p:nvPr/>
        </p:nvSpPr>
        <p:spPr>
          <a:xfrm>
            <a:off x="1332738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C row 4 text"/>
          <p:cNvSpPr txBox="1"/>
          <p:nvPr/>
        </p:nvSpPr>
        <p:spPr>
          <a:xfrm>
            <a:off x="1358341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on both sides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 answering; cloned voices calling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2FDD-4A60-EC6D-F64B-B96873E8A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Network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E560B-B4D0-13DC-DE4D-B7792A59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Does the VoIP traffic share a LAN with data?</a:t>
            </a:r>
          </a:p>
          <a:p>
            <a:r>
              <a:rPr lang="en-US"/>
              <a:t>How is voice quality ensured?</a:t>
            </a:r>
          </a:p>
          <a:p>
            <a:r>
              <a:rPr lang="en-US"/>
              <a:t>What type of connection is used to connect to the PSTN?</a:t>
            </a:r>
          </a:p>
          <a:p>
            <a:r>
              <a:rPr lang="en-US"/>
              <a:t>If this connection goes down, what happens to the ability to make and receive calls?</a:t>
            </a:r>
          </a:p>
          <a:p>
            <a:r>
              <a:rPr lang="en-US"/>
              <a:t>Do employees have portal access to manage their phone service? If so, what access controls are in place for them?</a:t>
            </a:r>
          </a:p>
          <a:p>
            <a:r>
              <a:rPr lang="en-US"/>
              <a:t>What bank functions may be impaired by the loss of telephone services?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305314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Security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Management access and controls</a:t>
            </a:r>
          </a:p>
          <a:p>
            <a:r>
              <a:rPr lang="en-US"/>
              <a:t>Patching</a:t>
            </a:r>
          </a:p>
          <a:p>
            <a:r>
              <a:rPr lang="en-US"/>
              <a:t>Separate LAN zone</a:t>
            </a:r>
          </a:p>
          <a:p>
            <a:r>
              <a:rPr lang="en-US"/>
              <a:t>Encryption</a:t>
            </a:r>
          </a:p>
          <a:p>
            <a:r>
              <a:rPr lang="en-US"/>
              <a:t>On premises or hosted</a:t>
            </a:r>
          </a:p>
          <a:p>
            <a:r>
              <a:rPr lang="en-US"/>
              <a:t>Connection to provider</a:t>
            </a:r>
          </a:p>
          <a:p>
            <a:pPr lvl="1"/>
            <a:r>
              <a:rPr lang="en-US"/>
              <a:t>Private</a:t>
            </a:r>
          </a:p>
          <a:p>
            <a:pPr lvl="1"/>
            <a:r>
              <a:rPr lang="en-US"/>
              <a:t>Internet</a:t>
            </a:r>
          </a:p>
          <a:p>
            <a:r>
              <a:rPr lang="en-US"/>
              <a:t>Business continuity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6C5D0D5E-4991-E61B-E6AD-1FD2511C45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51" t="46653" r="68756" b="10564"/>
          <a:stretch/>
        </p:blipFill>
        <p:spPr>
          <a:xfrm>
            <a:off x="13436600" y="3225800"/>
            <a:ext cx="4724401" cy="42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8701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23: Internet of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Internet of Things: Some Sample Things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6172529" y="2841172"/>
            <a:ext cx="4800600" cy="6967198"/>
          </a:xfrm>
        </p:spPr>
        <p:txBody>
          <a:bodyPr/>
          <a:lstStyle/>
          <a:p>
            <a:r>
              <a:rPr lang="en-US"/>
              <a:t>Automation</a:t>
            </a:r>
          </a:p>
          <a:p>
            <a:r>
              <a:rPr lang="en-US"/>
              <a:t>Communication</a:t>
            </a:r>
          </a:p>
          <a:p>
            <a:r>
              <a:rPr lang="en-US"/>
              <a:t>Monitoring</a:t>
            </a:r>
          </a:p>
          <a:p>
            <a:r>
              <a:rPr lang="en-US"/>
              <a:t>Transportation</a:t>
            </a:r>
          </a:p>
          <a:p>
            <a:r>
              <a:rPr lang="en-US"/>
              <a:t>Management</a:t>
            </a:r>
          </a:p>
          <a:p>
            <a:r>
              <a:rPr lang="en-US"/>
              <a:t>Intelligence?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221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6057348"/>
            <a:ext cx="3200400" cy="37724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954204" y="6057901"/>
            <a:ext cx="3429000" cy="34289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15AD0F-71A8-8340-8358-AFF3FB27F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4950" y="2592451"/>
            <a:ext cx="4477425" cy="17509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743426-1E8D-D941-934B-50D59F24EB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7025" y="2315399"/>
            <a:ext cx="1981200" cy="23050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118426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IoT in the Bank: Cameras, HVAC, Door Controls, ATMs</a:t>
            </a:r>
          </a:p>
        </p:txBody>
      </p:sp>
      <p:sp>
        <p:nvSpPr>
          <p:cNvPr id="3" name="Dev 1"/>
          <p:cNvSpPr/>
          <p:nvPr/>
        </p:nvSpPr>
        <p:spPr>
          <a:xfrm>
            <a:off x="125730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ev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20" y="3154680"/>
            <a:ext cx="822960" cy="822960"/>
          </a:xfrm>
          <a:prstGeom prst="rect">
            <a:avLst/>
          </a:prstGeom>
        </p:spPr>
      </p:pic>
      <p:sp>
        <p:nvSpPr>
          <p:cNvPr id="5" name="Dev 1 text"/>
          <p:cNvSpPr txBox="1"/>
          <p:nvPr/>
        </p:nvSpPr>
        <p:spPr>
          <a:xfrm>
            <a:off x="253746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6" name="Dev 2"/>
          <p:cNvSpPr/>
          <p:nvPr/>
        </p:nvSpPr>
        <p:spPr>
          <a:xfrm>
            <a:off x="528065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ev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79" y="3154680"/>
            <a:ext cx="822960" cy="822960"/>
          </a:xfrm>
          <a:prstGeom prst="rect">
            <a:avLst/>
          </a:prstGeom>
        </p:spPr>
      </p:pic>
      <p:sp>
        <p:nvSpPr>
          <p:cNvPr id="8" name="Dev 2 text"/>
          <p:cNvSpPr txBox="1"/>
          <p:nvPr/>
        </p:nvSpPr>
        <p:spPr>
          <a:xfrm>
            <a:off x="6560819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panel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Alarm company</a:t>
            </a:r>
          </a:p>
        </p:txBody>
      </p:sp>
      <p:sp>
        <p:nvSpPr>
          <p:cNvPr id="9" name="Dev 3"/>
          <p:cNvSpPr/>
          <p:nvPr/>
        </p:nvSpPr>
        <p:spPr>
          <a:xfrm>
            <a:off x="930401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ev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3154680"/>
            <a:ext cx="822960" cy="822960"/>
          </a:xfrm>
          <a:prstGeom prst="rect">
            <a:avLst/>
          </a:prstGeom>
        </p:spPr>
      </p:pic>
      <p:sp>
        <p:nvSpPr>
          <p:cNvPr id="11" name="Dev 3 text"/>
          <p:cNvSpPr txBox="1"/>
          <p:nvPr/>
        </p:nvSpPr>
        <p:spPr>
          <a:xfrm>
            <a:off x="1058418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Door and vault access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12" name="Dev 4"/>
          <p:cNvSpPr/>
          <p:nvPr/>
        </p:nvSpPr>
        <p:spPr>
          <a:xfrm>
            <a:off x="1332738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ev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3154680"/>
            <a:ext cx="822960" cy="822960"/>
          </a:xfrm>
          <a:prstGeom prst="rect">
            <a:avLst/>
          </a:prstGeom>
        </p:spPr>
      </p:pic>
      <p:sp>
        <p:nvSpPr>
          <p:cNvPr id="14" name="Dev 4 text"/>
          <p:cNvSpPr txBox="1"/>
          <p:nvPr/>
        </p:nvSpPr>
        <p:spPr>
          <a:xfrm>
            <a:off x="1460754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HVAC and building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HVAC contractor</a:t>
            </a:r>
          </a:p>
        </p:txBody>
      </p:sp>
      <p:sp>
        <p:nvSpPr>
          <p:cNvPr id="15" name="Dev 5"/>
          <p:cNvSpPr/>
          <p:nvPr/>
        </p:nvSpPr>
        <p:spPr>
          <a:xfrm>
            <a:off x="125730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Dev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20" y="5120640"/>
            <a:ext cx="822960" cy="822960"/>
          </a:xfrm>
          <a:prstGeom prst="rect">
            <a:avLst/>
          </a:prstGeom>
        </p:spPr>
      </p:pic>
      <p:sp>
        <p:nvSpPr>
          <p:cNvPr id="17" name="Dev 5 text"/>
          <p:cNvSpPr txBox="1"/>
          <p:nvPr/>
        </p:nvSpPr>
        <p:spPr>
          <a:xfrm>
            <a:off x="253746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ATM vendor</a:t>
            </a:r>
          </a:p>
        </p:txBody>
      </p:sp>
      <p:sp>
        <p:nvSpPr>
          <p:cNvPr id="18" name="Dev 6"/>
          <p:cNvSpPr/>
          <p:nvPr/>
        </p:nvSpPr>
        <p:spPr>
          <a:xfrm>
            <a:off x="528065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Dev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79" y="5120640"/>
            <a:ext cx="822960" cy="822960"/>
          </a:xfrm>
          <a:prstGeom prst="rect">
            <a:avLst/>
          </a:prstGeom>
        </p:spPr>
      </p:pic>
      <p:sp>
        <p:nvSpPr>
          <p:cNvPr id="20" name="Dev 6 text"/>
          <p:cNvSpPr txBox="1"/>
          <p:nvPr/>
        </p:nvSpPr>
        <p:spPr>
          <a:xfrm>
            <a:off x="6560819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Vendor</a:t>
            </a:r>
          </a:p>
        </p:txBody>
      </p:sp>
      <p:sp>
        <p:nvSpPr>
          <p:cNvPr id="21" name="Dev 7"/>
          <p:cNvSpPr/>
          <p:nvPr/>
        </p:nvSpPr>
        <p:spPr>
          <a:xfrm>
            <a:off x="930401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Dev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120640"/>
            <a:ext cx="822960" cy="822960"/>
          </a:xfrm>
          <a:prstGeom prst="rect">
            <a:avLst/>
          </a:prstGeom>
        </p:spPr>
      </p:pic>
      <p:sp>
        <p:nvSpPr>
          <p:cNvPr id="23" name="Dev 7 text"/>
          <p:cNvSpPr txBox="1"/>
          <p:nvPr/>
        </p:nvSpPr>
        <p:spPr>
          <a:xfrm>
            <a:off x="1058418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signage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Marketing vendor</a:t>
            </a:r>
          </a:p>
        </p:txBody>
      </p:sp>
      <p:sp>
        <p:nvSpPr>
          <p:cNvPr id="24" name="Dev 8"/>
          <p:cNvSpPr/>
          <p:nvPr/>
        </p:nvSpPr>
        <p:spPr>
          <a:xfrm>
            <a:off x="1332738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Dev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120640"/>
            <a:ext cx="822960" cy="822960"/>
          </a:xfrm>
          <a:prstGeom prst="rect">
            <a:avLst/>
          </a:prstGeom>
        </p:spPr>
      </p:pic>
      <p:sp>
        <p:nvSpPr>
          <p:cNvPr id="26" name="Dev 8 text"/>
          <p:cNvSpPr txBox="1"/>
          <p:nvPr/>
        </p:nvSpPr>
        <p:spPr>
          <a:xfrm>
            <a:off x="1460754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Printers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Copier vendor</a:t>
            </a:r>
          </a:p>
        </p:txBody>
      </p:sp>
      <p:sp>
        <p:nvSpPr>
          <p:cNvPr id="27" name="IoT banner"/>
          <p:cNvSpPr/>
          <p:nvPr/>
        </p:nvSpPr>
        <p:spPr>
          <a:xfrm>
            <a:off x="1257300" y="676656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IoT banner text"/>
          <p:cNvSpPr txBox="1"/>
          <p:nvPr/>
        </p:nvSpPr>
        <p:spPr>
          <a:xfrm>
            <a:off x="1554480" y="681228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Often managed by someone other than IT, with remote access, on the bank's network.</a:t>
            </a:r>
          </a:p>
        </p:txBody>
      </p:sp>
      <p:sp>
        <p:nvSpPr>
          <p:cNvPr id="29" name="IoT ctl 1"/>
          <p:cNvSpPr/>
          <p:nvPr/>
        </p:nvSpPr>
        <p:spPr>
          <a:xfrm>
            <a:off x="125730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IoT ctl 1 text"/>
          <p:cNvSpPr txBox="1"/>
          <p:nvPr/>
        </p:nvSpPr>
        <p:spPr>
          <a:xfrm>
            <a:off x="151333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every device</a:t>
            </a:r>
          </a:p>
        </p:txBody>
      </p:sp>
      <p:sp>
        <p:nvSpPr>
          <p:cNvPr id="31" name="IoT ctl 2"/>
          <p:cNvSpPr/>
          <p:nvPr/>
        </p:nvSpPr>
        <p:spPr>
          <a:xfrm>
            <a:off x="528065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IoT ctl 2 text"/>
          <p:cNvSpPr txBox="1"/>
          <p:nvPr/>
        </p:nvSpPr>
        <p:spPr>
          <a:xfrm>
            <a:off x="553669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on the teller network</a:t>
            </a:r>
          </a:p>
        </p:txBody>
      </p:sp>
      <p:sp>
        <p:nvSpPr>
          <p:cNvPr id="33" name="IoT ctl 3"/>
          <p:cNvSpPr/>
          <p:nvPr/>
        </p:nvSpPr>
        <p:spPr>
          <a:xfrm>
            <a:off x="930401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IoT ctl 3 text"/>
          <p:cNvSpPr txBox="1"/>
          <p:nvPr/>
        </p:nvSpPr>
        <p:spPr>
          <a:xfrm>
            <a:off x="956005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Controlled and logged</a:t>
            </a:r>
          </a:p>
        </p:txBody>
      </p:sp>
      <p:sp>
        <p:nvSpPr>
          <p:cNvPr id="35" name="IoT ctl 4"/>
          <p:cNvSpPr/>
          <p:nvPr/>
        </p:nvSpPr>
        <p:spPr>
          <a:xfrm>
            <a:off x="1332738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IoT ctl 4 text"/>
          <p:cNvSpPr txBox="1"/>
          <p:nvPr/>
        </p:nvSpPr>
        <p:spPr>
          <a:xfrm>
            <a:off x="1358341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Defaults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Passwords changed, firmware updated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IoT</a:t>
            </a:r>
            <a:r>
              <a:rPr lang="en-US"/>
              <a:t> Security Concerns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There are already about 20 billion IoT devices connected worldwide, and the count keeps climbing</a:t>
            </a:r>
          </a:p>
          <a:p>
            <a:r>
              <a:rPr lang="en-US"/>
              <a:t>What emphasis will be placed by developers on security?</a:t>
            </a:r>
          </a:p>
          <a:p>
            <a:r>
              <a:rPr lang="en-US"/>
              <a:t>Will consumers and businesses implement controls?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00600" y="5372100"/>
            <a:ext cx="8001000" cy="4000500"/>
          </a:xfrm>
          <a:prstGeom prst="roundRect">
            <a:avLst>
              <a:gd name="adj" fmla="val 462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709537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94E8D-B46D-4848-A97D-AEAAE076F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IoT Things to Consider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2C8A5-19C6-AA99-3C80-72ABB5A26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604012"/>
          </a:xfrm>
        </p:spPr>
        <p:txBody>
          <a:bodyPr>
            <a:normAutofit/>
          </a:bodyPr>
          <a:lstStyle/>
          <a:p>
            <a:r>
              <a:rPr lang="en-US"/>
              <a:t>What mechanism is used to track the devices?</a:t>
            </a:r>
          </a:p>
          <a:p>
            <a:r>
              <a:rPr lang="en-US"/>
              <a:t>How are updates made to the device? </a:t>
            </a:r>
          </a:p>
          <a:p>
            <a:r>
              <a:rPr lang="en-US"/>
              <a:t>Can the device be checked by the vulnerability scanner?</a:t>
            </a:r>
          </a:p>
          <a:p>
            <a:r>
              <a:rPr lang="en-US"/>
              <a:t>What data is collected by the device and where is it stored?</a:t>
            </a:r>
          </a:p>
          <a:p>
            <a:r>
              <a:rPr lang="en-US"/>
              <a:t>What software is on the device? Can it be hardened?</a:t>
            </a:r>
          </a:p>
          <a:p>
            <a:r>
              <a:rPr lang="en-US"/>
              <a:t>How are the devices configured and managed? Can access be recorded in the log system?</a:t>
            </a:r>
          </a:p>
          <a:p>
            <a:r>
              <a:rPr lang="en-US"/>
              <a:t>What connectivity options are there for the device? How are they managed?</a:t>
            </a:r>
          </a:p>
        </p:txBody>
      </p:sp>
    </p:spTree>
    <p:extLst>
      <p:ext uri="{BB962C8B-B14F-4D97-AF65-F5344CB8AC3E}">
        <p14:creationId xmlns:p14="http://schemas.microsoft.com/office/powerpoint/2010/main" val="73826852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24: The Risk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54FB-613F-F9B1-8255-734443ABB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3CC20620-D549-6CFD-0858-9B644E656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99585" y="1677031"/>
            <a:ext cx="3872594" cy="4457702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FECC7E92-8D79-4C2D-F297-49EED8FD1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6126" y="4306174"/>
            <a:ext cx="3872594" cy="4457702"/>
          </a:xfrm>
          <a:prstGeom prst="rect">
            <a:avLst/>
          </a:prstGeom>
        </p:spPr>
      </p:pic>
      <p:pic>
        <p:nvPicPr>
          <p:cNvPr id="8" name="Graphic 7" descr="House outline">
            <a:extLst>
              <a:ext uri="{FF2B5EF4-FFF2-40B4-BE49-F238E27FC236}">
                <a16:creationId xmlns:a16="http://schemas.microsoft.com/office/drawing/2014/main" id="{448E7E89-0ACD-C0AB-7953-B90D9E3AFF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627511" y="1882998"/>
            <a:ext cx="1333923" cy="1333923"/>
          </a:xfrm>
          <a:prstGeom prst="rect">
            <a:avLst/>
          </a:prstGeom>
        </p:spPr>
      </p:pic>
      <p:pic>
        <p:nvPicPr>
          <p:cNvPr id="10" name="Graphic 9" descr="Bank outline">
            <a:extLst>
              <a:ext uri="{FF2B5EF4-FFF2-40B4-BE49-F238E27FC236}">
                <a16:creationId xmlns:a16="http://schemas.microsoft.com/office/drawing/2014/main" id="{6CFA4841-0D18-F260-3533-FE5B578F7D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82051" y="6133133"/>
            <a:ext cx="1436709" cy="1436709"/>
          </a:xfrm>
          <a:prstGeom prst="rect">
            <a:avLst/>
          </a:prstGeom>
        </p:spPr>
      </p:pic>
      <p:pic>
        <p:nvPicPr>
          <p:cNvPr id="11" name="Graphic 10" descr="Bank outline">
            <a:extLst>
              <a:ext uri="{FF2B5EF4-FFF2-40B4-BE49-F238E27FC236}">
                <a16:creationId xmlns:a16="http://schemas.microsoft.com/office/drawing/2014/main" id="{C3F5F693-6E0B-E87E-DFC6-503E0C5377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1982" y="4696424"/>
            <a:ext cx="1436709" cy="1436709"/>
          </a:xfrm>
          <a:prstGeom prst="rect">
            <a:avLst/>
          </a:prstGeom>
        </p:spPr>
      </p:pic>
      <p:pic>
        <p:nvPicPr>
          <p:cNvPr id="12" name="Graphic 11" descr="Bank outline">
            <a:extLst>
              <a:ext uri="{FF2B5EF4-FFF2-40B4-BE49-F238E27FC236}">
                <a16:creationId xmlns:a16="http://schemas.microsoft.com/office/drawing/2014/main" id="{E0FBDF85-4C4E-2FBC-3247-A07E80BFAA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55158" y="7804495"/>
            <a:ext cx="1436709" cy="1436709"/>
          </a:xfrm>
          <a:prstGeom prst="rect">
            <a:avLst/>
          </a:prstGeom>
        </p:spPr>
      </p:pic>
      <p:pic>
        <p:nvPicPr>
          <p:cNvPr id="13" name="Graphic 12" descr="Bank outline">
            <a:extLst>
              <a:ext uri="{FF2B5EF4-FFF2-40B4-BE49-F238E27FC236}">
                <a16:creationId xmlns:a16="http://schemas.microsoft.com/office/drawing/2014/main" id="{985E2611-A21A-9FB4-57E8-26C7C430BD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4054" y="8510889"/>
            <a:ext cx="1436709" cy="1436709"/>
          </a:xfrm>
          <a:prstGeom prst="rect">
            <a:avLst/>
          </a:prstGeom>
        </p:spPr>
      </p:pic>
      <p:pic>
        <p:nvPicPr>
          <p:cNvPr id="15" name="Graphic 14" descr="Building with solid fill">
            <a:extLst>
              <a:ext uri="{FF2B5EF4-FFF2-40B4-BE49-F238E27FC236}">
                <a16:creationId xmlns:a16="http://schemas.microsoft.com/office/drawing/2014/main" id="{048350A5-878A-9C13-3867-D74B6D71E1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8010" y="5994239"/>
            <a:ext cx="2920678" cy="29206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4690C3-C0C8-DA4B-8334-01678FE4AAB8}"/>
              </a:ext>
            </a:extLst>
          </p:cNvPr>
          <p:cNvSpPr txBox="1"/>
          <p:nvPr/>
        </p:nvSpPr>
        <p:spPr>
          <a:xfrm>
            <a:off x="6171525" y="6254741"/>
            <a:ext cx="16417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Private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Network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DDF840-27F1-BBCB-1993-C86CB38460CF}"/>
              </a:ext>
            </a:extLst>
          </p:cNvPr>
          <p:cNvSpPr txBox="1"/>
          <p:nvPr/>
        </p:nvSpPr>
        <p:spPr>
          <a:xfrm>
            <a:off x="9798010" y="9164557"/>
            <a:ext cx="2722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HQ/datacenter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49BDE7-56E6-94A3-6C4A-A21B779A49B7}"/>
              </a:ext>
            </a:extLst>
          </p:cNvPr>
          <p:cNvSpPr txBox="1"/>
          <p:nvPr/>
        </p:nvSpPr>
        <p:spPr>
          <a:xfrm>
            <a:off x="10785504" y="3918372"/>
            <a:ext cx="1516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internet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4ED23B-E90A-099C-23B4-65626D6AF89B}"/>
              </a:ext>
            </a:extLst>
          </p:cNvPr>
          <p:cNvSpPr txBox="1"/>
          <p:nvPr/>
        </p:nvSpPr>
        <p:spPr>
          <a:xfrm>
            <a:off x="666201" y="5471019"/>
            <a:ext cx="1816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Branches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9B4FB-FEDD-EE29-336F-ABE38F0E9098}"/>
              </a:ext>
            </a:extLst>
          </p:cNvPr>
          <p:cNvSpPr txBox="1"/>
          <p:nvPr/>
        </p:nvSpPr>
        <p:spPr>
          <a:xfrm>
            <a:off x="15099055" y="2218799"/>
            <a:ext cx="1002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WFH</a:t>
            </a:r>
          </a:p>
        </p:txBody>
      </p:sp>
      <p:pic>
        <p:nvPicPr>
          <p:cNvPr id="22" name="Graphic 21" descr="Internet Banking with solid fill">
            <a:extLst>
              <a:ext uri="{FF2B5EF4-FFF2-40B4-BE49-F238E27FC236}">
                <a16:creationId xmlns:a16="http://schemas.microsoft.com/office/drawing/2014/main" id="{2915EF19-BEA4-2902-332F-70DFCD07A9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76829" y="2218799"/>
            <a:ext cx="914400" cy="914400"/>
          </a:xfrm>
          <a:prstGeom prst="rect">
            <a:avLst/>
          </a:prstGeom>
        </p:spPr>
      </p:pic>
      <p:pic>
        <p:nvPicPr>
          <p:cNvPr id="23" name="Graphic 22" descr="Internet Banking with solid fill">
            <a:extLst>
              <a:ext uri="{FF2B5EF4-FFF2-40B4-BE49-F238E27FC236}">
                <a16:creationId xmlns:a16="http://schemas.microsoft.com/office/drawing/2014/main" id="{472CA1B0-A21B-AAF4-BE95-7741CEE21EA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36320" y="1702699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72906E-9075-6E11-C9FD-738DC346BC38}"/>
              </a:ext>
            </a:extLst>
          </p:cNvPr>
          <p:cNvCxnSpPr>
            <a:cxnSpLocks/>
          </p:cNvCxnSpPr>
          <p:nvPr/>
        </p:nvCxnSpPr>
        <p:spPr>
          <a:xfrm>
            <a:off x="4130497" y="5667807"/>
            <a:ext cx="1655595" cy="65379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D98CC0A-833B-F8D2-CEED-BBF1F4BE4363}"/>
              </a:ext>
            </a:extLst>
          </p:cNvPr>
          <p:cNvCxnSpPr>
            <a:cxnSpLocks/>
          </p:cNvCxnSpPr>
          <p:nvPr/>
        </p:nvCxnSpPr>
        <p:spPr>
          <a:xfrm flipV="1">
            <a:off x="2997257" y="7058690"/>
            <a:ext cx="2304253" cy="458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8F42D7-335F-C3D0-6C67-0666EF3CF57C}"/>
              </a:ext>
            </a:extLst>
          </p:cNvPr>
          <p:cNvCxnSpPr>
            <a:cxnSpLocks/>
          </p:cNvCxnSpPr>
          <p:nvPr/>
        </p:nvCxnSpPr>
        <p:spPr>
          <a:xfrm flipV="1">
            <a:off x="3064188" y="7339169"/>
            <a:ext cx="2416575" cy="13887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320CCAC-861B-2160-BD65-1ABA19324137}"/>
              </a:ext>
            </a:extLst>
          </p:cNvPr>
          <p:cNvCxnSpPr>
            <a:cxnSpLocks/>
          </p:cNvCxnSpPr>
          <p:nvPr/>
        </p:nvCxnSpPr>
        <p:spPr>
          <a:xfrm flipV="1">
            <a:off x="4958294" y="7569842"/>
            <a:ext cx="921645" cy="126067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BFC4D2-09B7-A258-36C4-5807B8CA68D5}"/>
              </a:ext>
            </a:extLst>
          </p:cNvPr>
          <p:cNvCxnSpPr>
            <a:cxnSpLocks/>
          </p:cNvCxnSpPr>
          <p:nvPr/>
        </p:nvCxnSpPr>
        <p:spPr>
          <a:xfrm>
            <a:off x="8510163" y="7403727"/>
            <a:ext cx="2054546" cy="844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73824F-D60A-F262-14FD-B437049B705C}"/>
              </a:ext>
            </a:extLst>
          </p:cNvPr>
          <p:cNvCxnSpPr>
            <a:cxnSpLocks/>
          </p:cNvCxnSpPr>
          <p:nvPr/>
        </p:nvCxnSpPr>
        <p:spPr>
          <a:xfrm flipV="1">
            <a:off x="8088818" y="4871498"/>
            <a:ext cx="2153612" cy="13374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D84C70-21FA-F204-D16E-B648BECE899E}"/>
              </a:ext>
            </a:extLst>
          </p:cNvPr>
          <p:cNvCxnSpPr>
            <a:cxnSpLocks/>
          </p:cNvCxnSpPr>
          <p:nvPr/>
        </p:nvCxnSpPr>
        <p:spPr>
          <a:xfrm flipV="1">
            <a:off x="11855302" y="2931304"/>
            <a:ext cx="2041451" cy="1658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9C9ED00-76F6-1D99-AD5D-CA0444561627}"/>
              </a:ext>
            </a:extLst>
          </p:cNvPr>
          <p:cNvSpPr txBox="1"/>
          <p:nvPr/>
        </p:nvSpPr>
        <p:spPr>
          <a:xfrm>
            <a:off x="8110704" y="1341230"/>
            <a:ext cx="20665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Customers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D0C615-9B0A-F5FD-4CC8-DDA143B0D433}"/>
              </a:ext>
            </a:extLst>
          </p:cNvPr>
          <p:cNvSpPr txBox="1"/>
          <p:nvPr/>
        </p:nvSpPr>
        <p:spPr>
          <a:xfrm>
            <a:off x="4958294" y="2976361"/>
            <a:ext cx="18132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Service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Providers</a:t>
            </a:r>
          </a:p>
        </p:txBody>
      </p:sp>
      <p:pic>
        <p:nvPicPr>
          <p:cNvPr id="46" name="Graphic 45" descr="Cloud outline">
            <a:extLst>
              <a:ext uri="{FF2B5EF4-FFF2-40B4-BE49-F238E27FC236}">
                <a16:creationId xmlns:a16="http://schemas.microsoft.com/office/drawing/2014/main" id="{97C0BC33-CB1B-C6DF-21AF-C09CECF9F7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52978" y="1040269"/>
            <a:ext cx="3872594" cy="445770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2670C9-0367-4503-862A-C0272CADA978}"/>
              </a:ext>
            </a:extLst>
          </p:cNvPr>
          <p:cNvCxnSpPr>
            <a:cxnSpLocks/>
          </p:cNvCxnSpPr>
          <p:nvPr/>
        </p:nvCxnSpPr>
        <p:spPr>
          <a:xfrm>
            <a:off x="6392338" y="4315609"/>
            <a:ext cx="410318" cy="115234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48BF54B-02AD-5468-5CF9-583A28783279}"/>
              </a:ext>
            </a:extLst>
          </p:cNvPr>
          <p:cNvCxnSpPr>
            <a:cxnSpLocks/>
          </p:cNvCxnSpPr>
          <p:nvPr/>
        </p:nvCxnSpPr>
        <p:spPr>
          <a:xfrm>
            <a:off x="7532245" y="3945660"/>
            <a:ext cx="2471761" cy="234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1D063E-55FB-5FA2-2EFA-6DD28E5F25FC}"/>
              </a:ext>
            </a:extLst>
          </p:cNvPr>
          <p:cNvSpPr txBox="1"/>
          <p:nvPr/>
        </p:nvSpPr>
        <p:spPr>
          <a:xfrm flipH="1">
            <a:off x="13617898" y="5667807"/>
            <a:ext cx="4003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threats to security in this diagram?</a:t>
            </a:r>
          </a:p>
          <a:p>
            <a:endParaRPr lang="en-US" sz="3600">
              <a:solidFill>
                <a:schemeClr val="accent1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do we need to ask?  </a:t>
            </a:r>
          </a:p>
        </p:txBody>
      </p:sp>
    </p:spTree>
    <p:extLst>
      <p:ext uri="{BB962C8B-B14F-4D97-AF65-F5344CB8AC3E}">
        <p14:creationId xmlns:p14="http://schemas.microsoft.com/office/powerpoint/2010/main" val="298304114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It starts with taking inventory</a:t>
            </a:r>
          </a:p>
          <a:p>
            <a:pPr lvl="1"/>
            <a:r>
              <a:rPr lang="en-US"/>
              <a:t>End user systems</a:t>
            </a:r>
          </a:p>
          <a:p>
            <a:pPr lvl="1"/>
            <a:r>
              <a:rPr lang="en-US"/>
              <a:t>Servers</a:t>
            </a:r>
          </a:p>
          <a:p>
            <a:pPr lvl="1"/>
            <a:r>
              <a:rPr lang="en-US"/>
              <a:t>Network elements</a:t>
            </a:r>
          </a:p>
          <a:p>
            <a:pPr lvl="1"/>
            <a:r>
              <a:rPr lang="en-US"/>
              <a:t>Networks</a:t>
            </a:r>
          </a:p>
          <a:p>
            <a:r>
              <a:rPr lang="en-US"/>
              <a:t>Followed by risk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Rounded Rectangle 4"/>
          <p:cNvSpPr/>
          <p:nvPr/>
        </p:nvSpPr>
        <p:spPr bwMode="auto">
          <a:xfrm>
            <a:off x="1935678" y="2392648"/>
            <a:ext cx="12544796" cy="1199833"/>
          </a:xfrm>
          <a:prstGeom prst="roundRect">
            <a:avLst/>
          </a:prstGeom>
          <a:gradFill flip="none" rotWithShape="1">
            <a:gsLst>
              <a:gs pos="0">
                <a:srgbClr val="0070C0">
                  <a:shade val="30000"/>
                  <a:satMod val="115000"/>
                </a:srgbClr>
              </a:gs>
              <a:gs pos="50000">
                <a:srgbClr val="0070C0">
                  <a:shade val="67500"/>
                  <a:satMod val="115000"/>
                </a:srgbClr>
              </a:gs>
              <a:gs pos="100000">
                <a:srgbClr val="0070C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3600">
                <a:solidFill>
                  <a:schemeClr val="bg1"/>
                </a:solidFill>
              </a:rPr>
              <a:t>Activities and tools designed to protect the usability, reliability, integrity of a network and corporate data housed within. </a:t>
            </a:r>
            <a:endParaRPr lang="en-US" sz="3600" b="1">
              <a:solidFill>
                <a:schemeClr val="bg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27133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7E76E-4645-D5DB-0D2F-C0335120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CF294-1302-222C-EDF6-A8DDF6716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don’t know we have it, we can’t protect it</a:t>
            </a:r>
          </a:p>
          <a:p>
            <a:r>
              <a:rPr lang="en-US" dirty="0"/>
              <a:t>End user systems and servers contain networking elements that need to be kept current (patched)</a:t>
            </a:r>
          </a:p>
          <a:p>
            <a:r>
              <a:rPr lang="en-US" dirty="0"/>
              <a:t>Many systems are now being networked and are classified as part of the Internet of Things (IoT)</a:t>
            </a:r>
          </a:p>
          <a:p>
            <a:r>
              <a:rPr lang="en-US" dirty="0"/>
              <a:t>Networking elements and networks need to be protected and require attention beyond those supporting end user systems</a:t>
            </a:r>
          </a:p>
          <a:p>
            <a:r>
              <a:rPr lang="en-US" dirty="0"/>
              <a:t>Technology refresh needs to be part of the plan</a:t>
            </a:r>
          </a:p>
        </p:txBody>
      </p:sp>
    </p:spTree>
    <p:extLst>
      <p:ext uri="{BB962C8B-B14F-4D97-AF65-F5344CB8AC3E}">
        <p14:creationId xmlns:p14="http://schemas.microsoft.com/office/powerpoint/2010/main" val="52614548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Switch location and access</a:t>
            </a:r>
          </a:p>
          <a:p>
            <a:r>
              <a:rPr lang="en-US"/>
              <a:t>Administrative access control</a:t>
            </a:r>
          </a:p>
          <a:p>
            <a:pPr lvl="1"/>
            <a:r>
              <a:rPr lang="en-US"/>
              <a:t>Limit who has access</a:t>
            </a:r>
          </a:p>
          <a:p>
            <a:pPr lvl="1"/>
            <a:r>
              <a:rPr lang="en-US"/>
              <a:t>Log access and changes</a:t>
            </a:r>
          </a:p>
          <a:p>
            <a:pPr lvl="1"/>
            <a:r>
              <a:rPr lang="en-US"/>
              <a:t>Closely manage remote access</a:t>
            </a:r>
          </a:p>
          <a:p>
            <a:r>
              <a:rPr lang="en-US"/>
              <a:t>Firmware and management software patching</a:t>
            </a:r>
          </a:p>
          <a:p>
            <a:r>
              <a:rPr lang="en-US"/>
              <a:t>Rogue device identification</a:t>
            </a:r>
          </a:p>
          <a:p>
            <a:r>
              <a:rPr lang="en-US"/>
              <a:t>VLAN design, management, interconnectivity</a:t>
            </a:r>
          </a:p>
          <a:p>
            <a:r>
              <a:rPr lang="en-US"/>
              <a:t>Encryption</a:t>
            </a:r>
          </a:p>
          <a:p>
            <a:endParaRPr lang="en-US"/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5150E4E-874E-9B9E-AC60-28B022AB397B}"/>
              </a:ext>
            </a:extLst>
          </p:cNvPr>
          <p:cNvGrpSpPr/>
          <p:nvPr/>
        </p:nvGrpSpPr>
        <p:grpSpPr>
          <a:xfrm>
            <a:off x="12459622" y="2079712"/>
            <a:ext cx="4234647" cy="3393988"/>
            <a:chOff x="1315253" y="2167491"/>
            <a:chExt cx="3095321" cy="2319932"/>
          </a:xfrm>
        </p:grpSpPr>
        <p:pic>
          <p:nvPicPr>
            <p:cNvPr id="4" name="Graphic 3" descr="Photocopier outline">
              <a:extLst>
                <a:ext uri="{FF2B5EF4-FFF2-40B4-BE49-F238E27FC236}">
                  <a16:creationId xmlns:a16="http://schemas.microsoft.com/office/drawing/2014/main" id="{D0BF5B13-400B-8DA4-CC1B-6F15B073B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15253" y="3293776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Laptop outline">
              <a:extLst>
                <a:ext uri="{FF2B5EF4-FFF2-40B4-BE49-F238E27FC236}">
                  <a16:creationId xmlns:a16="http://schemas.microsoft.com/office/drawing/2014/main" id="{B792D77B-0AAD-2CEE-7434-089D236A7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96174" y="2564137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Laptop outline">
              <a:extLst>
                <a:ext uri="{FF2B5EF4-FFF2-40B4-BE49-F238E27FC236}">
                  <a16:creationId xmlns:a16="http://schemas.microsoft.com/office/drawing/2014/main" id="{292E2AD4-7E6D-D61F-C882-D31289EAB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64849" y="2167491"/>
              <a:ext cx="914400" cy="914400"/>
            </a:xfrm>
            <a:prstGeom prst="rect">
              <a:avLst/>
            </a:prstGeom>
          </p:spPr>
        </p:pic>
        <p:pic>
          <p:nvPicPr>
            <p:cNvPr id="7" name="Picture 6" descr="Diagram&#10;&#10;Description automatically generated">
              <a:extLst>
                <a:ext uri="{FF2B5EF4-FFF2-40B4-BE49-F238E27FC236}">
                  <a16:creationId xmlns:a16="http://schemas.microsoft.com/office/drawing/2014/main" id="{0E2BA75D-A3F1-C204-5F4B-844D931808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060860" y="4081930"/>
              <a:ext cx="1314922" cy="405493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307012D-95D9-FEE4-D42E-E910F6B96886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2167909" y="3764035"/>
              <a:ext cx="892951" cy="5206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DE5296-9F4A-6E68-C1A1-38702AAB7B64}"/>
                </a:ext>
              </a:extLst>
            </p:cNvPr>
            <p:cNvCxnSpPr>
              <a:cxnSpLocks/>
            </p:cNvCxnSpPr>
            <p:nvPr/>
          </p:nvCxnSpPr>
          <p:spPr>
            <a:xfrm>
              <a:off x="2491675" y="2852781"/>
              <a:ext cx="985773" cy="124159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96F7B75-0314-77BC-5E73-C4214C143598}"/>
                </a:ext>
              </a:extLst>
            </p:cNvPr>
            <p:cNvCxnSpPr>
              <a:cxnSpLocks/>
            </p:cNvCxnSpPr>
            <p:nvPr/>
          </p:nvCxnSpPr>
          <p:spPr>
            <a:xfrm>
              <a:off x="3913086" y="3233337"/>
              <a:ext cx="15073" cy="84859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473199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00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Access Points should be commercial grade</a:t>
            </a:r>
          </a:p>
          <a:p>
            <a:r>
              <a:rPr lang="en-US"/>
              <a:t>Firmware upgrade</a:t>
            </a:r>
          </a:p>
          <a:p>
            <a:r>
              <a:rPr lang="en-US"/>
              <a:t>Control access to resources through the creation of separate networks (SSIDs) based on need</a:t>
            </a:r>
          </a:p>
          <a:p>
            <a:r>
              <a:rPr lang="en-US"/>
              <a:t>Use strong passwords</a:t>
            </a:r>
          </a:p>
          <a:p>
            <a:pPr lvl="1"/>
            <a:r>
              <a:rPr lang="en-US"/>
              <a:t>Change policy</a:t>
            </a:r>
          </a:p>
          <a:p>
            <a:r>
              <a:rPr lang="en-US"/>
              <a:t>Rogue devices</a:t>
            </a:r>
          </a:p>
          <a:p>
            <a:r>
              <a:rPr lang="en-US"/>
              <a:t>Management access controls</a:t>
            </a:r>
          </a:p>
          <a:p>
            <a:r>
              <a:rPr lang="en-US"/>
              <a:t>Implement time profiles to stop after hour access</a:t>
            </a:r>
          </a:p>
          <a:p>
            <a:r>
              <a:rPr lang="en-US"/>
              <a:t>Mesh management</a:t>
            </a:r>
          </a:p>
          <a:p>
            <a:endParaRPr lang="en-US"/>
          </a:p>
        </p:txBody>
      </p:sp>
      <p:pic>
        <p:nvPicPr>
          <p:cNvPr id="5" name="Graphic 4" descr="Wireless with solid fill">
            <a:extLst>
              <a:ext uri="{FF2B5EF4-FFF2-40B4-BE49-F238E27FC236}">
                <a16:creationId xmlns:a16="http://schemas.microsoft.com/office/drawing/2014/main" id="{ACA6A5B6-DB23-E2B3-67A2-205A43F62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73300" y="7175500"/>
            <a:ext cx="33147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75789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0"/>
            <a:ext cx="15773400" cy="7725569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Management access controls and logging</a:t>
            </a:r>
          </a:p>
          <a:p>
            <a:r>
              <a:rPr lang="en-US"/>
              <a:t>Provider and customer roles</a:t>
            </a:r>
          </a:p>
          <a:p>
            <a:r>
              <a:rPr lang="en-US"/>
              <a:t>Access</a:t>
            </a:r>
          </a:p>
          <a:p>
            <a:r>
              <a:rPr lang="en-US"/>
              <a:t>Business continuity</a:t>
            </a:r>
          </a:p>
          <a:p>
            <a:r>
              <a:rPr lang="en-US"/>
              <a:t>Private</a:t>
            </a:r>
          </a:p>
          <a:p>
            <a:pPr lvl="1"/>
            <a:r>
              <a:rPr lang="en-US"/>
              <a:t>SLAs</a:t>
            </a:r>
          </a:p>
          <a:p>
            <a:pPr lvl="1"/>
            <a:r>
              <a:rPr lang="en-US"/>
              <a:t>Encryption</a:t>
            </a:r>
          </a:p>
          <a:p>
            <a:pPr lvl="1"/>
            <a:r>
              <a:rPr lang="en-US"/>
              <a:t>Zone implementation</a:t>
            </a:r>
          </a:p>
          <a:p>
            <a:r>
              <a:rPr lang="en-US"/>
              <a:t>Internet</a:t>
            </a:r>
          </a:p>
          <a:p>
            <a:pPr lvl="1"/>
            <a:r>
              <a:rPr lang="en-US"/>
              <a:t>Perimeter protection (firewall, IDS/IPS…)</a:t>
            </a:r>
          </a:p>
          <a:p>
            <a:pPr lvl="1"/>
            <a:r>
              <a:rPr lang="en-US"/>
              <a:t>VPN management</a:t>
            </a:r>
          </a:p>
          <a:p>
            <a:pPr lvl="2"/>
            <a:r>
              <a:rPr lang="en-US"/>
              <a:t>Certificates, AAA...</a:t>
            </a:r>
          </a:p>
          <a:p>
            <a:pPr lvl="2"/>
            <a:r>
              <a:rPr lang="en-US"/>
              <a:t>Licenses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A13AECB5-EF55-907F-268F-BD08F2F01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96701" y="1304478"/>
            <a:ext cx="6625428" cy="7623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1F7A1-963C-8619-AF06-9596CE59E94C}"/>
              </a:ext>
            </a:extLst>
          </p:cNvPr>
          <p:cNvSpPr txBox="1"/>
          <p:nvPr/>
        </p:nvSpPr>
        <p:spPr>
          <a:xfrm>
            <a:off x="13779500" y="4451011"/>
            <a:ext cx="241925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 Line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Ethernet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MPLS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373523077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Ransomware: How It Moves Across a Bank Network</a:t>
            </a:r>
          </a:p>
        </p:txBody>
      </p:sp>
      <p:sp>
        <p:nvSpPr>
          <p:cNvPr id="3" name="Rw step 1"/>
          <p:cNvSpPr/>
          <p:nvPr/>
        </p:nvSpPr>
        <p:spPr>
          <a:xfrm>
            <a:off x="1257300" y="2697480"/>
            <a:ext cx="2377440" cy="914400"/>
          </a:xfrm>
          <a:prstGeom prst="homePlat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w step 1 text"/>
          <p:cNvSpPr txBox="1"/>
          <p:nvPr/>
        </p:nvSpPr>
        <p:spPr>
          <a:xfrm>
            <a:off x="153162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1. Way in</a:t>
            </a:r>
          </a:p>
        </p:txBody>
      </p:sp>
      <p:sp>
        <p:nvSpPr>
          <p:cNvPr id="5" name="Rw what 1"/>
          <p:cNvSpPr/>
          <p:nvPr/>
        </p:nvSpPr>
        <p:spPr>
          <a:xfrm>
            <a:off x="1257300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w what 1 text"/>
          <p:cNvSpPr txBox="1"/>
          <p:nvPr/>
        </p:nvSpPr>
        <p:spPr>
          <a:xfrm>
            <a:off x="1394460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Phishing, stolen VPN password, unpatched firewall, vendor access</a:t>
            </a:r>
          </a:p>
        </p:txBody>
      </p:sp>
      <p:cxnSp>
        <p:nvCxnSpPr>
          <p:cNvPr id="7" name="Rw down 1"/>
          <p:cNvCxnSpPr/>
          <p:nvPr/>
        </p:nvCxnSpPr>
        <p:spPr>
          <a:xfrm>
            <a:off x="244602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w ctl 1"/>
          <p:cNvSpPr/>
          <p:nvPr/>
        </p:nvSpPr>
        <p:spPr>
          <a:xfrm>
            <a:off x="1257300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Rw ctl 1 text"/>
          <p:cNvSpPr txBox="1"/>
          <p:nvPr/>
        </p:nvSpPr>
        <p:spPr>
          <a:xfrm>
            <a:off x="1394460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on all remote access; patch edge devices</a:t>
            </a:r>
          </a:p>
        </p:txBody>
      </p:sp>
      <p:sp>
        <p:nvSpPr>
          <p:cNvPr id="10" name="Rw step 2"/>
          <p:cNvSpPr/>
          <p:nvPr/>
        </p:nvSpPr>
        <p:spPr>
          <a:xfrm>
            <a:off x="3936491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Rw step 2 text"/>
          <p:cNvSpPr txBox="1"/>
          <p:nvPr/>
        </p:nvSpPr>
        <p:spPr>
          <a:xfrm>
            <a:off x="4210812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2. Foothold</a:t>
            </a:r>
          </a:p>
        </p:txBody>
      </p:sp>
      <p:sp>
        <p:nvSpPr>
          <p:cNvPr id="12" name="Rw what 2"/>
          <p:cNvSpPr/>
          <p:nvPr/>
        </p:nvSpPr>
        <p:spPr>
          <a:xfrm>
            <a:off x="3936491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Rw what 2 text"/>
          <p:cNvSpPr txBox="1"/>
          <p:nvPr/>
        </p:nvSpPr>
        <p:spPr>
          <a:xfrm>
            <a:off x="4073652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PC or one account</a:t>
            </a:r>
          </a:p>
        </p:txBody>
      </p:sp>
      <p:cxnSp>
        <p:nvCxnSpPr>
          <p:cNvPr id="14" name="Rw down 2"/>
          <p:cNvCxnSpPr/>
          <p:nvPr/>
        </p:nvCxnSpPr>
        <p:spPr>
          <a:xfrm>
            <a:off x="5125212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w ctl 2"/>
          <p:cNvSpPr/>
          <p:nvPr/>
        </p:nvSpPr>
        <p:spPr>
          <a:xfrm>
            <a:off x="3936491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Rw ctl 2 text"/>
          <p:cNvSpPr txBox="1"/>
          <p:nvPr/>
        </p:nvSpPr>
        <p:spPr>
          <a:xfrm>
            <a:off x="4073652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Endpoint detection (EDR)</a:t>
            </a:r>
          </a:p>
        </p:txBody>
      </p:sp>
      <p:sp>
        <p:nvSpPr>
          <p:cNvPr id="17" name="Rw step 3"/>
          <p:cNvSpPr/>
          <p:nvPr/>
        </p:nvSpPr>
        <p:spPr>
          <a:xfrm>
            <a:off x="6615684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Rw step 3 text"/>
          <p:cNvSpPr txBox="1"/>
          <p:nvPr/>
        </p:nvSpPr>
        <p:spPr>
          <a:xfrm>
            <a:off x="6890004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3. Spread</a:t>
            </a:r>
          </a:p>
        </p:txBody>
      </p:sp>
      <p:sp>
        <p:nvSpPr>
          <p:cNvPr id="19" name="Rw what 3"/>
          <p:cNvSpPr/>
          <p:nvPr/>
        </p:nvSpPr>
        <p:spPr>
          <a:xfrm>
            <a:off x="6615684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Rw what 3 text"/>
          <p:cNvSpPr txBox="1"/>
          <p:nvPr/>
        </p:nvSpPr>
        <p:spPr>
          <a:xfrm>
            <a:off x="6752844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Moves laterally, collects admin passwords</a:t>
            </a:r>
          </a:p>
        </p:txBody>
      </p:sp>
      <p:cxnSp>
        <p:nvCxnSpPr>
          <p:cNvPr id="21" name="Rw down 3"/>
          <p:cNvCxnSpPr/>
          <p:nvPr/>
        </p:nvCxnSpPr>
        <p:spPr>
          <a:xfrm>
            <a:off x="7804404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w ctl 3"/>
          <p:cNvSpPr/>
          <p:nvPr/>
        </p:nvSpPr>
        <p:spPr>
          <a:xfrm>
            <a:off x="6615684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Rw ctl 3 text"/>
          <p:cNvSpPr txBox="1"/>
          <p:nvPr/>
        </p:nvSpPr>
        <p:spPr>
          <a:xfrm>
            <a:off x="6752844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Segmentation; separate admin accounts</a:t>
            </a:r>
          </a:p>
        </p:txBody>
      </p:sp>
      <p:sp>
        <p:nvSpPr>
          <p:cNvPr id="24" name="Rw step 4"/>
          <p:cNvSpPr/>
          <p:nvPr/>
        </p:nvSpPr>
        <p:spPr>
          <a:xfrm>
            <a:off x="9294876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Rw step 4 text"/>
          <p:cNvSpPr txBox="1"/>
          <p:nvPr/>
        </p:nvSpPr>
        <p:spPr>
          <a:xfrm>
            <a:off x="9569196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4. Steal</a:t>
            </a:r>
          </a:p>
        </p:txBody>
      </p:sp>
      <p:sp>
        <p:nvSpPr>
          <p:cNvPr id="26" name="Rw what 4"/>
          <p:cNvSpPr/>
          <p:nvPr/>
        </p:nvSpPr>
        <p:spPr>
          <a:xfrm>
            <a:off x="9294876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w what 4 text"/>
          <p:cNvSpPr txBox="1"/>
          <p:nvPr/>
        </p:nvSpPr>
        <p:spPr>
          <a:xfrm>
            <a:off x="9432036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Copies data out over the internet</a:t>
            </a:r>
          </a:p>
        </p:txBody>
      </p:sp>
      <p:cxnSp>
        <p:nvCxnSpPr>
          <p:cNvPr id="28" name="Rw down 4"/>
          <p:cNvCxnSpPr/>
          <p:nvPr/>
        </p:nvCxnSpPr>
        <p:spPr>
          <a:xfrm>
            <a:off x="10483596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w ctl 4"/>
          <p:cNvSpPr/>
          <p:nvPr/>
        </p:nvSpPr>
        <p:spPr>
          <a:xfrm>
            <a:off x="9294876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w ctl 4 text"/>
          <p:cNvSpPr txBox="1"/>
          <p:nvPr/>
        </p:nvSpPr>
        <p:spPr>
          <a:xfrm>
            <a:off x="9432036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Egress monitoring; protective DNS</a:t>
            </a:r>
          </a:p>
        </p:txBody>
      </p:sp>
      <p:sp>
        <p:nvSpPr>
          <p:cNvPr id="31" name="Rw step 5"/>
          <p:cNvSpPr/>
          <p:nvPr/>
        </p:nvSpPr>
        <p:spPr>
          <a:xfrm>
            <a:off x="11974068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w step 5 text"/>
          <p:cNvSpPr txBox="1"/>
          <p:nvPr/>
        </p:nvSpPr>
        <p:spPr>
          <a:xfrm>
            <a:off x="12248388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5. Encrypt</a:t>
            </a:r>
          </a:p>
        </p:txBody>
      </p:sp>
      <p:sp>
        <p:nvSpPr>
          <p:cNvPr id="33" name="Rw what 5"/>
          <p:cNvSpPr/>
          <p:nvPr/>
        </p:nvSpPr>
        <p:spPr>
          <a:xfrm>
            <a:off x="11974068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Rw what 5 text"/>
          <p:cNvSpPr txBox="1"/>
          <p:nvPr/>
        </p:nvSpPr>
        <p:spPr>
          <a:xfrm>
            <a:off x="12111228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Servers, shares, backups</a:t>
            </a:r>
          </a:p>
        </p:txBody>
      </p:sp>
      <p:cxnSp>
        <p:nvCxnSpPr>
          <p:cNvPr id="35" name="Rw down 5"/>
          <p:cNvCxnSpPr/>
          <p:nvPr/>
        </p:nvCxnSpPr>
        <p:spPr>
          <a:xfrm>
            <a:off x="13162788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w ctl 5"/>
          <p:cNvSpPr/>
          <p:nvPr/>
        </p:nvSpPr>
        <p:spPr>
          <a:xfrm>
            <a:off x="11974068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Rw ctl 5 text"/>
          <p:cNvSpPr txBox="1"/>
          <p:nvPr/>
        </p:nvSpPr>
        <p:spPr>
          <a:xfrm>
            <a:off x="12111228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Offline or immutable backups</a:t>
            </a:r>
          </a:p>
        </p:txBody>
      </p:sp>
      <p:sp>
        <p:nvSpPr>
          <p:cNvPr id="38" name="Rw step 6"/>
          <p:cNvSpPr/>
          <p:nvPr/>
        </p:nvSpPr>
        <p:spPr>
          <a:xfrm>
            <a:off x="14653259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9" name="Rw step 6 text"/>
          <p:cNvSpPr txBox="1"/>
          <p:nvPr/>
        </p:nvSpPr>
        <p:spPr>
          <a:xfrm>
            <a:off x="1492758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6. Extort</a:t>
            </a:r>
          </a:p>
        </p:txBody>
      </p:sp>
      <p:sp>
        <p:nvSpPr>
          <p:cNvPr id="40" name="Rw what 6"/>
          <p:cNvSpPr/>
          <p:nvPr/>
        </p:nvSpPr>
        <p:spPr>
          <a:xfrm>
            <a:off x="14653259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Rw what 6 text"/>
          <p:cNvSpPr txBox="1"/>
          <p:nvPr/>
        </p:nvSpPr>
        <p:spPr>
          <a:xfrm>
            <a:off x="14790419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 to decrypt; pay to not publish</a:t>
            </a:r>
          </a:p>
        </p:txBody>
      </p:sp>
      <p:cxnSp>
        <p:nvCxnSpPr>
          <p:cNvPr id="42" name="Rw down 6"/>
          <p:cNvCxnSpPr/>
          <p:nvPr/>
        </p:nvCxnSpPr>
        <p:spPr>
          <a:xfrm>
            <a:off x="1584198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w ctl 6"/>
          <p:cNvSpPr/>
          <p:nvPr/>
        </p:nvSpPr>
        <p:spPr>
          <a:xfrm>
            <a:off x="14653259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4" name="Rw ctl 6 text"/>
          <p:cNvSpPr txBox="1"/>
          <p:nvPr/>
        </p:nvSpPr>
        <p:spPr>
          <a:xfrm>
            <a:off x="14790419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tested incident response plan</a:t>
            </a:r>
          </a:p>
        </p:txBody>
      </p:sp>
      <p:sp>
        <p:nvSpPr>
          <p:cNvPr id="45" name="Rw banner"/>
          <p:cNvSpPr/>
          <p:nvPr/>
        </p:nvSpPr>
        <p:spPr>
          <a:xfrm>
            <a:off x="1257300" y="86868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6" name="Rw banner text"/>
          <p:cNvSpPr txBox="1"/>
          <p:nvPr/>
        </p:nvSpPr>
        <p:spPr>
          <a:xfrm>
            <a:off x="1554480" y="87325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Six chances to break the chain, and most are network controls from this week.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Supply Chain Attacks: When the Vendor Is the Way In</a:t>
            </a:r>
          </a:p>
        </p:txBody>
      </p:sp>
      <p:pic>
        <p:nvPicPr>
          <p:cNvPr id="3" name="SC vendo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0199" y="3429000"/>
            <a:ext cx="1005840" cy="1005840"/>
          </a:xfrm>
          <a:prstGeom prst="rect">
            <a:avLst/>
          </a:prstGeom>
        </p:spPr>
      </p:pic>
      <p:sp>
        <p:nvSpPr>
          <p:cNvPr id="4" name="SC vendor text"/>
          <p:cNvSpPr txBox="1"/>
          <p:nvPr/>
        </p:nvSpPr>
        <p:spPr>
          <a:xfrm>
            <a:off x="1257300" y="45720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software update</a:t>
            </a:r>
          </a:p>
        </p:txBody>
      </p:sp>
      <p:sp>
        <p:nvSpPr>
          <p:cNvPr id="5" name="SC bad"/>
          <p:cNvSpPr/>
          <p:nvPr/>
        </p:nvSpPr>
        <p:spPr>
          <a:xfrm>
            <a:off x="3291840" y="361188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6" name="SC a1"/>
          <p:cNvCxnSpPr/>
          <p:nvPr/>
        </p:nvCxnSpPr>
        <p:spPr>
          <a:xfrm>
            <a:off x="3977639" y="3931920"/>
            <a:ext cx="1783081" cy="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C trusted"/>
          <p:cNvSpPr txBox="1"/>
          <p:nvPr/>
        </p:nvSpPr>
        <p:spPr>
          <a:xfrm>
            <a:off x="3566160" y="30175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trusted channel</a:t>
            </a:r>
          </a:p>
        </p:txBody>
      </p:sp>
      <p:cxnSp>
        <p:nvCxnSpPr>
          <p:cNvPr id="8" name="SC fan 1"/>
          <p:cNvCxnSpPr/>
          <p:nvPr/>
        </p:nvCxnSpPr>
        <p:spPr>
          <a:xfrm flipV="1">
            <a:off x="5760720" y="288036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C bank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2560320"/>
            <a:ext cx="640080" cy="640080"/>
          </a:xfrm>
          <a:prstGeom prst="rect">
            <a:avLst/>
          </a:prstGeom>
        </p:spPr>
      </p:pic>
      <p:cxnSp>
        <p:nvCxnSpPr>
          <p:cNvPr id="10" name="SC fan 2"/>
          <p:cNvCxnSpPr/>
          <p:nvPr/>
        </p:nvCxnSpPr>
        <p:spPr>
          <a:xfrm>
            <a:off x="5760720" y="3931920"/>
            <a:ext cx="100584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C bank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3611879"/>
            <a:ext cx="640080" cy="640080"/>
          </a:xfrm>
          <a:prstGeom prst="rect">
            <a:avLst/>
          </a:prstGeom>
        </p:spPr>
      </p:pic>
      <p:cxnSp>
        <p:nvCxnSpPr>
          <p:cNvPr id="12" name="SC fan 3"/>
          <p:cNvCxnSpPr/>
          <p:nvPr/>
        </p:nvCxnSpPr>
        <p:spPr>
          <a:xfrm>
            <a:off x="5760720" y="393192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C bank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4663440"/>
            <a:ext cx="640080" cy="640080"/>
          </a:xfrm>
          <a:prstGeom prst="rect">
            <a:avLst/>
          </a:prstGeom>
        </p:spPr>
      </p:pic>
      <p:sp>
        <p:nvSpPr>
          <p:cNvPr id="14" name="SC many"/>
          <p:cNvSpPr txBox="1"/>
          <p:nvPr/>
        </p:nvSpPr>
        <p:spPr>
          <a:xfrm>
            <a:off x="5760720" y="5577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thousands at once</a:t>
            </a:r>
          </a:p>
        </p:txBody>
      </p:sp>
      <p:sp>
        <p:nvSpPr>
          <p:cNvPr id="15" name="SC case 1"/>
          <p:cNvSpPr/>
          <p:nvPr/>
        </p:nvSpPr>
        <p:spPr>
          <a:xfrm>
            <a:off x="12573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SC case 1 text"/>
          <p:cNvSpPr txBox="1"/>
          <p:nvPr/>
        </p:nvSpPr>
        <p:spPr>
          <a:xfrm>
            <a:off x="15133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SolarWinds, 2020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Backdoor in network monitoring software updates; about 18,000 customers installed it</a:t>
            </a:r>
          </a:p>
        </p:txBody>
      </p:sp>
      <p:sp>
        <p:nvSpPr>
          <p:cNvPr id="17" name="SC case 2"/>
          <p:cNvSpPr/>
          <p:nvPr/>
        </p:nvSpPr>
        <p:spPr>
          <a:xfrm>
            <a:off x="66294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SC case 2 text"/>
          <p:cNvSpPr txBox="1"/>
          <p:nvPr/>
        </p:nvSpPr>
        <p:spPr>
          <a:xfrm>
            <a:off x="68854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through MSPs' remote-management tool (Wednesday)</a:t>
            </a:r>
          </a:p>
        </p:txBody>
      </p:sp>
      <p:sp>
        <p:nvSpPr>
          <p:cNvPr id="19" name="SC case 3"/>
          <p:cNvSpPr/>
          <p:nvPr/>
        </p:nvSpPr>
        <p:spPr>
          <a:xfrm>
            <a:off x="120015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SC case 3 text"/>
          <p:cNvSpPr txBox="1"/>
          <p:nvPr/>
        </p:nvSpPr>
        <p:spPr>
          <a:xfrm>
            <a:off x="122575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MOVEit, 2023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File-transfer flaw; data stolen from thousands of organizations, many of them banks' vendors</a:t>
            </a:r>
          </a:p>
        </p:txBody>
      </p:sp>
      <p:sp>
        <p:nvSpPr>
          <p:cNvPr id="21" name="SC help"/>
          <p:cNvSpPr/>
          <p:nvPr/>
        </p:nvSpPr>
        <p:spPr>
          <a:xfrm>
            <a:off x="8778240" y="2697480"/>
            <a:ext cx="8252460" cy="34290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C help list"/>
          <p:cNvSpPr txBox="1"/>
          <p:nvPr/>
        </p:nvSpPr>
        <p:spPr>
          <a:xfrm>
            <a:off x="9098280" y="2880360"/>
            <a:ext cx="76809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which vendor software has broad network access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Give it only the access it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Watch its outbound traffic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 that require prompt incident notice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Zero Trust: Stop Trusting the Network</a:t>
            </a:r>
          </a:p>
        </p:txBody>
      </p:sp>
      <p:sp>
        <p:nvSpPr>
          <p:cNvPr id="3" name="ZT 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Castle and moat</a:t>
            </a:r>
          </a:p>
        </p:txBody>
      </p:sp>
      <p:sp>
        <p:nvSpPr>
          <p:cNvPr id="4" name="ZT old panel"/>
          <p:cNvSpPr/>
          <p:nvPr/>
        </p:nvSpPr>
        <p:spPr>
          <a:xfrm>
            <a:off x="1257300" y="3246120"/>
            <a:ext cx="7680960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ZT moat"/>
          <p:cNvSpPr/>
          <p:nvPr/>
        </p:nvSpPr>
        <p:spPr>
          <a:xfrm>
            <a:off x="2194560" y="3520440"/>
            <a:ext cx="5806440" cy="274320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ZT old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6300" y="4023359"/>
            <a:ext cx="822960" cy="822960"/>
          </a:xfrm>
          <a:prstGeom prst="rect">
            <a:avLst/>
          </a:prstGeom>
        </p:spPr>
      </p:pic>
      <p:sp>
        <p:nvSpPr>
          <p:cNvPr id="7" name="ZT old inside"/>
          <p:cNvSpPr txBox="1"/>
          <p:nvPr/>
        </p:nvSpPr>
        <p:spPr>
          <a:xfrm>
            <a:off x="2926080" y="4983480"/>
            <a:ext cx="4343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Inside: trusted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Outside: not</a:t>
            </a:r>
          </a:p>
        </p:txBody>
      </p:sp>
      <p:sp>
        <p:nvSpPr>
          <p:cNvPr id="8" name="ZT 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Zero trust</a:t>
            </a:r>
          </a:p>
        </p:txBody>
      </p:sp>
      <p:sp>
        <p:nvSpPr>
          <p:cNvPr id="9" name="ZT new panel"/>
          <p:cNvSpPr/>
          <p:nvPr/>
        </p:nvSpPr>
        <p:spPr>
          <a:xfrm>
            <a:off x="9349740" y="3246120"/>
            <a:ext cx="768096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ZT chk 1"/>
          <p:cNvSpPr/>
          <p:nvPr/>
        </p:nvSpPr>
        <p:spPr>
          <a:xfrm>
            <a:off x="9692640" y="3493008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ZT chk 1 text"/>
          <p:cNvSpPr txBox="1"/>
          <p:nvPr/>
        </p:nvSpPr>
        <p:spPr>
          <a:xfrm>
            <a:off x="10287000" y="342900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is the user?</a:t>
            </a:r>
          </a:p>
        </p:txBody>
      </p:sp>
      <p:sp>
        <p:nvSpPr>
          <p:cNvPr id="12" name="ZT chk 2"/>
          <p:cNvSpPr/>
          <p:nvPr/>
        </p:nvSpPr>
        <p:spPr>
          <a:xfrm>
            <a:off x="9692640" y="4096512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ZT chk 2 text"/>
          <p:cNvSpPr txBox="1"/>
          <p:nvPr/>
        </p:nvSpPr>
        <p:spPr>
          <a:xfrm>
            <a:off x="10287000" y="4032504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device healthy?</a:t>
            </a:r>
          </a:p>
        </p:txBody>
      </p:sp>
      <p:sp>
        <p:nvSpPr>
          <p:cNvPr id="14" name="ZT chk 3"/>
          <p:cNvSpPr/>
          <p:nvPr/>
        </p:nvSpPr>
        <p:spPr>
          <a:xfrm>
            <a:off x="9692640" y="4700016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ZT chk 3 text"/>
          <p:cNvSpPr txBox="1"/>
          <p:nvPr/>
        </p:nvSpPr>
        <p:spPr>
          <a:xfrm>
            <a:off x="10287000" y="463600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this access allowed?</a:t>
            </a:r>
          </a:p>
        </p:txBody>
      </p:sp>
      <p:sp>
        <p:nvSpPr>
          <p:cNvPr id="16" name="ZT chk 4"/>
          <p:cNvSpPr/>
          <p:nvPr/>
        </p:nvSpPr>
        <p:spPr>
          <a:xfrm>
            <a:off x="9692640" y="5303520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ZT chk 4 text"/>
          <p:cNvSpPr txBox="1"/>
          <p:nvPr/>
        </p:nvSpPr>
        <p:spPr>
          <a:xfrm>
            <a:off x="10287000" y="523951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Least privilege</a:t>
            </a:r>
          </a:p>
        </p:txBody>
      </p:sp>
      <p:sp>
        <p:nvSpPr>
          <p:cNvPr id="18" name="ZT chk 5"/>
          <p:cNvSpPr/>
          <p:nvPr/>
        </p:nvSpPr>
        <p:spPr>
          <a:xfrm>
            <a:off x="9692640" y="5907024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ZT chk 5 text"/>
          <p:cNvSpPr txBox="1"/>
          <p:nvPr/>
        </p:nvSpPr>
        <p:spPr>
          <a:xfrm>
            <a:off x="10287000" y="584301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checking</a:t>
            </a:r>
          </a:p>
        </p:txBody>
      </p:sp>
      <p:sp>
        <p:nvSpPr>
          <p:cNvPr id="20" name="ZT every"/>
          <p:cNvSpPr txBox="1"/>
          <p:nvPr/>
        </p:nvSpPr>
        <p:spPr>
          <a:xfrm>
            <a:off x="13350240" y="34290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 i="1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request, every time</a:t>
            </a:r>
          </a:p>
        </p:txBody>
      </p:sp>
      <p:sp>
        <p:nvSpPr>
          <p:cNvPr id="21" name="ZT steps head"/>
          <p:cNvSpPr txBox="1"/>
          <p:nvPr/>
        </p:nvSpPr>
        <p:spPr>
          <a:xfrm>
            <a:off x="1257300" y="6812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direction, not a product. Practical steps for a community bank:</a:t>
            </a:r>
          </a:p>
        </p:txBody>
      </p:sp>
      <p:sp>
        <p:nvSpPr>
          <p:cNvPr id="22" name="ZT step 1"/>
          <p:cNvSpPr/>
          <p:nvPr/>
        </p:nvSpPr>
        <p:spPr>
          <a:xfrm>
            <a:off x="1257300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ZT step 1 text"/>
          <p:cNvSpPr txBox="1"/>
          <p:nvPr/>
        </p:nvSpPr>
        <p:spPr>
          <a:xfrm>
            <a:off x="1513332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everywhere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Staff, admins, vendors</a:t>
            </a:r>
          </a:p>
        </p:txBody>
      </p:sp>
      <p:sp>
        <p:nvSpPr>
          <p:cNvPr id="24" name="ZT step 2"/>
          <p:cNvSpPr/>
          <p:nvPr/>
        </p:nvSpPr>
        <p:spPr>
          <a:xfrm>
            <a:off x="4475988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ZT step 2 text"/>
          <p:cNvSpPr txBox="1"/>
          <p:nvPr/>
        </p:nvSpPr>
        <p:spPr>
          <a:xfrm>
            <a:off x="4732020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Conditional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Rules on device and location</a:t>
            </a:r>
          </a:p>
        </p:txBody>
      </p:sp>
      <p:sp>
        <p:nvSpPr>
          <p:cNvPr id="26" name="ZT step 3"/>
          <p:cNvSpPr/>
          <p:nvPr/>
        </p:nvSpPr>
        <p:spPr>
          <a:xfrm>
            <a:off x="7694675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ZT step 3 text"/>
          <p:cNvSpPr txBox="1"/>
          <p:nvPr/>
        </p:nvSpPr>
        <p:spPr>
          <a:xfrm>
            <a:off x="7950707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Monday's lesson, still the core</a:t>
            </a:r>
          </a:p>
        </p:txBody>
      </p:sp>
      <p:sp>
        <p:nvSpPr>
          <p:cNvPr id="28" name="ZT step 4"/>
          <p:cNvSpPr/>
          <p:nvPr/>
        </p:nvSpPr>
        <p:spPr>
          <a:xfrm>
            <a:off x="10913364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ZT step 4 text"/>
          <p:cNvSpPr txBox="1"/>
          <p:nvPr/>
        </p:nvSpPr>
        <p:spPr>
          <a:xfrm>
            <a:off x="11169396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 access, not network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Replace always-on VPN (ZTNA)</a:t>
            </a:r>
          </a:p>
        </p:txBody>
      </p:sp>
      <p:sp>
        <p:nvSpPr>
          <p:cNvPr id="30" name="ZT step 5"/>
          <p:cNvSpPr/>
          <p:nvPr/>
        </p:nvSpPr>
        <p:spPr>
          <a:xfrm>
            <a:off x="14132052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ZT step 5 text"/>
          <p:cNvSpPr txBox="1"/>
          <p:nvPr/>
        </p:nvSpPr>
        <p:spPr>
          <a:xfrm>
            <a:off x="14388084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Specific systems, logged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References: NIST SP 800-207, Zero Trust Architecture (2020); CISA Zero Trust Maturity Model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Many Sources for Baseline Security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NIST Cybersecurity Framework</a:t>
            </a:r>
          </a:p>
          <a:p>
            <a:r>
              <a:rPr lang="en-US"/>
              <a:t>Council on Cybersecurity Critical Security Controls</a:t>
            </a:r>
          </a:p>
          <a:p>
            <a:r>
              <a:rPr lang="en-US"/>
              <a:t>ISO 27001/2</a:t>
            </a:r>
          </a:p>
          <a:p>
            <a:r>
              <a:rPr lang="en-US"/>
              <a:t>International Information Systems Security Certification Consortium (ISC</a:t>
            </a:r>
            <a:r>
              <a:rPr lang="en-US" baseline="30000"/>
              <a:t>2</a:t>
            </a:r>
            <a:r>
              <a:rPr lang="en-US"/>
              <a:t>)</a:t>
            </a:r>
          </a:p>
          <a:p>
            <a:r>
              <a:rPr lang="en-US"/>
              <a:t>Vendor whitepapers and case studies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00" y="7429501"/>
            <a:ext cx="7515225" cy="1980758"/>
          </a:xfrm>
          <a:prstGeom prst="rect">
            <a:avLst/>
          </a:prstGeom>
        </p:spPr>
      </p:pic>
      <p:sp>
        <p:nvSpPr>
          <p:cNvPr id="6" name="CSF callout"/>
          <p:cNvSpPr/>
          <p:nvPr/>
        </p:nvSpPr>
        <p:spPr>
          <a:xfrm>
            <a:off x="1257300" y="7498079"/>
            <a:ext cx="640080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CSF bar"/>
          <p:cNvSpPr/>
          <p:nvPr/>
        </p:nvSpPr>
        <p:spPr>
          <a:xfrm>
            <a:off x="1257300" y="7498079"/>
            <a:ext cx="137160" cy="178308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SF text"/>
          <p:cNvSpPr txBox="1"/>
          <p:nvPr/>
        </p:nvSpPr>
        <p:spPr>
          <a:xfrm>
            <a:off x="1645920" y="7607808"/>
            <a:ext cx="58521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NIST CSF is doing heavy lifting these days.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With the FFIEC Cybersecurity Assessment Tool retired in August 2025, many banks moved to the CSF.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986562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Incident Response: When Something Goes Wrong on the Network</a:t>
            </a:r>
          </a:p>
        </p:txBody>
      </p:sp>
      <p:sp>
        <p:nvSpPr>
          <p:cNvPr id="3" name="IR ph 1"/>
          <p:cNvSpPr/>
          <p:nvPr/>
        </p:nvSpPr>
        <p:spPr>
          <a:xfrm>
            <a:off x="1257300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Prepare</a:t>
            </a:r>
          </a:p>
        </p:txBody>
      </p:sp>
      <p:sp>
        <p:nvSpPr>
          <p:cNvPr id="4" name="IR net 1"/>
          <p:cNvSpPr/>
          <p:nvPr/>
        </p:nvSpPr>
        <p:spPr>
          <a:xfrm>
            <a:off x="1257300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IR net 1 text"/>
          <p:cNvSpPr txBox="1"/>
          <p:nvPr/>
        </p:nvSpPr>
        <p:spPr>
          <a:xfrm>
            <a:off x="1394460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on and kept: firewall, VPN, DNS, Microsoft 365</a:t>
            </a:r>
          </a:p>
        </p:txBody>
      </p:sp>
      <p:cxnSp>
        <p:nvCxnSpPr>
          <p:cNvPr id="6" name="IR arrow 1"/>
          <p:cNvCxnSpPr/>
          <p:nvPr/>
        </p:nvCxnSpPr>
        <p:spPr>
          <a:xfrm>
            <a:off x="3360420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R ph 2"/>
          <p:cNvSpPr/>
          <p:nvPr/>
        </p:nvSpPr>
        <p:spPr>
          <a:xfrm>
            <a:off x="3561588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Detect</a:t>
            </a:r>
          </a:p>
        </p:txBody>
      </p:sp>
      <p:sp>
        <p:nvSpPr>
          <p:cNvPr id="8" name="IR net 2"/>
          <p:cNvSpPr/>
          <p:nvPr/>
        </p:nvSpPr>
        <p:spPr>
          <a:xfrm>
            <a:off x="3561588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IR net 2 text"/>
          <p:cNvSpPr txBox="1"/>
          <p:nvPr/>
        </p:nvSpPr>
        <p:spPr>
          <a:xfrm>
            <a:off x="3698748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Alerts from the MSSP, EDR, protective DNS</a:t>
            </a:r>
          </a:p>
        </p:txBody>
      </p:sp>
      <p:cxnSp>
        <p:nvCxnSpPr>
          <p:cNvPr id="10" name="IR arrow 2"/>
          <p:cNvCxnSpPr/>
          <p:nvPr/>
        </p:nvCxnSpPr>
        <p:spPr>
          <a:xfrm>
            <a:off x="5664708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R ph 3"/>
          <p:cNvSpPr/>
          <p:nvPr/>
        </p:nvSpPr>
        <p:spPr>
          <a:xfrm>
            <a:off x="5865876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Contain</a:t>
            </a:r>
          </a:p>
        </p:txBody>
      </p:sp>
      <p:sp>
        <p:nvSpPr>
          <p:cNvPr id="12" name="IR net 3"/>
          <p:cNvSpPr/>
          <p:nvPr/>
        </p:nvSpPr>
        <p:spPr>
          <a:xfrm>
            <a:off x="5865876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IR net 3 text"/>
          <p:cNvSpPr txBox="1"/>
          <p:nvPr/>
        </p:nvSpPr>
        <p:spPr>
          <a:xfrm>
            <a:off x="6003036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Isolate a segment, disable accounts, cut vendor access</a:t>
            </a:r>
          </a:p>
        </p:txBody>
      </p:sp>
      <p:cxnSp>
        <p:nvCxnSpPr>
          <p:cNvPr id="14" name="IR arrow 3"/>
          <p:cNvCxnSpPr/>
          <p:nvPr/>
        </p:nvCxnSpPr>
        <p:spPr>
          <a:xfrm>
            <a:off x="7968996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R ph 4"/>
          <p:cNvSpPr/>
          <p:nvPr/>
        </p:nvSpPr>
        <p:spPr>
          <a:xfrm>
            <a:off x="8170164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16" name="IR net 4"/>
          <p:cNvSpPr/>
          <p:nvPr/>
        </p:nvSpPr>
        <p:spPr>
          <a:xfrm>
            <a:off x="8170164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IR net 4 text"/>
          <p:cNvSpPr txBox="1"/>
          <p:nvPr/>
        </p:nvSpPr>
        <p:spPr>
          <a:xfrm>
            <a:off x="8307324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Rebuild; restore from backups the attacker couldn't reach</a:t>
            </a:r>
          </a:p>
        </p:txBody>
      </p:sp>
      <p:cxnSp>
        <p:nvCxnSpPr>
          <p:cNvPr id="18" name="IR arrow 4"/>
          <p:cNvCxnSpPr/>
          <p:nvPr/>
        </p:nvCxnSpPr>
        <p:spPr>
          <a:xfrm>
            <a:off x="10273284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R ph 5"/>
          <p:cNvSpPr/>
          <p:nvPr/>
        </p:nvSpPr>
        <p:spPr>
          <a:xfrm>
            <a:off x="10474452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Learn</a:t>
            </a:r>
          </a:p>
        </p:txBody>
      </p:sp>
      <p:sp>
        <p:nvSpPr>
          <p:cNvPr id="20" name="IR net 5"/>
          <p:cNvSpPr/>
          <p:nvPr/>
        </p:nvSpPr>
        <p:spPr>
          <a:xfrm>
            <a:off x="10474452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IR net 5 text"/>
          <p:cNvSpPr txBox="1"/>
          <p:nvPr/>
        </p:nvSpPr>
        <p:spPr>
          <a:xfrm>
            <a:off x="10611612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have caught it sooner?</a:t>
            </a:r>
          </a:p>
        </p:txBody>
      </p:sp>
      <p:sp>
        <p:nvSpPr>
          <p:cNvPr id="22" name="IR loop"/>
          <p:cNvSpPr txBox="1"/>
          <p:nvPr/>
        </p:nvSpPr>
        <p:spPr>
          <a:xfrm>
            <a:off x="1257300" y="6812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Learn feeds back into Prepare.</a:t>
            </a:r>
          </a:p>
        </p:txBody>
      </p:sp>
      <p:sp>
        <p:nvSpPr>
          <p:cNvPr id="23" name="IR clocks"/>
          <p:cNvSpPr/>
          <p:nvPr/>
        </p:nvSpPr>
        <p:spPr>
          <a:xfrm>
            <a:off x="13030200" y="2697480"/>
            <a:ext cx="4000500" cy="4480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IR clocks text"/>
          <p:cNvSpPr txBox="1"/>
          <p:nvPr/>
        </p:nvSpPr>
        <p:spPr>
          <a:xfrm>
            <a:off x="13304520" y="2880360"/>
            <a:ext cx="347472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clocks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36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to its primary regulator, after determining a notification incident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4+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 disruption: service provider notifies the bank as soon as possible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SARs, customer notice, law enforcement, the cyber insurer</a:t>
            </a:r>
          </a:p>
        </p:txBody>
      </p:sp>
      <p:sp>
        <p:nvSpPr>
          <p:cNvPr id="25" name="IR banner"/>
          <p:cNvSpPr/>
          <p:nvPr/>
        </p:nvSpPr>
        <p:spPr>
          <a:xfrm>
            <a:off x="1257300" y="740664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IR banner text"/>
          <p:cNvSpPr txBox="1"/>
          <p:nvPr/>
        </p:nvSpPr>
        <p:spPr>
          <a:xfrm>
            <a:off x="1554480" y="745236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logs weren't kept, nobody can say what the attacker touched.</a:t>
            </a:r>
          </a:p>
        </p:txBody>
      </p:sp>
      <p:sp>
        <p:nvSpPr>
          <p:cNvPr id="27" name="IR sub"/>
          <p:cNvSpPr txBox="1"/>
          <p:nvPr/>
        </p:nvSpPr>
        <p:spPr>
          <a:xfrm>
            <a:off x="1257300" y="8321040"/>
            <a:ext cx="11338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That answer decides how many customers must be notified.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SP 800-61 Rev. 3 (2024); Computer-Security Incident Notification rule (2021); InTREx Support and Delivery (September 2023 version)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Incident Response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and Delivery  ·  Incident Response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13.  Evaluate the incident response plan. Consider whether the plan: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Defines responsibilities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Escalates to management and Board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Says when to notify regulators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Covers third-party incidents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Recovers critical systems</a:t>
            </a:r>
          </a:p>
        </p:txBody>
      </p:sp>
      <p:sp>
        <p:nvSpPr>
          <p:cNvPr id="18" name="Checkbox 6"/>
          <p:cNvSpPr/>
          <p:nvPr/>
        </p:nvSpPr>
        <p:spPr>
          <a:xfrm>
            <a:off x="5326379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Option 6"/>
          <p:cNvSpPr txBox="1"/>
          <p:nvPr/>
        </p:nvSpPr>
        <p:spPr>
          <a:xfrm>
            <a:off x="5783579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Requires periodic testing</a:t>
            </a:r>
          </a:p>
        </p:txBody>
      </p:sp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Tools and processes are in place to detect, alert, and trigger the incident response program.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the MSSP calls at 2 a.m., who answers?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incident response leads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 parameters, monitoring, MSSP reporting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Regulators within 36 hours; customers; law enforcement; SARs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parties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Incidents at service providers, and their notice to the bank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Testing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Exercises that include the MSSP and the core processor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Support and Delivery, procedure 13 (September 2023 version)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25: Looking Ahead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Networking Is Headed</a:t>
            </a:r>
          </a:p>
        </p:txBody>
      </p:sp>
      <p:sp>
        <p:nvSpPr>
          <p:cNvPr id="3" name="Trend 1"/>
          <p:cNvSpPr/>
          <p:nvPr/>
        </p:nvSpPr>
        <p:spPr>
          <a:xfrm>
            <a:off x="12573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Trend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2948940"/>
            <a:ext cx="777240" cy="777240"/>
          </a:xfrm>
          <a:prstGeom prst="rect">
            <a:avLst/>
          </a:prstGeom>
        </p:spPr>
      </p:pic>
      <p:sp>
        <p:nvSpPr>
          <p:cNvPr id="5" name="Trend 1 head"/>
          <p:cNvSpPr txBox="1"/>
          <p:nvPr/>
        </p:nvSpPr>
        <p:spPr>
          <a:xfrm>
            <a:off x="25374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SASE and SSE</a:t>
            </a:r>
          </a:p>
        </p:txBody>
      </p:sp>
      <p:sp>
        <p:nvSpPr>
          <p:cNvPr id="6" name="Trend 1 body"/>
          <p:cNvSpPr txBox="1"/>
          <p:nvPr/>
        </p:nvSpPr>
        <p:spPr>
          <a:xfrm>
            <a:off x="15773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delivered from the cloud, not a box per branch</a:t>
            </a:r>
          </a:p>
        </p:txBody>
      </p:sp>
      <p:sp>
        <p:nvSpPr>
          <p:cNvPr id="7" name="Trend 1 means"/>
          <p:cNvSpPr txBox="1"/>
          <p:nvPr/>
        </p:nvSpPr>
        <p:spPr>
          <a:xfrm>
            <a:off x="15773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The firewall becomes a vendor service</a:t>
            </a:r>
          </a:p>
        </p:txBody>
      </p:sp>
      <p:sp>
        <p:nvSpPr>
          <p:cNvPr id="8" name="Trend 2"/>
          <p:cNvSpPr/>
          <p:nvPr/>
        </p:nvSpPr>
        <p:spPr>
          <a:xfrm>
            <a:off x="66294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Trend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6580" y="2948940"/>
            <a:ext cx="777240" cy="777240"/>
          </a:xfrm>
          <a:prstGeom prst="rect">
            <a:avLst/>
          </a:prstGeom>
        </p:spPr>
      </p:pic>
      <p:sp>
        <p:nvSpPr>
          <p:cNvPr id="10" name="Trend 2 head"/>
          <p:cNvSpPr txBox="1"/>
          <p:nvPr/>
        </p:nvSpPr>
        <p:spPr>
          <a:xfrm>
            <a:off x="79095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Wi-Fi 7 and 6 GHz</a:t>
            </a:r>
          </a:p>
        </p:txBody>
      </p:sp>
      <p:sp>
        <p:nvSpPr>
          <p:cNvPr id="11" name="Trend 2 body"/>
          <p:cNvSpPr txBox="1"/>
          <p:nvPr/>
        </p:nvSpPr>
        <p:spPr>
          <a:xfrm>
            <a:off x="69494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faster wireless; 6 GHz requires WPA3</a:t>
            </a:r>
          </a:p>
        </p:txBody>
      </p:sp>
      <p:sp>
        <p:nvSpPr>
          <p:cNvPr id="12" name="Trend 2 means"/>
          <p:cNvSpPr txBox="1"/>
          <p:nvPr/>
        </p:nvSpPr>
        <p:spPr>
          <a:xfrm>
            <a:off x="69494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Older, weaker Wi-Fi security retires</a:t>
            </a:r>
          </a:p>
        </p:txBody>
      </p:sp>
      <p:sp>
        <p:nvSpPr>
          <p:cNvPr id="13" name="Trend 3"/>
          <p:cNvSpPr/>
          <p:nvPr/>
        </p:nvSpPr>
        <p:spPr>
          <a:xfrm>
            <a:off x="120015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Trend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298680" y="2948940"/>
            <a:ext cx="777240" cy="777240"/>
          </a:xfrm>
          <a:prstGeom prst="rect">
            <a:avLst/>
          </a:prstGeom>
        </p:spPr>
      </p:pic>
      <p:sp>
        <p:nvSpPr>
          <p:cNvPr id="15" name="Trend 3 head"/>
          <p:cNvSpPr txBox="1"/>
          <p:nvPr/>
        </p:nvSpPr>
        <p:spPr>
          <a:xfrm>
            <a:off x="132816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as primary</a:t>
            </a:r>
          </a:p>
        </p:txBody>
      </p:sp>
      <p:sp>
        <p:nvSpPr>
          <p:cNvPr id="16" name="Trend 3 body"/>
          <p:cNvSpPr txBox="1"/>
          <p:nvPr/>
        </p:nvSpPr>
        <p:spPr>
          <a:xfrm>
            <a:off x="123215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5G and fixed wireless for small branches and ATMs</a:t>
            </a:r>
          </a:p>
        </p:txBody>
      </p:sp>
      <p:sp>
        <p:nvSpPr>
          <p:cNvPr id="17" name="Trend 3 means"/>
          <p:cNvSpPr txBox="1"/>
          <p:nvPr/>
        </p:nvSpPr>
        <p:spPr>
          <a:xfrm>
            <a:off x="123215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Carrier diversity, cellular SLAs</a:t>
            </a:r>
          </a:p>
        </p:txBody>
      </p:sp>
      <p:sp>
        <p:nvSpPr>
          <p:cNvPr id="18" name="Trend 4"/>
          <p:cNvSpPr/>
          <p:nvPr/>
        </p:nvSpPr>
        <p:spPr>
          <a:xfrm>
            <a:off x="12573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Trend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54480" y="6332220"/>
            <a:ext cx="777240" cy="777240"/>
          </a:xfrm>
          <a:prstGeom prst="rect">
            <a:avLst/>
          </a:prstGeom>
        </p:spPr>
      </p:pic>
      <p:sp>
        <p:nvSpPr>
          <p:cNvPr id="20" name="Trend 4 head"/>
          <p:cNvSpPr txBox="1"/>
          <p:nvPr/>
        </p:nvSpPr>
        <p:spPr>
          <a:xfrm>
            <a:off x="25374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Satellite</a:t>
            </a:r>
          </a:p>
        </p:txBody>
      </p:sp>
      <p:sp>
        <p:nvSpPr>
          <p:cNvPr id="21" name="Trend 4 body"/>
          <p:cNvSpPr txBox="1"/>
          <p:nvPr/>
        </p:nvSpPr>
        <p:spPr>
          <a:xfrm>
            <a:off x="15773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Low-orbit service as backup, or primary in rural areas</a:t>
            </a:r>
          </a:p>
        </p:txBody>
      </p:sp>
      <p:sp>
        <p:nvSpPr>
          <p:cNvPr id="22" name="Trend 4 means"/>
          <p:cNvSpPr txBox="1"/>
          <p:nvPr/>
        </p:nvSpPr>
        <p:spPr>
          <a:xfrm>
            <a:off x="15773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real second path</a:t>
            </a:r>
          </a:p>
        </p:txBody>
      </p:sp>
      <p:sp>
        <p:nvSpPr>
          <p:cNvPr id="23" name="Trend 5"/>
          <p:cNvSpPr/>
          <p:nvPr/>
        </p:nvSpPr>
        <p:spPr>
          <a:xfrm>
            <a:off x="66294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Trend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26580" y="6332220"/>
            <a:ext cx="777240" cy="777240"/>
          </a:xfrm>
          <a:prstGeom prst="rect">
            <a:avLst/>
          </a:prstGeom>
        </p:spPr>
      </p:pic>
      <p:sp>
        <p:nvSpPr>
          <p:cNvPr id="25" name="Trend 5 head"/>
          <p:cNvSpPr txBox="1"/>
          <p:nvPr/>
        </p:nvSpPr>
        <p:spPr>
          <a:xfrm>
            <a:off x="79095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IPv6</a:t>
            </a:r>
          </a:p>
        </p:txBody>
      </p:sp>
      <p:sp>
        <p:nvSpPr>
          <p:cNvPr id="26" name="Trend 5 body"/>
          <p:cNvSpPr txBox="1"/>
          <p:nvPr/>
        </p:nvSpPr>
        <p:spPr>
          <a:xfrm>
            <a:off x="69494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networks and big clouds already run on it</a:t>
            </a:r>
          </a:p>
        </p:txBody>
      </p:sp>
      <p:sp>
        <p:nvSpPr>
          <p:cNvPr id="27" name="Trend 5 means"/>
          <p:cNvSpPr txBox="1"/>
          <p:nvPr/>
        </p:nvSpPr>
        <p:spPr>
          <a:xfrm>
            <a:off x="69494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Security tools must see it</a:t>
            </a:r>
          </a:p>
        </p:txBody>
      </p:sp>
      <p:sp>
        <p:nvSpPr>
          <p:cNvPr id="28" name="Trend 6"/>
          <p:cNvSpPr/>
          <p:nvPr/>
        </p:nvSpPr>
        <p:spPr>
          <a:xfrm>
            <a:off x="120015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Trend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298680" y="6332220"/>
            <a:ext cx="777240" cy="777240"/>
          </a:xfrm>
          <a:prstGeom prst="rect">
            <a:avLst/>
          </a:prstGeom>
        </p:spPr>
      </p:pic>
      <p:sp>
        <p:nvSpPr>
          <p:cNvPr id="30" name="Trend 6 head"/>
          <p:cNvSpPr txBox="1"/>
          <p:nvPr/>
        </p:nvSpPr>
        <p:spPr>
          <a:xfrm>
            <a:off x="132816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Automation</a:t>
            </a:r>
          </a:p>
        </p:txBody>
      </p:sp>
      <p:sp>
        <p:nvSpPr>
          <p:cNvPr id="31" name="Trend 6 body"/>
          <p:cNvSpPr txBox="1"/>
          <p:nvPr/>
        </p:nvSpPr>
        <p:spPr>
          <a:xfrm>
            <a:off x="123215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Networks configured by software, not by hand</a:t>
            </a:r>
          </a:p>
        </p:txBody>
      </p:sp>
      <p:sp>
        <p:nvSpPr>
          <p:cNvPr id="32" name="Trend 6 means"/>
          <p:cNvSpPr txBox="1"/>
          <p:nvPr/>
        </p:nvSpPr>
        <p:spPr>
          <a:xfrm>
            <a:off x="123215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bad change spreads everywhere at once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AI and the Network: Operations, Traffic, and Risk</a:t>
            </a:r>
          </a:p>
        </p:txBody>
      </p:sp>
      <p:sp>
        <p:nvSpPr>
          <p:cNvPr id="3" name="AI 1"/>
          <p:cNvSpPr/>
          <p:nvPr/>
        </p:nvSpPr>
        <p:spPr>
          <a:xfrm>
            <a:off x="12573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I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14700" y="2971800"/>
            <a:ext cx="914400" cy="914400"/>
          </a:xfrm>
          <a:prstGeom prst="rect">
            <a:avLst/>
          </a:prstGeom>
        </p:spPr>
      </p:pic>
      <p:sp>
        <p:nvSpPr>
          <p:cNvPr id="5" name="AI 1 text"/>
          <p:cNvSpPr txBox="1"/>
          <p:nvPr/>
        </p:nvSpPr>
        <p:spPr>
          <a:xfrm>
            <a:off x="15773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Running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AIOps: anomaly detection, root cause, suggested or automatic changes</a:t>
            </a:r>
          </a:p>
        </p:txBody>
      </p:sp>
      <p:sp>
        <p:nvSpPr>
          <p:cNvPr id="6" name="AI 1 q"/>
          <p:cNvSpPr/>
          <p:nvPr/>
        </p:nvSpPr>
        <p:spPr>
          <a:xfrm>
            <a:off x="15316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AI 1 q text"/>
          <p:cNvSpPr txBox="1"/>
          <p:nvPr/>
        </p:nvSpPr>
        <p:spPr>
          <a:xfrm>
            <a:off x="16687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approved the change the AI made?</a:t>
            </a:r>
          </a:p>
        </p:txBody>
      </p:sp>
      <p:sp>
        <p:nvSpPr>
          <p:cNvPr id="8" name="AI 2"/>
          <p:cNvSpPr/>
          <p:nvPr/>
        </p:nvSpPr>
        <p:spPr>
          <a:xfrm>
            <a:off x="66294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AI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0" y="2971800"/>
            <a:ext cx="914400" cy="914400"/>
          </a:xfrm>
          <a:prstGeom prst="rect">
            <a:avLst/>
          </a:prstGeom>
        </p:spPr>
      </p:pic>
      <p:sp>
        <p:nvSpPr>
          <p:cNvPr id="10" name="AI 2 text"/>
          <p:cNvSpPr txBox="1"/>
          <p:nvPr/>
        </p:nvSpPr>
        <p:spPr>
          <a:xfrm>
            <a:off x="69494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Traffic on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Chatbots and AI features in SaaS, all HTTPS to the cloud</a:t>
            </a:r>
          </a:p>
        </p:txBody>
      </p:sp>
      <p:sp>
        <p:nvSpPr>
          <p:cNvPr id="11" name="AI 2 q"/>
          <p:cNvSpPr/>
          <p:nvPr/>
        </p:nvSpPr>
        <p:spPr>
          <a:xfrm>
            <a:off x="69037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AI 2 q text"/>
          <p:cNvSpPr txBox="1"/>
          <p:nvPr/>
        </p:nvSpPr>
        <p:spPr>
          <a:xfrm>
            <a:off x="70408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Shadow AI: customer data pasted into unapproved tools</a:t>
            </a:r>
          </a:p>
        </p:txBody>
      </p:sp>
      <p:sp>
        <p:nvSpPr>
          <p:cNvPr id="13" name="AI 3"/>
          <p:cNvSpPr/>
          <p:nvPr/>
        </p:nvSpPr>
        <p:spPr>
          <a:xfrm>
            <a:off x="120015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AI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58900" y="2971800"/>
            <a:ext cx="914400" cy="914400"/>
          </a:xfrm>
          <a:prstGeom prst="rect">
            <a:avLst/>
          </a:prstGeom>
        </p:spPr>
      </p:pic>
      <p:sp>
        <p:nvSpPr>
          <p:cNvPr id="15" name="AI 3 text"/>
          <p:cNvSpPr txBox="1"/>
          <p:nvPr/>
        </p:nvSpPr>
        <p:spPr>
          <a:xfrm>
            <a:off x="123215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Risk, both directions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Attackers: better phishing, cloned voices. Defenders: AI in EDR and MSSP tools</a:t>
            </a:r>
          </a:p>
        </p:txBody>
      </p:sp>
      <p:sp>
        <p:nvSpPr>
          <p:cNvPr id="16" name="AI 3 q"/>
          <p:cNvSpPr/>
          <p:nvPr/>
        </p:nvSpPr>
        <p:spPr>
          <a:xfrm>
            <a:off x="122758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AI 3 q text"/>
          <p:cNvSpPr txBox="1"/>
          <p:nvPr/>
        </p:nvSpPr>
        <p:spPr>
          <a:xfrm>
            <a:off x="124129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Call-back verification matters more, not less</a:t>
            </a:r>
          </a:p>
        </p:txBody>
      </p:sp>
      <p:sp>
        <p:nvSpPr>
          <p:cNvPr id="18" name="AI ask 1"/>
          <p:cNvSpPr/>
          <p:nvPr/>
        </p:nvSpPr>
        <p:spPr>
          <a:xfrm>
            <a:off x="125730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AI ask 1 text"/>
          <p:cNvSpPr txBox="1"/>
          <p:nvPr/>
        </p:nvSpPr>
        <p:spPr>
          <a:xfrm>
            <a:off x="151333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AI use policy?</a:t>
            </a:r>
          </a:p>
        </p:txBody>
      </p:sp>
      <p:sp>
        <p:nvSpPr>
          <p:cNvPr id="20" name="AI ask 2"/>
          <p:cNvSpPr/>
          <p:nvPr/>
        </p:nvSpPr>
        <p:spPr>
          <a:xfrm>
            <a:off x="662178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AI ask 2 text"/>
          <p:cNvSpPr txBox="1"/>
          <p:nvPr/>
        </p:nvSpPr>
        <p:spPr>
          <a:xfrm>
            <a:off x="687781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AI tools do staff use?</a:t>
            </a:r>
          </a:p>
        </p:txBody>
      </p:sp>
      <p:sp>
        <p:nvSpPr>
          <p:cNvPr id="22" name="AI ask 3"/>
          <p:cNvSpPr/>
          <p:nvPr/>
        </p:nvSpPr>
        <p:spPr>
          <a:xfrm>
            <a:off x="1198626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I ask 3 text"/>
          <p:cNvSpPr txBox="1"/>
          <p:nvPr/>
        </p:nvSpPr>
        <p:spPr>
          <a:xfrm>
            <a:off x="12242291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vendors use AI on the bank's data?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Quantum Computing and Today's Encryption</a:t>
            </a:r>
          </a:p>
        </p:txBody>
      </p:sp>
      <p:sp>
        <p:nvSpPr>
          <p:cNvPr id="3" name="Q h1"/>
          <p:cNvSpPr txBox="1"/>
          <p:nvPr/>
        </p:nvSpPr>
        <p:spPr>
          <a:xfrm>
            <a:off x="125730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Algorithm</a:t>
            </a:r>
          </a:p>
        </p:txBody>
      </p:sp>
      <p:sp>
        <p:nvSpPr>
          <p:cNvPr id="4" name="Q h2"/>
          <p:cNvSpPr txBox="1"/>
          <p:nvPr/>
        </p:nvSpPr>
        <p:spPr>
          <a:xfrm>
            <a:off x="5257800" y="269748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Used for</a:t>
            </a:r>
          </a:p>
        </p:txBody>
      </p:sp>
      <p:sp>
        <p:nvSpPr>
          <p:cNvPr id="5" name="Q h3"/>
          <p:cNvSpPr txBox="1"/>
          <p:nvPr/>
        </p:nvSpPr>
        <p:spPr>
          <a:xfrm>
            <a:off x="118872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 large quantum computer</a:t>
            </a:r>
          </a:p>
        </p:txBody>
      </p:sp>
      <p:cxnSp>
        <p:nvCxnSpPr>
          <p:cNvPr id="6" name="Q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Q 1 a"/>
          <p:cNvSpPr txBox="1"/>
          <p:nvPr/>
        </p:nvSpPr>
        <p:spPr>
          <a:xfrm>
            <a:off x="1257300" y="333756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</a:t>
            </a:r>
          </a:p>
        </p:txBody>
      </p:sp>
      <p:sp>
        <p:nvSpPr>
          <p:cNvPr id="8" name="Q 1 u"/>
          <p:cNvSpPr txBox="1"/>
          <p:nvPr/>
        </p:nvSpPr>
        <p:spPr>
          <a:xfrm>
            <a:off x="5257800" y="333756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9" name="Q 1 eff"/>
          <p:cNvSpPr/>
          <p:nvPr/>
        </p:nvSpPr>
        <p:spPr>
          <a:xfrm>
            <a:off x="11887200" y="342900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0" name="Q rule 1"/>
          <p:cNvCxnSpPr/>
          <p:nvPr/>
        </p:nvCxnSpPr>
        <p:spPr>
          <a:xfrm>
            <a:off x="1257300" y="42336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Q 2 a"/>
          <p:cNvSpPr txBox="1"/>
          <p:nvPr/>
        </p:nvSpPr>
        <p:spPr>
          <a:xfrm>
            <a:off x="1257300" y="429768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Elliptic curve (ECC)</a:t>
            </a:r>
          </a:p>
        </p:txBody>
      </p:sp>
      <p:sp>
        <p:nvSpPr>
          <p:cNvPr id="12" name="Q 2 u"/>
          <p:cNvSpPr txBox="1"/>
          <p:nvPr/>
        </p:nvSpPr>
        <p:spPr>
          <a:xfrm>
            <a:off x="5257800" y="429768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13" name="Q 2 eff"/>
          <p:cNvSpPr/>
          <p:nvPr/>
        </p:nvSpPr>
        <p:spPr>
          <a:xfrm>
            <a:off x="11887200" y="438912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4" name="Q rule 2"/>
          <p:cNvCxnSpPr/>
          <p:nvPr/>
        </p:nvCxnSpPr>
        <p:spPr>
          <a:xfrm>
            <a:off x="1257300" y="519379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Q 3 a"/>
          <p:cNvSpPr txBox="1"/>
          <p:nvPr/>
        </p:nvSpPr>
        <p:spPr>
          <a:xfrm>
            <a:off x="1257300" y="525780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AES-128</a:t>
            </a:r>
          </a:p>
        </p:txBody>
      </p:sp>
      <p:sp>
        <p:nvSpPr>
          <p:cNvPr id="16" name="Q 3 u"/>
          <p:cNvSpPr txBox="1"/>
          <p:nvPr/>
        </p:nvSpPr>
        <p:spPr>
          <a:xfrm>
            <a:off x="5257800" y="525780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17" name="Q 3 eff"/>
          <p:cNvSpPr/>
          <p:nvPr/>
        </p:nvSpPr>
        <p:spPr>
          <a:xfrm>
            <a:off x="11887200" y="5349240"/>
            <a:ext cx="3108960" cy="658368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Weakened</a:t>
            </a:r>
          </a:p>
        </p:txBody>
      </p:sp>
      <p:cxnSp>
        <p:nvCxnSpPr>
          <p:cNvPr id="18" name="Q rule 3"/>
          <p:cNvCxnSpPr/>
          <p:nvPr/>
        </p:nvCxnSpPr>
        <p:spPr>
          <a:xfrm>
            <a:off x="1257300" y="615391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Q 4 a"/>
          <p:cNvSpPr txBox="1"/>
          <p:nvPr/>
        </p:nvSpPr>
        <p:spPr>
          <a:xfrm>
            <a:off x="1257300" y="62179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AES-256</a:t>
            </a:r>
          </a:p>
        </p:txBody>
      </p:sp>
      <p:sp>
        <p:nvSpPr>
          <p:cNvPr id="20" name="Q 4 u"/>
          <p:cNvSpPr txBox="1"/>
          <p:nvPr/>
        </p:nvSpPr>
        <p:spPr>
          <a:xfrm>
            <a:off x="5257800" y="621792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21" name="Q 4 eff"/>
          <p:cNvSpPr/>
          <p:nvPr/>
        </p:nvSpPr>
        <p:spPr>
          <a:xfrm>
            <a:off x="11887200" y="6309360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cxnSp>
        <p:nvCxnSpPr>
          <p:cNvPr id="22" name="Q rule 4"/>
          <p:cNvCxnSpPr/>
          <p:nvPr/>
        </p:nvCxnSpPr>
        <p:spPr>
          <a:xfrm>
            <a:off x="1257300" y="71140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Q 5 a"/>
          <p:cNvSpPr txBox="1"/>
          <p:nvPr/>
        </p:nvSpPr>
        <p:spPr>
          <a:xfrm>
            <a:off x="1257300" y="717804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SHA-256</a:t>
            </a:r>
          </a:p>
        </p:txBody>
      </p:sp>
      <p:sp>
        <p:nvSpPr>
          <p:cNvPr id="24" name="Q 5 u"/>
          <p:cNvSpPr txBox="1"/>
          <p:nvPr/>
        </p:nvSpPr>
        <p:spPr>
          <a:xfrm>
            <a:off x="5257800" y="717804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Hashing, integrity</a:t>
            </a:r>
          </a:p>
        </p:txBody>
      </p:sp>
      <p:sp>
        <p:nvSpPr>
          <p:cNvPr id="25" name="Q 5 eff"/>
          <p:cNvSpPr/>
          <p:nvPr/>
        </p:nvSpPr>
        <p:spPr>
          <a:xfrm>
            <a:off x="11887200" y="7269479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sp>
        <p:nvSpPr>
          <p:cNvPr id="26" name="Q when"/>
          <p:cNvSpPr/>
          <p:nvPr/>
        </p:nvSpPr>
        <p:spPr>
          <a:xfrm>
            <a:off x="1257300" y="8275320"/>
            <a:ext cx="15773400" cy="1097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Q when text"/>
          <p:cNvSpPr txBox="1"/>
          <p:nvPr/>
        </p:nvSpPr>
        <p:spPr>
          <a:xfrm>
            <a:off x="1554480" y="8321040"/>
            <a:ext cx="151790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When? Nobody knows. Government planning uses 2030–2035 to finish moving off RSA and ECC.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Harvest Now, Decrypt Later</a:t>
            </a:r>
          </a:p>
        </p:txBody>
      </p:sp>
      <p:sp>
        <p:nvSpPr>
          <p:cNvPr id="3" name="HN 1"/>
          <p:cNvSpPr/>
          <p:nvPr/>
        </p:nvSpPr>
        <p:spPr>
          <a:xfrm>
            <a:off x="1257300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H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48939" y="2926079"/>
            <a:ext cx="822960" cy="822960"/>
          </a:xfrm>
          <a:prstGeom prst="rect">
            <a:avLst/>
          </a:prstGeom>
        </p:spPr>
      </p:pic>
      <p:sp>
        <p:nvSpPr>
          <p:cNvPr id="5" name="HN 1 text"/>
          <p:cNvSpPr txBox="1"/>
          <p:nvPr/>
        </p:nvSpPr>
        <p:spPr>
          <a:xfrm>
            <a:off x="1485900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Today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records encrypted traffic: internet, VPN, vendor links</a:t>
            </a:r>
          </a:p>
        </p:txBody>
      </p:sp>
      <p:cxnSp>
        <p:nvCxnSpPr>
          <p:cNvPr id="6" name="HN arrow 1"/>
          <p:cNvCxnSpPr/>
          <p:nvPr/>
        </p:nvCxnSpPr>
        <p:spPr>
          <a:xfrm>
            <a:off x="5554979" y="4069080"/>
            <a:ext cx="1394461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N 2"/>
          <p:cNvSpPr/>
          <p:nvPr/>
        </p:nvSpPr>
        <p:spPr>
          <a:xfrm>
            <a:off x="704087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H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32520" y="2926079"/>
            <a:ext cx="822960" cy="822960"/>
          </a:xfrm>
          <a:prstGeom prst="rect">
            <a:avLst/>
          </a:prstGeom>
        </p:spPr>
      </p:pic>
      <p:sp>
        <p:nvSpPr>
          <p:cNvPr id="9" name="HN 2 text"/>
          <p:cNvSpPr txBox="1"/>
          <p:nvPr/>
        </p:nvSpPr>
        <p:spPr>
          <a:xfrm>
            <a:off x="726947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Years of storage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Kept until it can be read</a:t>
            </a:r>
          </a:p>
        </p:txBody>
      </p:sp>
      <p:cxnSp>
        <p:nvCxnSpPr>
          <p:cNvPr id="10" name="HN arrow 2"/>
          <p:cNvCxnSpPr/>
          <p:nvPr/>
        </p:nvCxnSpPr>
        <p:spPr>
          <a:xfrm>
            <a:off x="11338559" y="4069080"/>
            <a:ext cx="139446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N 3"/>
          <p:cNvSpPr/>
          <p:nvPr/>
        </p:nvSpPr>
        <p:spPr>
          <a:xfrm>
            <a:off x="1282445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H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516100" y="2926079"/>
            <a:ext cx="822960" cy="822960"/>
          </a:xfrm>
          <a:prstGeom prst="rect">
            <a:avLst/>
          </a:prstGeom>
        </p:spPr>
      </p:pic>
      <p:sp>
        <p:nvSpPr>
          <p:cNvPr id="13" name="HN 3 text"/>
          <p:cNvSpPr txBox="1"/>
          <p:nvPr/>
        </p:nvSpPr>
        <p:spPr>
          <a:xfrm>
            <a:off x="1305305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Quantum 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Recorded traffic decrypted</a:t>
            </a:r>
          </a:p>
        </p:txBody>
      </p:sp>
      <p:sp>
        <p:nvSpPr>
          <p:cNvPr id="14" name="HN q"/>
          <p:cNvSpPr txBox="1"/>
          <p:nvPr/>
        </p:nvSpPr>
        <p:spPr>
          <a:xfrm>
            <a:off x="1257300" y="56692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isn't when quantum arrives. It's how long the data must stay secret.</a:t>
            </a:r>
          </a:p>
        </p:txBody>
      </p:sp>
      <p:sp>
        <p:nvSpPr>
          <p:cNvPr id="15" name="Mosca head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Mosca's rule of thumb</a:t>
            </a:r>
          </a:p>
        </p:txBody>
      </p:sp>
      <p:sp>
        <p:nvSpPr>
          <p:cNvPr id="16" name="Mosca 1"/>
          <p:cNvSpPr/>
          <p:nvPr/>
        </p:nvSpPr>
        <p:spPr>
          <a:xfrm>
            <a:off x="1257300" y="6949440"/>
            <a:ext cx="5486400" cy="7772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the data must stay secret</a:t>
            </a:r>
          </a:p>
        </p:txBody>
      </p:sp>
      <p:sp>
        <p:nvSpPr>
          <p:cNvPr id="17" name="Mosca 2"/>
          <p:cNvSpPr/>
          <p:nvPr/>
        </p:nvSpPr>
        <p:spPr>
          <a:xfrm>
            <a:off x="6743700" y="6949440"/>
            <a:ext cx="3200400" cy="7772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migration takes</a:t>
            </a:r>
          </a:p>
        </p:txBody>
      </p:sp>
      <p:sp>
        <p:nvSpPr>
          <p:cNvPr id="18" name="Mosca q"/>
          <p:cNvSpPr/>
          <p:nvPr/>
        </p:nvSpPr>
        <p:spPr>
          <a:xfrm>
            <a:off x="1257300" y="7863840"/>
            <a:ext cx="6400800" cy="77724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Time until a quantum computer arrives</a:t>
            </a:r>
          </a:p>
        </p:txBody>
      </p:sp>
      <p:sp>
        <p:nvSpPr>
          <p:cNvPr id="19" name="Mosca late"/>
          <p:cNvSpPr txBox="1"/>
          <p:nvPr/>
        </p:nvSpPr>
        <p:spPr>
          <a:xfrm>
            <a:off x="8229600" y="781812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Top bar longer than the bottom? You're already late.</a:t>
            </a:r>
          </a:p>
        </p:txBody>
      </p:sp>
      <p:sp>
        <p:nvSpPr>
          <p:cNvPr id="20" name="Mosca examples"/>
          <p:cNvSpPr txBox="1"/>
          <p:nvPr/>
        </p:nvSpPr>
        <p:spPr>
          <a:xfrm>
            <a:off x="1257300" y="882396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card number: a few years.  A Social Security number or a mortgage file: decades.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Post-Quantum Cryptography: What Banks Will Need to Do</a:t>
            </a:r>
          </a:p>
        </p:txBody>
      </p:sp>
      <p:sp>
        <p:nvSpPr>
          <p:cNvPr id="3" name="PQ st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standards (NIST, August 2024)</a:t>
            </a:r>
          </a:p>
        </p:txBody>
      </p:sp>
      <p:sp>
        <p:nvSpPr>
          <p:cNvPr id="4" name="PQ std 1"/>
          <p:cNvSpPr/>
          <p:nvPr/>
        </p:nvSpPr>
        <p:spPr>
          <a:xfrm>
            <a:off x="125730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PQ std 1 text"/>
          <p:cNvSpPr txBox="1"/>
          <p:nvPr/>
        </p:nvSpPr>
        <p:spPr>
          <a:xfrm>
            <a:off x="134874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203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ML-KEM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Key exchange</a:t>
            </a:r>
          </a:p>
        </p:txBody>
      </p:sp>
      <p:sp>
        <p:nvSpPr>
          <p:cNvPr id="6" name="PQ std 2"/>
          <p:cNvSpPr/>
          <p:nvPr/>
        </p:nvSpPr>
        <p:spPr>
          <a:xfrm>
            <a:off x="3863339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PQ std 2 text"/>
          <p:cNvSpPr txBox="1"/>
          <p:nvPr/>
        </p:nvSpPr>
        <p:spPr>
          <a:xfrm>
            <a:off x="3954779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204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Signatures</a:t>
            </a:r>
          </a:p>
        </p:txBody>
      </p:sp>
      <p:sp>
        <p:nvSpPr>
          <p:cNvPr id="8" name="PQ std 3"/>
          <p:cNvSpPr/>
          <p:nvPr/>
        </p:nvSpPr>
        <p:spPr>
          <a:xfrm>
            <a:off x="646938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Q std 3 text"/>
          <p:cNvSpPr txBox="1"/>
          <p:nvPr/>
        </p:nvSpPr>
        <p:spPr>
          <a:xfrm>
            <a:off x="656082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205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SLH-DSA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Backup signatures</a:t>
            </a:r>
          </a:p>
        </p:txBody>
      </p:sp>
      <p:sp>
        <p:nvSpPr>
          <p:cNvPr id="10" name="PQ tl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timeline (NIST IR 8547, draft)</a:t>
            </a:r>
          </a:p>
        </p:txBody>
      </p:sp>
      <p:cxnSp>
        <p:nvCxnSpPr>
          <p:cNvPr id="11" name="PQ tl line"/>
          <p:cNvCxnSpPr/>
          <p:nvPr/>
        </p:nvCxnSpPr>
        <p:spPr>
          <a:xfrm>
            <a:off x="9692640" y="4114800"/>
            <a:ext cx="704088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Q tl 2024"/>
          <p:cNvSpPr/>
          <p:nvPr/>
        </p:nvSpPr>
        <p:spPr>
          <a:xfrm>
            <a:off x="9765792" y="391363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PQ tl 2024 y"/>
          <p:cNvSpPr txBox="1"/>
          <p:nvPr/>
        </p:nvSpPr>
        <p:spPr>
          <a:xfrm>
            <a:off x="896112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2024</a:t>
            </a:r>
          </a:p>
        </p:txBody>
      </p:sp>
      <p:sp>
        <p:nvSpPr>
          <p:cNvPr id="14" name="PQ tl 2024 s"/>
          <p:cNvSpPr txBox="1"/>
          <p:nvPr/>
        </p:nvSpPr>
        <p:spPr>
          <a:xfrm>
            <a:off x="877824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Standards published</a:t>
            </a:r>
          </a:p>
        </p:txBody>
      </p:sp>
      <p:sp>
        <p:nvSpPr>
          <p:cNvPr id="15" name="PQ tl 2030"/>
          <p:cNvSpPr/>
          <p:nvPr/>
        </p:nvSpPr>
        <p:spPr>
          <a:xfrm>
            <a:off x="13011911" y="391363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Q tl 2030 y"/>
          <p:cNvSpPr txBox="1"/>
          <p:nvPr/>
        </p:nvSpPr>
        <p:spPr>
          <a:xfrm>
            <a:off x="1220724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2030</a:t>
            </a:r>
          </a:p>
        </p:txBody>
      </p:sp>
      <p:sp>
        <p:nvSpPr>
          <p:cNvPr id="17" name="PQ tl 2030 s"/>
          <p:cNvSpPr txBox="1"/>
          <p:nvPr/>
        </p:nvSpPr>
        <p:spPr>
          <a:xfrm>
            <a:off x="12024359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deprecated</a:t>
            </a:r>
          </a:p>
        </p:txBody>
      </p:sp>
      <p:sp>
        <p:nvSpPr>
          <p:cNvPr id="18" name="PQ tl 2035"/>
          <p:cNvSpPr/>
          <p:nvPr/>
        </p:nvSpPr>
        <p:spPr>
          <a:xfrm>
            <a:off x="15892272" y="3913632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Q tl 2035 y"/>
          <p:cNvSpPr txBox="1"/>
          <p:nvPr/>
        </p:nvSpPr>
        <p:spPr>
          <a:xfrm>
            <a:off x="1508760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2035</a:t>
            </a:r>
          </a:p>
        </p:txBody>
      </p:sp>
      <p:sp>
        <p:nvSpPr>
          <p:cNvPr id="20" name="PQ tl 2035 s"/>
          <p:cNvSpPr txBox="1"/>
          <p:nvPr/>
        </p:nvSpPr>
        <p:spPr>
          <a:xfrm>
            <a:off x="1490472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disallowed</a:t>
            </a:r>
          </a:p>
        </p:txBody>
      </p:sp>
      <p:sp>
        <p:nvSpPr>
          <p:cNvPr id="21" name="PQ already"/>
          <p:cNvSpPr/>
          <p:nvPr/>
        </p:nvSpPr>
        <p:spPr>
          <a:xfrm>
            <a:off x="1257300" y="534924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Q already text"/>
          <p:cNvSpPr txBox="1"/>
          <p:nvPr/>
        </p:nvSpPr>
        <p:spPr>
          <a:xfrm>
            <a:off x="1554480" y="5394959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Already happening: browsers and big cloud providers use hybrid post-quantum key exchange by default.</a:t>
            </a:r>
          </a:p>
        </p:txBody>
      </p:sp>
      <p:sp>
        <p:nvSpPr>
          <p:cNvPr id="23" name="PQ do head"/>
          <p:cNvSpPr txBox="1"/>
          <p:nvPr/>
        </p:nvSpPr>
        <p:spPr>
          <a:xfrm>
            <a:off x="1257300" y="626364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banks will need to do</a:t>
            </a:r>
          </a:p>
        </p:txBody>
      </p:sp>
      <p:sp>
        <p:nvSpPr>
          <p:cNvPr id="24" name="PQ do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PQ do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RSA and ECC live: VPNs, TLS, certificates, HSMs, vendor links</a:t>
            </a:r>
          </a:p>
        </p:txBody>
      </p:sp>
      <p:sp>
        <p:nvSpPr>
          <p:cNvPr id="26" name="PQ do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PQ do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vendors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Core, digital banking, VPN and firewall: what's the roadmap?</a:t>
            </a:r>
          </a:p>
        </p:txBody>
      </p:sp>
      <p:sp>
        <p:nvSpPr>
          <p:cNvPr id="28" name="PQ do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PQ do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 agility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Systems that can swap algorithms without being replaced</a:t>
            </a:r>
          </a:p>
        </p:txBody>
      </p:sp>
      <p:sp>
        <p:nvSpPr>
          <p:cNvPr id="30" name="PQ do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PQ do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where it counts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Long-lived data and links that cross the internet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FIPS 203, 204, 205 (August 2024); NIST IR 8547 initial public draft (November 2024)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26: Fintech and the Changing Bank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C913-D106-E44D-8E1D-B8F34A7C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9E68C-D038-DF46-926A-C1FBBD00D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4165849" cy="7496969"/>
          </a:xfrm>
        </p:spPr>
        <p:txBody>
          <a:bodyPr>
            <a:normAutofit/>
          </a:bodyPr>
          <a:lstStyle/>
          <a:p>
            <a:r>
              <a:rPr lang="en-US"/>
              <a:t>Not just for the big banks any more</a:t>
            </a:r>
          </a:p>
          <a:p>
            <a:r>
              <a:rPr lang="en-US"/>
              <a:t>Innovation available to everyone in many areas</a:t>
            </a:r>
          </a:p>
          <a:p>
            <a:pPr lvl="1"/>
            <a:r>
              <a:rPr lang="en-US"/>
              <a:t>Payments - Apple Pay, Google Pay, and many other Pays</a:t>
            </a:r>
          </a:p>
          <a:p>
            <a:pPr lvl="2"/>
            <a:r>
              <a:rPr lang="en-US"/>
              <a:t>How much do banks lose to Square, PayPal and Venmo?</a:t>
            </a:r>
          </a:p>
          <a:p>
            <a:pPr lvl="1"/>
            <a:r>
              <a:rPr lang="en-US"/>
              <a:t>Microsoft Cloud for Financial Services and other clouds</a:t>
            </a:r>
          </a:p>
          <a:p>
            <a:pPr lvl="1"/>
            <a:r>
              <a:rPr lang="en-US"/>
              <a:t>Blockchain – bitcoin and other cryptocurrencies</a:t>
            </a:r>
          </a:p>
          <a:p>
            <a:pPr lvl="1"/>
            <a:r>
              <a:rPr lang="en-US"/>
              <a:t>Crowdfunding – </a:t>
            </a:r>
            <a:r>
              <a:rPr lang="en-US" err="1"/>
              <a:t>Patreon</a:t>
            </a:r>
            <a:r>
              <a:rPr lang="en-US"/>
              <a:t>, Kickstarter, </a:t>
            </a:r>
            <a:r>
              <a:rPr lang="en-US" err="1"/>
              <a:t>Gofundme</a:t>
            </a:r>
            <a:endParaRPr lang="en-US"/>
          </a:p>
          <a:p>
            <a:pPr lvl="1"/>
            <a:r>
              <a:rPr lang="en-US"/>
              <a:t>Insurance – disruptive companies and new policies</a:t>
            </a:r>
          </a:p>
          <a:p>
            <a:r>
              <a:rPr lang="en-US"/>
              <a:t>As these compete, they seek to partner</a:t>
            </a:r>
          </a:p>
          <a:p>
            <a:r>
              <a:rPr lang="en-US"/>
              <a:t>Cloud platforms and APIs make partnering easy</a:t>
            </a:r>
          </a:p>
          <a:p>
            <a:pPr lvl="1"/>
            <a:r>
              <a:rPr lang="en-US"/>
              <a:t>Even small banks can get in on the action</a:t>
            </a: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E3307D4E-CDDB-474F-A5C3-FB01BD843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82928" y="6846670"/>
            <a:ext cx="1175882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9" name="Picture 5">
            <a:hlinkClick r:id="rId4"/>
            <a:extLst>
              <a:ext uri="{FF2B5EF4-FFF2-40B4-BE49-F238E27FC236}">
                <a16:creationId xmlns:a16="http://schemas.microsoft.com/office/drawing/2014/main" id="{377C4DB4-E36A-EF46-BCE2-DCF6FE452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52925" y="6489795"/>
            <a:ext cx="1532757" cy="153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3" name="Picture 9" descr="Google Pay Logo Vector">
            <a:extLst>
              <a:ext uri="{FF2B5EF4-FFF2-40B4-BE49-F238E27FC236}">
                <a16:creationId xmlns:a16="http://schemas.microsoft.com/office/drawing/2014/main" id="{51A8FE98-855C-4444-A77B-BDE346FA9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096008" y="3526154"/>
            <a:ext cx="2076722" cy="83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5" name="Picture 11">
            <a:extLst>
              <a:ext uri="{FF2B5EF4-FFF2-40B4-BE49-F238E27FC236}">
                <a16:creationId xmlns:a16="http://schemas.microsoft.com/office/drawing/2014/main" id="{7F9FB3AD-9F7C-F04E-B7C1-065D8332D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06251" y="1751293"/>
            <a:ext cx="2451588" cy="2451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7" name="Picture 13">
            <a:extLst>
              <a:ext uri="{FF2B5EF4-FFF2-40B4-BE49-F238E27FC236}">
                <a16:creationId xmlns:a16="http://schemas.microsoft.com/office/drawing/2014/main" id="{88AF8A99-E979-D34D-9C94-E2378FB69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139320" y="8022552"/>
            <a:ext cx="2091849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9" name="Picture 15">
            <a:extLst>
              <a:ext uri="{FF2B5EF4-FFF2-40B4-BE49-F238E27FC236}">
                <a16:creationId xmlns:a16="http://schemas.microsoft.com/office/drawing/2014/main" id="{CB82A7E8-1DA3-674D-B621-152658D1F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678742" y="4372355"/>
            <a:ext cx="1250388" cy="1250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1" name="Picture 17">
            <a:hlinkClick r:id="rId10"/>
            <a:extLst>
              <a:ext uri="{FF2B5EF4-FFF2-40B4-BE49-F238E27FC236}">
                <a16:creationId xmlns:a16="http://schemas.microsoft.com/office/drawing/2014/main" id="{D118D867-986E-2E47-8D6D-2690D3E6C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975378" y="4832109"/>
            <a:ext cx="1615100" cy="193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49790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C61-E7DB-D74C-B8CC-C0BA5D92D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6DBA-8601-0E4F-820D-440E209B4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17100" cy="6967198"/>
          </a:xfrm>
        </p:spPr>
        <p:txBody>
          <a:bodyPr/>
          <a:lstStyle/>
          <a:p>
            <a:r>
              <a:rPr lang="en-US"/>
              <a:t>Small banks often get bought, or merge with other small banks</a:t>
            </a:r>
          </a:p>
          <a:p>
            <a:pPr lvl="1"/>
            <a:r>
              <a:rPr lang="en-US"/>
              <a:t>Networks have made this inevitable</a:t>
            </a:r>
          </a:p>
          <a:p>
            <a:r>
              <a:rPr lang="en-US"/>
              <a:t>When companies come together, their networks come together too</a:t>
            </a:r>
          </a:p>
          <a:p>
            <a:r>
              <a:rPr lang="en-US"/>
              <a:t>Connections must be made between</a:t>
            </a:r>
          </a:p>
          <a:p>
            <a:pPr lvl="1"/>
            <a:r>
              <a:rPr lang="en-US"/>
              <a:t>Systems</a:t>
            </a:r>
          </a:p>
          <a:p>
            <a:pPr lvl="1"/>
            <a:r>
              <a:rPr lang="en-US"/>
              <a:t>Devices</a:t>
            </a:r>
          </a:p>
          <a:p>
            <a:pPr lvl="1"/>
            <a:r>
              <a:rPr lang="en-US"/>
              <a:t>Networks</a:t>
            </a:r>
          </a:p>
          <a:p>
            <a:pPr lvl="1"/>
            <a:r>
              <a:rPr lang="en-US"/>
              <a:t>Policies</a:t>
            </a:r>
          </a:p>
          <a:p>
            <a:pPr lvl="1"/>
            <a:r>
              <a:rPr lang="en-US"/>
              <a:t>Services</a:t>
            </a:r>
          </a:p>
        </p:txBody>
      </p:sp>
      <p:pic>
        <p:nvPicPr>
          <p:cNvPr id="7170" name="Picture 2">
            <a:hlinkClick r:id="rId3"/>
            <a:extLst>
              <a:ext uri="{FF2B5EF4-FFF2-40B4-BE49-F238E27FC236}">
                <a16:creationId xmlns:a16="http://schemas.microsoft.com/office/drawing/2014/main" id="{F9B41EB4-1B3D-D540-8B61-5A207D4F2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74400" y="3649662"/>
            <a:ext cx="6343096" cy="366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50662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27: Course 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5: Capstone</a:t>
            </a:r>
          </a:p>
        </p:txBody>
      </p:sp>
      <p:sp>
        <p:nvSpPr>
          <p:cNvPr id="3" name="Ex5 num 1"/>
          <p:cNvSpPr/>
          <p:nvPr/>
        </p:nvSpPr>
        <p:spPr>
          <a:xfrm>
            <a:off x="1257300" y="27889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5 step 1"/>
          <p:cNvSpPr txBox="1"/>
          <p:nvPr/>
        </p:nvSpPr>
        <p:spPr>
          <a:xfrm>
            <a:off x="2194560" y="26974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Walk the diagram, layer by layer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LAN, WAN, cloud, vendors, applications. Mark anything new.</a:t>
            </a:r>
          </a:p>
        </p:txBody>
      </p:sp>
      <p:sp>
        <p:nvSpPr>
          <p:cNvPr id="5" name="Ex5 num 2"/>
          <p:cNvSpPr/>
          <p:nvPr/>
        </p:nvSpPr>
        <p:spPr>
          <a:xfrm>
            <a:off x="1257300" y="43891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5 step 2"/>
          <p:cNvSpPr txBox="1"/>
          <p:nvPr/>
        </p:nvSpPr>
        <p:spPr>
          <a:xfrm>
            <a:off x="2194560" y="42976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Pick the three biggest risks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for the whole bank, not three per layer</a:t>
            </a:r>
          </a:p>
        </p:txBody>
      </p:sp>
      <p:sp>
        <p:nvSpPr>
          <p:cNvPr id="7" name="Ex5 num 3"/>
          <p:cNvSpPr/>
          <p:nvPr/>
        </p:nvSpPr>
        <p:spPr>
          <a:xfrm>
            <a:off x="1257300" y="59893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5 step 3"/>
          <p:cNvSpPr txBox="1"/>
          <p:nvPr/>
        </p:nvSpPr>
        <p:spPr>
          <a:xfrm>
            <a:off x="2194560" y="58978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the question for each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What you'd ask management, and where InTREx takes you</a:t>
            </a:r>
          </a:p>
        </p:txBody>
      </p:sp>
      <p:sp>
        <p:nvSpPr>
          <p:cNvPr id="9" name="Ex5 num 4"/>
          <p:cNvSpPr/>
          <p:nvPr/>
        </p:nvSpPr>
        <p:spPr>
          <a:xfrm>
            <a:off x="1257300" y="7589519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5 step 4"/>
          <p:cNvSpPr txBox="1"/>
          <p:nvPr/>
        </p:nvSpPr>
        <p:spPr>
          <a:xfrm>
            <a:off x="2194560" y="7498079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minutes per table</a:t>
            </a:r>
          </a:p>
        </p:txBody>
      </p:sp>
      <p:sp>
        <p:nvSpPr>
          <p:cNvPr id="11" name="Ex5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Ex5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35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15 report-out</a:t>
            </a:r>
          </a:p>
        </p:txBody>
      </p:sp>
      <p:sp>
        <p:nvSpPr>
          <p:cNvPr id="13" name="Ex5 need panel"/>
          <p:cNvSpPr/>
          <p:nvPr/>
        </p:nvSpPr>
        <p:spPr>
          <a:xfrm>
            <a:off x="11292840" y="4754880"/>
            <a:ext cx="57378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5 need"/>
          <p:cNvSpPr txBox="1"/>
          <p:nvPr/>
        </p:nvSpPr>
        <p:spPr>
          <a:xfrm>
            <a:off x="11612880" y="48920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diagram, with all the week's annotations</a:t>
            </a:r>
          </a:p>
        </p:txBody>
      </p:sp>
      <p:sp>
        <p:nvSpPr>
          <p:cNvPr id="15" name="Ex5 out panel"/>
          <p:cNvSpPr/>
          <p:nvPr/>
        </p:nvSpPr>
        <p:spPr>
          <a:xfrm>
            <a:off x="11292840" y="6812280"/>
            <a:ext cx="5737860" cy="25603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5 out"/>
          <p:cNvSpPr txBox="1"/>
          <p:nvPr/>
        </p:nvSpPr>
        <p:spPr>
          <a:xfrm>
            <a:off x="11612880" y="6949440"/>
            <a:ext cx="50977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three risks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you'd ask for each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InTREx would take you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Network Diagram Review, Revisited</a:t>
            </a:r>
          </a:p>
        </p:txBody>
      </p:sp>
      <p:sp>
        <p:nvSpPr>
          <p:cNvPr id="3" name="Diagram frame"/>
          <p:cNvSpPr/>
          <p:nvPr/>
        </p:nvSpPr>
        <p:spPr>
          <a:xfrm>
            <a:off x="1257300" y="2697480"/>
            <a:ext cx="1152144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iagram hint"/>
          <p:cNvSpPr txBox="1"/>
          <p:nvPr/>
        </p:nvSpPr>
        <p:spPr>
          <a:xfrm>
            <a:off x="1257300" y="5577840"/>
            <a:ext cx="11521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1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Photo of a table's annotated diagram goes here</a:t>
            </a:r>
          </a:p>
        </p:txBody>
      </p:sp>
      <p:sp>
        <p:nvSpPr>
          <p:cNvPr id="5" name="Legend head"/>
          <p:cNvSpPr txBox="1"/>
          <p:nvPr/>
        </p:nvSpPr>
        <p:spPr>
          <a:xfrm>
            <a:off x="1316736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week's layers</a:t>
            </a:r>
          </a:p>
        </p:txBody>
      </p:sp>
      <p:sp>
        <p:nvSpPr>
          <p:cNvPr id="6" name="Legend 1 swatch"/>
          <p:cNvSpPr/>
          <p:nvPr/>
        </p:nvSpPr>
        <p:spPr>
          <a:xfrm>
            <a:off x="13167360" y="3429000"/>
            <a:ext cx="457200" cy="8229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Legend 1"/>
          <p:cNvSpPr txBox="1"/>
          <p:nvPr/>
        </p:nvSpPr>
        <p:spPr>
          <a:xfrm>
            <a:off x="13807440" y="333756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 and Wi-Fi</a:t>
            </a:r>
          </a:p>
        </p:txBody>
      </p:sp>
      <p:sp>
        <p:nvSpPr>
          <p:cNvPr id="8" name="Legend 2 swatch"/>
          <p:cNvSpPr/>
          <p:nvPr/>
        </p:nvSpPr>
        <p:spPr>
          <a:xfrm>
            <a:off x="13167360" y="4617720"/>
            <a:ext cx="457200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Legend 2"/>
          <p:cNvSpPr txBox="1"/>
          <p:nvPr/>
        </p:nvSpPr>
        <p:spPr>
          <a:xfrm>
            <a:off x="13807440" y="45262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 and internet</a:t>
            </a:r>
          </a:p>
        </p:txBody>
      </p:sp>
      <p:sp>
        <p:nvSpPr>
          <p:cNvPr id="10" name="Legend 3 swatch"/>
          <p:cNvSpPr/>
          <p:nvPr/>
        </p:nvSpPr>
        <p:spPr>
          <a:xfrm>
            <a:off x="13167360" y="5806440"/>
            <a:ext cx="457200" cy="8229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Legend 3"/>
          <p:cNvSpPr txBox="1"/>
          <p:nvPr/>
        </p:nvSpPr>
        <p:spPr>
          <a:xfrm>
            <a:off x="13807440" y="571500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Cloud and vendors</a:t>
            </a:r>
          </a:p>
        </p:txBody>
      </p:sp>
      <p:sp>
        <p:nvSpPr>
          <p:cNvPr id="12" name="Legend 4 swatch"/>
          <p:cNvSpPr/>
          <p:nvPr/>
        </p:nvSpPr>
        <p:spPr>
          <a:xfrm>
            <a:off x="13167360" y="6995160"/>
            <a:ext cx="457200" cy="82296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Legend 4"/>
          <p:cNvSpPr txBox="1"/>
          <p:nvPr/>
        </p:nvSpPr>
        <p:spPr>
          <a:xfrm>
            <a:off x="13807440" y="690372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Applications and DNS</a:t>
            </a:r>
          </a:p>
        </p:txBody>
      </p:sp>
      <p:sp>
        <p:nvSpPr>
          <p:cNvPr id="14" name="Legend 5 swatch"/>
          <p:cNvSpPr/>
          <p:nvPr/>
        </p:nvSpPr>
        <p:spPr>
          <a:xfrm>
            <a:off x="13167360" y="8183879"/>
            <a:ext cx="45720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Legend 5"/>
          <p:cNvSpPr txBox="1"/>
          <p:nvPr/>
        </p:nvSpPr>
        <p:spPr>
          <a:xfrm>
            <a:off x="13807440" y="809244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biggest risks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Branch to Cloud in Five Days: Course Review</a:t>
            </a:r>
          </a:p>
        </p:txBody>
      </p:sp>
      <p:cxnSp>
        <p:nvCxnSpPr>
          <p:cNvPr id="3" name="Review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Day 1 text"/>
          <p:cNvSpPr txBox="1"/>
          <p:nvPr/>
        </p:nvSpPr>
        <p:spPr>
          <a:xfrm>
            <a:off x="1257300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LANs, Wi-Fi, segmentation</a:t>
            </a:r>
          </a:p>
        </p:txBody>
      </p:sp>
      <p:sp>
        <p:nvSpPr>
          <p:cNvPr id="7" name="Day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9" name="Day 2 text"/>
          <p:cNvSpPr txBox="1"/>
          <p:nvPr/>
        </p:nvSpPr>
        <p:spPr>
          <a:xfrm>
            <a:off x="4475988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WANs, internet, backup paths, remote access</a:t>
            </a:r>
          </a:p>
        </p:txBody>
      </p:sp>
      <p:sp>
        <p:nvSpPr>
          <p:cNvPr id="10" name="Day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2" name="Day 3 text"/>
          <p:cNvSpPr txBox="1"/>
          <p:nvPr/>
        </p:nvSpPr>
        <p:spPr>
          <a:xfrm>
            <a:off x="7694675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Crypto, virtualization, cloud, vendor risk</a:t>
            </a:r>
          </a:p>
        </p:txBody>
      </p:sp>
      <p:sp>
        <p:nvSpPr>
          <p:cNvPr id="13" name="Day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15" name="Day 4 text"/>
          <p:cNvSpPr txBox="1"/>
          <p:nvPr/>
        </p:nvSpPr>
        <p:spPr>
          <a:xfrm>
            <a:off x="10913364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applications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SaaS, DNS, voice, IoT, risk</a:t>
            </a:r>
          </a:p>
        </p:txBody>
      </p:sp>
      <p:sp>
        <p:nvSpPr>
          <p:cNvPr id="16" name="Day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18" name="Day 5 text"/>
          <p:cNvSpPr txBox="1"/>
          <p:nvPr/>
        </p:nvSpPr>
        <p:spPr>
          <a:xfrm>
            <a:off x="14132052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next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Looking ahead, capstone</a:t>
            </a:r>
          </a:p>
        </p:txBody>
      </p:sp>
      <p:sp>
        <p:nvSpPr>
          <p:cNvPr id="19" name="Five head"/>
          <p:cNvSpPr txBox="1"/>
          <p:nvPr/>
        </p:nvSpPr>
        <p:spPr>
          <a:xfrm>
            <a:off x="1257300" y="5852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questions for any network, at any bank</a:t>
            </a:r>
          </a:p>
        </p:txBody>
      </p:sp>
      <p:sp>
        <p:nvSpPr>
          <p:cNvPr id="20" name="Five 1"/>
          <p:cNvSpPr/>
          <p:nvPr/>
        </p:nvSpPr>
        <p:spPr>
          <a:xfrm>
            <a:off x="1257300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ve 1 text"/>
          <p:cNvSpPr txBox="1"/>
          <p:nvPr/>
        </p:nvSpPr>
        <p:spPr>
          <a:xfrm>
            <a:off x="1513332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connections?</a:t>
            </a:r>
          </a:p>
        </p:txBody>
      </p:sp>
      <p:sp>
        <p:nvSpPr>
          <p:cNvPr id="22" name="Five 2"/>
          <p:cNvSpPr/>
          <p:nvPr/>
        </p:nvSpPr>
        <p:spPr>
          <a:xfrm>
            <a:off x="4475988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Five 2 text"/>
          <p:cNvSpPr txBox="1"/>
          <p:nvPr/>
        </p:nvSpPr>
        <p:spPr>
          <a:xfrm>
            <a:off x="4732020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manages each one?</a:t>
            </a:r>
          </a:p>
        </p:txBody>
      </p:sp>
      <p:sp>
        <p:nvSpPr>
          <p:cNvPr id="24" name="Five 3"/>
          <p:cNvSpPr/>
          <p:nvPr/>
        </p:nvSpPr>
        <p:spPr>
          <a:xfrm>
            <a:off x="7694675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Five 3 text"/>
          <p:cNvSpPr txBox="1"/>
          <p:nvPr/>
        </p:nvSpPr>
        <p:spPr>
          <a:xfrm>
            <a:off x="7950707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separated from what?</a:t>
            </a:r>
          </a:p>
        </p:txBody>
      </p:sp>
      <p:sp>
        <p:nvSpPr>
          <p:cNvPr id="26" name="Five 4"/>
          <p:cNvSpPr/>
          <p:nvPr/>
        </p:nvSpPr>
        <p:spPr>
          <a:xfrm>
            <a:off x="10913364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Five 4 text"/>
          <p:cNvSpPr txBox="1"/>
          <p:nvPr/>
        </p:nvSpPr>
        <p:spPr>
          <a:xfrm>
            <a:off x="11169396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encrypted?</a:t>
            </a:r>
          </a:p>
        </p:txBody>
      </p:sp>
      <p:sp>
        <p:nvSpPr>
          <p:cNvPr id="28" name="Five 5"/>
          <p:cNvSpPr/>
          <p:nvPr/>
        </p:nvSpPr>
        <p:spPr>
          <a:xfrm>
            <a:off x="14132052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Five 5 text"/>
          <p:cNvSpPr txBox="1"/>
          <p:nvPr/>
        </p:nvSpPr>
        <p:spPr>
          <a:xfrm>
            <a:off x="14388084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it fails?</a:t>
            </a:r>
          </a:p>
        </p:txBody>
      </p:sp>
      <p:sp>
        <p:nvSpPr>
          <p:cNvPr id="30" name="Review banner"/>
          <p:cNvSpPr/>
          <p:nvPr/>
        </p:nvSpPr>
        <p:spPr>
          <a:xfrm>
            <a:off x="1257300" y="8183879"/>
            <a:ext cx="15773400" cy="1188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Review banner text"/>
          <p:cNvSpPr txBox="1"/>
          <p:nvPr/>
        </p:nvSpPr>
        <p:spPr>
          <a:xfrm>
            <a:off x="1554480" y="8229600"/>
            <a:ext cx="15179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network used to support the bank. Now it is the bank.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>
          <a:xfrm>
            <a:off x="2286000" y="2788445"/>
            <a:ext cx="13716000" cy="3581400"/>
          </a:xfrm>
        </p:spPr>
        <p:txBody>
          <a:bodyPr>
            <a:normAutofit/>
          </a:bodyPr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CBB715-8F5F-6841-B189-CFB0E023824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53450" y="1683545"/>
            <a:ext cx="3981099" cy="22026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2142B8-811C-854F-A43C-822049310D39}"/>
              </a:ext>
            </a:extLst>
          </p:cNvPr>
          <p:cNvSpPr txBox="1"/>
          <p:nvPr/>
        </p:nvSpPr>
        <p:spPr>
          <a:xfrm>
            <a:off x="12625137" y="7697685"/>
            <a:ext cx="566286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 Kolon</a:t>
            </a: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matt@hillvt.com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mattkolon.com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(802) 899-0704</a:t>
            </a: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2902834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6_traditional_data_networks.wav"/>
  <p:tag name="AUDIO_ID" val="589"/>
  <p:tag name="ELAPSEDTIME" val="141.375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7_traditional_video_networks.wav"/>
  <p:tag name="AUDIO_ID" val="590"/>
  <p:tag name="ELAPSEDTIME" val="159.817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5_Metro_Ethernet\Audio\19 Defining the Virtual LAN.wav"/>
  <p:tag name="AUDIO_ID" val="580"/>
  <p:tag name="ELAPSEDTIME" val="100.64"/>
  <p:tag name="TIMELINE" val="18.4/39.1/49.8/58.2/71.1/87.1"/>
  <p:tag name="ARTICULATE_SLIDE_PAUSE" val="0"/>
  <p:tag name="ARTICULATE_NAV_LEVEL" val="2"/>
  <p:tag name="ARTICULATE_PLAYLIST_ID" val="-1"/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0_Protocols.wav"/>
  <p:tag name="AUDIO_ID" val="274"/>
  <p:tag name="ELAPSEDTIME" val="90.149"/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1_Models.wav"/>
  <p:tag name="AUDIO_ID" val="275"/>
  <p:tag name="ELAPSEDTIME" val="112.928"/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2_The_Concept_Of_Layering.wav"/>
  <p:tag name="AUDIO_ID" val="276"/>
  <p:tag name="ELAPSEDTIME" val="81.32"/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6/20.0/25.3/82.3/106.0/108.3/115.4/133.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7_Understanding_The_OSI_RM_Layers.wav"/>
  <p:tag name="AUDIO_ID" val="279"/>
  <p:tag name="ELAPSEDTIME" val="143.073"/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7 The Internet Protocol.wav"/>
  <p:tag name="AUDIO_ID" val="280"/>
  <p:tag name="ELAPSEDTIME" val="150.074"/>
  <p:tag name="ARTICULATE_SLIDE_PAUSE" val="0"/>
  <p:tag name="ARTICULATE_NAV_LEVEL" val="2"/>
  <p:tag name="ARTICULATE_PLAYLIST_ID" val="-1"/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ec03da2-04b8-4a39-a7d1-ad7ae32403c3"/>
  <p:tag name="TIMELINE" val="12.9/32.5"/>
  <p:tag name="ANNOTATION_COUNT" val="0"/>
  <p:tag name="AUDIO_IMPORT" val="E:\Articulate\~Comcast\9442_P2C3_TCPIP_Fundamentals\Audio\41 The Basic IP Address (Verizon).wav"/>
  <p:tag name="AUDIO_ID" val="418"/>
  <p:tag name="ELAPSEDTIME" val="80.564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41"/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42 IP v6 What is It.wav"/>
  <p:tag name="AUDIO_ID" val="295"/>
  <p:tag name="ELAPSEDTIME" val="66.012"/>
  <p:tag name="ARTICULATE_SLIDE_PAUSE" val="0"/>
  <p:tag name="ARTICULATE_NAV_LEVEL" val="2"/>
  <p:tag name="ARTICULATE_PLAYLIST_ID" val="-1"/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cdb9192-20de-4c13-bd4d-8af1f6fa0c11"/>
  <p:tag name="AUDIO_IMPORT" val="E:\Articulate\~Comcast\9442_P2C3_TCPIP_Fundamentals\Audio\52 Routing.wav"/>
  <p:tag name="AUDIO_ID" val="426"/>
  <p:tag name="ELAPSEDTIME" val="91.905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52"/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8 IP Routing.wav"/>
  <p:tag name="AUDIO_ID" val="282"/>
  <p:tag name="ELAPSEDTIME" val="90.719"/>
  <p:tag name="TIMELINE" val="23.0/43.5/65.0/87.5"/>
  <p:tag name="ARTICULATE_SLIDE_PAUSE" val="0"/>
  <p:tag name="ARTICULATE_NAV_LEVEL" val="2"/>
  <p:tag name="ARTICULATE_PLAYLIST_ID" val="-1"/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4/42.4/51.0/61.5/78.7/82.4/90.8"/>
  <p:tag name="ARTICULATE_SLIDE_GUID" val="99664f11-e645-4562-ab64-da5813782b5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UDIO_IMPORT" val="E:\Articulate\~Comcast\9445_P4C2_Network_Layer_Concepts\audio\15_Following_A_Packet.wav"/>
  <p:tag name="AUDIO_ID" val="317"/>
  <p:tag name="ELAPSEDTIME" val="98.557"/>
  <p:tag name="ARTICULATE_SLIDE_NAV" val="15"/>
  <p:tag name="ARTICULATE_SLIDE_THUMBNAIL_REFRESH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9.6"/>
  <p:tag name="ARTICULATE_SLIDE_GUID" val="a5c76ea0-fb3d-4e56-b5a3-646d6e7ca809"/>
  <p:tag name="AUDIO_IMPORT" val="E:\Articulate\~Comcast\9446_P4C3_Transport_and_Application_Services_Layer_Concepts\audio\15_connectionless_communication.wav"/>
  <p:tag name="AUDIO_ID" val="367"/>
  <p:tag name="ELAPSEDTIME" val="54.937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15"/>
  <p:tag name="ARTICULATE_SLIDE_THUMBNAIL_REFRESH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29.1/31.6/43.2/45.8/56.3/58.6"/>
  <p:tag name="ARTICULATE_SLIDE_GUID" val="bf36aa1f-a76d-43fe-9491-e016a3fa0eb9"/>
  <p:tag name="AUDIO_IMPORT" val="E:\Articulate\~Comcast\9446_P4C3_Transport_and_Application_Services_Layer_Concepts\audio\16_connection_oriented_communication.wav"/>
  <p:tag name="AUDIO_ID" val="368"/>
  <p:tag name="ELAPSEDTIME" val="70.93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6"/>
  <p:tag name="ARTICULATE_SLIDE_THUMBNAIL_REFRESH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b0f2339-9eac-4bfb-a945-45710ba2f5d9"/>
  <p:tag name="AUDIO_IMPORT" val="E:\Articulate\~Comcast\9446_P4C3_Transport_and_Application_Services_Layer_Concepts\audio\14_Transport Layer_Functions.wav"/>
  <p:tag name="AUDIO_ID" val="271"/>
  <p:tag name="ELAPSEDTIME" val="82.7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4"/>
  <p:tag name="ARTICULATE_SLIDE_THUMBNAIL_REFRESH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7.5/16.4/32.8/54.4"/>
  <p:tag name="ANNOTATION_COUNT" val="0"/>
  <p:tag name="ARTICULATE_SLIDE_GUID" val="5671ad31-2b7f-40b8-b24d-8ac1efaf2787"/>
  <p:tag name="AUDIO_IMPORT" val="E:\ELMOV\Docbase\Expertech\455_KN_Virtualization\audio\09_Virtual Machines Benefits.mp3"/>
  <p:tag name="AUDIO_ID" val="286"/>
  <p:tag name="ELAPSEDTIME" val="73.404"/>
  <p:tag name="ARTICULATE_SLIDE_NAV" val="9"/>
  <p:tag name="ARTICULATE_SLIDE_THUMBNAIL_REFRESH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67Tu2WrE_files\slide0001_image001.png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r5KY46cr_files\slide0001_image001.p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Md4dEpKY_files\slide0001_image001.pn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ULLET_1" val="8226"/>
  <p:tag name="BULLET_2" val="8226"/>
  <p:tag name="BULLET_3" val="8226"/>
  <p:tag name="BULLET_4" val="8226"/>
  <p:tag name="BULLET_5" val="8226"/>
  <p:tag name="BULLET_6" val="8226"/>
  <p:tag name="MARGIN_1" val="0"/>
  <p:tag name="MARGIN_2" val="36"/>
  <p:tag name="MARGIN_3" val="72"/>
  <p:tag name="MARGIN_4" val="108"/>
  <p:tag name="MARGIN_5" val="144"/>
  <p:tag name="FONT_SIZE" val="12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0/15.9/26.2/29.2/32.3/34.5"/>
  <p:tag name="ARTICULATE_SLIDE_GUID" val="29e1b14e-5a12-4991-9cf9-fdeb49696efe"/>
  <p:tag name="AUDIO_IMPORT" val="E:\Articulate\~Comcast\9446_P4C3_Transport_and_Application_Services_Layer_Concepts\audio\39_clients_and_servers.wav"/>
  <p:tag name="AUDIO_ID" val="320"/>
  <p:tag name="ELAPSEDTIME" val="46.99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39"/>
  <p:tag name="ARTICULATE_SLIDE_THUMBNAIL_REFRESH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jXtePjv_files\slide0001_image001.pn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ewHrllU_files\slide0001_image001.png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9/106.0"/>
  <p:tag name="ARTICULATE_SLIDE_GUID" val="09437f2d-2c04-4ad2-a035-87e94514df28"/>
  <p:tag name="AUDIO_IMPORT" val="E:\Articulate\~Comcast\9446_P4C3_Transport_and_Application_Services_Layer_Concepts\audio\40_service_relationships_client_server.wav"/>
  <p:tag name="AUDIO_ID" val="285"/>
  <p:tag name="ELAPSEDTIME" val="116.901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40"/>
  <p:tag name="ARTICULATE_SLIDE_THUMBNAIL_REFRESH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15_P4C4\audio\9415_48_Simple_Mail_Transfer_Protocol.wav"/>
  <p:tag name="AUDIO_ID" val="294"/>
  <p:tag name="TIMELINE" val="67.2/73.7/82.5/94.0/110.4/144.1/155.5"/>
  <p:tag name="ELAPSEDTIME" val="203.0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SLIDE_THUMBNAIL_REFRESH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05_What Is Voice Over IP.wav"/>
  <p:tag name="AUDIO_ID" val="259"/>
  <p:tag name="ELAPSEDTIME" val="186.515"/>
  <p:tag name="ARTICULATE_SLIDE_PAUSE" val="0"/>
  <p:tag name="ARTICULATE_NAV_LEVEL" val="2"/>
  <p:tag name="ARTICULATE_PLAYLIST_ID" val="-1"/>
  <p:tag name="ARTICULATE_SLIDE_THUMBNAIL_REFRESH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25_The Session Initiation Protocol.wav"/>
  <p:tag name="AUDIO_ID" val="295"/>
  <p:tag name="ELAPSEDTIME" val="174.211"/>
  <p:tag name="ARTICULATE_SLIDE_PAUSE" val="0"/>
  <p:tag name="ARTICULATE_NAV_LEVEL" val="2"/>
  <p:tag name="ARTICULATE_PLAYLIST_ID" val="-1"/>
  <p:tag name="ARTICULATE_SLIDE_THUMBNAIL_REFRESH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Pro_Tech">
      <a:dk1>
        <a:sysClr val="windowText" lastClr="000000"/>
      </a:dk1>
      <a:lt1>
        <a:sysClr val="window" lastClr="FFFFFF"/>
      </a:lt1>
      <a:dk2>
        <a:srgbClr val="373545"/>
      </a:dk2>
      <a:lt2>
        <a:srgbClr val="FFFFFF"/>
      </a:lt2>
      <a:accent1>
        <a:srgbClr val="1D397A"/>
      </a:accent1>
      <a:accent2>
        <a:srgbClr val="32539A"/>
      </a:accent2>
      <a:accent3>
        <a:srgbClr val="4D6088"/>
      </a:accent3>
      <a:accent4>
        <a:srgbClr val="55849D"/>
      </a:accent4>
      <a:accent5>
        <a:srgbClr val="9FA09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20623</TotalTime>
  <Words>18741</Words>
  <Application>Microsoft Macintosh PowerPoint</Application>
  <PresentationFormat>Custom</PresentationFormat>
  <Paragraphs>3579</Paragraphs>
  <Slides>251</Slides>
  <Notes>183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251</vt:i4>
      </vt:variant>
    </vt:vector>
  </HeadingPairs>
  <TitlesOfParts>
    <vt:vector size="265" baseType="lpstr">
      <vt:lpstr>ヒラギノ角ゴ Pro W3</vt:lpstr>
      <vt:lpstr>Arial</vt:lpstr>
      <vt:lpstr>Arial Narrow</vt:lpstr>
      <vt:lpstr>Calibri</vt:lpstr>
      <vt:lpstr>Calibri Light</vt:lpstr>
      <vt:lpstr>Helvetica Neue</vt:lpstr>
      <vt:lpstr>HELVETICA NEUE CONDENSED</vt:lpstr>
      <vt:lpstr>HELVETICA NEUE CONDENSED</vt:lpstr>
      <vt:lpstr>Helvetica Neue Condensed Bold</vt:lpstr>
      <vt:lpstr>Helvetica Neue Medium</vt:lpstr>
      <vt:lpstr>Menlo</vt:lpstr>
      <vt:lpstr>Symbol</vt:lpstr>
      <vt:lpstr>Wingdings</vt:lpstr>
      <vt:lpstr>Office Theme</vt:lpstr>
      <vt:lpstr>PowerPoint Presentation</vt:lpstr>
      <vt:lpstr>An Important Resource</vt:lpstr>
      <vt:lpstr>Chapter 1: Orientation</vt:lpstr>
      <vt:lpstr>PowerPoint Presentation</vt:lpstr>
      <vt:lpstr>Classroom Ops</vt:lpstr>
      <vt:lpstr>Agenda</vt:lpstr>
      <vt:lpstr>Introductions</vt:lpstr>
      <vt:lpstr>Introductions  </vt:lpstr>
      <vt:lpstr>Things you might sometimes wonder about</vt:lpstr>
      <vt:lpstr>Chapter 2:  The Communications Landscape</vt:lpstr>
      <vt:lpstr>The Communications Challenge Today</vt:lpstr>
      <vt:lpstr>Telecommunications Domains</vt:lpstr>
      <vt:lpstr>Technology</vt:lpstr>
      <vt:lpstr>Regulation</vt:lpstr>
      <vt:lpstr>Voice Network Providers</vt:lpstr>
      <vt:lpstr>Data Network Providers</vt:lpstr>
      <vt:lpstr>Video Network Providers</vt:lpstr>
      <vt:lpstr>Content</vt:lpstr>
      <vt:lpstr>Chapter 3: A Short History of Financial Networking</vt:lpstr>
      <vt:lpstr>From Ticker Tape to Terabits</vt:lpstr>
      <vt:lpstr>Early Banking Telecom</vt:lpstr>
      <vt:lpstr>People Give Way to Machines in Both Industries</vt:lpstr>
      <vt:lpstr>Chapter 4:  Designing Bank Networks</vt:lpstr>
      <vt:lpstr>Branch Office Network</vt:lpstr>
      <vt:lpstr>A Simple Branch LAN</vt:lpstr>
      <vt:lpstr>Community Bank Innovation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Current Themes: Bank Network Evolution</vt:lpstr>
      <vt:lpstr>Branch Transformation: Fewer, Smaller, Self-Service</vt:lpstr>
      <vt:lpstr>Branch Transformation: Fewer, Smaller, Self-Service</vt:lpstr>
      <vt:lpstr>Chapter 5: LANs in Depth</vt:lpstr>
      <vt:lpstr>Ethernet</vt:lpstr>
      <vt:lpstr>(un) Structured Cabling</vt:lpstr>
      <vt:lpstr>Ethernet Evolution</vt:lpstr>
      <vt:lpstr>Some Ethernet Physical Layers</vt:lpstr>
      <vt:lpstr>Typical Ethernet LAN</vt:lpstr>
      <vt:lpstr>Ethernet Frame</vt:lpstr>
      <vt:lpstr>Multiple LAN Configuration</vt:lpstr>
      <vt:lpstr>VLANs</vt:lpstr>
      <vt:lpstr>Virtual LANs (VLANs)</vt:lpstr>
      <vt:lpstr>Wi-Fi</vt:lpstr>
      <vt:lpstr>Wi-Fi Standards </vt:lpstr>
      <vt:lpstr>Bands and Channels - 2.4 Ghz</vt:lpstr>
      <vt:lpstr>2.4 GHz Channel Reuse</vt:lpstr>
      <vt:lpstr>Service Set Identifier (SSID)</vt:lpstr>
      <vt:lpstr>802.11 Security Issues</vt:lpstr>
      <vt:lpstr>Wi-Fi Protected Access (WPA3)</vt:lpstr>
      <vt:lpstr>Now We Have LANs</vt:lpstr>
      <vt:lpstr>Exercise 1: Annotate the LAN Segments</vt:lpstr>
      <vt:lpstr>InTREx Tie-In: Wireless Networks</vt:lpstr>
      <vt:lpstr>What Could Go Wrong on a LAN?</vt:lpstr>
      <vt:lpstr>Chapter 6: WANs in Depth</vt:lpstr>
      <vt:lpstr>Bank Branch Connection</vt:lpstr>
      <vt:lpstr>Private Lines</vt:lpstr>
      <vt:lpstr>Ethernet Access</vt:lpstr>
      <vt:lpstr>Passive Optical Network (PON) Access</vt:lpstr>
      <vt:lpstr>Cable Modem</vt:lpstr>
      <vt:lpstr>Chapter 7: Private WAN Services</vt:lpstr>
      <vt:lpstr>MPLS: MultiProtocol Label Switching</vt:lpstr>
      <vt:lpstr>Carrier Ethernet</vt:lpstr>
      <vt:lpstr>Private WAN Deployment Types</vt:lpstr>
      <vt:lpstr>Site-to-Site VPN </vt:lpstr>
      <vt:lpstr>Work From Home</vt:lpstr>
      <vt:lpstr>VPN as a WAN Challenges</vt:lpstr>
      <vt:lpstr>Software Defined WAN</vt:lpstr>
      <vt:lpstr>SD WAN</vt:lpstr>
      <vt:lpstr>Sample SD WAN Implementation</vt:lpstr>
      <vt:lpstr>Observations for SD WAN Branch Networks</vt:lpstr>
      <vt:lpstr>InTREx Tie-In: Remote Access</vt:lpstr>
      <vt:lpstr>Chapter 8:  Wireless WANs</vt:lpstr>
      <vt:lpstr>Connecting to the Internet</vt:lpstr>
      <vt:lpstr>Cellular (Mobile?) Networks</vt:lpstr>
      <vt:lpstr>Cellular Network Evolution</vt:lpstr>
      <vt:lpstr>Why “Cellular”?</vt:lpstr>
      <vt:lpstr>5G</vt:lpstr>
      <vt:lpstr>Fixed Wireless Internet</vt:lpstr>
      <vt:lpstr>Starlink: Satellite Internet</vt:lpstr>
      <vt:lpstr>Backup Path: Wireless vs. Second Wireline</vt:lpstr>
      <vt:lpstr>Exercise 2: Annotate WAN Segments</vt:lpstr>
      <vt:lpstr>Chapter 9: The internet and applications</vt:lpstr>
      <vt:lpstr>The Internet</vt:lpstr>
      <vt:lpstr>The Internet: A Global, Public, Packet Network</vt:lpstr>
      <vt:lpstr>Models and Layers</vt:lpstr>
      <vt:lpstr>The Language of Networking</vt:lpstr>
      <vt:lpstr>Protocols </vt:lpstr>
      <vt:lpstr>Models</vt:lpstr>
      <vt:lpstr>Layering</vt:lpstr>
      <vt:lpstr>Understanding the OSI RM Layers</vt:lpstr>
      <vt:lpstr>A Closer Look at the Layers</vt:lpstr>
      <vt:lpstr>OSI Provides a Reference Framework</vt:lpstr>
      <vt:lpstr>Different Look, Same Idea: The TCP/IP Model</vt:lpstr>
      <vt:lpstr>Data Link Layer</vt:lpstr>
      <vt:lpstr>Common Link Topologies</vt:lpstr>
      <vt:lpstr>Chapter 10:  IP Addresses and Operations</vt:lpstr>
      <vt:lpstr>The Internet Protocol</vt:lpstr>
      <vt:lpstr>The IPv4 Address</vt:lpstr>
      <vt:lpstr>Role of IP Addressing</vt:lpstr>
      <vt:lpstr>Private vs. Public IP Address</vt:lpstr>
      <vt:lpstr>Static vs. Dynamic IP Address</vt:lpstr>
      <vt:lpstr>Dynamic Host Configuration Protocol (DHCP)</vt:lpstr>
      <vt:lpstr>IP Address Allocation</vt:lpstr>
      <vt:lpstr>IPv6: What, Where, When, How?</vt:lpstr>
      <vt:lpstr>Chapter 11: IP Routing</vt:lpstr>
      <vt:lpstr>Routing and Forwarding</vt:lpstr>
      <vt:lpstr>IP Routing</vt:lpstr>
      <vt:lpstr>Following a Packet</vt:lpstr>
      <vt:lpstr>Chapter 12: The Transport Layer:  Network Confidentiality and Integrity</vt:lpstr>
      <vt:lpstr>PowerPoint Presentation</vt:lpstr>
      <vt:lpstr>Transport Layer Connections</vt:lpstr>
      <vt:lpstr>Connectionless Communication</vt:lpstr>
      <vt:lpstr>Connection-Oriented Communication</vt:lpstr>
      <vt:lpstr>Other Transport Layer Functions</vt:lpstr>
      <vt:lpstr>Transport Layer Security</vt:lpstr>
      <vt:lpstr>QUIC: TLS’s Faster Cousin</vt:lpstr>
      <vt:lpstr>Real-Time Payments (FedNow/RTP): What Always-On Means for the Network</vt:lpstr>
      <vt:lpstr>Chapter 13:  Cryptography In (some) Depth</vt:lpstr>
      <vt:lpstr>Where Customer Data Lives and Travels on the Bank Network</vt:lpstr>
      <vt:lpstr>Data at Rest, Data in Transit</vt:lpstr>
      <vt:lpstr>Cryptography</vt:lpstr>
      <vt:lpstr>Hash Functions</vt:lpstr>
      <vt:lpstr>Secret Key Cryptography</vt:lpstr>
      <vt:lpstr>Advanced Encryption Standard (AES)</vt:lpstr>
      <vt:lpstr>Public Key Cryptography</vt:lpstr>
      <vt:lpstr>RSA</vt:lpstr>
      <vt:lpstr>Back to TLS: The Same Three Tools in Every Web Session</vt:lpstr>
      <vt:lpstr>Certificates: Proving Who You’re Talking To</vt:lpstr>
      <vt:lpstr>Public Key Infrastructure: Who Vouches for Whom</vt:lpstr>
      <vt:lpstr>Certificate Lifecycle: Expiry, Revocation, and the Outages They Cause</vt:lpstr>
      <vt:lpstr>Key Management: Who Holds the Keys?</vt:lpstr>
      <vt:lpstr>Final Comments on Cryptography</vt:lpstr>
      <vt:lpstr>InTREx Tie-In: Encryption</vt:lpstr>
      <vt:lpstr>Chapter 14: Virtualization</vt:lpstr>
      <vt:lpstr>Software Eats the World</vt:lpstr>
      <vt:lpstr>Virtualization</vt:lpstr>
      <vt:lpstr>Virtual Machines Benefits </vt:lpstr>
      <vt:lpstr>Virtual Networks: From VLANs to Overlays</vt:lpstr>
      <vt:lpstr>A Step Beyond Virtualization</vt:lpstr>
      <vt:lpstr>Traditional Application Approach</vt:lpstr>
      <vt:lpstr>Containers and Microservices</vt:lpstr>
      <vt:lpstr>Microservices</vt:lpstr>
      <vt:lpstr>Chapter 15: Cloud Basics and the Big Three</vt:lpstr>
      <vt:lpstr>Cloud Deployment Models</vt:lpstr>
      <vt:lpstr>Cloud Service Models</vt:lpstr>
      <vt:lpstr>Shared Responsibility: Who Secures What</vt:lpstr>
      <vt:lpstr>The Big Three: AWS, Azure, and Google Cloud</vt:lpstr>
      <vt:lpstr>Regions, Availability Zones, and What a Cloud Outage Looks Like</vt:lpstr>
      <vt:lpstr>How a Bank Connects to the Cloud: Internet, VPN, Private Interconnect</vt:lpstr>
      <vt:lpstr>The Changing IT Landscape</vt:lpstr>
      <vt:lpstr>InTREx Tie-In: Cloud Services</vt:lpstr>
      <vt:lpstr>Chapter 16: Outsourcing and Vendor Risk</vt:lpstr>
      <vt:lpstr>Why Community Banks Outsource</vt:lpstr>
      <vt:lpstr>Every Vendor Is a Network Connection</vt:lpstr>
      <vt:lpstr>Core Processing in the Cloud</vt:lpstr>
      <vt:lpstr>Fintech Partnerships: New Connections Into the Bank</vt:lpstr>
      <vt:lpstr>Carriers and ISPs Are Vendors Too: Network SLAs</vt:lpstr>
      <vt:lpstr>Concentration Risk: When Every Bank Uses the Same Few Providers</vt:lpstr>
      <vt:lpstr>Fourth Parties: Your Vendor's Vendors</vt:lpstr>
      <vt:lpstr>Due Diligence Before Signing</vt:lpstr>
      <vt:lpstr>What Belongs in the Contract: SLAs, Audit Rights, Incident Notice</vt:lpstr>
      <vt:lpstr>SOC Reports: What They Tell You and What They Don't</vt:lpstr>
      <vt:lpstr>FedRAMP: What a Federal Cloud Authorization Does and Doesn't Tell a Bank</vt:lpstr>
      <vt:lpstr>Ongoing Monitoring: The Relationship After Signing</vt:lpstr>
      <vt:lpstr>Network Talent and Trust as Risks</vt:lpstr>
      <vt:lpstr>InTREx Tie-In: Vendor Management</vt:lpstr>
      <vt:lpstr>Exercise 3: Vendor Risk Tabletop</vt:lpstr>
      <vt:lpstr>Chapter 17: Managed Services and Shadow IT</vt:lpstr>
      <vt:lpstr>Managed Security Solutions</vt:lpstr>
      <vt:lpstr>Many Players</vt:lpstr>
      <vt:lpstr>Let’s take a look at a few MSSPs</vt:lpstr>
      <vt:lpstr>InTREx Tie-In: Network Monitoring and Operations</vt:lpstr>
      <vt:lpstr>SaaS Sprawl and Shadow IT: The Vendors Nobody Approved</vt:lpstr>
      <vt:lpstr>Chapter 18: Applications on the Network</vt:lpstr>
      <vt:lpstr>It’s All About The Applications</vt:lpstr>
      <vt:lpstr>Clients and Servers</vt:lpstr>
      <vt:lpstr>Service Relationship: Client/Server</vt:lpstr>
      <vt:lpstr>Well-Known TCP/UDP Ports</vt:lpstr>
      <vt:lpstr>Where the Bank's Applications Live Now: On-Premises, Hosted, SaaS</vt:lpstr>
      <vt:lpstr>Chapter 19: Core Banking</vt:lpstr>
      <vt:lpstr>What a Core System Does</vt:lpstr>
      <vt:lpstr>The Big Core Providers: Jack Henry, Fiserv, FIS</vt:lpstr>
      <vt:lpstr>How the Branch Talks to the Core: The Network Path of a Transaction</vt:lpstr>
      <vt:lpstr>From Service Bureau to Cloud: How Core Delivery Has Changed</vt:lpstr>
      <vt:lpstr>What's Next for Core: APIs and Modular Cores</vt:lpstr>
      <vt:lpstr>Open Banking and the API Economy: The Network View</vt:lpstr>
      <vt:lpstr>InTREx Tie-In: Core Processing</vt:lpstr>
      <vt:lpstr>Chapter 20:  SaaS and Business Applications</vt:lpstr>
      <vt:lpstr>Microsoft 365: Email, Files, and Identity in the Cloud</vt:lpstr>
      <vt:lpstr>Email Services</vt:lpstr>
      <vt:lpstr>Let me ask you…</vt:lpstr>
      <vt:lpstr>Simple Mail Transfer Protocol</vt:lpstr>
      <vt:lpstr>Internet and Mobile Banking: Usually Someone Else's Servers</vt:lpstr>
      <vt:lpstr>CRM, HR, and the Rest of the SaaS Stack</vt:lpstr>
      <vt:lpstr>Chapter 21: DNS In Depth</vt:lpstr>
      <vt:lpstr>How Do We find Applications?</vt:lpstr>
      <vt:lpstr>Resolving a Name, Step by Step</vt:lpstr>
      <vt:lpstr>Who Controls the Bank's Domain</vt:lpstr>
      <vt:lpstr>DNS Records That Matter to a Bank</vt:lpstr>
      <vt:lpstr>DNS Email Authentication: SPF, DKIM, DMARC</vt:lpstr>
      <vt:lpstr>When DNS Fails: Outages, Hijacking, and Lookalike Domains</vt:lpstr>
      <vt:lpstr>Protective DNS and Filtering</vt:lpstr>
      <vt:lpstr>Exercise 4: The Lookalike Domain</vt:lpstr>
      <vt:lpstr>Chapter 22: Voice</vt:lpstr>
      <vt:lpstr>Thoughts on Telephony </vt:lpstr>
      <vt:lpstr>Telephone Network Elements</vt:lpstr>
      <vt:lpstr>Private Branch Exchange</vt:lpstr>
      <vt:lpstr>Key Systems: The Small-Office Phone System</vt:lpstr>
      <vt:lpstr>Voice moves to IP</vt:lpstr>
      <vt:lpstr>VoIP Brings New Capabilities</vt:lpstr>
      <vt:lpstr>Signaling Control: The Role of SIP</vt:lpstr>
      <vt:lpstr>SIP Trunks</vt:lpstr>
      <vt:lpstr>Hosted VoIP</vt:lpstr>
      <vt:lpstr>Contact Centers Move to the Cloud</vt:lpstr>
      <vt:lpstr>VoIP Network Considerations</vt:lpstr>
      <vt:lpstr>Voice Security Considerations</vt:lpstr>
      <vt:lpstr>Chapter 23: Internet of Things</vt:lpstr>
      <vt:lpstr>Internet of Things: Some Sample Things</vt:lpstr>
      <vt:lpstr>IoT in the Bank: Cameras, HVAC, Door Controls, ATMs</vt:lpstr>
      <vt:lpstr>IoT Security Concerns</vt:lpstr>
      <vt:lpstr>IoT Things to Consider</vt:lpstr>
      <vt:lpstr>Chapter 24: The Risk Landscape</vt:lpstr>
      <vt:lpstr>Networks</vt:lpstr>
      <vt:lpstr>Network Security</vt:lpstr>
      <vt:lpstr>Inventory</vt:lpstr>
      <vt:lpstr>Ethernet Considerations</vt:lpstr>
      <vt:lpstr>Wi-Fi Considerations</vt:lpstr>
      <vt:lpstr>WAN Considerations</vt:lpstr>
      <vt:lpstr>Ransomware: How It Moves Across a Bank Network</vt:lpstr>
      <vt:lpstr>Supply Chain Attacks: When the Vendor Is the Way In</vt:lpstr>
      <vt:lpstr>Zero Trust: Stop Trusting the Network</vt:lpstr>
      <vt:lpstr>Many Sources for Baseline Security Measures</vt:lpstr>
      <vt:lpstr>Incident Response: When Something Goes Wrong on the Network</vt:lpstr>
      <vt:lpstr>InTREx Tie-In: Incident Response</vt:lpstr>
      <vt:lpstr>Chapter 25: Looking Ahead</vt:lpstr>
      <vt:lpstr>Where Networking Is Headed</vt:lpstr>
      <vt:lpstr>AI and the Network: Operations, Traffic, and Risk</vt:lpstr>
      <vt:lpstr>Quantum Computing and Today's Encryption</vt:lpstr>
      <vt:lpstr>Harvest Now, Decrypt Later</vt:lpstr>
      <vt:lpstr>Post-Quantum Cryptography: What Banks Will Need to Do</vt:lpstr>
      <vt:lpstr>Chapter 26: Fintech and the Changing Bank</vt:lpstr>
      <vt:lpstr>Fintech</vt:lpstr>
      <vt:lpstr>M&amp;A</vt:lpstr>
      <vt:lpstr>Chapter 27: Course Wrap-Up</vt:lpstr>
      <vt:lpstr>Exercise 5: Capstone</vt:lpstr>
      <vt:lpstr>Network Diagram Review, Revisited</vt:lpstr>
      <vt:lpstr>Branch to Cloud in Five Days: Course Review</vt:lpstr>
      <vt:lpstr>Thank You!</vt:lpstr>
    </vt:vector>
  </TitlesOfParts>
  <Manager>Matt Kolon</Manager>
  <Company>Hill Associates Inc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Telecommunications</dc:title>
  <dc:subject>Telecom Technology</dc:subject>
  <dc:creator>Hill Associates Inc</dc:creator>
  <cp:keywords/>
  <dc:description>All materials copyright Hill Associates Inc.</dc:description>
  <cp:lastModifiedBy>Matt Kolon</cp:lastModifiedBy>
  <cp:revision>74</cp:revision>
  <cp:lastPrinted>2023-04-19T16:32:29Z</cp:lastPrinted>
  <dcterms:created xsi:type="dcterms:W3CDTF">2016-01-13T17:16:24Z</dcterms:created>
  <dcterms:modified xsi:type="dcterms:W3CDTF">2026-10-21T20:21:13Z</dcterms:modified>
  <cp:category/>
</cp:coreProperties>
</file>