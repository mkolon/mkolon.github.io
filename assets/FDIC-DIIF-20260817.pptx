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notesSlides/notesSlide18.xml" ContentType="application/vnd.openxmlformats-officedocument.presentationml.notesSlide+xml"/>
  <Override PartName="/ppt/tags/tag11.xml" ContentType="application/vnd.openxmlformats-officedocument.presentationml.tags+xml"/>
  <Override PartName="/ppt/notesSlides/notesSlide19.xml" ContentType="application/vnd.openxmlformats-officedocument.presentationml.notesSlide+xml"/>
  <Override PartName="/ppt/tags/tag12.xml" ContentType="application/vnd.openxmlformats-officedocument.presentationml.tags+xml"/>
  <Override PartName="/ppt/notesSlides/notesSlide20.xml" ContentType="application/vnd.openxmlformats-officedocument.presentationml.notesSlide+xml"/>
  <Override PartName="/ppt/tags/tag13.xml" ContentType="application/vnd.openxmlformats-officedocument.presentationml.tags+xml"/>
  <Override PartName="/ppt/notesSlides/notesSlide21.xml" ContentType="application/vnd.openxmlformats-officedocument.presentationml.notesSlide+xml"/>
  <Override PartName="/ppt/tags/tag14.xml" ContentType="application/vnd.openxmlformats-officedocument.presentationml.tags+xml"/>
  <Override PartName="/ppt/notesSlides/notesSlide22.xml" ContentType="application/vnd.openxmlformats-officedocument.presentationml.notesSlide+xml"/>
  <Override PartName="/ppt/tags/tag15.xml" ContentType="application/vnd.openxmlformats-officedocument.presentationml.tags+xml"/>
  <Override PartName="/ppt/notesSlides/notesSlide23.xml" ContentType="application/vnd.openxmlformats-officedocument.presentationml.notesSlide+xml"/>
  <Override PartName="/ppt/tags/tag16.xml" ContentType="application/vnd.openxmlformats-officedocument.presentationml.tags+xml"/>
  <Override PartName="/ppt/notesSlides/notesSlide24.xml" ContentType="application/vnd.openxmlformats-officedocument.presentationml.notesSlide+xml"/>
  <Override PartName="/ppt/tags/tag17.xml" ContentType="application/vnd.openxmlformats-officedocument.presentationml.tags+xml"/>
  <Override PartName="/ppt/notesSlides/notesSlide25.xml" ContentType="application/vnd.openxmlformats-officedocument.presentationml.notesSlide+xml"/>
  <Override PartName="/ppt/tags/tag18.xml" ContentType="application/vnd.openxmlformats-officedocument.presentationml.tags+xml"/>
  <Override PartName="/ppt/notesSlides/notesSlide26.xml" ContentType="application/vnd.openxmlformats-officedocument.presentationml.notesSlide+xml"/>
  <Override PartName="/ppt/tags/tag19.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20.xml" ContentType="application/vnd.openxmlformats-officedocument.presentationml.tags+xml"/>
  <Override PartName="/ppt/notesSlides/notesSlide29.xml" ContentType="application/vnd.openxmlformats-officedocument.presentationml.notesSlide+xml"/>
  <Override PartName="/ppt/tags/tag21.xml" ContentType="application/vnd.openxmlformats-officedocument.presentationml.tags+xml"/>
  <Override PartName="/ppt/notesSlides/notesSlide30.xml" ContentType="application/vnd.openxmlformats-officedocument.presentationml.notesSlide+xml"/>
  <Override PartName="/ppt/tags/tag22.xml" ContentType="application/vnd.openxmlformats-officedocument.presentationml.tags+xml"/>
  <Override PartName="/ppt/notesSlides/notesSlide31.xml" ContentType="application/vnd.openxmlformats-officedocument.presentationml.notesSlide+xml"/>
  <Override PartName="/ppt/tags/tag23.xml" ContentType="application/vnd.openxmlformats-officedocument.presentationml.tags+xml"/>
  <Override PartName="/ppt/notesSlides/notesSlide32.xml" ContentType="application/vnd.openxmlformats-officedocument.presentationml.notesSlide+xml"/>
  <Override PartName="/ppt/tags/tag24.xml" ContentType="application/vnd.openxmlformats-officedocument.presentationml.tags+xml"/>
  <Override PartName="/ppt/notesSlides/notesSlide33.xml" ContentType="application/vnd.openxmlformats-officedocument.presentationml.notesSlide+xml"/>
  <Override PartName="/ppt/tags/tag25.xml" ContentType="application/vnd.openxmlformats-officedocument.presentationml.tags+xml"/>
  <Override PartName="/ppt/notesSlides/notesSlide34.xml" ContentType="application/vnd.openxmlformats-officedocument.presentationml.notesSlide+xml"/>
  <Override PartName="/ppt/tags/tag26.xml" ContentType="application/vnd.openxmlformats-officedocument.presentationml.tags+xml"/>
  <Override PartName="/ppt/notesSlides/notesSlide35.xml" ContentType="application/vnd.openxmlformats-officedocument.presentationml.notesSlide+xml"/>
  <Override PartName="/ppt/tags/tag27.xml" ContentType="application/vnd.openxmlformats-officedocument.presentationml.tags+xml"/>
  <Override PartName="/ppt/notesSlides/notesSlide36.xml" ContentType="application/vnd.openxmlformats-officedocument.presentationml.notesSlide+xml"/>
  <Override PartName="/ppt/tags/tag28.xml" ContentType="application/vnd.openxmlformats-officedocument.presentationml.tags+xml"/>
  <Override PartName="/ppt/notesSlides/notesSlide37.xml" ContentType="application/vnd.openxmlformats-officedocument.presentationml.notesSlide+xml"/>
  <Override PartName="/ppt/tags/tag29.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30.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31.xml" ContentType="application/vnd.openxmlformats-officedocument.presentationml.tags+xml"/>
  <Override PartName="/ppt/notesSlides/notesSlide49.xml" ContentType="application/vnd.openxmlformats-officedocument.presentationml.notesSlide+xml"/>
  <Override PartName="/ppt/tags/tag32.xml" ContentType="application/vnd.openxmlformats-officedocument.presentationml.tags+xml"/>
  <Override PartName="/ppt/notesSlides/notesSlide50.xml" ContentType="application/vnd.openxmlformats-officedocument.presentationml.notesSlide+xml"/>
  <Override PartName="/ppt/tags/tag33.xml" ContentType="application/vnd.openxmlformats-officedocument.presentationml.tags+xml"/>
  <Override PartName="/ppt/notesSlides/notesSlide51.xml" ContentType="application/vnd.openxmlformats-officedocument.presentationml.notesSlide+xml"/>
  <Override PartName="/ppt/tags/tag34.xml" ContentType="application/vnd.openxmlformats-officedocument.presentationml.tags+xml"/>
  <Override PartName="/ppt/notesSlides/notesSlide52.xml" ContentType="application/vnd.openxmlformats-officedocument.presentationml.notesSlide+xml"/>
  <Override PartName="/ppt/tags/tag35.xml" ContentType="application/vnd.openxmlformats-officedocument.presentationml.tags+xml"/>
  <Override PartName="/ppt/notesSlides/notesSlide53.xml" ContentType="application/vnd.openxmlformats-officedocument.presentationml.notesSlide+xml"/>
  <Override PartName="/ppt/tags/tag36.xml" ContentType="application/vnd.openxmlformats-officedocument.presentationml.tags+xml"/>
  <Override PartName="/ppt/notesSlides/notesSlide54.xml" ContentType="application/vnd.openxmlformats-officedocument.presentationml.notesSlide+xml"/>
  <Override PartName="/ppt/tags/tag37.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9.xml" ContentType="application/vnd.openxmlformats-officedocument.presentationml.notesSlide+xml"/>
  <Override PartName="/ppt/tags/tag38.xml" ContentType="application/vnd.openxmlformats-officedocument.presentationml.tags+xml"/>
  <Override PartName="/ppt/notesSlides/notesSlide80.xml" ContentType="application/vnd.openxmlformats-officedocument.presentationml.notesSlide+xml"/>
  <Override PartName="/ppt/tags/tag39.xml" ContentType="application/vnd.openxmlformats-officedocument.presentationml.tags+xml"/>
  <Override PartName="/ppt/notesSlides/notesSlide81.xml" ContentType="application/vnd.openxmlformats-officedocument.presentationml.notesSlide+xml"/>
  <Override PartName="/ppt/tags/tag40.xml" ContentType="application/vnd.openxmlformats-officedocument.presentationml.tags+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2" r:id="rId1"/>
    <p:sldMasterId id="2147483798" r:id="rId2"/>
  </p:sldMasterIdLst>
  <p:notesMasterIdLst>
    <p:notesMasterId r:id="rId150"/>
  </p:notesMasterIdLst>
  <p:handoutMasterIdLst>
    <p:handoutMasterId r:id="rId151"/>
  </p:handoutMasterIdLst>
  <p:sldIdLst>
    <p:sldId id="256" r:id="rId3"/>
    <p:sldId id="1059" r:id="rId4"/>
    <p:sldId id="540" r:id="rId5"/>
    <p:sldId id="995" r:id="rId6"/>
    <p:sldId id="1005" r:id="rId7"/>
    <p:sldId id="1003" r:id="rId8"/>
    <p:sldId id="1198" r:id="rId9"/>
    <p:sldId id="1193" r:id="rId10"/>
    <p:sldId id="998" r:id="rId11"/>
    <p:sldId id="1194" r:id="rId12"/>
    <p:sldId id="1190" r:id="rId13"/>
    <p:sldId id="1191" r:id="rId14"/>
    <p:sldId id="1192" r:id="rId15"/>
    <p:sldId id="1195" r:id="rId16"/>
    <p:sldId id="1196" r:id="rId17"/>
    <p:sldId id="1202" r:id="rId18"/>
    <p:sldId id="996" r:id="rId19"/>
    <p:sldId id="1176" r:id="rId20"/>
    <p:sldId id="1203" r:id="rId21"/>
    <p:sldId id="1201" r:id="rId22"/>
    <p:sldId id="1200" r:id="rId23"/>
    <p:sldId id="774" r:id="rId24"/>
    <p:sldId id="1204" r:id="rId25"/>
    <p:sldId id="1205" r:id="rId26"/>
    <p:sldId id="1206" r:id="rId27"/>
    <p:sldId id="1207" r:id="rId28"/>
    <p:sldId id="1208" r:id="rId29"/>
    <p:sldId id="1189" r:id="rId30"/>
    <p:sldId id="875" r:id="rId31"/>
    <p:sldId id="876" r:id="rId32"/>
    <p:sldId id="1209" r:id="rId33"/>
    <p:sldId id="1197" r:id="rId34"/>
    <p:sldId id="1199" r:id="rId35"/>
    <p:sldId id="1261" r:id="rId36"/>
    <p:sldId id="1262" r:id="rId37"/>
    <p:sldId id="1259" r:id="rId38"/>
    <p:sldId id="1260" r:id="rId39"/>
    <p:sldId id="1181" r:id="rId40"/>
    <p:sldId id="1263" r:id="rId41"/>
    <p:sldId id="1264" r:id="rId42"/>
    <p:sldId id="877" r:id="rId43"/>
    <p:sldId id="1265" r:id="rId44"/>
    <p:sldId id="1266" r:id="rId45"/>
    <p:sldId id="1267" r:id="rId46"/>
    <p:sldId id="975" r:id="rId47"/>
    <p:sldId id="976" r:id="rId48"/>
    <p:sldId id="979" r:id="rId49"/>
    <p:sldId id="978" r:id="rId50"/>
    <p:sldId id="981" r:id="rId51"/>
    <p:sldId id="982" r:id="rId52"/>
    <p:sldId id="1288" r:id="rId53"/>
    <p:sldId id="985" r:id="rId54"/>
    <p:sldId id="990" r:id="rId55"/>
    <p:sldId id="1284" r:id="rId56"/>
    <p:sldId id="992" r:id="rId57"/>
    <p:sldId id="1289" r:id="rId58"/>
    <p:sldId id="1285" r:id="rId59"/>
    <p:sldId id="1286" r:id="rId60"/>
    <p:sldId id="1353" r:id="rId61"/>
    <p:sldId id="1354" r:id="rId62"/>
    <p:sldId id="1287" r:id="rId63"/>
    <p:sldId id="1290" r:id="rId64"/>
    <p:sldId id="1291" r:id="rId65"/>
    <p:sldId id="1292" r:id="rId66"/>
    <p:sldId id="1293" r:id="rId67"/>
    <p:sldId id="1294" r:id="rId68"/>
    <p:sldId id="1045" r:id="rId69"/>
    <p:sldId id="1295" r:id="rId70"/>
    <p:sldId id="1046" r:id="rId71"/>
    <p:sldId id="1296" r:id="rId72"/>
    <p:sldId id="1048" r:id="rId73"/>
    <p:sldId id="1047" r:id="rId74"/>
    <p:sldId id="1052" r:id="rId75"/>
    <p:sldId id="1049" r:id="rId76"/>
    <p:sldId id="911" r:id="rId77"/>
    <p:sldId id="918" r:id="rId78"/>
    <p:sldId id="921" r:id="rId79"/>
    <p:sldId id="924" r:id="rId80"/>
    <p:sldId id="925" r:id="rId81"/>
    <p:sldId id="1268" r:id="rId82"/>
    <p:sldId id="1297" r:id="rId83"/>
    <p:sldId id="1298" r:id="rId84"/>
    <p:sldId id="1299" r:id="rId85"/>
    <p:sldId id="1302" r:id="rId86"/>
    <p:sldId id="1303" r:id="rId87"/>
    <p:sldId id="1304" r:id="rId88"/>
    <p:sldId id="1305" r:id="rId89"/>
    <p:sldId id="1306" r:id="rId90"/>
    <p:sldId id="1269" r:id="rId91"/>
    <p:sldId id="1270" r:id="rId92"/>
    <p:sldId id="1275" r:id="rId93"/>
    <p:sldId id="1276" r:id="rId94"/>
    <p:sldId id="1307" r:id="rId95"/>
    <p:sldId id="1308" r:id="rId96"/>
    <p:sldId id="1309" r:id="rId97"/>
    <p:sldId id="1310" r:id="rId98"/>
    <p:sldId id="1311" r:id="rId99"/>
    <p:sldId id="1312" r:id="rId100"/>
    <p:sldId id="1313" r:id="rId101"/>
    <p:sldId id="1279" r:id="rId102"/>
    <p:sldId id="1314" r:id="rId103"/>
    <p:sldId id="1316" r:id="rId104"/>
    <p:sldId id="1277" r:id="rId105"/>
    <p:sldId id="1278" r:id="rId106"/>
    <p:sldId id="1317" r:id="rId107"/>
    <p:sldId id="1318" r:id="rId108"/>
    <p:sldId id="1319" r:id="rId109"/>
    <p:sldId id="1320" r:id="rId110"/>
    <p:sldId id="1321" r:id="rId111"/>
    <p:sldId id="1322" r:id="rId112"/>
    <p:sldId id="1323" r:id="rId113"/>
    <p:sldId id="1324" r:id="rId114"/>
    <p:sldId id="1271" r:id="rId115"/>
    <p:sldId id="1272" r:id="rId116"/>
    <p:sldId id="1274" r:id="rId117"/>
    <p:sldId id="1325" r:id="rId118"/>
    <p:sldId id="1326" r:id="rId119"/>
    <p:sldId id="1327" r:id="rId120"/>
    <p:sldId id="1328" r:id="rId121"/>
    <p:sldId id="1329" r:id="rId122"/>
    <p:sldId id="1330" r:id="rId123"/>
    <p:sldId id="1331" r:id="rId124"/>
    <p:sldId id="1332" r:id="rId125"/>
    <p:sldId id="1333" r:id="rId126"/>
    <p:sldId id="1273" r:id="rId127"/>
    <p:sldId id="1334" r:id="rId128"/>
    <p:sldId id="1335" r:id="rId129"/>
    <p:sldId id="1336" r:id="rId130"/>
    <p:sldId id="1337" r:id="rId131"/>
    <p:sldId id="1338" r:id="rId132"/>
    <p:sldId id="1339" r:id="rId133"/>
    <p:sldId id="1340" r:id="rId134"/>
    <p:sldId id="1341" r:id="rId135"/>
    <p:sldId id="1342" r:id="rId136"/>
    <p:sldId id="1343" r:id="rId137"/>
    <p:sldId id="1344" r:id="rId138"/>
    <p:sldId id="1345" r:id="rId139"/>
    <p:sldId id="1346" r:id="rId140"/>
    <p:sldId id="1347" r:id="rId141"/>
    <p:sldId id="1348" r:id="rId142"/>
    <p:sldId id="1349" r:id="rId143"/>
    <p:sldId id="1350" r:id="rId144"/>
    <p:sldId id="1351" r:id="rId145"/>
    <p:sldId id="1352" r:id="rId146"/>
    <p:sldId id="1164" r:id="rId147"/>
    <p:sldId id="599" r:id="rId148"/>
    <p:sldId id="972" r:id="rId149"/>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reepiker" initials="F" lastIdx="1" clrIdx="0">
    <p:extLst>
      <p:ext uri="{19B8F6BF-5375-455C-9EA6-DF929625EA0E}">
        <p15:presenceInfo xmlns:p15="http://schemas.microsoft.com/office/powerpoint/2012/main" userId="Freepiker" providerId="None"/>
      </p:ext>
    </p:extLst>
  </p:cmAuthor>
  <p:cmAuthor id="2" name="User" initials="U" lastIdx="3" clrIdx="1">
    <p:extLst>
      <p:ext uri="{19B8F6BF-5375-455C-9EA6-DF929625EA0E}">
        <p15:presenceInfo xmlns:p15="http://schemas.microsoft.com/office/powerpoint/2012/main" userId="User" providerId="None"/>
      </p:ext>
    </p:extLst>
  </p:cmAuthor>
  <p:cmAuthor id="3" name="Trevor Hindson" initials="TH" lastIdx="32" clrIdx="2">
    <p:extLst>
      <p:ext uri="{19B8F6BF-5375-455C-9EA6-DF929625EA0E}">
        <p15:presenceInfo xmlns:p15="http://schemas.microsoft.com/office/powerpoint/2012/main" userId="Trevor Hinds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4C59"/>
    <a:srgbClr val="000000"/>
    <a:srgbClr val="E6E6E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811"/>
    <p:restoredTop sz="84266"/>
  </p:normalViewPr>
  <p:slideViewPr>
    <p:cSldViewPr snapToGrid="0">
      <p:cViewPr varScale="1">
        <p:scale>
          <a:sx n="54" d="100"/>
          <a:sy n="54" d="100"/>
        </p:scale>
        <p:origin x="600" y="216"/>
      </p:cViewPr>
      <p:guideLst>
        <p:guide orient="horz" pos="3240"/>
        <p:guide pos="5760"/>
      </p:guideLst>
    </p:cSldViewPr>
  </p:slideViewPr>
  <p:notesTextViewPr>
    <p:cViewPr>
      <p:scale>
        <a:sx n="1" d="1"/>
        <a:sy n="1" d="1"/>
      </p:scale>
      <p:origin x="0" y="0"/>
    </p:cViewPr>
  </p:notesTextViewPr>
  <p:sorterViewPr>
    <p:cViewPr>
      <p:scale>
        <a:sx n="1" d="1"/>
        <a:sy n="1" d="1"/>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notesMaster" Target="notesMasters/notesMaster1.xml"/><Relationship Id="rId155" Type="http://schemas.openxmlformats.org/officeDocument/2006/relationships/theme" Target="theme/theme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handoutMaster" Target="handoutMasters/handoutMaster1.xml"/><Relationship Id="rId156"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commentAuthors" Target="commentAuthor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viewProps" Target="viewProp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3FF713-3866-C34E-A9BB-7010569D5D31}" type="doc">
      <dgm:prSet loTypeId="urn:microsoft.com/office/officeart/2005/8/layout/cycle3" loCatId="" qsTypeId="urn:microsoft.com/office/officeart/2005/8/quickstyle/simple1" qsCatId="simple" csTypeId="urn:microsoft.com/office/officeart/2005/8/colors/accent1_2" csCatId="accent1" phldr="1"/>
      <dgm:spPr/>
      <dgm:t>
        <a:bodyPr/>
        <a:lstStyle/>
        <a:p>
          <a:endParaRPr lang="en-US"/>
        </a:p>
      </dgm:t>
    </dgm:pt>
    <dgm:pt modelId="{E08D9077-AB3B-1F4E-83F5-80C00C3D55D6}">
      <dgm:prSet phldrT="[Text]"/>
      <dgm:spPr>
        <a:solidFill>
          <a:srgbClr val="EE4C59"/>
        </a:solidFill>
      </dgm:spPr>
      <dgm:t>
        <a:bodyPr/>
        <a:lstStyle/>
        <a:p>
          <a:r>
            <a:rPr lang="en-US" dirty="0"/>
            <a:t>Firewall	</a:t>
          </a:r>
        </a:p>
      </dgm:t>
    </dgm:pt>
    <dgm:pt modelId="{2CD7DEC8-39BC-8949-ACFD-6C9C23B0AA1C}" type="parTrans" cxnId="{7A7ED7A0-B321-C145-9A98-AE6348AE4BB0}">
      <dgm:prSet/>
      <dgm:spPr/>
      <dgm:t>
        <a:bodyPr/>
        <a:lstStyle/>
        <a:p>
          <a:endParaRPr lang="en-US"/>
        </a:p>
      </dgm:t>
    </dgm:pt>
    <dgm:pt modelId="{93DAAB60-159A-2D42-9B5E-FEAF67C76F05}" type="sibTrans" cxnId="{7A7ED7A0-B321-C145-9A98-AE6348AE4BB0}">
      <dgm:prSet/>
      <dgm:spPr/>
      <dgm:t>
        <a:bodyPr/>
        <a:lstStyle/>
        <a:p>
          <a:endParaRPr lang="en-US"/>
        </a:p>
      </dgm:t>
    </dgm:pt>
    <dgm:pt modelId="{DE5949BE-FB10-9849-B6BC-C60032E1BEC5}">
      <dgm:prSet phldrT="[Text]"/>
      <dgm:spPr/>
      <dgm:t>
        <a:bodyPr/>
        <a:lstStyle/>
        <a:p>
          <a:r>
            <a:rPr lang="en-US" dirty="0"/>
            <a:t>Log</a:t>
          </a:r>
        </a:p>
      </dgm:t>
    </dgm:pt>
    <dgm:pt modelId="{9333ABD9-1853-9342-A726-AD80ABBD8536}" type="parTrans" cxnId="{802CBE3B-74A9-F54C-A711-5A13AC278640}">
      <dgm:prSet/>
      <dgm:spPr/>
      <dgm:t>
        <a:bodyPr/>
        <a:lstStyle/>
        <a:p>
          <a:endParaRPr lang="en-US"/>
        </a:p>
      </dgm:t>
    </dgm:pt>
    <dgm:pt modelId="{6DCCE403-99DE-D14F-BB39-F454063FF542}" type="sibTrans" cxnId="{802CBE3B-74A9-F54C-A711-5A13AC278640}">
      <dgm:prSet/>
      <dgm:spPr/>
      <dgm:t>
        <a:bodyPr/>
        <a:lstStyle/>
        <a:p>
          <a:endParaRPr lang="en-US"/>
        </a:p>
      </dgm:t>
    </dgm:pt>
    <dgm:pt modelId="{0DF8FD2D-EA18-0C4A-B864-BCBB664915DB}">
      <dgm:prSet phldrT="[Text]"/>
      <dgm:spPr/>
      <dgm:t>
        <a:bodyPr/>
        <a:lstStyle/>
        <a:p>
          <a:r>
            <a:rPr lang="en-US" dirty="0"/>
            <a:t>Alert</a:t>
          </a:r>
        </a:p>
      </dgm:t>
    </dgm:pt>
    <dgm:pt modelId="{252217DD-0778-DB49-8726-94686E829290}" type="parTrans" cxnId="{D475FA2F-1D16-2C42-96E1-57B619E65070}">
      <dgm:prSet/>
      <dgm:spPr/>
      <dgm:t>
        <a:bodyPr/>
        <a:lstStyle/>
        <a:p>
          <a:endParaRPr lang="en-US"/>
        </a:p>
      </dgm:t>
    </dgm:pt>
    <dgm:pt modelId="{6A87DFDB-E737-654D-825E-C26B3D7767B6}" type="sibTrans" cxnId="{D475FA2F-1D16-2C42-96E1-57B619E65070}">
      <dgm:prSet/>
      <dgm:spPr/>
      <dgm:t>
        <a:bodyPr/>
        <a:lstStyle/>
        <a:p>
          <a:endParaRPr lang="en-US"/>
        </a:p>
      </dgm:t>
    </dgm:pt>
    <dgm:pt modelId="{C12FED22-574C-1A4B-A636-C9E1274AFEBB}">
      <dgm:prSet phldrT="[Text]"/>
      <dgm:spPr>
        <a:solidFill>
          <a:srgbClr val="92D050"/>
        </a:solidFill>
      </dgm:spPr>
      <dgm:t>
        <a:bodyPr/>
        <a:lstStyle/>
        <a:p>
          <a:r>
            <a:rPr lang="en-US" dirty="0"/>
            <a:t>Tom/NW</a:t>
          </a:r>
        </a:p>
      </dgm:t>
    </dgm:pt>
    <dgm:pt modelId="{FC96D83F-DBF3-9841-A89B-344DB038CD03}" type="parTrans" cxnId="{2F3BEEAD-0E60-9146-9933-4EA1F8A3F3AB}">
      <dgm:prSet/>
      <dgm:spPr/>
      <dgm:t>
        <a:bodyPr/>
        <a:lstStyle/>
        <a:p>
          <a:endParaRPr lang="en-US"/>
        </a:p>
      </dgm:t>
    </dgm:pt>
    <dgm:pt modelId="{D0A00F1D-B599-1D42-80B9-B9C0A81F2F4B}" type="sibTrans" cxnId="{2F3BEEAD-0E60-9146-9933-4EA1F8A3F3AB}">
      <dgm:prSet/>
      <dgm:spPr/>
      <dgm:t>
        <a:bodyPr/>
        <a:lstStyle/>
        <a:p>
          <a:endParaRPr lang="en-US"/>
        </a:p>
      </dgm:t>
    </dgm:pt>
    <dgm:pt modelId="{3047C793-0C85-6A49-AC7C-26ADE77AF184}">
      <dgm:prSet phldrT="[Text]"/>
      <dgm:spPr/>
      <dgm:t>
        <a:bodyPr/>
        <a:lstStyle/>
        <a:p>
          <a:r>
            <a:rPr lang="en-US" dirty="0"/>
            <a:t>Investigation</a:t>
          </a:r>
        </a:p>
      </dgm:t>
    </dgm:pt>
    <dgm:pt modelId="{548C3E65-C535-4649-B832-2F428B6E5C04}" type="parTrans" cxnId="{9F5F1B4B-EC1D-1C41-95D5-BADC8BB4D971}">
      <dgm:prSet/>
      <dgm:spPr/>
      <dgm:t>
        <a:bodyPr/>
        <a:lstStyle/>
        <a:p>
          <a:endParaRPr lang="en-US"/>
        </a:p>
      </dgm:t>
    </dgm:pt>
    <dgm:pt modelId="{36D87A71-32DD-E948-863D-4CE61D40D785}" type="sibTrans" cxnId="{9F5F1B4B-EC1D-1C41-95D5-BADC8BB4D971}">
      <dgm:prSet/>
      <dgm:spPr/>
      <dgm:t>
        <a:bodyPr/>
        <a:lstStyle/>
        <a:p>
          <a:endParaRPr lang="en-US"/>
        </a:p>
      </dgm:t>
    </dgm:pt>
    <dgm:pt modelId="{A79653C7-2EC0-4742-8964-9C905C2081C8}">
      <dgm:prSet/>
      <dgm:spPr/>
      <dgm:t>
        <a:bodyPr/>
        <a:lstStyle/>
        <a:p>
          <a:r>
            <a:rPr lang="en-US" dirty="0"/>
            <a:t>Resolution</a:t>
          </a:r>
        </a:p>
      </dgm:t>
    </dgm:pt>
    <dgm:pt modelId="{49CCE30F-2606-5A47-AFF6-0F9CCCE443B6}" type="parTrans" cxnId="{B628083C-C69F-C24F-B4E2-23FABA29663D}">
      <dgm:prSet/>
      <dgm:spPr/>
      <dgm:t>
        <a:bodyPr/>
        <a:lstStyle/>
        <a:p>
          <a:endParaRPr lang="en-US"/>
        </a:p>
      </dgm:t>
    </dgm:pt>
    <dgm:pt modelId="{4D3EB3F2-61F6-244C-9306-426C4B4CD963}" type="sibTrans" cxnId="{B628083C-C69F-C24F-B4E2-23FABA29663D}">
      <dgm:prSet/>
      <dgm:spPr/>
      <dgm:t>
        <a:bodyPr/>
        <a:lstStyle/>
        <a:p>
          <a:endParaRPr lang="en-US"/>
        </a:p>
      </dgm:t>
    </dgm:pt>
    <dgm:pt modelId="{3A8A8EEF-98D4-2F47-9FD8-CA05A8E4F8BF}" type="pres">
      <dgm:prSet presAssocID="{353FF713-3866-C34E-A9BB-7010569D5D31}" presName="Name0" presStyleCnt="0">
        <dgm:presLayoutVars>
          <dgm:dir/>
          <dgm:resizeHandles val="exact"/>
        </dgm:presLayoutVars>
      </dgm:prSet>
      <dgm:spPr/>
    </dgm:pt>
    <dgm:pt modelId="{13AF432A-EDBE-8444-A4B3-562B398D4B47}" type="pres">
      <dgm:prSet presAssocID="{353FF713-3866-C34E-A9BB-7010569D5D31}" presName="cycle" presStyleCnt="0"/>
      <dgm:spPr/>
    </dgm:pt>
    <dgm:pt modelId="{E84233B0-4E4F-D94B-B08C-34E14A02DB9F}" type="pres">
      <dgm:prSet presAssocID="{E08D9077-AB3B-1F4E-83F5-80C00C3D55D6}" presName="nodeFirstNode" presStyleLbl="node1" presStyleIdx="0" presStyleCnt="6">
        <dgm:presLayoutVars>
          <dgm:bulletEnabled val="1"/>
        </dgm:presLayoutVars>
      </dgm:prSet>
      <dgm:spPr/>
    </dgm:pt>
    <dgm:pt modelId="{8812831D-BA05-044C-98FC-2C58A8974150}" type="pres">
      <dgm:prSet presAssocID="{93DAAB60-159A-2D42-9B5E-FEAF67C76F05}" presName="sibTransFirstNode" presStyleLbl="bgShp" presStyleIdx="0" presStyleCnt="1"/>
      <dgm:spPr/>
    </dgm:pt>
    <dgm:pt modelId="{B2A7752C-708C-5146-855D-DB47021A0A19}" type="pres">
      <dgm:prSet presAssocID="{DE5949BE-FB10-9849-B6BC-C60032E1BEC5}" presName="nodeFollowingNodes" presStyleLbl="node1" presStyleIdx="1" presStyleCnt="6" custRadScaleRad="99121" custRadScaleInc="-571">
        <dgm:presLayoutVars>
          <dgm:bulletEnabled val="1"/>
        </dgm:presLayoutVars>
      </dgm:prSet>
      <dgm:spPr/>
    </dgm:pt>
    <dgm:pt modelId="{B8DC0B03-981E-EE4F-95EB-19B67048C06B}" type="pres">
      <dgm:prSet presAssocID="{0DF8FD2D-EA18-0C4A-B864-BCBB664915DB}" presName="nodeFollowingNodes" presStyleLbl="node1" presStyleIdx="2" presStyleCnt="6">
        <dgm:presLayoutVars>
          <dgm:bulletEnabled val="1"/>
        </dgm:presLayoutVars>
      </dgm:prSet>
      <dgm:spPr/>
    </dgm:pt>
    <dgm:pt modelId="{0CBDC874-D786-9546-A539-75DC6B4AE850}" type="pres">
      <dgm:prSet presAssocID="{C12FED22-574C-1A4B-A636-C9E1274AFEBB}" presName="nodeFollowingNodes" presStyleLbl="node1" presStyleIdx="3" presStyleCnt="6">
        <dgm:presLayoutVars>
          <dgm:bulletEnabled val="1"/>
        </dgm:presLayoutVars>
      </dgm:prSet>
      <dgm:spPr/>
    </dgm:pt>
    <dgm:pt modelId="{D07FF64A-BB8F-2F46-9AE8-CA26133ABA75}" type="pres">
      <dgm:prSet presAssocID="{3047C793-0C85-6A49-AC7C-26ADE77AF184}" presName="nodeFollowingNodes" presStyleLbl="node1" presStyleIdx="4" presStyleCnt="6">
        <dgm:presLayoutVars>
          <dgm:bulletEnabled val="1"/>
        </dgm:presLayoutVars>
      </dgm:prSet>
      <dgm:spPr/>
    </dgm:pt>
    <dgm:pt modelId="{44A76612-52E0-BE4E-BA38-32AE6361C5AE}" type="pres">
      <dgm:prSet presAssocID="{A79653C7-2EC0-4742-8964-9C905C2081C8}" presName="nodeFollowingNodes" presStyleLbl="node1" presStyleIdx="5" presStyleCnt="6">
        <dgm:presLayoutVars>
          <dgm:bulletEnabled val="1"/>
        </dgm:presLayoutVars>
      </dgm:prSet>
      <dgm:spPr/>
    </dgm:pt>
  </dgm:ptLst>
  <dgm:cxnLst>
    <dgm:cxn modelId="{EA2C5F2A-0730-9D42-A3AC-7F81E59A2D04}" type="presOf" srcId="{C12FED22-574C-1A4B-A636-C9E1274AFEBB}" destId="{0CBDC874-D786-9546-A539-75DC6B4AE850}" srcOrd="0" destOrd="0" presId="urn:microsoft.com/office/officeart/2005/8/layout/cycle3"/>
    <dgm:cxn modelId="{D475FA2F-1D16-2C42-96E1-57B619E65070}" srcId="{353FF713-3866-C34E-A9BB-7010569D5D31}" destId="{0DF8FD2D-EA18-0C4A-B864-BCBB664915DB}" srcOrd="2" destOrd="0" parTransId="{252217DD-0778-DB49-8726-94686E829290}" sibTransId="{6A87DFDB-E737-654D-825E-C26B3D7767B6}"/>
    <dgm:cxn modelId="{F829EF3A-6425-E74A-827F-D8091537C9AB}" type="presOf" srcId="{E08D9077-AB3B-1F4E-83F5-80C00C3D55D6}" destId="{E84233B0-4E4F-D94B-B08C-34E14A02DB9F}" srcOrd="0" destOrd="0" presId="urn:microsoft.com/office/officeart/2005/8/layout/cycle3"/>
    <dgm:cxn modelId="{802CBE3B-74A9-F54C-A711-5A13AC278640}" srcId="{353FF713-3866-C34E-A9BB-7010569D5D31}" destId="{DE5949BE-FB10-9849-B6BC-C60032E1BEC5}" srcOrd="1" destOrd="0" parTransId="{9333ABD9-1853-9342-A726-AD80ABBD8536}" sibTransId="{6DCCE403-99DE-D14F-BB39-F454063FF542}"/>
    <dgm:cxn modelId="{B628083C-C69F-C24F-B4E2-23FABA29663D}" srcId="{353FF713-3866-C34E-A9BB-7010569D5D31}" destId="{A79653C7-2EC0-4742-8964-9C905C2081C8}" srcOrd="5" destOrd="0" parTransId="{49CCE30F-2606-5A47-AFF6-0F9CCCE443B6}" sibTransId="{4D3EB3F2-61F6-244C-9306-426C4B4CD963}"/>
    <dgm:cxn modelId="{9F5F1B4B-EC1D-1C41-95D5-BADC8BB4D971}" srcId="{353FF713-3866-C34E-A9BB-7010569D5D31}" destId="{3047C793-0C85-6A49-AC7C-26ADE77AF184}" srcOrd="4" destOrd="0" parTransId="{548C3E65-C535-4649-B832-2F428B6E5C04}" sibTransId="{36D87A71-32DD-E948-863D-4CE61D40D785}"/>
    <dgm:cxn modelId="{BDB5A558-455A-C040-84CC-391BF331BBA9}" type="presOf" srcId="{3047C793-0C85-6A49-AC7C-26ADE77AF184}" destId="{D07FF64A-BB8F-2F46-9AE8-CA26133ABA75}" srcOrd="0" destOrd="0" presId="urn:microsoft.com/office/officeart/2005/8/layout/cycle3"/>
    <dgm:cxn modelId="{BE785F63-DFEF-0A4E-95BD-5486E595C4CD}" type="presOf" srcId="{353FF713-3866-C34E-A9BB-7010569D5D31}" destId="{3A8A8EEF-98D4-2F47-9FD8-CA05A8E4F8BF}" srcOrd="0" destOrd="0" presId="urn:microsoft.com/office/officeart/2005/8/layout/cycle3"/>
    <dgm:cxn modelId="{22FADA68-D95B-754C-8422-6DCCB7568691}" type="presOf" srcId="{0DF8FD2D-EA18-0C4A-B864-BCBB664915DB}" destId="{B8DC0B03-981E-EE4F-95EB-19B67048C06B}" srcOrd="0" destOrd="0" presId="urn:microsoft.com/office/officeart/2005/8/layout/cycle3"/>
    <dgm:cxn modelId="{6805B09F-C600-2E4D-AFF5-9BC959B78E89}" type="presOf" srcId="{93DAAB60-159A-2D42-9B5E-FEAF67C76F05}" destId="{8812831D-BA05-044C-98FC-2C58A8974150}" srcOrd="0" destOrd="0" presId="urn:microsoft.com/office/officeart/2005/8/layout/cycle3"/>
    <dgm:cxn modelId="{7A7ED7A0-B321-C145-9A98-AE6348AE4BB0}" srcId="{353FF713-3866-C34E-A9BB-7010569D5D31}" destId="{E08D9077-AB3B-1F4E-83F5-80C00C3D55D6}" srcOrd="0" destOrd="0" parTransId="{2CD7DEC8-39BC-8949-ACFD-6C9C23B0AA1C}" sibTransId="{93DAAB60-159A-2D42-9B5E-FEAF67C76F05}"/>
    <dgm:cxn modelId="{2F3BEEAD-0E60-9146-9933-4EA1F8A3F3AB}" srcId="{353FF713-3866-C34E-A9BB-7010569D5D31}" destId="{C12FED22-574C-1A4B-A636-C9E1274AFEBB}" srcOrd="3" destOrd="0" parTransId="{FC96D83F-DBF3-9841-A89B-344DB038CD03}" sibTransId="{D0A00F1D-B599-1D42-80B9-B9C0A81F2F4B}"/>
    <dgm:cxn modelId="{62B62ED7-3FEB-D348-9504-619130518A16}" type="presOf" srcId="{DE5949BE-FB10-9849-B6BC-C60032E1BEC5}" destId="{B2A7752C-708C-5146-855D-DB47021A0A19}" srcOrd="0" destOrd="0" presId="urn:microsoft.com/office/officeart/2005/8/layout/cycle3"/>
    <dgm:cxn modelId="{EBB36EF0-D19F-FD4B-9C70-98D4898884A1}" type="presOf" srcId="{A79653C7-2EC0-4742-8964-9C905C2081C8}" destId="{44A76612-52E0-BE4E-BA38-32AE6361C5AE}" srcOrd="0" destOrd="0" presId="urn:microsoft.com/office/officeart/2005/8/layout/cycle3"/>
    <dgm:cxn modelId="{201ACB67-81E2-7C4F-9F5D-B13716CA27EA}" type="presParOf" srcId="{3A8A8EEF-98D4-2F47-9FD8-CA05A8E4F8BF}" destId="{13AF432A-EDBE-8444-A4B3-562B398D4B47}" srcOrd="0" destOrd="0" presId="urn:microsoft.com/office/officeart/2005/8/layout/cycle3"/>
    <dgm:cxn modelId="{3B2652BB-4606-2645-A42E-8DFF03165C1D}" type="presParOf" srcId="{13AF432A-EDBE-8444-A4B3-562B398D4B47}" destId="{E84233B0-4E4F-D94B-B08C-34E14A02DB9F}" srcOrd="0" destOrd="0" presId="urn:microsoft.com/office/officeart/2005/8/layout/cycle3"/>
    <dgm:cxn modelId="{E73E3F2A-4C94-5343-95D4-31A2B147A4A8}" type="presParOf" srcId="{13AF432A-EDBE-8444-A4B3-562B398D4B47}" destId="{8812831D-BA05-044C-98FC-2C58A8974150}" srcOrd="1" destOrd="0" presId="urn:microsoft.com/office/officeart/2005/8/layout/cycle3"/>
    <dgm:cxn modelId="{6AED1091-5FD3-A84E-94E0-7FBEF091D40E}" type="presParOf" srcId="{13AF432A-EDBE-8444-A4B3-562B398D4B47}" destId="{B2A7752C-708C-5146-855D-DB47021A0A19}" srcOrd="2" destOrd="0" presId="urn:microsoft.com/office/officeart/2005/8/layout/cycle3"/>
    <dgm:cxn modelId="{B6946606-8DC3-654A-8531-3278A4BCA166}" type="presParOf" srcId="{13AF432A-EDBE-8444-A4B3-562B398D4B47}" destId="{B8DC0B03-981E-EE4F-95EB-19B67048C06B}" srcOrd="3" destOrd="0" presId="urn:microsoft.com/office/officeart/2005/8/layout/cycle3"/>
    <dgm:cxn modelId="{B0675325-3E87-524B-9A6E-DD8D96F77EF6}" type="presParOf" srcId="{13AF432A-EDBE-8444-A4B3-562B398D4B47}" destId="{0CBDC874-D786-9546-A539-75DC6B4AE850}" srcOrd="4" destOrd="0" presId="urn:microsoft.com/office/officeart/2005/8/layout/cycle3"/>
    <dgm:cxn modelId="{72AB9B9C-C1E6-674C-A3CC-941359FC57C8}" type="presParOf" srcId="{13AF432A-EDBE-8444-A4B3-562B398D4B47}" destId="{D07FF64A-BB8F-2F46-9AE8-CA26133ABA75}" srcOrd="5" destOrd="0" presId="urn:microsoft.com/office/officeart/2005/8/layout/cycle3"/>
    <dgm:cxn modelId="{4202A1ED-B86B-1740-AE3B-71E1D557BD95}" type="presParOf" srcId="{13AF432A-EDBE-8444-A4B3-562B398D4B47}" destId="{44A76612-52E0-BE4E-BA38-32AE6361C5AE}" srcOrd="6"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4CC2AD-033A-4B41-8BA5-933697E163D0}"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0CA2E2DD-BC6A-8449-8FCF-DF21E35BA35C}">
      <dgm:prSet phldrT="[Text]"/>
      <dgm:spPr/>
      <dgm:t>
        <a:bodyPr/>
        <a:lstStyle/>
        <a:p>
          <a:r>
            <a:rPr lang="en-US" dirty="0"/>
            <a:t>Request</a:t>
          </a:r>
        </a:p>
      </dgm:t>
    </dgm:pt>
    <dgm:pt modelId="{981F0DDD-CB36-F047-A42C-23DA3A8D7C78}" type="parTrans" cxnId="{5A78664B-3F6D-EF48-A3B4-1F1D0D5E3E89}">
      <dgm:prSet/>
      <dgm:spPr/>
      <dgm:t>
        <a:bodyPr/>
        <a:lstStyle/>
        <a:p>
          <a:endParaRPr lang="en-US"/>
        </a:p>
      </dgm:t>
    </dgm:pt>
    <dgm:pt modelId="{F8D44C44-1B09-824B-BB8B-053F99064F6C}" type="sibTrans" cxnId="{5A78664B-3F6D-EF48-A3B4-1F1D0D5E3E89}">
      <dgm:prSet/>
      <dgm:spPr/>
      <dgm:t>
        <a:bodyPr/>
        <a:lstStyle/>
        <a:p>
          <a:endParaRPr lang="en-US"/>
        </a:p>
      </dgm:t>
    </dgm:pt>
    <dgm:pt modelId="{FD330010-FC99-1149-9219-CA4B55E44040}">
      <dgm:prSet phldrT="[Text]"/>
      <dgm:spPr/>
      <dgm:t>
        <a:bodyPr/>
        <a:lstStyle/>
        <a:p>
          <a:r>
            <a:rPr lang="en-US" dirty="0"/>
            <a:t>Assess</a:t>
          </a:r>
        </a:p>
      </dgm:t>
    </dgm:pt>
    <dgm:pt modelId="{CE5B9E9C-3DE1-5941-B90F-6952A6FB834E}" type="parTrans" cxnId="{5FBDC8A1-80AB-6344-A3E3-B06168194854}">
      <dgm:prSet/>
      <dgm:spPr/>
      <dgm:t>
        <a:bodyPr/>
        <a:lstStyle/>
        <a:p>
          <a:endParaRPr lang="en-US"/>
        </a:p>
      </dgm:t>
    </dgm:pt>
    <dgm:pt modelId="{A85E29BB-77AE-1C40-8572-DE649CAC7A93}" type="sibTrans" cxnId="{5FBDC8A1-80AB-6344-A3E3-B06168194854}">
      <dgm:prSet/>
      <dgm:spPr/>
      <dgm:t>
        <a:bodyPr/>
        <a:lstStyle/>
        <a:p>
          <a:endParaRPr lang="en-US"/>
        </a:p>
      </dgm:t>
    </dgm:pt>
    <dgm:pt modelId="{7DBDE455-43A9-7041-A491-36366455D960}">
      <dgm:prSet phldrT="[Text]"/>
      <dgm:spPr/>
      <dgm:t>
        <a:bodyPr/>
        <a:lstStyle/>
        <a:p>
          <a:r>
            <a:rPr lang="en-US" dirty="0"/>
            <a:t>Approve</a:t>
          </a:r>
        </a:p>
      </dgm:t>
    </dgm:pt>
    <dgm:pt modelId="{E25A6D03-7101-F74D-88A0-BE42FAE779CA}" type="parTrans" cxnId="{8308C489-ED35-A542-BAB1-4F94A189B7B3}">
      <dgm:prSet/>
      <dgm:spPr/>
      <dgm:t>
        <a:bodyPr/>
        <a:lstStyle/>
        <a:p>
          <a:endParaRPr lang="en-US"/>
        </a:p>
      </dgm:t>
    </dgm:pt>
    <dgm:pt modelId="{FC979F76-1FE4-654D-82EE-E905B921C784}" type="sibTrans" cxnId="{8308C489-ED35-A542-BAB1-4F94A189B7B3}">
      <dgm:prSet/>
      <dgm:spPr/>
      <dgm:t>
        <a:bodyPr/>
        <a:lstStyle/>
        <a:p>
          <a:endParaRPr lang="en-US"/>
        </a:p>
      </dgm:t>
    </dgm:pt>
    <dgm:pt modelId="{6B5C6844-A0C0-E243-892D-54518F30F3FC}">
      <dgm:prSet phldrT="[Text]"/>
      <dgm:spPr/>
      <dgm:t>
        <a:bodyPr/>
        <a:lstStyle/>
        <a:p>
          <a:r>
            <a:rPr lang="en-US" dirty="0"/>
            <a:t>Verify</a:t>
          </a:r>
        </a:p>
      </dgm:t>
    </dgm:pt>
    <dgm:pt modelId="{B77EE58F-C271-7847-B219-1C94FD532F6A}" type="parTrans" cxnId="{1B946300-21F4-EB48-9442-D0F45329EB0D}">
      <dgm:prSet/>
      <dgm:spPr/>
      <dgm:t>
        <a:bodyPr/>
        <a:lstStyle/>
        <a:p>
          <a:endParaRPr lang="en-US"/>
        </a:p>
      </dgm:t>
    </dgm:pt>
    <dgm:pt modelId="{2BC61414-CBD6-E14F-AD16-ADB011E7C6F2}" type="sibTrans" cxnId="{1B946300-21F4-EB48-9442-D0F45329EB0D}">
      <dgm:prSet/>
      <dgm:spPr/>
      <dgm:t>
        <a:bodyPr/>
        <a:lstStyle/>
        <a:p>
          <a:endParaRPr lang="en-US"/>
        </a:p>
      </dgm:t>
    </dgm:pt>
    <dgm:pt modelId="{D8EA67C1-FC52-CB4D-917C-6DE74F23C9BB}">
      <dgm:prSet/>
      <dgm:spPr/>
      <dgm:t>
        <a:bodyPr/>
        <a:lstStyle/>
        <a:p>
          <a:r>
            <a:rPr lang="en-US" dirty="0"/>
            <a:t>Strategy</a:t>
          </a:r>
        </a:p>
      </dgm:t>
    </dgm:pt>
    <dgm:pt modelId="{2E083DA8-E235-A046-8BF3-E3A369F10D37}" type="parTrans" cxnId="{4DF181F1-5573-294D-8625-1EC7C31BAA20}">
      <dgm:prSet/>
      <dgm:spPr/>
      <dgm:t>
        <a:bodyPr/>
        <a:lstStyle/>
        <a:p>
          <a:endParaRPr lang="en-US"/>
        </a:p>
      </dgm:t>
    </dgm:pt>
    <dgm:pt modelId="{C199B27C-4100-AC4E-A245-CD56912AE480}" type="sibTrans" cxnId="{4DF181F1-5573-294D-8625-1EC7C31BAA20}">
      <dgm:prSet/>
      <dgm:spPr/>
      <dgm:t>
        <a:bodyPr/>
        <a:lstStyle/>
        <a:p>
          <a:endParaRPr lang="en-US"/>
        </a:p>
      </dgm:t>
    </dgm:pt>
    <dgm:pt modelId="{7A0A3F7A-4F29-0745-8F7E-E2D73DFF72C4}" type="pres">
      <dgm:prSet presAssocID="{354CC2AD-033A-4B41-8BA5-933697E163D0}" presName="cycle" presStyleCnt="0">
        <dgm:presLayoutVars>
          <dgm:dir/>
          <dgm:resizeHandles val="exact"/>
        </dgm:presLayoutVars>
      </dgm:prSet>
      <dgm:spPr/>
    </dgm:pt>
    <dgm:pt modelId="{10E0C454-706F-E547-9332-B0E5133B7956}" type="pres">
      <dgm:prSet presAssocID="{0CA2E2DD-BC6A-8449-8FCF-DF21E35BA35C}" presName="node" presStyleLbl="node1" presStyleIdx="0" presStyleCnt="5">
        <dgm:presLayoutVars>
          <dgm:bulletEnabled val="1"/>
        </dgm:presLayoutVars>
      </dgm:prSet>
      <dgm:spPr/>
    </dgm:pt>
    <dgm:pt modelId="{080E68B2-1E2A-D44B-A582-2BCF223B32AB}" type="pres">
      <dgm:prSet presAssocID="{F8D44C44-1B09-824B-BB8B-053F99064F6C}" presName="sibTrans" presStyleLbl="sibTrans2D1" presStyleIdx="0" presStyleCnt="5"/>
      <dgm:spPr/>
    </dgm:pt>
    <dgm:pt modelId="{8616C19C-4B16-AD44-888F-97E22F1F387E}" type="pres">
      <dgm:prSet presAssocID="{F8D44C44-1B09-824B-BB8B-053F99064F6C}" presName="connectorText" presStyleLbl="sibTrans2D1" presStyleIdx="0" presStyleCnt="5"/>
      <dgm:spPr/>
    </dgm:pt>
    <dgm:pt modelId="{40A408B5-A8FE-2D4E-A1BD-481FAE7AFFE3}" type="pres">
      <dgm:prSet presAssocID="{FD330010-FC99-1149-9219-CA4B55E44040}" presName="node" presStyleLbl="node1" presStyleIdx="1" presStyleCnt="5">
        <dgm:presLayoutVars>
          <dgm:bulletEnabled val="1"/>
        </dgm:presLayoutVars>
      </dgm:prSet>
      <dgm:spPr/>
    </dgm:pt>
    <dgm:pt modelId="{4AB0CFAA-7FD3-E148-966F-0735DCF32599}" type="pres">
      <dgm:prSet presAssocID="{A85E29BB-77AE-1C40-8572-DE649CAC7A93}" presName="sibTrans" presStyleLbl="sibTrans2D1" presStyleIdx="1" presStyleCnt="5"/>
      <dgm:spPr/>
    </dgm:pt>
    <dgm:pt modelId="{4B69C918-0209-5648-945C-4933D31156E0}" type="pres">
      <dgm:prSet presAssocID="{A85E29BB-77AE-1C40-8572-DE649CAC7A93}" presName="connectorText" presStyleLbl="sibTrans2D1" presStyleIdx="1" presStyleCnt="5"/>
      <dgm:spPr/>
    </dgm:pt>
    <dgm:pt modelId="{48B57FA2-3C22-1D46-B26E-8DEA2FE8199C}" type="pres">
      <dgm:prSet presAssocID="{7DBDE455-43A9-7041-A491-36366455D960}" presName="node" presStyleLbl="node1" presStyleIdx="2" presStyleCnt="5">
        <dgm:presLayoutVars>
          <dgm:bulletEnabled val="1"/>
        </dgm:presLayoutVars>
      </dgm:prSet>
      <dgm:spPr/>
    </dgm:pt>
    <dgm:pt modelId="{1F98F966-B17E-C043-88DA-72F9E76DF5ED}" type="pres">
      <dgm:prSet presAssocID="{FC979F76-1FE4-654D-82EE-E905B921C784}" presName="sibTrans" presStyleLbl="sibTrans2D1" presStyleIdx="2" presStyleCnt="5"/>
      <dgm:spPr/>
    </dgm:pt>
    <dgm:pt modelId="{BE81807A-659E-594C-A42D-83E163F6300C}" type="pres">
      <dgm:prSet presAssocID="{FC979F76-1FE4-654D-82EE-E905B921C784}" presName="connectorText" presStyleLbl="sibTrans2D1" presStyleIdx="2" presStyleCnt="5"/>
      <dgm:spPr/>
    </dgm:pt>
    <dgm:pt modelId="{3C1AA061-3B1E-BE48-BAE2-468E7A5B3832}" type="pres">
      <dgm:prSet presAssocID="{6B5C6844-A0C0-E243-892D-54518F30F3FC}" presName="node" presStyleLbl="node1" presStyleIdx="3" presStyleCnt="5">
        <dgm:presLayoutVars>
          <dgm:bulletEnabled val="1"/>
        </dgm:presLayoutVars>
      </dgm:prSet>
      <dgm:spPr/>
    </dgm:pt>
    <dgm:pt modelId="{A392578B-1C5B-7F40-8538-5B3DEADE9914}" type="pres">
      <dgm:prSet presAssocID="{2BC61414-CBD6-E14F-AD16-ADB011E7C6F2}" presName="sibTrans" presStyleLbl="sibTrans2D1" presStyleIdx="3" presStyleCnt="5"/>
      <dgm:spPr/>
    </dgm:pt>
    <dgm:pt modelId="{0BC8DAEC-4E5A-4346-9156-82DE63C6EA1A}" type="pres">
      <dgm:prSet presAssocID="{2BC61414-CBD6-E14F-AD16-ADB011E7C6F2}" presName="connectorText" presStyleLbl="sibTrans2D1" presStyleIdx="3" presStyleCnt="5"/>
      <dgm:spPr/>
    </dgm:pt>
    <dgm:pt modelId="{3515EA7F-FD93-1944-BC19-5091975D0B0A}" type="pres">
      <dgm:prSet presAssocID="{D8EA67C1-FC52-CB4D-917C-6DE74F23C9BB}" presName="node" presStyleLbl="node1" presStyleIdx="4" presStyleCnt="5">
        <dgm:presLayoutVars>
          <dgm:bulletEnabled val="1"/>
        </dgm:presLayoutVars>
      </dgm:prSet>
      <dgm:spPr/>
    </dgm:pt>
    <dgm:pt modelId="{0732FA05-F42E-4544-A7B7-6B1CA1937A42}" type="pres">
      <dgm:prSet presAssocID="{C199B27C-4100-AC4E-A245-CD56912AE480}" presName="sibTrans" presStyleLbl="sibTrans2D1" presStyleIdx="4" presStyleCnt="5"/>
      <dgm:spPr/>
    </dgm:pt>
    <dgm:pt modelId="{A2C7196A-13B1-F744-881D-CF8060A6E7A1}" type="pres">
      <dgm:prSet presAssocID="{C199B27C-4100-AC4E-A245-CD56912AE480}" presName="connectorText" presStyleLbl="sibTrans2D1" presStyleIdx="4" presStyleCnt="5"/>
      <dgm:spPr/>
    </dgm:pt>
  </dgm:ptLst>
  <dgm:cxnLst>
    <dgm:cxn modelId="{1B946300-21F4-EB48-9442-D0F45329EB0D}" srcId="{354CC2AD-033A-4B41-8BA5-933697E163D0}" destId="{6B5C6844-A0C0-E243-892D-54518F30F3FC}" srcOrd="3" destOrd="0" parTransId="{B77EE58F-C271-7847-B219-1C94FD532F6A}" sibTransId="{2BC61414-CBD6-E14F-AD16-ADB011E7C6F2}"/>
    <dgm:cxn modelId="{4E5FF506-5662-6E4D-BD2B-DA07C7CFA9E4}" type="presOf" srcId="{C199B27C-4100-AC4E-A245-CD56912AE480}" destId="{0732FA05-F42E-4544-A7B7-6B1CA1937A42}" srcOrd="0" destOrd="0" presId="urn:microsoft.com/office/officeart/2005/8/layout/cycle2"/>
    <dgm:cxn modelId="{ACCDD726-78FC-3747-A6EA-53F6735AB39C}" type="presOf" srcId="{F8D44C44-1B09-824B-BB8B-053F99064F6C}" destId="{080E68B2-1E2A-D44B-A582-2BCF223B32AB}" srcOrd="0" destOrd="0" presId="urn:microsoft.com/office/officeart/2005/8/layout/cycle2"/>
    <dgm:cxn modelId="{6237D028-0CFC-854E-BED3-75DF1C67EB4C}" type="presOf" srcId="{FC979F76-1FE4-654D-82EE-E905B921C784}" destId="{1F98F966-B17E-C043-88DA-72F9E76DF5ED}" srcOrd="0" destOrd="0" presId="urn:microsoft.com/office/officeart/2005/8/layout/cycle2"/>
    <dgm:cxn modelId="{0490E32F-D409-6048-96BE-030309045292}" type="presOf" srcId="{FD330010-FC99-1149-9219-CA4B55E44040}" destId="{40A408B5-A8FE-2D4E-A1BD-481FAE7AFFE3}" srcOrd="0" destOrd="0" presId="urn:microsoft.com/office/officeart/2005/8/layout/cycle2"/>
    <dgm:cxn modelId="{69D9F531-6E20-8246-A66D-8AFE133F4445}" type="presOf" srcId="{FC979F76-1FE4-654D-82EE-E905B921C784}" destId="{BE81807A-659E-594C-A42D-83E163F6300C}" srcOrd="1" destOrd="0" presId="urn:microsoft.com/office/officeart/2005/8/layout/cycle2"/>
    <dgm:cxn modelId="{EBBBCF33-A675-5A48-A686-8E627AD07FF7}" type="presOf" srcId="{6B5C6844-A0C0-E243-892D-54518F30F3FC}" destId="{3C1AA061-3B1E-BE48-BAE2-468E7A5B3832}" srcOrd="0" destOrd="0" presId="urn:microsoft.com/office/officeart/2005/8/layout/cycle2"/>
    <dgm:cxn modelId="{98032836-EC63-3541-8EEA-94B2F97B7AE0}" type="presOf" srcId="{F8D44C44-1B09-824B-BB8B-053F99064F6C}" destId="{8616C19C-4B16-AD44-888F-97E22F1F387E}" srcOrd="1" destOrd="0" presId="urn:microsoft.com/office/officeart/2005/8/layout/cycle2"/>
    <dgm:cxn modelId="{F5554648-D390-3C4B-8500-E89871E6225E}" type="presOf" srcId="{2BC61414-CBD6-E14F-AD16-ADB011E7C6F2}" destId="{A392578B-1C5B-7F40-8538-5B3DEADE9914}" srcOrd="0" destOrd="0" presId="urn:microsoft.com/office/officeart/2005/8/layout/cycle2"/>
    <dgm:cxn modelId="{5A78664B-3F6D-EF48-A3B4-1F1D0D5E3E89}" srcId="{354CC2AD-033A-4B41-8BA5-933697E163D0}" destId="{0CA2E2DD-BC6A-8449-8FCF-DF21E35BA35C}" srcOrd="0" destOrd="0" parTransId="{981F0DDD-CB36-F047-A42C-23DA3A8D7C78}" sibTransId="{F8D44C44-1B09-824B-BB8B-053F99064F6C}"/>
    <dgm:cxn modelId="{BD4F744B-4CB1-AA43-A53D-925C26C3422B}" type="presOf" srcId="{2BC61414-CBD6-E14F-AD16-ADB011E7C6F2}" destId="{0BC8DAEC-4E5A-4346-9156-82DE63C6EA1A}" srcOrd="1" destOrd="0" presId="urn:microsoft.com/office/officeart/2005/8/layout/cycle2"/>
    <dgm:cxn modelId="{ED927981-4F23-B34E-A9F0-D6441E8674CC}" type="presOf" srcId="{C199B27C-4100-AC4E-A245-CD56912AE480}" destId="{A2C7196A-13B1-F744-881D-CF8060A6E7A1}" srcOrd="1" destOrd="0" presId="urn:microsoft.com/office/officeart/2005/8/layout/cycle2"/>
    <dgm:cxn modelId="{8308C489-ED35-A542-BAB1-4F94A189B7B3}" srcId="{354CC2AD-033A-4B41-8BA5-933697E163D0}" destId="{7DBDE455-43A9-7041-A491-36366455D960}" srcOrd="2" destOrd="0" parTransId="{E25A6D03-7101-F74D-88A0-BE42FAE779CA}" sibTransId="{FC979F76-1FE4-654D-82EE-E905B921C784}"/>
    <dgm:cxn modelId="{5FBDC8A1-80AB-6344-A3E3-B06168194854}" srcId="{354CC2AD-033A-4B41-8BA5-933697E163D0}" destId="{FD330010-FC99-1149-9219-CA4B55E44040}" srcOrd="1" destOrd="0" parTransId="{CE5B9E9C-3DE1-5941-B90F-6952A6FB834E}" sibTransId="{A85E29BB-77AE-1C40-8572-DE649CAC7A93}"/>
    <dgm:cxn modelId="{797F7CB1-65A1-FA4F-A572-52E8D01234FA}" type="presOf" srcId="{A85E29BB-77AE-1C40-8572-DE649CAC7A93}" destId="{4AB0CFAA-7FD3-E148-966F-0735DCF32599}" srcOrd="0" destOrd="0" presId="urn:microsoft.com/office/officeart/2005/8/layout/cycle2"/>
    <dgm:cxn modelId="{1CDCC9B2-1608-A94E-95DB-F48B3091DBFC}" type="presOf" srcId="{354CC2AD-033A-4B41-8BA5-933697E163D0}" destId="{7A0A3F7A-4F29-0745-8F7E-E2D73DFF72C4}" srcOrd="0" destOrd="0" presId="urn:microsoft.com/office/officeart/2005/8/layout/cycle2"/>
    <dgm:cxn modelId="{48C71CCF-218B-1B4A-BD91-96E93E49C656}" type="presOf" srcId="{A85E29BB-77AE-1C40-8572-DE649CAC7A93}" destId="{4B69C918-0209-5648-945C-4933D31156E0}" srcOrd="1" destOrd="0" presId="urn:microsoft.com/office/officeart/2005/8/layout/cycle2"/>
    <dgm:cxn modelId="{D17A3EDB-A77B-2C42-8A1E-AB27359A6288}" type="presOf" srcId="{7DBDE455-43A9-7041-A491-36366455D960}" destId="{48B57FA2-3C22-1D46-B26E-8DEA2FE8199C}" srcOrd="0" destOrd="0" presId="urn:microsoft.com/office/officeart/2005/8/layout/cycle2"/>
    <dgm:cxn modelId="{463F67DE-1935-6D4C-98BF-AC73B4172BFF}" type="presOf" srcId="{0CA2E2DD-BC6A-8449-8FCF-DF21E35BA35C}" destId="{10E0C454-706F-E547-9332-B0E5133B7956}" srcOrd="0" destOrd="0" presId="urn:microsoft.com/office/officeart/2005/8/layout/cycle2"/>
    <dgm:cxn modelId="{4DF181F1-5573-294D-8625-1EC7C31BAA20}" srcId="{354CC2AD-033A-4B41-8BA5-933697E163D0}" destId="{D8EA67C1-FC52-CB4D-917C-6DE74F23C9BB}" srcOrd="4" destOrd="0" parTransId="{2E083DA8-E235-A046-8BF3-E3A369F10D37}" sibTransId="{C199B27C-4100-AC4E-A245-CD56912AE480}"/>
    <dgm:cxn modelId="{6C044DF7-0163-1A47-BB41-0433D7D10595}" type="presOf" srcId="{D8EA67C1-FC52-CB4D-917C-6DE74F23C9BB}" destId="{3515EA7F-FD93-1944-BC19-5091975D0B0A}" srcOrd="0" destOrd="0" presId="urn:microsoft.com/office/officeart/2005/8/layout/cycle2"/>
    <dgm:cxn modelId="{13F332DF-1D37-334A-B6D4-F321B7F73583}" type="presParOf" srcId="{7A0A3F7A-4F29-0745-8F7E-E2D73DFF72C4}" destId="{10E0C454-706F-E547-9332-B0E5133B7956}" srcOrd="0" destOrd="0" presId="urn:microsoft.com/office/officeart/2005/8/layout/cycle2"/>
    <dgm:cxn modelId="{FE927CBE-AB15-DF4F-9E3F-F3A9D56BF924}" type="presParOf" srcId="{7A0A3F7A-4F29-0745-8F7E-E2D73DFF72C4}" destId="{080E68B2-1E2A-D44B-A582-2BCF223B32AB}" srcOrd="1" destOrd="0" presId="urn:microsoft.com/office/officeart/2005/8/layout/cycle2"/>
    <dgm:cxn modelId="{FE9B363E-7066-D04A-BEC5-DD1B1B2563EA}" type="presParOf" srcId="{080E68B2-1E2A-D44B-A582-2BCF223B32AB}" destId="{8616C19C-4B16-AD44-888F-97E22F1F387E}" srcOrd="0" destOrd="0" presId="urn:microsoft.com/office/officeart/2005/8/layout/cycle2"/>
    <dgm:cxn modelId="{A3867FF2-C01A-2143-B5D2-DB6A91F975A0}" type="presParOf" srcId="{7A0A3F7A-4F29-0745-8F7E-E2D73DFF72C4}" destId="{40A408B5-A8FE-2D4E-A1BD-481FAE7AFFE3}" srcOrd="2" destOrd="0" presId="urn:microsoft.com/office/officeart/2005/8/layout/cycle2"/>
    <dgm:cxn modelId="{4AA12990-4D7E-7D4D-A317-4B6BDE66B5FE}" type="presParOf" srcId="{7A0A3F7A-4F29-0745-8F7E-E2D73DFF72C4}" destId="{4AB0CFAA-7FD3-E148-966F-0735DCF32599}" srcOrd="3" destOrd="0" presId="urn:microsoft.com/office/officeart/2005/8/layout/cycle2"/>
    <dgm:cxn modelId="{907E9AE6-3FC6-BC4E-AAB5-7FD0453D5868}" type="presParOf" srcId="{4AB0CFAA-7FD3-E148-966F-0735DCF32599}" destId="{4B69C918-0209-5648-945C-4933D31156E0}" srcOrd="0" destOrd="0" presId="urn:microsoft.com/office/officeart/2005/8/layout/cycle2"/>
    <dgm:cxn modelId="{362C7B19-960E-774D-9125-10AD02D79133}" type="presParOf" srcId="{7A0A3F7A-4F29-0745-8F7E-E2D73DFF72C4}" destId="{48B57FA2-3C22-1D46-B26E-8DEA2FE8199C}" srcOrd="4" destOrd="0" presId="urn:microsoft.com/office/officeart/2005/8/layout/cycle2"/>
    <dgm:cxn modelId="{9EB49122-C696-7A48-99FB-1FD8E7E7020B}" type="presParOf" srcId="{7A0A3F7A-4F29-0745-8F7E-E2D73DFF72C4}" destId="{1F98F966-B17E-C043-88DA-72F9E76DF5ED}" srcOrd="5" destOrd="0" presId="urn:microsoft.com/office/officeart/2005/8/layout/cycle2"/>
    <dgm:cxn modelId="{A1DAB118-E566-4E41-B88A-F03B98C4DDA6}" type="presParOf" srcId="{1F98F966-B17E-C043-88DA-72F9E76DF5ED}" destId="{BE81807A-659E-594C-A42D-83E163F6300C}" srcOrd="0" destOrd="0" presId="urn:microsoft.com/office/officeart/2005/8/layout/cycle2"/>
    <dgm:cxn modelId="{88C7BE3A-A6BA-BF44-9649-79486991DE7E}" type="presParOf" srcId="{7A0A3F7A-4F29-0745-8F7E-E2D73DFF72C4}" destId="{3C1AA061-3B1E-BE48-BAE2-468E7A5B3832}" srcOrd="6" destOrd="0" presId="urn:microsoft.com/office/officeart/2005/8/layout/cycle2"/>
    <dgm:cxn modelId="{ABF219ED-AC76-6E41-AEB6-3BB90878921D}" type="presParOf" srcId="{7A0A3F7A-4F29-0745-8F7E-E2D73DFF72C4}" destId="{A392578B-1C5B-7F40-8538-5B3DEADE9914}" srcOrd="7" destOrd="0" presId="urn:microsoft.com/office/officeart/2005/8/layout/cycle2"/>
    <dgm:cxn modelId="{066826F0-7CAF-A34A-B80E-53EBD866B57A}" type="presParOf" srcId="{A392578B-1C5B-7F40-8538-5B3DEADE9914}" destId="{0BC8DAEC-4E5A-4346-9156-82DE63C6EA1A}" srcOrd="0" destOrd="0" presId="urn:microsoft.com/office/officeart/2005/8/layout/cycle2"/>
    <dgm:cxn modelId="{122A5A64-AF64-904E-A061-BD646497D142}" type="presParOf" srcId="{7A0A3F7A-4F29-0745-8F7E-E2D73DFF72C4}" destId="{3515EA7F-FD93-1944-BC19-5091975D0B0A}" srcOrd="8" destOrd="0" presId="urn:microsoft.com/office/officeart/2005/8/layout/cycle2"/>
    <dgm:cxn modelId="{21998802-3961-BC48-8DE0-03D131ADEAA6}" type="presParOf" srcId="{7A0A3F7A-4F29-0745-8F7E-E2D73DFF72C4}" destId="{0732FA05-F42E-4544-A7B7-6B1CA1937A42}" srcOrd="9" destOrd="0" presId="urn:microsoft.com/office/officeart/2005/8/layout/cycle2"/>
    <dgm:cxn modelId="{576FA2EA-9FA6-DC46-AA48-51E719087B3B}" type="presParOf" srcId="{0732FA05-F42E-4544-A7B7-6B1CA1937A42}" destId="{A2C7196A-13B1-F744-881D-CF8060A6E7A1}"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2831D-BA05-044C-98FC-2C58A8974150}">
      <dsp:nvSpPr>
        <dsp:cNvPr id="0" name=""/>
        <dsp:cNvSpPr/>
      </dsp:nvSpPr>
      <dsp:spPr>
        <a:xfrm>
          <a:off x="1805384" y="-4990"/>
          <a:ext cx="6933406" cy="6933406"/>
        </a:xfrm>
        <a:prstGeom prst="circularArrow">
          <a:avLst>
            <a:gd name="adj1" fmla="val 5274"/>
            <a:gd name="adj2" fmla="val 312630"/>
            <a:gd name="adj3" fmla="val 14203955"/>
            <a:gd name="adj4" fmla="val 17141179"/>
            <a:gd name="adj5" fmla="val 547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4233B0-4E4F-D94B-B08C-34E14A02DB9F}">
      <dsp:nvSpPr>
        <dsp:cNvPr id="0" name=""/>
        <dsp:cNvSpPr/>
      </dsp:nvSpPr>
      <dsp:spPr>
        <a:xfrm>
          <a:off x="3936045" y="3006"/>
          <a:ext cx="2672083" cy="1336041"/>
        </a:xfrm>
        <a:prstGeom prst="roundRect">
          <a:avLst/>
        </a:prstGeom>
        <a:solidFill>
          <a:srgbClr val="EE4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Firewall	</a:t>
          </a:r>
        </a:p>
      </dsp:txBody>
      <dsp:txXfrm>
        <a:off x="4001265" y="68226"/>
        <a:ext cx="2541643" cy="1205601"/>
      </dsp:txXfrm>
    </dsp:sp>
    <dsp:sp modelId="{B2A7752C-708C-5146-855D-DB47021A0A19}">
      <dsp:nvSpPr>
        <dsp:cNvPr id="0" name=""/>
        <dsp:cNvSpPr/>
      </dsp:nvSpPr>
      <dsp:spPr>
        <a:xfrm>
          <a:off x="6343362" y="1409382"/>
          <a:ext cx="2672083" cy="13360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Log</a:t>
          </a:r>
        </a:p>
      </dsp:txBody>
      <dsp:txXfrm>
        <a:off x="6408582" y="1474602"/>
        <a:ext cx="2541643" cy="1205601"/>
      </dsp:txXfrm>
    </dsp:sp>
    <dsp:sp modelId="{B8DC0B03-981E-EE4F-95EB-19B67048C06B}">
      <dsp:nvSpPr>
        <dsp:cNvPr id="0" name=""/>
        <dsp:cNvSpPr/>
      </dsp:nvSpPr>
      <dsp:spPr>
        <a:xfrm>
          <a:off x="6371950" y="4222118"/>
          <a:ext cx="2672083" cy="13360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Alert</a:t>
          </a:r>
        </a:p>
      </dsp:txBody>
      <dsp:txXfrm>
        <a:off x="6437170" y="4287338"/>
        <a:ext cx="2541643" cy="1205601"/>
      </dsp:txXfrm>
    </dsp:sp>
    <dsp:sp modelId="{0CBDC874-D786-9546-A539-75DC6B4AE850}">
      <dsp:nvSpPr>
        <dsp:cNvPr id="0" name=""/>
        <dsp:cNvSpPr/>
      </dsp:nvSpPr>
      <dsp:spPr>
        <a:xfrm>
          <a:off x="3936045" y="5628488"/>
          <a:ext cx="2672083" cy="1336041"/>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Tom/NW</a:t>
          </a:r>
        </a:p>
      </dsp:txBody>
      <dsp:txXfrm>
        <a:off x="4001265" y="5693708"/>
        <a:ext cx="2541643" cy="1205601"/>
      </dsp:txXfrm>
    </dsp:sp>
    <dsp:sp modelId="{D07FF64A-BB8F-2F46-9AE8-CA26133ABA75}">
      <dsp:nvSpPr>
        <dsp:cNvPr id="0" name=""/>
        <dsp:cNvSpPr/>
      </dsp:nvSpPr>
      <dsp:spPr>
        <a:xfrm>
          <a:off x="1500140" y="4222118"/>
          <a:ext cx="2672083" cy="13360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Investigation</a:t>
          </a:r>
        </a:p>
      </dsp:txBody>
      <dsp:txXfrm>
        <a:off x="1565360" y="4287338"/>
        <a:ext cx="2541643" cy="1205601"/>
      </dsp:txXfrm>
    </dsp:sp>
    <dsp:sp modelId="{44A76612-52E0-BE4E-BA38-32AE6361C5AE}">
      <dsp:nvSpPr>
        <dsp:cNvPr id="0" name=""/>
        <dsp:cNvSpPr/>
      </dsp:nvSpPr>
      <dsp:spPr>
        <a:xfrm>
          <a:off x="1500140" y="1409377"/>
          <a:ext cx="2672083" cy="13360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Resolution</a:t>
          </a:r>
        </a:p>
      </dsp:txBody>
      <dsp:txXfrm>
        <a:off x="1565360" y="1474597"/>
        <a:ext cx="2541643" cy="12056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E0C454-706F-E547-9332-B0E5133B7956}">
      <dsp:nvSpPr>
        <dsp:cNvPr id="0" name=""/>
        <dsp:cNvSpPr/>
      </dsp:nvSpPr>
      <dsp:spPr>
        <a:xfrm>
          <a:off x="2412203" y="118866"/>
          <a:ext cx="1984955" cy="19849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Request</a:t>
          </a:r>
        </a:p>
      </dsp:txBody>
      <dsp:txXfrm>
        <a:off x="2702893" y="409556"/>
        <a:ext cx="1403575" cy="1403575"/>
      </dsp:txXfrm>
    </dsp:sp>
    <dsp:sp modelId="{080E68B2-1E2A-D44B-A582-2BCF223B32AB}">
      <dsp:nvSpPr>
        <dsp:cNvPr id="0" name=""/>
        <dsp:cNvSpPr/>
      </dsp:nvSpPr>
      <dsp:spPr>
        <a:xfrm rot="2160000">
          <a:off x="4334430" y="1643581"/>
          <a:ext cx="527692" cy="6699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4349547" y="1731039"/>
        <a:ext cx="369384" cy="401954"/>
      </dsp:txXfrm>
    </dsp:sp>
    <dsp:sp modelId="{40A408B5-A8FE-2D4E-A1BD-481FAE7AFFE3}">
      <dsp:nvSpPr>
        <dsp:cNvPr id="0" name=""/>
        <dsp:cNvSpPr/>
      </dsp:nvSpPr>
      <dsp:spPr>
        <a:xfrm>
          <a:off x="4823560" y="1870819"/>
          <a:ext cx="1984955" cy="19849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Assess</a:t>
          </a:r>
        </a:p>
      </dsp:txBody>
      <dsp:txXfrm>
        <a:off x="5114250" y="2161509"/>
        <a:ext cx="1403575" cy="1403575"/>
      </dsp:txXfrm>
    </dsp:sp>
    <dsp:sp modelId="{4AB0CFAA-7FD3-E148-966F-0735DCF32599}">
      <dsp:nvSpPr>
        <dsp:cNvPr id="0" name=""/>
        <dsp:cNvSpPr/>
      </dsp:nvSpPr>
      <dsp:spPr>
        <a:xfrm rot="6480000">
          <a:off x="5096278" y="3931492"/>
          <a:ext cx="527692" cy="6699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5199892" y="3990196"/>
        <a:ext cx="369384" cy="401954"/>
      </dsp:txXfrm>
    </dsp:sp>
    <dsp:sp modelId="{48B57FA2-3C22-1D46-B26E-8DEA2FE8199C}">
      <dsp:nvSpPr>
        <dsp:cNvPr id="0" name=""/>
        <dsp:cNvSpPr/>
      </dsp:nvSpPr>
      <dsp:spPr>
        <a:xfrm>
          <a:off x="3902503" y="4705539"/>
          <a:ext cx="1984955" cy="19849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Approve</a:t>
          </a:r>
        </a:p>
      </dsp:txBody>
      <dsp:txXfrm>
        <a:off x="4193193" y="4996229"/>
        <a:ext cx="1403575" cy="1403575"/>
      </dsp:txXfrm>
    </dsp:sp>
    <dsp:sp modelId="{1F98F966-B17E-C043-88DA-72F9E76DF5ED}">
      <dsp:nvSpPr>
        <dsp:cNvPr id="0" name=""/>
        <dsp:cNvSpPr/>
      </dsp:nvSpPr>
      <dsp:spPr>
        <a:xfrm rot="10800000">
          <a:off x="3155769" y="5363056"/>
          <a:ext cx="527692" cy="6699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3314077" y="5497040"/>
        <a:ext cx="369384" cy="401954"/>
      </dsp:txXfrm>
    </dsp:sp>
    <dsp:sp modelId="{3C1AA061-3B1E-BE48-BAE2-468E7A5B3832}">
      <dsp:nvSpPr>
        <dsp:cNvPr id="0" name=""/>
        <dsp:cNvSpPr/>
      </dsp:nvSpPr>
      <dsp:spPr>
        <a:xfrm>
          <a:off x="921902" y="4705539"/>
          <a:ext cx="1984955" cy="19849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Verify</a:t>
          </a:r>
        </a:p>
      </dsp:txBody>
      <dsp:txXfrm>
        <a:off x="1212592" y="4996229"/>
        <a:ext cx="1403575" cy="1403575"/>
      </dsp:txXfrm>
    </dsp:sp>
    <dsp:sp modelId="{A392578B-1C5B-7F40-8538-5B3DEADE9914}">
      <dsp:nvSpPr>
        <dsp:cNvPr id="0" name=""/>
        <dsp:cNvSpPr/>
      </dsp:nvSpPr>
      <dsp:spPr>
        <a:xfrm rot="15120000">
          <a:off x="1194621" y="3959900"/>
          <a:ext cx="527692" cy="6699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1298235" y="4169164"/>
        <a:ext cx="369384" cy="401954"/>
      </dsp:txXfrm>
    </dsp:sp>
    <dsp:sp modelId="{3515EA7F-FD93-1944-BC19-5091975D0B0A}">
      <dsp:nvSpPr>
        <dsp:cNvPr id="0" name=""/>
        <dsp:cNvSpPr/>
      </dsp:nvSpPr>
      <dsp:spPr>
        <a:xfrm>
          <a:off x="846" y="1870819"/>
          <a:ext cx="1984955" cy="19849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Strategy</a:t>
          </a:r>
        </a:p>
      </dsp:txBody>
      <dsp:txXfrm>
        <a:off x="291536" y="2161509"/>
        <a:ext cx="1403575" cy="1403575"/>
      </dsp:txXfrm>
    </dsp:sp>
    <dsp:sp modelId="{0732FA05-F42E-4544-A7B7-6B1CA1937A42}">
      <dsp:nvSpPr>
        <dsp:cNvPr id="0" name=""/>
        <dsp:cNvSpPr/>
      </dsp:nvSpPr>
      <dsp:spPr>
        <a:xfrm rot="19440000">
          <a:off x="1923074" y="1661138"/>
          <a:ext cx="527692" cy="6699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1938191" y="1841648"/>
        <a:ext cx="369384" cy="401954"/>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5F1CD92-DA11-42CA-9E28-F57FD4F371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B6237265-C715-4164-8B30-E32A9AE553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E152FC6-64DD-41BE-A95D-2E3785E1B9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845297-E8C3-4A56-9516-E18309FF2736}" type="slidenum">
              <a:rPr lang="en-US" smtClean="0"/>
              <a:t>‹#›</a:t>
            </a:fld>
            <a:endParaRPr lang="en-US"/>
          </a:p>
        </p:txBody>
      </p:sp>
    </p:spTree>
    <p:extLst>
      <p:ext uri="{BB962C8B-B14F-4D97-AF65-F5344CB8AC3E}">
        <p14:creationId xmlns:p14="http://schemas.microsoft.com/office/powerpoint/2010/main" val="594728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F10FA5-98E6-FB4E-97B6-D4EB979E8963}" type="datetimeFigureOut">
              <a:rPr lang="en-US" smtClean="0"/>
              <a:t>8/19/26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22E1E8-19DD-9846-964E-7494B0E7F513}" type="slidenum">
              <a:rPr lang="en-US" smtClean="0"/>
              <a:t>‹#›</a:t>
            </a:fld>
            <a:endParaRPr lang="en-US"/>
          </a:p>
        </p:txBody>
      </p:sp>
    </p:spTree>
    <p:extLst>
      <p:ext uri="{BB962C8B-B14F-4D97-AF65-F5344CB8AC3E}">
        <p14:creationId xmlns:p14="http://schemas.microsoft.com/office/powerpoint/2010/main" val="11614769"/>
      </p:ext>
    </p:extLst>
  </p:cSld>
  <p:clrMap bg1="lt1" tx1="dk1" bg2="lt2" tx2="dk2" accent1="accent1" accent2="accent2" accent3="accent3" accent4="accent4" accent5="accent5" accent6="accent6" hlink="hlink" folHlink="folHlink"/>
  <p:notesStyle>
    <a:lvl1pPr marL="0" algn="l" defTabSz="1371600" rtl="0" eaLnBrk="1" latinLnBrk="0" hangingPunct="1">
      <a:defRPr sz="1800" kern="1200">
        <a:solidFill>
          <a:schemeClr val="tx1"/>
        </a:solidFill>
        <a:latin typeface="+mn-lt"/>
        <a:ea typeface="+mn-ea"/>
        <a:cs typeface="+mn-cs"/>
      </a:defRPr>
    </a:lvl1pPr>
    <a:lvl2pPr marL="685800" algn="l" defTabSz="1371600" rtl="0" eaLnBrk="1" latinLnBrk="0" hangingPunct="1">
      <a:defRPr sz="1800" kern="1200">
        <a:solidFill>
          <a:schemeClr val="tx1"/>
        </a:solidFill>
        <a:latin typeface="+mn-lt"/>
        <a:ea typeface="+mn-ea"/>
        <a:cs typeface="+mn-cs"/>
      </a:defRPr>
    </a:lvl2pPr>
    <a:lvl3pPr marL="1371600" algn="l" defTabSz="1371600" rtl="0" eaLnBrk="1" latinLnBrk="0" hangingPunct="1">
      <a:defRPr sz="1800" kern="1200">
        <a:solidFill>
          <a:schemeClr val="tx1"/>
        </a:solidFill>
        <a:latin typeface="+mn-lt"/>
        <a:ea typeface="+mn-ea"/>
        <a:cs typeface="+mn-cs"/>
      </a:defRPr>
    </a:lvl3pPr>
    <a:lvl4pPr marL="2057400" algn="l" defTabSz="1371600" rtl="0" eaLnBrk="1" latinLnBrk="0" hangingPunct="1">
      <a:defRPr sz="1800" kern="1200">
        <a:solidFill>
          <a:schemeClr val="tx1"/>
        </a:solidFill>
        <a:latin typeface="+mn-lt"/>
        <a:ea typeface="+mn-ea"/>
        <a:cs typeface="+mn-cs"/>
      </a:defRPr>
    </a:lvl4pPr>
    <a:lvl5pPr marL="2743200" algn="l" defTabSz="1371600" rtl="0" eaLnBrk="1" latinLnBrk="0" hangingPunct="1">
      <a:defRPr sz="1800" kern="1200">
        <a:solidFill>
          <a:schemeClr val="tx1"/>
        </a:solidFill>
        <a:latin typeface="+mn-lt"/>
        <a:ea typeface="+mn-ea"/>
        <a:cs typeface="+mn-cs"/>
      </a:defRPr>
    </a:lvl5pPr>
    <a:lvl6pPr marL="3429000" algn="l" defTabSz="1371600" rtl="0" eaLnBrk="1" latinLnBrk="0" hangingPunct="1">
      <a:defRPr sz="1800" kern="1200">
        <a:solidFill>
          <a:schemeClr val="tx1"/>
        </a:solidFill>
        <a:latin typeface="+mn-lt"/>
        <a:ea typeface="+mn-ea"/>
        <a:cs typeface="+mn-cs"/>
      </a:defRPr>
    </a:lvl6pPr>
    <a:lvl7pPr marL="4114800" algn="l" defTabSz="1371600" rtl="0" eaLnBrk="1" latinLnBrk="0" hangingPunct="1">
      <a:defRPr sz="1800" kern="1200">
        <a:solidFill>
          <a:schemeClr val="tx1"/>
        </a:solidFill>
        <a:latin typeface="+mn-lt"/>
        <a:ea typeface="+mn-ea"/>
        <a:cs typeface="+mn-cs"/>
      </a:defRPr>
    </a:lvl7pPr>
    <a:lvl8pPr marL="4800600" algn="l" defTabSz="1371600" rtl="0" eaLnBrk="1" latinLnBrk="0" hangingPunct="1">
      <a:defRPr sz="1800" kern="1200">
        <a:solidFill>
          <a:schemeClr val="tx1"/>
        </a:solidFill>
        <a:latin typeface="+mn-lt"/>
        <a:ea typeface="+mn-ea"/>
        <a:cs typeface="+mn-cs"/>
      </a:defRPr>
    </a:lvl8pPr>
    <a:lvl9pPr marL="5486400" algn="l" defTabSz="13716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1</a:t>
            </a:fld>
            <a:endParaRPr lang="en-US"/>
          </a:p>
        </p:txBody>
      </p:sp>
    </p:spTree>
    <p:extLst>
      <p:ext uri="{BB962C8B-B14F-4D97-AF65-F5344CB8AC3E}">
        <p14:creationId xmlns:p14="http://schemas.microsoft.com/office/powerpoint/2010/main" val="250452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3</a:t>
            </a:fld>
            <a:endParaRPr lang="en-US"/>
          </a:p>
        </p:txBody>
      </p:sp>
    </p:spTree>
    <p:extLst>
      <p:ext uri="{BB962C8B-B14F-4D97-AF65-F5344CB8AC3E}">
        <p14:creationId xmlns:p14="http://schemas.microsoft.com/office/powerpoint/2010/main" val="1598566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p:cNvSpPr>
            <a:spLocks noGrp="1" noRot="1" noChangeAspect="1"/>
          </p:cNvSpPr>
          <p:nvPr>
            <p:ph type="sldImg"/>
          </p:nvPr>
        </p:nvSpPr>
        <p:spPr/>
      </p:sp>
      <p:sp>
        <p:nvSpPr>
          <p:cNvPr id="8" name="Notes Placeholder 7"/>
          <p:cNvSpPr>
            <a:spLocks noGrp="1"/>
          </p:cNvSpPr>
          <p:nvPr>
            <p:ph type="body" idx="1"/>
          </p:nvPr>
        </p:nvSpPr>
        <p:spPr/>
        <p:txBody>
          <a:bodyPr/>
          <a:lstStyle/>
          <a:p>
            <a:endParaRPr lang="en-US"/>
          </a:p>
        </p:txBody>
      </p:sp>
      <p:sp>
        <p:nvSpPr>
          <p:cNvPr id="2" name="Date Placeholder 1"/>
          <p:cNvSpPr>
            <a:spLocks noGrp="1"/>
          </p:cNvSpPr>
          <p:nvPr>
            <p:ph type="dt" idx="10"/>
          </p:nvPr>
        </p:nvSpPr>
        <p:spPr/>
        <p:txBody>
          <a:bodyPr/>
          <a:lstStyle/>
          <a:p>
            <a:fld id="{41A161C8-7D90-4685-B3C0-33CC435F1DAE}" type="datetime1">
              <a:rPr lang="en-US" smtClean="0"/>
              <a:t>8/19/26</a:t>
            </a:fld>
            <a:endParaRPr lang="en-US"/>
          </a:p>
        </p:txBody>
      </p:sp>
      <p:sp>
        <p:nvSpPr>
          <p:cNvPr id="3" name="Slide Number Placeholder 2"/>
          <p:cNvSpPr>
            <a:spLocks noGrp="1"/>
          </p:cNvSpPr>
          <p:nvPr>
            <p:ph type="sldNum" sz="quarter" idx="11"/>
          </p:nvPr>
        </p:nvSpPr>
        <p:spPr/>
        <p:txBody>
          <a:bodyPr/>
          <a:lstStyle/>
          <a:p>
            <a:fld id="{A2D9B7C9-1F58-4F07-8711-AA0F3022BC7D}" type="slidenum">
              <a:rPr lang="en-US" smtClean="0"/>
              <a:pPr/>
              <a:t>4</a:t>
            </a:fld>
            <a:endParaRPr lang="en-US" sz="1100"/>
          </a:p>
        </p:txBody>
      </p:sp>
      <p:sp>
        <p:nvSpPr>
          <p:cNvPr id="4" name="Header Placeholder 3"/>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1851892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a:p>
        </p:txBody>
      </p:sp>
      <p:sp>
        <p:nvSpPr>
          <p:cNvPr id="7" name="Slide Image Placeholder 6"/>
          <p:cNvSpPr>
            <a:spLocks noGrp="1" noRot="1" noChangeAspect="1"/>
          </p:cNvSpPr>
          <p:nvPr>
            <p:ph type="sldImg"/>
          </p:nvPr>
        </p:nvSpPr>
        <p:spPr/>
      </p:sp>
      <p:sp>
        <p:nvSpPr>
          <p:cNvPr id="2" name="Date Placeholder 1"/>
          <p:cNvSpPr>
            <a:spLocks noGrp="1"/>
          </p:cNvSpPr>
          <p:nvPr>
            <p:ph type="dt" idx="10"/>
          </p:nvPr>
        </p:nvSpPr>
        <p:spPr/>
        <p:txBody>
          <a:bodyPr/>
          <a:lstStyle/>
          <a:p>
            <a:fld id="{5C118C42-2F87-4F74-AD38-A7FA6FE02AAE}" type="datetime1">
              <a:rPr lang="en-US" smtClean="0"/>
              <a:t>8/19/26</a:t>
            </a:fld>
            <a:endParaRPr lang="en-US"/>
          </a:p>
        </p:txBody>
      </p:sp>
      <p:sp>
        <p:nvSpPr>
          <p:cNvPr id="4" name="Slide Number Placeholder 3"/>
          <p:cNvSpPr>
            <a:spLocks noGrp="1"/>
          </p:cNvSpPr>
          <p:nvPr>
            <p:ph type="sldNum" sz="quarter" idx="11"/>
          </p:nvPr>
        </p:nvSpPr>
        <p:spPr/>
        <p:txBody>
          <a:bodyPr/>
          <a:lstStyle/>
          <a:p>
            <a:fld id="{A2D9B7C9-1F58-4F07-8711-AA0F3022BC7D}" type="slidenum">
              <a:rPr lang="en-US" smtClean="0"/>
              <a:pPr/>
              <a:t>5</a:t>
            </a:fld>
            <a:endParaRPr lang="en-US" sz="1100"/>
          </a:p>
        </p:txBody>
      </p:sp>
      <p:sp>
        <p:nvSpPr>
          <p:cNvPr id="5" name="Header Placeholder 4"/>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764711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a:p>
        </p:txBody>
      </p:sp>
      <p:sp>
        <p:nvSpPr>
          <p:cNvPr id="2" name="Date Placeholder 1"/>
          <p:cNvSpPr>
            <a:spLocks noGrp="1"/>
          </p:cNvSpPr>
          <p:nvPr>
            <p:ph type="dt" idx="10"/>
          </p:nvPr>
        </p:nvSpPr>
        <p:spPr/>
        <p:txBody>
          <a:bodyPr/>
          <a:lstStyle/>
          <a:p>
            <a:fld id="{F2C7C821-5BBF-44D9-A17D-2F6B59879939}" type="datetime1">
              <a:rPr lang="en-US" smtClean="0"/>
              <a:t>8/19/26</a:t>
            </a:fld>
            <a:endParaRPr lang="en-US"/>
          </a:p>
        </p:txBody>
      </p:sp>
      <p:sp>
        <p:nvSpPr>
          <p:cNvPr id="4" name="Slide Number Placeholder 3"/>
          <p:cNvSpPr>
            <a:spLocks noGrp="1"/>
          </p:cNvSpPr>
          <p:nvPr>
            <p:ph type="sldNum" sz="quarter" idx="11"/>
          </p:nvPr>
        </p:nvSpPr>
        <p:spPr/>
        <p:txBody>
          <a:bodyPr/>
          <a:lstStyle/>
          <a:p>
            <a:fld id="{A2D9B7C9-1F58-4F07-8711-AA0F3022BC7D}" type="slidenum">
              <a:rPr lang="en-US" smtClean="0"/>
              <a:pPr/>
              <a:t>6</a:t>
            </a:fld>
            <a:endParaRPr lang="en-US"/>
          </a:p>
        </p:txBody>
      </p:sp>
      <p:sp>
        <p:nvSpPr>
          <p:cNvPr id="5" name="Header Placeholder 4"/>
          <p:cNvSpPr>
            <a:spLocks noGrp="1"/>
          </p:cNvSpPr>
          <p:nvPr>
            <p:ph type="hdr" sz="quarter" idx="12"/>
          </p:nvPr>
        </p:nvSpPr>
        <p:spPr/>
        <p:txBody>
          <a:bodyPr/>
          <a:lstStyle/>
          <a:p>
            <a:r>
              <a:rPr lang="en-US"/>
              <a:t>Deploying Internet and Intranet Firewalls</a:t>
            </a:r>
          </a:p>
        </p:txBody>
      </p:sp>
      <p:sp>
        <p:nvSpPr>
          <p:cNvPr id="11" name="Slide Image Placeholder 10"/>
          <p:cNvSpPr>
            <a:spLocks noGrp="1" noRot="1" noChangeAspect="1"/>
          </p:cNvSpPr>
          <p:nvPr>
            <p:ph type="sldImg"/>
          </p:nvPr>
        </p:nvSpPr>
        <p:spPr/>
      </p:sp>
    </p:spTree>
    <p:extLst>
      <p:ext uri="{BB962C8B-B14F-4D97-AF65-F5344CB8AC3E}">
        <p14:creationId xmlns:p14="http://schemas.microsoft.com/office/powerpoint/2010/main" val="2534845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132D1-7A7A-EF4C-CA7C-2E1427F4F857}"/>
            </a:ext>
          </a:extLst>
        </p:cNvPr>
        <p:cNvGrpSpPr/>
        <p:nvPr/>
      </p:nvGrpSpPr>
      <p:grpSpPr>
        <a:xfrm>
          <a:off x="0" y="0"/>
          <a:ext cx="0" cy="0"/>
          <a:chOff x="0" y="0"/>
          <a:chExt cx="0" cy="0"/>
        </a:xfrm>
      </p:grpSpPr>
      <p:sp>
        <p:nvSpPr>
          <p:cNvPr id="12" name="Slide Image Placeholder 11">
            <a:extLst>
              <a:ext uri="{FF2B5EF4-FFF2-40B4-BE49-F238E27FC236}">
                <a16:creationId xmlns:a16="http://schemas.microsoft.com/office/drawing/2014/main" id="{5D9690F7-89B6-969B-06A2-78281FDFB93B}"/>
              </a:ext>
            </a:extLst>
          </p:cNvPr>
          <p:cNvSpPr>
            <a:spLocks noGrp="1" noRot="1" noChangeAspect="1"/>
          </p:cNvSpPr>
          <p:nvPr>
            <p:ph type="sldImg"/>
          </p:nvPr>
        </p:nvSpPr>
        <p:spPr/>
      </p:sp>
      <p:sp>
        <p:nvSpPr>
          <p:cNvPr id="13" name="Notes Placeholder 12">
            <a:extLst>
              <a:ext uri="{FF2B5EF4-FFF2-40B4-BE49-F238E27FC236}">
                <a16:creationId xmlns:a16="http://schemas.microsoft.com/office/drawing/2014/main" id="{2FE91DBB-3449-2956-6469-67789009067A}"/>
              </a:ext>
            </a:extLst>
          </p:cNvPr>
          <p:cNvSpPr>
            <a:spLocks noGrp="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743FCBAB-B392-012F-CEC6-B82144C59970}"/>
              </a:ext>
            </a:extLst>
          </p:cNvPr>
          <p:cNvSpPr>
            <a:spLocks noGrp="1"/>
          </p:cNvSpPr>
          <p:nvPr>
            <p:ph type="dt" idx="10"/>
          </p:nvPr>
        </p:nvSpPr>
        <p:spPr/>
        <p:txBody>
          <a:bodyPr/>
          <a:lstStyle/>
          <a:p>
            <a:fld id="{07308CB7-30D8-4F7B-900D-2667080176FC}" type="datetime1">
              <a:rPr lang="en-US" smtClean="0"/>
              <a:t>8/19/26</a:t>
            </a:fld>
            <a:endParaRPr lang="en-US"/>
          </a:p>
        </p:txBody>
      </p:sp>
      <p:sp>
        <p:nvSpPr>
          <p:cNvPr id="3" name="Slide Number Placeholder 2">
            <a:extLst>
              <a:ext uri="{FF2B5EF4-FFF2-40B4-BE49-F238E27FC236}">
                <a16:creationId xmlns:a16="http://schemas.microsoft.com/office/drawing/2014/main" id="{A1591ECA-0567-A9DD-9320-A5C304A5840A}"/>
              </a:ext>
            </a:extLst>
          </p:cNvPr>
          <p:cNvSpPr>
            <a:spLocks noGrp="1"/>
          </p:cNvSpPr>
          <p:nvPr>
            <p:ph type="sldNum" sz="quarter" idx="11"/>
          </p:nvPr>
        </p:nvSpPr>
        <p:spPr/>
        <p:txBody>
          <a:bodyPr/>
          <a:lstStyle/>
          <a:p>
            <a:fld id="{A2D9B7C9-1F58-4F07-8711-AA0F3022BC7D}" type="slidenum">
              <a:rPr lang="en-US" smtClean="0"/>
              <a:pPr/>
              <a:t>8</a:t>
            </a:fld>
            <a:endParaRPr lang="en-US" sz="1100"/>
          </a:p>
        </p:txBody>
      </p:sp>
      <p:sp>
        <p:nvSpPr>
          <p:cNvPr id="4" name="Header Placeholder 3">
            <a:extLst>
              <a:ext uri="{FF2B5EF4-FFF2-40B4-BE49-F238E27FC236}">
                <a16:creationId xmlns:a16="http://schemas.microsoft.com/office/drawing/2014/main" id="{B0270744-9934-4B00-BC9F-DDCCAC3F6B16}"/>
              </a:ext>
            </a:extLst>
          </p:cNvPr>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972205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13" name="Slide Image Placeholder 12"/>
          <p:cNvSpPr>
            <a:spLocks noGrp="1" noRot="1" noChangeAspect="1"/>
          </p:cNvSpPr>
          <p:nvPr>
            <p:ph type="sldImg"/>
          </p:nvPr>
        </p:nvSpPr>
        <p:spPr/>
      </p:sp>
      <p:sp>
        <p:nvSpPr>
          <p:cNvPr id="2" name="Date Placeholder 1"/>
          <p:cNvSpPr>
            <a:spLocks noGrp="1"/>
          </p:cNvSpPr>
          <p:nvPr>
            <p:ph type="dt" idx="10"/>
          </p:nvPr>
        </p:nvSpPr>
        <p:spPr/>
        <p:txBody>
          <a:bodyPr/>
          <a:lstStyle/>
          <a:p>
            <a:fld id="{64FB9B33-6DDD-4F53-9C95-A427404F053F}" type="datetime1">
              <a:rPr lang="en-US" smtClean="0"/>
              <a:t>8/19/26</a:t>
            </a:fld>
            <a:endParaRPr lang="en-US"/>
          </a:p>
        </p:txBody>
      </p:sp>
      <p:sp>
        <p:nvSpPr>
          <p:cNvPr id="4" name="Slide Number Placeholder 3"/>
          <p:cNvSpPr>
            <a:spLocks noGrp="1"/>
          </p:cNvSpPr>
          <p:nvPr>
            <p:ph type="sldNum" sz="quarter" idx="11"/>
          </p:nvPr>
        </p:nvSpPr>
        <p:spPr/>
        <p:txBody>
          <a:bodyPr/>
          <a:lstStyle/>
          <a:p>
            <a:fld id="{A2D9B7C9-1F58-4F07-8711-AA0F3022BC7D}" type="slidenum">
              <a:rPr lang="en-US" smtClean="0"/>
              <a:pPr/>
              <a:t>9</a:t>
            </a:fld>
            <a:endParaRPr lang="en-US" sz="1100"/>
          </a:p>
        </p:txBody>
      </p:sp>
      <p:sp>
        <p:nvSpPr>
          <p:cNvPr id="5" name="Header Placeholder 4"/>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226828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22E1E8-19DD-9846-964E-7494B0E7F513}" type="slidenum">
              <a:rPr lang="en-US" smtClean="0"/>
              <a:t>11</a:t>
            </a:fld>
            <a:endParaRPr lang="en-US"/>
          </a:p>
        </p:txBody>
      </p:sp>
    </p:spTree>
    <p:extLst>
      <p:ext uri="{BB962C8B-B14F-4D97-AF65-F5344CB8AC3E}">
        <p14:creationId xmlns:p14="http://schemas.microsoft.com/office/powerpoint/2010/main" val="3035182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27485-355A-03D9-1AD9-C659EE272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80771-A69B-48DD-9BC2-CC751C7D3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028784-CDD8-8B00-15CF-92E93A2279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866609-0E0C-7B29-9879-4DD9E28B9E50}"/>
              </a:ext>
            </a:extLst>
          </p:cNvPr>
          <p:cNvSpPr>
            <a:spLocks noGrp="1"/>
          </p:cNvSpPr>
          <p:nvPr>
            <p:ph type="sldNum" sz="quarter" idx="5"/>
          </p:nvPr>
        </p:nvSpPr>
        <p:spPr/>
        <p:txBody>
          <a:bodyPr/>
          <a:lstStyle/>
          <a:p>
            <a:fld id="{4F22E1E8-19DD-9846-964E-7494B0E7F513}" type="slidenum">
              <a:rPr lang="en-US" smtClean="0"/>
              <a:t>12</a:t>
            </a:fld>
            <a:endParaRPr lang="en-US"/>
          </a:p>
        </p:txBody>
      </p:sp>
    </p:spTree>
    <p:extLst>
      <p:ext uri="{BB962C8B-B14F-4D97-AF65-F5344CB8AC3E}">
        <p14:creationId xmlns:p14="http://schemas.microsoft.com/office/powerpoint/2010/main" val="1178268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22E1E8-19DD-9846-964E-7494B0E7F513}" type="slidenum">
              <a:rPr lang="en-US" smtClean="0"/>
              <a:t>15</a:t>
            </a:fld>
            <a:endParaRPr lang="en-US"/>
          </a:p>
        </p:txBody>
      </p:sp>
    </p:spTree>
    <p:extLst>
      <p:ext uri="{BB962C8B-B14F-4D97-AF65-F5344CB8AC3E}">
        <p14:creationId xmlns:p14="http://schemas.microsoft.com/office/powerpoint/2010/main" val="3601525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p:cNvSpPr>
            <a:spLocks noGrp="1" noRot="1" noChangeAspect="1"/>
          </p:cNvSpPr>
          <p:nvPr>
            <p:ph type="sldImg"/>
          </p:nvPr>
        </p:nvSpPr>
        <p:spPr/>
      </p:sp>
      <p:sp>
        <p:nvSpPr>
          <p:cNvPr id="8" name="Notes Placeholder 7"/>
          <p:cNvSpPr>
            <a:spLocks noGrp="1"/>
          </p:cNvSpPr>
          <p:nvPr>
            <p:ph type="body" idx="1"/>
          </p:nvPr>
        </p:nvSpPr>
        <p:spPr/>
        <p:txBody>
          <a:bodyPr/>
          <a:lstStyle/>
          <a:p>
            <a:endParaRPr lang="en-US" baseline="0"/>
          </a:p>
        </p:txBody>
      </p:sp>
      <p:sp>
        <p:nvSpPr>
          <p:cNvPr id="2" name="Date Placeholder 1"/>
          <p:cNvSpPr>
            <a:spLocks noGrp="1"/>
          </p:cNvSpPr>
          <p:nvPr>
            <p:ph type="dt" idx="10"/>
          </p:nvPr>
        </p:nvSpPr>
        <p:spPr/>
        <p:txBody>
          <a:bodyPr/>
          <a:lstStyle/>
          <a:p>
            <a:fld id="{40446D1E-2397-46AF-A6C5-B2D8AA9D682E}" type="datetime1">
              <a:rPr lang="en-US" smtClean="0"/>
              <a:t>8/19/26</a:t>
            </a:fld>
            <a:endParaRPr lang="en-US"/>
          </a:p>
        </p:txBody>
      </p:sp>
      <p:sp>
        <p:nvSpPr>
          <p:cNvPr id="3" name="Slide Number Placeholder 2"/>
          <p:cNvSpPr>
            <a:spLocks noGrp="1"/>
          </p:cNvSpPr>
          <p:nvPr>
            <p:ph type="sldNum" sz="quarter" idx="11"/>
          </p:nvPr>
        </p:nvSpPr>
        <p:spPr/>
        <p:txBody>
          <a:bodyPr/>
          <a:lstStyle/>
          <a:p>
            <a:fld id="{A2D9B7C9-1F58-4F07-8711-AA0F3022BC7D}" type="slidenum">
              <a:rPr lang="en-US" smtClean="0"/>
              <a:pPr/>
              <a:t>17</a:t>
            </a:fld>
            <a:endParaRPr lang="en-US" sz="1100"/>
          </a:p>
        </p:txBody>
      </p:sp>
      <p:sp>
        <p:nvSpPr>
          <p:cNvPr id="4" name="Header Placeholder 3"/>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64148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relevant questions"</a:t>
            </a:r>
          </a:p>
        </p:txBody>
      </p:sp>
      <p:sp>
        <p:nvSpPr>
          <p:cNvPr id="4" name="Slide Number Placeholder 3"/>
          <p:cNvSpPr>
            <a:spLocks noGrp="1"/>
          </p:cNvSpPr>
          <p:nvPr>
            <p:ph type="sldNum" sz="quarter" idx="5"/>
          </p:nvPr>
        </p:nvSpPr>
        <p:spPr/>
        <p:txBody>
          <a:bodyPr/>
          <a:lstStyle/>
          <a:p>
            <a:fld id="{4F22E1E8-19DD-9846-964E-7494B0E7F513}" type="slidenum">
              <a:rPr lang="en-US" smtClean="0"/>
              <a:t>18</a:t>
            </a:fld>
            <a:endParaRPr lang="en-US"/>
          </a:p>
        </p:txBody>
      </p:sp>
    </p:spTree>
    <p:extLst>
      <p:ext uri="{BB962C8B-B14F-4D97-AF65-F5344CB8AC3E}">
        <p14:creationId xmlns:p14="http://schemas.microsoft.com/office/powerpoint/2010/main" val="1385890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Image Placeholder 11"/>
          <p:cNvSpPr>
            <a:spLocks noGrp="1" noRot="1" noChangeAspect="1"/>
          </p:cNvSpPr>
          <p:nvPr>
            <p:ph type="sldImg"/>
          </p:nvPr>
        </p:nvSpPr>
        <p:spPr/>
      </p:sp>
      <p:sp>
        <p:nvSpPr>
          <p:cNvPr id="13" name="Notes Placeholder 12"/>
          <p:cNvSpPr>
            <a:spLocks noGrp="1"/>
          </p:cNvSpPr>
          <p:nvPr>
            <p:ph type="body" idx="1"/>
          </p:nvPr>
        </p:nvSpPr>
        <p:spPr/>
        <p:txBody>
          <a:bodyPr/>
          <a:lstStyle/>
          <a:p>
            <a:endParaRPr lang="en-US"/>
          </a:p>
        </p:txBody>
      </p:sp>
      <p:sp>
        <p:nvSpPr>
          <p:cNvPr id="2" name="Date Placeholder 1"/>
          <p:cNvSpPr>
            <a:spLocks noGrp="1"/>
          </p:cNvSpPr>
          <p:nvPr>
            <p:ph type="dt" idx="10"/>
          </p:nvPr>
        </p:nvSpPr>
        <p:spPr/>
        <p:txBody>
          <a:bodyPr/>
          <a:lstStyle/>
          <a:p>
            <a:fld id="{07308CB7-30D8-4F7B-900D-2667080176FC}" type="datetime1">
              <a:rPr lang="en-US" smtClean="0"/>
              <a:t>8/19/26</a:t>
            </a:fld>
            <a:endParaRPr lang="en-US"/>
          </a:p>
        </p:txBody>
      </p:sp>
      <p:sp>
        <p:nvSpPr>
          <p:cNvPr id="3" name="Slide Number Placeholder 2"/>
          <p:cNvSpPr>
            <a:spLocks noGrp="1"/>
          </p:cNvSpPr>
          <p:nvPr>
            <p:ph type="sldNum" sz="quarter" idx="11"/>
          </p:nvPr>
        </p:nvSpPr>
        <p:spPr/>
        <p:txBody>
          <a:bodyPr/>
          <a:lstStyle/>
          <a:p>
            <a:fld id="{A2D9B7C9-1F58-4F07-8711-AA0F3022BC7D}" type="slidenum">
              <a:rPr lang="en-US" smtClean="0"/>
              <a:pPr/>
              <a:t>22</a:t>
            </a:fld>
            <a:endParaRPr lang="en-US" sz="1100"/>
          </a:p>
        </p:txBody>
      </p:sp>
      <p:sp>
        <p:nvSpPr>
          <p:cNvPr id="4" name="Header Placeholder 3"/>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8700017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22E1E8-19DD-9846-964E-7494B0E7F513}" type="slidenum">
              <a:rPr lang="en-US" smtClean="0"/>
              <a:t>28</a:t>
            </a:fld>
            <a:endParaRPr lang="en-US"/>
          </a:p>
        </p:txBody>
      </p:sp>
    </p:spTree>
    <p:extLst>
      <p:ext uri="{BB962C8B-B14F-4D97-AF65-F5344CB8AC3E}">
        <p14:creationId xmlns:p14="http://schemas.microsoft.com/office/powerpoint/2010/main" val="2836130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a:p>
        </p:txBody>
      </p:sp>
      <p:sp>
        <p:nvSpPr>
          <p:cNvPr id="7" name="Slide Image Placeholder 6"/>
          <p:cNvSpPr>
            <a:spLocks noGrp="1" noRot="1" noChangeAspect="1"/>
          </p:cNvSpPr>
          <p:nvPr>
            <p:ph type="sldImg"/>
          </p:nvPr>
        </p:nvSpPr>
        <p:spPr/>
      </p:sp>
      <p:sp>
        <p:nvSpPr>
          <p:cNvPr id="6" name="Date Placeholder 5"/>
          <p:cNvSpPr>
            <a:spLocks noGrp="1"/>
          </p:cNvSpPr>
          <p:nvPr>
            <p:ph type="dt" idx="10"/>
          </p:nvPr>
        </p:nvSpPr>
        <p:spPr/>
        <p:txBody>
          <a:bodyPr/>
          <a:lstStyle/>
          <a:p>
            <a:fld id="{8BB52C77-8E23-4212-A11D-339D7014DF8C}"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29</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1041439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a:p>
        </p:txBody>
      </p:sp>
      <p:sp>
        <p:nvSpPr>
          <p:cNvPr id="7" name="Slide Image Placeholder 6"/>
          <p:cNvSpPr>
            <a:spLocks noGrp="1" noRot="1" noChangeAspect="1"/>
          </p:cNvSpPr>
          <p:nvPr>
            <p:ph type="sldImg"/>
          </p:nvPr>
        </p:nvSpPr>
        <p:spPr/>
      </p:sp>
      <p:sp>
        <p:nvSpPr>
          <p:cNvPr id="6" name="Date Placeholder 5"/>
          <p:cNvSpPr>
            <a:spLocks noGrp="1"/>
          </p:cNvSpPr>
          <p:nvPr>
            <p:ph type="dt" idx="10"/>
          </p:nvPr>
        </p:nvSpPr>
        <p:spPr/>
        <p:txBody>
          <a:bodyPr/>
          <a:lstStyle/>
          <a:p>
            <a:fld id="{205534AB-5A45-433C-84D8-4D30077BB7CC}"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30</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745180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62" name="Rectangle 3"/>
          <p:cNvSpPr>
            <a:spLocks noGrp="1" noChangeArrowheads="1"/>
          </p:cNvSpPr>
          <p:nvPr>
            <p:ph type="body" idx="1"/>
          </p:nvPr>
        </p:nvSpPr>
        <p:spPr/>
        <p:txBody>
          <a:bodyPr/>
          <a:lstStyle/>
          <a:p>
            <a:endParaRPr lang="en-US"/>
          </a:p>
        </p:txBody>
      </p:sp>
      <p:sp>
        <p:nvSpPr>
          <p:cNvPr id="5" name="Slide Image Placeholder 4"/>
          <p:cNvSpPr>
            <a:spLocks noGrp="1" noRot="1" noChangeAspect="1"/>
          </p:cNvSpPr>
          <p:nvPr>
            <p:ph type="sldImg"/>
          </p:nvPr>
        </p:nvSpPr>
        <p:spPr/>
      </p:sp>
      <p:sp>
        <p:nvSpPr>
          <p:cNvPr id="6" name="Date Placeholder 5"/>
          <p:cNvSpPr>
            <a:spLocks noGrp="1"/>
          </p:cNvSpPr>
          <p:nvPr>
            <p:ph type="dt" idx="10"/>
          </p:nvPr>
        </p:nvSpPr>
        <p:spPr/>
        <p:txBody>
          <a:bodyPr/>
          <a:lstStyle/>
          <a:p>
            <a:fld id="{AE29D30B-A1A3-4D86-91A6-4133F8D587E4}" type="datetime1">
              <a:rPr lang="en-US" smtClean="0"/>
              <a:t>8/19/26</a:t>
            </a:fld>
            <a:endParaRPr lang="en-US"/>
          </a:p>
        </p:txBody>
      </p:sp>
      <p:sp>
        <p:nvSpPr>
          <p:cNvPr id="7" name="Slide Number Placeholder 6"/>
          <p:cNvSpPr>
            <a:spLocks noGrp="1"/>
          </p:cNvSpPr>
          <p:nvPr>
            <p:ph type="sldNum" sz="quarter" idx="11"/>
          </p:nvPr>
        </p:nvSpPr>
        <p:spPr/>
        <p:txBody>
          <a:bodyPr/>
          <a:lstStyle/>
          <a:p>
            <a:fld id="{A2D9B7C9-1F58-4F07-8711-AA0F3022BC7D}" type="slidenum">
              <a:rPr lang="en-US" smtClean="0"/>
              <a:pPr/>
              <a:t>31</a:t>
            </a:fld>
            <a:endParaRPr lang="en-US" sz="1100"/>
          </a:p>
        </p:txBody>
      </p:sp>
      <p:sp>
        <p:nvSpPr>
          <p:cNvPr id="8" name="Header Placeholder 7"/>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950582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2354" name="Rectangle 2"/>
          <p:cNvSpPr>
            <a:spLocks noGrp="1" noRot="1" noChangeAspect="1" noChangeArrowheads="1" noTextEdit="1"/>
          </p:cNvSpPr>
          <p:nvPr>
            <p:ph type="sldImg"/>
          </p:nvPr>
        </p:nvSpPr>
        <p:spPr>
          <a:ln/>
        </p:spPr>
      </p:sp>
      <p:sp>
        <p:nvSpPr>
          <p:cNvPr id="3812355" name="Rectangle 3"/>
          <p:cNvSpPr>
            <a:spLocks noGrp="1" noChangeArrowheads="1"/>
          </p:cNvSpPr>
          <p:nvPr>
            <p:ph type="body" idx="1"/>
          </p:nvPr>
        </p:nvSpPr>
        <p:spPr/>
        <p:txBody>
          <a:bodyPr/>
          <a:lstStyle/>
          <a:p>
            <a:endParaRPr lang="en-US" altLang="en-US"/>
          </a:p>
        </p:txBody>
      </p:sp>
      <p:sp>
        <p:nvSpPr>
          <p:cNvPr id="5" name="Date Placeholder 4"/>
          <p:cNvSpPr>
            <a:spLocks noGrp="1"/>
          </p:cNvSpPr>
          <p:nvPr>
            <p:ph type="dt" idx="10"/>
          </p:nvPr>
        </p:nvSpPr>
        <p:spPr/>
        <p:txBody>
          <a:bodyPr/>
          <a:lstStyle/>
          <a:p>
            <a:fld id="{4C6E9ED2-D67E-4D9B-9CD5-7F708F1D52C8}" type="datetime1">
              <a:rPr lang="en-US" smtClean="0"/>
              <a:t>8/19/26</a:t>
            </a:fld>
            <a:endParaRPr lang="en-US"/>
          </a:p>
        </p:txBody>
      </p:sp>
      <p:sp>
        <p:nvSpPr>
          <p:cNvPr id="6" name="Slide Number Placeholder 5"/>
          <p:cNvSpPr>
            <a:spLocks noGrp="1"/>
          </p:cNvSpPr>
          <p:nvPr>
            <p:ph type="sldNum" sz="quarter" idx="11"/>
          </p:nvPr>
        </p:nvSpPr>
        <p:spPr/>
        <p:txBody>
          <a:bodyPr/>
          <a:lstStyle/>
          <a:p>
            <a:fld id="{A2D9B7C9-1F58-4F07-8711-AA0F3022BC7D}" type="slidenum">
              <a:rPr lang="en-US" smtClean="0"/>
              <a:pPr/>
              <a:t>32</a:t>
            </a:fld>
            <a:endParaRPr lang="en-US" sz="1100"/>
          </a:p>
        </p:txBody>
      </p:sp>
      <p:sp>
        <p:nvSpPr>
          <p:cNvPr id="7" name="Header Placeholder 6"/>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668946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Date Placeholder 6"/>
          <p:cNvSpPr>
            <a:spLocks noGrp="1"/>
          </p:cNvSpPr>
          <p:nvPr>
            <p:ph type="dt" idx="10"/>
          </p:nvPr>
        </p:nvSpPr>
        <p:spPr/>
        <p:txBody>
          <a:bodyPr/>
          <a:lstStyle/>
          <a:p>
            <a:fld id="{809D883E-BF55-420A-8858-CBA7A1B80936}"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33</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1576724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D3808-B74D-BF65-E65D-8447C506D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FC8A1-97F7-0709-3239-808A07A8E7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A4785-0F23-131F-3AE7-C6C1544D7124}"/>
              </a:ext>
            </a:extLst>
          </p:cNvPr>
          <p:cNvSpPr>
            <a:spLocks noGrp="1"/>
          </p:cNvSpPr>
          <p:nvPr>
            <p:ph type="body" idx="1"/>
          </p:nvPr>
        </p:nvSpPr>
        <p:spPr/>
        <p:txBody>
          <a:bodyPr/>
          <a:lstStyle/>
          <a:p>
            <a:endParaRPr lang="en-US"/>
          </a:p>
        </p:txBody>
      </p:sp>
      <p:sp>
        <p:nvSpPr>
          <p:cNvPr id="7" name="Date Placeholder 6">
            <a:extLst>
              <a:ext uri="{FF2B5EF4-FFF2-40B4-BE49-F238E27FC236}">
                <a16:creationId xmlns:a16="http://schemas.microsoft.com/office/drawing/2014/main" id="{30E5843B-E058-456B-FBB6-6560E5962249}"/>
              </a:ext>
            </a:extLst>
          </p:cNvPr>
          <p:cNvSpPr>
            <a:spLocks noGrp="1"/>
          </p:cNvSpPr>
          <p:nvPr>
            <p:ph type="dt" idx="10"/>
          </p:nvPr>
        </p:nvSpPr>
        <p:spPr/>
        <p:txBody>
          <a:bodyPr/>
          <a:lstStyle/>
          <a:p>
            <a:fld id="{BD50771F-640A-4392-8458-0F47A5DA4813}" type="datetime1">
              <a:rPr lang="en-US" smtClean="0"/>
              <a:t>8/19/26</a:t>
            </a:fld>
            <a:endParaRPr lang="en-US"/>
          </a:p>
        </p:txBody>
      </p:sp>
      <p:sp>
        <p:nvSpPr>
          <p:cNvPr id="8" name="Slide Number Placeholder 7">
            <a:extLst>
              <a:ext uri="{FF2B5EF4-FFF2-40B4-BE49-F238E27FC236}">
                <a16:creationId xmlns:a16="http://schemas.microsoft.com/office/drawing/2014/main" id="{C4A5B3AE-634B-90F3-7275-EF9FDC560930}"/>
              </a:ext>
            </a:extLst>
          </p:cNvPr>
          <p:cNvSpPr>
            <a:spLocks noGrp="1"/>
          </p:cNvSpPr>
          <p:nvPr>
            <p:ph type="sldNum" sz="quarter" idx="11"/>
          </p:nvPr>
        </p:nvSpPr>
        <p:spPr/>
        <p:txBody>
          <a:bodyPr/>
          <a:lstStyle/>
          <a:p>
            <a:fld id="{A2D9B7C9-1F58-4F07-8711-AA0F3022BC7D}" type="slidenum">
              <a:rPr lang="en-US" smtClean="0"/>
              <a:pPr/>
              <a:t>34</a:t>
            </a:fld>
            <a:endParaRPr lang="en-US" sz="1100"/>
          </a:p>
        </p:txBody>
      </p:sp>
      <p:sp>
        <p:nvSpPr>
          <p:cNvPr id="9" name="Header Placeholder 8">
            <a:extLst>
              <a:ext uri="{FF2B5EF4-FFF2-40B4-BE49-F238E27FC236}">
                <a16:creationId xmlns:a16="http://schemas.microsoft.com/office/drawing/2014/main" id="{E0F7D4B5-366E-9423-4FB2-388FA654A95D}"/>
              </a:ext>
            </a:extLst>
          </p:cNvPr>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2886431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2354" name="Rectangle 2"/>
          <p:cNvSpPr>
            <a:spLocks noGrp="1" noRot="1" noChangeAspect="1" noChangeArrowheads="1" noTextEdit="1"/>
          </p:cNvSpPr>
          <p:nvPr>
            <p:ph type="sldImg"/>
          </p:nvPr>
        </p:nvSpPr>
        <p:spPr>
          <a:ln/>
        </p:spPr>
      </p:sp>
      <p:sp>
        <p:nvSpPr>
          <p:cNvPr id="3812355" name="Rectangle 3"/>
          <p:cNvSpPr>
            <a:spLocks noGrp="1" noChangeArrowheads="1"/>
          </p:cNvSpPr>
          <p:nvPr>
            <p:ph type="body" idx="1"/>
          </p:nvPr>
        </p:nvSpPr>
        <p:spPr/>
        <p:txBody>
          <a:bodyPr/>
          <a:lstStyle/>
          <a:p>
            <a:endParaRPr lang="en-US" altLang="en-US"/>
          </a:p>
        </p:txBody>
      </p:sp>
      <p:sp>
        <p:nvSpPr>
          <p:cNvPr id="5" name="Date Placeholder 4"/>
          <p:cNvSpPr>
            <a:spLocks noGrp="1"/>
          </p:cNvSpPr>
          <p:nvPr>
            <p:ph type="dt" idx="10"/>
          </p:nvPr>
        </p:nvSpPr>
        <p:spPr/>
        <p:txBody>
          <a:bodyPr/>
          <a:lstStyle/>
          <a:p>
            <a:fld id="{4C6E9ED2-D67E-4D9B-9CD5-7F708F1D52C8}" type="datetime1">
              <a:rPr lang="en-US" smtClean="0"/>
              <a:t>8/19/26</a:t>
            </a:fld>
            <a:endParaRPr lang="en-US"/>
          </a:p>
        </p:txBody>
      </p:sp>
      <p:sp>
        <p:nvSpPr>
          <p:cNvPr id="6" name="Slide Number Placeholder 5"/>
          <p:cNvSpPr>
            <a:spLocks noGrp="1"/>
          </p:cNvSpPr>
          <p:nvPr>
            <p:ph type="sldNum" sz="quarter" idx="11"/>
          </p:nvPr>
        </p:nvSpPr>
        <p:spPr/>
        <p:txBody>
          <a:bodyPr/>
          <a:lstStyle/>
          <a:p>
            <a:fld id="{A2D9B7C9-1F58-4F07-8711-AA0F3022BC7D}" type="slidenum">
              <a:rPr lang="en-US" smtClean="0"/>
              <a:pPr/>
              <a:t>35</a:t>
            </a:fld>
            <a:endParaRPr lang="en-US" sz="1100"/>
          </a:p>
        </p:txBody>
      </p:sp>
      <p:sp>
        <p:nvSpPr>
          <p:cNvPr id="7" name="Header Placeholder 6"/>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4250048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1358851" name="Rectangle 3"/>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36</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B825523D-78D0-4900-ACEE-EB50C9F99AEF}" type="datetime1">
              <a:rPr lang="en-US" smtClean="0"/>
              <a:t>8/19/26</a:t>
            </a:fld>
            <a:endParaRPr lang="en-US" sz="1200"/>
          </a:p>
        </p:txBody>
      </p:sp>
    </p:spTree>
    <p:extLst>
      <p:ext uri="{BB962C8B-B14F-4D97-AF65-F5344CB8AC3E}">
        <p14:creationId xmlns:p14="http://schemas.microsoft.com/office/powerpoint/2010/main" val="3703992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1EFA3-CD5F-9F96-BA50-C4B10A07BE95}"/>
            </a:ext>
          </a:extLst>
        </p:cNvPr>
        <p:cNvGrpSpPr/>
        <p:nvPr/>
      </p:nvGrpSpPr>
      <p:grpSpPr>
        <a:xfrm>
          <a:off x="0" y="0"/>
          <a:ext cx="0" cy="0"/>
          <a:chOff x="0" y="0"/>
          <a:chExt cx="0" cy="0"/>
        </a:xfrm>
      </p:grpSpPr>
      <p:sp>
        <p:nvSpPr>
          <p:cNvPr id="3812354" name="Rectangle 2">
            <a:extLst>
              <a:ext uri="{FF2B5EF4-FFF2-40B4-BE49-F238E27FC236}">
                <a16:creationId xmlns:a16="http://schemas.microsoft.com/office/drawing/2014/main" id="{3EB0AC19-73ED-7A62-4671-59EDAA556283}"/>
              </a:ext>
            </a:extLst>
          </p:cNvPr>
          <p:cNvSpPr>
            <a:spLocks noGrp="1" noRot="1" noChangeAspect="1" noChangeArrowheads="1" noTextEdit="1"/>
          </p:cNvSpPr>
          <p:nvPr>
            <p:ph type="sldImg"/>
          </p:nvPr>
        </p:nvSpPr>
        <p:spPr>
          <a:ln/>
        </p:spPr>
      </p:sp>
      <p:sp>
        <p:nvSpPr>
          <p:cNvPr id="3812355" name="Rectangle 3">
            <a:extLst>
              <a:ext uri="{FF2B5EF4-FFF2-40B4-BE49-F238E27FC236}">
                <a16:creationId xmlns:a16="http://schemas.microsoft.com/office/drawing/2014/main" id="{B69FFF83-BE7A-9F4A-0D90-782928DF4317}"/>
              </a:ext>
            </a:extLst>
          </p:cNvPr>
          <p:cNvSpPr>
            <a:spLocks noGrp="1" noChangeArrowheads="1"/>
          </p:cNvSpPr>
          <p:nvPr>
            <p:ph type="body" idx="1"/>
          </p:nvPr>
        </p:nvSpPr>
        <p:spPr/>
        <p:txBody>
          <a:bodyPr/>
          <a:lstStyle/>
          <a:p>
            <a:endParaRPr lang="en-US" altLang="en-US"/>
          </a:p>
        </p:txBody>
      </p:sp>
      <p:sp>
        <p:nvSpPr>
          <p:cNvPr id="5" name="Date Placeholder 4">
            <a:extLst>
              <a:ext uri="{FF2B5EF4-FFF2-40B4-BE49-F238E27FC236}">
                <a16:creationId xmlns:a16="http://schemas.microsoft.com/office/drawing/2014/main" id="{74F1E48F-CB36-383C-FC6E-7DAE684FD727}"/>
              </a:ext>
            </a:extLst>
          </p:cNvPr>
          <p:cNvSpPr>
            <a:spLocks noGrp="1"/>
          </p:cNvSpPr>
          <p:nvPr>
            <p:ph type="dt" idx="10"/>
          </p:nvPr>
        </p:nvSpPr>
        <p:spPr/>
        <p:txBody>
          <a:bodyPr/>
          <a:lstStyle/>
          <a:p>
            <a:fld id="{4C6E9ED2-D67E-4D9B-9CD5-7F708F1D52C8}" type="datetime1">
              <a:rPr lang="en-US" smtClean="0"/>
              <a:t>8/19/26</a:t>
            </a:fld>
            <a:endParaRPr lang="en-US"/>
          </a:p>
        </p:txBody>
      </p:sp>
      <p:sp>
        <p:nvSpPr>
          <p:cNvPr id="6" name="Slide Number Placeholder 5">
            <a:extLst>
              <a:ext uri="{FF2B5EF4-FFF2-40B4-BE49-F238E27FC236}">
                <a16:creationId xmlns:a16="http://schemas.microsoft.com/office/drawing/2014/main" id="{EA870907-E821-D80B-2493-F6BD7414AFE1}"/>
              </a:ext>
            </a:extLst>
          </p:cNvPr>
          <p:cNvSpPr>
            <a:spLocks noGrp="1"/>
          </p:cNvSpPr>
          <p:nvPr>
            <p:ph type="sldNum" sz="quarter" idx="11"/>
          </p:nvPr>
        </p:nvSpPr>
        <p:spPr/>
        <p:txBody>
          <a:bodyPr/>
          <a:lstStyle/>
          <a:p>
            <a:fld id="{A2D9B7C9-1F58-4F07-8711-AA0F3022BC7D}" type="slidenum">
              <a:rPr lang="en-US" smtClean="0"/>
              <a:pPr/>
              <a:t>37</a:t>
            </a:fld>
            <a:endParaRPr lang="en-US" sz="1100"/>
          </a:p>
        </p:txBody>
      </p:sp>
      <p:sp>
        <p:nvSpPr>
          <p:cNvPr id="7" name="Header Placeholder 6">
            <a:extLst>
              <a:ext uri="{FF2B5EF4-FFF2-40B4-BE49-F238E27FC236}">
                <a16:creationId xmlns:a16="http://schemas.microsoft.com/office/drawing/2014/main" id="{09978328-1CC9-1674-ACEE-EEFF6C619893}"/>
              </a:ext>
            </a:extLst>
          </p:cNvPr>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1390993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Date Placeholder 6"/>
          <p:cNvSpPr>
            <a:spLocks noGrp="1"/>
          </p:cNvSpPr>
          <p:nvPr>
            <p:ph type="dt" idx="10"/>
          </p:nvPr>
        </p:nvSpPr>
        <p:spPr/>
        <p:txBody>
          <a:bodyPr/>
          <a:lstStyle/>
          <a:p>
            <a:fld id="{DBF83AF2-BC3B-400E-9B0C-014EDA7D38BB}"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38</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9839203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Image Placeholder 9"/>
          <p:cNvSpPr>
            <a:spLocks noGrp="1" noRot="1" noChangeAspect="1"/>
          </p:cNvSpPr>
          <p:nvPr>
            <p:ph type="sldImg"/>
          </p:nvPr>
        </p:nvSpPr>
        <p:spPr/>
      </p:sp>
      <p:sp>
        <p:nvSpPr>
          <p:cNvPr id="11" name="Notes Placeholder 10"/>
          <p:cNvSpPr>
            <a:spLocks noGrp="1"/>
          </p:cNvSpPr>
          <p:nvPr>
            <p:ph type="body" idx="1"/>
          </p:nvPr>
        </p:nvSpPr>
        <p:spPr/>
        <p:txBody>
          <a:bodyPr/>
          <a:lstStyle/>
          <a:p>
            <a:endParaRPr lang="en-US"/>
          </a:p>
        </p:txBody>
      </p:sp>
      <p:sp>
        <p:nvSpPr>
          <p:cNvPr id="5" name="Date Placeholder 4"/>
          <p:cNvSpPr>
            <a:spLocks noGrp="1"/>
          </p:cNvSpPr>
          <p:nvPr>
            <p:ph type="dt" idx="10"/>
          </p:nvPr>
        </p:nvSpPr>
        <p:spPr/>
        <p:txBody>
          <a:bodyPr/>
          <a:lstStyle/>
          <a:p>
            <a:fld id="{0A7C585F-1423-4364-9098-8CB6081263E2}" type="datetime1">
              <a:rPr lang="en-US" smtClean="0"/>
              <a:t>8/19/26</a:t>
            </a:fld>
            <a:endParaRPr lang="en-US"/>
          </a:p>
        </p:txBody>
      </p:sp>
      <p:sp>
        <p:nvSpPr>
          <p:cNvPr id="6" name="Slide Number Placeholder 5"/>
          <p:cNvSpPr>
            <a:spLocks noGrp="1"/>
          </p:cNvSpPr>
          <p:nvPr>
            <p:ph type="sldNum" sz="quarter" idx="11"/>
          </p:nvPr>
        </p:nvSpPr>
        <p:spPr/>
        <p:txBody>
          <a:bodyPr/>
          <a:lstStyle/>
          <a:p>
            <a:fld id="{A2D9B7C9-1F58-4F07-8711-AA0F3022BC7D}" type="slidenum">
              <a:rPr lang="en-US" smtClean="0"/>
              <a:pPr/>
              <a:t>41</a:t>
            </a:fld>
            <a:endParaRPr lang="en-US" sz="1100"/>
          </a:p>
        </p:txBody>
      </p:sp>
      <p:sp>
        <p:nvSpPr>
          <p:cNvPr id="7" name="Header Placeholder 6"/>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1995771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20805-9F45-A297-3C33-9FC99A21A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38159-8485-2FD8-C9AD-D74460CD8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99439-AB7B-CACB-7BC4-DCEAFAF806D1}"/>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068D1D2A-96F7-3F1A-C20C-7528005E0D96}"/>
              </a:ext>
            </a:extLst>
          </p:cNvPr>
          <p:cNvSpPr>
            <a:spLocks noGrp="1"/>
          </p:cNvSpPr>
          <p:nvPr>
            <p:ph type="dt" idx="10"/>
          </p:nvPr>
        </p:nvSpPr>
        <p:spPr/>
        <p:txBody>
          <a:bodyPr/>
          <a:lstStyle/>
          <a:p>
            <a:fld id="{DB52C563-DA26-432D-8676-8BEFA8A50302}" type="datetime1">
              <a:rPr lang="en-US" smtClean="0"/>
              <a:t>8/19/26</a:t>
            </a:fld>
            <a:endParaRPr lang="en-US"/>
          </a:p>
        </p:txBody>
      </p:sp>
      <p:sp>
        <p:nvSpPr>
          <p:cNvPr id="5" name="Slide Number Placeholder 4">
            <a:extLst>
              <a:ext uri="{FF2B5EF4-FFF2-40B4-BE49-F238E27FC236}">
                <a16:creationId xmlns:a16="http://schemas.microsoft.com/office/drawing/2014/main" id="{13B6C7F7-3A3F-A0D9-CCF7-EDA25B166D7E}"/>
              </a:ext>
            </a:extLst>
          </p:cNvPr>
          <p:cNvSpPr>
            <a:spLocks noGrp="1"/>
          </p:cNvSpPr>
          <p:nvPr>
            <p:ph type="sldNum" sz="quarter" idx="11"/>
          </p:nvPr>
        </p:nvSpPr>
        <p:spPr/>
        <p:txBody>
          <a:bodyPr/>
          <a:lstStyle/>
          <a:p>
            <a:fld id="{A2D9B7C9-1F58-4F07-8711-AA0F3022BC7D}" type="slidenum">
              <a:rPr lang="en-US" smtClean="0"/>
              <a:pPr/>
              <a:t>42</a:t>
            </a:fld>
            <a:endParaRPr lang="en-US" sz="1100"/>
          </a:p>
        </p:txBody>
      </p:sp>
      <p:sp>
        <p:nvSpPr>
          <p:cNvPr id="6" name="Header Placeholder 5">
            <a:extLst>
              <a:ext uri="{FF2B5EF4-FFF2-40B4-BE49-F238E27FC236}">
                <a16:creationId xmlns:a16="http://schemas.microsoft.com/office/drawing/2014/main" id="{E9B7C574-5EE0-4CF1-71FA-DFEDB369311B}"/>
              </a:ext>
            </a:extLst>
          </p:cNvPr>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2395853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1F12974-4742-4652-B460-F139B82EB91E}" type="datetime1">
              <a:rPr lang="en-US" smtClean="0"/>
              <a:t>8/19/26</a:t>
            </a:fld>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45</a:t>
            </a:fld>
            <a:endParaRPr lang="en-US" sz="1100"/>
          </a:p>
        </p:txBody>
      </p:sp>
      <p:sp>
        <p:nvSpPr>
          <p:cNvPr id="6" name="Header Placeholder 5"/>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90502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4AAB7FF1-09C4-4835-ABB9-B83EC84D768F}" type="datetime1">
              <a:rPr lang="en-US" smtClean="0"/>
              <a:t>8/19/26</a:t>
            </a:fld>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46</a:t>
            </a:fld>
            <a:endParaRPr lang="en-US" sz="1100"/>
          </a:p>
        </p:txBody>
      </p:sp>
      <p:sp>
        <p:nvSpPr>
          <p:cNvPr id="6" name="Header Placeholder 5"/>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0540917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D1D86B61-C03B-4AE9-83E0-2A7D63006CC5}" type="datetime1">
              <a:rPr lang="en-US" smtClean="0"/>
              <a:t>8/19/26</a:t>
            </a:fld>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47</a:t>
            </a:fld>
            <a:endParaRPr lang="en-US" sz="1100"/>
          </a:p>
        </p:txBody>
      </p:sp>
      <p:sp>
        <p:nvSpPr>
          <p:cNvPr id="6" name="Header Placeholder 5"/>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4951342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604D6792-92C6-48DA-BD71-C091A19F165B}" type="datetime1">
              <a:rPr lang="en-US" smtClean="0"/>
              <a:t>8/19/26</a:t>
            </a:fld>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48</a:t>
            </a:fld>
            <a:endParaRPr lang="en-US" sz="1100"/>
          </a:p>
        </p:txBody>
      </p:sp>
      <p:sp>
        <p:nvSpPr>
          <p:cNvPr id="6" name="Header Placeholder 5"/>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9762670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7D2A8805-C786-4DA9-A40A-D69C241CF4D4}" type="datetime1">
              <a:rPr lang="en-US" smtClean="0"/>
              <a:t>8/19/26</a:t>
            </a:fld>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49</a:t>
            </a:fld>
            <a:endParaRPr lang="en-US" sz="1100"/>
          </a:p>
        </p:txBody>
      </p:sp>
      <p:sp>
        <p:nvSpPr>
          <p:cNvPr id="6" name="Header Placeholder 5"/>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104930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C49A2993-821C-4C66-BC0B-926ED67AB107}" type="datetime1">
              <a:rPr lang="en-US" smtClean="0"/>
              <a:t>8/19/26</a:t>
            </a:fld>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50</a:t>
            </a:fld>
            <a:endParaRPr lang="en-US" sz="1100"/>
          </a:p>
        </p:txBody>
      </p:sp>
      <p:sp>
        <p:nvSpPr>
          <p:cNvPr id="6" name="Header Placeholder 5"/>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740889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60D1711B-A9D3-4A4B-821F-DD1A75D8DB86}" type="datetime1">
              <a:rPr lang="en-US" smtClean="0"/>
              <a:t>8/19/26</a:t>
            </a:fld>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52</a:t>
            </a:fld>
            <a:endParaRPr lang="en-US" sz="1100"/>
          </a:p>
        </p:txBody>
      </p:sp>
      <p:sp>
        <p:nvSpPr>
          <p:cNvPr id="6" name="Header Placeholder 5"/>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5904867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3CA3B02F-EE8E-4747-9DC4-E7EB0A7D63E8}" type="datetime1">
              <a:rPr lang="en-US" smtClean="0"/>
              <a:t>8/19/26</a:t>
            </a:fld>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53</a:t>
            </a:fld>
            <a:endParaRPr lang="en-US" sz="1100"/>
          </a:p>
        </p:txBody>
      </p:sp>
      <p:sp>
        <p:nvSpPr>
          <p:cNvPr id="6" name="Header Placeholder 5"/>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8067144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C2CC-330B-F34E-9D9A-F08A036FA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C5C44-4190-7A85-7B65-B976AA9C4B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E36DA3-2296-DD2B-4468-207AAAB804C0}"/>
              </a:ext>
            </a:extLst>
          </p:cNvPr>
          <p:cNvSpPr>
            <a:spLocks noGrp="1"/>
          </p:cNvSpPr>
          <p:nvPr>
            <p:ph type="body" idx="1"/>
          </p:nvPr>
        </p:nvSpPr>
        <p:spPr/>
        <p:txBody>
          <a:bodyPr/>
          <a:lstStyle/>
          <a:p>
            <a:r>
              <a:rPr lang="en-US" dirty="0"/>
              <a:t>Large banks could afford all those separate systems. Community banks generally could not.</a:t>
            </a:r>
          </a:p>
          <a:p>
            <a:r>
              <a:rPr lang="en-US" dirty="0"/>
              <a:t>Instead of asking</a:t>
            </a:r>
          </a:p>
          <a:p>
            <a:r>
              <a:rPr lang="en-US" dirty="0"/>
              <a:t>"Do you have IDS?"</a:t>
            </a:r>
          </a:p>
          <a:p>
            <a:r>
              <a:rPr lang="en-US" dirty="0"/>
              <a:t>ask</a:t>
            </a:r>
          </a:p>
          <a:p>
            <a:r>
              <a:rPr lang="en-US" dirty="0"/>
              <a:t>"How are intrusion prevention functions provided?"</a:t>
            </a:r>
          </a:p>
          <a:p>
            <a:r>
              <a:rPr lang="en-US" dirty="0"/>
              <a:t>Instead of</a:t>
            </a:r>
          </a:p>
          <a:p>
            <a:r>
              <a:rPr lang="en-US" dirty="0"/>
              <a:t>"Where is your VPN appliance?"</a:t>
            </a:r>
          </a:p>
          <a:p>
            <a:r>
              <a:rPr lang="en-US" dirty="0"/>
              <a:t>ask</a:t>
            </a:r>
          </a:p>
          <a:p>
            <a:r>
              <a:rPr lang="en-US" dirty="0"/>
              <a:t>"How is remote access terminated?"</a:t>
            </a:r>
          </a:p>
          <a:p>
            <a:r>
              <a:rPr lang="en-US" dirty="0"/>
              <a:t>Instead of</a:t>
            </a:r>
          </a:p>
          <a:p>
            <a:r>
              <a:rPr lang="en-US" dirty="0"/>
              <a:t>"Where is web filtering?"</a:t>
            </a:r>
          </a:p>
          <a:p>
            <a:r>
              <a:rPr lang="en-US" dirty="0"/>
              <a:t>ask</a:t>
            </a:r>
          </a:p>
          <a:p>
            <a:r>
              <a:rPr lang="en-US" dirty="0"/>
              <a:t>"How do you control users' web access?"</a:t>
            </a:r>
          </a:p>
          <a:p>
            <a:r>
              <a:rPr lang="en-US" dirty="0"/>
              <a:t>You're examining </a:t>
            </a:r>
            <a:r>
              <a:rPr lang="en-US" b="1" dirty="0"/>
              <a:t>functions</a:t>
            </a:r>
            <a:r>
              <a:rPr lang="en-US" dirty="0"/>
              <a:t>, not boxes.</a:t>
            </a:r>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18DD1FB3-8B98-586F-E0F5-B50C3CD3E85C}"/>
              </a:ext>
            </a:extLst>
          </p:cNvPr>
          <p:cNvSpPr>
            <a:spLocks noGrp="1"/>
          </p:cNvSpPr>
          <p:nvPr>
            <p:ph type="dt" idx="10"/>
          </p:nvPr>
        </p:nvSpPr>
        <p:spPr/>
        <p:txBody>
          <a:bodyPr/>
          <a:lstStyle/>
          <a:p>
            <a:fld id="{3CA3B02F-EE8E-4747-9DC4-E7EB0A7D63E8}" type="datetime1">
              <a:rPr lang="en-US" smtClean="0"/>
              <a:t>8/19/26</a:t>
            </a:fld>
            <a:endParaRPr lang="en-US"/>
          </a:p>
        </p:txBody>
      </p:sp>
      <p:sp>
        <p:nvSpPr>
          <p:cNvPr id="5" name="Slide Number Placeholder 4">
            <a:extLst>
              <a:ext uri="{FF2B5EF4-FFF2-40B4-BE49-F238E27FC236}">
                <a16:creationId xmlns:a16="http://schemas.microsoft.com/office/drawing/2014/main" id="{76F3E1F6-83DD-2E76-2B38-8FC9262F45AE}"/>
              </a:ext>
            </a:extLst>
          </p:cNvPr>
          <p:cNvSpPr>
            <a:spLocks noGrp="1"/>
          </p:cNvSpPr>
          <p:nvPr>
            <p:ph type="sldNum" sz="quarter" idx="11"/>
          </p:nvPr>
        </p:nvSpPr>
        <p:spPr/>
        <p:txBody>
          <a:bodyPr/>
          <a:lstStyle/>
          <a:p>
            <a:fld id="{A2D9B7C9-1F58-4F07-8711-AA0F3022BC7D}" type="slidenum">
              <a:rPr lang="en-US" smtClean="0"/>
              <a:pPr/>
              <a:t>54</a:t>
            </a:fld>
            <a:endParaRPr lang="en-US" sz="1100"/>
          </a:p>
        </p:txBody>
      </p:sp>
      <p:sp>
        <p:nvSpPr>
          <p:cNvPr id="6" name="Header Placeholder 5">
            <a:extLst>
              <a:ext uri="{FF2B5EF4-FFF2-40B4-BE49-F238E27FC236}">
                <a16:creationId xmlns:a16="http://schemas.microsoft.com/office/drawing/2014/main" id="{D48BE9B8-5BF9-96FA-1771-B943B8B5F122}"/>
              </a:ext>
            </a:extLst>
          </p:cNvPr>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8937081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E7FFDB85-071D-43BC-A98E-D56AAF59C9F2}" type="datetime1">
              <a:rPr lang="en-US" smtClean="0"/>
              <a:t>8/19/26</a:t>
            </a:fld>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55</a:t>
            </a:fld>
            <a:endParaRPr lang="en-US" sz="1100"/>
          </a:p>
        </p:txBody>
      </p:sp>
      <p:sp>
        <p:nvSpPr>
          <p:cNvPr id="6" name="Header Placeholder 5"/>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4746313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Management</a:t>
            </a:r>
          </a:p>
          <a:p>
            <a:r>
              <a:rPr lang="en-US" dirty="0"/>
              <a:t>Changes follow an approved process.</a:t>
            </a:r>
          </a:p>
          <a:p>
            <a:r>
              <a:rPr lang="en-US" dirty="0"/>
              <a:t>Firewall rules are documented.</a:t>
            </a:r>
          </a:p>
          <a:p>
            <a:r>
              <a:rPr lang="en-US" dirty="0"/>
              <a:t>Emergency changes are reviewed afterward.</a:t>
            </a:r>
          </a:p>
          <a:p>
            <a:r>
              <a:rPr lang="en-US" dirty="0"/>
              <a:t>Examiner asks:</a:t>
            </a:r>
          </a:p>
          <a:p>
            <a:r>
              <a:rPr lang="en-US" dirty="0"/>
              <a:t>Who can change the firewall, and how are those changes controlled?</a:t>
            </a:r>
          </a:p>
          <a:p>
            <a:endParaRPr lang="en-US" dirty="0"/>
          </a:p>
          <a:p>
            <a:endParaRPr lang="en-US" dirty="0"/>
          </a:p>
          <a:p>
            <a:r>
              <a:rPr lang="en-US" dirty="0"/>
              <a:t>Rule Management</a:t>
            </a:r>
          </a:p>
          <a:p>
            <a:r>
              <a:rPr lang="en-US" dirty="0"/>
              <a:t>Rules are periodically reviewed.</a:t>
            </a:r>
          </a:p>
          <a:p>
            <a:r>
              <a:rPr lang="en-US" dirty="0"/>
              <a:t>Unused rules are removed.</a:t>
            </a:r>
          </a:p>
          <a:p>
            <a:r>
              <a:rPr lang="en-US" dirty="0"/>
              <a:t>"Allow Any" rules are minimized and justified.</a:t>
            </a:r>
          </a:p>
          <a:p>
            <a:r>
              <a:rPr lang="en-US" dirty="0"/>
              <a:t>Examiner asks:</a:t>
            </a:r>
          </a:p>
          <a:p>
            <a:r>
              <a:rPr lang="en-US" dirty="0"/>
              <a:t>How do you know your rule base is still appropriate?</a:t>
            </a:r>
          </a:p>
          <a:p>
            <a:endParaRPr lang="en-US" dirty="0"/>
          </a:p>
          <a:p>
            <a:r>
              <a:rPr lang="en-US" dirty="0"/>
              <a:t>Monitoring</a:t>
            </a:r>
          </a:p>
          <a:p>
            <a:r>
              <a:rPr lang="en-US" dirty="0"/>
              <a:t>Logs are collected.</a:t>
            </a:r>
          </a:p>
          <a:p>
            <a:r>
              <a:rPr lang="en-US" dirty="0"/>
              <a:t>Alerts are reviewed.</a:t>
            </a:r>
          </a:p>
          <a:p>
            <a:r>
              <a:rPr lang="en-US" dirty="0"/>
              <a:t>Significant events are investigated.</a:t>
            </a:r>
          </a:p>
          <a:p>
            <a:r>
              <a:rPr lang="en-US" dirty="0"/>
              <a:t>Examiner asks:</a:t>
            </a:r>
          </a:p>
          <a:p>
            <a:r>
              <a:rPr lang="en-US" dirty="0"/>
              <a:t>Who is watching the firewall after business hours?</a:t>
            </a:r>
          </a:p>
          <a:p>
            <a:endParaRPr lang="en-US" dirty="0"/>
          </a:p>
          <a:p>
            <a:r>
              <a:rPr lang="en-US" dirty="0"/>
              <a:t>Maintenance</a:t>
            </a:r>
          </a:p>
          <a:p>
            <a:r>
              <a:rPr lang="en-US" dirty="0"/>
              <a:t>Firmware is kept current.</a:t>
            </a:r>
          </a:p>
          <a:p>
            <a:r>
              <a:rPr lang="en-US" dirty="0"/>
              <a:t>Security updates are applied.</a:t>
            </a:r>
          </a:p>
          <a:p>
            <a:r>
              <a:rPr lang="en-US" dirty="0"/>
              <a:t>Configuration backups are performed.</a:t>
            </a:r>
          </a:p>
          <a:p>
            <a:r>
              <a:rPr lang="en-US" dirty="0"/>
              <a:t>Hardware lifecycle is managed.</a:t>
            </a:r>
          </a:p>
          <a:p>
            <a:r>
              <a:rPr lang="en-US" dirty="0"/>
              <a:t>Examiner asks:</a:t>
            </a:r>
          </a:p>
          <a:p>
            <a:r>
              <a:rPr lang="en-US" dirty="0"/>
              <a:t>How do you ensure the firewall remains supported and secure?</a:t>
            </a:r>
          </a:p>
          <a:p>
            <a:endParaRPr lang="en-US" dirty="0"/>
          </a:p>
          <a:p>
            <a:endParaRPr lang="en-US" dirty="0"/>
          </a:p>
          <a:p>
            <a:r>
              <a:rPr lang="en-US" dirty="0"/>
              <a:t>Governance</a:t>
            </a:r>
          </a:p>
          <a:p>
            <a:r>
              <a:rPr lang="en-US" dirty="0"/>
              <a:t>Policies define acceptable traffic.</a:t>
            </a:r>
          </a:p>
          <a:p>
            <a:r>
              <a:rPr lang="en-US" dirty="0"/>
              <a:t>Management approves significant changes.</a:t>
            </a:r>
          </a:p>
          <a:p>
            <a:r>
              <a:rPr lang="en-US" dirty="0"/>
              <a:t>Responsibilities are clearly assigned (bank vs. MSP).</a:t>
            </a:r>
          </a:p>
          <a:p>
            <a:r>
              <a:rPr lang="en-US" dirty="0"/>
              <a:t>Examiner asks:</a:t>
            </a:r>
          </a:p>
          <a:p>
            <a:r>
              <a:rPr lang="en-US" dirty="0"/>
              <a:t>Who is accountable for the firewall?</a:t>
            </a:r>
          </a:p>
        </p:txBody>
      </p:sp>
      <p:sp>
        <p:nvSpPr>
          <p:cNvPr id="4" name="Slide Number Placeholder 3"/>
          <p:cNvSpPr>
            <a:spLocks noGrp="1"/>
          </p:cNvSpPr>
          <p:nvPr>
            <p:ph type="sldNum" sz="quarter" idx="5"/>
          </p:nvPr>
        </p:nvSpPr>
        <p:spPr/>
        <p:txBody>
          <a:bodyPr/>
          <a:lstStyle/>
          <a:p>
            <a:fld id="{4F22E1E8-19DD-9846-964E-7494B0E7F513}" type="slidenum">
              <a:rPr lang="en-US" smtClean="0"/>
              <a:t>61</a:t>
            </a:fld>
            <a:endParaRPr lang="en-US"/>
          </a:p>
        </p:txBody>
      </p:sp>
    </p:spTree>
    <p:extLst>
      <p:ext uri="{BB962C8B-B14F-4D97-AF65-F5344CB8AC3E}">
        <p14:creationId xmlns:p14="http://schemas.microsoft.com/office/powerpoint/2010/main" val="9360334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Chapter title.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0A57-51C0-27F9-5D14-791E7FBA7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2F2A3-2D3A-BE4F-48DC-58AC977DA6A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9A5CA61-6BFA-CB65-2F52-2DF9671A61D4}"/>
              </a:ext>
            </a:extLst>
          </p:cNvPr>
          <p:cNvSpPr>
            <a:spLocks noGrp="1"/>
          </p:cNvSpPr>
          <p:nvPr>
            <p:ph type="body" sz="quarter" idx="3"/>
          </p:nvPr>
        </p:nvSpPr>
        <p:spPr/>
        <p:txBody>
          <a:bodyPr/>
          <a:lstStyle/>
          <a:p>
            <a:pPr>
              <a:defRPr sz="1800"/>
            </a:pPr>
            <a:r>
              <a:rPr dirty="0"/>
              <a:t>Chapter title.</a:t>
            </a:r>
          </a:p>
        </p:txBody>
      </p:sp>
      <p:sp>
        <p:nvSpPr>
          <p:cNvPr id="4" name="Slide Number Placeholder 3">
            <a:extLst>
              <a:ext uri="{FF2B5EF4-FFF2-40B4-BE49-F238E27FC236}">
                <a16:creationId xmlns:a16="http://schemas.microsoft.com/office/drawing/2014/main" id="{DA5B8B20-DF48-C07E-96D0-C05F928E7032}"/>
              </a:ext>
            </a:extLst>
          </p:cNvPr>
          <p:cNvSpPr>
            <a:spLocks noGrp="1"/>
          </p:cNvSpPr>
          <p:nvPr>
            <p:ph type="sldNum" sz="quarter" idx="5"/>
          </p:nvPr>
        </p:nvSpPr>
        <p:spPr/>
      </p:sp>
    </p:spTree>
    <p:extLst>
      <p:ext uri="{BB962C8B-B14F-4D97-AF65-F5344CB8AC3E}">
        <p14:creationId xmlns:p14="http://schemas.microsoft.com/office/powerpoint/2010/main" val="6804262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2D349-BDE0-5798-CDAB-DA9760248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7513B9-073C-8D2A-516D-B32B454A7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925AF-2407-645C-6551-1BD24D20A0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0ED4E0-6F06-17B9-54AA-622A7B5689D8}"/>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9076592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p:sp>
      <p:sp>
        <p:nvSpPr>
          <p:cNvPr id="5" name="Notes Placeholder 4"/>
          <p:cNvSpPr>
            <a:spLocks noGrp="1"/>
          </p:cNvSpPr>
          <p:nvPr>
            <p:ph type="body" idx="1"/>
          </p:nvPr>
        </p:nvSpPr>
        <p:spPr/>
        <p:txBody>
          <a:bodyPr/>
          <a:lstStyle/>
          <a:p>
            <a:pPr>
              <a:defRPr sz="1800"/>
            </a:pPr>
            <a:r>
              <a:t>Chapter title.</a:t>
            </a:r>
            <a:endParaRPr lang="en-US"/>
          </a:p>
        </p:txBody>
      </p:sp>
      <p:sp>
        <p:nvSpPr>
          <p:cNvPr id="7" name="Date Placeholder 6"/>
          <p:cNvSpPr>
            <a:spLocks noGrp="1"/>
          </p:cNvSpPr>
          <p:nvPr>
            <p:ph type="dt" idx="10"/>
          </p:nvPr>
        </p:nvSpPr>
        <p:spPr/>
        <p:txBody>
          <a:bodyPr/>
          <a:lstStyle/>
          <a:p>
            <a:fld id="{B27E25DD-431A-4717-B56C-0958CBD49E44}"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67</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2004575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Introduce the idea that every attack targets some point along the Pine Valley transaction path.</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800"/>
            </a:pPr>
            <a:r>
              <a:t>Show that social engineering and phishing are often the easiest path into a bank.</a:t>
            </a:r>
            <a:endParaRPr lang="en-US"/>
          </a:p>
        </p:txBody>
      </p:sp>
      <p:sp>
        <p:nvSpPr>
          <p:cNvPr id="4" name="Header Placeholder 3"/>
          <p:cNvSpPr>
            <a:spLocks noGrp="1"/>
          </p:cNvSpPr>
          <p:nvPr>
            <p:ph type="hdr" sz="quarter"/>
          </p:nvPr>
        </p:nvSpPr>
        <p:spPr/>
        <p:txBody>
          <a:bodyPr/>
          <a:lstStyle/>
          <a:p>
            <a:r>
              <a:rPr lang="en-US"/>
              <a:t>Deploying Internet and Intranet Firewalls</a:t>
            </a:r>
          </a:p>
        </p:txBody>
      </p:sp>
      <p:sp>
        <p:nvSpPr>
          <p:cNvPr id="5" name="Date Placeholder 4"/>
          <p:cNvSpPr>
            <a:spLocks noGrp="1"/>
          </p:cNvSpPr>
          <p:nvPr>
            <p:ph type="dt" idx="1"/>
          </p:nvPr>
        </p:nvSpPr>
        <p:spPr/>
        <p:txBody>
          <a:bodyPr/>
          <a:lstStyle/>
          <a:p>
            <a:fld id="{B6683DF6-AAE4-488C-917F-4097CAADA3B7}" type="datetime1">
              <a:rPr lang="en-US" smtClean="0"/>
              <a:t>8/19/26</a:t>
            </a:fld>
            <a:endParaRPr lang="en-US"/>
          </a:p>
        </p:txBody>
      </p:sp>
      <p:sp>
        <p:nvSpPr>
          <p:cNvPr id="6" name="Slide Number Placeholder 5"/>
          <p:cNvSpPr>
            <a:spLocks noGrp="1"/>
          </p:cNvSpPr>
          <p:nvPr>
            <p:ph type="sldNum" sz="quarter" idx="5"/>
          </p:nvPr>
        </p:nvSpPr>
        <p:spPr/>
        <p:txBody>
          <a:bodyPr/>
          <a:lstStyle/>
          <a:p>
            <a:fld id="{A2D9B7C9-1F58-4F07-8711-AA0F3022BC7D}" type="slidenum">
              <a:rPr lang="en-US" smtClean="0"/>
              <a:pPr/>
              <a:t>71</a:t>
            </a:fld>
            <a:endParaRPr lang="en-US" sz="1100"/>
          </a:p>
        </p:txBody>
      </p:sp>
    </p:spTree>
    <p:extLst>
      <p:ext uri="{BB962C8B-B14F-4D97-AF65-F5344CB8AC3E}">
        <p14:creationId xmlns:p14="http://schemas.microsoft.com/office/powerpoint/2010/main" val="38858271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Explain how credential theft and MFA bypass have become more common than direct network intrusion.</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Introduce malware, ransomware, and software exploits that target endpoints and servers.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Image Placeholder 9"/>
          <p:cNvSpPr>
            <a:spLocks noGrp="1" noRot="1" noChangeAspect="1"/>
          </p:cNvSpPr>
          <p:nvPr>
            <p:ph type="sldImg"/>
          </p:nvPr>
        </p:nvSpPr>
        <p:spPr/>
      </p:sp>
      <p:sp>
        <p:nvSpPr>
          <p:cNvPr id="11" name="Notes Placeholder 10"/>
          <p:cNvSpPr>
            <a:spLocks noGrp="1"/>
          </p:cNvSpPr>
          <p:nvPr>
            <p:ph type="body" idx="1"/>
          </p:nvPr>
        </p:nvSpPr>
        <p:spPr/>
        <p:txBody>
          <a:bodyPr/>
          <a:lstStyle/>
          <a:p>
            <a:pPr>
              <a:defRPr sz="1800"/>
            </a:pPr>
            <a:r>
              <a:t>Explain man-in-the-middle attacks and the role of encryption and authentication.</a:t>
            </a:r>
            <a:endParaRPr lang="en-US"/>
          </a:p>
        </p:txBody>
      </p:sp>
      <p:sp>
        <p:nvSpPr>
          <p:cNvPr id="12" name="Date Placeholder 11"/>
          <p:cNvSpPr>
            <a:spLocks noGrp="1"/>
          </p:cNvSpPr>
          <p:nvPr>
            <p:ph type="dt" idx="10"/>
          </p:nvPr>
        </p:nvSpPr>
        <p:spPr/>
        <p:txBody>
          <a:bodyPr/>
          <a:lstStyle/>
          <a:p>
            <a:fld id="{B960EB9C-EE1D-4397-A0B3-5F5C61582AF7}" type="datetime1">
              <a:rPr lang="en-US" smtClean="0"/>
              <a:t>8/19/26</a:t>
            </a:fld>
            <a:endParaRPr lang="en-US"/>
          </a:p>
        </p:txBody>
      </p:sp>
      <p:sp>
        <p:nvSpPr>
          <p:cNvPr id="13" name="Slide Number Placeholder 12"/>
          <p:cNvSpPr>
            <a:spLocks noGrp="1"/>
          </p:cNvSpPr>
          <p:nvPr>
            <p:ph type="sldNum" sz="quarter" idx="11"/>
          </p:nvPr>
        </p:nvSpPr>
        <p:spPr/>
        <p:txBody>
          <a:bodyPr/>
          <a:lstStyle/>
          <a:p>
            <a:fld id="{A2D9B7C9-1F58-4F07-8711-AA0F3022BC7D}" type="slidenum">
              <a:rPr lang="en-US" smtClean="0"/>
              <a:pPr/>
              <a:t>74</a:t>
            </a:fld>
            <a:endParaRPr lang="en-US" sz="1100"/>
          </a:p>
        </p:txBody>
      </p:sp>
      <p:sp>
        <p:nvSpPr>
          <p:cNvPr id="14" name="Header Placeholder 13"/>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26184813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kern="1200" dirty="0">
                <a:solidFill>
                  <a:schemeClr val="tx1"/>
                </a:solidFill>
                <a:effectLst/>
                <a:latin typeface="+mn-lt"/>
                <a:ea typeface="+mn-ea"/>
                <a:cs typeface="+mn-cs"/>
              </a:rPr>
              <a:t>FDIC, OCC, and FRB are no longer examining for reputation risk, and remove in the future.</a:t>
            </a:r>
            <a:endParaRPr lang="en-US" dirty="0"/>
          </a:p>
        </p:txBody>
      </p:sp>
      <p:sp>
        <p:nvSpPr>
          <p:cNvPr id="7" name="Date Placeholder 6"/>
          <p:cNvSpPr>
            <a:spLocks noGrp="1"/>
          </p:cNvSpPr>
          <p:nvPr>
            <p:ph type="dt" idx="10"/>
          </p:nvPr>
        </p:nvSpPr>
        <p:spPr/>
        <p:txBody>
          <a:bodyPr/>
          <a:lstStyle/>
          <a:p>
            <a:fld id="{2DAAE07E-A73E-4965-96B4-35AB73D8E6B2}"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75</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789275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Date Placeholder 6"/>
          <p:cNvSpPr>
            <a:spLocks noGrp="1"/>
          </p:cNvSpPr>
          <p:nvPr>
            <p:ph type="dt" idx="10"/>
          </p:nvPr>
        </p:nvSpPr>
        <p:spPr/>
        <p:txBody>
          <a:bodyPr/>
          <a:lstStyle/>
          <a:p>
            <a:fld id="{D19BE6F6-F7BC-48D0-B009-C7BFD2E5A37E}"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76</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13373440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Date Placeholder 6"/>
          <p:cNvSpPr>
            <a:spLocks noGrp="1"/>
          </p:cNvSpPr>
          <p:nvPr>
            <p:ph type="dt" idx="10"/>
          </p:nvPr>
        </p:nvSpPr>
        <p:spPr/>
        <p:txBody>
          <a:bodyPr/>
          <a:lstStyle/>
          <a:p>
            <a:fld id="{387B377A-20F5-4951-B362-8437301A2640}"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77</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14928730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Date Placeholder 6"/>
          <p:cNvSpPr>
            <a:spLocks noGrp="1"/>
          </p:cNvSpPr>
          <p:nvPr>
            <p:ph type="dt" idx="10"/>
          </p:nvPr>
        </p:nvSpPr>
        <p:spPr/>
        <p:txBody>
          <a:bodyPr/>
          <a:lstStyle/>
          <a:p>
            <a:fld id="{289F7B4E-47CF-473D-BC28-9E1B7E101E0A}"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78</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2764786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Date Placeholder 6"/>
          <p:cNvSpPr>
            <a:spLocks noGrp="1"/>
          </p:cNvSpPr>
          <p:nvPr>
            <p:ph type="dt" idx="10"/>
          </p:nvPr>
        </p:nvSpPr>
        <p:spPr/>
        <p:txBody>
          <a:bodyPr/>
          <a:lstStyle/>
          <a:p>
            <a:fld id="{5672EF57-6228-4509-A1E0-3B50EA1BC27E}"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79</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1809878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ECB97-41F1-E035-E40C-B734D0A48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8AB01-0DC7-8CCE-C94C-E8435FA1F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3D6ADA-E485-63E9-FE18-38FC1AFC3A12}"/>
              </a:ext>
            </a:extLst>
          </p:cNvPr>
          <p:cNvSpPr>
            <a:spLocks noGrp="1"/>
          </p:cNvSpPr>
          <p:nvPr>
            <p:ph type="body" idx="1"/>
          </p:nvPr>
        </p:nvSpPr>
        <p:spPr/>
        <p:txBody>
          <a:bodyPr/>
          <a:lstStyle/>
          <a:p>
            <a:endParaRPr lang="en-US"/>
          </a:p>
        </p:txBody>
      </p:sp>
      <p:sp>
        <p:nvSpPr>
          <p:cNvPr id="7" name="Date Placeholder 6">
            <a:extLst>
              <a:ext uri="{FF2B5EF4-FFF2-40B4-BE49-F238E27FC236}">
                <a16:creationId xmlns:a16="http://schemas.microsoft.com/office/drawing/2014/main" id="{76DA4BAB-9A7B-F13E-8B54-04C865433A15}"/>
              </a:ext>
            </a:extLst>
          </p:cNvPr>
          <p:cNvSpPr>
            <a:spLocks noGrp="1"/>
          </p:cNvSpPr>
          <p:nvPr>
            <p:ph type="dt" idx="10"/>
          </p:nvPr>
        </p:nvSpPr>
        <p:spPr/>
        <p:txBody>
          <a:bodyPr/>
          <a:lstStyle/>
          <a:p>
            <a:fld id="{5672EF57-6228-4509-A1E0-3B50EA1BC27E}" type="datetime1">
              <a:rPr lang="en-US" smtClean="0"/>
              <a:t>8/19/26</a:t>
            </a:fld>
            <a:endParaRPr lang="en-US"/>
          </a:p>
        </p:txBody>
      </p:sp>
      <p:sp>
        <p:nvSpPr>
          <p:cNvPr id="8" name="Slide Number Placeholder 7">
            <a:extLst>
              <a:ext uri="{FF2B5EF4-FFF2-40B4-BE49-F238E27FC236}">
                <a16:creationId xmlns:a16="http://schemas.microsoft.com/office/drawing/2014/main" id="{E31745A8-73B1-81C8-C1E2-B0B7C07D7668}"/>
              </a:ext>
            </a:extLst>
          </p:cNvPr>
          <p:cNvSpPr>
            <a:spLocks noGrp="1"/>
          </p:cNvSpPr>
          <p:nvPr>
            <p:ph type="sldNum" sz="quarter" idx="11"/>
          </p:nvPr>
        </p:nvSpPr>
        <p:spPr/>
        <p:txBody>
          <a:bodyPr/>
          <a:lstStyle/>
          <a:p>
            <a:fld id="{A2D9B7C9-1F58-4F07-8711-AA0F3022BC7D}" type="slidenum">
              <a:rPr lang="en-US" smtClean="0"/>
              <a:pPr/>
              <a:t>80</a:t>
            </a:fld>
            <a:endParaRPr lang="en-US" sz="1100"/>
          </a:p>
        </p:txBody>
      </p:sp>
      <p:sp>
        <p:nvSpPr>
          <p:cNvPr id="9" name="Header Placeholder 8">
            <a:extLst>
              <a:ext uri="{FF2B5EF4-FFF2-40B4-BE49-F238E27FC236}">
                <a16:creationId xmlns:a16="http://schemas.microsoft.com/office/drawing/2014/main" id="{44582014-E869-4A93-D6A7-ED65E98619A5}"/>
              </a:ext>
            </a:extLst>
          </p:cNvPr>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19820222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0A57-51C0-27F9-5D14-791E7FBA7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2F2A3-2D3A-BE4F-48DC-58AC977DA6A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9A5CA61-6BFA-CB65-2F52-2DF9671A61D4}"/>
              </a:ext>
            </a:extLst>
          </p:cNvPr>
          <p:cNvSpPr>
            <a:spLocks noGrp="1"/>
          </p:cNvSpPr>
          <p:nvPr>
            <p:ph type="body" sz="quarter" idx="3"/>
          </p:nvPr>
        </p:nvSpPr>
        <p:spPr/>
        <p:txBody>
          <a:bodyPr/>
          <a:lstStyle/>
          <a:p>
            <a:pPr>
              <a:defRPr sz="1800"/>
            </a:pPr>
            <a:r>
              <a:rPr lang="en-US" dirty="0"/>
              <a:t>Attackers exploit people, systems, communications, and availability.</a:t>
            </a:r>
          </a:p>
          <a:p>
            <a:pPr>
              <a:defRPr sz="1800"/>
            </a:pPr>
            <a:r>
              <a:rPr lang="en-US" dirty="0"/>
              <a:t>No single security control prevents every attack.</a:t>
            </a:r>
          </a:p>
          <a:p>
            <a:pPr>
              <a:defRPr sz="1800"/>
            </a:pPr>
            <a:r>
              <a:rPr lang="en-US" dirty="0"/>
              <a:t>Multiple overlapping controls provide better protection than any one technology.</a:t>
            </a:r>
          </a:p>
          <a:p>
            <a:pPr>
              <a:defRPr sz="1800"/>
            </a:pPr>
            <a:r>
              <a:rPr lang="en-US" dirty="0"/>
              <a:t>Every control should mitigate one or more identified threats.</a:t>
            </a:r>
          </a:p>
          <a:p>
            <a:pPr>
              <a:defRPr sz="1800"/>
            </a:pPr>
            <a:r>
              <a:rPr lang="en-US" dirty="0"/>
              <a:t>An examiner's job is to determine whether the bank's controls are appropriate for its risks.</a:t>
            </a:r>
            <a:endParaRPr dirty="0"/>
          </a:p>
        </p:txBody>
      </p:sp>
      <p:sp>
        <p:nvSpPr>
          <p:cNvPr id="4" name="Slide Number Placeholder 3">
            <a:extLst>
              <a:ext uri="{FF2B5EF4-FFF2-40B4-BE49-F238E27FC236}">
                <a16:creationId xmlns:a16="http://schemas.microsoft.com/office/drawing/2014/main" id="{DA5B8B20-DF48-C07E-96D0-C05F928E7032}"/>
              </a:ext>
            </a:extLst>
          </p:cNvPr>
          <p:cNvSpPr>
            <a:spLocks noGrp="1"/>
          </p:cNvSpPr>
          <p:nvPr>
            <p:ph type="sldNum" sz="quarter" idx="5"/>
          </p:nvPr>
        </p:nvSpPr>
        <p:spPr/>
      </p:sp>
    </p:spTree>
    <p:extLst>
      <p:ext uri="{BB962C8B-B14F-4D97-AF65-F5344CB8AC3E}">
        <p14:creationId xmlns:p14="http://schemas.microsoft.com/office/powerpoint/2010/main" val="6804262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2D349-BDE0-5798-CDAB-DA9760248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7513B9-073C-8D2A-516D-B32B454A7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925AF-2407-645C-6551-1BD24D20A0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0ED4E0-6F06-17B9-54AA-622A7B5689D8}"/>
              </a:ext>
            </a:extLst>
          </p:cNvPr>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9076592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Chapter title.</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Introduce segmentation as a way to limit access and reduce the blast radius of attacks.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If one system is compromised, what prevents the attacker from reaching everything else?</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Explain how banks group systems with similar trust levels and business functions.</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Introduce logical network separation and explain why separate address spaces matter.</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Show that communication between segments should be deliberate and controlled.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Explain how firewalls enforce policy between internal security zones, not just at the Internet edge.</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Summarize practical examination questions related to segmentation and internal network design.</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Segmentation limits damage after prevention fails and sets the stage for availability and resilience.</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Chapter 6</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Tom gets a call: the bank's primary Internet circuit has failed. Introduce availability as a business problem, not just a technical one.</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Can the bank continue operating when systems, communications, or providers fail?</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Availability means critical banking functions remain available, even during failures or attacks.</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Identify common single points of failure in a community bank and discuss how examiners recognize them.</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Modern firewall platforms often provide high availability, multiple WAN links, SD-WAN, VPN, and automatic failover.</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Use a Pine Valley example of automatic failover from fiber to 5G/LTE to keep essential banking services operating.</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Discuss core processors, Microsoft 365, ISPs, and MSPs as dependencies that affect availability.</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Differentiate continuing operations from restoring technology after an outage.</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Focus on evidence: testing, redundancy, failover, recovery objectives, and provider dependencies.</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800"/>
            </a:pPr>
            <a:r>
              <a:t>Availability depends on planning and resilience. Next: How does the bank detect problems when they occur?</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22E1E8-19DD-9846-964E-7494B0E7F513}" type="slidenum">
              <a:rPr lang="en-US" smtClean="0"/>
              <a:t>137</a:t>
            </a:fld>
            <a:endParaRPr lang="en-US"/>
          </a:p>
        </p:txBody>
      </p:sp>
    </p:spTree>
    <p:extLst>
      <p:ext uri="{BB962C8B-B14F-4D97-AF65-F5344CB8AC3E}">
        <p14:creationId xmlns:p14="http://schemas.microsoft.com/office/powerpoint/2010/main" val="293024385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Image Placeholder 12"/>
          <p:cNvSpPr>
            <a:spLocks noGrp="1" noRot="1" noChangeAspect="1"/>
          </p:cNvSpPr>
          <p:nvPr>
            <p:ph type="sldImg"/>
          </p:nvPr>
        </p:nvSpPr>
        <p:spPr/>
      </p:sp>
      <p:sp>
        <p:nvSpPr>
          <p:cNvPr id="14" name="Notes Placeholder 13"/>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1"/>
          </p:nvPr>
        </p:nvSpPr>
        <p:spPr/>
        <p:txBody>
          <a:bodyPr/>
          <a:lstStyle/>
          <a:p>
            <a:fld id="{A2D9B7C9-1F58-4F07-8711-AA0F3022BC7D}" type="slidenum">
              <a:rPr lang="en-US" smtClean="0"/>
              <a:pPr/>
              <a:t>145</a:t>
            </a:fld>
            <a:endParaRPr lang="en-US" sz="1200" dirty="0"/>
          </a:p>
        </p:txBody>
      </p:sp>
      <p:sp>
        <p:nvSpPr>
          <p:cNvPr id="6" name="Header Placeholder 5"/>
          <p:cNvSpPr>
            <a:spLocks noGrp="1"/>
          </p:cNvSpPr>
          <p:nvPr>
            <p:ph type="hdr" sz="quarter" idx="12"/>
          </p:nvPr>
        </p:nvSpPr>
        <p:spPr/>
        <p:txBody>
          <a:bodyPr/>
          <a:lstStyle/>
          <a:p>
            <a:r>
              <a:rPr lang="en-US"/>
              <a:t>Introduction to Telecommunications and Networking</a:t>
            </a:r>
            <a:endParaRPr lang="en-US" dirty="0"/>
          </a:p>
        </p:txBody>
      </p:sp>
      <p:sp>
        <p:nvSpPr>
          <p:cNvPr id="2" name="Date Placeholder 1"/>
          <p:cNvSpPr>
            <a:spLocks noGrp="1"/>
          </p:cNvSpPr>
          <p:nvPr>
            <p:ph type="dt" idx="13"/>
          </p:nvPr>
        </p:nvSpPr>
        <p:spPr/>
        <p:txBody>
          <a:bodyPr/>
          <a:lstStyle/>
          <a:p>
            <a:endParaRPr lang="en-US" sz="1200"/>
          </a:p>
          <a:p>
            <a:fld id="{A9668420-1D61-48E2-908A-5C9858245B54}" type="datetime1">
              <a:rPr lang="en-US" smtClean="0"/>
              <a:t>8/19/26</a:t>
            </a:fld>
            <a:endParaRPr lang="en-US" sz="1200" dirty="0"/>
          </a:p>
        </p:txBody>
      </p:sp>
    </p:spTree>
    <p:extLst>
      <p:ext uri="{BB962C8B-B14F-4D97-AF65-F5344CB8AC3E}">
        <p14:creationId xmlns:p14="http://schemas.microsoft.com/office/powerpoint/2010/main" val="163570170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Image Placeholder 12"/>
          <p:cNvSpPr>
            <a:spLocks noGrp="1" noRot="1" noChangeAspect="1"/>
          </p:cNvSpPr>
          <p:nvPr>
            <p:ph type="sldImg"/>
          </p:nvPr>
        </p:nvSpPr>
        <p:spPr/>
      </p:sp>
      <p:sp>
        <p:nvSpPr>
          <p:cNvPr id="14" name="Notes Placeholder 13"/>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1"/>
          </p:nvPr>
        </p:nvSpPr>
        <p:spPr/>
        <p:txBody>
          <a:bodyPr/>
          <a:lstStyle/>
          <a:p>
            <a:fld id="{A2D9B7C9-1F58-4F07-8711-AA0F3022BC7D}" type="slidenum">
              <a:rPr lang="en-US" smtClean="0"/>
              <a:pPr/>
              <a:t>146</a:t>
            </a:fld>
            <a:endParaRPr lang="en-US" sz="1200" dirty="0"/>
          </a:p>
        </p:txBody>
      </p:sp>
      <p:sp>
        <p:nvSpPr>
          <p:cNvPr id="6" name="Header Placeholder 5"/>
          <p:cNvSpPr>
            <a:spLocks noGrp="1"/>
          </p:cNvSpPr>
          <p:nvPr>
            <p:ph type="hdr" sz="quarter" idx="12"/>
          </p:nvPr>
        </p:nvSpPr>
        <p:spPr/>
        <p:txBody>
          <a:bodyPr/>
          <a:lstStyle/>
          <a:p>
            <a:r>
              <a:rPr lang="en-US"/>
              <a:t>Introduction to Telecommunications and Networking</a:t>
            </a:r>
            <a:endParaRPr lang="en-US" dirty="0"/>
          </a:p>
        </p:txBody>
      </p:sp>
      <p:sp>
        <p:nvSpPr>
          <p:cNvPr id="2" name="Date Placeholder 1"/>
          <p:cNvSpPr>
            <a:spLocks noGrp="1"/>
          </p:cNvSpPr>
          <p:nvPr>
            <p:ph type="dt" idx="13"/>
          </p:nvPr>
        </p:nvSpPr>
        <p:spPr/>
        <p:txBody>
          <a:bodyPr/>
          <a:lstStyle/>
          <a:p>
            <a:endParaRPr lang="en-US" sz="1200"/>
          </a:p>
          <a:p>
            <a:fld id="{A9668420-1D61-48E2-908A-5C9858245B54}" type="datetime1">
              <a:rPr lang="en-US" smtClean="0"/>
              <a:t>8/19/26</a:t>
            </a:fld>
            <a:endParaRPr lang="en-US" sz="1200" dirty="0"/>
          </a:p>
        </p:txBody>
      </p:sp>
    </p:spTree>
    <p:extLst>
      <p:ext uri="{BB962C8B-B14F-4D97-AF65-F5344CB8AC3E}">
        <p14:creationId xmlns:p14="http://schemas.microsoft.com/office/powerpoint/2010/main" val="40407170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6" name="Notes Placeholder 5"/>
          <p:cNvSpPr>
            <a:spLocks noGrp="1"/>
          </p:cNvSpPr>
          <p:nvPr>
            <p:ph type="body" idx="1"/>
          </p:nvPr>
        </p:nvSpPr>
        <p:spPr/>
        <p:txBody>
          <a:bodyPr/>
          <a:lstStyle/>
          <a:p>
            <a:endParaRPr lang="en-US"/>
          </a:p>
        </p:txBody>
      </p:sp>
      <p:sp>
        <p:nvSpPr>
          <p:cNvPr id="7" name="Date Placeholder 6"/>
          <p:cNvSpPr>
            <a:spLocks noGrp="1"/>
          </p:cNvSpPr>
          <p:nvPr>
            <p:ph type="dt" idx="10"/>
          </p:nvPr>
        </p:nvSpPr>
        <p:spPr/>
        <p:txBody>
          <a:bodyPr/>
          <a:lstStyle/>
          <a:p>
            <a:fld id="{FEF1AB00-6934-4542-A10D-06B1FC6A394D}" type="datetime1">
              <a:rPr lang="en-US" smtClean="0"/>
              <a:t>8/19/26</a:t>
            </a:fld>
            <a:endParaRPr lang="en-US"/>
          </a:p>
        </p:txBody>
      </p:sp>
      <p:sp>
        <p:nvSpPr>
          <p:cNvPr id="8" name="Slide Number Placeholder 7"/>
          <p:cNvSpPr>
            <a:spLocks noGrp="1"/>
          </p:cNvSpPr>
          <p:nvPr>
            <p:ph type="sldNum" sz="quarter" idx="11"/>
          </p:nvPr>
        </p:nvSpPr>
        <p:spPr/>
        <p:txBody>
          <a:bodyPr/>
          <a:lstStyle/>
          <a:p>
            <a:fld id="{A2D9B7C9-1F58-4F07-8711-AA0F3022BC7D}" type="slidenum">
              <a:rPr lang="en-US" smtClean="0"/>
              <a:pPr/>
              <a:t>147</a:t>
            </a:fld>
            <a:endParaRPr lang="en-US" sz="1100"/>
          </a:p>
        </p:txBody>
      </p:sp>
      <p:sp>
        <p:nvSpPr>
          <p:cNvPr id="9" name="Header Placeholder 8"/>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662521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59444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lvl1pPr>
              <a:defRPr b="1" i="0">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r>
              <a:rPr lang="en-US"/>
              <a:t>Click to edit Master title style</a:t>
            </a:r>
          </a:p>
        </p:txBody>
      </p:sp>
      <p:sp>
        <p:nvSpPr>
          <p:cNvPr id="3" name="Content Placeholder 2"/>
          <p:cNvSpPr>
            <a:spLocks noGrp="1"/>
          </p:cNvSpPr>
          <p:nvPr>
            <p:ph idx="1"/>
          </p:nvPr>
        </p:nvSpPr>
        <p:spPr>
          <a:xfrm>
            <a:off x="1257300" y="2193131"/>
            <a:ext cx="15773400" cy="6967198"/>
          </a:xfrm>
        </p:spPr>
        <p:txBody>
          <a:bodyPr/>
          <a:lstStyle>
            <a:lvl1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1pPr>
            <a:lvl2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2pPr>
            <a:lvl3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3pPr>
            <a:lvl4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4pPr>
            <a:lvl5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03887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38776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 Hill Associates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44536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 Hill Associates</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80810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 Hill Associates</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39130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 Hill Associates</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23378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 Hill Associates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5929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 Hill Associates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46562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28828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0551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4_Full Blank">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7D48983-1E68-4266-AEF9-EDACD0A43757}"/>
              </a:ext>
            </a:extLst>
          </p:cNvPr>
          <p:cNvSpPr>
            <a:spLocks noGrp="1"/>
          </p:cNvSpPr>
          <p:nvPr>
            <p:ph type="pic" sz="quarter" idx="10"/>
          </p:nvPr>
        </p:nvSpPr>
        <p:spPr>
          <a:xfrm>
            <a:off x="0" y="0"/>
            <a:ext cx="18288000" cy="10287000"/>
          </a:xfrm>
          <a:custGeom>
            <a:avLst/>
            <a:gdLst>
              <a:gd name="connsiteX0" fmla="*/ 0 w 4409114"/>
              <a:gd name="connsiteY0" fmla="*/ 0 h 2126547"/>
              <a:gd name="connsiteX1" fmla="*/ 4409114 w 4409114"/>
              <a:gd name="connsiteY1" fmla="*/ 0 h 2126547"/>
              <a:gd name="connsiteX2" fmla="*/ 4409114 w 4409114"/>
              <a:gd name="connsiteY2" fmla="*/ 2126547 h 2126547"/>
              <a:gd name="connsiteX3" fmla="*/ 0 w 4409114"/>
              <a:gd name="connsiteY3" fmla="*/ 2126547 h 2126547"/>
            </a:gdLst>
            <a:ahLst/>
            <a:cxnLst>
              <a:cxn ang="0">
                <a:pos x="connsiteX0" y="connsiteY0"/>
              </a:cxn>
              <a:cxn ang="0">
                <a:pos x="connsiteX1" y="connsiteY1"/>
              </a:cxn>
              <a:cxn ang="0">
                <a:pos x="connsiteX2" y="connsiteY2"/>
              </a:cxn>
              <a:cxn ang="0">
                <a:pos x="connsiteX3" y="connsiteY3"/>
              </a:cxn>
            </a:cxnLst>
            <a:rect l="l" t="t" r="r" b="b"/>
            <a:pathLst>
              <a:path w="4409114" h="2126547">
                <a:moveTo>
                  <a:pt x="0" y="0"/>
                </a:moveTo>
                <a:lnTo>
                  <a:pt x="4409114" y="0"/>
                </a:lnTo>
                <a:lnTo>
                  <a:pt x="4409114" y="2126547"/>
                </a:lnTo>
                <a:lnTo>
                  <a:pt x="0" y="2126547"/>
                </a:lnTo>
                <a:close/>
              </a:path>
            </a:pathLst>
          </a:custGeom>
        </p:spPr>
        <p:txBody>
          <a:bodyPr wrap="square">
            <a:noAutofit/>
          </a:bodyPr>
          <a:lstStyle/>
          <a:p>
            <a:endParaRPr lang="en-US"/>
          </a:p>
        </p:txBody>
      </p:sp>
    </p:spTree>
    <p:extLst>
      <p:ext uri="{BB962C8B-B14F-4D97-AF65-F5344CB8AC3E}">
        <p14:creationId xmlns:p14="http://schemas.microsoft.com/office/powerpoint/2010/main" val="2561626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2_Full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5863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7401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email">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802115" name="Rectangle 3"/>
          <p:cNvSpPr>
            <a:spLocks noGrp="1" noChangeArrowheads="1"/>
          </p:cNvSpPr>
          <p:nvPr>
            <p:ph type="ctrTitle"/>
          </p:nvPr>
        </p:nvSpPr>
        <p:spPr>
          <a:xfrm>
            <a:off x="1473200" y="4343402"/>
            <a:ext cx="15544800" cy="2100263"/>
          </a:xfrm>
        </p:spPr>
        <p:txBody>
          <a:bodyPr/>
          <a:lstStyle>
            <a:lvl1pPr algn="ctr">
              <a:lnSpc>
                <a:spcPct val="90000"/>
              </a:lnSpc>
              <a:defRPr sz="7500">
                <a:solidFill>
                  <a:schemeClr val="tx1"/>
                </a:solidFill>
              </a:defRPr>
            </a:lvl1pPr>
          </a:lstStyle>
          <a:p>
            <a:r>
              <a:rPr lang="en-US"/>
              <a:t>Click to edit Master title style</a:t>
            </a:r>
          </a:p>
        </p:txBody>
      </p:sp>
      <p:sp>
        <p:nvSpPr>
          <p:cNvPr id="3802116" name="Rectangle 4"/>
          <p:cNvSpPr>
            <a:spLocks noGrp="1" noChangeArrowheads="1"/>
          </p:cNvSpPr>
          <p:nvPr>
            <p:ph type="subTitle" idx="1"/>
          </p:nvPr>
        </p:nvSpPr>
        <p:spPr>
          <a:xfrm>
            <a:off x="1524000" y="8343902"/>
            <a:ext cx="15544800" cy="1159670"/>
          </a:xfrm>
        </p:spPr>
        <p:txBody>
          <a:bodyPr/>
          <a:lstStyle>
            <a:lvl1pPr marL="0" indent="0" algn="ctr">
              <a:lnSpc>
                <a:spcPct val="80000"/>
              </a:lnSpc>
              <a:buFont typeface="Wingdings" pitchFamily="2" charset="2"/>
              <a:buNone/>
              <a:defRPr sz="3900">
                <a:solidFill>
                  <a:srgbClr val="4C565A"/>
                </a:solidFill>
                <a:latin typeface="Arial" charset="0"/>
              </a:defRPr>
            </a:lvl1pPr>
          </a:lstStyle>
          <a:p>
            <a:r>
              <a:rPr lang="en-US"/>
              <a:t>Click to edit Master subtitle style</a:t>
            </a:r>
          </a:p>
        </p:txBody>
      </p:sp>
      <p:grpSp>
        <p:nvGrpSpPr>
          <p:cNvPr id="4" name="Group 3">
            <a:extLst>
              <a:ext uri="{FF2B5EF4-FFF2-40B4-BE49-F238E27FC236}">
                <a16:creationId xmlns:a16="http://schemas.microsoft.com/office/drawing/2014/main" id="{EFB11B9B-8F4E-4BC4-8130-714A696E3BE8}"/>
              </a:ext>
            </a:extLst>
          </p:cNvPr>
          <p:cNvGrpSpPr/>
          <p:nvPr userDrawn="1"/>
        </p:nvGrpSpPr>
        <p:grpSpPr>
          <a:xfrm>
            <a:off x="685800" y="865550"/>
            <a:ext cx="3657600" cy="2628899"/>
            <a:chOff x="3784600" y="1828800"/>
            <a:chExt cx="2438400" cy="1752599"/>
          </a:xfrm>
        </p:grpSpPr>
        <p:sp>
          <p:nvSpPr>
            <p:cNvPr id="5" name="Rectangle 4">
              <a:extLst>
                <a:ext uri="{FF2B5EF4-FFF2-40B4-BE49-F238E27FC236}">
                  <a16:creationId xmlns:a16="http://schemas.microsoft.com/office/drawing/2014/main" id="{311F65BE-7918-47FF-B64C-0AF634FD4A96}"/>
                </a:ext>
              </a:extLst>
            </p:cNvPr>
            <p:cNvSpPr/>
            <p:nvPr/>
          </p:nvSpPr>
          <p:spPr bwMode="auto">
            <a:xfrm>
              <a:off x="3784600" y="1828800"/>
              <a:ext cx="2438400" cy="1752599"/>
            </a:xfrm>
            <a:prstGeom prst="rect">
              <a:avLst/>
            </a:prstGeom>
            <a:solidFill>
              <a:srgbClr val="FFFFFF"/>
            </a:solid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1540670" rtl="0" eaLnBrk="1" fontAlgn="base" latinLnBrk="0" hangingPunct="1">
                <a:lnSpc>
                  <a:spcPct val="85000"/>
                </a:lnSpc>
                <a:spcBef>
                  <a:spcPct val="0"/>
                </a:spcBef>
                <a:spcAft>
                  <a:spcPct val="0"/>
                </a:spcAft>
                <a:buClrTx/>
                <a:buSzTx/>
                <a:buFontTx/>
                <a:buNone/>
                <a:tabLst/>
              </a:pPr>
              <a:endParaRPr kumimoji="0" lang="en-US" sz="3300" b="1" i="0" u="none" strike="noStrike" cap="none" normalizeH="0" baseline="0">
                <a:ln>
                  <a:noFill/>
                </a:ln>
                <a:solidFill>
                  <a:schemeClr val="tx1"/>
                </a:solidFill>
                <a:effectLst/>
                <a:latin typeface="Arial Narrow" pitchFamily="34" charset="0"/>
              </a:endParaRPr>
            </a:p>
          </p:txBody>
        </p:sp>
        <p:pic>
          <p:nvPicPr>
            <p:cNvPr id="6" name="Picture 5">
              <a:extLst>
                <a:ext uri="{FF2B5EF4-FFF2-40B4-BE49-F238E27FC236}">
                  <a16:creationId xmlns:a16="http://schemas.microsoft.com/office/drawing/2014/main" id="{FEFB8F39-2D7E-47F2-9909-46D0E2F15B1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937000" y="2028825"/>
              <a:ext cx="1983183" cy="1400175"/>
            </a:xfrm>
            <a:prstGeom prst="rect">
              <a:avLst/>
            </a:prstGeom>
          </p:spPr>
        </p:pic>
      </p:grpSp>
    </p:spTree>
    <p:extLst>
      <p:ext uri="{BB962C8B-B14F-4D97-AF65-F5344CB8AC3E}">
        <p14:creationId xmlns:p14="http://schemas.microsoft.com/office/powerpoint/2010/main" val="2136144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76E8DCF4-EBDD-4FE1-8465-FD383573D554}" type="slidenum">
              <a:rPr lang="en-US"/>
              <a:pPr/>
              <a:t>‹#›</a:t>
            </a:fld>
            <a:endParaRPr lang="en-US"/>
          </a:p>
        </p:txBody>
      </p:sp>
      <p:grpSp>
        <p:nvGrpSpPr>
          <p:cNvPr id="5" name="Group 4">
            <a:extLst>
              <a:ext uri="{FF2B5EF4-FFF2-40B4-BE49-F238E27FC236}">
                <a16:creationId xmlns:a16="http://schemas.microsoft.com/office/drawing/2014/main" id="{2E36F477-0DD7-4923-A829-813EC8FBB589}"/>
              </a:ext>
            </a:extLst>
          </p:cNvPr>
          <p:cNvGrpSpPr/>
          <p:nvPr userDrawn="1"/>
        </p:nvGrpSpPr>
        <p:grpSpPr>
          <a:xfrm>
            <a:off x="15627536" y="898857"/>
            <a:ext cx="2247990" cy="1615743"/>
            <a:chOff x="3784600" y="1952781"/>
            <a:chExt cx="2438400" cy="1752599"/>
          </a:xfrm>
        </p:grpSpPr>
        <p:sp>
          <p:nvSpPr>
            <p:cNvPr id="6" name="Rectangle 5">
              <a:extLst>
                <a:ext uri="{FF2B5EF4-FFF2-40B4-BE49-F238E27FC236}">
                  <a16:creationId xmlns:a16="http://schemas.microsoft.com/office/drawing/2014/main" id="{64AC1E56-BE08-42FA-A9F9-21BFC34044CE}"/>
                </a:ext>
              </a:extLst>
            </p:cNvPr>
            <p:cNvSpPr/>
            <p:nvPr/>
          </p:nvSpPr>
          <p:spPr bwMode="auto">
            <a:xfrm>
              <a:off x="3784600" y="1952781"/>
              <a:ext cx="2438400" cy="1752599"/>
            </a:xfrm>
            <a:prstGeom prst="rect">
              <a:avLst/>
            </a:prstGeom>
            <a:solidFill>
              <a:srgbClr val="FFFFFF"/>
            </a:solid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1540670" rtl="0" eaLnBrk="1" fontAlgn="base" latinLnBrk="0" hangingPunct="1">
                <a:lnSpc>
                  <a:spcPct val="85000"/>
                </a:lnSpc>
                <a:spcBef>
                  <a:spcPct val="0"/>
                </a:spcBef>
                <a:spcAft>
                  <a:spcPct val="0"/>
                </a:spcAft>
                <a:buClrTx/>
                <a:buSzTx/>
                <a:buFontTx/>
                <a:buNone/>
                <a:tabLst/>
              </a:pPr>
              <a:endParaRPr kumimoji="0" lang="en-US" sz="3300" b="1" i="0" u="none" strike="noStrike" cap="none" normalizeH="0" baseline="0">
                <a:ln>
                  <a:noFill/>
                </a:ln>
                <a:solidFill>
                  <a:schemeClr val="tx1"/>
                </a:solidFill>
                <a:effectLst/>
                <a:latin typeface="Arial Narrow" pitchFamily="34" charset="0"/>
              </a:endParaRPr>
            </a:p>
          </p:txBody>
        </p:sp>
        <p:pic>
          <p:nvPicPr>
            <p:cNvPr id="7" name="Picture 6">
              <a:extLst>
                <a:ext uri="{FF2B5EF4-FFF2-40B4-BE49-F238E27FC236}">
                  <a16:creationId xmlns:a16="http://schemas.microsoft.com/office/drawing/2014/main" id="{7C571F3C-A8F3-44A9-BC7D-DCDD18F0FAE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28777" y="2093624"/>
              <a:ext cx="1799629" cy="1270578"/>
            </a:xfrm>
            <a:prstGeom prst="rect">
              <a:avLst/>
            </a:prstGeom>
          </p:spPr>
        </p:pic>
      </p:grpSp>
    </p:spTree>
    <p:extLst>
      <p:ext uri="{BB962C8B-B14F-4D97-AF65-F5344CB8AC3E}">
        <p14:creationId xmlns:p14="http://schemas.microsoft.com/office/powerpoint/2010/main" val="2723370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2" y="2171700"/>
            <a:ext cx="8353427" cy="7658100"/>
          </a:xfrm>
        </p:spPr>
        <p:txBody>
          <a:bodyPr/>
          <a:lstStyle>
            <a:lvl1pPr>
              <a:defRPr sz="3300"/>
            </a:lvl1pPr>
            <a:lvl2pPr>
              <a:defRPr sz="3000"/>
            </a:lvl2pPr>
            <a:lvl3pPr>
              <a:defRPr sz="2700"/>
            </a:lvl3pPr>
            <a:lvl4pPr>
              <a:defRPr sz="2400"/>
            </a:lvl4pPr>
            <a:lvl5pPr>
              <a:defRPr sz="24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115427" y="2171700"/>
            <a:ext cx="8353424" cy="7658100"/>
          </a:xfrm>
        </p:spPr>
        <p:txBody>
          <a:bodyPr/>
          <a:lstStyle>
            <a:lvl1pPr>
              <a:defRPr sz="3300"/>
            </a:lvl1pPr>
            <a:lvl2pPr>
              <a:defRPr sz="3000"/>
            </a:lvl2pPr>
            <a:lvl3pPr>
              <a:defRPr sz="2700"/>
            </a:lvl3pPr>
            <a:lvl4pPr>
              <a:defRPr sz="2400"/>
            </a:lvl4pPr>
            <a:lvl5pPr>
              <a:defRPr sz="24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fld id="{26728E46-6CCC-4700-BAC6-A5BE0E758C8F}" type="slidenum">
              <a:rPr lang="en-US" smtClean="0"/>
              <a:pPr/>
              <a:t>‹#›</a:t>
            </a:fld>
            <a:endParaRPr lang="en-US"/>
          </a:p>
        </p:txBody>
      </p:sp>
      <p:grpSp>
        <p:nvGrpSpPr>
          <p:cNvPr id="6" name="Group 5">
            <a:extLst>
              <a:ext uri="{FF2B5EF4-FFF2-40B4-BE49-F238E27FC236}">
                <a16:creationId xmlns:a16="http://schemas.microsoft.com/office/drawing/2014/main" id="{A90E1B0E-F32A-4A0E-A603-9D760BD4BF4B}"/>
              </a:ext>
            </a:extLst>
          </p:cNvPr>
          <p:cNvGrpSpPr/>
          <p:nvPr userDrawn="1"/>
        </p:nvGrpSpPr>
        <p:grpSpPr>
          <a:xfrm>
            <a:off x="15627536" y="898857"/>
            <a:ext cx="2247990" cy="1615743"/>
            <a:chOff x="3784600" y="1952781"/>
            <a:chExt cx="2438400" cy="1752599"/>
          </a:xfrm>
        </p:grpSpPr>
        <p:sp>
          <p:nvSpPr>
            <p:cNvPr id="7" name="Rectangle 6">
              <a:extLst>
                <a:ext uri="{FF2B5EF4-FFF2-40B4-BE49-F238E27FC236}">
                  <a16:creationId xmlns:a16="http://schemas.microsoft.com/office/drawing/2014/main" id="{E3CFF9C4-1931-4883-B7CC-082C4FBBC56E}"/>
                </a:ext>
              </a:extLst>
            </p:cNvPr>
            <p:cNvSpPr/>
            <p:nvPr/>
          </p:nvSpPr>
          <p:spPr bwMode="auto">
            <a:xfrm>
              <a:off x="3784600" y="1952781"/>
              <a:ext cx="2438400" cy="1752599"/>
            </a:xfrm>
            <a:prstGeom prst="rect">
              <a:avLst/>
            </a:prstGeom>
            <a:solidFill>
              <a:srgbClr val="FFFFFF"/>
            </a:solid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1540670" rtl="0" eaLnBrk="1" fontAlgn="base" latinLnBrk="0" hangingPunct="1">
                <a:lnSpc>
                  <a:spcPct val="85000"/>
                </a:lnSpc>
                <a:spcBef>
                  <a:spcPct val="0"/>
                </a:spcBef>
                <a:spcAft>
                  <a:spcPct val="0"/>
                </a:spcAft>
                <a:buClrTx/>
                <a:buSzTx/>
                <a:buFontTx/>
                <a:buNone/>
                <a:tabLst/>
              </a:pPr>
              <a:endParaRPr kumimoji="0" lang="en-US" sz="3300" b="1" i="0" u="none" strike="noStrike" cap="none" normalizeH="0" baseline="0">
                <a:ln>
                  <a:noFill/>
                </a:ln>
                <a:solidFill>
                  <a:schemeClr val="tx1"/>
                </a:solidFill>
                <a:effectLst/>
                <a:latin typeface="Arial Narrow" pitchFamily="34" charset="0"/>
              </a:endParaRPr>
            </a:p>
          </p:txBody>
        </p:sp>
        <p:pic>
          <p:nvPicPr>
            <p:cNvPr id="8" name="Picture 7">
              <a:extLst>
                <a:ext uri="{FF2B5EF4-FFF2-40B4-BE49-F238E27FC236}">
                  <a16:creationId xmlns:a16="http://schemas.microsoft.com/office/drawing/2014/main" id="{0A74DFBB-B6D3-4291-BC6E-E3A1926A99B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28777" y="2093624"/>
              <a:ext cx="1799629" cy="1270578"/>
            </a:xfrm>
            <a:prstGeom prst="rect">
              <a:avLst/>
            </a:prstGeom>
          </p:spPr>
        </p:pic>
      </p:grpSp>
    </p:spTree>
    <p:extLst>
      <p:ext uri="{BB962C8B-B14F-4D97-AF65-F5344CB8AC3E}">
        <p14:creationId xmlns:p14="http://schemas.microsoft.com/office/powerpoint/2010/main" val="1154654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4401" y="1828800"/>
            <a:ext cx="8080376" cy="959643"/>
          </a:xfrm>
        </p:spPr>
        <p:txBody>
          <a:bodyPr anchor="b"/>
          <a:lstStyle>
            <a:lvl1pPr marL="0" indent="0">
              <a:buNone/>
              <a:defRPr sz="3600" b="1" i="1">
                <a:solidFill>
                  <a:srgbClr val="E23A30"/>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768409" y="2857500"/>
            <a:ext cx="8226368" cy="685800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3" y="1828800"/>
            <a:ext cx="8083550" cy="959643"/>
          </a:xfrm>
        </p:spPr>
        <p:txBody>
          <a:bodyPr anchor="b"/>
          <a:lstStyle>
            <a:lvl1pPr marL="0" indent="0">
              <a:buNone/>
              <a:defRPr sz="3600" b="1" i="1">
                <a:solidFill>
                  <a:srgbClr val="E23A30"/>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144002" y="2857500"/>
            <a:ext cx="8229600" cy="685800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fld id="{883B8A5F-FA89-44A6-8CAF-38AEABA5848F}" type="slidenum">
              <a:rPr lang="en-US" smtClean="0"/>
              <a:pPr/>
              <a:t>‹#›</a:t>
            </a:fld>
            <a:endParaRPr lang="en-US"/>
          </a:p>
        </p:txBody>
      </p:sp>
      <p:sp>
        <p:nvSpPr>
          <p:cNvPr id="8" name="Title 1"/>
          <p:cNvSpPr>
            <a:spLocks noGrp="1"/>
          </p:cNvSpPr>
          <p:nvPr>
            <p:ph type="title"/>
          </p:nvPr>
        </p:nvSpPr>
        <p:spPr>
          <a:xfrm>
            <a:off x="457200" y="457200"/>
            <a:ext cx="14478000" cy="1028700"/>
          </a:xfrm>
        </p:spPr>
        <p:txBody>
          <a:bodyPr/>
          <a:lstStyle/>
          <a:p>
            <a:r>
              <a:rPr lang="en-US"/>
              <a:t>Click to edit Master title style</a:t>
            </a:r>
          </a:p>
        </p:txBody>
      </p:sp>
      <p:grpSp>
        <p:nvGrpSpPr>
          <p:cNvPr id="9" name="Group 8">
            <a:extLst>
              <a:ext uri="{FF2B5EF4-FFF2-40B4-BE49-F238E27FC236}">
                <a16:creationId xmlns:a16="http://schemas.microsoft.com/office/drawing/2014/main" id="{2572A2D3-09BF-499A-A004-030D65E3AE69}"/>
              </a:ext>
            </a:extLst>
          </p:cNvPr>
          <p:cNvGrpSpPr/>
          <p:nvPr userDrawn="1"/>
        </p:nvGrpSpPr>
        <p:grpSpPr>
          <a:xfrm>
            <a:off x="15627536" y="898857"/>
            <a:ext cx="2247990" cy="1615743"/>
            <a:chOff x="3784600" y="1952781"/>
            <a:chExt cx="2438400" cy="1752599"/>
          </a:xfrm>
        </p:grpSpPr>
        <p:sp>
          <p:nvSpPr>
            <p:cNvPr id="10" name="Rectangle 9">
              <a:extLst>
                <a:ext uri="{FF2B5EF4-FFF2-40B4-BE49-F238E27FC236}">
                  <a16:creationId xmlns:a16="http://schemas.microsoft.com/office/drawing/2014/main" id="{FD9834F0-6E7D-4116-B271-024B72517E40}"/>
                </a:ext>
              </a:extLst>
            </p:cNvPr>
            <p:cNvSpPr/>
            <p:nvPr/>
          </p:nvSpPr>
          <p:spPr bwMode="auto">
            <a:xfrm>
              <a:off x="3784600" y="1952781"/>
              <a:ext cx="2438400" cy="1752599"/>
            </a:xfrm>
            <a:prstGeom prst="rect">
              <a:avLst/>
            </a:prstGeom>
            <a:solidFill>
              <a:srgbClr val="FFFFFF"/>
            </a:solid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1540670" rtl="0" eaLnBrk="1" fontAlgn="base" latinLnBrk="0" hangingPunct="1">
                <a:lnSpc>
                  <a:spcPct val="85000"/>
                </a:lnSpc>
                <a:spcBef>
                  <a:spcPct val="0"/>
                </a:spcBef>
                <a:spcAft>
                  <a:spcPct val="0"/>
                </a:spcAft>
                <a:buClrTx/>
                <a:buSzTx/>
                <a:buFontTx/>
                <a:buNone/>
                <a:tabLst/>
              </a:pPr>
              <a:endParaRPr kumimoji="0" lang="en-US" sz="3300" b="1" i="0" u="none" strike="noStrike" cap="none" normalizeH="0" baseline="0">
                <a:ln>
                  <a:noFill/>
                </a:ln>
                <a:solidFill>
                  <a:schemeClr val="tx1"/>
                </a:solidFill>
                <a:effectLst/>
                <a:latin typeface="Arial Narrow" pitchFamily="34" charset="0"/>
              </a:endParaRPr>
            </a:p>
          </p:txBody>
        </p:sp>
        <p:pic>
          <p:nvPicPr>
            <p:cNvPr id="11" name="Picture 10">
              <a:extLst>
                <a:ext uri="{FF2B5EF4-FFF2-40B4-BE49-F238E27FC236}">
                  <a16:creationId xmlns:a16="http://schemas.microsoft.com/office/drawing/2014/main" id="{1E2754DD-1969-4A5D-A2B5-C73F8813746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28777" y="2093624"/>
              <a:ext cx="1799629" cy="1270578"/>
            </a:xfrm>
            <a:prstGeom prst="rect">
              <a:avLst/>
            </a:prstGeom>
          </p:spPr>
        </p:pic>
      </p:grpSp>
    </p:spTree>
    <p:extLst>
      <p:ext uri="{BB962C8B-B14F-4D97-AF65-F5344CB8AC3E}">
        <p14:creationId xmlns:p14="http://schemas.microsoft.com/office/powerpoint/2010/main" val="25640955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fld id="{52B67DA5-9DD9-4BCA-8370-9CA784C1DE92}" type="slidenum">
              <a:rPr lang="en-US" smtClean="0"/>
              <a:pPr/>
              <a:t>‹#›</a:t>
            </a:fld>
            <a:endParaRPr lang="en-US"/>
          </a:p>
        </p:txBody>
      </p:sp>
      <p:grpSp>
        <p:nvGrpSpPr>
          <p:cNvPr id="4" name="Group 3">
            <a:extLst>
              <a:ext uri="{FF2B5EF4-FFF2-40B4-BE49-F238E27FC236}">
                <a16:creationId xmlns:a16="http://schemas.microsoft.com/office/drawing/2014/main" id="{FB5DFE1C-4910-4C32-B5CB-59564CAF2AC8}"/>
              </a:ext>
            </a:extLst>
          </p:cNvPr>
          <p:cNvGrpSpPr/>
          <p:nvPr userDrawn="1"/>
        </p:nvGrpSpPr>
        <p:grpSpPr>
          <a:xfrm>
            <a:off x="15627536" y="898857"/>
            <a:ext cx="2247990" cy="1615743"/>
            <a:chOff x="3784600" y="1952781"/>
            <a:chExt cx="2438400" cy="1752599"/>
          </a:xfrm>
        </p:grpSpPr>
        <p:sp>
          <p:nvSpPr>
            <p:cNvPr id="5" name="Rectangle 4">
              <a:extLst>
                <a:ext uri="{FF2B5EF4-FFF2-40B4-BE49-F238E27FC236}">
                  <a16:creationId xmlns:a16="http://schemas.microsoft.com/office/drawing/2014/main" id="{73D6D32C-6F1B-4977-B375-D3D44A6DFA92}"/>
                </a:ext>
              </a:extLst>
            </p:cNvPr>
            <p:cNvSpPr/>
            <p:nvPr/>
          </p:nvSpPr>
          <p:spPr bwMode="auto">
            <a:xfrm>
              <a:off x="3784600" y="1952781"/>
              <a:ext cx="2438400" cy="1752599"/>
            </a:xfrm>
            <a:prstGeom prst="rect">
              <a:avLst/>
            </a:prstGeom>
            <a:solidFill>
              <a:srgbClr val="FFFFFF"/>
            </a:solid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1540670" rtl="0" eaLnBrk="1" fontAlgn="base" latinLnBrk="0" hangingPunct="1">
                <a:lnSpc>
                  <a:spcPct val="85000"/>
                </a:lnSpc>
                <a:spcBef>
                  <a:spcPct val="0"/>
                </a:spcBef>
                <a:spcAft>
                  <a:spcPct val="0"/>
                </a:spcAft>
                <a:buClrTx/>
                <a:buSzTx/>
                <a:buFontTx/>
                <a:buNone/>
                <a:tabLst/>
              </a:pPr>
              <a:endParaRPr kumimoji="0" lang="en-US" sz="3300" b="1" i="0" u="none" strike="noStrike" cap="none" normalizeH="0" baseline="0">
                <a:ln>
                  <a:noFill/>
                </a:ln>
                <a:solidFill>
                  <a:schemeClr val="tx1"/>
                </a:solidFill>
                <a:effectLst/>
                <a:latin typeface="Arial Narrow" pitchFamily="34" charset="0"/>
              </a:endParaRPr>
            </a:p>
          </p:txBody>
        </p:sp>
        <p:pic>
          <p:nvPicPr>
            <p:cNvPr id="6" name="Picture 5">
              <a:extLst>
                <a:ext uri="{FF2B5EF4-FFF2-40B4-BE49-F238E27FC236}">
                  <a16:creationId xmlns:a16="http://schemas.microsoft.com/office/drawing/2014/main" id="{800A7623-599B-48AE-8B02-75813559C1A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28777" y="2093624"/>
              <a:ext cx="1799629" cy="1270578"/>
            </a:xfrm>
            <a:prstGeom prst="rect">
              <a:avLst/>
            </a:prstGeom>
          </p:spPr>
        </p:pic>
      </p:grpSp>
    </p:spTree>
    <p:extLst>
      <p:ext uri="{BB962C8B-B14F-4D97-AF65-F5344CB8AC3E}">
        <p14:creationId xmlns:p14="http://schemas.microsoft.com/office/powerpoint/2010/main" val="9987742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4D5416C4-976B-49A2-8A0D-BDA9290581E1}" type="slidenum">
              <a:rPr lang="en-US"/>
              <a:pPr/>
              <a:t>‹#›</a:t>
            </a:fld>
            <a:endParaRPr lang="en-US"/>
          </a:p>
        </p:txBody>
      </p:sp>
      <p:grpSp>
        <p:nvGrpSpPr>
          <p:cNvPr id="3" name="Group 2">
            <a:extLst>
              <a:ext uri="{FF2B5EF4-FFF2-40B4-BE49-F238E27FC236}">
                <a16:creationId xmlns:a16="http://schemas.microsoft.com/office/drawing/2014/main" id="{C745445C-72CD-48DC-8306-FF7E10F7C9A2}"/>
              </a:ext>
            </a:extLst>
          </p:cNvPr>
          <p:cNvGrpSpPr/>
          <p:nvPr userDrawn="1"/>
        </p:nvGrpSpPr>
        <p:grpSpPr>
          <a:xfrm>
            <a:off x="15627536" y="898857"/>
            <a:ext cx="2247990" cy="1615743"/>
            <a:chOff x="3784600" y="1952781"/>
            <a:chExt cx="2438400" cy="1752599"/>
          </a:xfrm>
        </p:grpSpPr>
        <p:sp>
          <p:nvSpPr>
            <p:cNvPr id="4" name="Rectangle 3">
              <a:extLst>
                <a:ext uri="{FF2B5EF4-FFF2-40B4-BE49-F238E27FC236}">
                  <a16:creationId xmlns:a16="http://schemas.microsoft.com/office/drawing/2014/main" id="{F373A853-775D-4128-990F-4D959C82815C}"/>
                </a:ext>
              </a:extLst>
            </p:cNvPr>
            <p:cNvSpPr/>
            <p:nvPr/>
          </p:nvSpPr>
          <p:spPr bwMode="auto">
            <a:xfrm>
              <a:off x="3784600" y="1952781"/>
              <a:ext cx="2438400" cy="1752599"/>
            </a:xfrm>
            <a:prstGeom prst="rect">
              <a:avLst/>
            </a:prstGeom>
            <a:solidFill>
              <a:srgbClr val="FFFFFF"/>
            </a:solid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1540670" rtl="0" eaLnBrk="1" fontAlgn="base" latinLnBrk="0" hangingPunct="1">
                <a:lnSpc>
                  <a:spcPct val="85000"/>
                </a:lnSpc>
                <a:spcBef>
                  <a:spcPct val="0"/>
                </a:spcBef>
                <a:spcAft>
                  <a:spcPct val="0"/>
                </a:spcAft>
                <a:buClrTx/>
                <a:buSzTx/>
                <a:buFontTx/>
                <a:buNone/>
                <a:tabLst/>
              </a:pPr>
              <a:endParaRPr kumimoji="0" lang="en-US" sz="3300" b="1" i="0" u="none" strike="noStrike" cap="none" normalizeH="0" baseline="0">
                <a:ln>
                  <a:noFill/>
                </a:ln>
                <a:solidFill>
                  <a:schemeClr val="tx1"/>
                </a:solidFill>
                <a:effectLst/>
                <a:latin typeface="Arial Narrow" pitchFamily="34" charset="0"/>
              </a:endParaRPr>
            </a:p>
          </p:txBody>
        </p:sp>
        <p:pic>
          <p:nvPicPr>
            <p:cNvPr id="5" name="Picture 4">
              <a:extLst>
                <a:ext uri="{FF2B5EF4-FFF2-40B4-BE49-F238E27FC236}">
                  <a16:creationId xmlns:a16="http://schemas.microsoft.com/office/drawing/2014/main" id="{6E586EAC-5C5A-4A6B-9E80-0A0BA3F64F2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28777" y="2093624"/>
              <a:ext cx="1799629" cy="1270578"/>
            </a:xfrm>
            <a:prstGeom prst="rect">
              <a:avLst/>
            </a:prstGeom>
          </p:spPr>
        </p:pic>
      </p:grpSp>
    </p:spTree>
    <p:extLst>
      <p:ext uri="{BB962C8B-B14F-4D97-AF65-F5344CB8AC3E}">
        <p14:creationId xmlns:p14="http://schemas.microsoft.com/office/powerpoint/2010/main" val="39396054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14478000" cy="1028700"/>
          </a:xfrm>
        </p:spPr>
        <p:txBody>
          <a:bodyPr/>
          <a:lstStyle/>
          <a:p>
            <a:r>
              <a:rPr lang="en-US"/>
              <a:t>Click to edit Master title style</a:t>
            </a:r>
          </a:p>
        </p:txBody>
      </p:sp>
      <p:sp>
        <p:nvSpPr>
          <p:cNvPr id="3" name="Table Placeholder 2"/>
          <p:cNvSpPr>
            <a:spLocks noGrp="1"/>
          </p:cNvSpPr>
          <p:nvPr>
            <p:ph type="tbl" idx="1"/>
          </p:nvPr>
        </p:nvSpPr>
        <p:spPr>
          <a:xfrm>
            <a:off x="457202" y="2171700"/>
            <a:ext cx="17011650" cy="7658100"/>
          </a:xfrm>
        </p:spPr>
        <p:txBody>
          <a:bodyPr/>
          <a:lstStyle/>
          <a:p>
            <a:r>
              <a:rPr lang="en-US"/>
              <a:t>Click icon to add table</a:t>
            </a:r>
          </a:p>
        </p:txBody>
      </p:sp>
      <p:sp>
        <p:nvSpPr>
          <p:cNvPr id="4" name="Slide Number Placeholder 3"/>
          <p:cNvSpPr>
            <a:spLocks noGrp="1"/>
          </p:cNvSpPr>
          <p:nvPr>
            <p:ph type="sldNum" sz="quarter" idx="10"/>
          </p:nvPr>
        </p:nvSpPr>
        <p:spPr>
          <a:xfrm>
            <a:off x="25400" y="9829800"/>
            <a:ext cx="1498601" cy="600075"/>
          </a:xfrm>
        </p:spPr>
        <p:txBody>
          <a:bodyPr/>
          <a:lstStyle>
            <a:lvl1pPr>
              <a:defRPr/>
            </a:lvl1pPr>
          </a:lstStyle>
          <a:p>
            <a:fld id="{F3DBB2C8-7501-47ED-BE63-6A2BF2C0A9CF}" type="slidenum">
              <a:rPr lang="en-US" smtClean="0"/>
              <a:pPr/>
              <a:t>‹#›</a:t>
            </a:fld>
            <a:endParaRPr lang="en-US"/>
          </a:p>
        </p:txBody>
      </p:sp>
      <p:grpSp>
        <p:nvGrpSpPr>
          <p:cNvPr id="5" name="Group 4">
            <a:extLst>
              <a:ext uri="{FF2B5EF4-FFF2-40B4-BE49-F238E27FC236}">
                <a16:creationId xmlns:a16="http://schemas.microsoft.com/office/drawing/2014/main" id="{C3E21666-214D-4E25-A102-11D19EC94679}"/>
              </a:ext>
            </a:extLst>
          </p:cNvPr>
          <p:cNvGrpSpPr/>
          <p:nvPr userDrawn="1"/>
        </p:nvGrpSpPr>
        <p:grpSpPr>
          <a:xfrm>
            <a:off x="15627536" y="898857"/>
            <a:ext cx="2247990" cy="1615743"/>
            <a:chOff x="3784600" y="1952781"/>
            <a:chExt cx="2438400" cy="1752599"/>
          </a:xfrm>
        </p:grpSpPr>
        <p:sp>
          <p:nvSpPr>
            <p:cNvPr id="6" name="Rectangle 5">
              <a:extLst>
                <a:ext uri="{FF2B5EF4-FFF2-40B4-BE49-F238E27FC236}">
                  <a16:creationId xmlns:a16="http://schemas.microsoft.com/office/drawing/2014/main" id="{73A0D361-D363-4FCF-A26A-54C18695E0FC}"/>
                </a:ext>
              </a:extLst>
            </p:cNvPr>
            <p:cNvSpPr/>
            <p:nvPr/>
          </p:nvSpPr>
          <p:spPr bwMode="auto">
            <a:xfrm>
              <a:off x="3784600" y="1952781"/>
              <a:ext cx="2438400" cy="1752599"/>
            </a:xfrm>
            <a:prstGeom prst="rect">
              <a:avLst/>
            </a:prstGeom>
            <a:solidFill>
              <a:srgbClr val="FFFFFF"/>
            </a:solid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1540670" rtl="0" eaLnBrk="1" fontAlgn="base" latinLnBrk="0" hangingPunct="1">
                <a:lnSpc>
                  <a:spcPct val="85000"/>
                </a:lnSpc>
                <a:spcBef>
                  <a:spcPct val="0"/>
                </a:spcBef>
                <a:spcAft>
                  <a:spcPct val="0"/>
                </a:spcAft>
                <a:buClrTx/>
                <a:buSzTx/>
                <a:buFontTx/>
                <a:buNone/>
                <a:tabLst/>
              </a:pPr>
              <a:endParaRPr kumimoji="0" lang="en-US" sz="3300" b="1" i="0" u="none" strike="noStrike" cap="none" normalizeH="0" baseline="0">
                <a:ln>
                  <a:noFill/>
                </a:ln>
                <a:solidFill>
                  <a:schemeClr val="tx1"/>
                </a:solidFill>
                <a:effectLst/>
                <a:latin typeface="Arial Narrow" pitchFamily="34" charset="0"/>
              </a:endParaRPr>
            </a:p>
          </p:txBody>
        </p:sp>
        <p:pic>
          <p:nvPicPr>
            <p:cNvPr id="7" name="Picture 6">
              <a:extLst>
                <a:ext uri="{FF2B5EF4-FFF2-40B4-BE49-F238E27FC236}">
                  <a16:creationId xmlns:a16="http://schemas.microsoft.com/office/drawing/2014/main" id="{032E5305-A099-403C-8A8F-EDA0AF4EC88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28777" y="2093624"/>
              <a:ext cx="1799629" cy="1270578"/>
            </a:xfrm>
            <a:prstGeom prst="rect">
              <a:avLst/>
            </a:prstGeom>
          </p:spPr>
        </p:pic>
      </p:grpSp>
    </p:spTree>
    <p:extLst>
      <p:ext uri="{BB962C8B-B14F-4D97-AF65-F5344CB8AC3E}">
        <p14:creationId xmlns:p14="http://schemas.microsoft.com/office/powerpoint/2010/main" val="10346017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9A86CED-FF10-4A3B-B08A-A634AA73B437}"/>
              </a:ext>
            </a:extLst>
          </p:cNvPr>
          <p:cNvGrpSpPr/>
          <p:nvPr userDrawn="1"/>
        </p:nvGrpSpPr>
        <p:grpSpPr>
          <a:xfrm>
            <a:off x="15627536" y="898857"/>
            <a:ext cx="2247990" cy="1615743"/>
            <a:chOff x="3784600" y="1952781"/>
            <a:chExt cx="2438400" cy="1752599"/>
          </a:xfrm>
        </p:grpSpPr>
        <p:sp>
          <p:nvSpPr>
            <p:cNvPr id="8" name="Rectangle 7">
              <a:extLst>
                <a:ext uri="{FF2B5EF4-FFF2-40B4-BE49-F238E27FC236}">
                  <a16:creationId xmlns:a16="http://schemas.microsoft.com/office/drawing/2014/main" id="{1CF5CC47-1C96-43D4-8943-05B86E69EC08}"/>
                </a:ext>
              </a:extLst>
            </p:cNvPr>
            <p:cNvSpPr/>
            <p:nvPr/>
          </p:nvSpPr>
          <p:spPr bwMode="auto">
            <a:xfrm>
              <a:off x="3784600" y="1952781"/>
              <a:ext cx="2438400" cy="1752599"/>
            </a:xfrm>
            <a:prstGeom prst="rect">
              <a:avLst/>
            </a:prstGeom>
            <a:solidFill>
              <a:srgbClr val="FFFFFF"/>
            </a:solid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1540670" rtl="0" eaLnBrk="1" fontAlgn="base" latinLnBrk="0" hangingPunct="1">
                <a:lnSpc>
                  <a:spcPct val="85000"/>
                </a:lnSpc>
                <a:spcBef>
                  <a:spcPct val="0"/>
                </a:spcBef>
                <a:spcAft>
                  <a:spcPct val="0"/>
                </a:spcAft>
                <a:buClrTx/>
                <a:buSzTx/>
                <a:buFontTx/>
                <a:buNone/>
                <a:tabLst/>
              </a:pPr>
              <a:endParaRPr kumimoji="0" lang="en-US" sz="3300" b="1" i="0" u="none" strike="noStrike" cap="none" normalizeH="0" baseline="0">
                <a:ln>
                  <a:noFill/>
                </a:ln>
                <a:solidFill>
                  <a:schemeClr val="tx1"/>
                </a:solidFill>
                <a:effectLst/>
                <a:latin typeface="Arial Narrow" pitchFamily="34" charset="0"/>
              </a:endParaRPr>
            </a:p>
          </p:txBody>
        </p:sp>
        <p:pic>
          <p:nvPicPr>
            <p:cNvPr id="9" name="Picture 8">
              <a:extLst>
                <a:ext uri="{FF2B5EF4-FFF2-40B4-BE49-F238E27FC236}">
                  <a16:creationId xmlns:a16="http://schemas.microsoft.com/office/drawing/2014/main" id="{3C0E1746-3FA3-4614-9B47-3C6ABE1AE6B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28777" y="2093624"/>
              <a:ext cx="1799629" cy="1270578"/>
            </a:xfrm>
            <a:prstGeom prst="rect">
              <a:avLst/>
            </a:prstGeom>
          </p:spPr>
        </p:pic>
      </p:grpSp>
      <p:sp>
        <p:nvSpPr>
          <p:cNvPr id="2" name="Title 1">
            <a:extLst>
              <a:ext uri="{FF2B5EF4-FFF2-40B4-BE49-F238E27FC236}">
                <a16:creationId xmlns:a16="http://schemas.microsoft.com/office/drawing/2014/main" id="{99B77CF5-3B72-4D3E-8894-E634CC995497}"/>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49F4C9F-E6A7-45E3-85B8-54315584178A}"/>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85ADE-73F2-433C-9F2B-AB922498E23B}"/>
              </a:ext>
            </a:extLst>
          </p:cNvPr>
          <p:cNvSpPr>
            <a:spLocks noGrp="1"/>
          </p:cNvSpPr>
          <p:nvPr>
            <p:ph type="dt" sz="half" idx="10"/>
          </p:nvPr>
        </p:nvSpPr>
        <p:spPr/>
        <p:txBody>
          <a:bodyPr/>
          <a:lstStyle/>
          <a:p>
            <a:fld id="{7DDC3705-8523-46A2-A3B2-2B38235B5344}" type="datetimeFigureOut">
              <a:rPr lang="en-US" smtClean="0"/>
              <a:t>8/19/26</a:t>
            </a:fld>
            <a:endParaRPr lang="en-US"/>
          </a:p>
        </p:txBody>
      </p:sp>
      <p:sp>
        <p:nvSpPr>
          <p:cNvPr id="5" name="Footer Placeholder 4">
            <a:extLst>
              <a:ext uri="{FF2B5EF4-FFF2-40B4-BE49-F238E27FC236}">
                <a16:creationId xmlns:a16="http://schemas.microsoft.com/office/drawing/2014/main" id="{3EB3BD03-2AB0-416A-B3EA-079DE81A04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DB8E0-4D86-4A6F-8340-85E4C7EF8B3E}"/>
              </a:ext>
            </a:extLst>
          </p:cNvPr>
          <p:cNvSpPr>
            <a:spLocks noGrp="1"/>
          </p:cNvSpPr>
          <p:nvPr>
            <p:ph type="sldNum" sz="quarter" idx="12"/>
          </p:nvPr>
        </p:nvSpPr>
        <p:spPr/>
        <p:txBody>
          <a:bodyPr/>
          <a:lstStyle/>
          <a:p>
            <a:fld id="{F96D9D12-19B9-42AB-8AD7-5653C77A8DE1}" type="slidenum">
              <a:rPr lang="en-US" smtClean="0"/>
              <a:t>‹#›</a:t>
            </a:fld>
            <a:endParaRPr lang="en-US"/>
          </a:p>
        </p:txBody>
      </p:sp>
    </p:spTree>
    <p:extLst>
      <p:ext uri="{BB962C8B-B14F-4D97-AF65-F5344CB8AC3E}">
        <p14:creationId xmlns:p14="http://schemas.microsoft.com/office/powerpoint/2010/main" val="2841505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2.jpeg"/><Relationship Id="rId4" Type="http://schemas.openxmlformats.org/officeDocument/2006/relationships/slideLayout" Target="../slideLayouts/slideLayout1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73D457C-25ED-9A44-A323-71B6ADD9446C}"/>
              </a:ext>
            </a:extLst>
          </p:cNvPr>
          <p:cNvSpPr/>
          <p:nvPr userDrawn="1"/>
        </p:nvSpPr>
        <p:spPr>
          <a:xfrm>
            <a:off x="0" y="0"/>
            <a:ext cx="18288000" cy="547688"/>
          </a:xfrm>
          <a:prstGeom prst="rect">
            <a:avLst/>
          </a:prstGeom>
          <a:solidFill>
            <a:schemeClr val="accent2">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 Hill Associates</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t>‹#›</a:t>
            </a:fld>
            <a:endParaRPr lang="en-US"/>
          </a:p>
        </p:txBody>
      </p:sp>
      <p:pic>
        <p:nvPicPr>
          <p:cNvPr id="10" name="Picture 9">
            <a:extLst>
              <a:ext uri="{FF2B5EF4-FFF2-40B4-BE49-F238E27FC236}">
                <a16:creationId xmlns:a16="http://schemas.microsoft.com/office/drawing/2014/main" id="{0EEFABEC-E756-8E44-841A-502FD0AAB099}"/>
              </a:ext>
            </a:extLst>
          </p:cNvPr>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a:xfrm>
            <a:off x="17266634" y="0"/>
            <a:ext cx="1021366" cy="565100"/>
          </a:xfrm>
          <a:prstGeom prst="rect">
            <a:avLst/>
          </a:prstGeom>
        </p:spPr>
      </p:pic>
    </p:spTree>
    <p:extLst>
      <p:ext uri="{BB962C8B-B14F-4D97-AF65-F5344CB8AC3E}">
        <p14:creationId xmlns:p14="http://schemas.microsoft.com/office/powerpoint/2010/main" val="2847721795"/>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61" r:id="rId13"/>
    <p:sldLayoutId id="2147483807" r:id="rId14"/>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0" cstate="email">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801091" name="Rectangle 3"/>
          <p:cNvSpPr>
            <a:spLocks noGrp="1" noChangeArrowheads="1"/>
          </p:cNvSpPr>
          <p:nvPr>
            <p:ph type="title"/>
          </p:nvPr>
        </p:nvSpPr>
        <p:spPr bwMode="auto">
          <a:xfrm>
            <a:off x="457200" y="457200"/>
            <a:ext cx="14478000" cy="1028700"/>
          </a:xfrm>
          <a:prstGeom prst="rect">
            <a:avLst/>
          </a:prstGeom>
          <a:noFill/>
          <a:ln w="9525">
            <a:noFill/>
            <a:miter lim="800000"/>
            <a:headEnd/>
            <a:tailEnd/>
          </a:ln>
          <a:effectLst/>
        </p:spPr>
        <p:txBody>
          <a:bodyPr vert="horz" wrap="square" lIns="91376" tIns="45689" rIns="91376" bIns="45689" numCol="1" anchor="ctr" anchorCtr="0" compatLnSpc="1">
            <a:prstTxWarp prst="textNoShape">
              <a:avLst/>
            </a:prstTxWarp>
          </a:bodyPr>
          <a:lstStyle/>
          <a:p>
            <a:pPr lvl="0"/>
            <a:r>
              <a:rPr lang="en-US"/>
              <a:t>Click Here for title </a:t>
            </a:r>
          </a:p>
        </p:txBody>
      </p:sp>
      <p:sp>
        <p:nvSpPr>
          <p:cNvPr id="3801092" name="Rectangle 4"/>
          <p:cNvSpPr>
            <a:spLocks noGrp="1" noChangeArrowheads="1"/>
          </p:cNvSpPr>
          <p:nvPr>
            <p:ph type="body" idx="1"/>
          </p:nvPr>
        </p:nvSpPr>
        <p:spPr bwMode="auto">
          <a:xfrm>
            <a:off x="457202" y="2171700"/>
            <a:ext cx="17011650" cy="7658100"/>
          </a:xfrm>
          <a:prstGeom prst="rect">
            <a:avLst/>
          </a:prstGeom>
          <a:noFill/>
          <a:ln w="9525">
            <a:noFill/>
            <a:miter lim="800000"/>
            <a:headEnd/>
            <a:tailEnd/>
          </a:ln>
          <a:effectLst/>
        </p:spPr>
        <p:txBody>
          <a:bodyPr vert="horz" wrap="square" lIns="91376" tIns="45689" rIns="91376" bIns="45689" numCol="1" anchor="t" anchorCtr="0" compatLnSpc="1">
            <a:prstTxWarp prst="textNoShape">
              <a:avLst/>
            </a:prstTxWarp>
          </a:bodyPr>
          <a:lstStyle/>
          <a:p>
            <a:pPr lvl="0"/>
            <a:r>
              <a:rPr lang="en-US"/>
              <a:t>First Bullet</a:t>
            </a:r>
          </a:p>
          <a:p>
            <a:pPr lvl="1"/>
            <a:r>
              <a:rPr lang="en-US"/>
              <a:t>Second level</a:t>
            </a:r>
          </a:p>
          <a:p>
            <a:pPr lvl="2"/>
            <a:r>
              <a:rPr lang="en-US"/>
              <a:t>Third level</a:t>
            </a:r>
          </a:p>
          <a:p>
            <a:pPr lvl="3"/>
            <a:endParaRPr lang="en-US"/>
          </a:p>
          <a:p>
            <a:pPr lvl="4"/>
            <a:endParaRPr lang="en-US"/>
          </a:p>
        </p:txBody>
      </p:sp>
      <p:sp>
        <p:nvSpPr>
          <p:cNvPr id="3801096" name="Rectangle 8"/>
          <p:cNvSpPr>
            <a:spLocks noGrp="1" noChangeArrowheads="1"/>
          </p:cNvSpPr>
          <p:nvPr>
            <p:ph type="sldNum" sz="quarter" idx="4"/>
          </p:nvPr>
        </p:nvSpPr>
        <p:spPr bwMode="auto">
          <a:xfrm>
            <a:off x="25400" y="9829800"/>
            <a:ext cx="1498601" cy="6000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80000"/>
              </a:lnSpc>
              <a:defRPr sz="1350" b="0">
                <a:latin typeface="+mj-lt"/>
              </a:defRPr>
            </a:lvl1pPr>
          </a:lstStyle>
          <a:p>
            <a:fld id="{1DB1BB89-678D-4E59-AA99-3F7365C7B2A8}" type="slidenum">
              <a:rPr lang="en-US"/>
              <a:pPr/>
              <a:t>‹#›</a:t>
            </a:fld>
            <a:endParaRPr lang="en-US"/>
          </a:p>
        </p:txBody>
      </p:sp>
    </p:spTree>
    <p:extLst>
      <p:ext uri="{BB962C8B-B14F-4D97-AF65-F5344CB8AC3E}">
        <p14:creationId xmlns:p14="http://schemas.microsoft.com/office/powerpoint/2010/main" val="2544378077"/>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Lst>
  <p:hf hdr="0" ftr="0" dt="0"/>
  <p:txStyles>
    <p:titleStyle>
      <a:lvl1pPr algn="l" defTabSz="1369220" rtl="0" eaLnBrk="1" fontAlgn="base" hangingPunct="1">
        <a:lnSpc>
          <a:spcPct val="95000"/>
        </a:lnSpc>
        <a:spcBef>
          <a:spcPct val="0"/>
        </a:spcBef>
        <a:spcAft>
          <a:spcPct val="0"/>
        </a:spcAft>
        <a:defRPr sz="3900" b="1">
          <a:solidFill>
            <a:schemeClr val="bg1"/>
          </a:solidFill>
          <a:latin typeface="+mj-lt"/>
          <a:ea typeface="+mj-ea"/>
          <a:cs typeface="+mj-cs"/>
        </a:defRPr>
      </a:lvl1pPr>
      <a:lvl2pPr algn="l" defTabSz="1369220" rtl="0" eaLnBrk="1" fontAlgn="base" hangingPunct="1">
        <a:lnSpc>
          <a:spcPct val="95000"/>
        </a:lnSpc>
        <a:spcBef>
          <a:spcPct val="0"/>
        </a:spcBef>
        <a:spcAft>
          <a:spcPct val="0"/>
        </a:spcAft>
        <a:defRPr sz="3900" b="1">
          <a:solidFill>
            <a:schemeClr val="bg1"/>
          </a:solidFill>
          <a:latin typeface="Arial" charset="0"/>
        </a:defRPr>
      </a:lvl2pPr>
      <a:lvl3pPr algn="l" defTabSz="1369220" rtl="0" eaLnBrk="1" fontAlgn="base" hangingPunct="1">
        <a:lnSpc>
          <a:spcPct val="95000"/>
        </a:lnSpc>
        <a:spcBef>
          <a:spcPct val="0"/>
        </a:spcBef>
        <a:spcAft>
          <a:spcPct val="0"/>
        </a:spcAft>
        <a:defRPr sz="3900" b="1">
          <a:solidFill>
            <a:schemeClr val="bg1"/>
          </a:solidFill>
          <a:latin typeface="Arial" charset="0"/>
        </a:defRPr>
      </a:lvl3pPr>
      <a:lvl4pPr algn="l" defTabSz="1369220" rtl="0" eaLnBrk="1" fontAlgn="base" hangingPunct="1">
        <a:lnSpc>
          <a:spcPct val="95000"/>
        </a:lnSpc>
        <a:spcBef>
          <a:spcPct val="0"/>
        </a:spcBef>
        <a:spcAft>
          <a:spcPct val="0"/>
        </a:spcAft>
        <a:defRPr sz="3900" b="1">
          <a:solidFill>
            <a:schemeClr val="bg1"/>
          </a:solidFill>
          <a:latin typeface="Arial" charset="0"/>
        </a:defRPr>
      </a:lvl4pPr>
      <a:lvl5pPr algn="l" defTabSz="1369220" rtl="0" eaLnBrk="1" fontAlgn="base" hangingPunct="1">
        <a:lnSpc>
          <a:spcPct val="95000"/>
        </a:lnSpc>
        <a:spcBef>
          <a:spcPct val="0"/>
        </a:spcBef>
        <a:spcAft>
          <a:spcPct val="0"/>
        </a:spcAft>
        <a:defRPr sz="3900" b="1">
          <a:solidFill>
            <a:schemeClr val="bg1"/>
          </a:solidFill>
          <a:latin typeface="Arial" charset="0"/>
        </a:defRPr>
      </a:lvl5pPr>
      <a:lvl6pPr marL="685800" algn="l" defTabSz="1369220" rtl="0" eaLnBrk="1" fontAlgn="base" hangingPunct="1">
        <a:lnSpc>
          <a:spcPct val="95000"/>
        </a:lnSpc>
        <a:spcBef>
          <a:spcPct val="0"/>
        </a:spcBef>
        <a:spcAft>
          <a:spcPct val="0"/>
        </a:spcAft>
        <a:defRPr sz="3900" b="1">
          <a:solidFill>
            <a:schemeClr val="bg1"/>
          </a:solidFill>
          <a:latin typeface="Arial" charset="0"/>
        </a:defRPr>
      </a:lvl6pPr>
      <a:lvl7pPr marL="1371600" algn="l" defTabSz="1369220" rtl="0" eaLnBrk="1" fontAlgn="base" hangingPunct="1">
        <a:lnSpc>
          <a:spcPct val="95000"/>
        </a:lnSpc>
        <a:spcBef>
          <a:spcPct val="0"/>
        </a:spcBef>
        <a:spcAft>
          <a:spcPct val="0"/>
        </a:spcAft>
        <a:defRPr sz="3900" b="1">
          <a:solidFill>
            <a:schemeClr val="bg1"/>
          </a:solidFill>
          <a:latin typeface="Arial" charset="0"/>
        </a:defRPr>
      </a:lvl7pPr>
      <a:lvl8pPr marL="2057400" algn="l" defTabSz="1369220" rtl="0" eaLnBrk="1" fontAlgn="base" hangingPunct="1">
        <a:lnSpc>
          <a:spcPct val="95000"/>
        </a:lnSpc>
        <a:spcBef>
          <a:spcPct val="0"/>
        </a:spcBef>
        <a:spcAft>
          <a:spcPct val="0"/>
        </a:spcAft>
        <a:defRPr sz="3900" b="1">
          <a:solidFill>
            <a:schemeClr val="bg1"/>
          </a:solidFill>
          <a:latin typeface="Arial" charset="0"/>
        </a:defRPr>
      </a:lvl8pPr>
      <a:lvl9pPr marL="2743200" algn="l" defTabSz="1369220" rtl="0" eaLnBrk="1" fontAlgn="base" hangingPunct="1">
        <a:lnSpc>
          <a:spcPct val="95000"/>
        </a:lnSpc>
        <a:spcBef>
          <a:spcPct val="0"/>
        </a:spcBef>
        <a:spcAft>
          <a:spcPct val="0"/>
        </a:spcAft>
        <a:defRPr sz="3900" b="1">
          <a:solidFill>
            <a:schemeClr val="bg1"/>
          </a:solidFill>
          <a:latin typeface="Arial" charset="0"/>
        </a:defRPr>
      </a:lvl9pPr>
    </p:titleStyle>
    <p:bodyStyle>
      <a:lvl1pPr marL="433388" indent="-433388" algn="l" defTabSz="1369220" rtl="0" eaLnBrk="1" fontAlgn="base" hangingPunct="1">
        <a:spcBef>
          <a:spcPct val="0"/>
        </a:spcBef>
        <a:spcAft>
          <a:spcPct val="20000"/>
        </a:spcAft>
        <a:buClr>
          <a:schemeClr val="tx1"/>
        </a:buClr>
        <a:buSzPct val="75000"/>
        <a:buFont typeface="Wingdings" pitchFamily="2" charset="2"/>
        <a:buChar char="l"/>
        <a:defRPr sz="3300" b="1">
          <a:solidFill>
            <a:schemeClr val="tx1"/>
          </a:solidFill>
          <a:latin typeface="+mn-lt"/>
          <a:ea typeface="+mn-ea"/>
          <a:cs typeface="+mn-cs"/>
        </a:defRPr>
      </a:lvl1pPr>
      <a:lvl2pPr marL="1119188" indent="-442913" algn="l" defTabSz="1369220" rtl="0" eaLnBrk="1" fontAlgn="base" hangingPunct="1">
        <a:spcBef>
          <a:spcPct val="0"/>
        </a:spcBef>
        <a:spcAft>
          <a:spcPct val="20000"/>
        </a:spcAft>
        <a:buClr>
          <a:schemeClr val="tx1"/>
        </a:buClr>
        <a:buFont typeface="Symbol" pitchFamily="18" charset="2"/>
        <a:buChar char="-"/>
        <a:defRPr sz="3000" b="1">
          <a:solidFill>
            <a:schemeClr val="tx1"/>
          </a:solidFill>
          <a:latin typeface="+mn-lt"/>
        </a:defRPr>
      </a:lvl2pPr>
      <a:lvl3pPr marL="1719263" indent="-381000" algn="l" defTabSz="1369220" rtl="0" eaLnBrk="1" fontAlgn="base" hangingPunct="1">
        <a:spcBef>
          <a:spcPct val="0"/>
        </a:spcBef>
        <a:spcAft>
          <a:spcPct val="20000"/>
        </a:spcAft>
        <a:buClr>
          <a:schemeClr val="tx1"/>
        </a:buClr>
        <a:buFont typeface="Symbol" pitchFamily="18" charset="2"/>
        <a:buChar char="-"/>
        <a:defRPr b="1">
          <a:solidFill>
            <a:schemeClr val="tx1"/>
          </a:solidFill>
          <a:latin typeface="+mn-lt"/>
        </a:defRPr>
      </a:lvl3pPr>
      <a:lvl4pPr marL="2202657" indent="-292895" algn="l" defTabSz="1369220" rtl="0" eaLnBrk="1" fontAlgn="base" hangingPunct="1">
        <a:spcBef>
          <a:spcPct val="20000"/>
        </a:spcBef>
        <a:spcAft>
          <a:spcPct val="0"/>
        </a:spcAft>
        <a:buClr>
          <a:schemeClr val="tx1"/>
        </a:buClr>
        <a:buFont typeface="Symbol" pitchFamily="18" charset="2"/>
        <a:buChar char="-"/>
        <a:defRPr b="1">
          <a:solidFill>
            <a:schemeClr val="tx1"/>
          </a:solidFill>
          <a:latin typeface="+mn-lt"/>
        </a:defRPr>
      </a:lvl4pPr>
      <a:lvl5pPr marL="2686050" indent="-290513" algn="l" defTabSz="1369220" rtl="0" eaLnBrk="1" fontAlgn="base" hangingPunct="1">
        <a:spcBef>
          <a:spcPct val="20000"/>
        </a:spcBef>
        <a:spcAft>
          <a:spcPct val="0"/>
        </a:spcAft>
        <a:buClr>
          <a:schemeClr val="tx1"/>
        </a:buClr>
        <a:buFont typeface="Symbol" pitchFamily="18" charset="2"/>
        <a:buChar char="-"/>
        <a:defRPr sz="3000" b="1">
          <a:solidFill>
            <a:schemeClr val="tx1"/>
          </a:solidFill>
          <a:latin typeface="+mn-lt"/>
        </a:defRPr>
      </a:lvl5pPr>
      <a:lvl6pPr marL="3371850" indent="-290513" algn="l" defTabSz="1369220" rtl="0" eaLnBrk="1" fontAlgn="base" hangingPunct="1">
        <a:spcBef>
          <a:spcPct val="20000"/>
        </a:spcBef>
        <a:spcAft>
          <a:spcPct val="0"/>
        </a:spcAft>
        <a:buClr>
          <a:schemeClr val="tx1"/>
        </a:buClr>
        <a:buFont typeface="Symbol" pitchFamily="18" charset="2"/>
        <a:buChar char="-"/>
        <a:defRPr sz="3000" b="1">
          <a:solidFill>
            <a:schemeClr val="tx1"/>
          </a:solidFill>
          <a:latin typeface="+mn-lt"/>
        </a:defRPr>
      </a:lvl6pPr>
      <a:lvl7pPr marL="4057650" indent="-290513" algn="l" defTabSz="1369220" rtl="0" eaLnBrk="1" fontAlgn="base" hangingPunct="1">
        <a:spcBef>
          <a:spcPct val="20000"/>
        </a:spcBef>
        <a:spcAft>
          <a:spcPct val="0"/>
        </a:spcAft>
        <a:buClr>
          <a:schemeClr val="tx1"/>
        </a:buClr>
        <a:buFont typeface="Symbol" pitchFamily="18" charset="2"/>
        <a:buChar char="-"/>
        <a:defRPr sz="3000" b="1">
          <a:solidFill>
            <a:schemeClr val="tx1"/>
          </a:solidFill>
          <a:latin typeface="+mn-lt"/>
        </a:defRPr>
      </a:lvl7pPr>
      <a:lvl8pPr marL="4743450" indent="-290513" algn="l" defTabSz="1369220" rtl="0" eaLnBrk="1" fontAlgn="base" hangingPunct="1">
        <a:spcBef>
          <a:spcPct val="20000"/>
        </a:spcBef>
        <a:spcAft>
          <a:spcPct val="0"/>
        </a:spcAft>
        <a:buClr>
          <a:schemeClr val="tx1"/>
        </a:buClr>
        <a:buFont typeface="Symbol" pitchFamily="18" charset="2"/>
        <a:buChar char="-"/>
        <a:defRPr sz="3000" b="1">
          <a:solidFill>
            <a:schemeClr val="tx1"/>
          </a:solidFill>
          <a:latin typeface="+mn-lt"/>
        </a:defRPr>
      </a:lvl8pPr>
      <a:lvl9pPr marL="5429250" indent="-290513" algn="l" defTabSz="1369220" rtl="0" eaLnBrk="1" fontAlgn="base" hangingPunct="1">
        <a:spcBef>
          <a:spcPct val="20000"/>
        </a:spcBef>
        <a:spcAft>
          <a:spcPct val="0"/>
        </a:spcAft>
        <a:buClr>
          <a:schemeClr val="tx1"/>
        </a:buClr>
        <a:buFont typeface="Symbol" pitchFamily="18" charset="2"/>
        <a:buChar char="-"/>
        <a:defRPr sz="3000" b="1">
          <a:solidFill>
            <a:schemeClr val="tx1"/>
          </a:solidFill>
          <a:latin typeface="+mn-lt"/>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hyperlink" Target="https://class.hillvt.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17.png"/><Relationship Id="rId7" Type="http://schemas.microsoft.com/office/2007/relationships/hdphoto" Target="../media/hdphoto1.wdp"/><Relationship Id="rId12"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4.svg"/><Relationship Id="rId5" Type="http://schemas.openxmlformats.org/officeDocument/2006/relationships/image" Target="../media/image19.jpeg"/><Relationship Id="rId10" Type="http://schemas.openxmlformats.org/officeDocument/2006/relationships/image" Target="../media/image23.png"/><Relationship Id="rId4" Type="http://schemas.openxmlformats.org/officeDocument/2006/relationships/image" Target="../media/image18.svg"/><Relationship Id="rId9" Type="http://schemas.openxmlformats.org/officeDocument/2006/relationships/image" Target="../media/image22.svg"/></Relationships>
</file>

<file path=ppt/slides/_rels/slide29.xml.rels><?xml version="1.0" encoding="UTF-8" standalone="yes"?>
<Relationships xmlns="http://schemas.openxmlformats.org/package/2006/relationships"><Relationship Id="rId8" Type="http://schemas.openxmlformats.org/officeDocument/2006/relationships/image" Target="../media/image31.jpeg"/><Relationship Id="rId13" Type="http://schemas.openxmlformats.org/officeDocument/2006/relationships/image" Target="../media/image36.jpeg"/><Relationship Id="rId3" Type="http://schemas.openxmlformats.org/officeDocument/2006/relationships/notesSlide" Target="../notesSlides/notesSlide16.xml"/><Relationship Id="rId7" Type="http://schemas.openxmlformats.org/officeDocument/2006/relationships/image" Target="../media/image30.jpeg"/><Relationship Id="rId12" Type="http://schemas.openxmlformats.org/officeDocument/2006/relationships/image" Target="../media/image35.jpeg"/><Relationship Id="rId2" Type="http://schemas.openxmlformats.org/officeDocument/2006/relationships/slideLayout" Target="../slideLayouts/slideLayout6.xml"/><Relationship Id="rId16" Type="http://schemas.openxmlformats.org/officeDocument/2006/relationships/image" Target="../media/image39.jpeg"/><Relationship Id="rId1" Type="http://schemas.openxmlformats.org/officeDocument/2006/relationships/tags" Target="../tags/tag8.xml"/><Relationship Id="rId6" Type="http://schemas.openxmlformats.org/officeDocument/2006/relationships/image" Target="../media/image29.jpeg"/><Relationship Id="rId11" Type="http://schemas.openxmlformats.org/officeDocument/2006/relationships/image" Target="../media/image34.jpeg"/><Relationship Id="rId5" Type="http://schemas.openxmlformats.org/officeDocument/2006/relationships/image" Target="../media/image28.jpeg"/><Relationship Id="rId15" Type="http://schemas.openxmlformats.org/officeDocument/2006/relationships/image" Target="../media/image38.jpeg"/><Relationship Id="rId10" Type="http://schemas.openxmlformats.org/officeDocument/2006/relationships/image" Target="../media/image33.jpeg"/><Relationship Id="rId4" Type="http://schemas.openxmlformats.org/officeDocument/2006/relationships/image" Target="../media/image27.jpeg"/><Relationship Id="rId9" Type="http://schemas.openxmlformats.org/officeDocument/2006/relationships/image" Target="../media/image32.jpeg"/><Relationship Id="rId14" Type="http://schemas.openxmlformats.org/officeDocument/2006/relationships/image" Target="../media/image37.jpeg"/></Relationships>
</file>

<file path=ppt/slides/_rels/slide30.xml.rels><?xml version="1.0" encoding="UTF-8" standalone="yes"?>
<Relationships xmlns="http://schemas.openxmlformats.org/package/2006/relationships"><Relationship Id="rId8" Type="http://schemas.openxmlformats.org/officeDocument/2006/relationships/image" Target="../media/image31.jpeg"/><Relationship Id="rId13" Type="http://schemas.openxmlformats.org/officeDocument/2006/relationships/image" Target="../media/image36.jpeg"/><Relationship Id="rId18" Type="http://schemas.openxmlformats.org/officeDocument/2006/relationships/image" Target="../media/image41.jpeg"/><Relationship Id="rId3" Type="http://schemas.openxmlformats.org/officeDocument/2006/relationships/notesSlide" Target="../notesSlides/notesSlide17.xml"/><Relationship Id="rId21" Type="http://schemas.openxmlformats.org/officeDocument/2006/relationships/image" Target="../media/image44.jpeg"/><Relationship Id="rId7" Type="http://schemas.openxmlformats.org/officeDocument/2006/relationships/image" Target="../media/image30.jpeg"/><Relationship Id="rId12" Type="http://schemas.openxmlformats.org/officeDocument/2006/relationships/image" Target="../media/image35.jpeg"/><Relationship Id="rId17" Type="http://schemas.openxmlformats.org/officeDocument/2006/relationships/image" Target="../media/image40.jpeg"/><Relationship Id="rId2" Type="http://schemas.openxmlformats.org/officeDocument/2006/relationships/slideLayout" Target="../slideLayouts/slideLayout6.xml"/><Relationship Id="rId16" Type="http://schemas.openxmlformats.org/officeDocument/2006/relationships/image" Target="../media/image39.jpeg"/><Relationship Id="rId20" Type="http://schemas.openxmlformats.org/officeDocument/2006/relationships/image" Target="../media/image43.jpeg"/><Relationship Id="rId1" Type="http://schemas.openxmlformats.org/officeDocument/2006/relationships/tags" Target="../tags/tag9.xml"/><Relationship Id="rId6" Type="http://schemas.openxmlformats.org/officeDocument/2006/relationships/image" Target="../media/image29.jpeg"/><Relationship Id="rId11" Type="http://schemas.openxmlformats.org/officeDocument/2006/relationships/image" Target="../media/image34.jpeg"/><Relationship Id="rId5" Type="http://schemas.openxmlformats.org/officeDocument/2006/relationships/image" Target="../media/image28.jpeg"/><Relationship Id="rId15" Type="http://schemas.openxmlformats.org/officeDocument/2006/relationships/image" Target="../media/image38.jpeg"/><Relationship Id="rId10" Type="http://schemas.openxmlformats.org/officeDocument/2006/relationships/image" Target="../media/image33.jpeg"/><Relationship Id="rId19" Type="http://schemas.openxmlformats.org/officeDocument/2006/relationships/image" Target="../media/image42.jpeg"/><Relationship Id="rId4" Type="http://schemas.openxmlformats.org/officeDocument/2006/relationships/image" Target="../media/image27.jpeg"/><Relationship Id="rId9" Type="http://schemas.openxmlformats.org/officeDocument/2006/relationships/image" Target="../media/image32.jpeg"/><Relationship Id="rId14" Type="http://schemas.openxmlformats.org/officeDocument/2006/relationships/image" Target="../media/image37.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hyperlink" Target="https://pentest-tools.com/home" TargetMode="Externa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48.png"/><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notesSlide" Target="../notesSlides/notesSlide23.xml"/><Relationship Id="rId7" Type="http://schemas.openxmlformats.org/officeDocument/2006/relationships/image" Target="../media/image52.wmf"/><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17.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20.xml"/><Relationship Id="rId5" Type="http://schemas.openxmlformats.org/officeDocument/2006/relationships/image" Target="../media/image57.png"/><Relationship Id="rId4" Type="http://schemas.openxmlformats.org/officeDocument/2006/relationships/image" Target="../media/image56.tiff"/></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tags" Target="../tags/tag22.xml"/><Relationship Id="rId4" Type="http://schemas.openxmlformats.org/officeDocument/2006/relationships/image" Target="../media/image59.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23.xml"/><Relationship Id="rId4" Type="http://schemas.openxmlformats.org/officeDocument/2006/relationships/image" Target="../media/image60.tif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tags" Target="../tags/tag27.xml"/><Relationship Id="rId4" Type="http://schemas.openxmlformats.org/officeDocument/2006/relationships/image" Target="../media/image61.emf"/></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xml"/><Relationship Id="rId1" Type="http://schemas.openxmlformats.org/officeDocument/2006/relationships/tags" Target="../tags/tag28.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62.tiff"/></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43.xml"/><Relationship Id="rId1" Type="http://schemas.openxmlformats.org/officeDocument/2006/relationships/slideLayout" Target="../slideLayouts/slideLayout14.xml"/><Relationship Id="rId6" Type="http://schemas.openxmlformats.org/officeDocument/2006/relationships/image" Target="../media/image66.sv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64.svg"/><Relationship Id="rId9" Type="http://schemas.openxmlformats.org/officeDocument/2006/relationships/image" Target="../media/image69.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4.tif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image" Target="../media/image78.gif"/><Relationship Id="rId5" Type="http://schemas.openxmlformats.org/officeDocument/2006/relationships/image" Target="../media/image77.png"/><Relationship Id="rId4" Type="http://schemas.openxmlformats.org/officeDocument/2006/relationships/image" Target="../media/image76.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76.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notesSlide" Target="../notesSlides/notesSlide51.xml"/><Relationship Id="rId7" Type="http://schemas.openxmlformats.org/officeDocument/2006/relationships/image" Target="../media/image82.png"/><Relationship Id="rId12" Type="http://schemas.openxmlformats.org/officeDocument/2006/relationships/image" Target="../media/image86.png"/><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81.png"/><Relationship Id="rId11" Type="http://schemas.openxmlformats.org/officeDocument/2006/relationships/image" Target="../media/image47.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34.xml"/><Relationship Id="rId5" Type="http://schemas.openxmlformats.org/officeDocument/2006/relationships/image" Target="../media/image88.png"/><Relationship Id="rId4" Type="http://schemas.openxmlformats.org/officeDocument/2006/relationships/image" Target="../media/image87.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6.xml"/><Relationship Id="rId1" Type="http://schemas.openxmlformats.org/officeDocument/2006/relationships/tags" Target="../tags/tag3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95.jp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97.tif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98.tif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00.tiff"/><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01.tiff"/><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02.tiff"/><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xml"/><Relationship Id="rId1" Type="http://schemas.openxmlformats.org/officeDocument/2006/relationships/tags" Target="../tags/tag39.xml"/><Relationship Id="rId4" Type="http://schemas.openxmlformats.org/officeDocument/2006/relationships/image" Target="../media/image104.pn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4.xml"/><Relationship Id="rId1" Type="http://schemas.openxmlformats.org/officeDocument/2006/relationships/tags" Target="../tags/tag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23">
            <a:extLst>
              <a:ext uri="{FF2B5EF4-FFF2-40B4-BE49-F238E27FC236}">
                <a16:creationId xmlns:a16="http://schemas.microsoft.com/office/drawing/2014/main" id="{64CB1EFC-E3A4-474D-8DB7-49F104781E24}"/>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0" name="Rectangle 9">
            <a:extLst>
              <a:ext uri="{FF2B5EF4-FFF2-40B4-BE49-F238E27FC236}">
                <a16:creationId xmlns:a16="http://schemas.microsoft.com/office/drawing/2014/main" id="{9727C84C-D9BF-47A0-B840-3E88032B0279}"/>
              </a:ext>
            </a:extLst>
          </p:cNvPr>
          <p:cNvSpPr/>
          <p:nvPr/>
        </p:nvSpPr>
        <p:spPr>
          <a:xfrm>
            <a:off x="0" y="1"/>
            <a:ext cx="3665496" cy="10287002"/>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34" name="Rectangle 33">
            <a:extLst>
              <a:ext uri="{FF2B5EF4-FFF2-40B4-BE49-F238E27FC236}">
                <a16:creationId xmlns:a16="http://schemas.microsoft.com/office/drawing/2014/main" id="{3291BCC6-7DAA-440E-BEAC-6130A4C08093}"/>
              </a:ext>
            </a:extLst>
          </p:cNvPr>
          <p:cNvSpPr/>
          <p:nvPr/>
        </p:nvSpPr>
        <p:spPr>
          <a:xfrm>
            <a:off x="3665496" y="1"/>
            <a:ext cx="3659409" cy="10287002"/>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36" name="Rectangle 35">
            <a:extLst>
              <a:ext uri="{FF2B5EF4-FFF2-40B4-BE49-F238E27FC236}">
                <a16:creationId xmlns:a16="http://schemas.microsoft.com/office/drawing/2014/main" id="{22D593C3-3BF2-4F73-BF37-D38FBCDF0A33}"/>
              </a:ext>
            </a:extLst>
          </p:cNvPr>
          <p:cNvSpPr/>
          <p:nvPr/>
        </p:nvSpPr>
        <p:spPr>
          <a:xfrm>
            <a:off x="7324907" y="1"/>
            <a:ext cx="3659409" cy="10287002"/>
          </a:xfrm>
          <a:prstGeom prst="rect">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38" name="Rectangle 37">
            <a:extLst>
              <a:ext uri="{FF2B5EF4-FFF2-40B4-BE49-F238E27FC236}">
                <a16:creationId xmlns:a16="http://schemas.microsoft.com/office/drawing/2014/main" id="{07202170-1242-41D1-9D32-16B2939CE504}"/>
              </a:ext>
            </a:extLst>
          </p:cNvPr>
          <p:cNvSpPr/>
          <p:nvPr/>
        </p:nvSpPr>
        <p:spPr>
          <a:xfrm>
            <a:off x="10976748" y="0"/>
            <a:ext cx="3659409" cy="10287002"/>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40" name="Rectangle 39">
            <a:extLst>
              <a:ext uri="{FF2B5EF4-FFF2-40B4-BE49-F238E27FC236}">
                <a16:creationId xmlns:a16="http://schemas.microsoft.com/office/drawing/2014/main" id="{34A84246-08D2-4D1F-AAE2-CAEE1F6220E7}"/>
              </a:ext>
            </a:extLst>
          </p:cNvPr>
          <p:cNvSpPr/>
          <p:nvPr/>
        </p:nvSpPr>
        <p:spPr>
          <a:xfrm>
            <a:off x="14628588" y="1"/>
            <a:ext cx="3659409" cy="10287002"/>
          </a:xfrm>
          <a:prstGeom prst="rect">
            <a:avLst/>
          </a:prstGeom>
          <a:solidFill>
            <a:schemeClr val="accent5">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6" name="TextBox 5">
            <a:extLst>
              <a:ext uri="{FF2B5EF4-FFF2-40B4-BE49-F238E27FC236}">
                <a16:creationId xmlns:a16="http://schemas.microsoft.com/office/drawing/2014/main" id="{EC8BDAD2-3899-4ADE-8705-1FE5ACC6A9C0}"/>
              </a:ext>
            </a:extLst>
          </p:cNvPr>
          <p:cNvSpPr txBox="1"/>
          <p:nvPr/>
        </p:nvSpPr>
        <p:spPr>
          <a:xfrm>
            <a:off x="1522872" y="5529182"/>
            <a:ext cx="13744338" cy="2100575"/>
          </a:xfrm>
          <a:prstGeom prst="rect">
            <a:avLst/>
          </a:prstGeom>
          <a:noFill/>
        </p:spPr>
        <p:txBody>
          <a:bodyPr wrap="square" rtlCol="0">
            <a:spAutoFit/>
          </a:bodyPr>
          <a:lstStyle/>
          <a:p>
            <a:r>
              <a:rPr lang="en-US" sz="13050" b="1" i="1" spc="450"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DEPLOYING</a:t>
            </a:r>
            <a:endParaRPr lang="en-US" sz="13050" b="1" i="1" spc="450" dirty="0">
              <a:solidFill>
                <a:schemeClr val="accent2"/>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119" name="TextBox 118">
            <a:extLst>
              <a:ext uri="{FF2B5EF4-FFF2-40B4-BE49-F238E27FC236}">
                <a16:creationId xmlns:a16="http://schemas.microsoft.com/office/drawing/2014/main" id="{5D7657F2-4E68-4FF7-96AA-5DE6BBC64767}"/>
              </a:ext>
            </a:extLst>
          </p:cNvPr>
          <p:cNvSpPr txBox="1"/>
          <p:nvPr/>
        </p:nvSpPr>
        <p:spPr>
          <a:xfrm>
            <a:off x="1528266" y="7471658"/>
            <a:ext cx="9631224" cy="692497"/>
          </a:xfrm>
          <a:prstGeom prst="rect">
            <a:avLst/>
          </a:prstGeom>
          <a:noFill/>
        </p:spPr>
        <p:txBody>
          <a:bodyPr wrap="square" rtlCol="0">
            <a:spAutoFit/>
          </a:bodyPr>
          <a:lstStyle/>
          <a:p>
            <a:r>
              <a:rPr lang="en-US" sz="3900"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Internet and Intranet Firewalls</a:t>
            </a:r>
          </a:p>
        </p:txBody>
      </p:sp>
      <p:sp>
        <p:nvSpPr>
          <p:cNvPr id="5" name="Rectangle 4">
            <a:extLst>
              <a:ext uri="{FF2B5EF4-FFF2-40B4-BE49-F238E27FC236}">
                <a16:creationId xmlns:a16="http://schemas.microsoft.com/office/drawing/2014/main" id="{BEC38C05-7779-114F-B7AC-56481098E0FD}"/>
              </a:ext>
            </a:extLst>
          </p:cNvPr>
          <p:cNvSpPr/>
          <p:nvPr/>
        </p:nvSpPr>
        <p:spPr>
          <a:xfrm>
            <a:off x="6955971" y="9040911"/>
            <a:ext cx="10287000" cy="369332"/>
          </a:xfrm>
          <a:prstGeom prst="rect">
            <a:avLst/>
          </a:prstGeom>
        </p:spPr>
        <p:txBody>
          <a:bodyPr wrap="square">
            <a:spAutoFit/>
          </a:bodyPr>
          <a:lstStyle/>
          <a:p>
            <a:r>
              <a:rPr lang="en-US"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A Virtual Instructor-led Course Designed Specifically for FDIC Risk Management Examiners</a:t>
            </a:r>
          </a:p>
        </p:txBody>
      </p:sp>
      <p:pic>
        <p:nvPicPr>
          <p:cNvPr id="4" name="Picture 3">
            <a:extLst>
              <a:ext uri="{FF2B5EF4-FFF2-40B4-BE49-F238E27FC236}">
                <a16:creationId xmlns:a16="http://schemas.microsoft.com/office/drawing/2014/main" id="{2EAEA6E3-C518-CA4D-9C89-5DCF82AD530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67910" y="450375"/>
            <a:ext cx="3037345" cy="1680498"/>
          </a:xfrm>
          <a:prstGeom prst="rect">
            <a:avLst/>
          </a:prstGeom>
        </p:spPr>
      </p:pic>
    </p:spTree>
    <p:extLst>
      <p:ext uri="{BB962C8B-B14F-4D97-AF65-F5344CB8AC3E}">
        <p14:creationId xmlns:p14="http://schemas.microsoft.com/office/powerpoint/2010/main" val="226962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200"/>
                                  </p:stCondLst>
                                  <p:childTnLst>
                                    <p:set>
                                      <p:cBhvr>
                                        <p:cTn id="6" dur="1" fill="hold">
                                          <p:stCondLst>
                                            <p:cond delay="0"/>
                                          </p:stCondLst>
                                        </p:cTn>
                                        <p:tgtEl>
                                          <p:spTgt spid="34"/>
                                        </p:tgtEl>
                                        <p:attrNameLst>
                                          <p:attrName>style.visibility</p:attrName>
                                        </p:attrNameLst>
                                      </p:cBhvr>
                                      <p:to>
                                        <p:strVal val="visible"/>
                                      </p:to>
                                    </p:set>
                                    <p:anim calcmode="lin" valueType="num">
                                      <p:cBhvr>
                                        <p:cTn id="7" dur="1000" fill="hold"/>
                                        <p:tgtEl>
                                          <p:spTgt spid="34"/>
                                        </p:tgtEl>
                                        <p:attrNameLst>
                                          <p:attrName>ppt_w</p:attrName>
                                        </p:attrNameLst>
                                      </p:cBhvr>
                                      <p:tavLst>
                                        <p:tav tm="0">
                                          <p:val>
                                            <p:strVal val="#ppt_w+.3"/>
                                          </p:val>
                                        </p:tav>
                                        <p:tav tm="100000">
                                          <p:val>
                                            <p:strVal val="#ppt_w"/>
                                          </p:val>
                                        </p:tav>
                                      </p:tavLst>
                                    </p:anim>
                                    <p:anim calcmode="lin" valueType="num">
                                      <p:cBhvr>
                                        <p:cTn id="8" dur="1000" fill="hold"/>
                                        <p:tgtEl>
                                          <p:spTgt spid="34"/>
                                        </p:tgtEl>
                                        <p:attrNameLst>
                                          <p:attrName>ppt_h</p:attrName>
                                        </p:attrNameLst>
                                      </p:cBhvr>
                                      <p:tavLst>
                                        <p:tav tm="0">
                                          <p:val>
                                            <p:strVal val="#ppt_h"/>
                                          </p:val>
                                        </p:tav>
                                        <p:tav tm="100000">
                                          <p:val>
                                            <p:strVal val="#ppt_h"/>
                                          </p:val>
                                        </p:tav>
                                      </p:tavLst>
                                    </p:anim>
                                    <p:animEffect transition="in" filter="fade">
                                      <p:cBhvr>
                                        <p:cTn id="9" dur="1000"/>
                                        <p:tgtEl>
                                          <p:spTgt spid="34"/>
                                        </p:tgtEl>
                                      </p:cBhvr>
                                    </p:animEffect>
                                  </p:childTnLst>
                                </p:cTn>
                              </p:par>
                              <p:par>
                                <p:cTn id="10" presetID="55" presetClass="entr" presetSubtype="0" fill="hold" grpId="0" nodeType="withEffect">
                                  <p:stCondLst>
                                    <p:cond delay="100"/>
                                  </p:stCondLst>
                                  <p:childTnLst>
                                    <p:set>
                                      <p:cBhvr>
                                        <p:cTn id="11" dur="1" fill="hold">
                                          <p:stCondLst>
                                            <p:cond delay="0"/>
                                          </p:stCondLst>
                                        </p:cTn>
                                        <p:tgtEl>
                                          <p:spTgt spid="10"/>
                                        </p:tgtEl>
                                        <p:attrNameLst>
                                          <p:attrName>style.visibility</p:attrName>
                                        </p:attrNameLst>
                                      </p:cBhvr>
                                      <p:to>
                                        <p:strVal val="visible"/>
                                      </p:to>
                                    </p:set>
                                    <p:anim calcmode="lin" valueType="num">
                                      <p:cBhvr>
                                        <p:cTn id="12" dur="800" fill="hold"/>
                                        <p:tgtEl>
                                          <p:spTgt spid="10"/>
                                        </p:tgtEl>
                                        <p:attrNameLst>
                                          <p:attrName>ppt_w</p:attrName>
                                        </p:attrNameLst>
                                      </p:cBhvr>
                                      <p:tavLst>
                                        <p:tav tm="0">
                                          <p:val>
                                            <p:strVal val="#ppt_w*0.70"/>
                                          </p:val>
                                        </p:tav>
                                        <p:tav tm="100000">
                                          <p:val>
                                            <p:strVal val="#ppt_w"/>
                                          </p:val>
                                        </p:tav>
                                      </p:tavLst>
                                    </p:anim>
                                    <p:anim calcmode="lin" valueType="num">
                                      <p:cBhvr>
                                        <p:cTn id="13" dur="800" fill="hold"/>
                                        <p:tgtEl>
                                          <p:spTgt spid="10"/>
                                        </p:tgtEl>
                                        <p:attrNameLst>
                                          <p:attrName>ppt_h</p:attrName>
                                        </p:attrNameLst>
                                      </p:cBhvr>
                                      <p:tavLst>
                                        <p:tav tm="0">
                                          <p:val>
                                            <p:strVal val="#ppt_h"/>
                                          </p:val>
                                        </p:tav>
                                        <p:tav tm="100000">
                                          <p:val>
                                            <p:strVal val="#ppt_h"/>
                                          </p:val>
                                        </p:tav>
                                      </p:tavLst>
                                    </p:anim>
                                    <p:animEffect transition="in" filter="fade">
                                      <p:cBhvr>
                                        <p:cTn id="14" dur="800"/>
                                        <p:tgtEl>
                                          <p:spTgt spid="10"/>
                                        </p:tgtEl>
                                      </p:cBhvr>
                                    </p:animEffect>
                                  </p:childTnLst>
                                </p:cTn>
                              </p:par>
                              <p:par>
                                <p:cTn id="15" presetID="55" presetClass="entr" presetSubtype="0" fill="hold" grpId="0" nodeType="withEffect">
                                  <p:stCondLst>
                                    <p:cond delay="500"/>
                                  </p:stCondLst>
                                  <p:childTnLst>
                                    <p:set>
                                      <p:cBhvr>
                                        <p:cTn id="16" dur="1" fill="hold">
                                          <p:stCondLst>
                                            <p:cond delay="0"/>
                                          </p:stCondLst>
                                        </p:cTn>
                                        <p:tgtEl>
                                          <p:spTgt spid="40"/>
                                        </p:tgtEl>
                                        <p:attrNameLst>
                                          <p:attrName>style.visibility</p:attrName>
                                        </p:attrNameLst>
                                      </p:cBhvr>
                                      <p:to>
                                        <p:strVal val="visible"/>
                                      </p:to>
                                    </p:set>
                                    <p:anim calcmode="lin" valueType="num">
                                      <p:cBhvr>
                                        <p:cTn id="17" dur="1000" fill="hold"/>
                                        <p:tgtEl>
                                          <p:spTgt spid="40"/>
                                        </p:tgtEl>
                                        <p:attrNameLst>
                                          <p:attrName>ppt_w</p:attrName>
                                        </p:attrNameLst>
                                      </p:cBhvr>
                                      <p:tavLst>
                                        <p:tav tm="0">
                                          <p:val>
                                            <p:strVal val="#ppt_w*0.70"/>
                                          </p:val>
                                        </p:tav>
                                        <p:tav tm="100000">
                                          <p:val>
                                            <p:strVal val="#ppt_w"/>
                                          </p:val>
                                        </p:tav>
                                      </p:tavLst>
                                    </p:anim>
                                    <p:anim calcmode="lin" valueType="num">
                                      <p:cBhvr>
                                        <p:cTn id="18" dur="1000" fill="hold"/>
                                        <p:tgtEl>
                                          <p:spTgt spid="40"/>
                                        </p:tgtEl>
                                        <p:attrNameLst>
                                          <p:attrName>ppt_h</p:attrName>
                                        </p:attrNameLst>
                                      </p:cBhvr>
                                      <p:tavLst>
                                        <p:tav tm="0">
                                          <p:val>
                                            <p:strVal val="#ppt_h"/>
                                          </p:val>
                                        </p:tav>
                                        <p:tav tm="100000">
                                          <p:val>
                                            <p:strVal val="#ppt_h"/>
                                          </p:val>
                                        </p:tav>
                                      </p:tavLst>
                                    </p:anim>
                                    <p:animEffect transition="in" filter="fade">
                                      <p:cBhvr>
                                        <p:cTn id="19" dur="1000"/>
                                        <p:tgtEl>
                                          <p:spTgt spid="40"/>
                                        </p:tgtEl>
                                      </p:cBhvr>
                                    </p:animEffect>
                                  </p:childTnLst>
                                </p:cTn>
                              </p:par>
                              <p:par>
                                <p:cTn id="20" presetID="50" presetClass="entr" presetSubtype="0" decel="100000" fill="hold" grpId="0" nodeType="withEffect">
                                  <p:stCondLst>
                                    <p:cond delay="400"/>
                                  </p:stCondLst>
                                  <p:childTnLst>
                                    <p:set>
                                      <p:cBhvr>
                                        <p:cTn id="21" dur="1" fill="hold">
                                          <p:stCondLst>
                                            <p:cond delay="0"/>
                                          </p:stCondLst>
                                        </p:cTn>
                                        <p:tgtEl>
                                          <p:spTgt spid="36"/>
                                        </p:tgtEl>
                                        <p:attrNameLst>
                                          <p:attrName>style.visibility</p:attrName>
                                        </p:attrNameLst>
                                      </p:cBhvr>
                                      <p:to>
                                        <p:strVal val="visible"/>
                                      </p:to>
                                    </p:set>
                                    <p:anim calcmode="lin" valueType="num">
                                      <p:cBhvr>
                                        <p:cTn id="22" dur="1000" fill="hold"/>
                                        <p:tgtEl>
                                          <p:spTgt spid="36"/>
                                        </p:tgtEl>
                                        <p:attrNameLst>
                                          <p:attrName>ppt_w</p:attrName>
                                        </p:attrNameLst>
                                      </p:cBhvr>
                                      <p:tavLst>
                                        <p:tav tm="0">
                                          <p:val>
                                            <p:strVal val="#ppt_w+.3"/>
                                          </p:val>
                                        </p:tav>
                                        <p:tav tm="100000">
                                          <p:val>
                                            <p:strVal val="#ppt_w"/>
                                          </p:val>
                                        </p:tav>
                                      </p:tavLst>
                                    </p:anim>
                                    <p:anim calcmode="lin" valueType="num">
                                      <p:cBhvr>
                                        <p:cTn id="23" dur="1000" fill="hold"/>
                                        <p:tgtEl>
                                          <p:spTgt spid="36"/>
                                        </p:tgtEl>
                                        <p:attrNameLst>
                                          <p:attrName>ppt_h</p:attrName>
                                        </p:attrNameLst>
                                      </p:cBhvr>
                                      <p:tavLst>
                                        <p:tav tm="0">
                                          <p:val>
                                            <p:strVal val="#ppt_h"/>
                                          </p:val>
                                        </p:tav>
                                        <p:tav tm="100000">
                                          <p:val>
                                            <p:strVal val="#ppt_h"/>
                                          </p:val>
                                        </p:tav>
                                      </p:tavLst>
                                    </p:anim>
                                    <p:animEffect transition="in" filter="fade">
                                      <p:cBhvr>
                                        <p:cTn id="24" dur="1000"/>
                                        <p:tgtEl>
                                          <p:spTgt spid="36"/>
                                        </p:tgtEl>
                                      </p:cBhvr>
                                    </p:animEffect>
                                  </p:childTnLst>
                                </p:cTn>
                              </p:par>
                              <p:par>
                                <p:cTn id="25" presetID="50" presetClass="entr" presetSubtype="0" decel="100000" fill="hold" grpId="0" nodeType="withEffect">
                                  <p:stCondLst>
                                    <p:cond delay="600"/>
                                  </p:stCondLst>
                                  <p:childTnLst>
                                    <p:set>
                                      <p:cBhvr>
                                        <p:cTn id="26" dur="1" fill="hold">
                                          <p:stCondLst>
                                            <p:cond delay="0"/>
                                          </p:stCondLst>
                                        </p:cTn>
                                        <p:tgtEl>
                                          <p:spTgt spid="38"/>
                                        </p:tgtEl>
                                        <p:attrNameLst>
                                          <p:attrName>style.visibility</p:attrName>
                                        </p:attrNameLst>
                                      </p:cBhvr>
                                      <p:to>
                                        <p:strVal val="visible"/>
                                      </p:to>
                                    </p:set>
                                    <p:anim calcmode="lin" valueType="num">
                                      <p:cBhvr>
                                        <p:cTn id="27" dur="1000" fill="hold"/>
                                        <p:tgtEl>
                                          <p:spTgt spid="38"/>
                                        </p:tgtEl>
                                        <p:attrNameLst>
                                          <p:attrName>ppt_w</p:attrName>
                                        </p:attrNameLst>
                                      </p:cBhvr>
                                      <p:tavLst>
                                        <p:tav tm="0">
                                          <p:val>
                                            <p:strVal val="#ppt_w+.3"/>
                                          </p:val>
                                        </p:tav>
                                        <p:tav tm="100000">
                                          <p:val>
                                            <p:strVal val="#ppt_w"/>
                                          </p:val>
                                        </p:tav>
                                      </p:tavLst>
                                    </p:anim>
                                    <p:anim calcmode="lin" valueType="num">
                                      <p:cBhvr>
                                        <p:cTn id="28" dur="1000" fill="hold"/>
                                        <p:tgtEl>
                                          <p:spTgt spid="38"/>
                                        </p:tgtEl>
                                        <p:attrNameLst>
                                          <p:attrName>ppt_h</p:attrName>
                                        </p:attrNameLst>
                                      </p:cBhvr>
                                      <p:tavLst>
                                        <p:tav tm="0">
                                          <p:val>
                                            <p:strVal val="#ppt_h"/>
                                          </p:val>
                                        </p:tav>
                                        <p:tav tm="100000">
                                          <p:val>
                                            <p:strVal val="#ppt_h"/>
                                          </p:val>
                                        </p:tav>
                                      </p:tavLst>
                                    </p:anim>
                                    <p:animEffect transition="in" filter="fade">
                                      <p:cBhvr>
                                        <p:cTn id="29" dur="1000"/>
                                        <p:tgtEl>
                                          <p:spTgt spid="38"/>
                                        </p:tgtEl>
                                      </p:cBhvr>
                                    </p:animEffect>
                                  </p:childTnLst>
                                </p:cTn>
                              </p:par>
                              <p:par>
                                <p:cTn id="30" presetID="5" presetClass="entr" presetSubtype="10" fill="hold" grpId="0" nodeType="withEffect">
                                  <p:stCondLst>
                                    <p:cond delay="1400"/>
                                  </p:stCondLst>
                                  <p:childTnLst>
                                    <p:set>
                                      <p:cBhvr>
                                        <p:cTn id="31" dur="1" fill="hold">
                                          <p:stCondLst>
                                            <p:cond delay="0"/>
                                          </p:stCondLst>
                                        </p:cTn>
                                        <p:tgtEl>
                                          <p:spTgt spid="6"/>
                                        </p:tgtEl>
                                        <p:attrNameLst>
                                          <p:attrName>style.visibility</p:attrName>
                                        </p:attrNameLst>
                                      </p:cBhvr>
                                      <p:to>
                                        <p:strVal val="visible"/>
                                      </p:to>
                                    </p:set>
                                    <p:animEffect transition="in" filter="checkerboard(across)">
                                      <p:cBhvr>
                                        <p:cTn id="32" dur="700"/>
                                        <p:tgtEl>
                                          <p:spTgt spid="6"/>
                                        </p:tgtEl>
                                      </p:cBhvr>
                                    </p:animEffect>
                                  </p:childTnLst>
                                </p:cTn>
                              </p:par>
                              <p:par>
                                <p:cTn id="33" presetID="47" presetClass="entr" presetSubtype="0" fill="hold" grpId="0" nodeType="withEffect">
                                  <p:stCondLst>
                                    <p:cond delay="1900"/>
                                  </p:stCondLst>
                                  <p:childTnLst>
                                    <p:set>
                                      <p:cBhvr>
                                        <p:cTn id="34" dur="1" fill="hold">
                                          <p:stCondLst>
                                            <p:cond delay="0"/>
                                          </p:stCondLst>
                                        </p:cTn>
                                        <p:tgtEl>
                                          <p:spTgt spid="119"/>
                                        </p:tgtEl>
                                        <p:attrNameLst>
                                          <p:attrName>style.visibility</p:attrName>
                                        </p:attrNameLst>
                                      </p:cBhvr>
                                      <p:to>
                                        <p:strVal val="visible"/>
                                      </p:to>
                                    </p:set>
                                    <p:animEffect transition="in" filter="fade">
                                      <p:cBhvr>
                                        <p:cTn id="35" dur="1000"/>
                                        <p:tgtEl>
                                          <p:spTgt spid="119"/>
                                        </p:tgtEl>
                                      </p:cBhvr>
                                    </p:animEffect>
                                    <p:anim calcmode="lin" valueType="num">
                                      <p:cBhvr>
                                        <p:cTn id="36" dur="1000" fill="hold"/>
                                        <p:tgtEl>
                                          <p:spTgt spid="119"/>
                                        </p:tgtEl>
                                        <p:attrNameLst>
                                          <p:attrName>ppt_x</p:attrName>
                                        </p:attrNameLst>
                                      </p:cBhvr>
                                      <p:tavLst>
                                        <p:tav tm="0">
                                          <p:val>
                                            <p:strVal val="#ppt_x"/>
                                          </p:val>
                                        </p:tav>
                                        <p:tav tm="100000">
                                          <p:val>
                                            <p:strVal val="#ppt_x"/>
                                          </p:val>
                                        </p:tav>
                                      </p:tavLst>
                                    </p:anim>
                                    <p:anim calcmode="lin" valueType="num">
                                      <p:cBhvr>
                                        <p:cTn id="37" dur="1000" fill="hold"/>
                                        <p:tgtEl>
                                          <p:spTgt spid="1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4" grpId="0" animBg="1"/>
      <p:bldP spid="36" grpId="0" animBg="1"/>
      <p:bldP spid="38" grpId="0" animBg="1"/>
      <p:bldP spid="40" grpId="0" animBg="1"/>
      <p:bldP spid="6" grpId="0"/>
      <p:bldP spid="1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B30F-02AC-6340-9EA2-EFDE676F6BF0}"/>
              </a:ext>
            </a:extLst>
          </p:cNvPr>
          <p:cNvSpPr>
            <a:spLocks noGrp="1"/>
          </p:cNvSpPr>
          <p:nvPr>
            <p:ph type="title"/>
          </p:nvPr>
        </p:nvSpPr>
        <p:spPr/>
        <p:txBody>
          <a:bodyPr/>
          <a:lstStyle/>
          <a:p>
            <a:r>
              <a:rPr lang="en-US" dirty="0"/>
              <a:t>An Important Resource</a:t>
            </a:r>
          </a:p>
        </p:txBody>
      </p:sp>
      <p:sp>
        <p:nvSpPr>
          <p:cNvPr id="3" name="Content Placeholder 2">
            <a:extLst>
              <a:ext uri="{FF2B5EF4-FFF2-40B4-BE49-F238E27FC236}">
                <a16:creationId xmlns:a16="http://schemas.microsoft.com/office/drawing/2014/main" id="{C8013C06-8593-8E41-BBC8-47496F6DE4CB}"/>
              </a:ext>
            </a:extLst>
          </p:cNvPr>
          <p:cNvSpPr>
            <a:spLocks noGrp="1"/>
          </p:cNvSpPr>
          <p:nvPr>
            <p:ph idx="1"/>
          </p:nvPr>
        </p:nvSpPr>
        <p:spPr/>
        <p:txBody>
          <a:bodyPr>
            <a:normAutofit lnSpcReduction="10000"/>
          </a:bodyPr>
          <a:lstStyle/>
          <a:p>
            <a:r>
              <a:rPr lang="en-US" dirty="0"/>
              <a:t>Ideally you have already visited: </a:t>
            </a:r>
            <a:r>
              <a:rPr lang="en-US" dirty="0">
                <a:hlinkClick r:id="rId2">
                  <a:extLst>
                    <a:ext uri="{A12FA001-AC4F-418D-AE19-62706E023703}">
                      <ahyp:hlinkClr xmlns:ahyp="http://schemas.microsoft.com/office/drawing/2018/hyperlinkcolor" val="tx"/>
                    </a:ext>
                  </a:extLst>
                </a:hlinkClick>
              </a:rPr>
              <a:t>https://class.hillvt.com/</a:t>
            </a:r>
            <a:endParaRPr lang="en-US" dirty="0"/>
          </a:p>
          <a:p>
            <a:pPr lvl="1"/>
            <a:r>
              <a:rPr lang="en-US" dirty="0"/>
              <a:t>and found the page corresponding to our class</a:t>
            </a:r>
          </a:p>
          <a:p>
            <a:pPr lvl="1"/>
            <a:r>
              <a:rPr lang="en-US" dirty="0"/>
              <a:t>If you have not, please do it now, and bookmark that page</a:t>
            </a:r>
          </a:p>
          <a:p>
            <a:r>
              <a:rPr lang="en-US" dirty="0"/>
              <a:t>We use this site for file and knowledge sharing</a:t>
            </a:r>
          </a:p>
          <a:p>
            <a:r>
              <a:rPr lang="en-US" dirty="0"/>
              <a:t>We’ll put various things there for use during class</a:t>
            </a:r>
          </a:p>
          <a:p>
            <a:r>
              <a:rPr lang="en-US" dirty="0"/>
              <a:t>Nothing there is:</a:t>
            </a:r>
          </a:p>
          <a:p>
            <a:pPr lvl="1"/>
            <a:r>
              <a:rPr lang="en-US" dirty="0"/>
              <a:t>Required or mandatory, just maybe useful</a:t>
            </a:r>
          </a:p>
          <a:p>
            <a:pPr lvl="1"/>
            <a:r>
              <a:rPr lang="en-US" dirty="0"/>
              <a:t>Secret or confidential to FDIC or anyone else</a:t>
            </a:r>
          </a:p>
          <a:p>
            <a:r>
              <a:rPr lang="en-US" dirty="0"/>
              <a:t>It will disappear soon</a:t>
            </a:r>
          </a:p>
          <a:p>
            <a:pPr lvl="1"/>
            <a:r>
              <a:rPr lang="en-US" dirty="0"/>
              <a:t>We’ll leave it up for a week or so after class, so no real rush, but save what you want to keep.</a:t>
            </a:r>
          </a:p>
        </p:txBody>
      </p:sp>
    </p:spTree>
    <p:extLst>
      <p:ext uri="{BB962C8B-B14F-4D97-AF65-F5344CB8AC3E}">
        <p14:creationId xmlns:p14="http://schemas.microsoft.com/office/powerpoint/2010/main" val="1926978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EC74-64F7-6243-AE87-0F87E06D3322}"/>
              </a:ext>
            </a:extLst>
          </p:cNvPr>
          <p:cNvSpPr>
            <a:spLocks noGrp="1"/>
          </p:cNvSpPr>
          <p:nvPr>
            <p:ph type="title"/>
          </p:nvPr>
        </p:nvSpPr>
        <p:spPr/>
        <p:txBody>
          <a:bodyPr/>
          <a:lstStyle/>
          <a:p>
            <a:r>
              <a:rPr lang="en-US" dirty="0"/>
              <a:t>Time for introductions: Hi, I’m Matt</a:t>
            </a:r>
          </a:p>
        </p:txBody>
      </p:sp>
      <p:sp>
        <p:nvSpPr>
          <p:cNvPr id="3" name="Content Placeholder 2">
            <a:extLst>
              <a:ext uri="{FF2B5EF4-FFF2-40B4-BE49-F238E27FC236}">
                <a16:creationId xmlns:a16="http://schemas.microsoft.com/office/drawing/2014/main" id="{E655A964-69B0-CF45-9266-E88C84348EA0}"/>
              </a:ext>
            </a:extLst>
          </p:cNvPr>
          <p:cNvSpPr>
            <a:spLocks noGrp="1"/>
          </p:cNvSpPr>
          <p:nvPr>
            <p:ph idx="1"/>
          </p:nvPr>
        </p:nvSpPr>
        <p:spPr>
          <a:xfrm>
            <a:off x="1257300" y="2193130"/>
            <a:ext cx="15773400" cy="7456707"/>
          </a:xfrm>
        </p:spPr>
        <p:txBody>
          <a:bodyPr>
            <a:normAutofit lnSpcReduction="10000"/>
          </a:bodyPr>
          <a:lstStyle/>
          <a:p>
            <a:r>
              <a:rPr lang="en-US" dirty="0"/>
              <a:t>We have ~21 hours together this week. I’ll go first:</a:t>
            </a:r>
          </a:p>
          <a:p>
            <a:r>
              <a:rPr lang="en-US" dirty="0"/>
              <a:t>My name is </a:t>
            </a:r>
            <a:r>
              <a:rPr lang="en-US" b="1" dirty="0"/>
              <a:t>Matt Kolon</a:t>
            </a:r>
            <a:r>
              <a:rPr lang="en-US" dirty="0"/>
              <a:t>, I’m a Senior MTS at Hill Associates</a:t>
            </a:r>
          </a:p>
          <a:p>
            <a:pPr lvl="1"/>
            <a:r>
              <a:rPr lang="en-US" dirty="0"/>
              <a:t>I’m a long-time networking, telecom, and security nerd</a:t>
            </a:r>
          </a:p>
          <a:p>
            <a:pPr lvl="1"/>
            <a:r>
              <a:rPr lang="en-US" dirty="0"/>
              <a:t>I’ve worked for Cisco, Juniper, and Brocade as well as Hill</a:t>
            </a:r>
          </a:p>
          <a:p>
            <a:pPr lvl="1"/>
            <a:r>
              <a:rPr lang="en-US" dirty="0"/>
              <a:t>From 2005 to 2017 I lived in </a:t>
            </a:r>
            <a:r>
              <a:rPr lang="zh-TW" altLang="en-US" dirty="0"/>
              <a:t>香港</a:t>
            </a:r>
            <a:r>
              <a:rPr lang="en-US" dirty="0"/>
              <a:t>, </a:t>
            </a:r>
            <a:r>
              <a:rPr lang="zh-TW" altLang="en-US" dirty="0"/>
              <a:t>北京</a:t>
            </a:r>
            <a:r>
              <a:rPr lang="en-US" dirty="0"/>
              <a:t>, and </a:t>
            </a:r>
            <a:r>
              <a:rPr lang="zh-TW" altLang="en-US" dirty="0"/>
              <a:t>東京</a:t>
            </a:r>
            <a:endParaRPr lang="en-US" dirty="0"/>
          </a:p>
          <a:p>
            <a:pPr lvl="1"/>
            <a:r>
              <a:rPr lang="en-US" dirty="0"/>
              <a:t>Now I live in Underhill, Vermont where I ski and ride bikes a lot</a:t>
            </a:r>
          </a:p>
          <a:p>
            <a:pPr lvl="1"/>
            <a:r>
              <a:rPr lang="en-US" dirty="0"/>
              <a:t>It sounds like I’m pandering, but </a:t>
            </a:r>
            <a:r>
              <a:rPr lang="en-US" b="1" dirty="0">
                <a:solidFill>
                  <a:srgbClr val="FF0000"/>
                </a:solidFill>
              </a:rPr>
              <a:t>the FDIC is my favorite client!</a:t>
            </a:r>
            <a:r>
              <a:rPr lang="en-US" dirty="0"/>
              <a:t> </a:t>
            </a:r>
          </a:p>
          <a:p>
            <a:pPr lvl="2"/>
            <a:r>
              <a:rPr lang="en-US" dirty="0"/>
              <a:t>No, really!</a:t>
            </a:r>
          </a:p>
          <a:p>
            <a:pPr lvl="1"/>
            <a:endParaRPr lang="en-US" dirty="0"/>
          </a:p>
          <a:p>
            <a:r>
              <a:rPr lang="en-US" dirty="0"/>
              <a:t>I’ve had many bank and regulatory customers</a:t>
            </a:r>
          </a:p>
          <a:p>
            <a:pPr lvl="1"/>
            <a:r>
              <a:rPr lang="en-US" dirty="0"/>
              <a:t>I spent some time in the Reston / Herndon, VA area on various  agency and other government contracts</a:t>
            </a:r>
          </a:p>
          <a:p>
            <a:pPr lvl="1"/>
            <a:r>
              <a:rPr lang="en-US" dirty="0"/>
              <a:t>Projects ranged from engineering to policy to consulting</a:t>
            </a:r>
          </a:p>
        </p:txBody>
      </p:sp>
    </p:spTree>
    <p:extLst>
      <p:ext uri="{BB962C8B-B14F-4D97-AF65-F5344CB8AC3E}">
        <p14:creationId xmlns:p14="http://schemas.microsoft.com/office/powerpoint/2010/main" val="1369272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Introductions  </a:t>
            </a:r>
          </a:p>
        </p:txBody>
      </p:sp>
      <p:sp>
        <p:nvSpPr>
          <p:cNvPr id="3" name="Content Placeholder 2"/>
          <p:cNvSpPr>
            <a:spLocks noGrp="1"/>
          </p:cNvSpPr>
          <p:nvPr>
            <p:ph idx="1"/>
          </p:nvPr>
        </p:nvSpPr>
        <p:spPr/>
        <p:txBody>
          <a:bodyPr/>
          <a:lstStyle/>
          <a:p>
            <a:pPr marL="0" indent="0">
              <a:buNone/>
            </a:pPr>
            <a:r>
              <a:rPr lang="en-US" dirty="0"/>
              <a:t>Now it’s your turn:</a:t>
            </a:r>
            <a:endParaRPr lang="en-US" i="1" dirty="0">
              <a:solidFill>
                <a:schemeClr val="accent6"/>
              </a:solidFill>
            </a:endParaRPr>
          </a:p>
          <a:p>
            <a:pPr marL="0" indent="0">
              <a:buNone/>
            </a:pPr>
            <a:endParaRPr lang="en-US" dirty="0"/>
          </a:p>
          <a:p>
            <a:r>
              <a:rPr lang="en-US" dirty="0"/>
              <a:t>Name and location</a:t>
            </a:r>
          </a:p>
          <a:p>
            <a:r>
              <a:rPr lang="en-US" dirty="0"/>
              <a:t>Function or position: Risk Management Examiner? </a:t>
            </a:r>
            <a:br>
              <a:rPr lang="en-US" dirty="0"/>
            </a:br>
            <a:r>
              <a:rPr lang="en-US" dirty="0"/>
              <a:t>IT Examiner? S&amp;S? ITEA? Something else?</a:t>
            </a:r>
          </a:p>
          <a:p>
            <a:r>
              <a:rPr lang="en-US" dirty="0"/>
              <a:t>Any experience in cybersecurity topics?</a:t>
            </a:r>
          </a:p>
          <a:p>
            <a:r>
              <a:rPr lang="en-US" dirty="0"/>
              <a:t>What would you like to learn this week?</a:t>
            </a:r>
          </a:p>
        </p:txBody>
      </p:sp>
      <p:pic>
        <p:nvPicPr>
          <p:cNvPr id="7" name="Picture 2" descr="C:\Users\MSteinberg\AppData\Local\Microsoft\Windows\Temporary Internet Files\Content.IE5\Z276SUW9\MP900442479[1].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4102206" y="4969002"/>
            <a:ext cx="3156759" cy="4735139"/>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698778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9698" name="Rectangle 2"/>
          <p:cNvSpPr>
            <a:spLocks noGrp="1" noChangeArrowheads="1"/>
          </p:cNvSpPr>
          <p:nvPr>
            <p:ph type="title"/>
          </p:nvPr>
        </p:nvSpPr>
        <p:spPr/>
        <p:txBody>
          <a:bodyPr/>
          <a:lstStyle/>
          <a:p>
            <a:r>
              <a:rPr lang="en-US" dirty="0"/>
              <a:t>Classroom Ops</a:t>
            </a:r>
          </a:p>
        </p:txBody>
      </p:sp>
      <p:sp>
        <p:nvSpPr>
          <p:cNvPr id="3869699" name="Rectangle 3"/>
          <p:cNvSpPr>
            <a:spLocks noGrp="1" noChangeArrowheads="1"/>
          </p:cNvSpPr>
          <p:nvPr>
            <p:ph idx="1"/>
          </p:nvPr>
        </p:nvSpPr>
        <p:spPr>
          <a:xfrm>
            <a:off x="1257299" y="2193130"/>
            <a:ext cx="14301789" cy="7703345"/>
          </a:xfrm>
        </p:spPr>
        <p:txBody>
          <a:bodyPr>
            <a:normAutofit lnSpcReduction="10000"/>
          </a:bodyPr>
          <a:lstStyle/>
          <a:p>
            <a:r>
              <a:rPr lang="en-US" dirty="0"/>
              <a:t>Class runs 8:30-4:30 each day</a:t>
            </a:r>
          </a:p>
          <a:p>
            <a:r>
              <a:rPr lang="en-US" dirty="0"/>
              <a:t>First ~10 min break around 10, hourly thereafter</a:t>
            </a:r>
          </a:p>
          <a:p>
            <a:r>
              <a:rPr lang="en-US" dirty="0"/>
              <a:t>Lunch around noon unless we decide otherwise</a:t>
            </a:r>
          </a:p>
          <a:p>
            <a:r>
              <a:rPr lang="en-US" dirty="0"/>
              <a:t>Please limit distractions and stay tuned in</a:t>
            </a:r>
          </a:p>
          <a:p>
            <a:r>
              <a:rPr lang="en-US" dirty="0"/>
              <a:t>If you need to leave/disconnect/drop, do so quietly</a:t>
            </a:r>
          </a:p>
          <a:p>
            <a:r>
              <a:rPr lang="en-US" dirty="0"/>
              <a:t>Check with FDIC class admin regarding significant absences, they determine class credit</a:t>
            </a:r>
          </a:p>
          <a:p>
            <a:r>
              <a:rPr lang="en-US" i="1" dirty="0">
                <a:solidFill>
                  <a:srgbClr val="E23A30"/>
                </a:solidFill>
              </a:rPr>
              <a:t>Any specific products/services mentioned are meant </a:t>
            </a:r>
            <a:br>
              <a:rPr lang="en-US" i="1" dirty="0">
                <a:solidFill>
                  <a:srgbClr val="E23A30"/>
                </a:solidFill>
              </a:rPr>
            </a:br>
            <a:r>
              <a:rPr lang="en-US" i="1" dirty="0">
                <a:solidFill>
                  <a:srgbClr val="E23A30"/>
                </a:solidFill>
              </a:rPr>
              <a:t>as examples, not endorsements</a:t>
            </a:r>
          </a:p>
          <a:p>
            <a:r>
              <a:rPr lang="en-US" i="1" dirty="0">
                <a:solidFill>
                  <a:srgbClr val="E23A30"/>
                </a:solidFill>
              </a:rPr>
              <a:t>I’ve worked for Juniper, Cisco, and Broadcom in the past, but have no ties to or investments in them now </a:t>
            </a:r>
          </a:p>
          <a:p>
            <a:pPr marL="0" indent="0">
              <a:buNone/>
            </a:pPr>
            <a:endParaRPr lang="en-US" dirty="0"/>
          </a:p>
        </p:txBody>
      </p:sp>
      <p:pic>
        <p:nvPicPr>
          <p:cNvPr id="6" name="Picture 1" descr="C:\Users\AWalkden.HILL\AppData\Local\Temp\boss_holding_watch_clip_400_clr.png"/>
          <p:cNvPicPr>
            <a:picLocks noChangeAspect="1" noChangeArrowheads="1"/>
          </p:cNvPicPr>
          <p:nvPr/>
        </p:nvPicPr>
        <p:blipFill>
          <a:blip r:embed="rId4" cstate="print"/>
          <a:srcRect/>
          <a:stretch>
            <a:fillRect/>
          </a:stretch>
        </p:blipFill>
        <p:spPr bwMode="auto">
          <a:xfrm>
            <a:off x="15780544" y="2779569"/>
            <a:ext cx="2500313" cy="5715000"/>
          </a:xfrm>
          <a:prstGeom prst="rect">
            <a:avLst/>
          </a:prstGeom>
          <a:noFill/>
        </p:spPr>
      </p:pic>
    </p:spTree>
    <p:custDataLst>
      <p:tags r:id="rId1"/>
    </p:custDataLst>
    <p:extLst>
      <p:ext uri="{BB962C8B-B14F-4D97-AF65-F5344CB8AC3E}">
        <p14:creationId xmlns:p14="http://schemas.microsoft.com/office/powerpoint/2010/main" val="3592050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9698" name="Rectangle 2"/>
          <p:cNvSpPr>
            <a:spLocks noGrp="1" noChangeArrowheads="1"/>
          </p:cNvSpPr>
          <p:nvPr>
            <p:ph type="title"/>
          </p:nvPr>
        </p:nvSpPr>
        <p:spPr/>
        <p:txBody>
          <a:bodyPr/>
          <a:lstStyle/>
          <a:p>
            <a:r>
              <a:rPr lang="en-US" dirty="0"/>
              <a:t>Reviews and Exercises</a:t>
            </a:r>
          </a:p>
        </p:txBody>
      </p:sp>
      <p:sp>
        <p:nvSpPr>
          <p:cNvPr id="3869699" name="Rectangle 3"/>
          <p:cNvSpPr>
            <a:spLocks noGrp="1" noChangeArrowheads="1"/>
          </p:cNvSpPr>
          <p:nvPr>
            <p:ph idx="1"/>
          </p:nvPr>
        </p:nvSpPr>
        <p:spPr>
          <a:xfrm>
            <a:off x="1257300" y="2193130"/>
            <a:ext cx="15773400" cy="7560469"/>
          </a:xfrm>
        </p:spPr>
        <p:txBody>
          <a:bodyPr>
            <a:normAutofit fontScale="92500" lnSpcReduction="10000"/>
          </a:bodyPr>
          <a:lstStyle/>
          <a:p>
            <a:r>
              <a:rPr lang="en-US" dirty="0"/>
              <a:t>Bring any questions to class each morning</a:t>
            </a:r>
          </a:p>
          <a:p>
            <a:r>
              <a:rPr lang="en-US" dirty="0"/>
              <a:t>We do a morning review of the previous day’s materials</a:t>
            </a:r>
          </a:p>
          <a:p>
            <a:r>
              <a:rPr lang="en-US" dirty="0"/>
              <a:t>We’ll also review whatever’s new on the web page</a:t>
            </a:r>
          </a:p>
          <a:p>
            <a:r>
              <a:rPr lang="en-US" dirty="0"/>
              <a:t>Group exercises augment learning and knowledge, so we have three this week:</a:t>
            </a:r>
          </a:p>
          <a:p>
            <a:pPr lvl="1"/>
            <a:r>
              <a:rPr lang="en-US" dirty="0"/>
              <a:t>Pine Valley Network Design Review</a:t>
            </a:r>
          </a:p>
          <a:p>
            <a:pPr lvl="2"/>
            <a:r>
              <a:rPr lang="en-US" dirty="0"/>
              <a:t>Review a branch network for Pine Valley.</a:t>
            </a:r>
          </a:p>
          <a:p>
            <a:pPr lvl="1"/>
            <a:r>
              <a:rPr lang="en-US" dirty="0"/>
              <a:t>Find us a Small Bank Firewall</a:t>
            </a:r>
          </a:p>
          <a:p>
            <a:pPr lvl="2"/>
            <a:r>
              <a:rPr lang="en-US" dirty="0"/>
              <a:t>Recommend a firewall for the bank to buy or lease.</a:t>
            </a:r>
          </a:p>
          <a:p>
            <a:pPr lvl="1"/>
            <a:r>
              <a:rPr lang="en-US" dirty="0"/>
              <a:t>Build your exam toolkit</a:t>
            </a:r>
          </a:p>
          <a:p>
            <a:pPr lvl="2"/>
            <a:r>
              <a:rPr lang="en-US" dirty="0"/>
              <a:t>Imagine what you’d ask and request in an exam</a:t>
            </a:r>
          </a:p>
          <a:p>
            <a:r>
              <a:rPr lang="en-US" dirty="0"/>
              <a:t>We sometimes also make up other fun activities as we go</a:t>
            </a:r>
          </a:p>
          <a:p>
            <a:pPr lvl="1"/>
            <a:r>
              <a:rPr lang="en-US" dirty="0"/>
              <a:t>If you want to suggest something, please do!</a:t>
            </a:r>
          </a:p>
        </p:txBody>
      </p:sp>
      <p:pic>
        <p:nvPicPr>
          <p:cNvPr id="8" name="Picture 3" descr="C:\Users\AWalkden.HILL\AppData\Local\Temp\pencil_draw_checkmark_yellow_clipboard_400_clr.png" hidden="1"/>
          <p:cNvPicPr>
            <a:picLocks noChangeAspect="1" noChangeArrowheads="1"/>
          </p:cNvPicPr>
          <p:nvPr/>
        </p:nvPicPr>
        <p:blipFill>
          <a:blip r:embed="rId4" cstate="print"/>
          <a:srcRect/>
          <a:stretch>
            <a:fillRect/>
          </a:stretch>
        </p:blipFill>
        <p:spPr bwMode="auto">
          <a:xfrm>
            <a:off x="10287000" y="5286375"/>
            <a:ext cx="5715000" cy="5000625"/>
          </a:xfrm>
          <a:prstGeom prst="rect">
            <a:avLst/>
          </a:prstGeom>
          <a:noFill/>
        </p:spPr>
      </p:pic>
    </p:spTree>
    <p:custDataLst>
      <p:tags r:id="rId1"/>
    </p:custDataLst>
    <p:extLst>
      <p:ext uri="{BB962C8B-B14F-4D97-AF65-F5344CB8AC3E}">
        <p14:creationId xmlns:p14="http://schemas.microsoft.com/office/powerpoint/2010/main" val="1856666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DC127-3BF1-B2AC-7975-6107A588BCC0}"/>
              </a:ext>
            </a:extLst>
          </p:cNvPr>
          <p:cNvSpPr>
            <a:spLocks noGrp="1"/>
          </p:cNvSpPr>
          <p:nvPr>
            <p:ph type="title"/>
          </p:nvPr>
        </p:nvSpPr>
        <p:spPr/>
        <p:txBody>
          <a:bodyPr/>
          <a:lstStyle/>
          <a:p>
            <a:r>
              <a:rPr lang="en-US" dirty="0"/>
              <a:t>Course Roadmap</a:t>
            </a:r>
          </a:p>
        </p:txBody>
      </p:sp>
      <p:sp>
        <p:nvSpPr>
          <p:cNvPr id="4" name="Content Placeholder 3">
            <a:extLst>
              <a:ext uri="{FF2B5EF4-FFF2-40B4-BE49-F238E27FC236}">
                <a16:creationId xmlns:a16="http://schemas.microsoft.com/office/drawing/2014/main" id="{49671FE5-6C46-987C-D0E0-5529236D5AD2}"/>
              </a:ext>
            </a:extLst>
          </p:cNvPr>
          <p:cNvSpPr>
            <a:spLocks noGrp="1"/>
          </p:cNvSpPr>
          <p:nvPr>
            <p:ph idx="1"/>
          </p:nvPr>
        </p:nvSpPr>
        <p:spPr>
          <a:xfrm>
            <a:off x="1695450" y="8686799"/>
            <a:ext cx="15773400" cy="702129"/>
          </a:xfrm>
        </p:spPr>
        <p:txBody>
          <a:bodyPr>
            <a:normAutofit fontScale="92500"/>
          </a:bodyPr>
          <a:lstStyle/>
          <a:p>
            <a:r>
              <a:rPr lang="en-US" dirty="0"/>
              <a:t>What else would might you expect, or want to cover, this week?</a:t>
            </a:r>
          </a:p>
        </p:txBody>
      </p:sp>
      <p:graphicFrame>
        <p:nvGraphicFramePr>
          <p:cNvPr id="5" name="Table 4">
            <a:extLst>
              <a:ext uri="{FF2B5EF4-FFF2-40B4-BE49-F238E27FC236}">
                <a16:creationId xmlns:a16="http://schemas.microsoft.com/office/drawing/2014/main" id="{4E09C60F-C2CB-AE59-767A-7778A2D90F40}"/>
              </a:ext>
            </a:extLst>
          </p:cNvPr>
          <p:cNvGraphicFramePr>
            <a:graphicFrameLocks noGrp="1"/>
          </p:cNvGraphicFramePr>
          <p:nvPr>
            <p:extLst>
              <p:ext uri="{D42A27DB-BD31-4B8C-83A1-F6EECF244321}">
                <p14:modId xmlns:p14="http://schemas.microsoft.com/office/powerpoint/2010/main" val="1820474420"/>
              </p:ext>
            </p:extLst>
          </p:nvPr>
        </p:nvGraphicFramePr>
        <p:xfrm>
          <a:off x="1476792" y="2093316"/>
          <a:ext cx="15773400" cy="6285288"/>
        </p:xfrm>
        <a:graphic>
          <a:graphicData uri="http://schemas.openxmlformats.org/drawingml/2006/table">
            <a:tbl>
              <a:tblPr firstRow="1" bandRow="1">
                <a:tableStyleId>{5C22544A-7EE6-4342-B048-85BDC9FD1C3A}</a:tableStyleId>
              </a:tblPr>
              <a:tblGrid>
                <a:gridCol w="1370908">
                  <a:extLst>
                    <a:ext uri="{9D8B030D-6E8A-4147-A177-3AD203B41FA5}">
                      <a16:colId xmlns:a16="http://schemas.microsoft.com/office/drawing/2014/main" val="20000"/>
                    </a:ext>
                  </a:extLst>
                </a:gridCol>
                <a:gridCol w="3637201">
                  <a:extLst>
                    <a:ext uri="{9D8B030D-6E8A-4147-A177-3AD203B41FA5}">
                      <a16:colId xmlns:a16="http://schemas.microsoft.com/office/drawing/2014/main" val="20001"/>
                    </a:ext>
                  </a:extLst>
                </a:gridCol>
                <a:gridCol w="10765291">
                  <a:extLst>
                    <a:ext uri="{9D8B030D-6E8A-4147-A177-3AD203B41FA5}">
                      <a16:colId xmlns:a16="http://schemas.microsoft.com/office/drawing/2014/main" val="20002"/>
                    </a:ext>
                  </a:extLst>
                </a:gridCol>
              </a:tblGrid>
              <a:tr h="523292">
                <a:tc>
                  <a:txBody>
                    <a:bodyPr/>
                    <a:lstStyle/>
                    <a:p>
                      <a:pPr algn="ctr">
                        <a:defRPr sz="1900" b="1">
                          <a:latin typeface="Helvetica Neue"/>
                        </a:defRPr>
                      </a:pPr>
                      <a:r>
                        <a:rPr sz="2800" dirty="0"/>
                        <a:t>Ch</a:t>
                      </a:r>
                    </a:p>
                  </a:txBody>
                  <a:tcPr anchor="ctr"/>
                </a:tc>
                <a:tc>
                  <a:txBody>
                    <a:bodyPr/>
                    <a:lstStyle/>
                    <a:p>
                      <a:pPr algn="ctr">
                        <a:defRPr sz="1900" b="1">
                          <a:latin typeface="Helvetica Neue"/>
                        </a:defRPr>
                      </a:pPr>
                      <a:r>
                        <a:rPr sz="2800"/>
                        <a:t>Topic</a:t>
                      </a:r>
                    </a:p>
                  </a:txBody>
                  <a:tcPr anchor="ctr"/>
                </a:tc>
                <a:tc>
                  <a:txBody>
                    <a:bodyPr/>
                    <a:lstStyle/>
                    <a:p>
                      <a:pPr algn="ctr">
                        <a:defRPr sz="1900" b="1">
                          <a:latin typeface="Helvetica Neue"/>
                        </a:defRPr>
                      </a:pPr>
                      <a:r>
                        <a:rPr sz="2800" dirty="0"/>
                        <a:t>Purpose</a:t>
                      </a:r>
                    </a:p>
                  </a:txBody>
                  <a:tcPr anchor="ctr"/>
                </a:tc>
                <a:extLst>
                  <a:ext uri="{0D108BD9-81ED-4DB2-BD59-A6C34878D82A}">
                    <a16:rowId xmlns:a16="http://schemas.microsoft.com/office/drawing/2014/main" val="10000"/>
                  </a:ext>
                </a:extLst>
              </a:tr>
              <a:tr h="523292">
                <a:tc>
                  <a:txBody>
                    <a:bodyPr/>
                    <a:lstStyle/>
                    <a:p>
                      <a:pPr algn="ctr">
                        <a:defRPr sz="1650">
                          <a:latin typeface="Helvetica Neue"/>
                        </a:defRPr>
                      </a:pPr>
                      <a:r>
                        <a:rPr sz="2400"/>
                        <a:t>1</a:t>
                      </a:r>
                    </a:p>
                  </a:txBody>
                  <a:tcPr marL="73152" marR="73152" marT="27432" marB="27432" anchor="ctr"/>
                </a:tc>
                <a:tc>
                  <a:txBody>
                    <a:bodyPr/>
                    <a:lstStyle/>
                    <a:p>
                      <a:pPr algn="l">
                        <a:defRPr sz="1650">
                          <a:latin typeface="Helvetica Neue"/>
                        </a:defRPr>
                      </a:pPr>
                      <a:r>
                        <a:rPr sz="2400"/>
                        <a:t>Introduction</a:t>
                      </a:r>
                    </a:p>
                  </a:txBody>
                  <a:tcPr marL="73152" marR="73152" marT="27432" marB="27432" anchor="ctr"/>
                </a:tc>
                <a:tc>
                  <a:txBody>
                    <a:bodyPr/>
                    <a:lstStyle/>
                    <a:p>
                      <a:pPr algn="l">
                        <a:defRPr sz="1650">
                          <a:latin typeface="Helvetica Neue"/>
                        </a:defRPr>
                      </a:pPr>
                      <a:r>
                        <a:rPr sz="2400"/>
                        <a:t>Establish the bank, examiner perspective, and course framework.</a:t>
                      </a:r>
                    </a:p>
                  </a:txBody>
                  <a:tcPr marL="73152" marR="73152" marT="27432" marB="27432" anchor="ctr"/>
                </a:tc>
                <a:extLst>
                  <a:ext uri="{0D108BD9-81ED-4DB2-BD59-A6C34878D82A}">
                    <a16:rowId xmlns:a16="http://schemas.microsoft.com/office/drawing/2014/main" val="10001"/>
                  </a:ext>
                </a:extLst>
              </a:tr>
              <a:tr h="523292">
                <a:tc>
                  <a:txBody>
                    <a:bodyPr/>
                    <a:lstStyle/>
                    <a:p>
                      <a:pPr algn="ctr">
                        <a:defRPr sz="1650">
                          <a:latin typeface="Helvetica Neue"/>
                        </a:defRPr>
                      </a:pPr>
                      <a:r>
                        <a:rPr sz="2400"/>
                        <a:t>2</a:t>
                      </a:r>
                    </a:p>
                  </a:txBody>
                  <a:tcPr marL="73152" marR="73152" marT="27432" marB="27432" anchor="ctr"/>
                </a:tc>
                <a:tc>
                  <a:txBody>
                    <a:bodyPr/>
                    <a:lstStyle/>
                    <a:p>
                      <a:pPr algn="l">
                        <a:defRPr sz="1650">
                          <a:latin typeface="Helvetica Neue"/>
                        </a:defRPr>
                      </a:pPr>
                      <a:r>
                        <a:rPr sz="2400"/>
                        <a:t>Networking</a:t>
                      </a:r>
                    </a:p>
                  </a:txBody>
                  <a:tcPr marL="73152" marR="73152" marT="27432" marB="27432" anchor="ctr"/>
                </a:tc>
                <a:tc>
                  <a:txBody>
                    <a:bodyPr/>
                    <a:lstStyle/>
                    <a:p>
                      <a:pPr algn="l">
                        <a:defRPr sz="1650">
                          <a:latin typeface="Helvetica Neue"/>
                        </a:defRPr>
                      </a:pPr>
                      <a:r>
                        <a:rPr lang="en-US" sz="2400" dirty="0"/>
                        <a:t>H</a:t>
                      </a:r>
                      <a:r>
                        <a:rPr sz="2400" dirty="0"/>
                        <a:t>ow bank information moves across networks and where controls fit.</a:t>
                      </a:r>
                    </a:p>
                  </a:txBody>
                  <a:tcPr marL="73152" marR="73152" marT="27432" marB="27432" anchor="ctr"/>
                </a:tc>
                <a:extLst>
                  <a:ext uri="{0D108BD9-81ED-4DB2-BD59-A6C34878D82A}">
                    <a16:rowId xmlns:a16="http://schemas.microsoft.com/office/drawing/2014/main" val="10002"/>
                  </a:ext>
                </a:extLst>
              </a:tr>
              <a:tr h="523292">
                <a:tc>
                  <a:txBody>
                    <a:bodyPr/>
                    <a:lstStyle/>
                    <a:p>
                      <a:pPr algn="ctr">
                        <a:defRPr sz="1650">
                          <a:latin typeface="Helvetica Neue"/>
                        </a:defRPr>
                      </a:pPr>
                      <a:r>
                        <a:rPr sz="2400"/>
                        <a:t>3</a:t>
                      </a:r>
                    </a:p>
                  </a:txBody>
                  <a:tcPr marL="73152" marR="73152" marT="27432" marB="27432" anchor="ctr"/>
                </a:tc>
                <a:tc>
                  <a:txBody>
                    <a:bodyPr/>
                    <a:lstStyle/>
                    <a:p>
                      <a:pPr algn="l">
                        <a:defRPr sz="1650">
                          <a:latin typeface="Helvetica Neue"/>
                        </a:defRPr>
                      </a:pPr>
                      <a:r>
                        <a:rPr sz="2400"/>
                        <a:t>Firewalls</a:t>
                      </a:r>
                    </a:p>
                  </a:txBody>
                  <a:tcPr marL="73152" marR="73152" marT="27432" marB="27432" anchor="ctr"/>
                </a:tc>
                <a:tc>
                  <a:txBody>
                    <a:bodyPr/>
                    <a:lstStyle/>
                    <a:p>
                      <a:pPr algn="l">
                        <a:defRPr sz="1650">
                          <a:latin typeface="Helvetica Neue"/>
                        </a:defRPr>
                      </a:pPr>
                      <a:r>
                        <a:rPr sz="2400" dirty="0"/>
                        <a:t>Understand what modern firewalls do and how banks manage firewall risk.</a:t>
                      </a:r>
                    </a:p>
                  </a:txBody>
                  <a:tcPr marL="73152" marR="73152" marT="27432" marB="27432" anchor="ctr"/>
                </a:tc>
                <a:extLst>
                  <a:ext uri="{0D108BD9-81ED-4DB2-BD59-A6C34878D82A}">
                    <a16:rowId xmlns:a16="http://schemas.microsoft.com/office/drawing/2014/main" val="10003"/>
                  </a:ext>
                </a:extLst>
              </a:tr>
              <a:tr h="685151">
                <a:tc>
                  <a:txBody>
                    <a:bodyPr/>
                    <a:lstStyle/>
                    <a:p>
                      <a:pPr algn="ctr">
                        <a:defRPr sz="1650">
                          <a:latin typeface="Helvetica Neue"/>
                        </a:defRPr>
                      </a:pPr>
                      <a:r>
                        <a:rPr sz="2400"/>
                        <a:t>4</a:t>
                      </a:r>
                    </a:p>
                  </a:txBody>
                  <a:tcPr marL="73152" marR="73152" marT="27432" marB="27432" anchor="ctr"/>
                </a:tc>
                <a:tc>
                  <a:txBody>
                    <a:bodyPr/>
                    <a:lstStyle/>
                    <a:p>
                      <a:pPr algn="l">
                        <a:defRPr sz="1650">
                          <a:latin typeface="Helvetica Neue"/>
                        </a:defRPr>
                      </a:pPr>
                      <a:r>
                        <a:rPr sz="2400"/>
                        <a:t>Threats</a:t>
                      </a:r>
                    </a:p>
                  </a:txBody>
                  <a:tcPr marL="73152" marR="73152" marT="27432" marB="27432" anchor="ctr"/>
                </a:tc>
                <a:tc>
                  <a:txBody>
                    <a:bodyPr/>
                    <a:lstStyle/>
                    <a:p>
                      <a:pPr algn="l">
                        <a:defRPr sz="1650">
                          <a:latin typeface="Helvetica Neue"/>
                        </a:defRPr>
                      </a:pPr>
                      <a:r>
                        <a:rPr sz="2400" dirty="0"/>
                        <a:t>Recognize important network threats, including DoS/DDoS, and the controls used against them.</a:t>
                      </a:r>
                    </a:p>
                  </a:txBody>
                  <a:tcPr marL="73152" marR="73152" marT="27432" marB="27432" anchor="ctr"/>
                </a:tc>
                <a:extLst>
                  <a:ext uri="{0D108BD9-81ED-4DB2-BD59-A6C34878D82A}">
                    <a16:rowId xmlns:a16="http://schemas.microsoft.com/office/drawing/2014/main" val="10004"/>
                  </a:ext>
                </a:extLst>
              </a:tr>
              <a:tr h="523292">
                <a:tc>
                  <a:txBody>
                    <a:bodyPr/>
                    <a:lstStyle/>
                    <a:p>
                      <a:pPr algn="ctr">
                        <a:defRPr sz="1650">
                          <a:latin typeface="Helvetica Neue"/>
                        </a:defRPr>
                      </a:pPr>
                      <a:r>
                        <a:rPr sz="2400"/>
                        <a:t>5</a:t>
                      </a:r>
                    </a:p>
                  </a:txBody>
                  <a:tcPr marL="73152" marR="73152" marT="27432" marB="27432" anchor="ctr"/>
                </a:tc>
                <a:tc>
                  <a:txBody>
                    <a:bodyPr/>
                    <a:lstStyle/>
                    <a:p>
                      <a:pPr algn="l">
                        <a:defRPr sz="1650">
                          <a:latin typeface="Helvetica Neue"/>
                        </a:defRPr>
                      </a:pPr>
                      <a:r>
                        <a:rPr sz="2400"/>
                        <a:t>Segmentation</a:t>
                      </a:r>
                    </a:p>
                  </a:txBody>
                  <a:tcPr marL="73152" marR="73152" marT="27432" marB="27432" anchor="ctr"/>
                </a:tc>
                <a:tc>
                  <a:txBody>
                    <a:bodyPr/>
                    <a:lstStyle/>
                    <a:p>
                      <a:pPr algn="l">
                        <a:defRPr sz="1650">
                          <a:latin typeface="Helvetica Neue"/>
                        </a:defRPr>
                      </a:pPr>
                      <a:r>
                        <a:rPr lang="en-US" sz="2400" dirty="0"/>
                        <a:t>How </a:t>
                      </a:r>
                      <a:r>
                        <a:rPr sz="2400" dirty="0"/>
                        <a:t>banks limit communication and contain risk within the network.</a:t>
                      </a:r>
                    </a:p>
                  </a:txBody>
                  <a:tcPr marL="73152" marR="73152" marT="27432" marB="27432" anchor="ctr"/>
                </a:tc>
                <a:extLst>
                  <a:ext uri="{0D108BD9-81ED-4DB2-BD59-A6C34878D82A}">
                    <a16:rowId xmlns:a16="http://schemas.microsoft.com/office/drawing/2014/main" val="10005"/>
                  </a:ext>
                </a:extLst>
              </a:tr>
              <a:tr h="523292">
                <a:tc>
                  <a:txBody>
                    <a:bodyPr/>
                    <a:lstStyle/>
                    <a:p>
                      <a:pPr algn="ctr">
                        <a:defRPr sz="1650">
                          <a:latin typeface="Helvetica Neue"/>
                        </a:defRPr>
                      </a:pPr>
                      <a:r>
                        <a:rPr sz="2400"/>
                        <a:t>6</a:t>
                      </a:r>
                    </a:p>
                  </a:txBody>
                  <a:tcPr marL="73152" marR="73152" marT="27432" marB="27432" anchor="ctr"/>
                </a:tc>
                <a:tc>
                  <a:txBody>
                    <a:bodyPr/>
                    <a:lstStyle/>
                    <a:p>
                      <a:pPr algn="l">
                        <a:defRPr sz="1650">
                          <a:latin typeface="Helvetica Neue"/>
                        </a:defRPr>
                      </a:pPr>
                      <a:r>
                        <a:rPr sz="2400"/>
                        <a:t>Availability</a:t>
                      </a:r>
                    </a:p>
                  </a:txBody>
                  <a:tcPr marL="73152" marR="73152" marT="27432" marB="27432" anchor="ctr"/>
                </a:tc>
                <a:tc>
                  <a:txBody>
                    <a:bodyPr/>
                    <a:lstStyle/>
                    <a:p>
                      <a:pPr algn="l">
                        <a:defRPr sz="1650">
                          <a:latin typeface="Helvetica Neue"/>
                        </a:defRPr>
                      </a:pPr>
                      <a:r>
                        <a:rPr lang="en-US" sz="2400" dirty="0"/>
                        <a:t>How </a:t>
                      </a:r>
                      <a:r>
                        <a:rPr sz="2400" dirty="0"/>
                        <a:t>firewalls and related controls support resilient banking services.</a:t>
                      </a:r>
                    </a:p>
                  </a:txBody>
                  <a:tcPr marL="73152" marR="73152" marT="27432" marB="27432" anchor="ctr"/>
                </a:tc>
                <a:extLst>
                  <a:ext uri="{0D108BD9-81ED-4DB2-BD59-A6C34878D82A}">
                    <a16:rowId xmlns:a16="http://schemas.microsoft.com/office/drawing/2014/main" val="10006"/>
                  </a:ext>
                </a:extLst>
              </a:tr>
              <a:tr h="685151">
                <a:tc>
                  <a:txBody>
                    <a:bodyPr/>
                    <a:lstStyle/>
                    <a:p>
                      <a:pPr algn="ctr">
                        <a:defRPr sz="1650">
                          <a:latin typeface="Helvetica Neue"/>
                        </a:defRPr>
                      </a:pPr>
                      <a:r>
                        <a:rPr sz="2400"/>
                        <a:t>7</a:t>
                      </a:r>
                    </a:p>
                  </a:txBody>
                  <a:tcPr marL="73152" marR="73152" marT="27432" marB="27432" anchor="ctr"/>
                </a:tc>
                <a:tc>
                  <a:txBody>
                    <a:bodyPr/>
                    <a:lstStyle/>
                    <a:p>
                      <a:pPr algn="l">
                        <a:defRPr sz="1650">
                          <a:latin typeface="Helvetica Neue"/>
                        </a:defRPr>
                      </a:pPr>
                      <a:r>
                        <a:rPr sz="2400"/>
                        <a:t>Monitoring</a:t>
                      </a:r>
                    </a:p>
                  </a:txBody>
                  <a:tcPr marL="73152" marR="73152" marT="27432" marB="27432" anchor="ctr"/>
                </a:tc>
                <a:tc>
                  <a:txBody>
                    <a:bodyPr/>
                    <a:lstStyle/>
                    <a:p>
                      <a:pPr algn="l">
                        <a:defRPr sz="1650">
                          <a:latin typeface="Helvetica Neue"/>
                        </a:defRPr>
                      </a:pPr>
                      <a:r>
                        <a:rPr sz="2400" dirty="0"/>
                        <a:t>Understand how logs, alerts, and monitoring help banks detect events requiring attention.</a:t>
                      </a:r>
                    </a:p>
                  </a:txBody>
                  <a:tcPr marL="73152" marR="73152" marT="27432" marB="27432" anchor="ctr"/>
                </a:tc>
                <a:extLst>
                  <a:ext uri="{0D108BD9-81ED-4DB2-BD59-A6C34878D82A}">
                    <a16:rowId xmlns:a16="http://schemas.microsoft.com/office/drawing/2014/main" val="10007"/>
                  </a:ext>
                </a:extLst>
              </a:tr>
              <a:tr h="685151">
                <a:tc>
                  <a:txBody>
                    <a:bodyPr/>
                    <a:lstStyle/>
                    <a:p>
                      <a:pPr algn="ctr">
                        <a:defRPr sz="1650">
                          <a:latin typeface="Helvetica Neue"/>
                        </a:defRPr>
                      </a:pPr>
                      <a:r>
                        <a:rPr sz="2400"/>
                        <a:t>8</a:t>
                      </a:r>
                    </a:p>
                  </a:txBody>
                  <a:tcPr marL="73152" marR="73152" marT="27432" marB="27432" anchor="ctr"/>
                </a:tc>
                <a:tc>
                  <a:txBody>
                    <a:bodyPr/>
                    <a:lstStyle/>
                    <a:p>
                      <a:pPr algn="l">
                        <a:defRPr sz="1650">
                          <a:latin typeface="Helvetica Neue"/>
                        </a:defRPr>
                      </a:pPr>
                      <a:r>
                        <a:rPr sz="2400" dirty="0"/>
                        <a:t>Administration &amp; Governance</a:t>
                      </a:r>
                    </a:p>
                  </a:txBody>
                  <a:tcPr marL="73152" marR="73152" marT="27432" marB="27432" anchor="ctr"/>
                </a:tc>
                <a:tc>
                  <a:txBody>
                    <a:bodyPr/>
                    <a:lstStyle/>
                    <a:p>
                      <a:pPr algn="l">
                        <a:defRPr sz="1650">
                          <a:latin typeface="Helvetica Neue"/>
                        </a:defRPr>
                      </a:pPr>
                      <a:r>
                        <a:rPr sz="2400" dirty="0"/>
                        <a:t>Evaluate how security controls are administered, governed, and maintained over time.</a:t>
                      </a:r>
                    </a:p>
                  </a:txBody>
                  <a:tcPr marL="73152" marR="73152" marT="27432" marB="27432" anchor="ctr"/>
                </a:tc>
                <a:extLst>
                  <a:ext uri="{0D108BD9-81ED-4DB2-BD59-A6C34878D82A}">
                    <a16:rowId xmlns:a16="http://schemas.microsoft.com/office/drawing/2014/main" val="10008"/>
                  </a:ext>
                </a:extLst>
              </a:tr>
              <a:tr h="685151">
                <a:tc>
                  <a:txBody>
                    <a:bodyPr/>
                    <a:lstStyle/>
                    <a:p>
                      <a:pPr algn="ctr">
                        <a:defRPr sz="1650">
                          <a:latin typeface="Helvetica Neue"/>
                        </a:defRPr>
                      </a:pPr>
                      <a:r>
                        <a:rPr sz="2400"/>
                        <a:t>9</a:t>
                      </a:r>
                    </a:p>
                  </a:txBody>
                  <a:tcPr marL="73152" marR="73152" marT="27432" marB="27432" anchor="ctr"/>
                </a:tc>
                <a:tc>
                  <a:txBody>
                    <a:bodyPr/>
                    <a:lstStyle/>
                    <a:p>
                      <a:pPr algn="l">
                        <a:defRPr sz="1650">
                          <a:latin typeface="Helvetica Neue"/>
                        </a:defRPr>
                      </a:pPr>
                      <a:r>
                        <a:rPr sz="2400"/>
                        <a:t>Incident Response</a:t>
                      </a:r>
                    </a:p>
                  </a:txBody>
                  <a:tcPr marL="73152" marR="73152" marT="27432" marB="27432" anchor="ctr"/>
                </a:tc>
                <a:tc>
                  <a:txBody>
                    <a:bodyPr/>
                    <a:lstStyle/>
                    <a:p>
                      <a:pPr algn="l">
                        <a:defRPr sz="1650">
                          <a:latin typeface="Helvetica Neue"/>
                        </a:defRPr>
                      </a:pPr>
                      <a:r>
                        <a:rPr sz="2400" dirty="0"/>
                        <a:t>Evaluate whether the bank can recognize, contain, recover from, and learn from significant events.</a:t>
                      </a:r>
                    </a:p>
                  </a:txBody>
                  <a:tcPr marL="73152" marR="73152" marT="27432" marB="27432"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52974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170FB-C619-334C-FCDE-B48F172E9D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C16A9-6700-06A8-CB19-604699AECE5D}"/>
              </a:ext>
            </a:extLst>
          </p:cNvPr>
          <p:cNvSpPr>
            <a:spLocks noGrp="1"/>
          </p:cNvSpPr>
          <p:nvPr>
            <p:ph type="ctrTitle"/>
          </p:nvPr>
        </p:nvSpPr>
        <p:spPr/>
        <p:txBody>
          <a:bodyPr/>
          <a:lstStyle/>
          <a:p>
            <a:r>
              <a:rPr lang="en-US" dirty="0"/>
              <a:t>Introduction to Firewalls and Network Security</a:t>
            </a:r>
          </a:p>
        </p:txBody>
      </p:sp>
      <p:sp>
        <p:nvSpPr>
          <p:cNvPr id="6" name="Subtitle 5">
            <a:extLst>
              <a:ext uri="{FF2B5EF4-FFF2-40B4-BE49-F238E27FC236}">
                <a16:creationId xmlns:a16="http://schemas.microsoft.com/office/drawing/2014/main" id="{15237485-10AB-46B7-F334-FC35D4B16147}"/>
              </a:ext>
            </a:extLst>
          </p:cNvPr>
          <p:cNvSpPr>
            <a:spLocks noGrp="1"/>
          </p:cNvSpPr>
          <p:nvPr>
            <p:ph type="subTitle" idx="1"/>
          </p:nvPr>
        </p:nvSpPr>
        <p:spPr/>
        <p:txBody>
          <a:bodyPr/>
          <a:lstStyle/>
          <a:p>
            <a:r>
              <a:rPr lang="en-US" dirty="0"/>
              <a:t>Chapter 1</a:t>
            </a:r>
          </a:p>
        </p:txBody>
      </p:sp>
    </p:spTree>
    <p:custDataLst>
      <p:tags r:id="rId1"/>
    </p:custDataLst>
    <p:extLst>
      <p:ext uri="{BB962C8B-B14F-4D97-AF65-F5344CB8AC3E}">
        <p14:creationId xmlns:p14="http://schemas.microsoft.com/office/powerpoint/2010/main" val="495725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9698" name="Rectangle 2"/>
          <p:cNvSpPr>
            <a:spLocks noGrp="1" noChangeArrowheads="1"/>
          </p:cNvSpPr>
          <p:nvPr>
            <p:ph type="title"/>
          </p:nvPr>
        </p:nvSpPr>
        <p:spPr/>
        <p:txBody>
          <a:bodyPr/>
          <a:lstStyle/>
          <a:p>
            <a:r>
              <a:rPr lang="en-US" dirty="0"/>
              <a:t>Objectives</a:t>
            </a:r>
          </a:p>
        </p:txBody>
      </p:sp>
      <p:sp>
        <p:nvSpPr>
          <p:cNvPr id="3869699" name="Rectangle 3"/>
          <p:cNvSpPr>
            <a:spLocks noGrp="1" noChangeArrowheads="1"/>
          </p:cNvSpPr>
          <p:nvPr>
            <p:ph idx="1"/>
          </p:nvPr>
        </p:nvSpPr>
        <p:spPr/>
        <p:txBody>
          <a:bodyPr/>
          <a:lstStyle/>
          <a:p>
            <a:r>
              <a:rPr lang="en-US" i="1" dirty="0">
                <a:solidFill>
                  <a:srgbClr val="000000"/>
                </a:solidFill>
              </a:rPr>
              <a:t>FDIC Technology Supervision Branch—IT Section, sponsor of the program, expects the following topics to be covered</a:t>
            </a:r>
          </a:p>
          <a:p>
            <a:pPr lvl="1"/>
            <a:endParaRPr lang="en-US" dirty="0"/>
          </a:p>
          <a:p>
            <a:pPr lvl="1"/>
            <a:r>
              <a:rPr lang="en-US" dirty="0"/>
              <a:t>A solid introduction to key topics relating to security principles of firewalls</a:t>
            </a:r>
          </a:p>
          <a:p>
            <a:pPr lvl="1"/>
            <a:r>
              <a:rPr lang="en-US" dirty="0"/>
              <a:t>Essential baseline terminology and concepts relating</a:t>
            </a:r>
            <a:br>
              <a:rPr lang="en-US" dirty="0"/>
            </a:br>
            <a:r>
              <a:rPr lang="en-US" dirty="0"/>
              <a:t>to key topics of Internet and Intranet Security threats</a:t>
            </a:r>
          </a:p>
          <a:p>
            <a:pPr lvl="1"/>
            <a:r>
              <a:rPr lang="en-US" dirty="0"/>
              <a:t>In accordance with the Federal Financial Institutions </a:t>
            </a:r>
            <a:br>
              <a:rPr lang="en-US" dirty="0"/>
            </a:br>
            <a:r>
              <a:rPr lang="en-US" dirty="0"/>
              <a:t>Examination Council (FFIEC ) IT handbook </a:t>
            </a:r>
            <a:br>
              <a:rPr lang="en-US" dirty="0"/>
            </a:br>
            <a:r>
              <a:rPr lang="en-US" dirty="0"/>
              <a:t>and its applications  </a:t>
            </a:r>
          </a:p>
          <a:p>
            <a:pPr lvl="1"/>
            <a:r>
              <a:rPr lang="en-US" dirty="0"/>
              <a:t>And relevance to the world today, especially with </a:t>
            </a:r>
            <a:br>
              <a:rPr lang="en-US" dirty="0"/>
            </a:br>
            <a:r>
              <a:rPr lang="en-US" dirty="0"/>
              <a:t>regard to implementation and management of firewalls</a:t>
            </a:r>
          </a:p>
          <a:p>
            <a:endParaRPr lang="en-US" dirty="0"/>
          </a:p>
        </p:txBody>
      </p:sp>
      <p:pic>
        <p:nvPicPr>
          <p:cNvPr id="6" name="Picture 5" descr="pen_display_accomplished_400_clr.png"/>
          <p:cNvPicPr>
            <a:picLocks noChangeAspect="1"/>
          </p:cNvPicPr>
          <p:nvPr/>
        </p:nvPicPr>
        <p:blipFill>
          <a:blip r:embed="rId4" cstate="print"/>
          <a:stretch>
            <a:fillRect/>
          </a:stretch>
        </p:blipFill>
        <p:spPr>
          <a:xfrm>
            <a:off x="14274805" y="5831494"/>
            <a:ext cx="3886200" cy="3886200"/>
          </a:xfrm>
          <a:prstGeom prst="rect">
            <a:avLst/>
          </a:prstGeom>
        </p:spPr>
      </p:pic>
    </p:spTree>
    <p:custDataLst>
      <p:tags r:id="rId1"/>
    </p:custDataLst>
    <p:extLst>
      <p:ext uri="{BB962C8B-B14F-4D97-AF65-F5344CB8AC3E}">
        <p14:creationId xmlns:p14="http://schemas.microsoft.com/office/powerpoint/2010/main" val="284418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5203-87C3-7C14-3FA9-6CB446D12416}"/>
              </a:ext>
            </a:extLst>
          </p:cNvPr>
          <p:cNvSpPr>
            <a:spLocks noGrp="1"/>
          </p:cNvSpPr>
          <p:nvPr>
            <p:ph type="title"/>
          </p:nvPr>
        </p:nvSpPr>
        <p:spPr/>
        <p:txBody>
          <a:bodyPr/>
          <a:lstStyle/>
          <a:p>
            <a:r>
              <a:rPr lang="en-US" dirty="0"/>
              <a:t>So why are we here?	</a:t>
            </a:r>
          </a:p>
        </p:txBody>
      </p:sp>
      <p:sp>
        <p:nvSpPr>
          <p:cNvPr id="3" name="Content Placeholder 2">
            <a:extLst>
              <a:ext uri="{FF2B5EF4-FFF2-40B4-BE49-F238E27FC236}">
                <a16:creationId xmlns:a16="http://schemas.microsoft.com/office/drawing/2014/main" id="{8A5D3AAC-C55B-2445-DD9A-C2BC0EDAB7EE}"/>
              </a:ext>
            </a:extLst>
          </p:cNvPr>
          <p:cNvSpPr>
            <a:spLocks noGrp="1"/>
          </p:cNvSpPr>
          <p:nvPr>
            <p:ph idx="1"/>
          </p:nvPr>
        </p:nvSpPr>
        <p:spPr/>
        <p:txBody>
          <a:bodyPr>
            <a:normAutofit lnSpcReduction="10000"/>
          </a:bodyPr>
          <a:lstStyle/>
          <a:p>
            <a:r>
              <a:rPr lang="en-US" dirty="0"/>
              <a:t>Banks increasingly depend on technology they neither own nor operate themselves, yet they remain responsible for managing the associated risks</a:t>
            </a:r>
          </a:p>
          <a:p>
            <a:r>
              <a:rPr lang="en-US" dirty="0"/>
              <a:t>Examiners need to know this terrain to some extent</a:t>
            </a:r>
          </a:p>
          <a:p>
            <a:r>
              <a:rPr lang="en-US" dirty="0"/>
              <a:t>A first examiner question might be:</a:t>
            </a:r>
          </a:p>
          <a:p>
            <a:pPr lvl="1"/>
            <a:r>
              <a:rPr lang="en-US" dirty="0"/>
              <a:t>What am I trying to learn about this bank during an exam?</a:t>
            </a:r>
          </a:p>
          <a:p>
            <a:pPr lvl="2"/>
            <a:r>
              <a:rPr lang="en-US" dirty="0"/>
              <a:t>How the bank communicates</a:t>
            </a:r>
          </a:p>
          <a:p>
            <a:pPr lvl="2"/>
            <a:r>
              <a:rPr lang="en-US" dirty="0"/>
              <a:t>How the bank protects itself</a:t>
            </a:r>
          </a:p>
          <a:p>
            <a:pPr lvl="2"/>
            <a:r>
              <a:rPr lang="en-US" dirty="0"/>
              <a:t>How the bank detects problems</a:t>
            </a:r>
          </a:p>
          <a:p>
            <a:pPr lvl="2"/>
            <a:r>
              <a:rPr lang="en-US" dirty="0"/>
              <a:t>How the bank recovers when something goes wrong</a:t>
            </a:r>
          </a:p>
          <a:p>
            <a:pPr lvl="1"/>
            <a:r>
              <a:rPr lang="en-US" dirty="0"/>
              <a:t>Ultimately: How well does the bank manage IT and network risk?</a:t>
            </a:r>
          </a:p>
          <a:p>
            <a:pPr lvl="2"/>
            <a:r>
              <a:rPr lang="en-US" dirty="0"/>
              <a:t>This class mostly view this question through a lens called The Firewall</a:t>
            </a:r>
          </a:p>
        </p:txBody>
      </p:sp>
    </p:spTree>
    <p:extLst>
      <p:ext uri="{BB962C8B-B14F-4D97-AF65-F5344CB8AC3E}">
        <p14:creationId xmlns:p14="http://schemas.microsoft.com/office/powerpoint/2010/main" val="1709478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BBF8F-5DB5-9155-DCE5-B3BAEA320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F73CC-6DCD-48F8-56AD-606BEEF6745D}"/>
              </a:ext>
            </a:extLst>
          </p:cNvPr>
          <p:cNvSpPr>
            <a:spLocks noGrp="1"/>
          </p:cNvSpPr>
          <p:nvPr>
            <p:ph type="title"/>
          </p:nvPr>
        </p:nvSpPr>
        <p:spPr/>
        <p:txBody>
          <a:bodyPr/>
          <a:lstStyle/>
          <a:p>
            <a:r>
              <a:rPr lang="en-US" dirty="0"/>
              <a:t>Introducing Pine Valley Bank</a:t>
            </a:r>
          </a:p>
        </p:txBody>
      </p:sp>
      <p:sp>
        <p:nvSpPr>
          <p:cNvPr id="3" name="Content Placeholder 2">
            <a:extLst>
              <a:ext uri="{FF2B5EF4-FFF2-40B4-BE49-F238E27FC236}">
                <a16:creationId xmlns:a16="http://schemas.microsoft.com/office/drawing/2014/main" id="{80BA9B39-268E-B241-EB59-89743A2B346F}"/>
              </a:ext>
            </a:extLst>
          </p:cNvPr>
          <p:cNvSpPr>
            <a:spLocks noGrp="1"/>
          </p:cNvSpPr>
          <p:nvPr>
            <p:ph idx="1"/>
          </p:nvPr>
        </p:nvSpPr>
        <p:spPr>
          <a:xfrm>
            <a:off x="1257299" y="2193131"/>
            <a:ext cx="10088725" cy="6967198"/>
          </a:xfrm>
        </p:spPr>
        <p:txBody>
          <a:bodyPr>
            <a:normAutofit/>
          </a:bodyPr>
          <a:lstStyle/>
          <a:p>
            <a:r>
              <a:rPr lang="en-US" dirty="0"/>
              <a:t>We’ll talk about them a lot this week!</a:t>
            </a:r>
          </a:p>
          <a:p>
            <a:r>
              <a:rPr lang="en-US" dirty="0"/>
              <a:t>$1B community bank in New England</a:t>
            </a:r>
          </a:p>
          <a:p>
            <a:r>
              <a:rPr lang="en-US" dirty="0"/>
              <a:t>5 branches, 90 employees</a:t>
            </a:r>
          </a:p>
          <a:p>
            <a:r>
              <a:rPr lang="en-US" dirty="0"/>
              <a:t>15,000 customers</a:t>
            </a:r>
          </a:p>
          <a:p>
            <a:r>
              <a:rPr lang="en-US" dirty="0"/>
              <a:t>Retail banking, residential mortgages, Small business lending, some small agricultural business</a:t>
            </a:r>
          </a:p>
          <a:p>
            <a:endParaRPr lang="en-US" dirty="0"/>
          </a:p>
          <a:p>
            <a:endParaRPr lang="en-US" dirty="0"/>
          </a:p>
        </p:txBody>
      </p:sp>
      <p:pic>
        <p:nvPicPr>
          <p:cNvPr id="7" name="Picture 6" descr="A sign in front of a bank&#10;&#10;AI-generated content may be incorrect.">
            <a:extLst>
              <a:ext uri="{FF2B5EF4-FFF2-40B4-BE49-F238E27FC236}">
                <a16:creationId xmlns:a16="http://schemas.microsoft.com/office/drawing/2014/main" id="{98140C30-0FD7-F729-F08D-AE8FCC0D436C}"/>
              </a:ext>
            </a:extLst>
          </p:cNvPr>
          <p:cNvPicPr>
            <a:picLocks noChangeAspect="1"/>
          </p:cNvPicPr>
          <p:nvPr/>
        </p:nvPicPr>
        <p:blipFill>
          <a:blip r:embed="rId3"/>
          <a:stretch>
            <a:fillRect/>
          </a:stretch>
        </p:blipFill>
        <p:spPr>
          <a:xfrm>
            <a:off x="11704994" y="1031939"/>
            <a:ext cx="5664200" cy="8521700"/>
          </a:xfrm>
          <a:prstGeom prst="rect">
            <a:avLst/>
          </a:prstGeom>
        </p:spPr>
      </p:pic>
    </p:spTree>
    <p:extLst>
      <p:ext uri="{BB962C8B-B14F-4D97-AF65-F5344CB8AC3E}">
        <p14:creationId xmlns:p14="http://schemas.microsoft.com/office/powerpoint/2010/main" val="3892812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40795-A3ED-A2BF-849A-EF0D50412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AA716-1321-CCA3-5218-BEBF2D1B5D84}"/>
              </a:ext>
            </a:extLst>
          </p:cNvPr>
          <p:cNvSpPr>
            <a:spLocks noGrp="1"/>
          </p:cNvSpPr>
          <p:nvPr>
            <p:ph type="title"/>
          </p:nvPr>
        </p:nvSpPr>
        <p:spPr/>
        <p:txBody>
          <a:bodyPr/>
          <a:lstStyle/>
          <a:p>
            <a:r>
              <a:rPr lang="en-US" dirty="0"/>
              <a:t>Tom Alvarez</a:t>
            </a:r>
          </a:p>
        </p:txBody>
      </p:sp>
      <p:sp>
        <p:nvSpPr>
          <p:cNvPr id="3" name="Content Placeholder 2">
            <a:extLst>
              <a:ext uri="{FF2B5EF4-FFF2-40B4-BE49-F238E27FC236}">
                <a16:creationId xmlns:a16="http://schemas.microsoft.com/office/drawing/2014/main" id="{8BD76419-7BE8-15C0-F222-8F9A3C6BFF8C}"/>
              </a:ext>
            </a:extLst>
          </p:cNvPr>
          <p:cNvSpPr>
            <a:spLocks noGrp="1"/>
          </p:cNvSpPr>
          <p:nvPr>
            <p:ph idx="1"/>
          </p:nvPr>
        </p:nvSpPr>
        <p:spPr>
          <a:xfrm>
            <a:off x="1257299" y="2193131"/>
            <a:ext cx="10088725" cy="6967198"/>
          </a:xfrm>
        </p:spPr>
        <p:txBody>
          <a:bodyPr>
            <a:normAutofit fontScale="92500" lnSpcReduction="10000"/>
          </a:bodyPr>
          <a:lstStyle/>
          <a:p>
            <a:r>
              <a:rPr lang="en-US" dirty="0"/>
              <a:t>IT manger, Pine Valley Bank</a:t>
            </a:r>
          </a:p>
          <a:p>
            <a:r>
              <a:rPr lang="en-US" dirty="0"/>
              <a:t>Nice guy, Red Sox fan </a:t>
            </a:r>
            <a:r>
              <a:rPr lang="en-US" dirty="0">
                <a:sym typeface="Wingdings" pitchFamily="2" charset="2"/>
              </a:rPr>
              <a:t></a:t>
            </a:r>
            <a:endParaRPr lang="en-US" dirty="0"/>
          </a:p>
          <a:p>
            <a:r>
              <a:rPr lang="en-US" dirty="0"/>
              <a:t>Responsible for all IT/network/security</a:t>
            </a:r>
          </a:p>
          <a:p>
            <a:pPr lvl="1"/>
            <a:r>
              <a:rPr lang="en-US" dirty="0"/>
              <a:t>Completely overwhelmed</a:t>
            </a:r>
          </a:p>
          <a:p>
            <a:pPr lvl="1"/>
            <a:r>
              <a:rPr lang="en-US" dirty="0"/>
              <a:t>On call 24/7</a:t>
            </a:r>
          </a:p>
          <a:p>
            <a:pPr lvl="1"/>
            <a:r>
              <a:rPr lang="en-US" dirty="0"/>
              <a:t>Wears 10 hats</a:t>
            </a:r>
          </a:p>
          <a:p>
            <a:r>
              <a:rPr lang="en-US" dirty="0"/>
              <a:t>Has CompTIA A+ and Microsoft Windows Server certs. Working on Security+.</a:t>
            </a:r>
            <a:endParaRPr lang="en-US" b="1" dirty="0"/>
          </a:p>
          <a:p>
            <a:r>
              <a:rPr lang="en-US" b="1" dirty="0"/>
              <a:t>Outsources everything he can to Northwoods Technology Services</a:t>
            </a:r>
          </a:p>
          <a:p>
            <a:r>
              <a:rPr lang="en-US" b="1" dirty="0"/>
              <a:t>Reports to Cindy Chen, Ops Officer</a:t>
            </a:r>
          </a:p>
          <a:p>
            <a:endParaRPr lang="en-US" dirty="0"/>
          </a:p>
        </p:txBody>
      </p:sp>
      <p:pic>
        <p:nvPicPr>
          <p:cNvPr id="5" name="Picture 4">
            <a:extLst>
              <a:ext uri="{FF2B5EF4-FFF2-40B4-BE49-F238E27FC236}">
                <a16:creationId xmlns:a16="http://schemas.microsoft.com/office/drawing/2014/main" id="{F9539658-6D01-2C51-2E47-739E19FFC961}"/>
              </a:ext>
            </a:extLst>
          </p:cNvPr>
          <p:cNvPicPr>
            <a:picLocks noChangeAspect="1"/>
          </p:cNvPicPr>
          <p:nvPr/>
        </p:nvPicPr>
        <p:blipFill>
          <a:blip r:embed="rId3"/>
          <a:stretch>
            <a:fillRect/>
          </a:stretch>
        </p:blipFill>
        <p:spPr>
          <a:xfrm>
            <a:off x="12018884" y="876300"/>
            <a:ext cx="5727700" cy="8534400"/>
          </a:xfrm>
          <a:prstGeom prst="rect">
            <a:avLst/>
          </a:prstGeom>
        </p:spPr>
      </p:pic>
    </p:spTree>
    <p:extLst>
      <p:ext uri="{BB962C8B-B14F-4D97-AF65-F5344CB8AC3E}">
        <p14:creationId xmlns:p14="http://schemas.microsoft.com/office/powerpoint/2010/main" val="3296740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network&#10;&#10;AI-generated content may be incorrect.">
            <a:extLst>
              <a:ext uri="{FF2B5EF4-FFF2-40B4-BE49-F238E27FC236}">
                <a16:creationId xmlns:a16="http://schemas.microsoft.com/office/drawing/2014/main" id="{5C1B60A1-E83A-3FC6-11A2-CA683F4E7F3A}"/>
              </a:ext>
            </a:extLst>
          </p:cNvPr>
          <p:cNvPicPr>
            <a:picLocks noChangeAspect="1"/>
          </p:cNvPicPr>
          <p:nvPr/>
        </p:nvPicPr>
        <p:blipFill>
          <a:blip r:embed="rId2"/>
          <a:stretch>
            <a:fillRect/>
          </a:stretch>
        </p:blipFill>
        <p:spPr>
          <a:xfrm>
            <a:off x="6379857" y="1101011"/>
            <a:ext cx="11497577" cy="9062796"/>
          </a:xfrm>
          <a:prstGeom prst="rect">
            <a:avLst/>
          </a:prstGeom>
        </p:spPr>
      </p:pic>
      <p:sp>
        <p:nvSpPr>
          <p:cNvPr id="7" name="Title 6">
            <a:extLst>
              <a:ext uri="{FF2B5EF4-FFF2-40B4-BE49-F238E27FC236}">
                <a16:creationId xmlns:a16="http://schemas.microsoft.com/office/drawing/2014/main" id="{C3F7FE16-6016-6DB1-7A9B-FEB6C6A34814}"/>
              </a:ext>
            </a:extLst>
          </p:cNvPr>
          <p:cNvSpPr>
            <a:spLocks noGrp="1"/>
          </p:cNvSpPr>
          <p:nvPr>
            <p:ph type="title"/>
          </p:nvPr>
        </p:nvSpPr>
        <p:spPr/>
        <p:txBody>
          <a:bodyPr/>
          <a:lstStyle/>
          <a:p>
            <a:r>
              <a:rPr lang="en-US" dirty="0"/>
              <a:t>PVB’s Network</a:t>
            </a:r>
          </a:p>
        </p:txBody>
      </p:sp>
      <p:sp>
        <p:nvSpPr>
          <p:cNvPr id="10" name="Content Placeholder 2">
            <a:extLst>
              <a:ext uri="{FF2B5EF4-FFF2-40B4-BE49-F238E27FC236}">
                <a16:creationId xmlns:a16="http://schemas.microsoft.com/office/drawing/2014/main" id="{1E06FEDF-D358-0512-C54E-8DC0679A8CD2}"/>
              </a:ext>
            </a:extLst>
          </p:cNvPr>
          <p:cNvSpPr>
            <a:spLocks noGrp="1"/>
          </p:cNvSpPr>
          <p:nvPr>
            <p:ph idx="1"/>
          </p:nvPr>
        </p:nvSpPr>
        <p:spPr>
          <a:xfrm>
            <a:off x="921402" y="2267775"/>
            <a:ext cx="5423418" cy="6967198"/>
          </a:xfrm>
        </p:spPr>
        <p:txBody>
          <a:bodyPr>
            <a:normAutofit/>
          </a:bodyPr>
          <a:lstStyle/>
          <a:p>
            <a:r>
              <a:rPr lang="en-US" dirty="0"/>
              <a:t>What do you see here? What’s new?</a:t>
            </a:r>
          </a:p>
          <a:p>
            <a:r>
              <a:rPr lang="en-US" dirty="0"/>
              <a:t>Does this seem like a typical bank?</a:t>
            </a:r>
          </a:p>
          <a:p>
            <a:r>
              <a:rPr lang="en-US" dirty="0"/>
              <a:t>What do you do when you’re given a diagram like this?</a:t>
            </a:r>
          </a:p>
        </p:txBody>
      </p:sp>
    </p:spTree>
    <p:extLst>
      <p:ext uri="{BB962C8B-B14F-4D97-AF65-F5344CB8AC3E}">
        <p14:creationId xmlns:p14="http://schemas.microsoft.com/office/powerpoint/2010/main" val="2758083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035B4-FF35-A507-23CC-1829B5653788}"/>
              </a:ext>
            </a:extLst>
          </p:cNvPr>
          <p:cNvSpPr>
            <a:spLocks noGrp="1"/>
          </p:cNvSpPr>
          <p:nvPr>
            <p:ph type="title"/>
          </p:nvPr>
        </p:nvSpPr>
        <p:spPr/>
        <p:txBody>
          <a:bodyPr/>
          <a:lstStyle/>
          <a:p>
            <a:r>
              <a:rPr lang="en-US" dirty="0"/>
              <a:t>Small Bank Operational Components</a:t>
            </a:r>
          </a:p>
        </p:txBody>
      </p:sp>
      <p:sp>
        <p:nvSpPr>
          <p:cNvPr id="3" name="Content Placeholder 2">
            <a:extLst>
              <a:ext uri="{FF2B5EF4-FFF2-40B4-BE49-F238E27FC236}">
                <a16:creationId xmlns:a16="http://schemas.microsoft.com/office/drawing/2014/main" id="{E677F91F-0FB8-6CA3-2B2F-8E3EC64F617E}"/>
              </a:ext>
            </a:extLst>
          </p:cNvPr>
          <p:cNvSpPr>
            <a:spLocks noGrp="1"/>
          </p:cNvSpPr>
          <p:nvPr>
            <p:ph idx="1"/>
          </p:nvPr>
        </p:nvSpPr>
        <p:spPr>
          <a:xfrm>
            <a:off x="1257300" y="2193131"/>
            <a:ext cx="10070063" cy="6967198"/>
          </a:xfrm>
        </p:spPr>
        <p:txBody>
          <a:bodyPr>
            <a:normAutofit lnSpcReduction="10000"/>
          </a:bodyPr>
          <a:lstStyle/>
          <a:p>
            <a:r>
              <a:rPr lang="en-US" dirty="0"/>
              <a:t>Who are the players in this game? Let’s draw our own diagram:</a:t>
            </a:r>
          </a:p>
          <a:p>
            <a:endParaRPr lang="en-US" dirty="0"/>
          </a:p>
          <a:p>
            <a:pPr lvl="1"/>
            <a:r>
              <a:rPr lang="en-US" dirty="0"/>
              <a:t>Branches</a:t>
            </a:r>
          </a:p>
          <a:p>
            <a:pPr lvl="1"/>
            <a:r>
              <a:rPr lang="en-US" dirty="0"/>
              <a:t>Cloud</a:t>
            </a:r>
          </a:p>
          <a:p>
            <a:pPr lvl="1"/>
            <a:r>
              <a:rPr lang="en-US" dirty="0"/>
              <a:t>Providers</a:t>
            </a:r>
          </a:p>
          <a:p>
            <a:pPr lvl="1"/>
            <a:r>
              <a:rPr lang="en-US" dirty="0"/>
              <a:t>Vendors</a:t>
            </a:r>
          </a:p>
          <a:p>
            <a:pPr lvl="1"/>
            <a:r>
              <a:rPr lang="en-US" dirty="0"/>
              <a:t>Users (remote and local)</a:t>
            </a:r>
          </a:p>
          <a:p>
            <a:pPr lvl="1"/>
            <a:r>
              <a:rPr lang="en-US" dirty="0"/>
              <a:t>ATMs</a:t>
            </a:r>
          </a:p>
          <a:p>
            <a:pPr lvl="1"/>
            <a:r>
              <a:rPr lang="en-US" dirty="0"/>
              <a:t>Internet Banking</a:t>
            </a:r>
          </a:p>
          <a:p>
            <a:pPr lvl="1"/>
            <a:endParaRPr lang="en-US" dirty="0"/>
          </a:p>
          <a:p>
            <a:pPr lvl="1"/>
            <a:r>
              <a:rPr lang="en-US" dirty="0"/>
              <a:t>What else?</a:t>
            </a:r>
          </a:p>
        </p:txBody>
      </p:sp>
    </p:spTree>
    <p:extLst>
      <p:ext uri="{BB962C8B-B14F-4D97-AF65-F5344CB8AC3E}">
        <p14:creationId xmlns:p14="http://schemas.microsoft.com/office/powerpoint/2010/main" val="3686227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12FD-CA7F-828E-ECC0-E20F19435A77}"/>
              </a:ext>
            </a:extLst>
          </p:cNvPr>
          <p:cNvSpPr>
            <a:spLocks noGrp="1"/>
          </p:cNvSpPr>
          <p:nvPr>
            <p:ph type="title"/>
          </p:nvPr>
        </p:nvSpPr>
        <p:spPr/>
        <p:txBody>
          <a:bodyPr/>
          <a:lstStyle/>
          <a:p>
            <a:r>
              <a:rPr lang="en-US" dirty="0"/>
              <a:t>Security is about Managing Risk</a:t>
            </a:r>
          </a:p>
        </p:txBody>
      </p:sp>
      <p:sp>
        <p:nvSpPr>
          <p:cNvPr id="3" name="Content Placeholder 2">
            <a:extLst>
              <a:ext uri="{FF2B5EF4-FFF2-40B4-BE49-F238E27FC236}">
                <a16:creationId xmlns:a16="http://schemas.microsoft.com/office/drawing/2014/main" id="{30D21CE2-1B91-AB99-004C-E684A9C99F0A}"/>
              </a:ext>
            </a:extLst>
          </p:cNvPr>
          <p:cNvSpPr>
            <a:spLocks noGrp="1"/>
          </p:cNvSpPr>
          <p:nvPr>
            <p:ph idx="1"/>
          </p:nvPr>
        </p:nvSpPr>
        <p:spPr>
          <a:xfrm>
            <a:off x="1257300" y="2193131"/>
            <a:ext cx="16078978" cy="6967198"/>
          </a:xfrm>
        </p:spPr>
        <p:txBody>
          <a:bodyPr/>
          <a:lstStyle/>
          <a:p>
            <a:r>
              <a:rPr lang="en-US" dirty="0"/>
              <a:t>In multiple simultaneous layers:</a:t>
            </a:r>
          </a:p>
          <a:p>
            <a:pPr lvl="1"/>
            <a:r>
              <a:rPr lang="en-US" dirty="0"/>
              <a:t>Technology</a:t>
            </a:r>
          </a:p>
          <a:p>
            <a:pPr lvl="1"/>
            <a:r>
              <a:rPr lang="en-US" dirty="0"/>
              <a:t>Policy</a:t>
            </a:r>
          </a:p>
          <a:p>
            <a:pPr lvl="1"/>
            <a:r>
              <a:rPr lang="en-US" dirty="0"/>
              <a:t>People</a:t>
            </a:r>
          </a:p>
          <a:p>
            <a:r>
              <a:rPr lang="en-US" dirty="0"/>
              <a:t>Firewalls and other tools don’t run themselves</a:t>
            </a:r>
          </a:p>
          <a:p>
            <a:pPr lvl="1"/>
            <a:r>
              <a:rPr lang="en-US" dirty="0"/>
              <a:t>They are subject to poor planning, operations, policies, and skills</a:t>
            </a:r>
          </a:p>
          <a:p>
            <a:pPr lvl="1"/>
            <a:r>
              <a:rPr lang="en-US" dirty="0"/>
              <a:t>Sometimes they have bugs!</a:t>
            </a:r>
          </a:p>
          <a:p>
            <a:r>
              <a:rPr lang="en-US" dirty="0"/>
              <a:t>We must consider firewalls in the context of these facts</a:t>
            </a:r>
          </a:p>
          <a:p>
            <a:pPr lvl="1"/>
            <a:r>
              <a:rPr lang="en-US" dirty="0"/>
              <a:t>There are more components to this story than just firewalls (hint, hint)</a:t>
            </a:r>
          </a:p>
        </p:txBody>
      </p:sp>
    </p:spTree>
    <p:extLst>
      <p:ext uri="{BB962C8B-B14F-4D97-AF65-F5344CB8AC3E}">
        <p14:creationId xmlns:p14="http://schemas.microsoft.com/office/powerpoint/2010/main" val="3449813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1" y="535574"/>
            <a:ext cx="14489864" cy="1107996"/>
          </a:xfrm>
          <a:prstGeom prst="rect">
            <a:avLst/>
          </a:prstGeom>
          <a:noFill/>
        </p:spPr>
        <p:txBody>
          <a:bodyPr wrap="none">
            <a:spAutoFit/>
          </a:bodyPr>
          <a:lstStyle/>
          <a:p>
            <a:pPr>
              <a:defRPr sz="2800" b="1"/>
            </a:pPr>
            <a:r>
              <a:rPr lang="en-US" sz="66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What makes community bank IT different?</a:t>
            </a:r>
            <a:endParaRPr sz="66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859257926"/>
              </p:ext>
            </p:extLst>
          </p:nvPr>
        </p:nvGraphicFramePr>
        <p:xfrm>
          <a:off x="1170992" y="1985312"/>
          <a:ext cx="15474819" cy="6058228"/>
        </p:xfrm>
        <a:graphic>
          <a:graphicData uri="http://schemas.openxmlformats.org/drawingml/2006/table">
            <a:tbl>
              <a:tblPr firstRow="1" bandRow="1">
                <a:tableStyleId>{5C22544A-7EE6-4342-B048-85BDC9FD1C3A}</a:tableStyleId>
              </a:tblPr>
              <a:tblGrid>
                <a:gridCol w="4651310">
                  <a:extLst>
                    <a:ext uri="{9D8B030D-6E8A-4147-A177-3AD203B41FA5}">
                      <a16:colId xmlns:a16="http://schemas.microsoft.com/office/drawing/2014/main" val="20000"/>
                    </a:ext>
                  </a:extLst>
                </a:gridCol>
                <a:gridCol w="5665236">
                  <a:extLst>
                    <a:ext uri="{9D8B030D-6E8A-4147-A177-3AD203B41FA5}">
                      <a16:colId xmlns:a16="http://schemas.microsoft.com/office/drawing/2014/main" val="20001"/>
                    </a:ext>
                  </a:extLst>
                </a:gridCol>
                <a:gridCol w="5158273">
                  <a:extLst>
                    <a:ext uri="{9D8B030D-6E8A-4147-A177-3AD203B41FA5}">
                      <a16:colId xmlns:a16="http://schemas.microsoft.com/office/drawing/2014/main" val="20002"/>
                    </a:ext>
                  </a:extLst>
                </a:gridCol>
              </a:tblGrid>
              <a:tr h="531136">
                <a:tc>
                  <a:txBody>
                    <a:bodyPr/>
                    <a:lstStyle/>
                    <a:p>
                      <a:pPr>
                        <a:defRPr sz="1800" b="1"/>
                      </a:pPr>
                      <a:r>
                        <a:rPr sz="2800" dirty="0"/>
                        <a:t>Large Bank</a:t>
                      </a:r>
                    </a:p>
                  </a:txBody>
                  <a:tcPr marL="137160" marR="137160" marT="68580" marB="68580"/>
                </a:tc>
                <a:tc>
                  <a:txBody>
                    <a:bodyPr/>
                    <a:lstStyle/>
                    <a:p>
                      <a:pPr>
                        <a:defRPr sz="1800" b="1"/>
                      </a:pPr>
                      <a:r>
                        <a:rPr sz="2800"/>
                        <a:t>Pine Valley Bank</a:t>
                      </a:r>
                    </a:p>
                  </a:txBody>
                  <a:tcPr marL="137160" marR="137160" marT="68580" marB="68580"/>
                </a:tc>
                <a:tc>
                  <a:txBody>
                    <a:bodyPr/>
                    <a:lstStyle/>
                    <a:p>
                      <a:pPr>
                        <a:defRPr sz="1800" b="1"/>
                      </a:pPr>
                      <a:r>
                        <a:rPr sz="2800" dirty="0"/>
                        <a:t>Why It Matters</a:t>
                      </a:r>
                    </a:p>
                  </a:txBody>
                  <a:tcPr marL="137160" marR="137160" marT="68580" marB="68580"/>
                </a:tc>
                <a:extLst>
                  <a:ext uri="{0D108BD9-81ED-4DB2-BD59-A6C34878D82A}">
                    <a16:rowId xmlns:a16="http://schemas.microsoft.com/office/drawing/2014/main" val="10000"/>
                  </a:ext>
                </a:extLst>
              </a:tr>
              <a:tr h="479317">
                <a:tc>
                  <a:txBody>
                    <a:bodyPr/>
                    <a:lstStyle/>
                    <a:p>
                      <a:pPr>
                        <a:defRPr sz="1400"/>
                      </a:pPr>
                      <a:r>
                        <a:rPr sz="2800"/>
                        <a:t>Hundreds of IT employees</a:t>
                      </a:r>
                    </a:p>
                  </a:txBody>
                  <a:tcPr marL="137160" marR="137160" marT="68580" marB="68580"/>
                </a:tc>
                <a:tc>
                  <a:txBody>
                    <a:bodyPr/>
                    <a:lstStyle/>
                    <a:p>
                      <a:pPr>
                        <a:defRPr sz="1400"/>
                      </a:pPr>
                      <a:r>
                        <a:rPr lang="en-US" sz="2800" dirty="0"/>
                        <a:t>Zero to two </a:t>
                      </a:r>
                      <a:r>
                        <a:rPr sz="2800" dirty="0"/>
                        <a:t>IT employees</a:t>
                      </a:r>
                    </a:p>
                  </a:txBody>
                  <a:tcPr marL="137160" marR="137160" marT="68580" marB="68580"/>
                </a:tc>
                <a:tc>
                  <a:txBody>
                    <a:bodyPr/>
                    <a:lstStyle/>
                    <a:p>
                      <a:pPr>
                        <a:defRPr sz="1400"/>
                      </a:pPr>
                      <a:r>
                        <a:rPr sz="2800" dirty="0"/>
                        <a:t>Individuals wear many hats</a:t>
                      </a:r>
                    </a:p>
                  </a:txBody>
                  <a:tcPr marL="137160" marR="137160" marT="68580" marB="68580"/>
                </a:tc>
                <a:extLst>
                  <a:ext uri="{0D108BD9-81ED-4DB2-BD59-A6C34878D82A}">
                    <a16:rowId xmlns:a16="http://schemas.microsoft.com/office/drawing/2014/main" val="10001"/>
                  </a:ext>
                </a:extLst>
              </a:tr>
              <a:tr h="675154">
                <a:tc>
                  <a:txBody>
                    <a:bodyPr/>
                    <a:lstStyle/>
                    <a:p>
                      <a:pPr>
                        <a:defRPr sz="1400"/>
                      </a:pPr>
                      <a:r>
                        <a:rPr sz="2800"/>
                        <a:t>Dedicated cybersecurity staff</a:t>
                      </a:r>
                    </a:p>
                  </a:txBody>
                  <a:tcPr marL="137160" marR="137160" marT="68580" marB="68580"/>
                </a:tc>
                <a:tc>
                  <a:txBody>
                    <a:bodyPr/>
                    <a:lstStyle/>
                    <a:p>
                      <a:pPr>
                        <a:defRPr sz="1400"/>
                      </a:pPr>
                      <a:r>
                        <a:rPr sz="2800" dirty="0"/>
                        <a:t>IT staff share security responsibilities</a:t>
                      </a:r>
                    </a:p>
                  </a:txBody>
                  <a:tcPr marL="137160" marR="137160" marT="68580" marB="68580"/>
                </a:tc>
                <a:tc>
                  <a:txBody>
                    <a:bodyPr/>
                    <a:lstStyle/>
                    <a:p>
                      <a:pPr>
                        <a:defRPr sz="1400"/>
                      </a:pPr>
                      <a:r>
                        <a:rPr sz="2800" dirty="0"/>
                        <a:t>Generalists rather than specialists</a:t>
                      </a:r>
                    </a:p>
                  </a:txBody>
                  <a:tcPr marL="137160" marR="137160" marT="68580" marB="68580"/>
                </a:tc>
                <a:extLst>
                  <a:ext uri="{0D108BD9-81ED-4DB2-BD59-A6C34878D82A}">
                    <a16:rowId xmlns:a16="http://schemas.microsoft.com/office/drawing/2014/main" val="10002"/>
                  </a:ext>
                </a:extLst>
              </a:tr>
              <a:tr h="653143">
                <a:tc>
                  <a:txBody>
                    <a:bodyPr/>
                    <a:lstStyle/>
                    <a:p>
                      <a:pPr>
                        <a:defRPr sz="1400"/>
                      </a:pPr>
                      <a:r>
                        <a:rPr sz="2800"/>
                        <a:t>Internal SOC</a:t>
                      </a:r>
                    </a:p>
                  </a:txBody>
                  <a:tcPr marL="137160" marR="137160" marT="68580" marB="68580"/>
                </a:tc>
                <a:tc>
                  <a:txBody>
                    <a:bodyPr/>
                    <a:lstStyle/>
                    <a:p>
                      <a:pPr>
                        <a:defRPr sz="1400"/>
                      </a:pPr>
                      <a:r>
                        <a:rPr sz="2800" dirty="0"/>
                        <a:t>Monitoring outsourced</a:t>
                      </a:r>
                    </a:p>
                  </a:txBody>
                  <a:tcPr marL="137160" marR="137160" marT="68580" marB="68580"/>
                </a:tc>
                <a:tc>
                  <a:txBody>
                    <a:bodyPr/>
                    <a:lstStyle/>
                    <a:p>
                      <a:pPr>
                        <a:defRPr sz="1400"/>
                      </a:pPr>
                      <a:r>
                        <a:rPr sz="2800" dirty="0"/>
                        <a:t>Vendor oversight is critical</a:t>
                      </a:r>
                    </a:p>
                  </a:txBody>
                  <a:tcPr marL="137160" marR="137160" marT="68580" marB="68580"/>
                </a:tc>
                <a:extLst>
                  <a:ext uri="{0D108BD9-81ED-4DB2-BD59-A6C34878D82A}">
                    <a16:rowId xmlns:a16="http://schemas.microsoft.com/office/drawing/2014/main" val="10003"/>
                  </a:ext>
                </a:extLst>
              </a:tr>
              <a:tr h="653143">
                <a:tc>
                  <a:txBody>
                    <a:bodyPr/>
                    <a:lstStyle/>
                    <a:p>
                      <a:pPr>
                        <a:defRPr sz="1400"/>
                      </a:pPr>
                      <a:r>
                        <a:rPr sz="2800"/>
                        <a:t>Dedicated network engineers</a:t>
                      </a:r>
                    </a:p>
                  </a:txBody>
                  <a:tcPr marL="137160" marR="137160" marT="68580" marB="68580"/>
                </a:tc>
                <a:tc>
                  <a:txBody>
                    <a:bodyPr/>
                    <a:lstStyle/>
                    <a:p>
                      <a:pPr>
                        <a:defRPr sz="1400"/>
                      </a:pPr>
                      <a:r>
                        <a:rPr sz="2800" dirty="0"/>
                        <a:t>One IT manager plus an MSP</a:t>
                      </a:r>
                    </a:p>
                  </a:txBody>
                  <a:tcPr marL="137160" marR="137160" marT="68580" marB="68580"/>
                </a:tc>
                <a:tc>
                  <a:txBody>
                    <a:bodyPr/>
                    <a:lstStyle/>
                    <a:p>
                      <a:pPr>
                        <a:defRPr sz="1400"/>
                      </a:pPr>
                      <a:r>
                        <a:rPr sz="2800" dirty="0"/>
                        <a:t>Simpler architectures </a:t>
                      </a:r>
                    </a:p>
                  </a:txBody>
                  <a:tcPr marL="137160" marR="137160" marT="68580" marB="68580"/>
                </a:tc>
                <a:extLst>
                  <a:ext uri="{0D108BD9-81ED-4DB2-BD59-A6C34878D82A}">
                    <a16:rowId xmlns:a16="http://schemas.microsoft.com/office/drawing/2014/main" val="10004"/>
                  </a:ext>
                </a:extLst>
              </a:tr>
              <a:tr h="671804">
                <a:tc>
                  <a:txBody>
                    <a:bodyPr/>
                    <a:lstStyle/>
                    <a:p>
                      <a:pPr>
                        <a:defRPr sz="1400"/>
                      </a:pPr>
                      <a:r>
                        <a:rPr sz="2800"/>
                        <a:t>Many custom applications</a:t>
                      </a:r>
                    </a:p>
                  </a:txBody>
                  <a:tcPr marL="137160" marR="137160" marT="68580" marB="68580"/>
                </a:tc>
                <a:tc>
                  <a:txBody>
                    <a:bodyPr/>
                    <a:lstStyle/>
                    <a:p>
                      <a:pPr>
                        <a:defRPr sz="1400"/>
                      </a:pPr>
                      <a:r>
                        <a:rPr sz="2800" dirty="0"/>
                        <a:t>Mostly commercial &amp; cloud services</a:t>
                      </a:r>
                    </a:p>
                  </a:txBody>
                  <a:tcPr marL="137160" marR="137160" marT="68580" marB="68580"/>
                </a:tc>
                <a:tc>
                  <a:txBody>
                    <a:bodyPr/>
                    <a:lstStyle/>
                    <a:p>
                      <a:pPr>
                        <a:defRPr sz="1400"/>
                      </a:pPr>
                      <a:r>
                        <a:rPr sz="2800" dirty="0"/>
                        <a:t>Third-party risk is significant</a:t>
                      </a:r>
                    </a:p>
                  </a:txBody>
                  <a:tcPr marL="137160" marR="137160" marT="68580" marB="68580"/>
                </a:tc>
                <a:extLst>
                  <a:ext uri="{0D108BD9-81ED-4DB2-BD59-A6C34878D82A}">
                    <a16:rowId xmlns:a16="http://schemas.microsoft.com/office/drawing/2014/main" val="10005"/>
                  </a:ext>
                </a:extLst>
              </a:tr>
              <a:tr h="532595">
                <a:tc>
                  <a:txBody>
                    <a:bodyPr/>
                    <a:lstStyle/>
                    <a:p>
                      <a:pPr>
                        <a:defRPr sz="1400"/>
                      </a:pPr>
                      <a:r>
                        <a:rPr sz="2800"/>
                        <a:t>Large technology budget</a:t>
                      </a:r>
                    </a:p>
                  </a:txBody>
                  <a:tcPr marL="137160" marR="137160" marT="68580" marB="68580"/>
                </a:tc>
                <a:tc>
                  <a:txBody>
                    <a:bodyPr/>
                    <a:lstStyle/>
                    <a:p>
                      <a:pPr>
                        <a:defRPr sz="1400"/>
                      </a:pPr>
                      <a:r>
                        <a:rPr sz="2800"/>
                        <a:t>Limited resources</a:t>
                      </a:r>
                    </a:p>
                  </a:txBody>
                  <a:tcPr marL="137160" marR="137160" marT="68580" marB="68580"/>
                </a:tc>
                <a:tc>
                  <a:txBody>
                    <a:bodyPr/>
                    <a:lstStyle/>
                    <a:p>
                      <a:pPr>
                        <a:defRPr sz="1400"/>
                      </a:pPr>
                      <a:r>
                        <a:rPr sz="2800" dirty="0"/>
                        <a:t>Risk-based prioritization</a:t>
                      </a:r>
                    </a:p>
                  </a:txBody>
                  <a:tcPr marL="137160" marR="137160" marT="68580" marB="68580"/>
                </a:tc>
                <a:extLst>
                  <a:ext uri="{0D108BD9-81ED-4DB2-BD59-A6C34878D82A}">
                    <a16:rowId xmlns:a16="http://schemas.microsoft.com/office/drawing/2014/main" val="10006"/>
                  </a:ext>
                </a:extLst>
              </a:tr>
              <a:tr h="722744">
                <a:tc>
                  <a:txBody>
                    <a:bodyPr/>
                    <a:lstStyle/>
                    <a:p>
                      <a:pPr>
                        <a:defRPr sz="1400"/>
                      </a:pPr>
                      <a:r>
                        <a:rPr sz="2800"/>
                        <a:t>Multiple business units</a:t>
                      </a:r>
                    </a:p>
                  </a:txBody>
                  <a:tcPr marL="137160" marR="137160" marT="68580" marB="68580"/>
                </a:tc>
                <a:tc>
                  <a:txBody>
                    <a:bodyPr/>
                    <a:lstStyle/>
                    <a:p>
                      <a:pPr>
                        <a:defRPr sz="1400"/>
                      </a:pPr>
                      <a:r>
                        <a:rPr sz="2800" dirty="0"/>
                        <a:t>Relatively simple organization</a:t>
                      </a:r>
                    </a:p>
                  </a:txBody>
                  <a:tcPr marL="137160" marR="137160" marT="68580" marB="68580"/>
                </a:tc>
                <a:tc>
                  <a:txBody>
                    <a:bodyPr/>
                    <a:lstStyle/>
                    <a:p>
                      <a:pPr>
                        <a:defRPr sz="1400"/>
                      </a:pPr>
                      <a:r>
                        <a:rPr sz="2800" dirty="0"/>
                        <a:t>Fewer organizational layers</a:t>
                      </a:r>
                    </a:p>
                  </a:txBody>
                  <a:tcPr marL="137160" marR="137160" marT="68580" marB="68580"/>
                </a:tc>
                <a:extLst>
                  <a:ext uri="{0D108BD9-81ED-4DB2-BD59-A6C34878D82A}">
                    <a16:rowId xmlns:a16="http://schemas.microsoft.com/office/drawing/2014/main" val="10007"/>
                  </a:ext>
                </a:extLst>
              </a:tr>
              <a:tr h="842044">
                <a:tc>
                  <a:txBody>
                    <a:bodyPr/>
                    <a:lstStyle/>
                    <a:p>
                      <a:pPr>
                        <a:defRPr sz="1400"/>
                      </a:pPr>
                      <a:r>
                        <a:rPr sz="2800" dirty="0"/>
                        <a:t>Technology is a business function</a:t>
                      </a:r>
                    </a:p>
                  </a:txBody>
                  <a:tcPr marL="137160" marR="137160" marT="68580" marB="68580"/>
                </a:tc>
                <a:tc>
                  <a:txBody>
                    <a:bodyPr/>
                    <a:lstStyle/>
                    <a:p>
                      <a:pPr>
                        <a:defRPr sz="1400"/>
                      </a:pPr>
                      <a:r>
                        <a:rPr sz="2800" dirty="0"/>
                        <a:t>Technology supports the business</a:t>
                      </a:r>
                    </a:p>
                  </a:txBody>
                  <a:tcPr marL="137160" marR="137160" marT="68580" marB="68580"/>
                </a:tc>
                <a:tc>
                  <a:txBody>
                    <a:bodyPr/>
                    <a:lstStyle/>
                    <a:p>
                      <a:pPr>
                        <a:defRPr sz="1400"/>
                      </a:pPr>
                      <a:r>
                        <a:rPr sz="2800" dirty="0"/>
                        <a:t>IT is an operational risk</a:t>
                      </a:r>
                    </a:p>
                  </a:txBody>
                  <a:tcPr marL="137160" marR="137160" marT="68580" marB="68580"/>
                </a:tc>
                <a:extLst>
                  <a:ext uri="{0D108BD9-81ED-4DB2-BD59-A6C34878D82A}">
                    <a16:rowId xmlns:a16="http://schemas.microsoft.com/office/drawing/2014/main" val="10008"/>
                  </a:ext>
                </a:extLst>
              </a:tr>
            </a:tbl>
          </a:graphicData>
        </a:graphic>
      </p:graphicFrame>
      <p:sp>
        <p:nvSpPr>
          <p:cNvPr id="4" name="TextBox 3"/>
          <p:cNvSpPr txBox="1"/>
          <p:nvPr/>
        </p:nvSpPr>
        <p:spPr>
          <a:xfrm>
            <a:off x="1666642" y="8732399"/>
            <a:ext cx="14483517" cy="646331"/>
          </a:xfrm>
          <a:prstGeom prst="rect">
            <a:avLst/>
          </a:prstGeom>
          <a:noFill/>
        </p:spPr>
        <p:txBody>
          <a:bodyPr wrap="none">
            <a:spAutoFit/>
          </a:bodyPr>
          <a:lstStyle/>
          <a:p>
            <a:pPr>
              <a:defRPr sz="1800" i="1"/>
            </a:pPr>
            <a:r>
              <a:rPr sz="3600" dirty="0"/>
              <a:t>Different does not mean less secure. It means security is achieved differently.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a:t>The FDIC’s Role</a:t>
            </a:r>
          </a:p>
        </p:txBody>
      </p:sp>
      <p:sp>
        <p:nvSpPr>
          <p:cNvPr id="5" name="Content Placeholder 4"/>
          <p:cNvSpPr>
            <a:spLocks noGrp="1"/>
          </p:cNvSpPr>
          <p:nvPr>
            <p:ph sz="half" idx="2"/>
          </p:nvPr>
        </p:nvSpPr>
        <p:spPr/>
        <p:txBody>
          <a:bodyPr>
            <a:normAutofit fontScale="92500" lnSpcReduction="10000"/>
          </a:bodyPr>
          <a:lstStyle/>
          <a:p>
            <a:r>
              <a:rPr lang="en-US"/>
              <a:t>Information Technology Examiner (ITE) and/or Risk Management Examiner (RME) examines the bank</a:t>
            </a:r>
          </a:p>
          <a:p>
            <a:r>
              <a:rPr lang="en-US"/>
              <a:t>How well did the bank perform its Information Technology tasks?</a:t>
            </a:r>
          </a:p>
          <a:p>
            <a:r>
              <a:rPr lang="en-US"/>
              <a:t>RME: High-level assessment</a:t>
            </a:r>
          </a:p>
          <a:p>
            <a:r>
              <a:rPr lang="en-US"/>
              <a:t>ITE: Detailed assessment</a:t>
            </a:r>
          </a:p>
          <a:p>
            <a:r>
              <a:rPr lang="en-US"/>
              <a:t>Ask important, relevant questions at both levels of detail</a:t>
            </a:r>
          </a:p>
          <a:p>
            <a:endParaRPr lang="en-US"/>
          </a:p>
        </p:txBody>
      </p:sp>
      <p:sp>
        <p:nvSpPr>
          <p:cNvPr id="7" name="Text Placeholder 6"/>
          <p:cNvSpPr>
            <a:spLocks noGrp="1"/>
          </p:cNvSpPr>
          <p:nvPr>
            <p:ph type="body" sz="quarter" idx="3"/>
          </p:nvPr>
        </p:nvSpPr>
        <p:spPr/>
        <p:txBody>
          <a:bodyPr/>
          <a:lstStyle/>
          <a:p>
            <a:r>
              <a:rPr lang="en-US"/>
              <a:t>The Bank’s Role</a:t>
            </a:r>
          </a:p>
        </p:txBody>
      </p:sp>
      <p:sp>
        <p:nvSpPr>
          <p:cNvPr id="6" name="Content Placeholder 5"/>
          <p:cNvSpPr>
            <a:spLocks noGrp="1"/>
          </p:cNvSpPr>
          <p:nvPr>
            <p:ph sz="quarter" idx="4"/>
          </p:nvPr>
        </p:nvSpPr>
        <p:spPr/>
        <p:txBody>
          <a:bodyPr>
            <a:normAutofit fontScale="92500" lnSpcReduction="10000"/>
          </a:bodyPr>
          <a:lstStyle/>
          <a:p>
            <a:r>
              <a:rPr lang="en-US" dirty="0"/>
              <a:t>Information Technology risk is an operational risk</a:t>
            </a:r>
          </a:p>
          <a:p>
            <a:r>
              <a:rPr lang="en-US" dirty="0"/>
              <a:t>The bank is responsible for</a:t>
            </a:r>
          </a:p>
          <a:p>
            <a:pPr lvl="1"/>
            <a:r>
              <a:rPr lang="en-US" dirty="0"/>
              <a:t>Information Security</a:t>
            </a:r>
          </a:p>
          <a:p>
            <a:pPr lvl="1"/>
            <a:r>
              <a:rPr lang="en-US" dirty="0"/>
              <a:t>Information Technology Risk Assessment</a:t>
            </a:r>
          </a:p>
          <a:p>
            <a:pPr lvl="1"/>
            <a:r>
              <a:rPr lang="en-US" dirty="0"/>
              <a:t>Information Technology Audit</a:t>
            </a:r>
          </a:p>
          <a:p>
            <a:pPr lvl="1"/>
            <a:r>
              <a:rPr lang="en-US" dirty="0"/>
              <a:t>Business Continuity and Disaster Recovery Planning</a:t>
            </a:r>
          </a:p>
          <a:p>
            <a:pPr lvl="1"/>
            <a:endParaRPr lang="en-US" dirty="0"/>
          </a:p>
        </p:txBody>
      </p:sp>
      <p:sp>
        <p:nvSpPr>
          <p:cNvPr id="4" name="Title 3"/>
          <p:cNvSpPr>
            <a:spLocks noGrp="1"/>
          </p:cNvSpPr>
          <p:nvPr>
            <p:ph type="title"/>
          </p:nvPr>
        </p:nvSpPr>
        <p:spPr>
          <a:xfrm>
            <a:off x="731977" y="309149"/>
            <a:ext cx="15773400" cy="1988345"/>
          </a:xfrm>
        </p:spPr>
        <p:txBody>
          <a:bodyPr>
            <a:normAutofit/>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Putting Information Technology in Perspective</a:t>
            </a:r>
          </a:p>
        </p:txBody>
      </p:sp>
    </p:spTree>
    <p:custDataLst>
      <p:tags r:id="rId1"/>
    </p:custDataLst>
    <p:extLst>
      <p:ext uri="{BB962C8B-B14F-4D97-AF65-F5344CB8AC3E}">
        <p14:creationId xmlns:p14="http://schemas.microsoft.com/office/powerpoint/2010/main" val="3014934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11F92-B6FC-D5CF-61C6-711E6B303635}"/>
              </a:ext>
            </a:extLst>
          </p:cNvPr>
          <p:cNvSpPr>
            <a:spLocks noGrp="1"/>
          </p:cNvSpPr>
          <p:nvPr>
            <p:ph type="title"/>
          </p:nvPr>
        </p:nvSpPr>
        <p:spPr/>
        <p:txBody>
          <a:bodyPr/>
          <a:lstStyle/>
          <a:p>
            <a:r>
              <a:rPr lang="en-US" dirty="0"/>
              <a:t>Firewalls as Controls</a:t>
            </a:r>
          </a:p>
        </p:txBody>
      </p:sp>
      <p:sp>
        <p:nvSpPr>
          <p:cNvPr id="3" name="Content Placeholder 2">
            <a:extLst>
              <a:ext uri="{FF2B5EF4-FFF2-40B4-BE49-F238E27FC236}">
                <a16:creationId xmlns:a16="http://schemas.microsoft.com/office/drawing/2014/main" id="{B1E157F2-155E-831E-CF3D-2125A3B80FF9}"/>
              </a:ext>
            </a:extLst>
          </p:cNvPr>
          <p:cNvSpPr>
            <a:spLocks noGrp="1"/>
          </p:cNvSpPr>
          <p:nvPr>
            <p:ph idx="1"/>
          </p:nvPr>
        </p:nvSpPr>
        <p:spPr>
          <a:xfrm>
            <a:off x="1023384" y="2597169"/>
            <a:ext cx="5951574" cy="6967198"/>
          </a:xfrm>
        </p:spPr>
        <p:txBody>
          <a:bodyPr/>
          <a:lstStyle/>
          <a:p>
            <a:r>
              <a:rPr lang="en-US" dirty="0"/>
              <a:t>Firewalls can serve as both timing- and nature-related technical controls</a:t>
            </a:r>
          </a:p>
          <a:p>
            <a:r>
              <a:rPr lang="en-US" dirty="0"/>
              <a:t>FFIEC suggests a “layered control system” and we have one right here!</a:t>
            </a:r>
          </a:p>
          <a:p>
            <a:r>
              <a:rPr lang="en-US" dirty="0"/>
              <a:t>Clearly “firewall” means many different things</a:t>
            </a:r>
          </a:p>
        </p:txBody>
      </p:sp>
      <p:pic>
        <p:nvPicPr>
          <p:cNvPr id="1026" name="Picture 2" descr="Table 1 - Controls">
            <a:extLst>
              <a:ext uri="{FF2B5EF4-FFF2-40B4-BE49-F238E27FC236}">
                <a16:creationId xmlns:a16="http://schemas.microsoft.com/office/drawing/2014/main" id="{4E9154FB-EF33-E30E-F825-8440DC4F699B}"/>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168547" y="2597169"/>
            <a:ext cx="10758035" cy="6584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224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AC42B-537A-63D7-7EBC-C97AD9F6A6E1}"/>
              </a:ext>
            </a:extLst>
          </p:cNvPr>
          <p:cNvSpPr>
            <a:spLocks noGrp="1"/>
          </p:cNvSpPr>
          <p:nvPr>
            <p:ph type="title"/>
          </p:nvPr>
        </p:nvSpPr>
        <p:spPr>
          <a:xfrm>
            <a:off x="584438" y="204786"/>
            <a:ext cx="16446261" cy="1988345"/>
          </a:xfrm>
        </p:spPr>
        <p:txBody>
          <a:bodyPr/>
          <a:lstStyle/>
          <a:p>
            <a:r>
              <a:rPr lang="en-US" dirty="0"/>
              <a:t>What are community banks defending against?</a:t>
            </a:r>
          </a:p>
        </p:txBody>
      </p:sp>
      <p:sp>
        <p:nvSpPr>
          <p:cNvPr id="3" name="Content Placeholder 2">
            <a:extLst>
              <a:ext uri="{FF2B5EF4-FFF2-40B4-BE49-F238E27FC236}">
                <a16:creationId xmlns:a16="http://schemas.microsoft.com/office/drawing/2014/main" id="{4796CA31-D7F3-C3F4-E84A-A56461DD5B04}"/>
              </a:ext>
            </a:extLst>
          </p:cNvPr>
          <p:cNvSpPr>
            <a:spLocks noGrp="1"/>
          </p:cNvSpPr>
          <p:nvPr>
            <p:ph idx="1"/>
          </p:nvPr>
        </p:nvSpPr>
        <p:spPr>
          <a:xfrm>
            <a:off x="1257300" y="2193131"/>
            <a:ext cx="15773399" cy="6967198"/>
          </a:xfrm>
        </p:spPr>
        <p:txBody>
          <a:bodyPr/>
          <a:lstStyle/>
          <a:p>
            <a:r>
              <a:rPr lang="en-US" dirty="0"/>
              <a:t>Ransomware remains one of the highest-impact threats.</a:t>
            </a:r>
          </a:p>
          <a:p>
            <a:r>
              <a:rPr lang="en-US" dirty="0"/>
              <a:t>Credential theft increasingly bypasses traditional perimeter defenses.</a:t>
            </a:r>
          </a:p>
          <a:p>
            <a:pPr lvl="1"/>
            <a:r>
              <a:rPr lang="en-US" dirty="0"/>
              <a:t>Attackers increasingly log in rather than break in</a:t>
            </a:r>
          </a:p>
          <a:p>
            <a:r>
              <a:rPr lang="en-US" dirty="0"/>
              <a:t>Third-party compromises can directly affect bank operations.</a:t>
            </a:r>
          </a:p>
          <a:p>
            <a:r>
              <a:rPr lang="en-US" dirty="0"/>
              <a:t>Business email compromise continues to cause financial loss.</a:t>
            </a:r>
          </a:p>
          <a:p>
            <a:r>
              <a:rPr lang="en-US" dirty="0"/>
              <a:t>AI is changing everything and making</a:t>
            </a:r>
          </a:p>
          <a:p>
            <a:pPr lvl="1"/>
            <a:r>
              <a:rPr lang="en-US" dirty="0"/>
              <a:t>Phishing and social engineering more convincing.</a:t>
            </a:r>
          </a:p>
          <a:p>
            <a:pPr lvl="1"/>
            <a:r>
              <a:rPr lang="en-US" dirty="0"/>
              <a:t>Attacks of many kinds overwhelmingly faster</a:t>
            </a:r>
          </a:p>
          <a:p>
            <a:pPr lvl="1"/>
            <a:r>
              <a:rPr lang="en-US" dirty="0"/>
              <a:t>The speed of attack evolution is its own huge concern</a:t>
            </a:r>
          </a:p>
        </p:txBody>
      </p:sp>
    </p:spTree>
    <p:extLst>
      <p:ext uri="{BB962C8B-B14F-4D97-AF65-F5344CB8AC3E}">
        <p14:creationId xmlns:p14="http://schemas.microsoft.com/office/powerpoint/2010/main" val="3155862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91908-B79E-89E9-0E09-09133330793F}"/>
              </a:ext>
            </a:extLst>
          </p:cNvPr>
          <p:cNvSpPr>
            <a:spLocks noGrp="1"/>
          </p:cNvSpPr>
          <p:nvPr>
            <p:ph type="title"/>
          </p:nvPr>
        </p:nvSpPr>
        <p:spPr/>
        <p:txBody>
          <a:bodyPr/>
          <a:lstStyle/>
          <a:p>
            <a:r>
              <a:rPr lang="en-US" dirty="0"/>
              <a:t>Why Networking Matters</a:t>
            </a:r>
          </a:p>
        </p:txBody>
      </p:sp>
      <p:sp>
        <p:nvSpPr>
          <p:cNvPr id="3" name="Content Placeholder 2">
            <a:extLst>
              <a:ext uri="{FF2B5EF4-FFF2-40B4-BE49-F238E27FC236}">
                <a16:creationId xmlns:a16="http://schemas.microsoft.com/office/drawing/2014/main" id="{58786148-9D0E-1029-C6E8-7126F7B4544C}"/>
              </a:ext>
            </a:extLst>
          </p:cNvPr>
          <p:cNvSpPr>
            <a:spLocks noGrp="1"/>
          </p:cNvSpPr>
          <p:nvPr>
            <p:ph idx="1"/>
          </p:nvPr>
        </p:nvSpPr>
        <p:spPr/>
        <p:txBody>
          <a:bodyPr/>
          <a:lstStyle/>
          <a:p>
            <a:r>
              <a:rPr lang="en-US" dirty="0"/>
              <a:t>To evaluate a bank's security architecture, you first must understand how information moves through the bank.</a:t>
            </a:r>
          </a:p>
          <a:p>
            <a:pPr lvl="1"/>
            <a:r>
              <a:rPr lang="en-US" dirty="0"/>
              <a:t>Networks connect people, devices, and services.</a:t>
            </a:r>
          </a:p>
          <a:p>
            <a:pPr lvl="1"/>
            <a:r>
              <a:rPr lang="en-US" dirty="0"/>
              <a:t>Every connection creates both business value and risk.</a:t>
            </a:r>
          </a:p>
          <a:p>
            <a:pPr lvl="1"/>
            <a:r>
              <a:rPr lang="en-US" dirty="0"/>
              <a:t>Security begins with understanding those connections.</a:t>
            </a:r>
          </a:p>
          <a:p>
            <a:pPr lvl="1"/>
            <a:endParaRPr lang="en-US" dirty="0"/>
          </a:p>
          <a:p>
            <a:r>
              <a:rPr lang="en-US" dirty="0"/>
              <a:t>So that’s where we’re going next</a:t>
            </a:r>
          </a:p>
        </p:txBody>
      </p:sp>
    </p:spTree>
    <p:extLst>
      <p:ext uri="{BB962C8B-B14F-4D97-AF65-F5344CB8AC3E}">
        <p14:creationId xmlns:p14="http://schemas.microsoft.com/office/powerpoint/2010/main" val="1549857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DEFA-1E43-AC1E-F75F-30161492A3A8}"/>
            </a:ext>
          </a:extLst>
        </p:cNvPr>
        <p:cNvGrpSpPr/>
        <p:nvPr/>
      </p:nvGrpSpPr>
      <p:grpSpPr>
        <a:xfrm>
          <a:off x="0" y="0"/>
          <a:ext cx="0" cy="0"/>
          <a:chOff x="0" y="0"/>
          <a:chExt cx="0" cy="0"/>
        </a:xfrm>
      </p:grpSpPr>
      <p:pic>
        <p:nvPicPr>
          <p:cNvPr id="5" name="Picture 4" descr="A diagram of a network&#10;&#10;AI-generated content may be incorrect.">
            <a:extLst>
              <a:ext uri="{FF2B5EF4-FFF2-40B4-BE49-F238E27FC236}">
                <a16:creationId xmlns:a16="http://schemas.microsoft.com/office/drawing/2014/main" id="{EA57D907-54DC-CEDB-9963-B492F4E2D877}"/>
              </a:ext>
            </a:extLst>
          </p:cNvPr>
          <p:cNvPicPr>
            <a:picLocks noChangeAspect="1"/>
          </p:cNvPicPr>
          <p:nvPr/>
        </p:nvPicPr>
        <p:blipFill>
          <a:blip r:embed="rId2"/>
          <a:stretch>
            <a:fillRect/>
          </a:stretch>
        </p:blipFill>
        <p:spPr>
          <a:xfrm>
            <a:off x="3375420" y="2193131"/>
            <a:ext cx="10195468" cy="8036428"/>
          </a:xfrm>
          <a:prstGeom prst="rect">
            <a:avLst/>
          </a:prstGeom>
        </p:spPr>
      </p:pic>
      <p:sp>
        <p:nvSpPr>
          <p:cNvPr id="7" name="Title 6">
            <a:extLst>
              <a:ext uri="{FF2B5EF4-FFF2-40B4-BE49-F238E27FC236}">
                <a16:creationId xmlns:a16="http://schemas.microsoft.com/office/drawing/2014/main" id="{41402DBD-C187-5707-D087-0EC1F50191C1}"/>
              </a:ext>
            </a:extLst>
          </p:cNvPr>
          <p:cNvSpPr>
            <a:spLocks noGrp="1"/>
          </p:cNvSpPr>
          <p:nvPr>
            <p:ph type="title"/>
          </p:nvPr>
        </p:nvSpPr>
        <p:spPr/>
        <p:txBody>
          <a:bodyPr/>
          <a:lstStyle/>
          <a:p>
            <a:r>
              <a:rPr lang="en-US" dirty="0"/>
              <a:t>The Journey Ahead</a:t>
            </a:r>
          </a:p>
        </p:txBody>
      </p:sp>
    </p:spTree>
    <p:extLst>
      <p:ext uri="{BB962C8B-B14F-4D97-AF65-F5344CB8AC3E}">
        <p14:creationId xmlns:p14="http://schemas.microsoft.com/office/powerpoint/2010/main" val="2360272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Networking Fundamentals</a:t>
            </a:r>
          </a:p>
        </p:txBody>
      </p:sp>
      <p:sp>
        <p:nvSpPr>
          <p:cNvPr id="6" name="Subtitle 5"/>
          <p:cNvSpPr>
            <a:spLocks noGrp="1"/>
          </p:cNvSpPr>
          <p:nvPr>
            <p:ph type="subTitle" idx="1"/>
          </p:nvPr>
        </p:nvSpPr>
        <p:spPr/>
        <p:txBody>
          <a:bodyPr/>
          <a:lstStyle/>
          <a:p>
            <a:r>
              <a:rPr lang="en-US" dirty="0"/>
              <a:t>Chapter 2</a:t>
            </a:r>
          </a:p>
        </p:txBody>
      </p:sp>
    </p:spTree>
    <p:custDataLst>
      <p:tags r:id="rId1"/>
    </p:custDataLst>
    <p:extLst>
      <p:ext uri="{BB962C8B-B14F-4D97-AF65-F5344CB8AC3E}">
        <p14:creationId xmlns:p14="http://schemas.microsoft.com/office/powerpoint/2010/main" val="1032288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F22A4-79D7-41FB-F456-ED088B163E08}"/>
              </a:ext>
            </a:extLst>
          </p:cNvPr>
          <p:cNvSpPr>
            <a:spLocks noGrp="1"/>
          </p:cNvSpPr>
          <p:nvPr>
            <p:ph type="title"/>
          </p:nvPr>
        </p:nvSpPr>
        <p:spPr/>
        <p:txBody>
          <a:bodyPr/>
          <a:lstStyle/>
          <a:p>
            <a:r>
              <a:rPr lang="en-US" dirty="0"/>
              <a:t>Examiner Question</a:t>
            </a:r>
          </a:p>
        </p:txBody>
      </p:sp>
      <p:sp>
        <p:nvSpPr>
          <p:cNvPr id="3" name="Content Placeholder 2">
            <a:extLst>
              <a:ext uri="{FF2B5EF4-FFF2-40B4-BE49-F238E27FC236}">
                <a16:creationId xmlns:a16="http://schemas.microsoft.com/office/drawing/2014/main" id="{1C607FB0-1070-6E14-20EE-20C6DB9AE834}"/>
              </a:ext>
            </a:extLst>
          </p:cNvPr>
          <p:cNvSpPr>
            <a:spLocks noGrp="1"/>
          </p:cNvSpPr>
          <p:nvPr>
            <p:ph idx="1"/>
          </p:nvPr>
        </p:nvSpPr>
        <p:spPr/>
        <p:txBody>
          <a:bodyPr>
            <a:normAutofit/>
          </a:bodyPr>
          <a:lstStyle/>
          <a:p>
            <a:r>
              <a:rPr lang="en-US" i="1" dirty="0"/>
              <a:t>How does information move through the bank, and what should I understand before evaluating its security?</a:t>
            </a:r>
          </a:p>
          <a:p>
            <a:endParaRPr lang="en-US" i="1" dirty="0"/>
          </a:p>
          <a:p>
            <a:r>
              <a:rPr lang="en-US" dirty="0"/>
              <a:t>We need to be sure we can:</a:t>
            </a:r>
          </a:p>
          <a:p>
            <a:pPr lvl="1"/>
            <a:r>
              <a:rPr lang="en-US" dirty="0"/>
              <a:t>Understand the components of a bank network.</a:t>
            </a:r>
          </a:p>
          <a:p>
            <a:pPr lvl="1"/>
            <a:r>
              <a:rPr lang="en-US" dirty="0"/>
              <a:t>Follow data from one endpoint to another.</a:t>
            </a:r>
          </a:p>
          <a:p>
            <a:pPr lvl="1"/>
            <a:r>
              <a:rPr lang="en-US" dirty="0"/>
              <a:t>Recognize where security controls operate.</a:t>
            </a:r>
          </a:p>
          <a:p>
            <a:pPr lvl="1"/>
            <a:r>
              <a:rPr lang="en-US" dirty="0"/>
              <a:t>Understand that “firewalls” are only a subset of these</a:t>
            </a:r>
          </a:p>
          <a:p>
            <a:pPr marL="0" indent="0">
              <a:buNone/>
            </a:pPr>
            <a:endParaRPr lang="en-US" dirty="0"/>
          </a:p>
          <a:p>
            <a:r>
              <a:rPr lang="en-US" dirty="0"/>
              <a:t>We should also build vocabulary for the rest of the course.</a:t>
            </a:r>
          </a:p>
        </p:txBody>
      </p:sp>
    </p:spTree>
    <p:extLst>
      <p:ext uri="{BB962C8B-B14F-4D97-AF65-F5344CB8AC3E}">
        <p14:creationId xmlns:p14="http://schemas.microsoft.com/office/powerpoint/2010/main" val="2730399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CE562-1797-20E6-A32C-9D1BE9275903}"/>
              </a:ext>
            </a:extLst>
          </p:cNvPr>
          <p:cNvSpPr>
            <a:spLocks noGrp="1"/>
          </p:cNvSpPr>
          <p:nvPr>
            <p:ph type="title"/>
          </p:nvPr>
        </p:nvSpPr>
        <p:spPr/>
        <p:txBody>
          <a:bodyPr/>
          <a:lstStyle/>
          <a:p>
            <a:r>
              <a:rPr lang="en-US" dirty="0"/>
              <a:t>What is a Network?	</a:t>
            </a:r>
          </a:p>
        </p:txBody>
      </p:sp>
      <p:sp>
        <p:nvSpPr>
          <p:cNvPr id="3" name="Content Placeholder 2">
            <a:extLst>
              <a:ext uri="{FF2B5EF4-FFF2-40B4-BE49-F238E27FC236}">
                <a16:creationId xmlns:a16="http://schemas.microsoft.com/office/drawing/2014/main" id="{A3AC1366-0B60-0A4D-E5FD-A1398A909775}"/>
              </a:ext>
            </a:extLst>
          </p:cNvPr>
          <p:cNvSpPr>
            <a:spLocks noGrp="1"/>
          </p:cNvSpPr>
          <p:nvPr>
            <p:ph idx="1"/>
          </p:nvPr>
        </p:nvSpPr>
        <p:spPr/>
        <p:txBody>
          <a:bodyPr/>
          <a:lstStyle/>
          <a:p>
            <a:r>
              <a:rPr lang="en-US" dirty="0"/>
              <a:t>A surprisingly subtle question, depending on context</a:t>
            </a:r>
          </a:p>
          <a:p>
            <a:r>
              <a:rPr lang="en-US" dirty="0"/>
              <a:t>For now: Connected devices sharing information on the LAN</a:t>
            </a:r>
          </a:p>
          <a:p>
            <a:pPr lvl="1"/>
            <a:r>
              <a:rPr lang="en-US" dirty="0"/>
              <a:t>teller workstation</a:t>
            </a:r>
          </a:p>
          <a:p>
            <a:pPr lvl="1"/>
            <a:r>
              <a:rPr lang="en-US" dirty="0"/>
              <a:t>printer</a:t>
            </a:r>
          </a:p>
          <a:p>
            <a:pPr lvl="1"/>
            <a:r>
              <a:rPr lang="en-US" dirty="0"/>
              <a:t>ATM</a:t>
            </a:r>
          </a:p>
          <a:p>
            <a:pPr lvl="1"/>
            <a:r>
              <a:rPr lang="en-US" dirty="0"/>
              <a:t>loan officer laptop</a:t>
            </a:r>
          </a:p>
          <a:p>
            <a:pPr lvl="1"/>
            <a:r>
              <a:rPr lang="en-US" dirty="0"/>
              <a:t>cloud application</a:t>
            </a:r>
          </a:p>
          <a:p>
            <a:r>
              <a:rPr lang="en-US" dirty="0"/>
              <a:t>Later: Everything that bank can connect to across the WAN</a:t>
            </a:r>
          </a:p>
          <a:p>
            <a:pPr lvl="1"/>
            <a:r>
              <a:rPr lang="en-US" dirty="0"/>
              <a:t>Literally everything on the internet</a:t>
            </a:r>
          </a:p>
        </p:txBody>
      </p:sp>
    </p:spTree>
    <p:extLst>
      <p:ext uri="{BB962C8B-B14F-4D97-AF65-F5344CB8AC3E}">
        <p14:creationId xmlns:p14="http://schemas.microsoft.com/office/powerpoint/2010/main" val="2074399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1BC4D-5D8A-3A90-701E-FBBA5E1593A1}"/>
              </a:ext>
            </a:extLst>
          </p:cNvPr>
          <p:cNvSpPr>
            <a:spLocks noGrp="1"/>
          </p:cNvSpPr>
          <p:nvPr>
            <p:ph type="title"/>
          </p:nvPr>
        </p:nvSpPr>
        <p:spPr/>
        <p:txBody>
          <a:bodyPr/>
          <a:lstStyle/>
          <a:p>
            <a:r>
              <a:rPr lang="en-US" dirty="0"/>
              <a:t>PVB Network Resources</a:t>
            </a:r>
          </a:p>
        </p:txBody>
      </p:sp>
      <p:pic>
        <p:nvPicPr>
          <p:cNvPr id="5" name="Content Placeholder 4" descr="A diagram of a company&#10;&#10;AI-generated content may be incorrect.">
            <a:extLst>
              <a:ext uri="{FF2B5EF4-FFF2-40B4-BE49-F238E27FC236}">
                <a16:creationId xmlns:a16="http://schemas.microsoft.com/office/drawing/2014/main" id="{3C59519E-60FF-2BFD-78F6-8559A69A7E4B}"/>
              </a:ext>
            </a:extLst>
          </p:cNvPr>
          <p:cNvPicPr>
            <a:picLocks noGrp="1" noChangeAspect="1"/>
          </p:cNvPicPr>
          <p:nvPr>
            <p:ph idx="1"/>
          </p:nvPr>
        </p:nvPicPr>
        <p:blipFill>
          <a:blip r:embed="rId2"/>
          <a:stretch>
            <a:fillRect/>
          </a:stretch>
        </p:blipFill>
        <p:spPr>
          <a:xfrm>
            <a:off x="2988333" y="2689715"/>
            <a:ext cx="11897081" cy="6692108"/>
          </a:xfrm>
        </p:spPr>
      </p:pic>
      <p:sp>
        <p:nvSpPr>
          <p:cNvPr id="6" name="Rectangle 5">
            <a:extLst>
              <a:ext uri="{FF2B5EF4-FFF2-40B4-BE49-F238E27FC236}">
                <a16:creationId xmlns:a16="http://schemas.microsoft.com/office/drawing/2014/main" id="{069366ED-61E2-BF28-EE29-00E6E6169172}"/>
              </a:ext>
            </a:extLst>
          </p:cNvPr>
          <p:cNvSpPr/>
          <p:nvPr/>
        </p:nvSpPr>
        <p:spPr>
          <a:xfrm>
            <a:off x="5763030" y="2603990"/>
            <a:ext cx="6750996" cy="948430"/>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Elements and Locations</a:t>
            </a:r>
          </a:p>
        </p:txBody>
      </p:sp>
    </p:spTree>
    <p:extLst>
      <p:ext uri="{BB962C8B-B14F-4D97-AF65-F5344CB8AC3E}">
        <p14:creationId xmlns:p14="http://schemas.microsoft.com/office/powerpoint/2010/main" val="487798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FDE2-2F91-9F84-735E-057E8DD6C8E1}"/>
              </a:ext>
            </a:extLst>
          </p:cNvPr>
          <p:cNvSpPr>
            <a:spLocks noGrp="1"/>
          </p:cNvSpPr>
          <p:nvPr>
            <p:ph type="title"/>
          </p:nvPr>
        </p:nvSpPr>
        <p:spPr/>
        <p:txBody>
          <a:bodyPr/>
          <a:lstStyle/>
          <a:p>
            <a:r>
              <a:rPr lang="en-US" dirty="0"/>
              <a:t>Common Network Components</a:t>
            </a:r>
          </a:p>
        </p:txBody>
      </p:sp>
      <p:sp>
        <p:nvSpPr>
          <p:cNvPr id="3" name="Content Placeholder 2">
            <a:extLst>
              <a:ext uri="{FF2B5EF4-FFF2-40B4-BE49-F238E27FC236}">
                <a16:creationId xmlns:a16="http://schemas.microsoft.com/office/drawing/2014/main" id="{0759E972-5743-A3B8-49DC-6D734563BD35}"/>
              </a:ext>
            </a:extLst>
          </p:cNvPr>
          <p:cNvSpPr>
            <a:spLocks noGrp="1"/>
          </p:cNvSpPr>
          <p:nvPr>
            <p:ph idx="1"/>
          </p:nvPr>
        </p:nvSpPr>
        <p:spPr>
          <a:xfrm>
            <a:off x="1257300" y="2193131"/>
            <a:ext cx="9858375" cy="6967198"/>
          </a:xfrm>
        </p:spPr>
        <p:txBody>
          <a:bodyPr>
            <a:normAutofit fontScale="92500" lnSpcReduction="10000"/>
          </a:bodyPr>
          <a:lstStyle/>
          <a:p>
            <a:r>
              <a:rPr lang="en-US" dirty="0"/>
              <a:t>Network Equipment</a:t>
            </a:r>
          </a:p>
          <a:p>
            <a:pPr lvl="1"/>
            <a:r>
              <a:rPr lang="en-US" dirty="0"/>
              <a:t>Switches</a:t>
            </a:r>
          </a:p>
          <a:p>
            <a:pPr lvl="1"/>
            <a:r>
              <a:rPr lang="en-US" dirty="0"/>
              <a:t>Routers</a:t>
            </a:r>
          </a:p>
          <a:p>
            <a:pPr lvl="1"/>
            <a:r>
              <a:rPr lang="en-US" dirty="0"/>
              <a:t>Firewalls</a:t>
            </a:r>
          </a:p>
          <a:p>
            <a:pPr lvl="1"/>
            <a:r>
              <a:rPr lang="en-US" dirty="0"/>
              <a:t>Wireless access points</a:t>
            </a:r>
          </a:p>
          <a:p>
            <a:r>
              <a:rPr lang="en-US" dirty="0"/>
              <a:t>Endpoints</a:t>
            </a:r>
          </a:p>
          <a:p>
            <a:pPr lvl="1"/>
            <a:r>
              <a:rPr lang="en-US" dirty="0"/>
              <a:t>Clients</a:t>
            </a:r>
          </a:p>
          <a:p>
            <a:pPr lvl="1"/>
            <a:r>
              <a:rPr lang="en-US" dirty="0"/>
              <a:t>Desktops/laptops/phones/tablets</a:t>
            </a:r>
          </a:p>
          <a:p>
            <a:pPr lvl="1"/>
            <a:r>
              <a:rPr lang="en-US" dirty="0"/>
              <a:t>Servers</a:t>
            </a:r>
          </a:p>
          <a:p>
            <a:r>
              <a:rPr lang="en-US" dirty="0"/>
              <a:t>Devices</a:t>
            </a:r>
          </a:p>
          <a:p>
            <a:pPr lvl="1"/>
            <a:r>
              <a:rPr lang="en-US" dirty="0"/>
              <a:t>Phones</a:t>
            </a:r>
          </a:p>
          <a:p>
            <a:pPr lvl="1"/>
            <a:r>
              <a:rPr lang="en-US" dirty="0"/>
              <a:t>Cameras</a:t>
            </a:r>
          </a:p>
          <a:p>
            <a:pPr lvl="1"/>
            <a:r>
              <a:rPr lang="en-US" dirty="0"/>
              <a:t>IoT thingies</a:t>
            </a:r>
          </a:p>
        </p:txBody>
      </p:sp>
      <p:sp>
        <p:nvSpPr>
          <p:cNvPr id="4" name="TextBox 3">
            <a:extLst>
              <a:ext uri="{FF2B5EF4-FFF2-40B4-BE49-F238E27FC236}">
                <a16:creationId xmlns:a16="http://schemas.microsoft.com/office/drawing/2014/main" id="{2E908E68-265E-6CDF-070A-35CB41AC8B7C}"/>
              </a:ext>
            </a:extLst>
          </p:cNvPr>
          <p:cNvSpPr txBox="1"/>
          <p:nvPr/>
        </p:nvSpPr>
        <p:spPr>
          <a:xfrm>
            <a:off x="10572751" y="4029075"/>
            <a:ext cx="6057900" cy="3046988"/>
          </a:xfrm>
          <a:prstGeom prst="rect">
            <a:avLst/>
          </a:prstGeom>
          <a:noFill/>
        </p:spPr>
        <p:txBody>
          <a:bodyPr wrap="square" rtlCol="0">
            <a:spAutoFit/>
          </a:bodyPr>
          <a:lstStyle/>
          <a:p>
            <a:r>
              <a:rPr lang="en-US" sz="4800" dirty="0"/>
              <a:t>What’s missing here?</a:t>
            </a:r>
          </a:p>
          <a:p>
            <a:endParaRPr lang="en-US" sz="4800" dirty="0"/>
          </a:p>
          <a:p>
            <a:r>
              <a:rPr lang="en-US" sz="4800" dirty="0"/>
              <a:t>What else have you seen in a bank?</a:t>
            </a:r>
          </a:p>
        </p:txBody>
      </p:sp>
    </p:spTree>
    <p:extLst>
      <p:ext uri="{BB962C8B-B14F-4D97-AF65-F5344CB8AC3E}">
        <p14:creationId xmlns:p14="http://schemas.microsoft.com/office/powerpoint/2010/main" val="1233434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7220" y="770917"/>
            <a:ext cx="16870680" cy="617220"/>
          </a:xfrm>
          <a:prstGeom prst="rect">
            <a:avLst/>
          </a:prstGeom>
          <a:noFill/>
          <a:ln/>
        </p:spPr>
        <p:txBody>
          <a:bodyPr wrap="square" lIns="0" tIns="0" rIns="0" bIns="0" rtlCol="0" anchor="ctr"/>
          <a:lstStyle/>
          <a:p>
            <a:r>
              <a:rPr lang="en-US" sz="66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Following a Transaction: Teller Balance Inquiry</a:t>
            </a:r>
          </a:p>
        </p:txBody>
      </p:sp>
      <p:sp>
        <p:nvSpPr>
          <p:cNvPr id="3" name="Text 1"/>
          <p:cNvSpPr/>
          <p:nvPr/>
        </p:nvSpPr>
        <p:spPr>
          <a:xfrm>
            <a:off x="891540" y="1974705"/>
            <a:ext cx="3909060" cy="301752"/>
          </a:xfrm>
          <a:prstGeom prst="rect">
            <a:avLst/>
          </a:prstGeom>
          <a:noFill/>
          <a:ln/>
        </p:spPr>
        <p:txBody>
          <a:bodyPr wrap="square" lIns="0" tIns="0" rIns="0" bIns="0" rtlCol="0" anchor="ctr"/>
          <a:lstStyle/>
          <a:p>
            <a:r>
              <a:rPr lang="en-US" sz="2400" b="1" dirty="0">
                <a:solidFill>
                  <a:srgbClr val="2B6FA3"/>
                </a:solidFill>
              </a:rPr>
              <a:t>PINE VALLEY EAST BRANCH</a:t>
            </a:r>
            <a:endParaRPr lang="en-US" sz="2400" dirty="0"/>
          </a:p>
        </p:txBody>
      </p:sp>
      <p:sp>
        <p:nvSpPr>
          <p:cNvPr id="4" name="Text 2"/>
          <p:cNvSpPr/>
          <p:nvPr/>
        </p:nvSpPr>
        <p:spPr>
          <a:xfrm>
            <a:off x="891540" y="6336393"/>
            <a:ext cx="3909060" cy="301752"/>
          </a:xfrm>
          <a:prstGeom prst="rect">
            <a:avLst/>
          </a:prstGeom>
          <a:noFill/>
          <a:ln/>
        </p:spPr>
        <p:txBody>
          <a:bodyPr wrap="square" lIns="0" tIns="0" rIns="0" bIns="0" rtlCol="0" anchor="ctr"/>
          <a:lstStyle/>
          <a:p>
            <a:r>
              <a:rPr lang="en-US" sz="2400" b="1" dirty="0">
                <a:solidFill>
                  <a:srgbClr val="5B6770"/>
                </a:solidFill>
              </a:rPr>
              <a:t>PROVIDER NETWORK</a:t>
            </a:r>
            <a:endParaRPr lang="en-US" sz="2400" dirty="0"/>
          </a:p>
        </p:txBody>
      </p:sp>
      <p:sp>
        <p:nvSpPr>
          <p:cNvPr id="5" name="Text 3"/>
          <p:cNvSpPr/>
          <p:nvPr/>
        </p:nvSpPr>
        <p:spPr>
          <a:xfrm>
            <a:off x="891539" y="7625697"/>
            <a:ext cx="4205743" cy="301752"/>
          </a:xfrm>
          <a:prstGeom prst="rect">
            <a:avLst/>
          </a:prstGeom>
          <a:noFill/>
          <a:ln/>
        </p:spPr>
        <p:txBody>
          <a:bodyPr wrap="square" lIns="0" tIns="0" rIns="0" bIns="0" rtlCol="0" anchor="ctr"/>
          <a:lstStyle/>
          <a:p>
            <a:r>
              <a:rPr lang="en-US" sz="2400" b="1" dirty="0">
                <a:solidFill>
                  <a:srgbClr val="2E7D7D"/>
                </a:solidFill>
              </a:rPr>
              <a:t>CORE PROCESSOR DATA CENTER</a:t>
            </a:r>
            <a:endParaRPr lang="en-US" sz="2400" dirty="0"/>
          </a:p>
        </p:txBody>
      </p:sp>
      <p:sp>
        <p:nvSpPr>
          <p:cNvPr id="6" name="Shape 4"/>
          <p:cNvSpPr/>
          <p:nvPr/>
        </p:nvSpPr>
        <p:spPr>
          <a:xfrm>
            <a:off x="9155430" y="2646789"/>
            <a:ext cx="0" cy="233172"/>
          </a:xfrm>
          <a:prstGeom prst="line">
            <a:avLst/>
          </a:prstGeom>
          <a:noFill/>
          <a:ln w="19050">
            <a:solidFill>
              <a:srgbClr val="8795A1"/>
            </a:solidFill>
            <a:prstDash val="solid"/>
            <a:tailEnd type="triangle"/>
          </a:ln>
        </p:spPr>
        <p:txBody>
          <a:bodyPr/>
          <a:lstStyle/>
          <a:p>
            <a:endParaRPr lang="en-US" sz="2700"/>
          </a:p>
        </p:txBody>
      </p:sp>
      <p:sp>
        <p:nvSpPr>
          <p:cNvPr id="7" name="Shape 5"/>
          <p:cNvSpPr/>
          <p:nvPr/>
        </p:nvSpPr>
        <p:spPr>
          <a:xfrm>
            <a:off x="9155430" y="3538329"/>
            <a:ext cx="0" cy="233172"/>
          </a:xfrm>
          <a:prstGeom prst="line">
            <a:avLst/>
          </a:prstGeom>
          <a:noFill/>
          <a:ln w="19050">
            <a:solidFill>
              <a:srgbClr val="8795A1"/>
            </a:solidFill>
            <a:prstDash val="solid"/>
            <a:tailEnd type="triangle"/>
          </a:ln>
        </p:spPr>
        <p:txBody>
          <a:bodyPr/>
          <a:lstStyle/>
          <a:p>
            <a:endParaRPr lang="en-US" sz="2700"/>
          </a:p>
        </p:txBody>
      </p:sp>
      <p:sp>
        <p:nvSpPr>
          <p:cNvPr id="8" name="Shape 6"/>
          <p:cNvSpPr/>
          <p:nvPr/>
        </p:nvSpPr>
        <p:spPr>
          <a:xfrm>
            <a:off x="9155430" y="4429869"/>
            <a:ext cx="0" cy="233172"/>
          </a:xfrm>
          <a:prstGeom prst="line">
            <a:avLst/>
          </a:prstGeom>
          <a:noFill/>
          <a:ln w="19050">
            <a:solidFill>
              <a:srgbClr val="8795A1"/>
            </a:solidFill>
            <a:prstDash val="solid"/>
            <a:tailEnd type="triangle"/>
          </a:ln>
        </p:spPr>
        <p:txBody>
          <a:bodyPr/>
          <a:lstStyle/>
          <a:p>
            <a:endParaRPr lang="en-US" sz="2700"/>
          </a:p>
        </p:txBody>
      </p:sp>
      <p:sp>
        <p:nvSpPr>
          <p:cNvPr id="9" name="Shape 7"/>
          <p:cNvSpPr/>
          <p:nvPr/>
        </p:nvSpPr>
        <p:spPr>
          <a:xfrm>
            <a:off x="9155430" y="5321409"/>
            <a:ext cx="0" cy="233172"/>
          </a:xfrm>
          <a:prstGeom prst="line">
            <a:avLst/>
          </a:prstGeom>
          <a:noFill/>
          <a:ln w="19050">
            <a:solidFill>
              <a:srgbClr val="8795A1"/>
            </a:solidFill>
            <a:prstDash val="solid"/>
            <a:tailEnd type="triangle"/>
          </a:ln>
        </p:spPr>
        <p:txBody>
          <a:bodyPr/>
          <a:lstStyle/>
          <a:p>
            <a:endParaRPr lang="en-US" sz="2700"/>
          </a:p>
        </p:txBody>
      </p:sp>
      <p:sp>
        <p:nvSpPr>
          <p:cNvPr id="10" name="Shape 8"/>
          <p:cNvSpPr/>
          <p:nvPr/>
        </p:nvSpPr>
        <p:spPr>
          <a:xfrm>
            <a:off x="9155430" y="6212949"/>
            <a:ext cx="0" cy="150876"/>
          </a:xfrm>
          <a:prstGeom prst="line">
            <a:avLst/>
          </a:prstGeom>
          <a:noFill/>
          <a:ln w="19050">
            <a:solidFill>
              <a:srgbClr val="8795A1"/>
            </a:solidFill>
            <a:prstDash val="solid"/>
            <a:tailEnd type="triangle"/>
          </a:ln>
        </p:spPr>
        <p:txBody>
          <a:bodyPr/>
          <a:lstStyle/>
          <a:p>
            <a:endParaRPr lang="en-US" sz="2700"/>
          </a:p>
        </p:txBody>
      </p:sp>
      <p:sp>
        <p:nvSpPr>
          <p:cNvPr id="11" name="Shape 9"/>
          <p:cNvSpPr/>
          <p:nvPr/>
        </p:nvSpPr>
        <p:spPr>
          <a:xfrm>
            <a:off x="9155430" y="7022193"/>
            <a:ext cx="0" cy="658368"/>
          </a:xfrm>
          <a:prstGeom prst="line">
            <a:avLst/>
          </a:prstGeom>
          <a:noFill/>
          <a:ln w="19050">
            <a:solidFill>
              <a:srgbClr val="8795A1"/>
            </a:solidFill>
            <a:prstDash val="solid"/>
            <a:tailEnd type="triangle"/>
          </a:ln>
        </p:spPr>
        <p:txBody>
          <a:bodyPr/>
          <a:lstStyle/>
          <a:p>
            <a:endParaRPr lang="en-US" sz="2700"/>
          </a:p>
        </p:txBody>
      </p:sp>
      <p:sp>
        <p:nvSpPr>
          <p:cNvPr id="12" name="Shape 10"/>
          <p:cNvSpPr/>
          <p:nvPr/>
        </p:nvSpPr>
        <p:spPr>
          <a:xfrm>
            <a:off x="9155430" y="8338929"/>
            <a:ext cx="0" cy="233172"/>
          </a:xfrm>
          <a:prstGeom prst="line">
            <a:avLst/>
          </a:prstGeom>
          <a:noFill/>
          <a:ln w="19050">
            <a:solidFill>
              <a:srgbClr val="8795A1"/>
            </a:solidFill>
            <a:prstDash val="solid"/>
            <a:tailEnd type="triangle"/>
          </a:ln>
        </p:spPr>
        <p:txBody>
          <a:bodyPr/>
          <a:lstStyle/>
          <a:p>
            <a:endParaRPr lang="en-US" sz="2700"/>
          </a:p>
        </p:txBody>
      </p:sp>
      <p:sp>
        <p:nvSpPr>
          <p:cNvPr id="13" name="Text 11"/>
          <p:cNvSpPr/>
          <p:nvPr/>
        </p:nvSpPr>
        <p:spPr>
          <a:xfrm>
            <a:off x="885825" y="5635734"/>
            <a:ext cx="5829300" cy="301752"/>
          </a:xfrm>
          <a:prstGeom prst="rect">
            <a:avLst/>
          </a:prstGeom>
          <a:noFill/>
          <a:ln/>
        </p:spPr>
        <p:txBody>
          <a:bodyPr wrap="square" lIns="0" tIns="0" rIns="0" bIns="0" rtlCol="0" anchor="ctr"/>
          <a:lstStyle/>
          <a:p>
            <a:r>
              <a:rPr lang="en-US" sz="2800" i="1" dirty="0">
                <a:solidFill>
                  <a:srgbClr val="5B6770"/>
                </a:solidFill>
              </a:rPr>
              <a:t>encrypted provider connection</a:t>
            </a:r>
            <a:endParaRPr lang="en-US" sz="2800" dirty="0"/>
          </a:p>
        </p:txBody>
      </p:sp>
      <p:sp>
        <p:nvSpPr>
          <p:cNvPr id="14" name="Text 12"/>
          <p:cNvSpPr/>
          <p:nvPr/>
        </p:nvSpPr>
        <p:spPr>
          <a:xfrm>
            <a:off x="13293090" y="4526280"/>
            <a:ext cx="3634740" cy="891540"/>
          </a:xfrm>
          <a:prstGeom prst="rect">
            <a:avLst/>
          </a:prstGeom>
          <a:noFill/>
          <a:ln/>
        </p:spPr>
        <p:txBody>
          <a:bodyPr wrap="square" lIns="953" tIns="953" rIns="953" bIns="953" rtlCol="0" anchor="ctr">
            <a:normAutofit/>
          </a:bodyPr>
          <a:lstStyle/>
          <a:p>
            <a:r>
              <a:rPr lang="en-US" sz="2250" b="1" dirty="0">
                <a:solidFill>
                  <a:srgbClr val="15324B"/>
                </a:solidFill>
              </a:rPr>
              <a:t>Response returns</a:t>
            </a:r>
            <a:endParaRPr lang="en-US" sz="2250" dirty="0"/>
          </a:p>
          <a:p>
            <a:r>
              <a:rPr lang="en-US" sz="2250" b="1" dirty="0">
                <a:solidFill>
                  <a:srgbClr val="15324B"/>
                </a:solidFill>
              </a:rPr>
              <a:t>along the same path</a:t>
            </a:r>
            <a:endParaRPr lang="en-US" sz="2250" dirty="0"/>
          </a:p>
        </p:txBody>
      </p:sp>
      <p:sp>
        <p:nvSpPr>
          <p:cNvPr id="15" name="Text 13"/>
          <p:cNvSpPr/>
          <p:nvPr/>
        </p:nvSpPr>
        <p:spPr>
          <a:xfrm>
            <a:off x="14292072" y="5019657"/>
            <a:ext cx="548640" cy="2674620"/>
          </a:xfrm>
          <a:prstGeom prst="rect">
            <a:avLst/>
          </a:prstGeom>
          <a:noFill/>
          <a:ln/>
        </p:spPr>
        <p:txBody>
          <a:bodyPr wrap="square" lIns="0" tIns="0" rIns="0" bIns="0" rtlCol="0" anchor="ctr"/>
          <a:lstStyle/>
          <a:p>
            <a:pPr algn="ctr"/>
            <a:r>
              <a:rPr lang="en-US" sz="6600" b="1" dirty="0">
                <a:solidFill>
                  <a:srgbClr val="2E7D7D"/>
                </a:solidFill>
              </a:rPr>
              <a:t>↑</a:t>
            </a:r>
            <a:endParaRPr lang="en-US" sz="6600" dirty="0"/>
          </a:p>
        </p:txBody>
      </p:sp>
      <p:sp>
        <p:nvSpPr>
          <p:cNvPr id="16" name="Shape 14"/>
          <p:cNvSpPr/>
          <p:nvPr/>
        </p:nvSpPr>
        <p:spPr>
          <a:xfrm>
            <a:off x="5829300" y="201585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17" name="Text 15"/>
          <p:cNvSpPr/>
          <p:nvPr/>
        </p:nvSpPr>
        <p:spPr>
          <a:xfrm>
            <a:off x="6035040" y="2098149"/>
            <a:ext cx="6240780" cy="246888"/>
          </a:xfrm>
          <a:prstGeom prst="rect">
            <a:avLst/>
          </a:prstGeom>
          <a:noFill/>
          <a:ln/>
        </p:spPr>
        <p:txBody>
          <a:bodyPr wrap="square" lIns="0" tIns="0" rIns="0" bIns="0" rtlCol="0" anchor="ctr"/>
          <a:lstStyle/>
          <a:p>
            <a:r>
              <a:rPr lang="en-US" sz="2325" b="1" dirty="0">
                <a:solidFill>
                  <a:srgbClr val="15324B"/>
                </a:solidFill>
              </a:rPr>
              <a:t>Customer</a:t>
            </a:r>
            <a:endParaRPr lang="en-US" sz="2325" dirty="0"/>
          </a:p>
        </p:txBody>
      </p:sp>
      <p:sp>
        <p:nvSpPr>
          <p:cNvPr id="18" name="Text 16"/>
          <p:cNvSpPr/>
          <p:nvPr/>
        </p:nvSpPr>
        <p:spPr>
          <a:xfrm>
            <a:off x="6035040" y="2386185"/>
            <a:ext cx="6240780" cy="205740"/>
          </a:xfrm>
          <a:prstGeom prst="rect">
            <a:avLst/>
          </a:prstGeom>
          <a:noFill/>
          <a:ln/>
        </p:spPr>
        <p:txBody>
          <a:bodyPr wrap="square" lIns="0" tIns="0" rIns="0" bIns="0" rtlCol="0" anchor="ctr"/>
          <a:lstStyle/>
          <a:p>
            <a:r>
              <a:rPr lang="en-US" sz="1455" dirty="0">
                <a:solidFill>
                  <a:srgbClr val="5B6770"/>
                </a:solidFill>
              </a:rPr>
              <a:t>“What’s my balance?”</a:t>
            </a:r>
            <a:endParaRPr lang="en-US" sz="1455" dirty="0"/>
          </a:p>
        </p:txBody>
      </p:sp>
      <p:sp>
        <p:nvSpPr>
          <p:cNvPr id="19" name="Shape 17"/>
          <p:cNvSpPr/>
          <p:nvPr/>
        </p:nvSpPr>
        <p:spPr>
          <a:xfrm>
            <a:off x="5829300" y="290739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0" name="Text 18"/>
          <p:cNvSpPr/>
          <p:nvPr/>
        </p:nvSpPr>
        <p:spPr>
          <a:xfrm>
            <a:off x="6035040" y="2989689"/>
            <a:ext cx="6240780" cy="246888"/>
          </a:xfrm>
          <a:prstGeom prst="rect">
            <a:avLst/>
          </a:prstGeom>
          <a:noFill/>
          <a:ln/>
        </p:spPr>
        <p:txBody>
          <a:bodyPr wrap="square" lIns="0" tIns="0" rIns="0" bIns="0" rtlCol="0" anchor="ctr"/>
          <a:lstStyle/>
          <a:p>
            <a:r>
              <a:rPr lang="en-US" sz="2325" b="1" dirty="0">
                <a:solidFill>
                  <a:srgbClr val="15324B"/>
                </a:solidFill>
              </a:rPr>
              <a:t>Teller</a:t>
            </a:r>
            <a:endParaRPr lang="en-US" sz="2325" dirty="0"/>
          </a:p>
        </p:txBody>
      </p:sp>
      <p:sp>
        <p:nvSpPr>
          <p:cNvPr id="21" name="Text 19"/>
          <p:cNvSpPr/>
          <p:nvPr/>
        </p:nvSpPr>
        <p:spPr>
          <a:xfrm>
            <a:off x="6035040" y="3277725"/>
            <a:ext cx="6240780" cy="205740"/>
          </a:xfrm>
          <a:prstGeom prst="rect">
            <a:avLst/>
          </a:prstGeom>
          <a:noFill/>
          <a:ln/>
        </p:spPr>
        <p:txBody>
          <a:bodyPr wrap="square" lIns="0" tIns="0" rIns="0" bIns="0" rtlCol="0" anchor="ctr"/>
          <a:lstStyle/>
          <a:p>
            <a:r>
              <a:rPr lang="en-US" sz="1455" dirty="0">
                <a:solidFill>
                  <a:srgbClr val="5B6770"/>
                </a:solidFill>
              </a:rPr>
              <a:t>Receives the request</a:t>
            </a:r>
            <a:endParaRPr lang="en-US" sz="1455" dirty="0"/>
          </a:p>
        </p:txBody>
      </p:sp>
      <p:sp>
        <p:nvSpPr>
          <p:cNvPr id="22" name="Shape 20"/>
          <p:cNvSpPr/>
          <p:nvPr/>
        </p:nvSpPr>
        <p:spPr>
          <a:xfrm>
            <a:off x="5829300" y="379893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3" name="Text 21"/>
          <p:cNvSpPr/>
          <p:nvPr/>
        </p:nvSpPr>
        <p:spPr>
          <a:xfrm>
            <a:off x="6035040" y="3881229"/>
            <a:ext cx="6240780" cy="246888"/>
          </a:xfrm>
          <a:prstGeom prst="rect">
            <a:avLst/>
          </a:prstGeom>
          <a:noFill/>
          <a:ln/>
        </p:spPr>
        <p:txBody>
          <a:bodyPr wrap="square" lIns="0" tIns="0" rIns="0" bIns="0" rtlCol="0" anchor="ctr"/>
          <a:lstStyle/>
          <a:p>
            <a:r>
              <a:rPr lang="en-US" sz="2325" b="1" dirty="0">
                <a:solidFill>
                  <a:srgbClr val="15324B"/>
                </a:solidFill>
              </a:rPr>
              <a:t>Teller Workstation</a:t>
            </a:r>
            <a:endParaRPr lang="en-US" sz="2325" dirty="0"/>
          </a:p>
        </p:txBody>
      </p:sp>
      <p:sp>
        <p:nvSpPr>
          <p:cNvPr id="24" name="Text 22"/>
          <p:cNvSpPr/>
          <p:nvPr/>
        </p:nvSpPr>
        <p:spPr>
          <a:xfrm>
            <a:off x="6035040" y="4169265"/>
            <a:ext cx="6240780" cy="205740"/>
          </a:xfrm>
          <a:prstGeom prst="rect">
            <a:avLst/>
          </a:prstGeom>
          <a:noFill/>
          <a:ln/>
        </p:spPr>
        <p:txBody>
          <a:bodyPr wrap="square" lIns="0" tIns="0" rIns="0" bIns="0" rtlCol="0" anchor="ctr"/>
          <a:lstStyle/>
          <a:p>
            <a:r>
              <a:rPr lang="en-US" sz="1455" dirty="0">
                <a:solidFill>
                  <a:srgbClr val="5B6770"/>
                </a:solidFill>
              </a:rPr>
              <a:t>Core application client</a:t>
            </a:r>
            <a:endParaRPr lang="en-US" sz="1455" dirty="0"/>
          </a:p>
        </p:txBody>
      </p:sp>
      <p:sp>
        <p:nvSpPr>
          <p:cNvPr id="25" name="Shape 23"/>
          <p:cNvSpPr/>
          <p:nvPr/>
        </p:nvSpPr>
        <p:spPr>
          <a:xfrm>
            <a:off x="5829300" y="469047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6" name="Text 24"/>
          <p:cNvSpPr/>
          <p:nvPr/>
        </p:nvSpPr>
        <p:spPr>
          <a:xfrm>
            <a:off x="6035040" y="4772769"/>
            <a:ext cx="6240780" cy="246888"/>
          </a:xfrm>
          <a:prstGeom prst="rect">
            <a:avLst/>
          </a:prstGeom>
          <a:noFill/>
          <a:ln/>
        </p:spPr>
        <p:txBody>
          <a:bodyPr wrap="square" lIns="0" tIns="0" rIns="0" bIns="0" rtlCol="0" anchor="ctr"/>
          <a:lstStyle/>
          <a:p>
            <a:r>
              <a:rPr lang="en-US" sz="2325" b="1" dirty="0">
                <a:solidFill>
                  <a:srgbClr val="15324B"/>
                </a:solidFill>
              </a:rPr>
              <a:t>Branch Switch</a:t>
            </a:r>
            <a:endParaRPr lang="en-US" sz="2325" dirty="0"/>
          </a:p>
        </p:txBody>
      </p:sp>
      <p:sp>
        <p:nvSpPr>
          <p:cNvPr id="27" name="Text 25"/>
          <p:cNvSpPr/>
          <p:nvPr/>
        </p:nvSpPr>
        <p:spPr>
          <a:xfrm>
            <a:off x="6035040" y="5060805"/>
            <a:ext cx="6240780" cy="205740"/>
          </a:xfrm>
          <a:prstGeom prst="rect">
            <a:avLst/>
          </a:prstGeom>
          <a:noFill/>
          <a:ln/>
        </p:spPr>
        <p:txBody>
          <a:bodyPr wrap="square" lIns="0" tIns="0" rIns="0" bIns="0" rtlCol="0" anchor="ctr"/>
          <a:lstStyle/>
          <a:p>
            <a:r>
              <a:rPr lang="en-US" sz="1455" dirty="0">
                <a:solidFill>
                  <a:srgbClr val="5B6770"/>
                </a:solidFill>
              </a:rPr>
              <a:t>Moves traffic within the branch LAN</a:t>
            </a:r>
            <a:endParaRPr lang="en-US" sz="1455" dirty="0"/>
          </a:p>
        </p:txBody>
      </p:sp>
      <p:sp>
        <p:nvSpPr>
          <p:cNvPr id="28" name="Shape 26"/>
          <p:cNvSpPr/>
          <p:nvPr/>
        </p:nvSpPr>
        <p:spPr>
          <a:xfrm>
            <a:off x="5829300" y="558201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9" name="Text 27"/>
          <p:cNvSpPr/>
          <p:nvPr/>
        </p:nvSpPr>
        <p:spPr>
          <a:xfrm>
            <a:off x="6035040" y="5664309"/>
            <a:ext cx="6240780" cy="246888"/>
          </a:xfrm>
          <a:prstGeom prst="rect">
            <a:avLst/>
          </a:prstGeom>
          <a:noFill/>
          <a:ln/>
        </p:spPr>
        <p:txBody>
          <a:bodyPr wrap="square" lIns="0" tIns="0" rIns="0" bIns="0" rtlCol="0" anchor="ctr"/>
          <a:lstStyle/>
          <a:p>
            <a:r>
              <a:rPr lang="en-US" sz="2325" b="1" dirty="0">
                <a:solidFill>
                  <a:srgbClr val="15324B"/>
                </a:solidFill>
              </a:rPr>
              <a:t>Branch Router / Firewall</a:t>
            </a:r>
            <a:endParaRPr lang="en-US" sz="2325" dirty="0"/>
          </a:p>
        </p:txBody>
      </p:sp>
      <p:sp>
        <p:nvSpPr>
          <p:cNvPr id="30" name="Text 28"/>
          <p:cNvSpPr/>
          <p:nvPr/>
        </p:nvSpPr>
        <p:spPr>
          <a:xfrm>
            <a:off x="6035040" y="5952345"/>
            <a:ext cx="6240780" cy="205740"/>
          </a:xfrm>
          <a:prstGeom prst="rect">
            <a:avLst/>
          </a:prstGeom>
          <a:noFill/>
          <a:ln/>
        </p:spPr>
        <p:txBody>
          <a:bodyPr wrap="square" lIns="0" tIns="0" rIns="0" bIns="0" rtlCol="0" anchor="ctr"/>
          <a:lstStyle/>
          <a:p>
            <a:r>
              <a:rPr lang="en-US" sz="1455" dirty="0">
                <a:solidFill>
                  <a:srgbClr val="5B6770"/>
                </a:solidFill>
              </a:rPr>
              <a:t>Forwards traffic outside the branch</a:t>
            </a:r>
            <a:endParaRPr lang="en-US" sz="1455" dirty="0"/>
          </a:p>
        </p:txBody>
      </p:sp>
      <p:sp>
        <p:nvSpPr>
          <p:cNvPr id="31" name="Shape 29"/>
          <p:cNvSpPr/>
          <p:nvPr/>
        </p:nvSpPr>
        <p:spPr>
          <a:xfrm>
            <a:off x="5829300" y="6391257"/>
            <a:ext cx="6652260" cy="630936"/>
          </a:xfrm>
          <a:prstGeom prst="roundRect">
            <a:avLst>
              <a:gd name="adj" fmla="val 17391"/>
            </a:avLst>
          </a:prstGeom>
          <a:solidFill>
            <a:srgbClr val="FFFFFF"/>
          </a:solidFill>
          <a:ln w="16510">
            <a:solidFill>
              <a:srgbClr val="5B6770"/>
            </a:solidFill>
            <a:prstDash val="solid"/>
          </a:ln>
        </p:spPr>
        <p:txBody>
          <a:bodyPr/>
          <a:lstStyle/>
          <a:p>
            <a:endParaRPr lang="en-US" sz="2700"/>
          </a:p>
        </p:txBody>
      </p:sp>
      <p:sp>
        <p:nvSpPr>
          <p:cNvPr id="32" name="Text 30"/>
          <p:cNvSpPr/>
          <p:nvPr/>
        </p:nvSpPr>
        <p:spPr>
          <a:xfrm>
            <a:off x="6035040" y="6473553"/>
            <a:ext cx="6240780" cy="246888"/>
          </a:xfrm>
          <a:prstGeom prst="rect">
            <a:avLst/>
          </a:prstGeom>
          <a:noFill/>
          <a:ln/>
        </p:spPr>
        <p:txBody>
          <a:bodyPr wrap="square" lIns="0" tIns="0" rIns="0" bIns="0" rtlCol="0" anchor="ctr"/>
          <a:lstStyle/>
          <a:p>
            <a:r>
              <a:rPr lang="en-US" sz="2325" b="1" dirty="0">
                <a:solidFill>
                  <a:srgbClr val="15324B"/>
                </a:solidFill>
              </a:rPr>
              <a:t>Telecommunications Provider Network</a:t>
            </a:r>
            <a:endParaRPr lang="en-US" sz="2325" dirty="0"/>
          </a:p>
        </p:txBody>
      </p:sp>
      <p:sp>
        <p:nvSpPr>
          <p:cNvPr id="33" name="Text 31"/>
          <p:cNvSpPr/>
          <p:nvPr/>
        </p:nvSpPr>
        <p:spPr>
          <a:xfrm>
            <a:off x="6035040" y="6761589"/>
            <a:ext cx="6240780" cy="205740"/>
          </a:xfrm>
          <a:prstGeom prst="rect">
            <a:avLst/>
          </a:prstGeom>
          <a:noFill/>
          <a:ln/>
        </p:spPr>
        <p:txBody>
          <a:bodyPr wrap="square" lIns="0" tIns="0" rIns="0" bIns="0" rtlCol="0" anchor="ctr"/>
          <a:lstStyle/>
          <a:p>
            <a:r>
              <a:rPr lang="en-US" sz="1455" dirty="0">
                <a:solidFill>
                  <a:srgbClr val="5B6770"/>
                </a:solidFill>
              </a:rPr>
              <a:t>WAN / VPN / MPLS transport</a:t>
            </a:r>
            <a:endParaRPr lang="en-US" sz="1455" dirty="0"/>
          </a:p>
        </p:txBody>
      </p:sp>
      <p:sp>
        <p:nvSpPr>
          <p:cNvPr id="34" name="Shape 32"/>
          <p:cNvSpPr/>
          <p:nvPr/>
        </p:nvSpPr>
        <p:spPr>
          <a:xfrm>
            <a:off x="5829300" y="7707993"/>
            <a:ext cx="6652260" cy="630936"/>
          </a:xfrm>
          <a:prstGeom prst="roundRect">
            <a:avLst>
              <a:gd name="adj" fmla="val 17391"/>
            </a:avLst>
          </a:prstGeom>
          <a:solidFill>
            <a:srgbClr val="FFFFFF"/>
          </a:solidFill>
          <a:ln w="16510">
            <a:solidFill>
              <a:srgbClr val="2E7D7D"/>
            </a:solidFill>
            <a:prstDash val="solid"/>
          </a:ln>
        </p:spPr>
        <p:txBody>
          <a:bodyPr/>
          <a:lstStyle/>
          <a:p>
            <a:endParaRPr lang="en-US" sz="2700"/>
          </a:p>
        </p:txBody>
      </p:sp>
      <p:sp>
        <p:nvSpPr>
          <p:cNvPr id="35" name="Text 33"/>
          <p:cNvSpPr/>
          <p:nvPr/>
        </p:nvSpPr>
        <p:spPr>
          <a:xfrm>
            <a:off x="6035040" y="7790289"/>
            <a:ext cx="6240780" cy="246888"/>
          </a:xfrm>
          <a:prstGeom prst="rect">
            <a:avLst/>
          </a:prstGeom>
          <a:noFill/>
          <a:ln/>
        </p:spPr>
        <p:txBody>
          <a:bodyPr wrap="square" lIns="0" tIns="0" rIns="0" bIns="0" rtlCol="0" anchor="ctr"/>
          <a:lstStyle/>
          <a:p>
            <a:r>
              <a:rPr lang="en-US" sz="2325" b="1" dirty="0">
                <a:solidFill>
                  <a:srgbClr val="15324B"/>
                </a:solidFill>
              </a:rPr>
              <a:t>Vendor-Hosted Core Processor</a:t>
            </a:r>
            <a:endParaRPr lang="en-US" sz="2325" dirty="0"/>
          </a:p>
        </p:txBody>
      </p:sp>
      <p:sp>
        <p:nvSpPr>
          <p:cNvPr id="36" name="Text 34"/>
          <p:cNvSpPr/>
          <p:nvPr/>
        </p:nvSpPr>
        <p:spPr>
          <a:xfrm>
            <a:off x="6035040" y="8078325"/>
            <a:ext cx="6240780" cy="205740"/>
          </a:xfrm>
          <a:prstGeom prst="rect">
            <a:avLst/>
          </a:prstGeom>
          <a:noFill/>
          <a:ln/>
        </p:spPr>
        <p:txBody>
          <a:bodyPr wrap="square" lIns="0" tIns="0" rIns="0" bIns="0" rtlCol="0" anchor="ctr"/>
          <a:lstStyle/>
          <a:p>
            <a:r>
              <a:rPr lang="en-US" sz="1455" dirty="0">
                <a:solidFill>
                  <a:srgbClr val="5B6770"/>
                </a:solidFill>
              </a:rPr>
              <a:t>Core banking application</a:t>
            </a:r>
            <a:endParaRPr lang="en-US" sz="1455" dirty="0"/>
          </a:p>
        </p:txBody>
      </p:sp>
      <p:sp>
        <p:nvSpPr>
          <p:cNvPr id="37" name="Shape 35"/>
          <p:cNvSpPr/>
          <p:nvPr/>
        </p:nvSpPr>
        <p:spPr>
          <a:xfrm>
            <a:off x="5829300" y="8599533"/>
            <a:ext cx="6652260" cy="630936"/>
          </a:xfrm>
          <a:prstGeom prst="roundRect">
            <a:avLst>
              <a:gd name="adj" fmla="val 17391"/>
            </a:avLst>
          </a:prstGeom>
          <a:solidFill>
            <a:srgbClr val="FFFFFF"/>
          </a:solidFill>
          <a:ln w="16510">
            <a:solidFill>
              <a:srgbClr val="2E7D7D"/>
            </a:solidFill>
            <a:prstDash val="solid"/>
          </a:ln>
        </p:spPr>
        <p:txBody>
          <a:bodyPr/>
          <a:lstStyle/>
          <a:p>
            <a:endParaRPr lang="en-US" sz="2700"/>
          </a:p>
        </p:txBody>
      </p:sp>
      <p:sp>
        <p:nvSpPr>
          <p:cNvPr id="38" name="Text 36"/>
          <p:cNvSpPr/>
          <p:nvPr/>
        </p:nvSpPr>
        <p:spPr>
          <a:xfrm>
            <a:off x="6035040" y="8681829"/>
            <a:ext cx="6240780" cy="246888"/>
          </a:xfrm>
          <a:prstGeom prst="rect">
            <a:avLst/>
          </a:prstGeom>
          <a:noFill/>
          <a:ln/>
        </p:spPr>
        <p:txBody>
          <a:bodyPr wrap="square" lIns="0" tIns="0" rIns="0" bIns="0" rtlCol="0" anchor="ctr"/>
          <a:lstStyle/>
          <a:p>
            <a:r>
              <a:rPr lang="en-US" sz="2325" b="1" dirty="0">
                <a:solidFill>
                  <a:srgbClr val="15324B"/>
                </a:solidFill>
              </a:rPr>
              <a:t>Customer Account Database</a:t>
            </a:r>
            <a:endParaRPr lang="en-US" sz="2325" dirty="0"/>
          </a:p>
        </p:txBody>
      </p:sp>
      <p:sp>
        <p:nvSpPr>
          <p:cNvPr id="39" name="Text 37"/>
          <p:cNvSpPr/>
          <p:nvPr/>
        </p:nvSpPr>
        <p:spPr>
          <a:xfrm>
            <a:off x="6035040" y="8969865"/>
            <a:ext cx="6240780" cy="205740"/>
          </a:xfrm>
          <a:prstGeom prst="rect">
            <a:avLst/>
          </a:prstGeom>
          <a:noFill/>
          <a:ln/>
        </p:spPr>
        <p:txBody>
          <a:bodyPr wrap="square" lIns="0" tIns="0" rIns="0" bIns="0" rtlCol="0" anchor="ctr"/>
          <a:lstStyle/>
          <a:p>
            <a:r>
              <a:rPr lang="en-US" sz="1455" dirty="0">
                <a:solidFill>
                  <a:srgbClr val="5B6770"/>
                </a:solidFill>
              </a:rPr>
              <a:t>Account balance found</a:t>
            </a:r>
            <a:endParaRPr lang="en-US" sz="1455" dirty="0"/>
          </a:p>
        </p:txBody>
      </p:sp>
      <p:sp>
        <p:nvSpPr>
          <p:cNvPr id="40" name="Shape 38"/>
          <p:cNvSpPr/>
          <p:nvPr/>
        </p:nvSpPr>
        <p:spPr>
          <a:xfrm>
            <a:off x="617220" y="9354312"/>
            <a:ext cx="17076420" cy="617220"/>
          </a:xfrm>
          <a:prstGeom prst="rect">
            <a:avLst/>
          </a:prstGeom>
          <a:solidFill>
            <a:srgbClr val="F8FAFB"/>
          </a:solidFill>
          <a:ln w="12700">
            <a:solidFill>
              <a:srgbClr val="E2E6EA"/>
            </a:solidFill>
            <a:prstDash val="solid"/>
          </a:ln>
        </p:spPr>
        <p:txBody>
          <a:bodyPr/>
          <a:lstStyle/>
          <a:p>
            <a:endParaRPr lang="en-US" sz="3600"/>
          </a:p>
        </p:txBody>
      </p:sp>
      <p:sp>
        <p:nvSpPr>
          <p:cNvPr id="41" name="Text 39"/>
          <p:cNvSpPr/>
          <p:nvPr/>
        </p:nvSpPr>
        <p:spPr>
          <a:xfrm>
            <a:off x="891540" y="9518904"/>
            <a:ext cx="16527780" cy="246888"/>
          </a:xfrm>
          <a:prstGeom prst="rect">
            <a:avLst/>
          </a:prstGeom>
          <a:noFill/>
          <a:ln/>
        </p:spPr>
        <p:txBody>
          <a:bodyPr wrap="square" lIns="0" tIns="0" rIns="0" bIns="0" rtlCol="0" anchor="ctr"/>
          <a:lstStyle/>
          <a:p>
            <a:r>
              <a:rPr lang="en-US" sz="3200" dirty="0">
                <a:solidFill>
                  <a:srgbClr val="15324B"/>
                </a:solidFill>
              </a:rPr>
              <a:t>Every transaction depends on addressing, forwarding, transmission, delivery, and a return path.</a:t>
            </a:r>
            <a:endParaRPr 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ACCEC-CEC9-E318-884B-95A37D70697B}"/>
              </a:ext>
            </a:extLst>
          </p:cNvPr>
          <p:cNvSpPr>
            <a:spLocks noGrp="1"/>
          </p:cNvSpPr>
          <p:nvPr>
            <p:ph type="title"/>
          </p:nvPr>
        </p:nvSpPr>
        <p:spPr/>
        <p:txBody>
          <a:bodyPr/>
          <a:lstStyle/>
          <a:p>
            <a:r>
              <a:rPr lang="en-US" dirty="0"/>
              <a:t>LANs, WANs, and others</a:t>
            </a:r>
          </a:p>
        </p:txBody>
      </p:sp>
      <p:sp>
        <p:nvSpPr>
          <p:cNvPr id="3" name="Content Placeholder 2">
            <a:extLst>
              <a:ext uri="{FF2B5EF4-FFF2-40B4-BE49-F238E27FC236}">
                <a16:creationId xmlns:a16="http://schemas.microsoft.com/office/drawing/2014/main" id="{3C56DFB5-F741-9742-9D8F-CCFFC954115B}"/>
              </a:ext>
            </a:extLst>
          </p:cNvPr>
          <p:cNvSpPr>
            <a:spLocks noGrp="1"/>
          </p:cNvSpPr>
          <p:nvPr>
            <p:ph idx="1"/>
          </p:nvPr>
        </p:nvSpPr>
        <p:spPr>
          <a:xfrm>
            <a:off x="1257300" y="2193131"/>
            <a:ext cx="8632336" cy="1597819"/>
          </a:xfrm>
        </p:spPr>
        <p:txBody>
          <a:bodyPr>
            <a:normAutofit/>
          </a:bodyPr>
          <a:lstStyle/>
          <a:p>
            <a:r>
              <a:rPr lang="en-US" dirty="0"/>
              <a:t>Do banks have LANs or WANs?</a:t>
            </a:r>
          </a:p>
          <a:p>
            <a:r>
              <a:rPr lang="en-US" dirty="0"/>
              <a:t>What kind of AN is the internet?</a:t>
            </a:r>
          </a:p>
        </p:txBody>
      </p:sp>
      <p:pic>
        <p:nvPicPr>
          <p:cNvPr id="4" name="Graphic 3" descr="Computer">
            <a:extLst>
              <a:ext uri="{FF2B5EF4-FFF2-40B4-BE49-F238E27FC236}">
                <a16:creationId xmlns:a16="http://schemas.microsoft.com/office/drawing/2014/main" id="{45052271-F7FA-313B-C595-6F7F00F8FC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0903" y="7572203"/>
            <a:ext cx="1634816" cy="1600880"/>
          </a:xfrm>
          <a:prstGeom prst="rect">
            <a:avLst/>
          </a:prstGeom>
        </p:spPr>
      </p:pic>
      <p:pic>
        <p:nvPicPr>
          <p:cNvPr id="5" name="Graphic 4" descr="Computer">
            <a:extLst>
              <a:ext uri="{FF2B5EF4-FFF2-40B4-BE49-F238E27FC236}">
                <a16:creationId xmlns:a16="http://schemas.microsoft.com/office/drawing/2014/main" id="{0E9D4E71-7EF4-425A-C4E0-196BEDFE69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34423" y="7572203"/>
            <a:ext cx="1634816" cy="1600880"/>
          </a:xfrm>
          <a:prstGeom prst="rect">
            <a:avLst/>
          </a:prstGeom>
        </p:spPr>
      </p:pic>
      <p:pic>
        <p:nvPicPr>
          <p:cNvPr id="6" name="Picture 5" descr="Diagram&#10;&#10;Description automatically generated">
            <a:extLst>
              <a:ext uri="{FF2B5EF4-FFF2-40B4-BE49-F238E27FC236}">
                <a16:creationId xmlns:a16="http://schemas.microsoft.com/office/drawing/2014/main" id="{43C3BEA8-EFB1-9B2F-7616-6212573A4617}"/>
              </a:ext>
            </a:extLst>
          </p:cNvPr>
          <p:cNvPicPr>
            <a:picLocks noChangeAspect="1"/>
          </p:cNvPicPr>
          <p:nvPr/>
        </p:nvPicPr>
        <p:blipFill rotWithShape="1">
          <a:blip r:embed="rId5">
            <a:extLst>
              <a:ext uri="{28A0092B-C50C-407E-A947-70E740481C1C}">
                <a14:useLocalDpi xmlns:a14="http://schemas.microsoft.com/office/drawing/2010/main"/>
              </a:ext>
            </a:extLst>
          </a:blip>
          <a:srcRect/>
          <a:stretch/>
        </p:blipFill>
        <p:spPr>
          <a:xfrm>
            <a:off x="3134423" y="4471387"/>
            <a:ext cx="2350891" cy="709914"/>
          </a:xfrm>
          <a:prstGeom prst="rect">
            <a:avLst/>
          </a:prstGeom>
        </p:spPr>
      </p:pic>
      <p:pic>
        <p:nvPicPr>
          <p:cNvPr id="7" name="Picture 6" descr="Diagram&#10;&#10;Description automatically generated">
            <a:extLst>
              <a:ext uri="{FF2B5EF4-FFF2-40B4-BE49-F238E27FC236}">
                <a16:creationId xmlns:a16="http://schemas.microsoft.com/office/drawing/2014/main" id="{1A75D25B-38FC-262D-A916-4326F4FCDE3A}"/>
              </a:ext>
            </a:extLst>
          </p:cNvPr>
          <p:cNvPicPr>
            <a:picLocks noChangeAspect="1"/>
          </p:cNvPicPr>
          <p:nvPr/>
        </p:nvPicPr>
        <p:blipFill rotWithShape="1">
          <a:blip r:embed="rId6">
            <a:clrChange>
              <a:clrFrom>
                <a:srgbClr val="FFFFFF"/>
              </a:clrFrom>
              <a:clrTo>
                <a:srgbClr val="FFFFFF">
                  <a:alpha val="0"/>
                </a:srgbClr>
              </a:clrTo>
            </a:clrChange>
            <a:extLst>
              <a:ext uri="{BEBA8EAE-BF5A-486C-A8C5-ECC9F3942E4B}">
                <a14:imgProps xmlns:a14="http://schemas.microsoft.com/office/drawing/2010/main">
                  <a14:imgLayer r:embed="rId7">
                    <a14:imgEffect>
                      <a14:saturation sat="400000"/>
                    </a14:imgEffect>
                  </a14:imgLayer>
                </a14:imgProps>
              </a:ext>
              <a:ext uri="{28A0092B-C50C-407E-A947-70E740481C1C}">
                <a14:useLocalDpi xmlns:a14="http://schemas.microsoft.com/office/drawing/2010/main"/>
              </a:ext>
            </a:extLst>
          </a:blip>
          <a:srcRect/>
          <a:stretch/>
        </p:blipFill>
        <p:spPr>
          <a:xfrm>
            <a:off x="6704337" y="7839016"/>
            <a:ext cx="1442952" cy="1100603"/>
          </a:xfrm>
          <a:prstGeom prst="rect">
            <a:avLst/>
          </a:prstGeom>
        </p:spPr>
      </p:pic>
      <p:cxnSp>
        <p:nvCxnSpPr>
          <p:cNvPr id="8" name="Straight Connector 7">
            <a:extLst>
              <a:ext uri="{FF2B5EF4-FFF2-40B4-BE49-F238E27FC236}">
                <a16:creationId xmlns:a16="http://schemas.microsoft.com/office/drawing/2014/main" id="{CF2594B8-225E-84B3-7A26-4737E00F6AA6}"/>
              </a:ext>
            </a:extLst>
          </p:cNvPr>
          <p:cNvCxnSpPr>
            <a:cxnSpLocks/>
          </p:cNvCxnSpPr>
          <p:nvPr/>
        </p:nvCxnSpPr>
        <p:spPr>
          <a:xfrm flipV="1">
            <a:off x="1748217" y="5003543"/>
            <a:ext cx="1629416" cy="2952204"/>
          </a:xfrm>
          <a:prstGeom prst="line">
            <a:avLst/>
          </a:prstGeom>
          <a:ln w="76200" cap="sq"/>
        </p:spPr>
        <p:style>
          <a:lnRef idx="1">
            <a:schemeClr val="accent1"/>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66F1B6F4-8682-D730-B7B1-5FE85AA17626}"/>
              </a:ext>
            </a:extLst>
          </p:cNvPr>
          <p:cNvCxnSpPr>
            <a:cxnSpLocks/>
          </p:cNvCxnSpPr>
          <p:nvPr/>
        </p:nvCxnSpPr>
        <p:spPr>
          <a:xfrm flipV="1">
            <a:off x="3740063" y="5027985"/>
            <a:ext cx="19346" cy="2859621"/>
          </a:xfrm>
          <a:prstGeom prst="line">
            <a:avLst/>
          </a:prstGeom>
          <a:ln w="76200" cap="sq"/>
        </p:spPr>
        <p:style>
          <a:lnRef idx="1">
            <a:schemeClr val="accent1"/>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43EDA302-5CD2-000F-4B3A-6BC0FC9DA8AF}"/>
              </a:ext>
            </a:extLst>
          </p:cNvPr>
          <p:cNvCxnSpPr>
            <a:cxnSpLocks/>
            <a:stCxn id="7" idx="0"/>
          </p:cNvCxnSpPr>
          <p:nvPr/>
        </p:nvCxnSpPr>
        <p:spPr>
          <a:xfrm flipH="1" flipV="1">
            <a:off x="4730842" y="5003543"/>
            <a:ext cx="2694971" cy="2835473"/>
          </a:xfrm>
          <a:prstGeom prst="line">
            <a:avLst/>
          </a:prstGeom>
          <a:ln w="76200" cap="sq"/>
        </p:spPr>
        <p:style>
          <a:lnRef idx="1">
            <a:schemeClr val="accent1"/>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3D11DD3E-97AE-AF4B-5B22-EABD4B14D72F}"/>
              </a:ext>
            </a:extLst>
          </p:cNvPr>
          <p:cNvCxnSpPr>
            <a:cxnSpLocks/>
          </p:cNvCxnSpPr>
          <p:nvPr/>
        </p:nvCxnSpPr>
        <p:spPr>
          <a:xfrm flipH="1" flipV="1">
            <a:off x="4121838" y="5003543"/>
            <a:ext cx="1640624" cy="2952204"/>
          </a:xfrm>
          <a:prstGeom prst="line">
            <a:avLst/>
          </a:prstGeom>
          <a:ln w="76200" cap="sq"/>
        </p:spPr>
        <p:style>
          <a:lnRef idx="1">
            <a:schemeClr val="accent1"/>
          </a:lnRef>
          <a:fillRef idx="1">
            <a:schemeClr val="accent1"/>
          </a:fillRef>
          <a:effectRef idx="0">
            <a:schemeClr val="accent1"/>
          </a:effectRef>
          <a:fontRef idx="minor">
            <a:schemeClr val="lt1"/>
          </a:fontRef>
        </p:style>
      </p:cxnSp>
      <p:pic>
        <p:nvPicPr>
          <p:cNvPr id="12" name="Graphic 11" descr="Computer">
            <a:extLst>
              <a:ext uri="{FF2B5EF4-FFF2-40B4-BE49-F238E27FC236}">
                <a16:creationId xmlns:a16="http://schemas.microsoft.com/office/drawing/2014/main" id="{3D8BFD61-DC01-2D16-A288-3B98F928C3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26268" y="7572203"/>
            <a:ext cx="1634816" cy="1600880"/>
          </a:xfrm>
          <a:prstGeom prst="rect">
            <a:avLst/>
          </a:prstGeom>
        </p:spPr>
      </p:pic>
      <p:pic>
        <p:nvPicPr>
          <p:cNvPr id="13" name="Graphic 12" descr="Cloud outline">
            <a:extLst>
              <a:ext uri="{FF2B5EF4-FFF2-40B4-BE49-F238E27FC236}">
                <a16:creationId xmlns:a16="http://schemas.microsoft.com/office/drawing/2014/main" id="{D20A075F-3233-6A95-D67C-E2BF5E63211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336615" y="1198281"/>
            <a:ext cx="3872594" cy="4457702"/>
          </a:xfrm>
          <a:prstGeom prst="rect">
            <a:avLst/>
          </a:prstGeom>
        </p:spPr>
      </p:pic>
      <p:pic>
        <p:nvPicPr>
          <p:cNvPr id="14" name="Graphic 13" descr="Cloud outline">
            <a:extLst>
              <a:ext uri="{FF2B5EF4-FFF2-40B4-BE49-F238E27FC236}">
                <a16:creationId xmlns:a16="http://schemas.microsoft.com/office/drawing/2014/main" id="{782173E0-F8A8-4537-6066-39382B2ED63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732941" y="3114501"/>
            <a:ext cx="3872594" cy="4457702"/>
          </a:xfrm>
          <a:prstGeom prst="rect">
            <a:avLst/>
          </a:prstGeom>
        </p:spPr>
      </p:pic>
      <p:pic>
        <p:nvPicPr>
          <p:cNvPr id="15" name="Graphic 14" descr="Bank outline">
            <a:extLst>
              <a:ext uri="{FF2B5EF4-FFF2-40B4-BE49-F238E27FC236}">
                <a16:creationId xmlns:a16="http://schemas.microsoft.com/office/drawing/2014/main" id="{653D03F4-F3DE-A120-D98B-2C056F9BE19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63869" y="5042936"/>
            <a:ext cx="1436709" cy="1436709"/>
          </a:xfrm>
          <a:prstGeom prst="rect">
            <a:avLst/>
          </a:prstGeom>
        </p:spPr>
      </p:pic>
      <p:pic>
        <p:nvPicPr>
          <p:cNvPr id="16" name="Graphic 15" descr="Bank outline">
            <a:extLst>
              <a:ext uri="{FF2B5EF4-FFF2-40B4-BE49-F238E27FC236}">
                <a16:creationId xmlns:a16="http://schemas.microsoft.com/office/drawing/2014/main" id="{3B0AB19F-1AC0-62B1-6281-81581305D39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08797" y="3504751"/>
            <a:ext cx="1436709" cy="1436709"/>
          </a:xfrm>
          <a:prstGeom prst="rect">
            <a:avLst/>
          </a:prstGeom>
        </p:spPr>
      </p:pic>
      <p:pic>
        <p:nvPicPr>
          <p:cNvPr id="17" name="Graphic 16" descr="Bank outline">
            <a:extLst>
              <a:ext uri="{FF2B5EF4-FFF2-40B4-BE49-F238E27FC236}">
                <a16:creationId xmlns:a16="http://schemas.microsoft.com/office/drawing/2014/main" id="{44CA45A3-E12E-2AD0-59A8-09EA4946A6D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97195" y="6458703"/>
            <a:ext cx="1436709" cy="1436709"/>
          </a:xfrm>
          <a:prstGeom prst="rect">
            <a:avLst/>
          </a:prstGeom>
        </p:spPr>
      </p:pic>
      <p:pic>
        <p:nvPicPr>
          <p:cNvPr id="18" name="Graphic 17" descr="Building with solid fill">
            <a:extLst>
              <a:ext uri="{FF2B5EF4-FFF2-40B4-BE49-F238E27FC236}">
                <a16:creationId xmlns:a16="http://schemas.microsoft.com/office/drawing/2014/main" id="{208FDFFF-5426-0DFD-F8AA-A65E08DE2D2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353283" y="6790993"/>
            <a:ext cx="1443501" cy="1443501"/>
          </a:xfrm>
          <a:prstGeom prst="rect">
            <a:avLst/>
          </a:prstGeom>
        </p:spPr>
      </p:pic>
      <p:sp>
        <p:nvSpPr>
          <p:cNvPr id="19" name="TextBox 18">
            <a:extLst>
              <a:ext uri="{FF2B5EF4-FFF2-40B4-BE49-F238E27FC236}">
                <a16:creationId xmlns:a16="http://schemas.microsoft.com/office/drawing/2014/main" id="{2EC7DCC2-6C6D-2C7F-D040-32116A2DE467}"/>
              </a:ext>
            </a:extLst>
          </p:cNvPr>
          <p:cNvSpPr txBox="1"/>
          <p:nvPr/>
        </p:nvSpPr>
        <p:spPr>
          <a:xfrm>
            <a:off x="12848340" y="5063068"/>
            <a:ext cx="1641796" cy="954107"/>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Private</a:t>
            </a:r>
          </a:p>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Network</a:t>
            </a:r>
          </a:p>
        </p:txBody>
      </p:sp>
      <p:sp>
        <p:nvSpPr>
          <p:cNvPr id="20" name="TextBox 19">
            <a:extLst>
              <a:ext uri="{FF2B5EF4-FFF2-40B4-BE49-F238E27FC236}">
                <a16:creationId xmlns:a16="http://schemas.microsoft.com/office/drawing/2014/main" id="{5445E63F-30BA-46C7-89AD-3396AF2EA789}"/>
              </a:ext>
            </a:extLst>
          </p:cNvPr>
          <p:cNvSpPr txBox="1"/>
          <p:nvPr/>
        </p:nvSpPr>
        <p:spPr>
          <a:xfrm>
            <a:off x="12883315" y="8197464"/>
            <a:ext cx="2722220" cy="523220"/>
          </a:xfrm>
          <a:prstGeom prst="rect">
            <a:avLst/>
          </a:prstGeom>
          <a:noFill/>
        </p:spPr>
        <p:txBody>
          <a:bodyPr wrap="none" rtlCol="0">
            <a:spAutoFit/>
          </a:body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HQ/datacenter</a:t>
            </a:r>
          </a:p>
        </p:txBody>
      </p:sp>
      <p:sp>
        <p:nvSpPr>
          <p:cNvPr id="21" name="TextBox 20">
            <a:extLst>
              <a:ext uri="{FF2B5EF4-FFF2-40B4-BE49-F238E27FC236}">
                <a16:creationId xmlns:a16="http://schemas.microsoft.com/office/drawing/2014/main" id="{4B090FD3-E49A-519A-1018-843295CF48FA}"/>
              </a:ext>
            </a:extLst>
          </p:cNvPr>
          <p:cNvSpPr txBox="1"/>
          <p:nvPr/>
        </p:nvSpPr>
        <p:spPr>
          <a:xfrm>
            <a:off x="15655706" y="3436920"/>
            <a:ext cx="1516825" cy="523220"/>
          </a:xfrm>
          <a:prstGeom prst="rect">
            <a:avLst/>
          </a:prstGeom>
          <a:noFill/>
        </p:spPr>
        <p:txBody>
          <a:bodyPr wrap="none" rtlCol="0">
            <a:spAutoFit/>
          </a:body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internet</a:t>
            </a:r>
          </a:p>
        </p:txBody>
      </p:sp>
      <p:sp>
        <p:nvSpPr>
          <p:cNvPr id="22" name="TextBox 21">
            <a:extLst>
              <a:ext uri="{FF2B5EF4-FFF2-40B4-BE49-F238E27FC236}">
                <a16:creationId xmlns:a16="http://schemas.microsoft.com/office/drawing/2014/main" id="{7B3BDC65-8A12-CF9C-1FA1-3AF3802FD570}"/>
              </a:ext>
            </a:extLst>
          </p:cNvPr>
          <p:cNvSpPr txBox="1"/>
          <p:nvPr/>
        </p:nvSpPr>
        <p:spPr>
          <a:xfrm>
            <a:off x="9285522" y="7887270"/>
            <a:ext cx="1816524" cy="523220"/>
          </a:xfrm>
          <a:prstGeom prst="rect">
            <a:avLst/>
          </a:prstGeom>
          <a:noFill/>
        </p:spPr>
        <p:txBody>
          <a:bodyPr wrap="none" rtlCol="0">
            <a:spAutoFit/>
          </a:body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Branches</a:t>
            </a:r>
          </a:p>
        </p:txBody>
      </p:sp>
      <p:cxnSp>
        <p:nvCxnSpPr>
          <p:cNvPr id="23" name="Straight Connector 22">
            <a:extLst>
              <a:ext uri="{FF2B5EF4-FFF2-40B4-BE49-F238E27FC236}">
                <a16:creationId xmlns:a16="http://schemas.microsoft.com/office/drawing/2014/main" id="{88778C8D-FACE-66F8-BC5D-1C92227E0C03}"/>
              </a:ext>
            </a:extLst>
          </p:cNvPr>
          <p:cNvCxnSpPr>
            <a:cxnSpLocks/>
          </p:cNvCxnSpPr>
          <p:nvPr/>
        </p:nvCxnSpPr>
        <p:spPr>
          <a:xfrm>
            <a:off x="10807312" y="4476134"/>
            <a:ext cx="1655595" cy="65379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417CAC3-9AD3-E813-2057-AB4E84AE06F9}"/>
              </a:ext>
            </a:extLst>
          </p:cNvPr>
          <p:cNvCxnSpPr>
            <a:cxnSpLocks/>
          </p:cNvCxnSpPr>
          <p:nvPr/>
        </p:nvCxnSpPr>
        <p:spPr>
          <a:xfrm>
            <a:off x="10531899" y="5599143"/>
            <a:ext cx="1446426" cy="26787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4BCA25D-7529-ADB4-99D0-8BFB1AFE5356}"/>
              </a:ext>
            </a:extLst>
          </p:cNvPr>
          <p:cNvCxnSpPr>
            <a:cxnSpLocks/>
          </p:cNvCxnSpPr>
          <p:nvPr/>
        </p:nvCxnSpPr>
        <p:spPr>
          <a:xfrm flipV="1">
            <a:off x="10689084" y="6147496"/>
            <a:ext cx="1468494" cy="76365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B8177FC-18E5-829D-0C07-4F0464BBC6F9}"/>
              </a:ext>
            </a:extLst>
          </p:cNvPr>
          <p:cNvCxnSpPr>
            <a:cxnSpLocks/>
          </p:cNvCxnSpPr>
          <p:nvPr/>
        </p:nvCxnSpPr>
        <p:spPr>
          <a:xfrm flipV="1">
            <a:off x="11921635" y="6378169"/>
            <a:ext cx="635119" cy="132022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150C01F-FE9C-4BF7-CDA1-1F61ECDC7C93}"/>
              </a:ext>
            </a:extLst>
          </p:cNvPr>
          <p:cNvCxnSpPr>
            <a:cxnSpLocks/>
          </p:cNvCxnSpPr>
          <p:nvPr/>
        </p:nvCxnSpPr>
        <p:spPr>
          <a:xfrm>
            <a:off x="13724005" y="6479645"/>
            <a:ext cx="449882" cy="52886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C638600-E64E-1D4D-B363-230BBBB47721}"/>
              </a:ext>
            </a:extLst>
          </p:cNvPr>
          <p:cNvCxnSpPr>
            <a:cxnSpLocks/>
          </p:cNvCxnSpPr>
          <p:nvPr/>
        </p:nvCxnSpPr>
        <p:spPr>
          <a:xfrm flipV="1">
            <a:off x="14765633" y="4476134"/>
            <a:ext cx="1614667" cy="54111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19E6BFE-C3DC-6654-22C7-0C73B86EFC8B}"/>
              </a:ext>
            </a:extLst>
          </p:cNvPr>
          <p:cNvSpPr txBox="1"/>
          <p:nvPr/>
        </p:nvSpPr>
        <p:spPr>
          <a:xfrm>
            <a:off x="11605387" y="1989473"/>
            <a:ext cx="1842976" cy="954107"/>
          </a:xfrm>
          <a:prstGeom prst="rect">
            <a:avLst/>
          </a:prstGeom>
          <a:noFill/>
        </p:spPr>
        <p:txBody>
          <a:bodyPr wrap="square" rtlCol="0">
            <a:spAutoFit/>
          </a:body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Service</a:t>
            </a:r>
          </a:p>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Providers</a:t>
            </a:r>
          </a:p>
        </p:txBody>
      </p:sp>
      <p:cxnSp>
        <p:nvCxnSpPr>
          <p:cNvPr id="30" name="Straight Connector 29">
            <a:extLst>
              <a:ext uri="{FF2B5EF4-FFF2-40B4-BE49-F238E27FC236}">
                <a16:creationId xmlns:a16="http://schemas.microsoft.com/office/drawing/2014/main" id="{7A1DB4A6-42D1-08D8-1931-376CF1F31337}"/>
              </a:ext>
            </a:extLst>
          </p:cNvPr>
          <p:cNvCxnSpPr>
            <a:cxnSpLocks/>
          </p:cNvCxnSpPr>
          <p:nvPr/>
        </p:nvCxnSpPr>
        <p:spPr>
          <a:xfrm>
            <a:off x="13069153" y="3123936"/>
            <a:ext cx="410318" cy="115234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D1AC963-5B9A-0CFA-CE86-FFD2DC0B782C}"/>
              </a:ext>
            </a:extLst>
          </p:cNvPr>
          <p:cNvCxnSpPr>
            <a:cxnSpLocks/>
          </p:cNvCxnSpPr>
          <p:nvPr/>
        </p:nvCxnSpPr>
        <p:spPr>
          <a:xfrm>
            <a:off x="14209060" y="2753987"/>
            <a:ext cx="1086266" cy="43263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Graphic 33" descr="Bank outline">
            <a:extLst>
              <a:ext uri="{FF2B5EF4-FFF2-40B4-BE49-F238E27FC236}">
                <a16:creationId xmlns:a16="http://schemas.microsoft.com/office/drawing/2014/main" id="{18808784-8AC1-F2E5-8585-6E9BBB351A8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784623" y="7260522"/>
            <a:ext cx="1436709" cy="1436709"/>
          </a:xfrm>
          <a:prstGeom prst="rect">
            <a:avLst/>
          </a:prstGeom>
        </p:spPr>
      </p:pic>
      <p:pic>
        <p:nvPicPr>
          <p:cNvPr id="39" name="Graphic 38" descr="Cloud outline">
            <a:extLst>
              <a:ext uri="{FF2B5EF4-FFF2-40B4-BE49-F238E27FC236}">
                <a16:creationId xmlns:a16="http://schemas.microsoft.com/office/drawing/2014/main" id="{48C33E0E-6373-A94F-FB50-CB030E91F9B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619225" y="-119565"/>
            <a:ext cx="3872594" cy="4457702"/>
          </a:xfrm>
          <a:prstGeom prst="rect">
            <a:avLst/>
          </a:prstGeom>
        </p:spPr>
      </p:pic>
    </p:spTree>
    <p:extLst>
      <p:ext uri="{BB962C8B-B14F-4D97-AF65-F5344CB8AC3E}">
        <p14:creationId xmlns:p14="http://schemas.microsoft.com/office/powerpoint/2010/main" val="642174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2407784" y="8699251"/>
            <a:ext cx="2468880" cy="1026662"/>
          </a:xfrm>
          <a:prstGeom prst="rect">
            <a:avLst/>
          </a:prstGeom>
        </p:spPr>
      </p:pic>
      <p:pic>
        <p:nvPicPr>
          <p:cNvPr id="20" name="Picture 19"/>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7268593" y="8740275"/>
            <a:ext cx="2607818" cy="944610"/>
          </a:xfrm>
          <a:prstGeom prst="rect">
            <a:avLst/>
          </a:prstGeom>
        </p:spPr>
      </p:pic>
      <p:pic>
        <p:nvPicPr>
          <p:cNvPr id="14" name="Picture 13"/>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2400300" y="8749181"/>
            <a:ext cx="2377440" cy="926799"/>
          </a:xfrm>
          <a:prstGeom prst="rect">
            <a:avLst/>
          </a:prstGeom>
        </p:spPr>
      </p:pic>
      <p:pic>
        <p:nvPicPr>
          <p:cNvPr id="10" name="Picture 9"/>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2647826" y="7160934"/>
            <a:ext cx="2129915" cy="1184934"/>
          </a:xfrm>
          <a:prstGeom prst="rect">
            <a:avLst/>
          </a:prstGeom>
        </p:spPr>
      </p:pic>
      <p:pic>
        <p:nvPicPr>
          <p:cNvPr id="12" name="Picture 11"/>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7508377" y="6972300"/>
            <a:ext cx="2128250" cy="1562202"/>
          </a:xfrm>
          <a:prstGeom prst="rect">
            <a:avLst/>
          </a:prstGeom>
        </p:spPr>
      </p:pic>
      <p:pic>
        <p:nvPicPr>
          <p:cNvPr id="11" name="Picture 10"/>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12407784" y="7192695"/>
            <a:ext cx="2721378" cy="1121412"/>
          </a:xfrm>
          <a:prstGeom prst="rect">
            <a:avLst/>
          </a:prstGeom>
        </p:spPr>
      </p:pic>
      <p:pic>
        <p:nvPicPr>
          <p:cNvPr id="49" name="Picture 48"/>
          <p:cNvPicPr>
            <a:picLocks noChangeAspect="1"/>
          </p:cNvPicPr>
          <p:nvPr/>
        </p:nvPicPr>
        <p:blipFill rotWithShape="1">
          <a:blip r:embed="rId10" cstate="email">
            <a:clrChange>
              <a:clrFrom>
                <a:srgbClr val="F7F8FA"/>
              </a:clrFrom>
              <a:clrTo>
                <a:srgbClr val="F7F8FA">
                  <a:alpha val="0"/>
                </a:srgbClr>
              </a:clrTo>
            </a:clrChange>
            <a:extLst>
              <a:ext uri="{28A0092B-C50C-407E-A947-70E740481C1C}">
                <a14:useLocalDpi xmlns:a14="http://schemas.microsoft.com/office/drawing/2010/main"/>
              </a:ext>
            </a:extLst>
          </a:blip>
          <a:srcRect/>
          <a:stretch/>
        </p:blipFill>
        <p:spPr>
          <a:xfrm>
            <a:off x="7642613" y="5409362"/>
            <a:ext cx="1859775" cy="1562253"/>
          </a:xfrm>
          <a:prstGeom prst="rect">
            <a:avLst/>
          </a:prstGeom>
        </p:spPr>
      </p:pic>
      <p:sp>
        <p:nvSpPr>
          <p:cNvPr id="2" name="Title 1"/>
          <p:cNvSpPr>
            <a:spLocks noGrp="1"/>
          </p:cNvSpPr>
          <p:nvPr>
            <p:ph type="title"/>
          </p:nvPr>
        </p:nvSpPr>
        <p:spPr/>
        <p:txBody>
          <a:bodyPr/>
          <a:lstStyle/>
          <a:p>
            <a:r>
              <a:rPr lang="en-US"/>
              <a:t>How Internetworks Work—An Analogy</a:t>
            </a:r>
          </a:p>
        </p:txBody>
      </p:sp>
      <p:sp>
        <p:nvSpPr>
          <p:cNvPr id="5" name="Left-Right Arrow 4"/>
          <p:cNvSpPr/>
          <p:nvPr/>
        </p:nvSpPr>
        <p:spPr>
          <a:xfrm>
            <a:off x="4800600" y="1925906"/>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Something to be Shipped</a:t>
            </a:r>
          </a:p>
        </p:txBody>
      </p:sp>
      <p:sp>
        <p:nvSpPr>
          <p:cNvPr id="28" name="Left-Right Arrow 27"/>
          <p:cNvSpPr/>
          <p:nvPr/>
        </p:nvSpPr>
        <p:spPr>
          <a:xfrm>
            <a:off x="4800600" y="3766562"/>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dirty="0">
                <a:latin typeface="+mj-lt"/>
              </a:rPr>
              <a:t>Break it up for Transport</a:t>
            </a:r>
          </a:p>
        </p:txBody>
      </p:sp>
      <p:sp>
        <p:nvSpPr>
          <p:cNvPr id="29" name="Left-Right Arrow 28"/>
          <p:cNvSpPr/>
          <p:nvPr/>
        </p:nvSpPr>
        <p:spPr>
          <a:xfrm>
            <a:off x="4800600" y="5573268"/>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dirty="0">
                <a:latin typeface="+mj-lt"/>
              </a:rPr>
              <a:t>Forward Containers Between Locations</a:t>
            </a:r>
          </a:p>
        </p:txBody>
      </p:sp>
      <p:sp>
        <p:nvSpPr>
          <p:cNvPr id="30" name="Left-Right Arrow 29"/>
          <p:cNvSpPr/>
          <p:nvPr/>
        </p:nvSpPr>
        <p:spPr>
          <a:xfrm>
            <a:off x="4800600" y="7136181"/>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Containers Ride in Various Vehicles</a:t>
            </a:r>
          </a:p>
        </p:txBody>
      </p:sp>
      <p:sp>
        <p:nvSpPr>
          <p:cNvPr id="31" name="Left-Right Arrow 30"/>
          <p:cNvSpPr/>
          <p:nvPr/>
        </p:nvSpPr>
        <p:spPr>
          <a:xfrm>
            <a:off x="4800600" y="8595360"/>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Vehicles Ride over Various Media</a:t>
            </a:r>
          </a:p>
        </p:txBody>
      </p:sp>
      <p:pic>
        <p:nvPicPr>
          <p:cNvPr id="4" name="Picture 3"/>
          <p:cNvPicPr>
            <a:picLocks noChangeAspect="1"/>
          </p:cNvPicPr>
          <p:nvPr/>
        </p:nvPicPr>
        <p:blipFill rotWithShape="1">
          <a:blip r:embed="rId11"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256502" y="1650354"/>
            <a:ext cx="1521239" cy="1785543"/>
          </a:xfrm>
          <a:prstGeom prst="rect">
            <a:avLst/>
          </a:prstGeom>
        </p:spPr>
      </p:pic>
      <p:pic>
        <p:nvPicPr>
          <p:cNvPr id="32" name="Picture 31"/>
          <p:cNvPicPr>
            <a:picLocks noChangeAspect="1"/>
          </p:cNvPicPr>
          <p:nvPr/>
        </p:nvPicPr>
        <p:blipFill rotWithShape="1">
          <a:blip r:embed="rId1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407784" y="1650557"/>
            <a:ext cx="1520889" cy="1785138"/>
          </a:xfrm>
          <a:prstGeom prst="rect">
            <a:avLst/>
          </a:prstGeom>
        </p:spPr>
      </p:pic>
      <p:grpSp>
        <p:nvGrpSpPr>
          <p:cNvPr id="6" name="Group 5"/>
          <p:cNvGrpSpPr>
            <a:grpSpLocks noChangeAspect="1"/>
          </p:cNvGrpSpPr>
          <p:nvPr/>
        </p:nvGrpSpPr>
        <p:grpSpPr>
          <a:xfrm>
            <a:off x="3065354" y="3395465"/>
            <a:ext cx="1712387" cy="1976636"/>
            <a:chOff x="622405" y="2212165"/>
            <a:chExt cx="1201675" cy="1387113"/>
          </a:xfrm>
        </p:grpSpPr>
        <p:pic>
          <p:nvPicPr>
            <p:cNvPr id="33" name="Picture 32"/>
            <p:cNvPicPr>
              <a:picLocks noChangeAspect="1"/>
            </p:cNvPicPr>
            <p:nvPr/>
          </p:nvPicPr>
          <p:blipFill rotWithShape="1">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89163" y="3022366"/>
              <a:ext cx="534917" cy="576911"/>
            </a:xfrm>
            <a:prstGeom prst="rect">
              <a:avLst/>
            </a:prstGeom>
          </p:spPr>
        </p:pic>
        <p:pic>
          <p:nvPicPr>
            <p:cNvPr id="35" name="Picture 34"/>
            <p:cNvPicPr>
              <a:picLocks noChangeAspect="1"/>
            </p:cNvPicPr>
            <p:nvPr/>
          </p:nvPicPr>
          <p:blipFill rotWithShape="1">
            <a:blip r:embed="rId1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22405" y="3030679"/>
              <a:ext cx="540687" cy="568599"/>
            </a:xfrm>
            <a:prstGeom prst="rect">
              <a:avLst/>
            </a:prstGeom>
          </p:spPr>
        </p:pic>
        <p:pic>
          <p:nvPicPr>
            <p:cNvPr id="36" name="Picture 35"/>
            <p:cNvPicPr>
              <a:picLocks noChangeAspect="1"/>
            </p:cNvPicPr>
            <p:nvPr/>
          </p:nvPicPr>
          <p:blipFill rotWithShape="1">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93319" y="2212166"/>
              <a:ext cx="530761" cy="675817"/>
            </a:xfrm>
            <a:prstGeom prst="rect">
              <a:avLst/>
            </a:prstGeom>
          </p:spPr>
        </p:pic>
        <p:pic>
          <p:nvPicPr>
            <p:cNvPr id="37" name="Picture 36"/>
            <p:cNvPicPr>
              <a:picLocks noChangeAspect="1"/>
            </p:cNvPicPr>
            <p:nvPr/>
          </p:nvPicPr>
          <p:blipFill rotWithShape="1">
            <a:blip r:embed="rId1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22405" y="2212165"/>
              <a:ext cx="536529" cy="684130"/>
            </a:xfrm>
            <a:prstGeom prst="rect">
              <a:avLst/>
            </a:prstGeom>
          </p:spPr>
        </p:pic>
      </p:grpSp>
      <p:grpSp>
        <p:nvGrpSpPr>
          <p:cNvPr id="43" name="Group 42"/>
          <p:cNvGrpSpPr>
            <a:grpSpLocks noChangeAspect="1"/>
          </p:cNvGrpSpPr>
          <p:nvPr/>
        </p:nvGrpSpPr>
        <p:grpSpPr>
          <a:xfrm>
            <a:off x="12407785" y="3395465"/>
            <a:ext cx="1712387" cy="1976636"/>
            <a:chOff x="622405" y="2212165"/>
            <a:chExt cx="1201675" cy="1387113"/>
          </a:xfrm>
        </p:grpSpPr>
        <p:pic>
          <p:nvPicPr>
            <p:cNvPr id="44" name="Picture 43"/>
            <p:cNvPicPr>
              <a:picLocks noChangeAspect="1"/>
            </p:cNvPicPr>
            <p:nvPr/>
          </p:nvPicPr>
          <p:blipFill rotWithShape="1">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89163" y="3022366"/>
              <a:ext cx="534917" cy="576911"/>
            </a:xfrm>
            <a:prstGeom prst="rect">
              <a:avLst/>
            </a:prstGeom>
          </p:spPr>
        </p:pic>
        <p:pic>
          <p:nvPicPr>
            <p:cNvPr id="45" name="Picture 44"/>
            <p:cNvPicPr>
              <a:picLocks noChangeAspect="1"/>
            </p:cNvPicPr>
            <p:nvPr/>
          </p:nvPicPr>
          <p:blipFill rotWithShape="1">
            <a:blip r:embed="rId1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22405" y="3030679"/>
              <a:ext cx="540687" cy="568599"/>
            </a:xfrm>
            <a:prstGeom prst="rect">
              <a:avLst/>
            </a:prstGeom>
          </p:spPr>
        </p:pic>
        <p:pic>
          <p:nvPicPr>
            <p:cNvPr id="46" name="Picture 45"/>
            <p:cNvPicPr>
              <a:picLocks noChangeAspect="1"/>
            </p:cNvPicPr>
            <p:nvPr/>
          </p:nvPicPr>
          <p:blipFill rotWithShape="1">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93319" y="2212166"/>
              <a:ext cx="530761" cy="675817"/>
            </a:xfrm>
            <a:prstGeom prst="rect">
              <a:avLst/>
            </a:prstGeom>
          </p:spPr>
        </p:pic>
        <p:pic>
          <p:nvPicPr>
            <p:cNvPr id="47" name="Picture 46"/>
            <p:cNvPicPr>
              <a:picLocks noChangeAspect="1"/>
            </p:cNvPicPr>
            <p:nvPr/>
          </p:nvPicPr>
          <p:blipFill rotWithShape="1">
            <a:blip r:embed="rId1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22405" y="2212165"/>
              <a:ext cx="536529" cy="684130"/>
            </a:xfrm>
            <a:prstGeom prst="rect">
              <a:avLst/>
            </a:prstGeom>
          </p:spPr>
        </p:pic>
      </p:grpSp>
      <p:pic>
        <p:nvPicPr>
          <p:cNvPr id="9" name="Picture 8"/>
          <p:cNvPicPr>
            <a:picLocks noChangeAspect="1"/>
          </p:cNvPicPr>
          <p:nvPr/>
        </p:nvPicPr>
        <p:blipFill rotWithShape="1">
          <a:blip r:embed="rId10" cstate="email">
            <a:clrChange>
              <a:clrFrom>
                <a:srgbClr val="F6F7F9"/>
              </a:clrFrom>
              <a:clrTo>
                <a:srgbClr val="F6F7F9">
                  <a:alpha val="0"/>
                </a:srgbClr>
              </a:clrTo>
            </a:clrChange>
            <a:extLst>
              <a:ext uri="{28A0092B-C50C-407E-A947-70E740481C1C}">
                <a14:useLocalDpi xmlns:a14="http://schemas.microsoft.com/office/drawing/2010/main"/>
              </a:ext>
            </a:extLst>
          </a:blip>
          <a:srcRect/>
          <a:stretch/>
        </p:blipFill>
        <p:spPr>
          <a:xfrm>
            <a:off x="2917965" y="5409362"/>
            <a:ext cx="1859775" cy="1562253"/>
          </a:xfrm>
          <a:prstGeom prst="rect">
            <a:avLst/>
          </a:prstGeom>
        </p:spPr>
      </p:pic>
      <p:pic>
        <p:nvPicPr>
          <p:cNvPr id="50" name="Picture 49"/>
          <p:cNvPicPr>
            <a:picLocks noChangeAspect="1"/>
          </p:cNvPicPr>
          <p:nvPr/>
        </p:nvPicPr>
        <p:blipFill rotWithShape="1">
          <a:blip r:embed="rId10" cstate="email">
            <a:clrChange>
              <a:clrFrom>
                <a:srgbClr val="F6F7FB"/>
              </a:clrFrom>
              <a:clrTo>
                <a:srgbClr val="F6F7FB">
                  <a:alpha val="0"/>
                </a:srgbClr>
              </a:clrTo>
            </a:clrChange>
            <a:extLst>
              <a:ext uri="{28A0092B-C50C-407E-A947-70E740481C1C}">
                <a14:useLocalDpi xmlns:a14="http://schemas.microsoft.com/office/drawing/2010/main"/>
              </a:ext>
            </a:extLst>
          </a:blip>
          <a:srcRect/>
          <a:stretch/>
        </p:blipFill>
        <p:spPr>
          <a:xfrm>
            <a:off x="12407784" y="5408676"/>
            <a:ext cx="1860072" cy="1563624"/>
          </a:xfrm>
          <a:prstGeom prst="rect">
            <a:avLst/>
          </a:prstGeom>
        </p:spPr>
      </p:pic>
    </p:spTree>
    <p:custDataLst>
      <p:tags r:id="rId1"/>
    </p:custDataLst>
    <p:extLst>
      <p:ext uri="{BB962C8B-B14F-4D97-AF65-F5344CB8AC3E}">
        <p14:creationId xmlns:p14="http://schemas.microsoft.com/office/powerpoint/2010/main" val="68438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1000"/>
                                        <p:tgtEl>
                                          <p:spTgt spid="43"/>
                                        </p:tgtEl>
                                      </p:cBhvr>
                                    </p:animEffect>
                                  </p:childTnLst>
                                </p:cTn>
                              </p:par>
                              <p:par>
                                <p:cTn id="23" presetID="17" presetClass="entr" presetSubtype="1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p:cTn id="25" dur="1000" fill="hold"/>
                                        <p:tgtEl>
                                          <p:spTgt spid="28"/>
                                        </p:tgtEl>
                                        <p:attrNameLst>
                                          <p:attrName>ppt_w</p:attrName>
                                        </p:attrNameLst>
                                      </p:cBhvr>
                                      <p:tavLst>
                                        <p:tav tm="0">
                                          <p:val>
                                            <p:fltVal val="0"/>
                                          </p:val>
                                        </p:tav>
                                        <p:tav tm="100000">
                                          <p:val>
                                            <p:strVal val="#ppt_w"/>
                                          </p:val>
                                        </p:tav>
                                      </p:tavLst>
                                    </p:anim>
                                    <p:anim calcmode="lin" valueType="num">
                                      <p:cBhvr>
                                        <p:cTn id="26" dur="1000" fill="hold"/>
                                        <p:tgtEl>
                                          <p:spTgt spid="28"/>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childTnLst>
                                </p:cTn>
                              </p:par>
                              <p:par>
                                <p:cTn id="32" presetID="10" presetClass="entr" presetSubtype="0" fill="hold" nodeType="with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fade">
                                      <p:cBhvr>
                                        <p:cTn id="34" dur="1000"/>
                                        <p:tgtEl>
                                          <p:spTgt spid="49"/>
                                        </p:tgtEl>
                                      </p:cBhvr>
                                    </p:animEffect>
                                  </p:childTnLst>
                                </p:cTn>
                              </p:par>
                              <p:par>
                                <p:cTn id="35" presetID="10" presetClass="entr" presetSubtype="0"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fade">
                                      <p:cBhvr>
                                        <p:cTn id="37" dur="1000"/>
                                        <p:tgtEl>
                                          <p:spTgt spid="50"/>
                                        </p:tgtEl>
                                      </p:cBhvr>
                                    </p:animEffect>
                                  </p:childTnLst>
                                </p:cTn>
                              </p:par>
                            </p:childTnLst>
                          </p:cTn>
                        </p:par>
                        <p:par>
                          <p:cTn id="38" fill="hold">
                            <p:stCondLst>
                              <p:cond delay="1000"/>
                            </p:stCondLst>
                            <p:childTnLst>
                              <p:par>
                                <p:cTn id="39" presetID="17" presetClass="entr" presetSubtype="1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p:cTn id="41" dur="1000" fill="hold"/>
                                        <p:tgtEl>
                                          <p:spTgt spid="29"/>
                                        </p:tgtEl>
                                        <p:attrNameLst>
                                          <p:attrName>ppt_w</p:attrName>
                                        </p:attrNameLst>
                                      </p:cBhvr>
                                      <p:tavLst>
                                        <p:tav tm="0">
                                          <p:val>
                                            <p:fltVal val="0"/>
                                          </p:val>
                                        </p:tav>
                                        <p:tav tm="100000">
                                          <p:val>
                                            <p:strVal val="#ppt_w"/>
                                          </p:val>
                                        </p:tav>
                                      </p:tavLst>
                                    </p:anim>
                                    <p:anim calcmode="lin" valueType="num">
                                      <p:cBhvr>
                                        <p:cTn id="42" dur="10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childTnLst>
                                </p:cTn>
                              </p:par>
                              <p:par>
                                <p:cTn id="48" presetID="10"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childTnLst>
                                </p:cTn>
                              </p:par>
                              <p:par>
                                <p:cTn id="51" presetID="10" presetClass="entr" presetSubtype="0" fill="hold"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1000"/>
                                        <p:tgtEl>
                                          <p:spTgt spid="11"/>
                                        </p:tgtEl>
                                      </p:cBhvr>
                                    </p:animEffect>
                                  </p:childTnLst>
                                </p:cTn>
                              </p:par>
                            </p:childTnLst>
                          </p:cTn>
                        </p:par>
                        <p:par>
                          <p:cTn id="54" fill="hold">
                            <p:stCondLst>
                              <p:cond delay="1000"/>
                            </p:stCondLst>
                            <p:childTnLst>
                              <p:par>
                                <p:cTn id="55" presetID="17" presetClass="entr" presetSubtype="10" fill="hold" grpId="0" nodeType="afterEffect">
                                  <p:stCondLst>
                                    <p:cond delay="0"/>
                                  </p:stCondLst>
                                  <p:childTnLst>
                                    <p:set>
                                      <p:cBhvr>
                                        <p:cTn id="56" dur="1" fill="hold">
                                          <p:stCondLst>
                                            <p:cond delay="0"/>
                                          </p:stCondLst>
                                        </p:cTn>
                                        <p:tgtEl>
                                          <p:spTgt spid="30"/>
                                        </p:tgtEl>
                                        <p:attrNameLst>
                                          <p:attrName>style.visibility</p:attrName>
                                        </p:attrNameLst>
                                      </p:cBhvr>
                                      <p:to>
                                        <p:strVal val="visible"/>
                                      </p:to>
                                    </p:set>
                                    <p:anim calcmode="lin" valueType="num">
                                      <p:cBhvr>
                                        <p:cTn id="57" dur="1000" fill="hold"/>
                                        <p:tgtEl>
                                          <p:spTgt spid="30"/>
                                        </p:tgtEl>
                                        <p:attrNameLst>
                                          <p:attrName>ppt_w</p:attrName>
                                        </p:attrNameLst>
                                      </p:cBhvr>
                                      <p:tavLst>
                                        <p:tav tm="0">
                                          <p:val>
                                            <p:fltVal val="0"/>
                                          </p:val>
                                        </p:tav>
                                        <p:tav tm="100000">
                                          <p:val>
                                            <p:strVal val="#ppt_w"/>
                                          </p:val>
                                        </p:tav>
                                      </p:tavLst>
                                    </p:anim>
                                    <p:anim calcmode="lin" valueType="num">
                                      <p:cBhvr>
                                        <p:cTn id="58" dur="10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000"/>
                                        <p:tgtEl>
                                          <p:spTgt spid="14"/>
                                        </p:tgtEl>
                                      </p:cBhvr>
                                    </p:animEffect>
                                  </p:childTnLst>
                                </p:cTn>
                              </p:par>
                              <p:par>
                                <p:cTn id="64" presetID="10" presetClass="entr" presetSubtype="0" fill="hold"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1000"/>
                                        <p:tgtEl>
                                          <p:spTgt spid="20"/>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1000"/>
                                        <p:tgtEl>
                                          <p:spTgt spid="26"/>
                                        </p:tgtEl>
                                      </p:cBhvr>
                                    </p:animEffect>
                                  </p:childTnLst>
                                </p:cTn>
                              </p:par>
                            </p:childTnLst>
                          </p:cTn>
                        </p:par>
                        <p:par>
                          <p:cTn id="70" fill="hold">
                            <p:stCondLst>
                              <p:cond delay="1000"/>
                            </p:stCondLst>
                            <p:childTnLst>
                              <p:par>
                                <p:cTn id="71" presetID="17" presetClass="entr" presetSubtype="10" fill="hold" grpId="0" nodeType="afterEffect">
                                  <p:stCondLst>
                                    <p:cond delay="0"/>
                                  </p:stCondLst>
                                  <p:childTnLst>
                                    <p:set>
                                      <p:cBhvr>
                                        <p:cTn id="72" dur="1" fill="hold">
                                          <p:stCondLst>
                                            <p:cond delay="0"/>
                                          </p:stCondLst>
                                        </p:cTn>
                                        <p:tgtEl>
                                          <p:spTgt spid="31"/>
                                        </p:tgtEl>
                                        <p:attrNameLst>
                                          <p:attrName>style.visibility</p:attrName>
                                        </p:attrNameLst>
                                      </p:cBhvr>
                                      <p:to>
                                        <p:strVal val="visible"/>
                                      </p:to>
                                    </p:set>
                                    <p:anim calcmode="lin" valueType="num">
                                      <p:cBhvr>
                                        <p:cTn id="73" dur="1000" fill="hold"/>
                                        <p:tgtEl>
                                          <p:spTgt spid="31"/>
                                        </p:tgtEl>
                                        <p:attrNameLst>
                                          <p:attrName>ppt_w</p:attrName>
                                        </p:attrNameLst>
                                      </p:cBhvr>
                                      <p:tavLst>
                                        <p:tav tm="0">
                                          <p:val>
                                            <p:fltVal val="0"/>
                                          </p:val>
                                        </p:tav>
                                        <p:tav tm="100000">
                                          <p:val>
                                            <p:strVal val="#ppt_w"/>
                                          </p:val>
                                        </p:tav>
                                      </p:tavLst>
                                    </p:anim>
                                    <p:anim calcmode="lin" valueType="num">
                                      <p:cBhvr>
                                        <p:cTn id="74" dur="1000" fill="hold"/>
                                        <p:tgtEl>
                                          <p:spTgt spid="3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8" grpId="0" animBg="1"/>
      <p:bldP spid="29" grpId="0" animBg="1"/>
      <p:bldP spid="30" grpId="0" animBg="1"/>
      <p:bldP spid="3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 name="Picture 1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2493509" y="8737471"/>
            <a:ext cx="2468880" cy="1026662"/>
          </a:xfrm>
          <a:prstGeom prst="rect">
            <a:avLst/>
          </a:prstGeom>
        </p:spPr>
      </p:pic>
      <p:pic>
        <p:nvPicPr>
          <p:cNvPr id="114" name="Picture 113"/>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7354318" y="8778495"/>
            <a:ext cx="2607818" cy="944610"/>
          </a:xfrm>
          <a:prstGeom prst="rect">
            <a:avLst/>
          </a:prstGeom>
        </p:spPr>
      </p:pic>
      <p:pic>
        <p:nvPicPr>
          <p:cNvPr id="115" name="Picture 114"/>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2486025" y="8787401"/>
            <a:ext cx="2377440" cy="926799"/>
          </a:xfrm>
          <a:prstGeom prst="rect">
            <a:avLst/>
          </a:prstGeom>
        </p:spPr>
      </p:pic>
      <p:sp>
        <p:nvSpPr>
          <p:cNvPr id="116" name="Left-Right Arrow 115"/>
          <p:cNvSpPr/>
          <p:nvPr/>
        </p:nvSpPr>
        <p:spPr>
          <a:xfrm>
            <a:off x="4842356" y="8633580"/>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Vehicles Ride over Various Media</a:t>
            </a:r>
          </a:p>
        </p:txBody>
      </p:sp>
      <p:pic>
        <p:nvPicPr>
          <p:cNvPr id="109" name="Picture 108"/>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2733551" y="7160934"/>
            <a:ext cx="2129915" cy="1184934"/>
          </a:xfrm>
          <a:prstGeom prst="rect">
            <a:avLst/>
          </a:prstGeom>
        </p:spPr>
      </p:pic>
      <p:pic>
        <p:nvPicPr>
          <p:cNvPr id="110" name="Picture 109"/>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7594102" y="6972300"/>
            <a:ext cx="2128250" cy="1562202"/>
          </a:xfrm>
          <a:prstGeom prst="rect">
            <a:avLst/>
          </a:prstGeom>
        </p:spPr>
      </p:pic>
      <p:pic>
        <p:nvPicPr>
          <p:cNvPr id="111" name="Picture 110"/>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12493509" y="7192695"/>
            <a:ext cx="2721378" cy="1121412"/>
          </a:xfrm>
          <a:prstGeom prst="rect">
            <a:avLst/>
          </a:prstGeom>
        </p:spPr>
      </p:pic>
      <p:sp>
        <p:nvSpPr>
          <p:cNvPr id="112" name="Left-Right Arrow 111"/>
          <p:cNvSpPr/>
          <p:nvPr/>
        </p:nvSpPr>
        <p:spPr>
          <a:xfrm>
            <a:off x="4886325" y="7136181"/>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Containers Ride in Various Vehicles</a:t>
            </a:r>
          </a:p>
        </p:txBody>
      </p:sp>
      <p:pic>
        <p:nvPicPr>
          <p:cNvPr id="101" name="Picture 100"/>
          <p:cNvPicPr>
            <a:picLocks noChangeAspect="1"/>
          </p:cNvPicPr>
          <p:nvPr/>
        </p:nvPicPr>
        <p:blipFill rotWithShape="1">
          <a:blip r:embed="rId10" cstate="email">
            <a:clrChange>
              <a:clrFrom>
                <a:srgbClr val="FAFAFC"/>
              </a:clrFrom>
              <a:clrTo>
                <a:srgbClr val="FAFAFC">
                  <a:alpha val="0"/>
                </a:srgbClr>
              </a:clrTo>
            </a:clrChange>
            <a:extLst>
              <a:ext uri="{28A0092B-C50C-407E-A947-70E740481C1C}">
                <a14:useLocalDpi xmlns:a14="http://schemas.microsoft.com/office/drawing/2010/main"/>
              </a:ext>
            </a:extLst>
          </a:blip>
          <a:srcRect/>
          <a:stretch/>
        </p:blipFill>
        <p:spPr>
          <a:xfrm>
            <a:off x="7728338" y="5409362"/>
            <a:ext cx="1859775" cy="1562253"/>
          </a:xfrm>
          <a:prstGeom prst="rect">
            <a:avLst/>
          </a:prstGeom>
        </p:spPr>
      </p:pic>
      <p:sp>
        <p:nvSpPr>
          <p:cNvPr id="102" name="Left-Right Arrow 101"/>
          <p:cNvSpPr/>
          <p:nvPr/>
        </p:nvSpPr>
        <p:spPr>
          <a:xfrm>
            <a:off x="4886325" y="5573268"/>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Route Containers Between Locations</a:t>
            </a:r>
          </a:p>
        </p:txBody>
      </p:sp>
      <p:pic>
        <p:nvPicPr>
          <p:cNvPr id="103" name="Picture 102"/>
          <p:cNvPicPr>
            <a:picLocks noChangeAspect="1"/>
          </p:cNvPicPr>
          <p:nvPr/>
        </p:nvPicPr>
        <p:blipFill rotWithShape="1">
          <a:blip r:embed="rId10" cstate="email">
            <a:clrChange>
              <a:clrFrom>
                <a:srgbClr val="F9F9FB"/>
              </a:clrFrom>
              <a:clrTo>
                <a:srgbClr val="F9F9FB">
                  <a:alpha val="0"/>
                </a:srgbClr>
              </a:clrTo>
            </a:clrChange>
            <a:extLst>
              <a:ext uri="{28A0092B-C50C-407E-A947-70E740481C1C}">
                <a14:useLocalDpi xmlns:a14="http://schemas.microsoft.com/office/drawing/2010/main"/>
              </a:ext>
            </a:extLst>
          </a:blip>
          <a:srcRect/>
          <a:stretch/>
        </p:blipFill>
        <p:spPr>
          <a:xfrm>
            <a:off x="3003690" y="5409362"/>
            <a:ext cx="1859775" cy="1562253"/>
          </a:xfrm>
          <a:prstGeom prst="rect">
            <a:avLst/>
          </a:prstGeom>
        </p:spPr>
      </p:pic>
      <p:pic>
        <p:nvPicPr>
          <p:cNvPr id="104" name="Picture 103"/>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12493509" y="5408676"/>
            <a:ext cx="1860072" cy="1563624"/>
          </a:xfrm>
          <a:prstGeom prst="rect">
            <a:avLst/>
          </a:prstGeom>
        </p:spPr>
      </p:pic>
      <p:sp>
        <p:nvSpPr>
          <p:cNvPr id="87" name="Left-Right Arrow 86"/>
          <p:cNvSpPr/>
          <p:nvPr/>
        </p:nvSpPr>
        <p:spPr>
          <a:xfrm>
            <a:off x="4886325" y="1925906"/>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Something to be Shipped</a:t>
            </a:r>
          </a:p>
        </p:txBody>
      </p:sp>
      <p:pic>
        <p:nvPicPr>
          <p:cNvPr id="88" name="Picture 87"/>
          <p:cNvPicPr>
            <a:picLocks noChangeAspect="1"/>
          </p:cNvPicPr>
          <p:nvPr/>
        </p:nvPicPr>
        <p:blipFill rotWithShape="1">
          <a:blip r:embed="rId11"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342227" y="1650354"/>
            <a:ext cx="1521239" cy="1785543"/>
          </a:xfrm>
          <a:prstGeom prst="rect">
            <a:avLst/>
          </a:prstGeom>
        </p:spPr>
      </p:pic>
      <p:pic>
        <p:nvPicPr>
          <p:cNvPr id="89" name="Picture 88"/>
          <p:cNvPicPr>
            <a:picLocks noChangeAspect="1"/>
          </p:cNvPicPr>
          <p:nvPr/>
        </p:nvPicPr>
        <p:blipFill rotWithShape="1">
          <a:blip r:embed="rId1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493509" y="1650557"/>
            <a:ext cx="1520889" cy="1785138"/>
          </a:xfrm>
          <a:prstGeom prst="rect">
            <a:avLst/>
          </a:prstGeom>
        </p:spPr>
      </p:pic>
      <p:sp>
        <p:nvSpPr>
          <p:cNvPr id="90" name="Left-Right Arrow 89"/>
          <p:cNvSpPr/>
          <p:nvPr/>
        </p:nvSpPr>
        <p:spPr>
          <a:xfrm>
            <a:off x="4886325" y="3766562"/>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Break it up for Shipping</a:t>
            </a:r>
          </a:p>
        </p:txBody>
      </p:sp>
      <p:grpSp>
        <p:nvGrpSpPr>
          <p:cNvPr id="91" name="Group 90"/>
          <p:cNvGrpSpPr>
            <a:grpSpLocks noChangeAspect="1"/>
          </p:cNvGrpSpPr>
          <p:nvPr/>
        </p:nvGrpSpPr>
        <p:grpSpPr>
          <a:xfrm>
            <a:off x="3151079" y="3395465"/>
            <a:ext cx="1712387" cy="1976636"/>
            <a:chOff x="622405" y="2212165"/>
            <a:chExt cx="1201675" cy="1387113"/>
          </a:xfrm>
        </p:grpSpPr>
        <p:pic>
          <p:nvPicPr>
            <p:cNvPr id="92" name="Picture 91"/>
            <p:cNvPicPr>
              <a:picLocks noChangeAspect="1"/>
            </p:cNvPicPr>
            <p:nvPr/>
          </p:nvPicPr>
          <p:blipFill rotWithShape="1">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89163" y="3022366"/>
              <a:ext cx="534917" cy="576911"/>
            </a:xfrm>
            <a:prstGeom prst="rect">
              <a:avLst/>
            </a:prstGeom>
          </p:spPr>
        </p:pic>
        <p:pic>
          <p:nvPicPr>
            <p:cNvPr id="93" name="Picture 92"/>
            <p:cNvPicPr>
              <a:picLocks noChangeAspect="1"/>
            </p:cNvPicPr>
            <p:nvPr/>
          </p:nvPicPr>
          <p:blipFill rotWithShape="1">
            <a:blip r:embed="rId1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22405" y="3030679"/>
              <a:ext cx="540687" cy="568599"/>
            </a:xfrm>
            <a:prstGeom prst="rect">
              <a:avLst/>
            </a:prstGeom>
          </p:spPr>
        </p:pic>
        <p:pic>
          <p:nvPicPr>
            <p:cNvPr id="94" name="Picture 93"/>
            <p:cNvPicPr>
              <a:picLocks noChangeAspect="1"/>
            </p:cNvPicPr>
            <p:nvPr/>
          </p:nvPicPr>
          <p:blipFill rotWithShape="1">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93319" y="2212166"/>
              <a:ext cx="530761" cy="675817"/>
            </a:xfrm>
            <a:prstGeom prst="rect">
              <a:avLst/>
            </a:prstGeom>
          </p:spPr>
        </p:pic>
        <p:pic>
          <p:nvPicPr>
            <p:cNvPr id="95" name="Picture 94"/>
            <p:cNvPicPr>
              <a:picLocks noChangeAspect="1"/>
            </p:cNvPicPr>
            <p:nvPr/>
          </p:nvPicPr>
          <p:blipFill rotWithShape="1">
            <a:blip r:embed="rId1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22405" y="2212165"/>
              <a:ext cx="536529" cy="684130"/>
            </a:xfrm>
            <a:prstGeom prst="rect">
              <a:avLst/>
            </a:prstGeom>
          </p:spPr>
        </p:pic>
      </p:grpSp>
      <p:grpSp>
        <p:nvGrpSpPr>
          <p:cNvPr id="96" name="Group 95"/>
          <p:cNvGrpSpPr>
            <a:grpSpLocks noChangeAspect="1"/>
          </p:cNvGrpSpPr>
          <p:nvPr/>
        </p:nvGrpSpPr>
        <p:grpSpPr>
          <a:xfrm>
            <a:off x="12493510" y="3395465"/>
            <a:ext cx="1712387" cy="1976636"/>
            <a:chOff x="622405" y="2212165"/>
            <a:chExt cx="1201675" cy="1387113"/>
          </a:xfrm>
        </p:grpSpPr>
        <p:pic>
          <p:nvPicPr>
            <p:cNvPr id="97" name="Picture 96"/>
            <p:cNvPicPr>
              <a:picLocks noChangeAspect="1"/>
            </p:cNvPicPr>
            <p:nvPr/>
          </p:nvPicPr>
          <p:blipFill rotWithShape="1">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89163" y="3022366"/>
              <a:ext cx="534917" cy="576911"/>
            </a:xfrm>
            <a:prstGeom prst="rect">
              <a:avLst/>
            </a:prstGeom>
          </p:spPr>
        </p:pic>
        <p:pic>
          <p:nvPicPr>
            <p:cNvPr id="98" name="Picture 97"/>
            <p:cNvPicPr>
              <a:picLocks noChangeAspect="1"/>
            </p:cNvPicPr>
            <p:nvPr/>
          </p:nvPicPr>
          <p:blipFill rotWithShape="1">
            <a:blip r:embed="rId1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22405" y="3030679"/>
              <a:ext cx="540687" cy="568599"/>
            </a:xfrm>
            <a:prstGeom prst="rect">
              <a:avLst/>
            </a:prstGeom>
          </p:spPr>
        </p:pic>
        <p:pic>
          <p:nvPicPr>
            <p:cNvPr id="99" name="Picture 98"/>
            <p:cNvPicPr>
              <a:picLocks noChangeAspect="1"/>
            </p:cNvPicPr>
            <p:nvPr/>
          </p:nvPicPr>
          <p:blipFill rotWithShape="1">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93319" y="2212166"/>
              <a:ext cx="530761" cy="675817"/>
            </a:xfrm>
            <a:prstGeom prst="rect">
              <a:avLst/>
            </a:prstGeom>
          </p:spPr>
        </p:pic>
        <p:pic>
          <p:nvPicPr>
            <p:cNvPr id="100" name="Picture 99"/>
            <p:cNvPicPr>
              <a:picLocks noChangeAspect="1"/>
            </p:cNvPicPr>
            <p:nvPr/>
          </p:nvPicPr>
          <p:blipFill rotWithShape="1">
            <a:blip r:embed="rId1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22405" y="2212165"/>
              <a:ext cx="536529" cy="684130"/>
            </a:xfrm>
            <a:prstGeom prst="rect">
              <a:avLst/>
            </a:prstGeom>
          </p:spPr>
        </p:pic>
      </p:grpSp>
      <p:sp>
        <p:nvSpPr>
          <p:cNvPr id="4" name="Rectangle 3"/>
          <p:cNvSpPr/>
          <p:nvPr/>
        </p:nvSpPr>
        <p:spPr>
          <a:xfrm>
            <a:off x="2305050" y="1714501"/>
            <a:ext cx="11639550" cy="8587646"/>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9" name="TextBox 48"/>
          <p:cNvSpPr txBox="1"/>
          <p:nvPr/>
        </p:nvSpPr>
        <p:spPr>
          <a:xfrm>
            <a:off x="6143625" y="8881470"/>
            <a:ext cx="1593706" cy="738664"/>
          </a:xfrm>
          <a:prstGeom prst="rect">
            <a:avLst/>
          </a:prstGeom>
          <a:solidFill>
            <a:srgbClr val="660066"/>
          </a:solidFill>
        </p:spPr>
        <p:txBody>
          <a:bodyPr wrap="none" rtlCol="0" anchor="ctr">
            <a:spAutoFit/>
          </a:bodyPr>
          <a:lstStyle/>
          <a:p>
            <a:r>
              <a:rPr lang="en-US" sz="4200">
                <a:solidFill>
                  <a:schemeClr val="bg1"/>
                </a:solidFill>
                <a:latin typeface="Arial" pitchFamily="34" charset="0"/>
                <a:cs typeface="Arial" pitchFamily="34" charset="0"/>
              </a:rPr>
              <a:t>Radio</a:t>
            </a:r>
          </a:p>
        </p:txBody>
      </p:sp>
      <p:sp>
        <p:nvSpPr>
          <p:cNvPr id="86" name="TextBox 85"/>
          <p:cNvSpPr txBox="1"/>
          <p:nvPr/>
        </p:nvSpPr>
        <p:spPr>
          <a:xfrm>
            <a:off x="3188520" y="8881470"/>
            <a:ext cx="1443024" cy="738664"/>
          </a:xfrm>
          <a:prstGeom prst="rect">
            <a:avLst/>
          </a:prstGeom>
          <a:solidFill>
            <a:srgbClr val="660066"/>
          </a:solidFill>
        </p:spPr>
        <p:txBody>
          <a:bodyPr wrap="none" rtlCol="0" anchor="ctr">
            <a:spAutoFit/>
          </a:bodyPr>
          <a:lstStyle/>
          <a:p>
            <a:r>
              <a:rPr lang="en-US" sz="4200">
                <a:solidFill>
                  <a:schemeClr val="bg1"/>
                </a:solidFill>
                <a:latin typeface="Arial" pitchFamily="34" charset="0"/>
                <a:cs typeface="Arial" pitchFamily="34" charset="0"/>
              </a:rPr>
              <a:t>Coax</a:t>
            </a:r>
          </a:p>
        </p:txBody>
      </p:sp>
      <p:sp>
        <p:nvSpPr>
          <p:cNvPr id="50" name="TextBox 49"/>
          <p:cNvSpPr txBox="1"/>
          <p:nvPr/>
        </p:nvSpPr>
        <p:spPr>
          <a:xfrm>
            <a:off x="9723204" y="8906861"/>
            <a:ext cx="1261884" cy="738664"/>
          </a:xfrm>
          <a:prstGeom prst="rect">
            <a:avLst/>
          </a:prstGeom>
          <a:solidFill>
            <a:srgbClr val="660066"/>
          </a:solidFill>
        </p:spPr>
        <p:txBody>
          <a:bodyPr wrap="none" rtlCol="0">
            <a:spAutoFit/>
          </a:bodyPr>
          <a:lstStyle/>
          <a:p>
            <a:r>
              <a:rPr lang="en-US" sz="4200">
                <a:solidFill>
                  <a:schemeClr val="bg1"/>
                </a:solidFill>
                <a:latin typeface="Arial" pitchFamily="34" charset="0"/>
                <a:cs typeface="Arial" pitchFamily="34" charset="0"/>
              </a:rPr>
              <a:t>UTP</a:t>
            </a:r>
          </a:p>
        </p:txBody>
      </p:sp>
      <p:sp>
        <p:nvSpPr>
          <p:cNvPr id="31" name="Left-Right Arrow 30"/>
          <p:cNvSpPr/>
          <p:nvPr/>
        </p:nvSpPr>
        <p:spPr>
          <a:xfrm>
            <a:off x="4842767" y="8633580"/>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Various Media in Each Network</a:t>
            </a:r>
          </a:p>
        </p:txBody>
      </p:sp>
      <p:sp>
        <p:nvSpPr>
          <p:cNvPr id="10" name="TextBox 9"/>
          <p:cNvSpPr txBox="1"/>
          <p:nvPr/>
        </p:nvSpPr>
        <p:spPr>
          <a:xfrm>
            <a:off x="7862690" y="7374495"/>
            <a:ext cx="1441420" cy="738664"/>
          </a:xfrm>
          <a:prstGeom prst="rect">
            <a:avLst/>
          </a:prstGeom>
          <a:solidFill>
            <a:srgbClr val="003300"/>
          </a:solidFill>
        </p:spPr>
        <p:txBody>
          <a:bodyPr wrap="none" rtlCol="0" anchor="ctr">
            <a:spAutoFit/>
          </a:bodyPr>
          <a:lstStyle/>
          <a:p>
            <a:r>
              <a:rPr lang="en-US" sz="4200">
                <a:solidFill>
                  <a:schemeClr val="bg1"/>
                </a:solidFill>
                <a:latin typeface="Arial" pitchFamily="34" charset="0"/>
                <a:cs typeface="Arial" pitchFamily="34" charset="0"/>
              </a:rPr>
              <a:t>Wi-Fi</a:t>
            </a:r>
          </a:p>
        </p:txBody>
      </p:sp>
      <p:sp>
        <p:nvSpPr>
          <p:cNvPr id="48" name="TextBox 47"/>
          <p:cNvSpPr txBox="1"/>
          <p:nvPr/>
        </p:nvSpPr>
        <p:spPr>
          <a:xfrm>
            <a:off x="2531295" y="7374495"/>
            <a:ext cx="2249334" cy="738664"/>
          </a:xfrm>
          <a:prstGeom prst="rect">
            <a:avLst/>
          </a:prstGeom>
          <a:solidFill>
            <a:srgbClr val="003300"/>
          </a:solidFill>
        </p:spPr>
        <p:txBody>
          <a:bodyPr wrap="none" rtlCol="0" anchor="ctr">
            <a:spAutoFit/>
          </a:bodyPr>
          <a:lstStyle/>
          <a:p>
            <a:r>
              <a:rPr lang="en-US" sz="4200">
                <a:solidFill>
                  <a:schemeClr val="bg1"/>
                </a:solidFill>
                <a:latin typeface="Arial" pitchFamily="34" charset="0"/>
                <a:cs typeface="Arial" pitchFamily="34" charset="0"/>
              </a:rPr>
              <a:t>DOCSIS</a:t>
            </a:r>
          </a:p>
        </p:txBody>
      </p:sp>
      <p:sp>
        <p:nvSpPr>
          <p:cNvPr id="30" name="Left-Right Arrow 29"/>
          <p:cNvSpPr/>
          <p:nvPr/>
        </p:nvSpPr>
        <p:spPr>
          <a:xfrm>
            <a:off x="4884564" y="7126605"/>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Carry Packets Over Each Network</a:t>
            </a:r>
          </a:p>
        </p:txBody>
      </p:sp>
      <p:sp>
        <p:nvSpPr>
          <p:cNvPr id="9" name="TextBox 8"/>
          <p:cNvSpPr txBox="1"/>
          <p:nvPr/>
        </p:nvSpPr>
        <p:spPr>
          <a:xfrm>
            <a:off x="2422710" y="5825730"/>
            <a:ext cx="2299156" cy="738664"/>
          </a:xfrm>
          <a:prstGeom prst="rect">
            <a:avLst/>
          </a:prstGeom>
          <a:solidFill>
            <a:srgbClr val="990000"/>
          </a:solidFill>
        </p:spPr>
        <p:txBody>
          <a:bodyPr wrap="none" rtlCol="0" anchor="ctr">
            <a:spAutoFit/>
          </a:bodyPr>
          <a:lstStyle/>
          <a:p>
            <a:r>
              <a:rPr lang="en-US" sz="4200">
                <a:solidFill>
                  <a:schemeClr val="bg1"/>
                </a:solidFill>
                <a:latin typeface="Arial" pitchFamily="34" charset="0"/>
                <a:cs typeface="Arial" pitchFamily="34" charset="0"/>
              </a:rPr>
              <a:t>PACKET</a:t>
            </a:r>
          </a:p>
        </p:txBody>
      </p:sp>
      <p:sp>
        <p:nvSpPr>
          <p:cNvPr id="44" name="TextBox 43"/>
          <p:cNvSpPr txBox="1"/>
          <p:nvPr/>
        </p:nvSpPr>
        <p:spPr>
          <a:xfrm>
            <a:off x="7433585" y="5825730"/>
            <a:ext cx="2299156" cy="738664"/>
          </a:xfrm>
          <a:prstGeom prst="rect">
            <a:avLst/>
          </a:prstGeom>
          <a:solidFill>
            <a:srgbClr val="990000"/>
          </a:solidFill>
        </p:spPr>
        <p:txBody>
          <a:bodyPr wrap="none" rtlCol="0" anchor="ctr">
            <a:spAutoFit/>
          </a:bodyPr>
          <a:lstStyle/>
          <a:p>
            <a:r>
              <a:rPr lang="en-US" sz="4200">
                <a:solidFill>
                  <a:schemeClr val="bg1"/>
                </a:solidFill>
                <a:latin typeface="Arial" pitchFamily="34" charset="0"/>
                <a:cs typeface="Arial" pitchFamily="34" charset="0"/>
              </a:rPr>
              <a:t>PACKET</a:t>
            </a:r>
          </a:p>
        </p:txBody>
      </p:sp>
      <p:sp>
        <p:nvSpPr>
          <p:cNvPr id="29" name="Left-Right Arrow 28"/>
          <p:cNvSpPr/>
          <p:nvPr/>
        </p:nvSpPr>
        <p:spPr>
          <a:xfrm>
            <a:off x="4887452" y="5577840"/>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dirty="0">
                <a:latin typeface="+mj-lt"/>
              </a:rPr>
              <a:t>Forward Packets Across Internetwork</a:t>
            </a:r>
          </a:p>
        </p:txBody>
      </p:sp>
      <p:sp>
        <p:nvSpPr>
          <p:cNvPr id="2" name="Title 1"/>
          <p:cNvSpPr>
            <a:spLocks noGrp="1"/>
          </p:cNvSpPr>
          <p:nvPr>
            <p:ph type="title"/>
          </p:nvPr>
        </p:nvSpPr>
        <p:spPr/>
        <p:txBody>
          <a:bodyPr/>
          <a:lstStyle/>
          <a:p>
            <a:r>
              <a:rPr lang="en-US"/>
              <a:t>Applying the Analogy</a:t>
            </a:r>
          </a:p>
        </p:txBody>
      </p:sp>
      <p:pic>
        <p:nvPicPr>
          <p:cNvPr id="7" name="Picture 6"/>
          <p:cNvPicPr>
            <a:picLocks noChangeAspect="1"/>
          </p:cNvPicPr>
          <p:nvPr/>
        </p:nvPicPr>
        <p:blipFill rotWithShape="1">
          <a:blip r:embed="rId17" cstate="email">
            <a:extLst>
              <a:ext uri="{28A0092B-C50C-407E-A947-70E740481C1C}">
                <a14:useLocalDpi xmlns:a14="http://schemas.microsoft.com/office/drawing/2010/main"/>
              </a:ext>
            </a:extLst>
          </a:blip>
          <a:srcRect/>
          <a:stretch/>
        </p:blipFill>
        <p:spPr>
          <a:xfrm>
            <a:off x="3337110" y="1683639"/>
            <a:ext cx="1549215" cy="1693926"/>
          </a:xfrm>
          <a:prstGeom prst="rect">
            <a:avLst/>
          </a:prstGeom>
        </p:spPr>
      </p:pic>
      <p:grpSp>
        <p:nvGrpSpPr>
          <p:cNvPr id="17" name="Group 16"/>
          <p:cNvGrpSpPr>
            <a:grpSpLocks noChangeAspect="1"/>
          </p:cNvGrpSpPr>
          <p:nvPr/>
        </p:nvGrpSpPr>
        <p:grpSpPr>
          <a:xfrm>
            <a:off x="3188520" y="3479181"/>
            <a:ext cx="1685343" cy="1830054"/>
            <a:chOff x="-1247372" y="2456512"/>
            <a:chExt cx="1182697" cy="1284248"/>
          </a:xfrm>
        </p:grpSpPr>
        <p:pic>
          <p:nvPicPr>
            <p:cNvPr id="77" name="Picture 76"/>
            <p:cNvPicPr>
              <a:picLocks noChangeAspect="1"/>
            </p:cNvPicPr>
            <p:nvPr/>
          </p:nvPicPr>
          <p:blipFill rotWithShape="1">
            <a:blip r:embed="rId18" cstate="email">
              <a:extLst>
                <a:ext uri="{28A0092B-C50C-407E-A947-70E740481C1C}">
                  <a14:useLocalDpi xmlns:a14="http://schemas.microsoft.com/office/drawing/2010/main"/>
                </a:ext>
              </a:extLst>
            </a:blip>
            <a:srcRect/>
            <a:stretch/>
          </p:blipFill>
          <p:spPr>
            <a:xfrm>
              <a:off x="-609603" y="3138982"/>
              <a:ext cx="544927" cy="601777"/>
            </a:xfrm>
            <a:prstGeom prst="rect">
              <a:avLst/>
            </a:prstGeom>
          </p:spPr>
        </p:pic>
        <p:pic>
          <p:nvPicPr>
            <p:cNvPr id="78" name="Picture 77"/>
            <p:cNvPicPr>
              <a:picLocks noChangeAspect="1"/>
            </p:cNvPicPr>
            <p:nvPr/>
          </p:nvPicPr>
          <p:blipFill rotWithShape="1">
            <a:blip r:embed="rId19" cstate="email">
              <a:extLst>
                <a:ext uri="{28A0092B-C50C-407E-A947-70E740481C1C}">
                  <a14:useLocalDpi xmlns:a14="http://schemas.microsoft.com/office/drawing/2010/main"/>
                </a:ext>
              </a:extLst>
            </a:blip>
            <a:srcRect/>
            <a:stretch/>
          </p:blipFill>
          <p:spPr>
            <a:xfrm>
              <a:off x="-614152" y="2456512"/>
              <a:ext cx="549477" cy="591490"/>
            </a:xfrm>
            <a:prstGeom prst="rect">
              <a:avLst/>
            </a:prstGeom>
          </p:spPr>
        </p:pic>
        <p:pic>
          <p:nvPicPr>
            <p:cNvPr id="79" name="Picture 78"/>
            <p:cNvPicPr>
              <a:picLocks noChangeAspect="1"/>
            </p:cNvPicPr>
            <p:nvPr/>
          </p:nvPicPr>
          <p:blipFill rotWithShape="1">
            <a:blip r:embed="rId20" cstate="email">
              <a:extLst>
                <a:ext uri="{28A0092B-C50C-407E-A947-70E740481C1C}">
                  <a14:useLocalDpi xmlns:a14="http://schemas.microsoft.com/office/drawing/2010/main"/>
                </a:ext>
              </a:extLst>
            </a:blip>
            <a:srcRect/>
            <a:stretch/>
          </p:blipFill>
          <p:spPr>
            <a:xfrm>
              <a:off x="-1247372" y="3143531"/>
              <a:ext cx="546789" cy="597229"/>
            </a:xfrm>
            <a:prstGeom prst="rect">
              <a:avLst/>
            </a:prstGeom>
          </p:spPr>
        </p:pic>
        <p:pic>
          <p:nvPicPr>
            <p:cNvPr id="80" name="Picture 79"/>
            <p:cNvPicPr>
              <a:picLocks noChangeAspect="1"/>
            </p:cNvPicPr>
            <p:nvPr/>
          </p:nvPicPr>
          <p:blipFill rotWithShape="1">
            <a:blip r:embed="rId21" cstate="email">
              <a:extLst>
                <a:ext uri="{28A0092B-C50C-407E-A947-70E740481C1C}">
                  <a14:useLocalDpi xmlns:a14="http://schemas.microsoft.com/office/drawing/2010/main"/>
                </a:ext>
              </a:extLst>
            </a:blip>
            <a:srcRect/>
            <a:stretch/>
          </p:blipFill>
          <p:spPr>
            <a:xfrm>
              <a:off x="-1247371" y="2456512"/>
              <a:ext cx="546788" cy="591489"/>
            </a:xfrm>
            <a:prstGeom prst="rect">
              <a:avLst/>
            </a:prstGeom>
          </p:spPr>
        </p:pic>
      </p:grpSp>
      <p:sp>
        <p:nvSpPr>
          <p:cNvPr id="5" name="Left-Right Arrow 4"/>
          <p:cNvSpPr/>
          <p:nvPr/>
        </p:nvSpPr>
        <p:spPr>
          <a:xfrm>
            <a:off x="4899531" y="1913382"/>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Something to be Sent</a:t>
            </a:r>
          </a:p>
        </p:txBody>
      </p:sp>
      <p:sp>
        <p:nvSpPr>
          <p:cNvPr id="28" name="Left-Right Arrow 27"/>
          <p:cNvSpPr/>
          <p:nvPr/>
        </p:nvSpPr>
        <p:spPr>
          <a:xfrm>
            <a:off x="4887069" y="3776988"/>
            <a:ext cx="7543800" cy="1234440"/>
          </a:xfrm>
          <a:prstGeom prst="leftRightArrow">
            <a:avLst/>
          </a:prstGeom>
          <a:solidFill>
            <a:srgbClr val="117FC2">
              <a:alpha val="80000"/>
            </a:srgbClr>
          </a:solidFill>
          <a:ln w="28575">
            <a:solidFill>
              <a:srgbClr val="0C4C7D"/>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2700">
                <a:latin typeface="+mj-lt"/>
              </a:rPr>
              <a:t>Break it up for Sending</a:t>
            </a:r>
          </a:p>
        </p:txBody>
      </p:sp>
      <p:sp>
        <p:nvSpPr>
          <p:cNvPr id="117" name="Rectangle 116"/>
          <p:cNvSpPr/>
          <p:nvPr/>
        </p:nvSpPr>
        <p:spPr>
          <a:xfrm>
            <a:off x="13716000" y="2286001"/>
            <a:ext cx="2286000" cy="8016146"/>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1" name="TextBox 50"/>
          <p:cNvSpPr txBox="1"/>
          <p:nvPr/>
        </p:nvSpPr>
        <p:spPr>
          <a:xfrm>
            <a:off x="12362198" y="8881470"/>
            <a:ext cx="1412566" cy="738664"/>
          </a:xfrm>
          <a:prstGeom prst="rect">
            <a:avLst/>
          </a:prstGeom>
          <a:solidFill>
            <a:srgbClr val="660066"/>
          </a:solidFill>
        </p:spPr>
        <p:txBody>
          <a:bodyPr wrap="none" rtlCol="0" anchor="ctr">
            <a:spAutoFit/>
          </a:bodyPr>
          <a:lstStyle/>
          <a:p>
            <a:r>
              <a:rPr lang="en-US" sz="4200">
                <a:solidFill>
                  <a:schemeClr val="bg1"/>
                </a:solidFill>
                <a:latin typeface="Arial" pitchFamily="34" charset="0"/>
                <a:cs typeface="Arial" pitchFamily="34" charset="0"/>
              </a:rPr>
              <a:t>Fiber</a:t>
            </a:r>
          </a:p>
        </p:txBody>
      </p:sp>
      <p:sp>
        <p:nvSpPr>
          <p:cNvPr id="47" name="TextBox 46"/>
          <p:cNvSpPr txBox="1"/>
          <p:nvPr/>
        </p:nvSpPr>
        <p:spPr>
          <a:xfrm>
            <a:off x="12447965" y="7374495"/>
            <a:ext cx="2220480" cy="738664"/>
          </a:xfrm>
          <a:prstGeom prst="rect">
            <a:avLst/>
          </a:prstGeom>
          <a:solidFill>
            <a:srgbClr val="003300"/>
          </a:solidFill>
        </p:spPr>
        <p:txBody>
          <a:bodyPr wrap="none" rtlCol="0" anchor="ctr">
            <a:spAutoFit/>
          </a:bodyPr>
          <a:lstStyle/>
          <a:p>
            <a:r>
              <a:rPr lang="en-US" sz="4200">
                <a:solidFill>
                  <a:schemeClr val="bg1"/>
                </a:solidFill>
                <a:latin typeface="Arial" pitchFamily="34" charset="0"/>
                <a:cs typeface="Arial" pitchFamily="34" charset="0"/>
              </a:rPr>
              <a:t>Ethernet</a:t>
            </a:r>
          </a:p>
        </p:txBody>
      </p:sp>
      <p:sp>
        <p:nvSpPr>
          <p:cNvPr id="45" name="TextBox 44"/>
          <p:cNvSpPr txBox="1"/>
          <p:nvPr/>
        </p:nvSpPr>
        <p:spPr>
          <a:xfrm>
            <a:off x="12450852" y="5825730"/>
            <a:ext cx="2299156" cy="738664"/>
          </a:xfrm>
          <a:prstGeom prst="rect">
            <a:avLst/>
          </a:prstGeom>
          <a:solidFill>
            <a:srgbClr val="990000"/>
          </a:solidFill>
        </p:spPr>
        <p:txBody>
          <a:bodyPr wrap="none" rtlCol="0" anchor="ctr">
            <a:spAutoFit/>
          </a:bodyPr>
          <a:lstStyle/>
          <a:p>
            <a:r>
              <a:rPr lang="en-US" sz="4200">
                <a:solidFill>
                  <a:schemeClr val="bg1"/>
                </a:solidFill>
                <a:latin typeface="Arial" pitchFamily="34" charset="0"/>
                <a:cs typeface="Arial" pitchFamily="34" charset="0"/>
              </a:rPr>
              <a:t>PACKET</a:t>
            </a:r>
          </a:p>
        </p:txBody>
      </p:sp>
      <p:pic>
        <p:nvPicPr>
          <p:cNvPr id="76" name="Picture 75"/>
          <p:cNvPicPr>
            <a:picLocks noChangeAspect="1"/>
          </p:cNvPicPr>
          <p:nvPr/>
        </p:nvPicPr>
        <p:blipFill rotWithShape="1">
          <a:blip r:embed="rId1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462932" y="1683639"/>
            <a:ext cx="1549215" cy="1693926"/>
          </a:xfrm>
          <a:prstGeom prst="rect">
            <a:avLst/>
          </a:prstGeom>
        </p:spPr>
      </p:pic>
      <p:grpSp>
        <p:nvGrpSpPr>
          <p:cNvPr id="81" name="Group 80"/>
          <p:cNvGrpSpPr>
            <a:grpSpLocks noChangeAspect="1"/>
          </p:cNvGrpSpPr>
          <p:nvPr/>
        </p:nvGrpSpPr>
        <p:grpSpPr>
          <a:xfrm>
            <a:off x="12450470" y="3479181"/>
            <a:ext cx="1685343" cy="1830054"/>
            <a:chOff x="-1247372" y="2456512"/>
            <a:chExt cx="1182697" cy="1284248"/>
          </a:xfrm>
        </p:grpSpPr>
        <p:pic>
          <p:nvPicPr>
            <p:cNvPr id="82" name="Picture 81"/>
            <p:cNvPicPr>
              <a:picLocks noChangeAspect="1"/>
            </p:cNvPicPr>
            <p:nvPr/>
          </p:nvPicPr>
          <p:blipFill rotWithShape="1">
            <a:blip r:embed="rId18" cstate="email">
              <a:extLst>
                <a:ext uri="{28A0092B-C50C-407E-A947-70E740481C1C}">
                  <a14:useLocalDpi xmlns:a14="http://schemas.microsoft.com/office/drawing/2010/main"/>
                </a:ext>
              </a:extLst>
            </a:blip>
            <a:srcRect/>
            <a:stretch/>
          </p:blipFill>
          <p:spPr>
            <a:xfrm>
              <a:off x="-609603" y="3138982"/>
              <a:ext cx="544927" cy="601777"/>
            </a:xfrm>
            <a:prstGeom prst="rect">
              <a:avLst/>
            </a:prstGeom>
          </p:spPr>
        </p:pic>
        <p:pic>
          <p:nvPicPr>
            <p:cNvPr id="83" name="Picture 82"/>
            <p:cNvPicPr>
              <a:picLocks noChangeAspect="1"/>
            </p:cNvPicPr>
            <p:nvPr/>
          </p:nvPicPr>
          <p:blipFill rotWithShape="1">
            <a:blip r:embed="rId19" cstate="email">
              <a:extLst>
                <a:ext uri="{28A0092B-C50C-407E-A947-70E740481C1C}">
                  <a14:useLocalDpi xmlns:a14="http://schemas.microsoft.com/office/drawing/2010/main"/>
                </a:ext>
              </a:extLst>
            </a:blip>
            <a:srcRect/>
            <a:stretch/>
          </p:blipFill>
          <p:spPr>
            <a:xfrm>
              <a:off x="-614152" y="2456512"/>
              <a:ext cx="549477" cy="591490"/>
            </a:xfrm>
            <a:prstGeom prst="rect">
              <a:avLst/>
            </a:prstGeom>
          </p:spPr>
        </p:pic>
        <p:pic>
          <p:nvPicPr>
            <p:cNvPr id="84" name="Picture 83"/>
            <p:cNvPicPr>
              <a:picLocks noChangeAspect="1"/>
            </p:cNvPicPr>
            <p:nvPr/>
          </p:nvPicPr>
          <p:blipFill rotWithShape="1">
            <a:blip r:embed="rId20" cstate="email">
              <a:extLst>
                <a:ext uri="{28A0092B-C50C-407E-A947-70E740481C1C}">
                  <a14:useLocalDpi xmlns:a14="http://schemas.microsoft.com/office/drawing/2010/main"/>
                </a:ext>
              </a:extLst>
            </a:blip>
            <a:srcRect/>
            <a:stretch/>
          </p:blipFill>
          <p:spPr>
            <a:xfrm>
              <a:off x="-1247372" y="3143531"/>
              <a:ext cx="546789" cy="597229"/>
            </a:xfrm>
            <a:prstGeom prst="rect">
              <a:avLst/>
            </a:prstGeom>
          </p:spPr>
        </p:pic>
        <p:pic>
          <p:nvPicPr>
            <p:cNvPr id="85" name="Picture 84"/>
            <p:cNvPicPr>
              <a:picLocks noChangeAspect="1"/>
            </p:cNvPicPr>
            <p:nvPr/>
          </p:nvPicPr>
          <p:blipFill rotWithShape="1">
            <a:blip r:embed="rId21" cstate="email">
              <a:extLst>
                <a:ext uri="{28A0092B-C50C-407E-A947-70E740481C1C}">
                  <a14:useLocalDpi xmlns:a14="http://schemas.microsoft.com/office/drawing/2010/main"/>
                </a:ext>
              </a:extLst>
            </a:blip>
            <a:srcRect/>
            <a:stretch/>
          </p:blipFill>
          <p:spPr>
            <a:xfrm>
              <a:off x="-1247371" y="2456512"/>
              <a:ext cx="546788" cy="591489"/>
            </a:xfrm>
            <a:prstGeom prst="rect">
              <a:avLst/>
            </a:prstGeom>
          </p:spPr>
        </p:pic>
      </p:grpSp>
    </p:spTree>
    <p:custDataLst>
      <p:tags r:id="rId1"/>
    </p:custDataLst>
    <p:extLst>
      <p:ext uri="{BB962C8B-B14F-4D97-AF65-F5344CB8AC3E}">
        <p14:creationId xmlns:p14="http://schemas.microsoft.com/office/powerpoint/2010/main" val="338848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1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76"/>
                                        </p:tgtEl>
                                        <p:attrNameLst>
                                          <p:attrName>style.visibility</p:attrName>
                                        </p:attrNameLst>
                                      </p:cBhvr>
                                      <p:to>
                                        <p:strVal val="visible"/>
                                      </p:to>
                                    </p:set>
                                    <p:animEffect transition="in" filter="fade">
                                      <p:cBhvr>
                                        <p:cTn id="16" dur="1000"/>
                                        <p:tgtEl>
                                          <p:spTgt spid="76"/>
                                        </p:tgtEl>
                                      </p:cBhvr>
                                    </p:animEffect>
                                  </p:childTnLst>
                                </p:cTn>
                              </p:par>
                              <p:par>
                                <p:cTn id="17" presetID="10" presetClass="exit" presetSubtype="0" fill="hold" grpId="0" nodeType="withEffect">
                                  <p:stCondLst>
                                    <p:cond delay="0"/>
                                  </p:stCondLst>
                                  <p:childTnLst>
                                    <p:animEffect transition="out" filter="fade">
                                      <p:cBhvr>
                                        <p:cTn id="18" dur="1000"/>
                                        <p:tgtEl>
                                          <p:spTgt spid="87"/>
                                        </p:tgtEl>
                                      </p:cBhvr>
                                    </p:animEffect>
                                    <p:set>
                                      <p:cBhvr>
                                        <p:cTn id="19" dur="1" fill="hold">
                                          <p:stCondLst>
                                            <p:cond delay="999"/>
                                          </p:stCondLst>
                                        </p:cTn>
                                        <p:tgtEl>
                                          <p:spTgt spid="87"/>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1000"/>
                                        <p:tgtEl>
                                          <p:spTgt spid="88"/>
                                        </p:tgtEl>
                                      </p:cBhvr>
                                    </p:animEffect>
                                    <p:set>
                                      <p:cBhvr>
                                        <p:cTn id="22" dur="1" fill="hold">
                                          <p:stCondLst>
                                            <p:cond delay="999"/>
                                          </p:stCondLst>
                                        </p:cTn>
                                        <p:tgtEl>
                                          <p:spTgt spid="88"/>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1000"/>
                                        <p:tgtEl>
                                          <p:spTgt spid="89"/>
                                        </p:tgtEl>
                                      </p:cBhvr>
                                    </p:animEffect>
                                    <p:set>
                                      <p:cBhvr>
                                        <p:cTn id="25" dur="1" fill="hold">
                                          <p:stCondLst>
                                            <p:cond delay="999"/>
                                          </p:stCondLst>
                                        </p:cTn>
                                        <p:tgtEl>
                                          <p:spTgt spid="89"/>
                                        </p:tgtEl>
                                        <p:attrNameLst>
                                          <p:attrName>style.visibility</p:attrName>
                                        </p:attrNameLst>
                                      </p:cBhvr>
                                      <p:to>
                                        <p:strVal val="hidden"/>
                                      </p:to>
                                    </p:set>
                                  </p:childTnLst>
                                </p:cTn>
                              </p:par>
                            </p:childTnLst>
                          </p:cTn>
                        </p:par>
                        <p:par>
                          <p:cTn id="26" fill="hold">
                            <p:stCondLst>
                              <p:cond delay="1000"/>
                            </p:stCondLst>
                            <p:childTnLst>
                              <p:par>
                                <p:cTn id="27" presetID="17" presetClass="entr" presetSubtype="10"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1000" fill="hold"/>
                                        <p:tgtEl>
                                          <p:spTgt spid="5"/>
                                        </p:tgtEl>
                                        <p:attrNameLst>
                                          <p:attrName>ppt_w</p:attrName>
                                        </p:attrNameLst>
                                      </p:cBhvr>
                                      <p:tavLst>
                                        <p:tav tm="0">
                                          <p:val>
                                            <p:fltVal val="0"/>
                                          </p:val>
                                        </p:tav>
                                        <p:tav tm="100000">
                                          <p:val>
                                            <p:strVal val="#ppt_w"/>
                                          </p:val>
                                        </p:tav>
                                      </p:tavLst>
                                    </p:anim>
                                    <p:anim calcmode="lin" valueType="num">
                                      <p:cBhvr>
                                        <p:cTn id="30" dur="1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10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81"/>
                                        </p:tgtEl>
                                        <p:attrNameLst>
                                          <p:attrName>style.visibility</p:attrName>
                                        </p:attrNameLst>
                                      </p:cBhvr>
                                      <p:to>
                                        <p:strVal val="visible"/>
                                      </p:to>
                                    </p:set>
                                    <p:animEffect transition="in" filter="fade">
                                      <p:cBhvr>
                                        <p:cTn id="38" dur="1000"/>
                                        <p:tgtEl>
                                          <p:spTgt spid="81"/>
                                        </p:tgtEl>
                                      </p:cBhvr>
                                    </p:animEffect>
                                  </p:childTnLst>
                                </p:cTn>
                              </p:par>
                              <p:par>
                                <p:cTn id="39" presetID="10" presetClass="exit" presetSubtype="0" fill="hold" nodeType="withEffect">
                                  <p:stCondLst>
                                    <p:cond delay="0"/>
                                  </p:stCondLst>
                                  <p:childTnLst>
                                    <p:animEffect transition="out" filter="fade">
                                      <p:cBhvr>
                                        <p:cTn id="40" dur="1000"/>
                                        <p:tgtEl>
                                          <p:spTgt spid="91"/>
                                        </p:tgtEl>
                                      </p:cBhvr>
                                    </p:animEffect>
                                    <p:set>
                                      <p:cBhvr>
                                        <p:cTn id="41" dur="1" fill="hold">
                                          <p:stCondLst>
                                            <p:cond delay="999"/>
                                          </p:stCondLst>
                                        </p:cTn>
                                        <p:tgtEl>
                                          <p:spTgt spid="91"/>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1000"/>
                                        <p:tgtEl>
                                          <p:spTgt spid="96"/>
                                        </p:tgtEl>
                                      </p:cBhvr>
                                    </p:animEffect>
                                    <p:set>
                                      <p:cBhvr>
                                        <p:cTn id="44" dur="1" fill="hold">
                                          <p:stCondLst>
                                            <p:cond delay="999"/>
                                          </p:stCondLst>
                                        </p:cTn>
                                        <p:tgtEl>
                                          <p:spTgt spid="96"/>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1000"/>
                                        <p:tgtEl>
                                          <p:spTgt spid="90"/>
                                        </p:tgtEl>
                                      </p:cBhvr>
                                    </p:animEffect>
                                    <p:set>
                                      <p:cBhvr>
                                        <p:cTn id="47" dur="1" fill="hold">
                                          <p:stCondLst>
                                            <p:cond delay="999"/>
                                          </p:stCondLst>
                                        </p:cTn>
                                        <p:tgtEl>
                                          <p:spTgt spid="90"/>
                                        </p:tgtEl>
                                        <p:attrNameLst>
                                          <p:attrName>style.visibility</p:attrName>
                                        </p:attrNameLst>
                                      </p:cBhvr>
                                      <p:to>
                                        <p:strVal val="hidden"/>
                                      </p:to>
                                    </p:set>
                                  </p:childTnLst>
                                </p:cTn>
                              </p:par>
                            </p:childTnLst>
                          </p:cTn>
                        </p:par>
                        <p:par>
                          <p:cTn id="48" fill="hold">
                            <p:stCondLst>
                              <p:cond delay="1000"/>
                            </p:stCondLst>
                            <p:childTnLst>
                              <p:par>
                                <p:cTn id="49" presetID="17" presetClass="entr" presetSubtype="10"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p:cTn id="51" dur="1000" fill="hold"/>
                                        <p:tgtEl>
                                          <p:spTgt spid="28"/>
                                        </p:tgtEl>
                                        <p:attrNameLst>
                                          <p:attrName>ppt_w</p:attrName>
                                        </p:attrNameLst>
                                      </p:cBhvr>
                                      <p:tavLst>
                                        <p:tav tm="0">
                                          <p:val>
                                            <p:fltVal val="0"/>
                                          </p:val>
                                        </p:tav>
                                        <p:tav tm="100000">
                                          <p:val>
                                            <p:strVal val="#ppt_w"/>
                                          </p:val>
                                        </p:tav>
                                      </p:tavLst>
                                    </p:anim>
                                    <p:anim calcmode="lin" valueType="num">
                                      <p:cBhvr>
                                        <p:cTn id="52" dur="1000" fill="hold"/>
                                        <p:tgtEl>
                                          <p:spTgt spid="28"/>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1000"/>
                                        <p:tgtEl>
                                          <p:spTgt spid="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1000"/>
                                        <p:tgtEl>
                                          <p:spTgt spid="4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1000"/>
                                        <p:tgtEl>
                                          <p:spTgt spid="44"/>
                                        </p:tgtEl>
                                      </p:cBhvr>
                                    </p:animEffect>
                                  </p:childTnLst>
                                </p:cTn>
                              </p:par>
                              <p:par>
                                <p:cTn id="64" presetID="10" presetClass="exit" presetSubtype="0" fill="hold" nodeType="withEffect">
                                  <p:stCondLst>
                                    <p:cond delay="0"/>
                                  </p:stCondLst>
                                  <p:childTnLst>
                                    <p:animEffect transition="out" filter="fade">
                                      <p:cBhvr>
                                        <p:cTn id="65" dur="1000"/>
                                        <p:tgtEl>
                                          <p:spTgt spid="103"/>
                                        </p:tgtEl>
                                      </p:cBhvr>
                                    </p:animEffect>
                                    <p:set>
                                      <p:cBhvr>
                                        <p:cTn id="66" dur="1" fill="hold">
                                          <p:stCondLst>
                                            <p:cond delay="999"/>
                                          </p:stCondLst>
                                        </p:cTn>
                                        <p:tgtEl>
                                          <p:spTgt spid="103"/>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1000"/>
                                        <p:tgtEl>
                                          <p:spTgt spid="101"/>
                                        </p:tgtEl>
                                      </p:cBhvr>
                                    </p:animEffect>
                                    <p:set>
                                      <p:cBhvr>
                                        <p:cTn id="69" dur="1" fill="hold">
                                          <p:stCondLst>
                                            <p:cond delay="999"/>
                                          </p:stCondLst>
                                        </p:cTn>
                                        <p:tgtEl>
                                          <p:spTgt spid="101"/>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1000"/>
                                        <p:tgtEl>
                                          <p:spTgt spid="104"/>
                                        </p:tgtEl>
                                      </p:cBhvr>
                                    </p:animEffect>
                                    <p:set>
                                      <p:cBhvr>
                                        <p:cTn id="72" dur="1" fill="hold">
                                          <p:stCondLst>
                                            <p:cond delay="999"/>
                                          </p:stCondLst>
                                        </p:cTn>
                                        <p:tgtEl>
                                          <p:spTgt spid="104"/>
                                        </p:tgtEl>
                                        <p:attrNameLst>
                                          <p:attrName>style.visibility</p:attrName>
                                        </p:attrNameLst>
                                      </p:cBhvr>
                                      <p:to>
                                        <p:strVal val="hidden"/>
                                      </p:to>
                                    </p:set>
                                  </p:childTnLst>
                                </p:cTn>
                              </p:par>
                              <p:par>
                                <p:cTn id="73" presetID="10" presetClass="exit" presetSubtype="0" fill="hold" grpId="0" nodeType="withEffect">
                                  <p:stCondLst>
                                    <p:cond delay="0"/>
                                  </p:stCondLst>
                                  <p:childTnLst>
                                    <p:animEffect transition="out" filter="fade">
                                      <p:cBhvr>
                                        <p:cTn id="74" dur="1000"/>
                                        <p:tgtEl>
                                          <p:spTgt spid="102"/>
                                        </p:tgtEl>
                                      </p:cBhvr>
                                    </p:animEffect>
                                    <p:set>
                                      <p:cBhvr>
                                        <p:cTn id="75" dur="1" fill="hold">
                                          <p:stCondLst>
                                            <p:cond delay="999"/>
                                          </p:stCondLst>
                                        </p:cTn>
                                        <p:tgtEl>
                                          <p:spTgt spid="102"/>
                                        </p:tgtEl>
                                        <p:attrNameLst>
                                          <p:attrName>style.visibility</p:attrName>
                                        </p:attrNameLst>
                                      </p:cBhvr>
                                      <p:to>
                                        <p:strVal val="hidden"/>
                                      </p:to>
                                    </p:set>
                                  </p:childTnLst>
                                </p:cTn>
                              </p:par>
                            </p:childTnLst>
                          </p:cTn>
                        </p:par>
                        <p:par>
                          <p:cTn id="76" fill="hold">
                            <p:stCondLst>
                              <p:cond delay="1000"/>
                            </p:stCondLst>
                            <p:childTnLst>
                              <p:par>
                                <p:cTn id="77" presetID="17" presetClass="entr" presetSubtype="10"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 calcmode="lin" valueType="num">
                                      <p:cBhvr>
                                        <p:cTn id="79" dur="1000" fill="hold"/>
                                        <p:tgtEl>
                                          <p:spTgt spid="29"/>
                                        </p:tgtEl>
                                        <p:attrNameLst>
                                          <p:attrName>ppt_w</p:attrName>
                                        </p:attrNameLst>
                                      </p:cBhvr>
                                      <p:tavLst>
                                        <p:tav tm="0">
                                          <p:val>
                                            <p:fltVal val="0"/>
                                          </p:val>
                                        </p:tav>
                                        <p:tav tm="100000">
                                          <p:val>
                                            <p:strVal val="#ppt_w"/>
                                          </p:val>
                                        </p:tav>
                                      </p:tavLst>
                                    </p:anim>
                                    <p:anim calcmode="lin" valueType="num">
                                      <p:cBhvr>
                                        <p:cTn id="80" dur="10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fade">
                                      <p:cBhvr>
                                        <p:cTn id="85" dur="1000"/>
                                        <p:tgtEl>
                                          <p:spTgt spid="1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7"/>
                                        </p:tgtEl>
                                        <p:attrNameLst>
                                          <p:attrName>style.visibility</p:attrName>
                                        </p:attrNameLst>
                                      </p:cBhvr>
                                      <p:to>
                                        <p:strVal val="visible"/>
                                      </p:to>
                                    </p:set>
                                    <p:animEffect transition="in" filter="fade">
                                      <p:cBhvr>
                                        <p:cTn id="88" dur="1000"/>
                                        <p:tgtEl>
                                          <p:spTgt spid="4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fade">
                                      <p:cBhvr>
                                        <p:cTn id="91" dur="1000"/>
                                        <p:tgtEl>
                                          <p:spTgt spid="48"/>
                                        </p:tgtEl>
                                      </p:cBhvr>
                                    </p:animEffect>
                                  </p:childTnLst>
                                </p:cTn>
                              </p:par>
                              <p:par>
                                <p:cTn id="92" presetID="10" presetClass="exit" presetSubtype="0" fill="hold" nodeType="withEffect">
                                  <p:stCondLst>
                                    <p:cond delay="0"/>
                                  </p:stCondLst>
                                  <p:childTnLst>
                                    <p:animEffect transition="out" filter="fade">
                                      <p:cBhvr>
                                        <p:cTn id="93" dur="1000"/>
                                        <p:tgtEl>
                                          <p:spTgt spid="109"/>
                                        </p:tgtEl>
                                      </p:cBhvr>
                                    </p:animEffect>
                                    <p:set>
                                      <p:cBhvr>
                                        <p:cTn id="94" dur="1" fill="hold">
                                          <p:stCondLst>
                                            <p:cond delay="999"/>
                                          </p:stCondLst>
                                        </p:cTn>
                                        <p:tgtEl>
                                          <p:spTgt spid="109"/>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1000"/>
                                        <p:tgtEl>
                                          <p:spTgt spid="110"/>
                                        </p:tgtEl>
                                      </p:cBhvr>
                                    </p:animEffect>
                                    <p:set>
                                      <p:cBhvr>
                                        <p:cTn id="97" dur="1" fill="hold">
                                          <p:stCondLst>
                                            <p:cond delay="999"/>
                                          </p:stCondLst>
                                        </p:cTn>
                                        <p:tgtEl>
                                          <p:spTgt spid="110"/>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1000"/>
                                        <p:tgtEl>
                                          <p:spTgt spid="111"/>
                                        </p:tgtEl>
                                      </p:cBhvr>
                                    </p:animEffect>
                                    <p:set>
                                      <p:cBhvr>
                                        <p:cTn id="100" dur="1" fill="hold">
                                          <p:stCondLst>
                                            <p:cond delay="999"/>
                                          </p:stCondLst>
                                        </p:cTn>
                                        <p:tgtEl>
                                          <p:spTgt spid="111"/>
                                        </p:tgtEl>
                                        <p:attrNameLst>
                                          <p:attrName>style.visibility</p:attrName>
                                        </p:attrNameLst>
                                      </p:cBhvr>
                                      <p:to>
                                        <p:strVal val="hidden"/>
                                      </p:to>
                                    </p:set>
                                  </p:childTnLst>
                                </p:cTn>
                              </p:par>
                              <p:par>
                                <p:cTn id="101" presetID="10" presetClass="exit" presetSubtype="0" fill="hold" grpId="0" nodeType="withEffect">
                                  <p:stCondLst>
                                    <p:cond delay="0"/>
                                  </p:stCondLst>
                                  <p:childTnLst>
                                    <p:animEffect transition="out" filter="fade">
                                      <p:cBhvr>
                                        <p:cTn id="102" dur="1000"/>
                                        <p:tgtEl>
                                          <p:spTgt spid="112"/>
                                        </p:tgtEl>
                                      </p:cBhvr>
                                    </p:animEffect>
                                    <p:set>
                                      <p:cBhvr>
                                        <p:cTn id="103" dur="1" fill="hold">
                                          <p:stCondLst>
                                            <p:cond delay="999"/>
                                          </p:stCondLst>
                                        </p:cTn>
                                        <p:tgtEl>
                                          <p:spTgt spid="112"/>
                                        </p:tgtEl>
                                        <p:attrNameLst>
                                          <p:attrName>style.visibility</p:attrName>
                                        </p:attrNameLst>
                                      </p:cBhvr>
                                      <p:to>
                                        <p:strVal val="hidden"/>
                                      </p:to>
                                    </p:set>
                                  </p:childTnLst>
                                </p:cTn>
                              </p:par>
                            </p:childTnLst>
                          </p:cTn>
                        </p:par>
                        <p:par>
                          <p:cTn id="104" fill="hold">
                            <p:stCondLst>
                              <p:cond delay="1000"/>
                            </p:stCondLst>
                            <p:childTnLst>
                              <p:par>
                                <p:cTn id="105" presetID="17" presetClass="entr" presetSubtype="10" fill="hold" grpId="0" nodeType="afterEffect">
                                  <p:stCondLst>
                                    <p:cond delay="0"/>
                                  </p:stCondLst>
                                  <p:childTnLst>
                                    <p:set>
                                      <p:cBhvr>
                                        <p:cTn id="106" dur="1" fill="hold">
                                          <p:stCondLst>
                                            <p:cond delay="0"/>
                                          </p:stCondLst>
                                        </p:cTn>
                                        <p:tgtEl>
                                          <p:spTgt spid="30"/>
                                        </p:tgtEl>
                                        <p:attrNameLst>
                                          <p:attrName>style.visibility</p:attrName>
                                        </p:attrNameLst>
                                      </p:cBhvr>
                                      <p:to>
                                        <p:strVal val="visible"/>
                                      </p:to>
                                    </p:set>
                                    <p:anim calcmode="lin" valueType="num">
                                      <p:cBhvr>
                                        <p:cTn id="107" dur="1000" fill="hold"/>
                                        <p:tgtEl>
                                          <p:spTgt spid="30"/>
                                        </p:tgtEl>
                                        <p:attrNameLst>
                                          <p:attrName>ppt_w</p:attrName>
                                        </p:attrNameLst>
                                      </p:cBhvr>
                                      <p:tavLst>
                                        <p:tav tm="0">
                                          <p:val>
                                            <p:fltVal val="0"/>
                                          </p:val>
                                        </p:tav>
                                        <p:tav tm="100000">
                                          <p:val>
                                            <p:strVal val="#ppt_w"/>
                                          </p:val>
                                        </p:tav>
                                      </p:tavLst>
                                    </p:anim>
                                    <p:anim calcmode="lin" valueType="num">
                                      <p:cBhvr>
                                        <p:cTn id="108" dur="10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10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1000"/>
                                        <p:tgtEl>
                                          <p:spTgt spid="51"/>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9" dur="1000"/>
                                        <p:tgtEl>
                                          <p:spTgt spid="49"/>
                                        </p:tgtEl>
                                      </p:cBhvr>
                                    </p:animEffect>
                                  </p:childTnLst>
                                </p:cTn>
                              </p:par>
                              <p:par>
                                <p:cTn id="120" presetID="10" presetClass="exit" presetSubtype="0" fill="hold" nodeType="withEffect">
                                  <p:stCondLst>
                                    <p:cond delay="0"/>
                                  </p:stCondLst>
                                  <p:childTnLst>
                                    <p:animEffect transition="out" filter="fade">
                                      <p:cBhvr>
                                        <p:cTn id="121" dur="1000"/>
                                        <p:tgtEl>
                                          <p:spTgt spid="115"/>
                                        </p:tgtEl>
                                      </p:cBhvr>
                                    </p:animEffect>
                                    <p:set>
                                      <p:cBhvr>
                                        <p:cTn id="122" dur="1" fill="hold">
                                          <p:stCondLst>
                                            <p:cond delay="999"/>
                                          </p:stCondLst>
                                        </p:cTn>
                                        <p:tgtEl>
                                          <p:spTgt spid="115"/>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1000"/>
                                        <p:tgtEl>
                                          <p:spTgt spid="114"/>
                                        </p:tgtEl>
                                      </p:cBhvr>
                                    </p:animEffect>
                                    <p:set>
                                      <p:cBhvr>
                                        <p:cTn id="125" dur="1" fill="hold">
                                          <p:stCondLst>
                                            <p:cond delay="999"/>
                                          </p:stCondLst>
                                        </p:cTn>
                                        <p:tgtEl>
                                          <p:spTgt spid="114"/>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1000"/>
                                        <p:tgtEl>
                                          <p:spTgt spid="113"/>
                                        </p:tgtEl>
                                      </p:cBhvr>
                                    </p:animEffect>
                                    <p:set>
                                      <p:cBhvr>
                                        <p:cTn id="128" dur="1" fill="hold">
                                          <p:stCondLst>
                                            <p:cond delay="999"/>
                                          </p:stCondLst>
                                        </p:cTn>
                                        <p:tgtEl>
                                          <p:spTgt spid="113"/>
                                        </p:tgtEl>
                                        <p:attrNameLst>
                                          <p:attrName>style.visibility</p:attrName>
                                        </p:attrNameLst>
                                      </p:cBhvr>
                                      <p:to>
                                        <p:strVal val="hidden"/>
                                      </p:to>
                                    </p:set>
                                  </p:childTnLst>
                                </p:cTn>
                              </p:par>
                              <p:par>
                                <p:cTn id="129" presetID="10" presetClass="exit" presetSubtype="0" fill="hold" grpId="0" nodeType="withEffect">
                                  <p:stCondLst>
                                    <p:cond delay="0"/>
                                  </p:stCondLst>
                                  <p:childTnLst>
                                    <p:animEffect transition="out" filter="fade">
                                      <p:cBhvr>
                                        <p:cTn id="130" dur="1000"/>
                                        <p:tgtEl>
                                          <p:spTgt spid="116"/>
                                        </p:tgtEl>
                                      </p:cBhvr>
                                    </p:animEffect>
                                    <p:set>
                                      <p:cBhvr>
                                        <p:cTn id="131" dur="1" fill="hold">
                                          <p:stCondLst>
                                            <p:cond delay="999"/>
                                          </p:stCondLst>
                                        </p:cTn>
                                        <p:tgtEl>
                                          <p:spTgt spid="116"/>
                                        </p:tgtEl>
                                        <p:attrNameLst>
                                          <p:attrName>style.visibility</p:attrName>
                                        </p:attrNameLst>
                                      </p:cBhvr>
                                      <p:to>
                                        <p:strVal val="hidden"/>
                                      </p:to>
                                    </p:set>
                                  </p:childTnLst>
                                </p:cTn>
                              </p:par>
                            </p:childTnLst>
                          </p:cTn>
                        </p:par>
                        <p:par>
                          <p:cTn id="132" fill="hold">
                            <p:stCondLst>
                              <p:cond delay="1000"/>
                            </p:stCondLst>
                            <p:childTnLst>
                              <p:par>
                                <p:cTn id="133" presetID="17" presetClass="entr" presetSubtype="10" fill="hold" grpId="0" nodeType="afterEffect">
                                  <p:stCondLst>
                                    <p:cond delay="0"/>
                                  </p:stCondLst>
                                  <p:childTnLst>
                                    <p:set>
                                      <p:cBhvr>
                                        <p:cTn id="134" dur="1" fill="hold">
                                          <p:stCondLst>
                                            <p:cond delay="0"/>
                                          </p:stCondLst>
                                        </p:cTn>
                                        <p:tgtEl>
                                          <p:spTgt spid="31"/>
                                        </p:tgtEl>
                                        <p:attrNameLst>
                                          <p:attrName>style.visibility</p:attrName>
                                        </p:attrNameLst>
                                      </p:cBhvr>
                                      <p:to>
                                        <p:strVal val="visible"/>
                                      </p:to>
                                    </p:set>
                                    <p:anim calcmode="lin" valueType="num">
                                      <p:cBhvr>
                                        <p:cTn id="135" dur="1000" fill="hold"/>
                                        <p:tgtEl>
                                          <p:spTgt spid="31"/>
                                        </p:tgtEl>
                                        <p:attrNameLst>
                                          <p:attrName>ppt_w</p:attrName>
                                        </p:attrNameLst>
                                      </p:cBhvr>
                                      <p:tavLst>
                                        <p:tav tm="0">
                                          <p:val>
                                            <p:fltVal val="0"/>
                                          </p:val>
                                        </p:tav>
                                        <p:tav tm="100000">
                                          <p:val>
                                            <p:strVal val="#ppt_w"/>
                                          </p:val>
                                        </p:tav>
                                      </p:tavLst>
                                    </p:anim>
                                    <p:anim calcmode="lin" valueType="num">
                                      <p:cBhvr>
                                        <p:cTn id="136" dur="1000" fill="hold"/>
                                        <p:tgtEl>
                                          <p:spTgt spid="31"/>
                                        </p:tgtEl>
                                        <p:attrNameLst>
                                          <p:attrName>ppt_h</p:attrName>
                                        </p:attrNameLst>
                                      </p:cBhvr>
                                      <p:tavLst>
                                        <p:tav tm="0">
                                          <p:val>
                                            <p:strVal val="#ppt_h"/>
                                          </p:val>
                                        </p:tav>
                                        <p:tav tm="100000">
                                          <p:val>
                                            <p:strVal val="#ppt_h"/>
                                          </p:val>
                                        </p:tav>
                                      </p:tavLst>
                                    </p:anim>
                                  </p:childTnLst>
                                </p:cTn>
                              </p:par>
                              <p:par>
                                <p:cTn id="137" presetID="10" presetClass="entr" presetSubtype="0" fill="hold" grpId="0" nodeType="withEffect">
                                  <p:stCondLst>
                                    <p:cond delay="0"/>
                                  </p:stCondLst>
                                  <p:childTnLst>
                                    <p:set>
                                      <p:cBhvr>
                                        <p:cTn id="138" dur="1" fill="hold">
                                          <p:stCondLst>
                                            <p:cond delay="0"/>
                                          </p:stCondLst>
                                        </p:cTn>
                                        <p:tgtEl>
                                          <p:spTgt spid="86"/>
                                        </p:tgtEl>
                                        <p:attrNameLst>
                                          <p:attrName>style.visibility</p:attrName>
                                        </p:attrNameLst>
                                      </p:cBhvr>
                                      <p:to>
                                        <p:strVal val="visible"/>
                                      </p:to>
                                    </p:set>
                                    <p:animEffect transition="in" filter="fade">
                                      <p:cBhvr>
                                        <p:cTn id="139"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112" grpId="0" animBg="1"/>
      <p:bldP spid="102" grpId="0" animBg="1"/>
      <p:bldP spid="87" grpId="0" animBg="1"/>
      <p:bldP spid="90" grpId="0" animBg="1"/>
      <p:bldP spid="4" grpId="0" animBg="1"/>
      <p:bldP spid="49" grpId="0" animBg="1"/>
      <p:bldP spid="86" grpId="0" animBg="1"/>
      <p:bldP spid="50" grpId="0" animBg="1"/>
      <p:bldP spid="31" grpId="0" animBg="1"/>
      <p:bldP spid="10" grpId="0" animBg="1"/>
      <p:bldP spid="48" grpId="0" animBg="1"/>
      <p:bldP spid="30" grpId="0" animBg="1"/>
      <p:bldP spid="9" grpId="0" animBg="1"/>
      <p:bldP spid="44" grpId="0" animBg="1"/>
      <p:bldP spid="29" grpId="0" animBg="1"/>
      <p:bldP spid="5" grpId="0" animBg="1"/>
      <p:bldP spid="28" grpId="0" animBg="1"/>
      <p:bldP spid="117" grpId="0" animBg="1"/>
      <p:bldP spid="51" grpId="0" animBg="1"/>
      <p:bldP spid="47" grpId="0" animBg="1"/>
      <p:bldP spid="4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2"/>
          <p:cNvSpPr>
            <a:spLocks noGrp="1" noChangeArrowheads="1"/>
          </p:cNvSpPr>
          <p:nvPr>
            <p:ph type="title"/>
          </p:nvPr>
        </p:nvSpPr>
        <p:spPr/>
        <p:txBody>
          <a:bodyPr/>
          <a:lstStyle/>
          <a:p>
            <a:r>
              <a:rPr lang="en-US"/>
              <a:t>IPv4 Address</a:t>
            </a:r>
          </a:p>
        </p:txBody>
      </p:sp>
      <p:sp>
        <p:nvSpPr>
          <p:cNvPr id="86020" name="Rectangle 3"/>
          <p:cNvSpPr>
            <a:spLocks noGrp="1" noChangeArrowheads="1"/>
          </p:cNvSpPr>
          <p:nvPr>
            <p:ph idx="1"/>
          </p:nvPr>
        </p:nvSpPr>
        <p:spPr/>
        <p:txBody>
          <a:bodyPr/>
          <a:lstStyle/>
          <a:p>
            <a:r>
              <a:rPr lang="en-US" dirty="0"/>
              <a:t>32 binary digits (bits) long</a:t>
            </a:r>
          </a:p>
          <a:p>
            <a:r>
              <a:rPr lang="en-US" dirty="0"/>
              <a:t>Represented in dotted decimal notation (for us humans)</a:t>
            </a:r>
          </a:p>
          <a:p>
            <a:pPr marL="0" indent="0">
              <a:buNone/>
            </a:pPr>
            <a:endParaRPr lang="en-US" dirty="0"/>
          </a:p>
          <a:p>
            <a:endParaRPr lang="en-US" dirty="0"/>
          </a:p>
          <a:p>
            <a:r>
              <a:rPr lang="en-US" dirty="0"/>
              <a:t>Hierarchical structure</a:t>
            </a:r>
          </a:p>
          <a:p>
            <a:pPr lvl="1"/>
            <a:r>
              <a:rPr lang="en-US" dirty="0"/>
              <a:t>Like your phone number (area code + phone number)</a:t>
            </a:r>
          </a:p>
          <a:p>
            <a:pPr lvl="1"/>
            <a:r>
              <a:rPr lang="en-US" dirty="0"/>
              <a:t>Two parts: Network Identifier (NETID) + Host Identifier (HOSTID)</a:t>
            </a:r>
          </a:p>
          <a:p>
            <a:pPr lvl="1"/>
            <a:r>
              <a:rPr lang="en-US" dirty="0"/>
              <a:t>But unlike a phone number, there is no fixed format. The line between NETID and HOSTID can be anywhere! What to do?</a:t>
            </a:r>
          </a:p>
        </p:txBody>
      </p:sp>
      <p:grpSp>
        <p:nvGrpSpPr>
          <p:cNvPr id="5" name="Group 4"/>
          <p:cNvGrpSpPr/>
          <p:nvPr/>
        </p:nvGrpSpPr>
        <p:grpSpPr>
          <a:xfrm>
            <a:off x="2651708" y="3941991"/>
            <a:ext cx="2514600" cy="914400"/>
            <a:chOff x="228600" y="2590800"/>
            <a:chExt cx="1676400" cy="609600"/>
          </a:xfrm>
        </p:grpSpPr>
        <p:sp>
          <p:nvSpPr>
            <p:cNvPr id="3" name="Rectangle 2"/>
            <p:cNvSpPr/>
            <p:nvPr/>
          </p:nvSpPr>
          <p:spPr bwMode="auto">
            <a:xfrm>
              <a:off x="228600" y="2590800"/>
              <a:ext cx="1676400" cy="609600"/>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300" b="1">
                <a:solidFill>
                  <a:schemeClr val="bg1"/>
                </a:solidFill>
                <a:latin typeface="Arial Narrow" pitchFamily="34" charset="0"/>
              </a:endParaRPr>
            </a:p>
          </p:txBody>
        </p:sp>
        <p:sp>
          <p:nvSpPr>
            <p:cNvPr id="4" name="TextBox 3"/>
            <p:cNvSpPr txBox="1"/>
            <p:nvPr/>
          </p:nvSpPr>
          <p:spPr>
            <a:xfrm>
              <a:off x="228600" y="2680157"/>
              <a:ext cx="1676399" cy="430887"/>
            </a:xfrm>
            <a:prstGeom prst="rect">
              <a:avLst/>
            </a:prstGeom>
            <a:noFill/>
          </p:spPr>
          <p:txBody>
            <a:bodyPr wrap="square" rtlCol="0" anchor="ctr">
              <a:spAutoFit/>
            </a:bodyPr>
            <a:lstStyle/>
            <a:p>
              <a:pPr algn="ctr"/>
              <a:r>
                <a:rPr lang="en-US" sz="3600">
                  <a:solidFill>
                    <a:schemeClr val="bg1"/>
                  </a:solidFill>
                  <a:latin typeface="+mj-lt"/>
                </a:rPr>
                <a:t>10000000</a:t>
              </a:r>
            </a:p>
          </p:txBody>
        </p:sp>
      </p:grpSp>
      <p:grpSp>
        <p:nvGrpSpPr>
          <p:cNvPr id="6" name="Group 5"/>
          <p:cNvGrpSpPr/>
          <p:nvPr/>
        </p:nvGrpSpPr>
        <p:grpSpPr>
          <a:xfrm>
            <a:off x="5166310" y="3941991"/>
            <a:ext cx="2523395" cy="914400"/>
            <a:chOff x="1905001" y="2590800"/>
            <a:chExt cx="1682263" cy="609600"/>
          </a:xfrm>
        </p:grpSpPr>
        <p:sp>
          <p:nvSpPr>
            <p:cNvPr id="11" name="Rectangle 10"/>
            <p:cNvSpPr/>
            <p:nvPr/>
          </p:nvSpPr>
          <p:spPr bwMode="auto">
            <a:xfrm>
              <a:off x="1910864" y="2590800"/>
              <a:ext cx="1676400" cy="609600"/>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300" b="1">
                <a:solidFill>
                  <a:schemeClr val="bg1"/>
                </a:solidFill>
                <a:latin typeface="Arial Narrow" pitchFamily="34" charset="0"/>
              </a:endParaRPr>
            </a:p>
          </p:txBody>
        </p:sp>
        <p:sp>
          <p:nvSpPr>
            <p:cNvPr id="15" name="TextBox 14"/>
            <p:cNvSpPr txBox="1"/>
            <p:nvPr/>
          </p:nvSpPr>
          <p:spPr>
            <a:xfrm>
              <a:off x="1905001" y="2680157"/>
              <a:ext cx="1676399" cy="430887"/>
            </a:xfrm>
            <a:prstGeom prst="rect">
              <a:avLst/>
            </a:prstGeom>
            <a:noFill/>
          </p:spPr>
          <p:txBody>
            <a:bodyPr wrap="square" rtlCol="0" anchor="ctr">
              <a:spAutoFit/>
            </a:bodyPr>
            <a:lstStyle/>
            <a:p>
              <a:pPr algn="ctr"/>
              <a:r>
                <a:rPr lang="en-US" sz="3600">
                  <a:solidFill>
                    <a:schemeClr val="bg1"/>
                  </a:solidFill>
                  <a:latin typeface="+mj-lt"/>
                </a:rPr>
                <a:t>01000011</a:t>
              </a:r>
            </a:p>
          </p:txBody>
        </p:sp>
      </p:grpSp>
      <p:grpSp>
        <p:nvGrpSpPr>
          <p:cNvPr id="7" name="Group 6"/>
          <p:cNvGrpSpPr/>
          <p:nvPr/>
        </p:nvGrpSpPr>
        <p:grpSpPr>
          <a:xfrm>
            <a:off x="7672114" y="3941991"/>
            <a:ext cx="2538467" cy="914400"/>
            <a:chOff x="3575537" y="2590800"/>
            <a:chExt cx="1692311" cy="609600"/>
          </a:xfrm>
        </p:grpSpPr>
        <p:sp>
          <p:nvSpPr>
            <p:cNvPr id="12" name="Rectangle 11"/>
            <p:cNvSpPr/>
            <p:nvPr/>
          </p:nvSpPr>
          <p:spPr bwMode="auto">
            <a:xfrm>
              <a:off x="3591448" y="2590800"/>
              <a:ext cx="1676400" cy="609600"/>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300" b="1">
                <a:solidFill>
                  <a:schemeClr val="bg1"/>
                </a:solidFill>
                <a:latin typeface="Arial Narrow" pitchFamily="34" charset="0"/>
              </a:endParaRPr>
            </a:p>
          </p:txBody>
        </p:sp>
        <p:sp>
          <p:nvSpPr>
            <p:cNvPr id="16" name="TextBox 15"/>
            <p:cNvSpPr txBox="1"/>
            <p:nvPr/>
          </p:nvSpPr>
          <p:spPr>
            <a:xfrm>
              <a:off x="3575537" y="2680157"/>
              <a:ext cx="1676399" cy="430887"/>
            </a:xfrm>
            <a:prstGeom prst="rect">
              <a:avLst/>
            </a:prstGeom>
            <a:noFill/>
          </p:spPr>
          <p:txBody>
            <a:bodyPr wrap="square" rtlCol="0" anchor="ctr">
              <a:spAutoFit/>
            </a:bodyPr>
            <a:lstStyle/>
            <a:p>
              <a:pPr algn="ctr"/>
              <a:r>
                <a:rPr lang="en-US" sz="3600">
                  <a:solidFill>
                    <a:schemeClr val="bg1"/>
                  </a:solidFill>
                  <a:latin typeface="+mj-lt"/>
                </a:rPr>
                <a:t>00100110</a:t>
              </a:r>
            </a:p>
          </p:txBody>
        </p:sp>
      </p:grpSp>
      <p:grpSp>
        <p:nvGrpSpPr>
          <p:cNvPr id="8" name="Group 7"/>
          <p:cNvGrpSpPr/>
          <p:nvPr/>
        </p:nvGrpSpPr>
        <p:grpSpPr>
          <a:xfrm>
            <a:off x="10195510" y="3941991"/>
            <a:ext cx="2529671" cy="914400"/>
            <a:chOff x="5257801" y="2590800"/>
            <a:chExt cx="1686447" cy="609600"/>
          </a:xfrm>
        </p:grpSpPr>
        <p:sp>
          <p:nvSpPr>
            <p:cNvPr id="13" name="Rectangle 12"/>
            <p:cNvSpPr/>
            <p:nvPr/>
          </p:nvSpPr>
          <p:spPr bwMode="auto">
            <a:xfrm>
              <a:off x="5267848" y="2590800"/>
              <a:ext cx="1676400" cy="609600"/>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300" b="1">
                <a:solidFill>
                  <a:schemeClr val="bg1"/>
                </a:solidFill>
                <a:latin typeface="Arial Narrow" pitchFamily="34" charset="0"/>
              </a:endParaRPr>
            </a:p>
          </p:txBody>
        </p:sp>
        <p:sp>
          <p:nvSpPr>
            <p:cNvPr id="17" name="TextBox 16"/>
            <p:cNvSpPr txBox="1"/>
            <p:nvPr/>
          </p:nvSpPr>
          <p:spPr>
            <a:xfrm>
              <a:off x="5257801" y="2680157"/>
              <a:ext cx="1676399" cy="430887"/>
            </a:xfrm>
            <a:prstGeom prst="rect">
              <a:avLst/>
            </a:prstGeom>
            <a:noFill/>
          </p:spPr>
          <p:txBody>
            <a:bodyPr wrap="square" rtlCol="0" anchor="ctr">
              <a:spAutoFit/>
            </a:bodyPr>
            <a:lstStyle/>
            <a:p>
              <a:pPr algn="ctr"/>
              <a:r>
                <a:rPr lang="en-US" sz="3600" dirty="0">
                  <a:solidFill>
                    <a:schemeClr val="bg1"/>
                  </a:solidFill>
                  <a:latin typeface="+mj-lt"/>
                </a:rPr>
                <a:t>00010111</a:t>
              </a:r>
            </a:p>
          </p:txBody>
        </p:sp>
      </p:grpSp>
      <p:sp>
        <p:nvSpPr>
          <p:cNvPr id="21" name="TextBox 20"/>
          <p:cNvSpPr txBox="1"/>
          <p:nvPr/>
        </p:nvSpPr>
        <p:spPr>
          <a:xfrm>
            <a:off x="12888686" y="4076027"/>
            <a:ext cx="3657600" cy="646331"/>
          </a:xfrm>
          <a:prstGeom prst="rect">
            <a:avLst/>
          </a:prstGeom>
          <a:noFill/>
        </p:spPr>
        <p:txBody>
          <a:bodyPr wrap="square" rtlCol="0" anchor="ctr">
            <a:spAutoFit/>
          </a:bodyPr>
          <a:lstStyle/>
          <a:p>
            <a:r>
              <a:rPr lang="en-US" sz="3600" dirty="0">
                <a:latin typeface="+mj-lt"/>
              </a:rPr>
              <a:t>= 128.67.38.23</a:t>
            </a:r>
          </a:p>
        </p:txBody>
      </p:sp>
      <p:grpSp>
        <p:nvGrpSpPr>
          <p:cNvPr id="9" name="Group 8">
            <a:extLst>
              <a:ext uri="{FF2B5EF4-FFF2-40B4-BE49-F238E27FC236}">
                <a16:creationId xmlns:a16="http://schemas.microsoft.com/office/drawing/2014/main" id="{FBFEF225-E7B7-CD60-278C-0E6A045C50EF}"/>
              </a:ext>
            </a:extLst>
          </p:cNvPr>
          <p:cNvGrpSpPr/>
          <p:nvPr/>
        </p:nvGrpSpPr>
        <p:grpSpPr>
          <a:xfrm>
            <a:off x="6463353" y="8507187"/>
            <a:ext cx="4015571" cy="1306284"/>
            <a:chOff x="7923383" y="8584244"/>
            <a:chExt cx="4015571" cy="1306284"/>
          </a:xfrm>
          <a:solidFill>
            <a:schemeClr val="accent1">
              <a:lumMod val="20000"/>
              <a:lumOff val="80000"/>
            </a:schemeClr>
          </a:solidFill>
        </p:grpSpPr>
        <p:sp>
          <p:nvSpPr>
            <p:cNvPr id="24" name="Rectangle 23"/>
            <p:cNvSpPr/>
            <p:nvPr/>
          </p:nvSpPr>
          <p:spPr bwMode="auto">
            <a:xfrm>
              <a:off x="7923383" y="8801100"/>
              <a:ext cx="4015571" cy="914400"/>
            </a:xfrm>
            <a:prstGeom prst="rect">
              <a:avLst/>
            </a:prstGeom>
            <a:grp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300" b="1" dirty="0">
                <a:latin typeface="Arial Narrow" pitchFamily="34" charset="0"/>
              </a:endParaRPr>
            </a:p>
          </p:txBody>
        </p:sp>
        <p:sp>
          <p:nvSpPr>
            <p:cNvPr id="25" name="TextBox 24"/>
            <p:cNvSpPr txBox="1"/>
            <p:nvPr/>
          </p:nvSpPr>
          <p:spPr>
            <a:xfrm>
              <a:off x="9637883" y="8935136"/>
              <a:ext cx="2171699" cy="646331"/>
            </a:xfrm>
            <a:prstGeom prst="rect">
              <a:avLst/>
            </a:prstGeom>
            <a:grpFill/>
          </p:spPr>
          <p:txBody>
            <a:bodyPr wrap="square" rtlCol="0" anchor="ctr">
              <a:spAutoFit/>
            </a:bodyPr>
            <a:lstStyle/>
            <a:p>
              <a:pPr algn="r"/>
              <a:r>
                <a:rPr lang="en-US" sz="3600" dirty="0">
                  <a:solidFill>
                    <a:schemeClr val="bg1"/>
                  </a:solidFill>
                  <a:latin typeface="+mj-lt"/>
                </a:rPr>
                <a:t>HOSTID</a:t>
              </a:r>
            </a:p>
          </p:txBody>
        </p:sp>
        <p:sp>
          <p:nvSpPr>
            <p:cNvPr id="33" name="TextBox 32"/>
            <p:cNvSpPr txBox="1"/>
            <p:nvPr/>
          </p:nvSpPr>
          <p:spPr>
            <a:xfrm>
              <a:off x="8266283" y="8935136"/>
              <a:ext cx="1714500" cy="646331"/>
            </a:xfrm>
            <a:prstGeom prst="rect">
              <a:avLst/>
            </a:prstGeom>
            <a:grpFill/>
          </p:spPr>
          <p:txBody>
            <a:bodyPr wrap="square" rtlCol="0" anchor="ctr">
              <a:spAutoFit/>
            </a:bodyPr>
            <a:lstStyle/>
            <a:p>
              <a:r>
                <a:rPr lang="en-US" sz="3600" dirty="0">
                  <a:solidFill>
                    <a:schemeClr val="bg1"/>
                  </a:solidFill>
                  <a:latin typeface="+mj-lt"/>
                </a:rPr>
                <a:t>NETID</a:t>
              </a:r>
            </a:p>
          </p:txBody>
        </p:sp>
        <p:sp>
          <p:nvSpPr>
            <p:cNvPr id="2" name="Freeform 1">
              <a:extLst>
                <a:ext uri="{FF2B5EF4-FFF2-40B4-BE49-F238E27FC236}">
                  <a16:creationId xmlns:a16="http://schemas.microsoft.com/office/drawing/2014/main" id="{8C71777A-712E-7326-AEBD-4292A6878160}"/>
                </a:ext>
              </a:extLst>
            </p:cNvPr>
            <p:cNvSpPr/>
            <p:nvPr/>
          </p:nvSpPr>
          <p:spPr>
            <a:xfrm>
              <a:off x="9637883" y="8584244"/>
              <a:ext cx="459114" cy="1306284"/>
            </a:xfrm>
            <a:custGeom>
              <a:avLst/>
              <a:gdLst>
                <a:gd name="connsiteX0" fmla="*/ 84841 w 509937"/>
                <a:gd name="connsiteY0" fmla="*/ 0 h 923827"/>
                <a:gd name="connsiteX1" fmla="*/ 471340 w 509937"/>
                <a:gd name="connsiteY1" fmla="*/ 207390 h 923827"/>
                <a:gd name="connsiteX2" fmla="*/ 131975 w 509937"/>
                <a:gd name="connsiteY2" fmla="*/ 348792 h 923827"/>
                <a:gd name="connsiteX3" fmla="*/ 509047 w 509937"/>
                <a:gd name="connsiteY3" fmla="*/ 716437 h 923827"/>
                <a:gd name="connsiteX4" fmla="*/ 0 w 509937"/>
                <a:gd name="connsiteY4" fmla="*/ 923827 h 923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37" h="923827">
                  <a:moveTo>
                    <a:pt x="84841" y="0"/>
                  </a:moveTo>
                  <a:cubicBezTo>
                    <a:pt x="274162" y="74629"/>
                    <a:pt x="463484" y="149258"/>
                    <a:pt x="471340" y="207390"/>
                  </a:cubicBezTo>
                  <a:cubicBezTo>
                    <a:pt x="479196" y="265522"/>
                    <a:pt x="125691" y="263951"/>
                    <a:pt x="131975" y="348792"/>
                  </a:cubicBezTo>
                  <a:cubicBezTo>
                    <a:pt x="138260" y="433633"/>
                    <a:pt x="531043" y="620598"/>
                    <a:pt x="509047" y="716437"/>
                  </a:cubicBezTo>
                  <a:cubicBezTo>
                    <a:pt x="487051" y="812276"/>
                    <a:pt x="243525" y="868051"/>
                    <a:pt x="0" y="923827"/>
                  </a:cubicBezTo>
                </a:path>
              </a:pathLst>
            </a:cu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1030505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1330" name="Rectangle 2"/>
          <p:cNvSpPr>
            <a:spLocks noGrp="1" noChangeArrowheads="1"/>
          </p:cNvSpPr>
          <p:nvPr>
            <p:ph type="title"/>
          </p:nvPr>
        </p:nvSpPr>
        <p:spPr/>
        <p:txBody>
          <a:bodyPr/>
          <a:lstStyle/>
          <a:p>
            <a:r>
              <a:rPr lang="en-US" altLang="en-US" dirty="0"/>
              <a:t>IP Address Assignment with DHCP*</a:t>
            </a:r>
            <a:endParaRPr lang="en-US" altLang="en-US" b="0" dirty="0"/>
          </a:p>
        </p:txBody>
      </p:sp>
      <p:sp>
        <p:nvSpPr>
          <p:cNvPr id="3811331" name="Rectangle 3"/>
          <p:cNvSpPr>
            <a:spLocks noGrp="1" noChangeArrowheads="1"/>
          </p:cNvSpPr>
          <p:nvPr>
            <p:ph type="body" idx="1"/>
          </p:nvPr>
        </p:nvSpPr>
        <p:spPr>
          <a:xfrm>
            <a:off x="1257300" y="2193130"/>
            <a:ext cx="15773400" cy="7636669"/>
          </a:xfrm>
        </p:spPr>
        <p:txBody>
          <a:bodyPr/>
          <a:lstStyle/>
          <a:p>
            <a:r>
              <a:rPr lang="en-US" altLang="en-US" sz="3450" dirty="0"/>
              <a:t>DHCP dynamically assigns addresses from a pool</a:t>
            </a:r>
          </a:p>
          <a:p>
            <a:pPr lvl="1"/>
            <a:r>
              <a:rPr lang="en-US" altLang="en-US" sz="2850" dirty="0"/>
              <a:t>Assigned with a “lease” for hours or days</a:t>
            </a:r>
          </a:p>
          <a:p>
            <a:pPr lvl="1"/>
            <a:r>
              <a:rPr lang="en-US" altLang="en-US" sz="2850" dirty="0"/>
              <a:t>Leases are often renewed without any changes</a:t>
            </a:r>
          </a:p>
          <a:p>
            <a:pPr lvl="1"/>
            <a:r>
              <a:rPr lang="en-US" altLang="en-US" sz="2850" dirty="0"/>
              <a:t>It’s almost like a static assignment in this regard</a:t>
            </a:r>
          </a:p>
          <a:p>
            <a:r>
              <a:rPr lang="en-US" altLang="en-US" sz="3450" dirty="0"/>
              <a:t>Built for roaming systems, but in common use for clients everywhere</a:t>
            </a:r>
          </a:p>
          <a:p>
            <a:r>
              <a:rPr lang="en-US" altLang="en-US" sz="3450" dirty="0"/>
              <a:t>Servers and routers are not usually DHCP clients</a:t>
            </a:r>
          </a:p>
          <a:p>
            <a:pPr lvl="1"/>
            <a:r>
              <a:rPr lang="en-US" altLang="en-US" sz="3150" dirty="0"/>
              <a:t>They need to be consistent and easily found</a:t>
            </a:r>
          </a:p>
          <a:p>
            <a:pPr lvl="1"/>
            <a:r>
              <a:rPr lang="en-US" altLang="en-US" sz="3150" dirty="0"/>
              <a:t>Usually have statically configured addresses.</a:t>
            </a:r>
          </a:p>
          <a:p>
            <a:r>
              <a:rPr lang="en-US" altLang="en-US" sz="3450" dirty="0"/>
              <a:t>DHCP often provides additional information:</a:t>
            </a:r>
          </a:p>
          <a:p>
            <a:pPr lvl="1"/>
            <a:r>
              <a:rPr lang="en-US" altLang="en-US" sz="2850" dirty="0"/>
              <a:t>Local router (so-called “default gateway”)</a:t>
            </a:r>
          </a:p>
          <a:p>
            <a:pPr lvl="2"/>
            <a:r>
              <a:rPr lang="en-US" altLang="en-US" sz="2250" dirty="0"/>
              <a:t>“Who do I give a packet to if it’s destined for someone not on this network?”</a:t>
            </a:r>
          </a:p>
          <a:p>
            <a:pPr lvl="1"/>
            <a:r>
              <a:rPr lang="en-US" altLang="en-US" sz="2850" dirty="0"/>
              <a:t>Local DNS server address</a:t>
            </a:r>
          </a:p>
          <a:p>
            <a:pPr lvl="2"/>
            <a:r>
              <a:rPr lang="en-US" altLang="en-US" sz="2250" dirty="0"/>
              <a:t>“Who do I ask for help changing names to addresses?”</a:t>
            </a:r>
          </a:p>
          <a:p>
            <a:pPr lvl="1"/>
            <a:r>
              <a:rPr lang="en-US" altLang="en-US" sz="2850" dirty="0"/>
              <a:t>Sometimes OS settings stuff (Windows servers, etc.)</a:t>
            </a:r>
          </a:p>
        </p:txBody>
      </p:sp>
      <p:sp>
        <p:nvSpPr>
          <p:cNvPr id="2" name="TextBox 1">
            <a:extLst>
              <a:ext uri="{FF2B5EF4-FFF2-40B4-BE49-F238E27FC236}">
                <a16:creationId xmlns:a16="http://schemas.microsoft.com/office/drawing/2014/main" id="{23D39799-FC8F-FCCC-6A48-9F8DE92328CE}"/>
              </a:ext>
            </a:extLst>
          </p:cNvPr>
          <p:cNvSpPr txBox="1"/>
          <p:nvPr/>
        </p:nvSpPr>
        <p:spPr>
          <a:xfrm>
            <a:off x="11155680" y="9496009"/>
            <a:ext cx="6858000" cy="584775"/>
          </a:xfrm>
          <a:prstGeom prst="rect">
            <a:avLst/>
          </a:prstGeom>
          <a:noFill/>
        </p:spPr>
        <p:txBody>
          <a:bodyPr wrap="square" rtlCol="0">
            <a:spAutoFit/>
          </a:bodyPr>
          <a:lstStyle/>
          <a:p>
            <a:r>
              <a:rPr lang="en-US" sz="3200" dirty="0">
                <a:solidFill>
                  <a:schemeClr val="accent1">
                    <a:lumMod val="60000"/>
                    <a:lumOff val="40000"/>
                  </a:schemeClr>
                </a:solidFill>
              </a:rPr>
              <a:t>*Dynamic Host Configuration Protocol</a:t>
            </a:r>
          </a:p>
        </p:txBody>
      </p:sp>
    </p:spTree>
    <p:custDataLst>
      <p:tags r:id="rId1"/>
    </p:custDataLst>
    <p:extLst>
      <p:ext uri="{BB962C8B-B14F-4D97-AF65-F5344CB8AC3E}">
        <p14:creationId xmlns:p14="http://schemas.microsoft.com/office/powerpoint/2010/main" val="31820645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Well-Known TCP/UDP Ports</a:t>
            </a:r>
            <a:endParaRPr lang="en-US"/>
          </a:p>
        </p:txBody>
      </p:sp>
      <p:sp>
        <p:nvSpPr>
          <p:cNvPr id="3" name="Content Placeholder 2"/>
          <p:cNvSpPr>
            <a:spLocks noGrp="1"/>
          </p:cNvSpPr>
          <p:nvPr>
            <p:ph idx="1"/>
          </p:nvPr>
        </p:nvSpPr>
        <p:spPr/>
        <p:txBody>
          <a:bodyPr/>
          <a:lstStyle/>
          <a:p>
            <a:r>
              <a:rPr lang="en-US"/>
              <a:t>Port identifies </a:t>
            </a:r>
            <a:br>
              <a:rPr lang="en-US"/>
            </a:br>
            <a:r>
              <a:rPr lang="en-US"/>
              <a:t>application layer </a:t>
            </a:r>
            <a:br>
              <a:rPr lang="en-US"/>
            </a:br>
            <a:r>
              <a:rPr lang="en-US"/>
              <a:t>protocol</a:t>
            </a:r>
          </a:p>
          <a:p>
            <a:r>
              <a:rPr lang="en-US"/>
              <a:t>Firewalls can </a:t>
            </a:r>
            <a:br>
              <a:rPr lang="en-US"/>
            </a:br>
            <a:r>
              <a:rPr lang="en-US"/>
              <a:t>identify if an </a:t>
            </a:r>
            <a:br>
              <a:rPr lang="en-US"/>
            </a:br>
            <a:r>
              <a:rPr lang="en-US"/>
              <a:t>application is </a:t>
            </a:r>
            <a:br>
              <a:rPr lang="en-US"/>
            </a:br>
            <a:r>
              <a:rPr lang="en-US"/>
              <a:t>allowed</a:t>
            </a:r>
          </a:p>
        </p:txBody>
      </p:sp>
      <p:graphicFrame>
        <p:nvGraphicFramePr>
          <p:cNvPr id="5" name="Content Placeholder 6"/>
          <p:cNvGraphicFramePr>
            <a:graphicFrameLocks/>
          </p:cNvGraphicFramePr>
          <p:nvPr/>
        </p:nvGraphicFramePr>
        <p:xfrm>
          <a:off x="6629399" y="2314576"/>
          <a:ext cx="8801102" cy="7656833"/>
        </p:xfrm>
        <a:graphic>
          <a:graphicData uri="http://schemas.openxmlformats.org/drawingml/2006/table">
            <a:tbl>
              <a:tblPr firstRow="1" bandRow="1">
                <a:tableStyleId>{5C22544A-7EE6-4342-B048-85BDC9FD1C3A}</a:tableStyleId>
              </a:tblPr>
              <a:tblGrid>
                <a:gridCol w="880110">
                  <a:extLst>
                    <a:ext uri="{9D8B030D-6E8A-4147-A177-3AD203B41FA5}">
                      <a16:colId xmlns:a16="http://schemas.microsoft.com/office/drawing/2014/main" val="20000"/>
                    </a:ext>
                  </a:extLst>
                </a:gridCol>
                <a:gridCol w="1650207">
                  <a:extLst>
                    <a:ext uri="{9D8B030D-6E8A-4147-A177-3AD203B41FA5}">
                      <a16:colId xmlns:a16="http://schemas.microsoft.com/office/drawing/2014/main" val="20001"/>
                    </a:ext>
                  </a:extLst>
                </a:gridCol>
                <a:gridCol w="6270785">
                  <a:extLst>
                    <a:ext uri="{9D8B030D-6E8A-4147-A177-3AD203B41FA5}">
                      <a16:colId xmlns:a16="http://schemas.microsoft.com/office/drawing/2014/main" val="20002"/>
                    </a:ext>
                  </a:extLst>
                </a:gridCol>
              </a:tblGrid>
              <a:tr h="502920">
                <a:tc>
                  <a:txBody>
                    <a:bodyPr/>
                    <a:lstStyle/>
                    <a:p>
                      <a:pPr algn="ctr"/>
                      <a:r>
                        <a:rPr lang="en-US" sz="2400"/>
                        <a:t>Port</a:t>
                      </a:r>
                      <a:endParaRPr lang="en-US" sz="2400" b="1">
                        <a:latin typeface="+mj-lt"/>
                      </a:endParaRPr>
                    </a:p>
                  </a:txBody>
                  <a:tcPr marL="137160" marR="137160" marT="68580" marB="68580" anchor="ctr"/>
                </a:tc>
                <a:tc>
                  <a:txBody>
                    <a:bodyPr/>
                    <a:lstStyle/>
                    <a:p>
                      <a:pPr algn="ctr"/>
                      <a:r>
                        <a:rPr lang="en-US" sz="2400"/>
                        <a:t>Protocol</a:t>
                      </a:r>
                      <a:endParaRPr lang="en-US" sz="2400" b="1">
                        <a:latin typeface="+mj-lt"/>
                      </a:endParaRPr>
                    </a:p>
                  </a:txBody>
                  <a:tcPr marL="137160" marR="137160" marT="68580" marB="68580" anchor="ctr"/>
                </a:tc>
                <a:tc>
                  <a:txBody>
                    <a:bodyPr/>
                    <a:lstStyle/>
                    <a:p>
                      <a:pPr algn="l"/>
                      <a:r>
                        <a:rPr lang="en-US" sz="2400"/>
                        <a:t>Port Name (Function)</a:t>
                      </a:r>
                      <a:endParaRPr lang="en-US" sz="2400" b="1">
                        <a:latin typeface="+mj-lt"/>
                      </a:endParaRPr>
                    </a:p>
                  </a:txBody>
                  <a:tcPr marL="137160" marR="137160" marT="68580" marB="68580" anchor="ctr"/>
                </a:tc>
                <a:extLst>
                  <a:ext uri="{0D108BD9-81ED-4DB2-BD59-A6C34878D82A}">
                    <a16:rowId xmlns:a16="http://schemas.microsoft.com/office/drawing/2014/main" val="10000"/>
                  </a:ext>
                </a:extLst>
              </a:tr>
              <a:tr h="502920">
                <a:tc>
                  <a:txBody>
                    <a:bodyPr/>
                    <a:lstStyle/>
                    <a:p>
                      <a:pPr algn="ctr"/>
                      <a:r>
                        <a:rPr lang="en-US" sz="2400"/>
                        <a:t>20</a:t>
                      </a:r>
                      <a:endParaRPr lang="en-US" sz="2400">
                        <a:latin typeface="+mj-lt"/>
                      </a:endParaRPr>
                    </a:p>
                  </a:txBody>
                  <a:tcPr marL="137160" marR="137160" marT="68580" marB="68580" anchor="ctr"/>
                </a:tc>
                <a:tc>
                  <a:txBody>
                    <a:bodyPr/>
                    <a:lstStyle/>
                    <a:p>
                      <a:pPr algn="ctr"/>
                      <a:r>
                        <a:rPr lang="en-US" sz="2400"/>
                        <a:t>TCP</a:t>
                      </a:r>
                      <a:endParaRPr lang="en-US" sz="2400">
                        <a:latin typeface="+mj-lt"/>
                      </a:endParaRPr>
                    </a:p>
                  </a:txBody>
                  <a:tcPr marL="137160" marR="137160" marT="68580" marB="68580" anchor="ctr"/>
                </a:tc>
                <a:tc>
                  <a:txBody>
                    <a:bodyPr/>
                    <a:lstStyle/>
                    <a:p>
                      <a:pPr algn="l"/>
                      <a:r>
                        <a:rPr lang="en-US" sz="2400"/>
                        <a:t>ftp-data</a:t>
                      </a:r>
                      <a:r>
                        <a:rPr lang="en-US" sz="2400" baseline="0"/>
                        <a:t> (File Transfer Protocol data channel)</a:t>
                      </a:r>
                      <a:endParaRPr lang="en-US" sz="2400">
                        <a:latin typeface="+mj-lt"/>
                      </a:endParaRPr>
                    </a:p>
                  </a:txBody>
                  <a:tcPr marL="137160" marR="137160" marT="68580" marB="68580" anchor="ctr"/>
                </a:tc>
                <a:extLst>
                  <a:ext uri="{0D108BD9-81ED-4DB2-BD59-A6C34878D82A}">
                    <a16:rowId xmlns:a16="http://schemas.microsoft.com/office/drawing/2014/main" val="10001"/>
                  </a:ext>
                </a:extLst>
              </a:tr>
              <a:tr h="502920">
                <a:tc>
                  <a:txBody>
                    <a:bodyPr/>
                    <a:lstStyle/>
                    <a:p>
                      <a:pPr algn="ctr"/>
                      <a:r>
                        <a:rPr lang="en-US" sz="2400"/>
                        <a:t>21</a:t>
                      </a:r>
                      <a:endParaRPr lang="en-US" sz="2400">
                        <a:latin typeface="+mj-lt"/>
                      </a:endParaRPr>
                    </a:p>
                  </a:txBody>
                  <a:tcPr marL="137160" marR="137160" marT="68580" marB="68580" anchor="ctr"/>
                </a:tc>
                <a:tc>
                  <a:txBody>
                    <a:bodyPr/>
                    <a:lstStyle/>
                    <a:p>
                      <a:pPr algn="ctr"/>
                      <a:r>
                        <a:rPr lang="en-US" sz="2400"/>
                        <a:t>TCP</a:t>
                      </a:r>
                      <a:endParaRPr lang="en-US" sz="2400">
                        <a:latin typeface="+mj-lt"/>
                      </a:endParaRPr>
                    </a:p>
                  </a:txBody>
                  <a:tcPr marL="137160" marR="137160" marT="68580" marB="68580" anchor="ctr"/>
                </a:tc>
                <a:tc>
                  <a:txBody>
                    <a:bodyPr/>
                    <a:lstStyle/>
                    <a:p>
                      <a:pPr algn="l"/>
                      <a:r>
                        <a:rPr lang="en-US" sz="2400"/>
                        <a:t>ftp (File Transfer</a:t>
                      </a:r>
                      <a:r>
                        <a:rPr lang="en-US" sz="2400" baseline="0"/>
                        <a:t> Protocol control channel)</a:t>
                      </a:r>
                      <a:endParaRPr lang="en-US" sz="2400">
                        <a:latin typeface="+mj-lt"/>
                      </a:endParaRPr>
                    </a:p>
                  </a:txBody>
                  <a:tcPr marL="137160" marR="137160" marT="68580" marB="68580" anchor="ctr"/>
                </a:tc>
                <a:extLst>
                  <a:ext uri="{0D108BD9-81ED-4DB2-BD59-A6C34878D82A}">
                    <a16:rowId xmlns:a16="http://schemas.microsoft.com/office/drawing/2014/main" val="10002"/>
                  </a:ext>
                </a:extLst>
              </a:tr>
              <a:tr h="502920">
                <a:tc>
                  <a:txBody>
                    <a:bodyPr/>
                    <a:lstStyle/>
                    <a:p>
                      <a:pPr algn="ctr"/>
                      <a:r>
                        <a:rPr lang="en-US" sz="2400"/>
                        <a:t>22</a:t>
                      </a:r>
                      <a:endParaRPr lang="en-US" sz="2400">
                        <a:latin typeface="+mj-lt"/>
                      </a:endParaRPr>
                    </a:p>
                  </a:txBody>
                  <a:tcPr marL="137160" marR="137160" marT="68580" marB="6858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kern="1200"/>
                        <a:t>TCP</a:t>
                      </a:r>
                      <a:endParaRPr lang="en-US" sz="2400" kern="1200">
                        <a:solidFill>
                          <a:schemeClr val="tx1"/>
                        </a:solidFill>
                        <a:latin typeface="+mj-lt"/>
                        <a:ea typeface="+mn-ea"/>
                        <a:cs typeface="+mn-cs"/>
                      </a:endParaRPr>
                    </a:p>
                  </a:txBody>
                  <a:tcPr marL="137160" marR="137160" marT="68580" marB="68580" anchor="ctr"/>
                </a:tc>
                <a:tc>
                  <a:txBody>
                    <a:bodyPr/>
                    <a:lstStyle/>
                    <a:p>
                      <a:pPr algn="l"/>
                      <a:r>
                        <a:rPr lang="en-US" sz="2400" err="1"/>
                        <a:t>ssh</a:t>
                      </a:r>
                      <a:r>
                        <a:rPr lang="en-US" sz="2400" baseline="0"/>
                        <a:t> (Secure Shell Protocol)</a:t>
                      </a:r>
                      <a:endParaRPr lang="en-US" sz="2400">
                        <a:latin typeface="+mj-lt"/>
                      </a:endParaRPr>
                    </a:p>
                  </a:txBody>
                  <a:tcPr marL="137160" marR="137160" marT="68580" marB="68580" anchor="ctr"/>
                </a:tc>
                <a:extLst>
                  <a:ext uri="{0D108BD9-81ED-4DB2-BD59-A6C34878D82A}">
                    <a16:rowId xmlns:a16="http://schemas.microsoft.com/office/drawing/2014/main" val="10003"/>
                  </a:ext>
                </a:extLst>
              </a:tr>
              <a:tr h="502920">
                <a:tc>
                  <a:txBody>
                    <a:bodyPr/>
                    <a:lstStyle/>
                    <a:p>
                      <a:pPr algn="ctr"/>
                      <a:r>
                        <a:rPr lang="en-US" sz="2400"/>
                        <a:t>23</a:t>
                      </a:r>
                      <a:endParaRPr lang="en-US" sz="2400">
                        <a:latin typeface="+mj-lt"/>
                      </a:endParaRPr>
                    </a:p>
                  </a:txBody>
                  <a:tcPr marL="137160" marR="137160" marT="68580" marB="68580" anchor="ctr"/>
                </a:tc>
                <a:tc>
                  <a:txBody>
                    <a:bodyPr/>
                    <a:lstStyle/>
                    <a:p>
                      <a:pPr algn="ctr"/>
                      <a:r>
                        <a:rPr lang="en-US" sz="2400" kern="1200"/>
                        <a:t>TCP</a:t>
                      </a:r>
                      <a:endParaRPr lang="en-US" sz="2400">
                        <a:latin typeface="+mj-lt"/>
                      </a:endParaRPr>
                    </a:p>
                  </a:txBody>
                  <a:tcPr marL="137160" marR="137160" marT="68580" marB="68580" anchor="ctr"/>
                </a:tc>
                <a:tc>
                  <a:txBody>
                    <a:bodyPr/>
                    <a:lstStyle/>
                    <a:p>
                      <a:pPr algn="l"/>
                      <a:r>
                        <a:rPr lang="en-US" sz="2400"/>
                        <a:t>Telnet</a:t>
                      </a:r>
                      <a:endParaRPr lang="en-US" sz="2400">
                        <a:latin typeface="+mj-lt"/>
                      </a:endParaRPr>
                    </a:p>
                  </a:txBody>
                  <a:tcPr marL="137160" marR="137160" marT="68580" marB="68580" anchor="ctr"/>
                </a:tc>
                <a:extLst>
                  <a:ext uri="{0D108BD9-81ED-4DB2-BD59-A6C34878D82A}">
                    <a16:rowId xmlns:a16="http://schemas.microsoft.com/office/drawing/2014/main" val="10004"/>
                  </a:ext>
                </a:extLst>
              </a:tr>
              <a:tr h="502920">
                <a:tc>
                  <a:txBody>
                    <a:bodyPr/>
                    <a:lstStyle/>
                    <a:p>
                      <a:pPr algn="ctr"/>
                      <a:r>
                        <a:rPr lang="en-US" sz="2400"/>
                        <a:t>25</a:t>
                      </a:r>
                      <a:endParaRPr lang="en-US" sz="2400">
                        <a:latin typeface="+mj-lt"/>
                      </a:endParaRPr>
                    </a:p>
                  </a:txBody>
                  <a:tcPr marL="137160" marR="137160" marT="68580" marB="68580" anchor="ctr"/>
                </a:tc>
                <a:tc>
                  <a:txBody>
                    <a:bodyPr/>
                    <a:lstStyle/>
                    <a:p>
                      <a:pPr algn="ctr"/>
                      <a:r>
                        <a:rPr lang="en-US" sz="2400" kern="1200"/>
                        <a:t>TCP</a:t>
                      </a:r>
                      <a:endParaRPr lang="en-US" sz="2400">
                        <a:latin typeface="+mj-lt"/>
                      </a:endParaRPr>
                    </a:p>
                  </a:txBody>
                  <a:tcPr marL="137160" marR="137160" marT="68580" marB="68580" anchor="ctr"/>
                </a:tc>
                <a:tc>
                  <a:txBody>
                    <a:bodyPr/>
                    <a:lstStyle/>
                    <a:p>
                      <a:pPr algn="l"/>
                      <a:r>
                        <a:rPr lang="en-US" sz="2400" err="1"/>
                        <a:t>smtp</a:t>
                      </a:r>
                      <a:r>
                        <a:rPr lang="en-US" sz="2400" baseline="0"/>
                        <a:t> (Simple Mail Transfer Protocol)</a:t>
                      </a:r>
                      <a:endParaRPr lang="en-US" sz="2400">
                        <a:latin typeface="+mj-lt"/>
                      </a:endParaRPr>
                    </a:p>
                  </a:txBody>
                  <a:tcPr marL="137160" marR="137160" marT="68580" marB="68580" anchor="ctr"/>
                </a:tc>
                <a:extLst>
                  <a:ext uri="{0D108BD9-81ED-4DB2-BD59-A6C34878D82A}">
                    <a16:rowId xmlns:a16="http://schemas.microsoft.com/office/drawing/2014/main" val="10005"/>
                  </a:ext>
                </a:extLst>
              </a:tr>
              <a:tr h="615953">
                <a:tc>
                  <a:txBody>
                    <a:bodyPr/>
                    <a:lstStyle/>
                    <a:p>
                      <a:pPr algn="ctr"/>
                      <a:r>
                        <a:rPr lang="en-US" sz="2400"/>
                        <a:t>53</a:t>
                      </a:r>
                      <a:endParaRPr lang="en-US" sz="2400">
                        <a:latin typeface="+mj-lt"/>
                      </a:endParaRPr>
                    </a:p>
                  </a:txBody>
                  <a:tcPr marL="137160" marR="137160" marT="68580" marB="68580" anchor="ctr"/>
                </a:tc>
                <a:tc>
                  <a:txBody>
                    <a:bodyPr/>
                    <a:lstStyle/>
                    <a:p>
                      <a:pPr algn="ctr"/>
                      <a:r>
                        <a:rPr lang="en-US" sz="2400" kern="1200"/>
                        <a:t>TCP; UDP</a:t>
                      </a:r>
                      <a:endParaRPr lang="en-US" sz="2400">
                        <a:latin typeface="+mj-lt"/>
                      </a:endParaRPr>
                    </a:p>
                  </a:txBody>
                  <a:tcPr marL="137160" marR="137160" marT="68580" marB="68580" anchor="ctr"/>
                </a:tc>
                <a:tc>
                  <a:txBody>
                    <a:bodyPr/>
                    <a:lstStyle/>
                    <a:p>
                      <a:pPr algn="l"/>
                      <a:r>
                        <a:rPr lang="en-US" sz="2400"/>
                        <a:t>domain (Domain Name System information)</a:t>
                      </a:r>
                      <a:endParaRPr lang="en-US" sz="2400">
                        <a:latin typeface="+mj-lt"/>
                      </a:endParaRPr>
                    </a:p>
                  </a:txBody>
                  <a:tcPr marL="137160" marR="137160" marT="68580" marB="68580" anchor="ctr"/>
                </a:tc>
                <a:extLst>
                  <a:ext uri="{0D108BD9-81ED-4DB2-BD59-A6C34878D82A}">
                    <a16:rowId xmlns:a16="http://schemas.microsoft.com/office/drawing/2014/main" val="10006"/>
                  </a:ext>
                </a:extLst>
              </a:tr>
              <a:tr h="502920">
                <a:tc>
                  <a:txBody>
                    <a:bodyPr/>
                    <a:lstStyle/>
                    <a:p>
                      <a:pPr algn="ctr"/>
                      <a:r>
                        <a:rPr lang="en-US" sz="2400"/>
                        <a:t>69</a:t>
                      </a:r>
                      <a:endParaRPr lang="en-US" sz="2400">
                        <a:latin typeface="+mj-lt"/>
                      </a:endParaRPr>
                    </a:p>
                  </a:txBody>
                  <a:tcPr marL="137160" marR="137160" marT="68580" marB="68580" anchor="ctr"/>
                </a:tc>
                <a:tc>
                  <a:txBody>
                    <a:bodyPr/>
                    <a:lstStyle/>
                    <a:p>
                      <a:pPr algn="ctr"/>
                      <a:r>
                        <a:rPr lang="en-US" sz="2400"/>
                        <a:t>UDP</a:t>
                      </a:r>
                      <a:endParaRPr lang="en-US" sz="2400">
                        <a:latin typeface="+mj-lt"/>
                      </a:endParaRPr>
                    </a:p>
                  </a:txBody>
                  <a:tcPr marL="137160" marR="137160" marT="68580" marB="68580" anchor="ctr"/>
                </a:tc>
                <a:tc>
                  <a:txBody>
                    <a:bodyPr/>
                    <a:lstStyle/>
                    <a:p>
                      <a:pPr algn="l"/>
                      <a:r>
                        <a:rPr lang="en-US" sz="2400" err="1"/>
                        <a:t>tftp</a:t>
                      </a:r>
                      <a:r>
                        <a:rPr lang="en-US" sz="2400"/>
                        <a:t> (Trivial File Transfer</a:t>
                      </a:r>
                      <a:r>
                        <a:rPr lang="en-US" sz="2400" baseline="0"/>
                        <a:t> Protocol)</a:t>
                      </a:r>
                      <a:endParaRPr lang="en-US" sz="2400">
                        <a:latin typeface="+mj-lt"/>
                      </a:endParaRPr>
                    </a:p>
                  </a:txBody>
                  <a:tcPr marL="137160" marR="137160" marT="68580" marB="68580" anchor="ctr"/>
                </a:tc>
                <a:extLst>
                  <a:ext uri="{0D108BD9-81ED-4DB2-BD59-A6C34878D82A}">
                    <a16:rowId xmlns:a16="http://schemas.microsoft.com/office/drawing/2014/main" val="10007"/>
                  </a:ext>
                </a:extLst>
              </a:tr>
              <a:tr h="502920">
                <a:tc>
                  <a:txBody>
                    <a:bodyPr/>
                    <a:lstStyle/>
                    <a:p>
                      <a:pPr algn="ctr"/>
                      <a:r>
                        <a:rPr lang="en-US" sz="2400"/>
                        <a:t>80</a:t>
                      </a:r>
                      <a:endParaRPr lang="en-US" sz="2400">
                        <a:latin typeface="+mj-lt"/>
                      </a:endParaRPr>
                    </a:p>
                  </a:txBody>
                  <a:tcPr marL="137160" marR="137160" marT="68580" marB="68580" anchor="ctr"/>
                </a:tc>
                <a:tc>
                  <a:txBody>
                    <a:bodyPr/>
                    <a:lstStyle/>
                    <a:p>
                      <a:pPr algn="ctr"/>
                      <a:r>
                        <a:rPr lang="en-US" sz="2400" kern="1200"/>
                        <a:t>TCP</a:t>
                      </a:r>
                      <a:endParaRPr lang="en-US" sz="2400">
                        <a:latin typeface="+mj-lt"/>
                      </a:endParaRPr>
                    </a:p>
                  </a:txBody>
                  <a:tcPr marL="137160" marR="137160" marT="68580" marB="68580" anchor="ctr"/>
                </a:tc>
                <a:tc>
                  <a:txBody>
                    <a:bodyPr/>
                    <a:lstStyle/>
                    <a:p>
                      <a:pPr algn="l"/>
                      <a:r>
                        <a:rPr lang="en-US" sz="2400"/>
                        <a:t>http (</a:t>
                      </a:r>
                      <a:r>
                        <a:rPr lang="en-US" sz="2400" err="1"/>
                        <a:t>HyperText</a:t>
                      </a:r>
                      <a:r>
                        <a:rPr lang="en-US" sz="2400"/>
                        <a:t> Transfer</a:t>
                      </a:r>
                      <a:r>
                        <a:rPr lang="en-US" sz="2400" baseline="0"/>
                        <a:t> Protocol)</a:t>
                      </a:r>
                      <a:endParaRPr lang="en-US" sz="2400">
                        <a:latin typeface="+mj-lt"/>
                      </a:endParaRPr>
                    </a:p>
                  </a:txBody>
                  <a:tcPr marL="137160" marR="137160" marT="68580" marB="68580" anchor="ctr"/>
                </a:tc>
                <a:extLst>
                  <a:ext uri="{0D108BD9-81ED-4DB2-BD59-A6C34878D82A}">
                    <a16:rowId xmlns:a16="http://schemas.microsoft.com/office/drawing/2014/main" val="10008"/>
                  </a:ext>
                </a:extLst>
              </a:tr>
              <a:tr h="502920">
                <a:tc>
                  <a:txBody>
                    <a:bodyPr/>
                    <a:lstStyle/>
                    <a:p>
                      <a:pPr algn="ctr"/>
                      <a:r>
                        <a:rPr lang="en-US" sz="2400"/>
                        <a:t>110</a:t>
                      </a:r>
                      <a:endParaRPr lang="en-US" sz="2400">
                        <a:latin typeface="+mj-lt"/>
                      </a:endParaRPr>
                    </a:p>
                  </a:txBody>
                  <a:tcPr marL="137160" marR="137160" marT="68580" marB="68580" anchor="ctr"/>
                </a:tc>
                <a:tc>
                  <a:txBody>
                    <a:bodyPr/>
                    <a:lstStyle/>
                    <a:p>
                      <a:pPr algn="ctr"/>
                      <a:r>
                        <a:rPr lang="en-US" sz="2400" kern="1200"/>
                        <a:t>TCP</a:t>
                      </a:r>
                      <a:endParaRPr lang="en-US" sz="2400">
                        <a:latin typeface="+mj-lt"/>
                      </a:endParaRPr>
                    </a:p>
                  </a:txBody>
                  <a:tcPr marL="137160" marR="137160" marT="68580" marB="68580" anchor="ctr"/>
                </a:tc>
                <a:tc>
                  <a:txBody>
                    <a:bodyPr/>
                    <a:lstStyle/>
                    <a:p>
                      <a:pPr algn="l"/>
                      <a:r>
                        <a:rPr lang="en-US" sz="2400"/>
                        <a:t>pop3 (Post Office Protocol)</a:t>
                      </a:r>
                      <a:endParaRPr lang="en-US" sz="2400">
                        <a:latin typeface="+mj-lt"/>
                      </a:endParaRPr>
                    </a:p>
                  </a:txBody>
                  <a:tcPr marL="137160" marR="137160" marT="68580" marB="68580" anchor="ctr"/>
                </a:tc>
                <a:extLst>
                  <a:ext uri="{0D108BD9-81ED-4DB2-BD59-A6C34878D82A}">
                    <a16:rowId xmlns:a16="http://schemas.microsoft.com/office/drawing/2014/main" val="10009"/>
                  </a:ext>
                </a:extLst>
              </a:tr>
              <a:tr h="502920">
                <a:tc>
                  <a:txBody>
                    <a:bodyPr/>
                    <a:lstStyle/>
                    <a:p>
                      <a:pPr algn="ctr"/>
                      <a:r>
                        <a:rPr lang="en-US" sz="2400"/>
                        <a:t>119</a:t>
                      </a:r>
                      <a:endParaRPr lang="en-US" sz="2400">
                        <a:latin typeface="+mj-lt"/>
                      </a:endParaRPr>
                    </a:p>
                  </a:txBody>
                  <a:tcPr marL="137160" marR="137160" marT="68580" marB="68580" anchor="ctr"/>
                </a:tc>
                <a:tc>
                  <a:txBody>
                    <a:bodyPr/>
                    <a:lstStyle/>
                    <a:p>
                      <a:pPr algn="ctr"/>
                      <a:r>
                        <a:rPr lang="en-US" sz="2400" kern="1200"/>
                        <a:t>TCP</a:t>
                      </a:r>
                      <a:endParaRPr lang="en-US" sz="2400">
                        <a:latin typeface="+mj-lt"/>
                      </a:endParaRPr>
                    </a:p>
                  </a:txBody>
                  <a:tcPr marL="137160" marR="137160" marT="68580" marB="68580" anchor="ctr"/>
                </a:tc>
                <a:tc>
                  <a:txBody>
                    <a:bodyPr/>
                    <a:lstStyle/>
                    <a:p>
                      <a:pPr algn="l"/>
                      <a:r>
                        <a:rPr lang="en-US" sz="2400"/>
                        <a:t>nntp (Network</a:t>
                      </a:r>
                      <a:r>
                        <a:rPr lang="en-US" sz="2400" baseline="0"/>
                        <a:t> News Transfer Protocol)</a:t>
                      </a:r>
                      <a:endParaRPr lang="en-US" sz="2400">
                        <a:latin typeface="+mj-lt"/>
                      </a:endParaRPr>
                    </a:p>
                  </a:txBody>
                  <a:tcPr marL="137160" marR="137160" marT="68580" marB="68580" anchor="ctr"/>
                </a:tc>
                <a:extLst>
                  <a:ext uri="{0D108BD9-81ED-4DB2-BD59-A6C34878D82A}">
                    <a16:rowId xmlns:a16="http://schemas.microsoft.com/office/drawing/2014/main" val="10010"/>
                  </a:ext>
                </a:extLst>
              </a:tr>
              <a:tr h="502920">
                <a:tc>
                  <a:txBody>
                    <a:bodyPr/>
                    <a:lstStyle/>
                    <a:p>
                      <a:pPr algn="ctr"/>
                      <a:r>
                        <a:rPr lang="en-US" sz="2400"/>
                        <a:t>123</a:t>
                      </a:r>
                      <a:endParaRPr lang="en-US" sz="2400">
                        <a:latin typeface="+mj-lt"/>
                      </a:endParaRPr>
                    </a:p>
                  </a:txBody>
                  <a:tcPr marL="137160" marR="137160" marT="68580" marB="68580" anchor="ctr"/>
                </a:tc>
                <a:tc>
                  <a:txBody>
                    <a:bodyPr/>
                    <a:lstStyle/>
                    <a:p>
                      <a:pPr algn="ctr"/>
                      <a:r>
                        <a:rPr lang="en-US" sz="2400" kern="1200"/>
                        <a:t>TCP</a:t>
                      </a:r>
                      <a:endParaRPr lang="en-US" sz="2400">
                        <a:latin typeface="+mj-lt"/>
                      </a:endParaRPr>
                    </a:p>
                  </a:txBody>
                  <a:tcPr marL="137160" marR="137160" marT="68580" marB="68580" anchor="ctr"/>
                </a:tc>
                <a:tc>
                  <a:txBody>
                    <a:bodyPr/>
                    <a:lstStyle/>
                    <a:p>
                      <a:pPr algn="l"/>
                      <a:r>
                        <a:rPr lang="en-US" sz="2400" err="1"/>
                        <a:t>ntp</a:t>
                      </a:r>
                      <a:r>
                        <a:rPr lang="en-US" sz="2400" baseline="0"/>
                        <a:t> (Network Time Protocol)</a:t>
                      </a:r>
                      <a:endParaRPr lang="en-US" sz="2400">
                        <a:latin typeface="+mj-lt"/>
                      </a:endParaRPr>
                    </a:p>
                  </a:txBody>
                  <a:tcPr marL="137160" marR="137160" marT="68580" marB="68580" anchor="ctr"/>
                </a:tc>
                <a:extLst>
                  <a:ext uri="{0D108BD9-81ED-4DB2-BD59-A6C34878D82A}">
                    <a16:rowId xmlns:a16="http://schemas.microsoft.com/office/drawing/2014/main" val="10011"/>
                  </a:ext>
                </a:extLst>
              </a:tr>
              <a:tr h="502920">
                <a:tc>
                  <a:txBody>
                    <a:bodyPr/>
                    <a:lstStyle/>
                    <a:p>
                      <a:pPr algn="ctr"/>
                      <a:r>
                        <a:rPr lang="en-US" sz="2400"/>
                        <a:t>143</a:t>
                      </a:r>
                      <a:endParaRPr lang="en-US" sz="2400">
                        <a:latin typeface="+mj-lt"/>
                      </a:endParaRPr>
                    </a:p>
                  </a:txBody>
                  <a:tcPr marL="137160" marR="137160" marT="68580" marB="68580" anchor="ctr"/>
                </a:tc>
                <a:tc>
                  <a:txBody>
                    <a:bodyPr/>
                    <a:lstStyle/>
                    <a:p>
                      <a:pPr algn="ctr"/>
                      <a:r>
                        <a:rPr lang="en-US" sz="2400" kern="1200"/>
                        <a:t>TCP</a:t>
                      </a:r>
                      <a:endParaRPr lang="en-US" sz="2400">
                        <a:latin typeface="+mj-lt"/>
                      </a:endParaRPr>
                    </a:p>
                  </a:txBody>
                  <a:tcPr marL="137160" marR="137160" marT="68580" marB="68580" anchor="ctr"/>
                </a:tc>
                <a:tc>
                  <a:txBody>
                    <a:bodyPr/>
                    <a:lstStyle/>
                    <a:p>
                      <a:pPr algn="l"/>
                      <a:r>
                        <a:rPr lang="en-US" sz="2400"/>
                        <a:t>imap4 (Internet Message Access Protocol)</a:t>
                      </a:r>
                      <a:endParaRPr lang="en-US" sz="2400">
                        <a:latin typeface="+mj-lt"/>
                      </a:endParaRPr>
                    </a:p>
                  </a:txBody>
                  <a:tcPr marL="137160" marR="137160" marT="68580" marB="68580" anchor="ctr"/>
                </a:tc>
                <a:extLst>
                  <a:ext uri="{0D108BD9-81ED-4DB2-BD59-A6C34878D82A}">
                    <a16:rowId xmlns:a16="http://schemas.microsoft.com/office/drawing/2014/main" val="10012"/>
                  </a:ext>
                </a:extLst>
              </a:tr>
              <a:tr h="502920">
                <a:tc>
                  <a:txBody>
                    <a:bodyPr/>
                    <a:lstStyle/>
                    <a:p>
                      <a:pPr algn="ctr"/>
                      <a:r>
                        <a:rPr lang="en-US" sz="2400"/>
                        <a:t>161</a:t>
                      </a:r>
                      <a:endParaRPr lang="en-US" sz="2400">
                        <a:latin typeface="+mj-lt"/>
                      </a:endParaRPr>
                    </a:p>
                  </a:txBody>
                  <a:tcPr marL="137160" marR="137160" marT="68580" marB="68580" anchor="ctr"/>
                </a:tc>
                <a:tc>
                  <a:txBody>
                    <a:bodyPr/>
                    <a:lstStyle/>
                    <a:p>
                      <a:pPr algn="ctr"/>
                      <a:r>
                        <a:rPr lang="en-US" sz="2400" kern="1200"/>
                        <a:t>TCP</a:t>
                      </a:r>
                      <a:endParaRPr lang="en-US" sz="2400">
                        <a:latin typeface="+mj-lt"/>
                      </a:endParaRPr>
                    </a:p>
                  </a:txBody>
                  <a:tcPr marL="137160" marR="137160" marT="68580" marB="68580" anchor="ctr"/>
                </a:tc>
                <a:tc>
                  <a:txBody>
                    <a:bodyPr/>
                    <a:lstStyle/>
                    <a:p>
                      <a:pPr algn="l"/>
                      <a:r>
                        <a:rPr lang="en-US" sz="2400" err="1"/>
                        <a:t>snmp</a:t>
                      </a:r>
                      <a:r>
                        <a:rPr lang="en-US" sz="2400"/>
                        <a:t> (Simple Network Management Protocol)</a:t>
                      </a:r>
                      <a:endParaRPr lang="en-US" sz="2400">
                        <a:latin typeface="+mj-lt"/>
                      </a:endParaRPr>
                    </a:p>
                  </a:txBody>
                  <a:tcPr marL="137160" marR="137160" marT="68580" marB="68580" anchor="ctr"/>
                </a:tc>
                <a:extLst>
                  <a:ext uri="{0D108BD9-81ED-4DB2-BD59-A6C34878D82A}">
                    <a16:rowId xmlns:a16="http://schemas.microsoft.com/office/drawing/2014/main" val="10013"/>
                  </a:ext>
                </a:extLst>
              </a:tr>
              <a:tr h="502920">
                <a:tc>
                  <a:txBody>
                    <a:bodyPr/>
                    <a:lstStyle/>
                    <a:p>
                      <a:pPr algn="ctr"/>
                      <a:r>
                        <a:rPr lang="en-US" sz="2400"/>
                        <a:t>443</a:t>
                      </a:r>
                      <a:endParaRPr lang="en-US" sz="2400">
                        <a:latin typeface="+mj-lt"/>
                      </a:endParaRPr>
                    </a:p>
                  </a:txBody>
                  <a:tcPr marL="137160" marR="137160" marT="68580" marB="68580" anchor="ctr"/>
                </a:tc>
                <a:tc>
                  <a:txBody>
                    <a:bodyPr/>
                    <a:lstStyle/>
                    <a:p>
                      <a:pPr algn="ctr"/>
                      <a:r>
                        <a:rPr lang="en-US" sz="2400" kern="1200"/>
                        <a:t>TCP</a:t>
                      </a:r>
                      <a:endParaRPr lang="en-US" sz="2400">
                        <a:latin typeface="+mj-lt"/>
                      </a:endParaRPr>
                    </a:p>
                  </a:txBody>
                  <a:tcPr marL="137160" marR="137160" marT="68580" marB="68580" anchor="ctr"/>
                </a:tc>
                <a:tc>
                  <a:txBody>
                    <a:bodyPr/>
                    <a:lstStyle/>
                    <a:p>
                      <a:pPr algn="l"/>
                      <a:r>
                        <a:rPr lang="en-US" sz="2400"/>
                        <a:t>https (</a:t>
                      </a:r>
                      <a:r>
                        <a:rPr lang="en-US" sz="2400" err="1"/>
                        <a:t>HyperText</a:t>
                      </a:r>
                      <a:r>
                        <a:rPr lang="en-US" sz="2400"/>
                        <a:t> Transfer Protocol Secure)</a:t>
                      </a:r>
                      <a:endParaRPr lang="en-US" sz="2400">
                        <a:latin typeface="+mj-lt"/>
                      </a:endParaRPr>
                    </a:p>
                  </a:txBody>
                  <a:tcPr marL="137160" marR="137160" marT="68580" marB="68580" anchor="ctr"/>
                </a:tc>
                <a:extLst>
                  <a:ext uri="{0D108BD9-81ED-4DB2-BD59-A6C34878D82A}">
                    <a16:rowId xmlns:a16="http://schemas.microsoft.com/office/drawing/2014/main" val="10014"/>
                  </a:ext>
                </a:extLst>
              </a:tr>
            </a:tbl>
          </a:graphicData>
        </a:graphic>
      </p:graphicFrame>
    </p:spTree>
    <p:custDataLst>
      <p:tags r:id="rId1"/>
    </p:custDataLst>
    <p:extLst>
      <p:ext uri="{BB962C8B-B14F-4D97-AF65-F5344CB8AC3E}">
        <p14:creationId xmlns:p14="http://schemas.microsoft.com/office/powerpoint/2010/main" val="34336543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63D7C-A6B9-42C4-FF65-7D4B8EF24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0E0CE-675B-9A76-E40E-D6ED8F65CDC3}"/>
              </a:ext>
            </a:extLst>
          </p:cNvPr>
          <p:cNvSpPr>
            <a:spLocks noGrp="1"/>
          </p:cNvSpPr>
          <p:nvPr>
            <p:ph type="title"/>
          </p:nvPr>
        </p:nvSpPr>
        <p:spPr/>
        <p:txBody>
          <a:bodyPr/>
          <a:lstStyle/>
          <a:p>
            <a:r>
              <a:rPr lang="en-US"/>
              <a:t>Scanning for Listening Ports</a:t>
            </a:r>
          </a:p>
        </p:txBody>
      </p:sp>
      <p:sp>
        <p:nvSpPr>
          <p:cNvPr id="3" name="Content Placeholder 2">
            <a:extLst>
              <a:ext uri="{FF2B5EF4-FFF2-40B4-BE49-F238E27FC236}">
                <a16:creationId xmlns:a16="http://schemas.microsoft.com/office/drawing/2014/main" id="{ED9DEE18-2DE0-6555-1BD4-FDF523496D74}"/>
              </a:ext>
            </a:extLst>
          </p:cNvPr>
          <p:cNvSpPr>
            <a:spLocks noGrp="1"/>
          </p:cNvSpPr>
          <p:nvPr>
            <p:ph idx="1"/>
          </p:nvPr>
        </p:nvSpPr>
        <p:spPr/>
        <p:txBody>
          <a:bodyPr/>
          <a:lstStyle/>
          <a:p>
            <a:r>
              <a:rPr lang="en-US"/>
              <a:t>Many tools available for download</a:t>
            </a:r>
          </a:p>
          <a:p>
            <a:r>
              <a:rPr lang="en-US"/>
              <a:t>Also as an online tool (e.g., pentest-tools.com)</a:t>
            </a:r>
          </a:p>
        </p:txBody>
      </p:sp>
      <p:pic>
        <p:nvPicPr>
          <p:cNvPr id="5" name="Picture 4">
            <a:hlinkClick r:id="rId4"/>
            <a:extLst>
              <a:ext uri="{FF2B5EF4-FFF2-40B4-BE49-F238E27FC236}">
                <a16:creationId xmlns:a16="http://schemas.microsoft.com/office/drawing/2014/main" id="{B20909A3-728B-8478-A93F-6B4A6CFD6D2D}"/>
              </a:ext>
            </a:extLst>
          </p:cNvPr>
          <p:cNvPicPr>
            <a:picLocks noChangeAspect="1"/>
          </p:cNvPicPr>
          <p:nvPr/>
        </p:nvPicPr>
        <p:blipFill>
          <a:blip r:embed="rId5"/>
          <a:stretch>
            <a:fillRect/>
          </a:stretch>
        </p:blipFill>
        <p:spPr>
          <a:xfrm>
            <a:off x="2286000" y="4181476"/>
            <a:ext cx="10371297" cy="5650706"/>
          </a:xfrm>
          <a:prstGeom prst="rect">
            <a:avLst/>
          </a:prstGeom>
        </p:spPr>
      </p:pic>
      <p:pic>
        <p:nvPicPr>
          <p:cNvPr id="8" name="Picture 2" descr="C:\Users\AWalkden\Downloads\stick_figure_list_weight_400_clr_2008.png">
            <a:extLst>
              <a:ext uri="{FF2B5EF4-FFF2-40B4-BE49-F238E27FC236}">
                <a16:creationId xmlns:a16="http://schemas.microsoft.com/office/drawing/2014/main" id="{ACEF4E75-890B-3826-57A7-81F39E3FC930}"/>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4073901" y="5731329"/>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2725480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1330" name="Rectangle 2"/>
          <p:cNvSpPr>
            <a:spLocks noGrp="1" noChangeArrowheads="1"/>
          </p:cNvSpPr>
          <p:nvPr>
            <p:ph type="title"/>
          </p:nvPr>
        </p:nvSpPr>
        <p:spPr/>
        <p:txBody>
          <a:bodyPr/>
          <a:lstStyle/>
          <a:p>
            <a:r>
              <a:rPr lang="en-US" altLang="en-US" dirty="0"/>
              <a:t>Private Address Space and NAT</a:t>
            </a:r>
            <a:endParaRPr lang="en-US" altLang="en-US" b="0" dirty="0"/>
          </a:p>
        </p:txBody>
      </p:sp>
      <p:sp>
        <p:nvSpPr>
          <p:cNvPr id="3811331" name="Rectangle 3"/>
          <p:cNvSpPr>
            <a:spLocks noGrp="1" noChangeArrowheads="1"/>
          </p:cNvSpPr>
          <p:nvPr>
            <p:ph type="body" idx="1"/>
          </p:nvPr>
        </p:nvSpPr>
        <p:spPr>
          <a:xfrm>
            <a:off x="1257300" y="2193131"/>
            <a:ext cx="15773400" cy="3418134"/>
          </a:xfrm>
        </p:spPr>
        <p:txBody>
          <a:bodyPr/>
          <a:lstStyle/>
          <a:p>
            <a:r>
              <a:rPr lang="en-US" altLang="en-US" sz="3450" dirty="0"/>
              <a:t>There are three address ranges reserved for use by private</a:t>
            </a:r>
            <a:r>
              <a:rPr lang="en-US" altLang="en-US" sz="3450" i="1" dirty="0"/>
              <a:t>*</a:t>
            </a:r>
            <a:r>
              <a:rPr lang="en-US" altLang="en-US" sz="3450" dirty="0"/>
              <a:t> networks</a:t>
            </a:r>
          </a:p>
          <a:p>
            <a:pPr lvl="1"/>
            <a:r>
              <a:rPr lang="en-US" altLang="en-US" sz="3200" dirty="0"/>
              <a:t>Class A (10/8), Class B (172.16/12), and Class C (192.168/16)</a:t>
            </a:r>
          </a:p>
          <a:p>
            <a:r>
              <a:rPr lang="en-US" altLang="en-US" sz="3800" dirty="0"/>
              <a:t>These can’t exist (be forwarded to) on the </a:t>
            </a:r>
            <a:r>
              <a:rPr lang="en-US" altLang="en-US" sz="3800"/>
              <a:t>“public” </a:t>
            </a:r>
            <a:r>
              <a:rPr lang="en-US" altLang="en-US" sz="3800" dirty="0"/>
              <a:t>internet</a:t>
            </a:r>
          </a:p>
          <a:p>
            <a:r>
              <a:rPr lang="en-US" altLang="en-US" sz="3800" dirty="0"/>
              <a:t>They are nevertheless used for almost every internet client through the magic of Network Address Translation</a:t>
            </a:r>
          </a:p>
        </p:txBody>
      </p:sp>
      <p:sp>
        <p:nvSpPr>
          <p:cNvPr id="2" name="TextBox 1">
            <a:extLst>
              <a:ext uri="{FF2B5EF4-FFF2-40B4-BE49-F238E27FC236}">
                <a16:creationId xmlns:a16="http://schemas.microsoft.com/office/drawing/2014/main" id="{E4D631D8-368F-68E0-AED9-F6FE37E823E7}"/>
              </a:ext>
            </a:extLst>
          </p:cNvPr>
          <p:cNvSpPr txBox="1"/>
          <p:nvPr/>
        </p:nvSpPr>
        <p:spPr>
          <a:xfrm>
            <a:off x="3106882" y="9558994"/>
            <a:ext cx="13923818" cy="523220"/>
          </a:xfrm>
          <a:prstGeom prst="rect">
            <a:avLst/>
          </a:prstGeom>
          <a:noFill/>
        </p:spPr>
        <p:txBody>
          <a:bodyPr wrap="square" rtlCol="0">
            <a:spAutoFit/>
          </a:bodyPr>
          <a:lstStyle/>
          <a:p>
            <a:r>
              <a:rPr lang="en-US" sz="2800" dirty="0"/>
              <a:t>* meaning “belonging to a single non-provider entity,” not “safe from prying eyes.”</a:t>
            </a:r>
          </a:p>
        </p:txBody>
      </p:sp>
      <p:sp>
        <p:nvSpPr>
          <p:cNvPr id="6" name="Cloud 5">
            <a:extLst>
              <a:ext uri="{FF2B5EF4-FFF2-40B4-BE49-F238E27FC236}">
                <a16:creationId xmlns:a16="http://schemas.microsoft.com/office/drawing/2014/main" id="{02D992E0-A969-C840-9CBA-611FBB7F7E56}"/>
              </a:ext>
            </a:extLst>
          </p:cNvPr>
          <p:cNvSpPr/>
          <p:nvPr/>
        </p:nvSpPr>
        <p:spPr bwMode="auto">
          <a:xfrm>
            <a:off x="12632274" y="5345440"/>
            <a:ext cx="5340927" cy="3477742"/>
          </a:xfrm>
          <a:prstGeom prst="cloud">
            <a:avLst/>
          </a:prstGeom>
          <a:solidFill>
            <a:schemeClr val="accent1">
              <a:lumMod val="20000"/>
              <a:lumOff val="80000"/>
            </a:schemeClr>
          </a:solidFill>
          <a:ln w="28575" cap="flat" cmpd="sng" algn="ctr">
            <a:solidFill>
              <a:schemeClr val="accent1"/>
            </a:solidFill>
            <a:prstDash val="solid"/>
            <a:round/>
            <a:headEnd type="none" w="med" len="med"/>
            <a:tailEnd type="none" w="med" len="med"/>
          </a:ln>
          <a:effectLst/>
        </p:spPr>
        <p:txBody>
          <a:bodyPr vert="horz" wrap="none" lIns="137160" tIns="68580" rIns="137160" bIns="68580" numCol="1" rtlCol="0" anchor="ctr" anchorCtr="0" compatLnSpc="1">
            <a:prstTxWarp prst="textNoShape">
              <a:avLst/>
            </a:prstTxWarp>
            <a:noAutofit/>
          </a:bodyPr>
          <a:lstStyle/>
          <a:p>
            <a:pPr algn="ctr" defTabSz="1540670" fontAlgn="base">
              <a:lnSpc>
                <a:spcPct val="85000"/>
              </a:lnSpc>
              <a:spcBef>
                <a:spcPct val="0"/>
              </a:spcBef>
              <a:spcAft>
                <a:spcPct val="0"/>
              </a:spcAft>
            </a:pPr>
            <a:r>
              <a:rPr lang="en-US" sz="3300" dirty="0">
                <a:solidFill>
                  <a:schemeClr val="accent2"/>
                </a:solidFill>
                <a:latin typeface="Arial Narrow" pitchFamily="34" charset="0"/>
              </a:rPr>
              <a:t>Internet</a:t>
            </a:r>
          </a:p>
        </p:txBody>
      </p:sp>
      <p:grpSp>
        <p:nvGrpSpPr>
          <p:cNvPr id="7" name="Group 6">
            <a:extLst>
              <a:ext uri="{FF2B5EF4-FFF2-40B4-BE49-F238E27FC236}">
                <a16:creationId xmlns:a16="http://schemas.microsoft.com/office/drawing/2014/main" id="{FD1ABE50-BDCF-01D1-7AD2-18FA5EAF2D3C}"/>
              </a:ext>
            </a:extLst>
          </p:cNvPr>
          <p:cNvGrpSpPr/>
          <p:nvPr/>
        </p:nvGrpSpPr>
        <p:grpSpPr>
          <a:xfrm>
            <a:off x="10524563" y="5884656"/>
            <a:ext cx="3157436" cy="2458446"/>
            <a:chOff x="196612" y="6888144"/>
            <a:chExt cx="2057400" cy="1485900"/>
          </a:xfrm>
        </p:grpSpPr>
        <p:sp>
          <p:nvSpPr>
            <p:cNvPr id="8" name="Cloud 7">
              <a:extLst>
                <a:ext uri="{FF2B5EF4-FFF2-40B4-BE49-F238E27FC236}">
                  <a16:creationId xmlns:a16="http://schemas.microsoft.com/office/drawing/2014/main" id="{D2D8D4FE-4F13-87A3-AE48-5B17D6F5BCF7}"/>
                </a:ext>
              </a:extLst>
            </p:cNvPr>
            <p:cNvSpPr/>
            <p:nvPr/>
          </p:nvSpPr>
          <p:spPr bwMode="auto">
            <a:xfrm>
              <a:off x="196612" y="6888144"/>
              <a:ext cx="2057400" cy="1485900"/>
            </a:xfrm>
            <a:prstGeom prst="cloud">
              <a:avLst/>
            </a:prstGeom>
            <a:solidFill>
              <a:schemeClr val="accent2">
                <a:lumMod val="60000"/>
                <a:lumOff val="40000"/>
              </a:schemeClr>
            </a:solidFill>
            <a:ln w="28575" cap="flat" cmpd="sng" algn="ctr">
              <a:solidFill>
                <a:schemeClr val="accent1">
                  <a:lumMod val="60000"/>
                  <a:lumOff val="40000"/>
                </a:schemeClr>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300" b="1">
                <a:solidFill>
                  <a:schemeClr val="bg1"/>
                </a:solidFill>
                <a:latin typeface="Arial Narrow" pitchFamily="34" charset="0"/>
              </a:endParaRPr>
            </a:p>
          </p:txBody>
        </p:sp>
        <p:sp>
          <p:nvSpPr>
            <p:cNvPr id="9" name="Text Box 13">
              <a:extLst>
                <a:ext uri="{FF2B5EF4-FFF2-40B4-BE49-F238E27FC236}">
                  <a16:creationId xmlns:a16="http://schemas.microsoft.com/office/drawing/2014/main" id="{16500C84-D0C3-E94E-B9A5-5940C33EF535}"/>
                </a:ext>
              </a:extLst>
            </p:cNvPr>
            <p:cNvSpPr txBox="1">
              <a:spLocks noChangeArrowheads="1"/>
            </p:cNvSpPr>
            <p:nvPr/>
          </p:nvSpPr>
          <p:spPr bwMode="auto">
            <a:xfrm>
              <a:off x="598600" y="7371328"/>
              <a:ext cx="1381273" cy="558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700" b="1" dirty="0">
                  <a:solidFill>
                    <a:schemeClr val="bg1"/>
                  </a:solidFill>
                  <a:latin typeface="+mj-lt"/>
                </a:rPr>
                <a:t>Bank’s ISP</a:t>
              </a:r>
            </a:p>
            <a:p>
              <a:r>
                <a:rPr lang="en-US" altLang="en-US" sz="2700" dirty="0">
                  <a:solidFill>
                    <a:schemeClr val="bg1"/>
                  </a:solidFill>
                  <a:latin typeface="+mj-lt"/>
                </a:rPr>
                <a:t>123.231.0.0/16</a:t>
              </a:r>
            </a:p>
          </p:txBody>
        </p:sp>
      </p:grpSp>
      <p:grpSp>
        <p:nvGrpSpPr>
          <p:cNvPr id="10" name="Group 9">
            <a:extLst>
              <a:ext uri="{FF2B5EF4-FFF2-40B4-BE49-F238E27FC236}">
                <a16:creationId xmlns:a16="http://schemas.microsoft.com/office/drawing/2014/main" id="{FFA0D2FD-4251-DDE6-DAFE-DB8EC2C26445}"/>
              </a:ext>
            </a:extLst>
          </p:cNvPr>
          <p:cNvGrpSpPr/>
          <p:nvPr/>
        </p:nvGrpSpPr>
        <p:grpSpPr>
          <a:xfrm>
            <a:off x="1421178" y="6045912"/>
            <a:ext cx="4953495" cy="3215653"/>
            <a:chOff x="196612" y="6888144"/>
            <a:chExt cx="2057400" cy="1485900"/>
          </a:xfrm>
        </p:grpSpPr>
        <p:sp>
          <p:nvSpPr>
            <p:cNvPr id="11" name="Cloud 10">
              <a:extLst>
                <a:ext uri="{FF2B5EF4-FFF2-40B4-BE49-F238E27FC236}">
                  <a16:creationId xmlns:a16="http://schemas.microsoft.com/office/drawing/2014/main" id="{4B23B995-16B9-9185-EFC3-FFB7B6DC59F3}"/>
                </a:ext>
              </a:extLst>
            </p:cNvPr>
            <p:cNvSpPr/>
            <p:nvPr/>
          </p:nvSpPr>
          <p:spPr bwMode="auto">
            <a:xfrm>
              <a:off x="196612" y="6888144"/>
              <a:ext cx="2057400" cy="1485900"/>
            </a:xfrm>
            <a:prstGeom prst="cloud">
              <a:avLst/>
            </a:prstGeom>
            <a:solidFill>
              <a:srgbClr val="92D050"/>
            </a:solidFill>
            <a:ln w="28575" cap="flat" cmpd="sng" algn="ctr">
              <a:solidFill>
                <a:srgbClr val="92D050"/>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300" b="1" dirty="0">
                <a:solidFill>
                  <a:schemeClr val="bg1"/>
                </a:solidFill>
                <a:latin typeface="Arial Narrow" pitchFamily="34" charset="0"/>
              </a:endParaRPr>
            </a:p>
          </p:txBody>
        </p:sp>
        <p:sp>
          <p:nvSpPr>
            <p:cNvPr id="12" name="Text Box 13">
              <a:extLst>
                <a:ext uri="{FF2B5EF4-FFF2-40B4-BE49-F238E27FC236}">
                  <a16:creationId xmlns:a16="http://schemas.microsoft.com/office/drawing/2014/main" id="{51F5B46B-8DFF-B159-8667-65405C3A8A4C}"/>
                </a:ext>
              </a:extLst>
            </p:cNvPr>
            <p:cNvSpPr txBox="1">
              <a:spLocks noChangeArrowheads="1"/>
            </p:cNvSpPr>
            <p:nvPr/>
          </p:nvSpPr>
          <p:spPr bwMode="auto">
            <a:xfrm>
              <a:off x="627807" y="7783208"/>
              <a:ext cx="999493" cy="24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dirty="0">
                  <a:latin typeface="+mj-lt"/>
                </a:rPr>
                <a:t>192.168.1.1/24</a:t>
              </a:r>
            </a:p>
          </p:txBody>
        </p:sp>
      </p:grpSp>
      <p:pic>
        <p:nvPicPr>
          <p:cNvPr id="5" name="Picture 4">
            <a:extLst>
              <a:ext uri="{FF2B5EF4-FFF2-40B4-BE49-F238E27FC236}">
                <a16:creationId xmlns:a16="http://schemas.microsoft.com/office/drawing/2014/main" id="{B8C668B3-43D9-8525-DE05-677CBCFAC2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28541" y="6003645"/>
            <a:ext cx="2913455" cy="2185092"/>
          </a:xfrm>
          <a:prstGeom prst="rect">
            <a:avLst/>
          </a:prstGeom>
        </p:spPr>
      </p:pic>
      <p:pic>
        <p:nvPicPr>
          <p:cNvPr id="13" name="Picture 12">
            <a:extLst>
              <a:ext uri="{FF2B5EF4-FFF2-40B4-BE49-F238E27FC236}">
                <a16:creationId xmlns:a16="http://schemas.microsoft.com/office/drawing/2014/main" id="{B0B86F57-1E3E-87E1-F017-ED18A1A4B0F1}"/>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853942" y="7475463"/>
            <a:ext cx="1049724" cy="713274"/>
          </a:xfrm>
          <a:prstGeom prst="rect">
            <a:avLst/>
          </a:prstGeom>
        </p:spPr>
      </p:pic>
      <p:pic>
        <p:nvPicPr>
          <p:cNvPr id="14" name="Picture 13">
            <a:extLst>
              <a:ext uri="{FF2B5EF4-FFF2-40B4-BE49-F238E27FC236}">
                <a16:creationId xmlns:a16="http://schemas.microsoft.com/office/drawing/2014/main" id="{21B65E55-C26E-642E-BBE3-34148372FD7B}"/>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878716" y="7060588"/>
            <a:ext cx="1049724" cy="713274"/>
          </a:xfrm>
          <a:prstGeom prst="rect">
            <a:avLst/>
          </a:prstGeom>
        </p:spPr>
      </p:pic>
      <p:cxnSp>
        <p:nvCxnSpPr>
          <p:cNvPr id="4" name="Straight Connector 3">
            <a:extLst>
              <a:ext uri="{FF2B5EF4-FFF2-40B4-BE49-F238E27FC236}">
                <a16:creationId xmlns:a16="http://schemas.microsoft.com/office/drawing/2014/main" id="{ACCC0887-F4EA-C160-9F4A-17DF71D03E0B}"/>
              </a:ext>
            </a:extLst>
          </p:cNvPr>
          <p:cNvCxnSpPr>
            <a:cxnSpLocks/>
            <a:endCxn id="14" idx="1"/>
          </p:cNvCxnSpPr>
          <p:nvPr/>
        </p:nvCxnSpPr>
        <p:spPr>
          <a:xfrm flipV="1">
            <a:off x="6903666" y="7417225"/>
            <a:ext cx="2975050" cy="23651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D391810-0AFC-4875-8B07-83E8FB29B875}"/>
              </a:ext>
            </a:extLst>
          </p:cNvPr>
          <p:cNvSpPr txBox="1"/>
          <p:nvPr/>
        </p:nvSpPr>
        <p:spPr>
          <a:xfrm>
            <a:off x="6633615" y="6622645"/>
            <a:ext cx="2107711" cy="461665"/>
          </a:xfrm>
          <a:prstGeom prst="rect">
            <a:avLst/>
          </a:prstGeom>
          <a:noFill/>
        </p:spPr>
        <p:txBody>
          <a:bodyPr wrap="square" rtlCol="0">
            <a:spAutoFit/>
          </a:bodyPr>
          <a:lstStyle/>
          <a:p>
            <a:r>
              <a:rPr lang="en-US" sz="2400" dirty="0"/>
              <a:t>123.231.22.11</a:t>
            </a:r>
          </a:p>
        </p:txBody>
      </p:sp>
      <p:sp>
        <p:nvSpPr>
          <p:cNvPr id="21" name="TextBox 20">
            <a:extLst>
              <a:ext uri="{FF2B5EF4-FFF2-40B4-BE49-F238E27FC236}">
                <a16:creationId xmlns:a16="http://schemas.microsoft.com/office/drawing/2014/main" id="{2417D7FD-2882-102C-F9DA-7B0D287D14EA}"/>
              </a:ext>
            </a:extLst>
          </p:cNvPr>
          <p:cNvSpPr txBox="1"/>
          <p:nvPr/>
        </p:nvSpPr>
        <p:spPr>
          <a:xfrm>
            <a:off x="6077411" y="8178835"/>
            <a:ext cx="943110" cy="461665"/>
          </a:xfrm>
          <a:prstGeom prst="rect">
            <a:avLst/>
          </a:prstGeom>
          <a:noFill/>
        </p:spPr>
        <p:txBody>
          <a:bodyPr wrap="square" rtlCol="0">
            <a:spAutoFit/>
          </a:bodyPr>
          <a:lstStyle/>
          <a:p>
            <a:r>
              <a:rPr lang="en-US" sz="2400" b="1" dirty="0"/>
              <a:t>NAT</a:t>
            </a:r>
          </a:p>
        </p:txBody>
      </p:sp>
      <p:cxnSp>
        <p:nvCxnSpPr>
          <p:cNvPr id="23" name="Straight Connector 22">
            <a:extLst>
              <a:ext uri="{FF2B5EF4-FFF2-40B4-BE49-F238E27FC236}">
                <a16:creationId xmlns:a16="http://schemas.microsoft.com/office/drawing/2014/main" id="{DB9E2B29-0880-289D-03EC-8ECC7D411580}"/>
              </a:ext>
            </a:extLst>
          </p:cNvPr>
          <p:cNvCxnSpPr>
            <a:cxnSpLocks/>
          </p:cNvCxnSpPr>
          <p:nvPr/>
        </p:nvCxnSpPr>
        <p:spPr>
          <a:xfrm flipV="1">
            <a:off x="4945576" y="7982930"/>
            <a:ext cx="1130086" cy="23250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2" name="Right Arrow 21">
            <a:extLst>
              <a:ext uri="{FF2B5EF4-FFF2-40B4-BE49-F238E27FC236}">
                <a16:creationId xmlns:a16="http://schemas.microsoft.com/office/drawing/2014/main" id="{ED46FCF8-6F1A-8A41-893E-D825A2AF7E97}"/>
              </a:ext>
            </a:extLst>
          </p:cNvPr>
          <p:cNvSpPr/>
          <p:nvPr/>
        </p:nvSpPr>
        <p:spPr>
          <a:xfrm rot="7781690">
            <a:off x="6820110" y="7249678"/>
            <a:ext cx="587828" cy="194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71769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628900" y="2164558"/>
            <a:ext cx="3057525" cy="1714500"/>
            <a:chOff x="144" y="720"/>
            <a:chExt cx="1284" cy="720"/>
          </a:xfrm>
        </p:grpSpPr>
        <p:sp>
          <p:nvSpPr>
            <p:cNvPr id="1357827" name="Line 3"/>
            <p:cNvSpPr>
              <a:spLocks noChangeShapeType="1"/>
            </p:cNvSpPr>
            <p:nvPr/>
          </p:nvSpPr>
          <p:spPr bwMode="auto">
            <a:xfrm>
              <a:off x="1140" y="1164"/>
              <a:ext cx="288" cy="240"/>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28" name="Cloud"/>
            <p:cNvSpPr>
              <a:spLocks noChangeAspect="1" noEditPoints="1" noChangeArrowheads="1"/>
            </p:cNvSpPr>
            <p:nvPr/>
          </p:nvSpPr>
          <p:spPr bwMode="auto">
            <a:xfrm>
              <a:off x="144" y="720"/>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CCCCFF">
                    <a:gamma/>
                    <a:tint val="0"/>
                    <a:invGamma/>
                  </a:srgbClr>
                </a:gs>
                <a:gs pos="100000">
                  <a:srgbClr val="CCCCFF"/>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29" name="Text Box 5"/>
            <p:cNvSpPr txBox="1">
              <a:spLocks noChangeArrowheads="1"/>
            </p:cNvSpPr>
            <p:nvPr/>
          </p:nvSpPr>
          <p:spPr bwMode="auto">
            <a:xfrm>
              <a:off x="352" y="864"/>
              <a:ext cx="748" cy="401"/>
            </a:xfrm>
            <a:prstGeom prst="rect">
              <a:avLst/>
            </a:prstGeom>
            <a:noFill/>
            <a:ln w="28575" algn="ctr">
              <a:noFill/>
              <a:miter lim="800000"/>
              <a:headEnd/>
              <a:tailEnd/>
            </a:ln>
            <a:effectLst/>
          </p:spPr>
          <p:txBody>
            <a:bodyPr wrap="none">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rPr>
                <a:t>Service</a:t>
              </a:r>
            </a:p>
            <a:p>
              <a:pPr algn="ctr" defTabSz="1540670" fontAlgn="base">
                <a:lnSpc>
                  <a:spcPct val="85000"/>
                </a:lnSpc>
                <a:spcBef>
                  <a:spcPct val="0"/>
                </a:spcBef>
                <a:spcAft>
                  <a:spcPct val="0"/>
                </a:spcAft>
              </a:pPr>
              <a:r>
                <a:rPr lang="en-US" sz="3300" b="1">
                  <a:solidFill>
                    <a:srgbClr val="000000"/>
                  </a:solidFill>
                  <a:latin typeface="Arial Narrow" pitchFamily="34" charset="0"/>
                </a:rPr>
                <a:t>Providers</a:t>
              </a:r>
            </a:p>
          </p:txBody>
        </p:sp>
      </p:grpSp>
      <p:grpSp>
        <p:nvGrpSpPr>
          <p:cNvPr id="3" name="Group 6"/>
          <p:cNvGrpSpPr>
            <a:grpSpLocks/>
          </p:cNvGrpSpPr>
          <p:nvPr/>
        </p:nvGrpSpPr>
        <p:grpSpPr bwMode="auto">
          <a:xfrm>
            <a:off x="12915900" y="2171700"/>
            <a:ext cx="2743200" cy="2171700"/>
            <a:chOff x="4368" y="624"/>
            <a:chExt cx="1248" cy="900"/>
          </a:xfrm>
        </p:grpSpPr>
        <p:sp>
          <p:nvSpPr>
            <p:cNvPr id="1357831" name="Line 7"/>
            <p:cNvSpPr>
              <a:spLocks noChangeShapeType="1"/>
            </p:cNvSpPr>
            <p:nvPr/>
          </p:nvSpPr>
          <p:spPr bwMode="auto">
            <a:xfrm flipV="1">
              <a:off x="4380" y="1236"/>
              <a:ext cx="336" cy="288"/>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32" name="Cloud"/>
            <p:cNvSpPr>
              <a:spLocks noChangeAspect="1" noEditPoints="1" noChangeArrowheads="1"/>
            </p:cNvSpPr>
            <p:nvPr/>
          </p:nvSpPr>
          <p:spPr bwMode="auto">
            <a:xfrm>
              <a:off x="4368" y="624"/>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CCCCFF">
                    <a:gamma/>
                    <a:tint val="0"/>
                    <a:invGamma/>
                  </a:srgbClr>
                </a:gs>
                <a:gs pos="100000">
                  <a:srgbClr val="CCCCFF"/>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33" name="Text Box 9"/>
            <p:cNvSpPr txBox="1">
              <a:spLocks noChangeArrowheads="1"/>
            </p:cNvSpPr>
            <p:nvPr/>
          </p:nvSpPr>
          <p:spPr bwMode="auto">
            <a:xfrm>
              <a:off x="4545" y="768"/>
              <a:ext cx="810" cy="396"/>
            </a:xfrm>
            <a:prstGeom prst="rect">
              <a:avLst/>
            </a:prstGeom>
            <a:noFill/>
            <a:ln w="28575" algn="ctr">
              <a:noFill/>
              <a:miter lim="800000"/>
              <a:headEnd/>
              <a:tailEnd/>
            </a:ln>
            <a:effectLst/>
          </p:spPr>
          <p:txBody>
            <a:bodyPr wrap="none">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rPr>
                <a:t>Service</a:t>
              </a:r>
            </a:p>
            <a:p>
              <a:pPr algn="ctr" defTabSz="1540670" fontAlgn="base">
                <a:lnSpc>
                  <a:spcPct val="85000"/>
                </a:lnSpc>
                <a:spcBef>
                  <a:spcPct val="0"/>
                </a:spcBef>
                <a:spcAft>
                  <a:spcPct val="0"/>
                </a:spcAft>
              </a:pPr>
              <a:r>
                <a:rPr lang="en-US" sz="3300" b="1">
                  <a:solidFill>
                    <a:srgbClr val="000000"/>
                  </a:solidFill>
                  <a:latin typeface="Arial Narrow" pitchFamily="34" charset="0"/>
                </a:rPr>
                <a:t>Providers</a:t>
              </a:r>
            </a:p>
          </p:txBody>
        </p:sp>
      </p:grpSp>
      <p:grpSp>
        <p:nvGrpSpPr>
          <p:cNvPr id="4" name="Group 10"/>
          <p:cNvGrpSpPr>
            <a:grpSpLocks/>
          </p:cNvGrpSpPr>
          <p:nvPr/>
        </p:nvGrpSpPr>
        <p:grpSpPr bwMode="auto">
          <a:xfrm>
            <a:off x="12687300" y="5286376"/>
            <a:ext cx="2667000" cy="1195388"/>
            <a:chOff x="4368" y="2031"/>
            <a:chExt cx="1120" cy="502"/>
          </a:xfrm>
        </p:grpSpPr>
        <p:sp>
          <p:nvSpPr>
            <p:cNvPr id="1357835" name="Line 11"/>
            <p:cNvSpPr>
              <a:spLocks noChangeShapeType="1"/>
            </p:cNvSpPr>
            <p:nvPr/>
          </p:nvSpPr>
          <p:spPr bwMode="auto">
            <a:xfrm>
              <a:off x="4368" y="2064"/>
              <a:ext cx="624" cy="192"/>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36" name="Picture 12" descr="2-Floor Office Buildi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898" y="2031"/>
              <a:ext cx="590" cy="502"/>
            </a:xfrm>
            <a:prstGeom prst="rect">
              <a:avLst/>
            </a:prstGeom>
            <a:noFill/>
          </p:spPr>
        </p:pic>
      </p:grpSp>
      <p:grpSp>
        <p:nvGrpSpPr>
          <p:cNvPr id="5" name="Group 13"/>
          <p:cNvGrpSpPr>
            <a:grpSpLocks/>
          </p:cNvGrpSpPr>
          <p:nvPr/>
        </p:nvGrpSpPr>
        <p:grpSpPr bwMode="auto">
          <a:xfrm>
            <a:off x="2743200" y="4221957"/>
            <a:ext cx="2057400" cy="914400"/>
            <a:chOff x="192" y="1584"/>
            <a:chExt cx="864" cy="384"/>
          </a:xfrm>
        </p:grpSpPr>
        <p:sp>
          <p:nvSpPr>
            <p:cNvPr id="1357838" name="Line 14"/>
            <p:cNvSpPr>
              <a:spLocks noChangeShapeType="1"/>
            </p:cNvSpPr>
            <p:nvPr/>
          </p:nvSpPr>
          <p:spPr bwMode="auto">
            <a:xfrm>
              <a:off x="720" y="1824"/>
              <a:ext cx="336" cy="144"/>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39" name="Picture 15" descr="Basic House"/>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92" y="1584"/>
              <a:ext cx="664" cy="376"/>
            </a:xfrm>
            <a:prstGeom prst="rect">
              <a:avLst/>
            </a:prstGeom>
            <a:noFill/>
          </p:spPr>
        </p:pic>
      </p:grpSp>
      <p:grpSp>
        <p:nvGrpSpPr>
          <p:cNvPr id="6" name="Group 16"/>
          <p:cNvGrpSpPr>
            <a:grpSpLocks/>
          </p:cNvGrpSpPr>
          <p:nvPr/>
        </p:nvGrpSpPr>
        <p:grpSpPr bwMode="auto">
          <a:xfrm>
            <a:off x="2743200" y="6050758"/>
            <a:ext cx="2743200" cy="3043238"/>
            <a:chOff x="192" y="2352"/>
            <a:chExt cx="1152" cy="1278"/>
          </a:xfrm>
        </p:grpSpPr>
        <p:sp>
          <p:nvSpPr>
            <p:cNvPr id="1357841" name="Line 17"/>
            <p:cNvSpPr>
              <a:spLocks noChangeShapeType="1"/>
            </p:cNvSpPr>
            <p:nvPr/>
          </p:nvSpPr>
          <p:spPr bwMode="auto">
            <a:xfrm flipV="1">
              <a:off x="864" y="2640"/>
              <a:ext cx="480" cy="480"/>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42" name="Picture 18" descr="Large Tall Building"/>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92" y="2352"/>
              <a:ext cx="729" cy="1278"/>
            </a:xfrm>
            <a:prstGeom prst="rect">
              <a:avLst/>
            </a:prstGeom>
            <a:noFill/>
          </p:spPr>
        </p:pic>
      </p:grpSp>
      <p:grpSp>
        <p:nvGrpSpPr>
          <p:cNvPr id="7" name="Group 19"/>
          <p:cNvGrpSpPr>
            <a:grpSpLocks/>
          </p:cNvGrpSpPr>
          <p:nvPr/>
        </p:nvGrpSpPr>
        <p:grpSpPr bwMode="auto">
          <a:xfrm>
            <a:off x="9944100" y="7079458"/>
            <a:ext cx="2085975" cy="2240756"/>
            <a:chOff x="3216" y="2784"/>
            <a:chExt cx="876" cy="941"/>
          </a:xfrm>
        </p:grpSpPr>
        <p:sp>
          <p:nvSpPr>
            <p:cNvPr id="1357844" name="Line 20"/>
            <p:cNvSpPr>
              <a:spLocks noChangeShapeType="1"/>
            </p:cNvSpPr>
            <p:nvPr/>
          </p:nvSpPr>
          <p:spPr bwMode="auto">
            <a:xfrm>
              <a:off x="3456" y="2784"/>
              <a:ext cx="96" cy="624"/>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45" name="Picture 21" descr="House 3-D"/>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216" y="3216"/>
              <a:ext cx="876" cy="509"/>
            </a:xfrm>
            <a:prstGeom prst="rect">
              <a:avLst/>
            </a:prstGeom>
            <a:noFill/>
          </p:spPr>
        </p:pic>
      </p:grpSp>
      <p:grpSp>
        <p:nvGrpSpPr>
          <p:cNvPr id="8" name="Group 22"/>
          <p:cNvGrpSpPr>
            <a:grpSpLocks/>
          </p:cNvGrpSpPr>
          <p:nvPr/>
        </p:nvGrpSpPr>
        <p:grpSpPr bwMode="auto">
          <a:xfrm>
            <a:off x="5486401" y="7308057"/>
            <a:ext cx="3157538" cy="2743200"/>
            <a:chOff x="1344" y="2880"/>
            <a:chExt cx="1326" cy="1152"/>
          </a:xfrm>
        </p:grpSpPr>
        <p:sp>
          <p:nvSpPr>
            <p:cNvPr id="1357847" name="Line 23"/>
            <p:cNvSpPr>
              <a:spLocks noChangeShapeType="1"/>
            </p:cNvSpPr>
            <p:nvPr/>
          </p:nvSpPr>
          <p:spPr bwMode="auto">
            <a:xfrm>
              <a:off x="1968" y="2880"/>
              <a:ext cx="48" cy="768"/>
            </a:xfrm>
            <a:prstGeom prst="line">
              <a:avLst/>
            </a:prstGeom>
            <a:noFill/>
            <a:ln w="28575">
              <a:solidFill>
                <a:schemeClr val="tx1"/>
              </a:solidFill>
              <a:round/>
              <a:headEnd/>
              <a:tailEnd/>
            </a:ln>
            <a:effectLst/>
          </p:spPr>
          <p:txBody>
            <a:bodyPr>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48" name="Picture 24" descr="Modern Office Building"/>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344" y="3456"/>
              <a:ext cx="1326" cy="576"/>
            </a:xfrm>
            <a:prstGeom prst="rect">
              <a:avLst/>
            </a:prstGeom>
            <a:noFill/>
          </p:spPr>
        </p:pic>
      </p:grpSp>
      <p:sp>
        <p:nvSpPr>
          <p:cNvPr id="1357849" name="Rectangle 25"/>
          <p:cNvSpPr>
            <a:spLocks noGrp="1" noChangeArrowheads="1"/>
          </p:cNvSpPr>
          <p:nvPr>
            <p:ph type="title"/>
          </p:nvPr>
        </p:nvSpPr>
        <p:spPr/>
        <p:txBody>
          <a:bodyPr>
            <a:normAutofit/>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The Internet: A Global, Public, Packet Network</a:t>
            </a:r>
          </a:p>
        </p:txBody>
      </p:sp>
      <p:sp>
        <p:nvSpPr>
          <p:cNvPr id="57" name="Slide Number Placeholder 56"/>
          <p:cNvSpPr>
            <a:spLocks noGrp="1"/>
          </p:cNvSpPr>
          <p:nvPr>
            <p:ph type="sldNum" sz="quarter" idx="12"/>
          </p:nvPr>
        </p:nvSpPr>
        <p:spPr>
          <a:prstGeom prst="rect">
            <a:avLst/>
          </a:prstGeom>
        </p:spPr>
        <p:txBody>
          <a:bodyPr/>
          <a:lstStyle/>
          <a:p>
            <a:fld id="{52B67DA5-9DD9-4BCA-8370-9CA784C1DE92}" type="slidenum">
              <a:rPr lang="en-US" smtClean="0"/>
              <a:pPr/>
              <a:t>36</a:t>
            </a:fld>
            <a:endParaRPr lang="en-US"/>
          </a:p>
        </p:txBody>
      </p:sp>
      <p:sp>
        <p:nvSpPr>
          <p:cNvPr id="1357850" name="Cloud"/>
          <p:cNvSpPr>
            <a:spLocks noChangeAspect="1" noEditPoints="1" noChangeArrowheads="1"/>
          </p:cNvSpPr>
          <p:nvPr/>
        </p:nvSpPr>
        <p:spPr bwMode="auto">
          <a:xfrm>
            <a:off x="4572000" y="2507458"/>
            <a:ext cx="8963025" cy="600551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CC66">
                  <a:gamma/>
                  <a:tint val="0"/>
                  <a:invGamma/>
                </a:srgbClr>
              </a:gs>
              <a:gs pos="100000">
                <a:srgbClr val="FFCC66"/>
              </a:gs>
            </a:gsLst>
            <a:path path="rect">
              <a:fillToRect l="50000" t="50000" r="50000" b="50000"/>
            </a:path>
          </a:gradFill>
          <a:ln w="9525">
            <a:solidFill>
              <a:srgbClr val="000000"/>
            </a:solidFill>
            <a:miter lim="800000"/>
            <a:headEnd/>
            <a:tailEnd/>
          </a:ln>
          <a:effectLst/>
        </p:spPr>
        <p:txBody>
          <a:bodyPr wrap="none" anchor="ctr" anchorCtr="1"/>
          <a:lstStyle/>
          <a:p>
            <a:pPr algn="ctr" eaLnBrk="0" fontAlgn="base" hangingPunct="0">
              <a:lnSpc>
                <a:spcPct val="85000"/>
              </a:lnSpc>
              <a:spcBef>
                <a:spcPct val="0"/>
              </a:spcBef>
              <a:spcAft>
                <a:spcPct val="0"/>
              </a:spcAft>
              <a:buClr>
                <a:srgbClr val="FFCC00"/>
              </a:buClr>
              <a:buSzPct val="75000"/>
              <a:buFont typeface="Wingdings" pitchFamily="2" charset="2"/>
              <a:buNone/>
            </a:pPr>
            <a:r>
              <a:rPr lang="en-US" sz="12000" b="1">
                <a:solidFill>
                  <a:srgbClr val="000000"/>
                </a:solidFill>
                <a:latin typeface="Arial Narrow" pitchFamily="34" charset="0"/>
              </a:rPr>
              <a:t>Internet</a:t>
            </a:r>
          </a:p>
        </p:txBody>
      </p:sp>
      <p:grpSp>
        <p:nvGrpSpPr>
          <p:cNvPr id="9" name="Group 27"/>
          <p:cNvGrpSpPr>
            <a:grpSpLocks/>
          </p:cNvGrpSpPr>
          <p:nvPr/>
        </p:nvGrpSpPr>
        <p:grpSpPr bwMode="auto">
          <a:xfrm>
            <a:off x="7650957" y="4702969"/>
            <a:ext cx="2971800" cy="1714500"/>
            <a:chOff x="2640" y="2016"/>
            <a:chExt cx="1248" cy="720"/>
          </a:xfrm>
        </p:grpSpPr>
        <p:sp>
          <p:nvSpPr>
            <p:cNvPr id="1357852"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53" name="Text Box 29"/>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0" name="Group 30"/>
          <p:cNvGrpSpPr>
            <a:grpSpLocks/>
          </p:cNvGrpSpPr>
          <p:nvPr/>
        </p:nvGrpSpPr>
        <p:grpSpPr bwMode="auto">
          <a:xfrm>
            <a:off x="7343775" y="6365082"/>
            <a:ext cx="2971800" cy="1714500"/>
            <a:chOff x="2640" y="2016"/>
            <a:chExt cx="1248" cy="720"/>
          </a:xfrm>
        </p:grpSpPr>
        <p:sp>
          <p:nvSpPr>
            <p:cNvPr id="1357855"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56" name="Text Box 32"/>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1" name="Group 33"/>
          <p:cNvGrpSpPr>
            <a:grpSpLocks/>
          </p:cNvGrpSpPr>
          <p:nvPr/>
        </p:nvGrpSpPr>
        <p:grpSpPr bwMode="auto">
          <a:xfrm>
            <a:off x="7360445" y="3050382"/>
            <a:ext cx="2971800" cy="1714500"/>
            <a:chOff x="2640" y="2016"/>
            <a:chExt cx="1248" cy="720"/>
          </a:xfrm>
        </p:grpSpPr>
        <p:sp>
          <p:nvSpPr>
            <p:cNvPr id="1357858"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59" name="Text Box 35"/>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2" name="Group 36"/>
          <p:cNvGrpSpPr>
            <a:grpSpLocks/>
          </p:cNvGrpSpPr>
          <p:nvPr/>
        </p:nvGrpSpPr>
        <p:grpSpPr bwMode="auto">
          <a:xfrm>
            <a:off x="5400675" y="3278982"/>
            <a:ext cx="2971800" cy="1714500"/>
            <a:chOff x="2640" y="2016"/>
            <a:chExt cx="1248" cy="720"/>
          </a:xfrm>
        </p:grpSpPr>
        <p:sp>
          <p:nvSpPr>
            <p:cNvPr id="1357861"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62" name="Text Box 38"/>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3" name="Group 39"/>
          <p:cNvGrpSpPr>
            <a:grpSpLocks/>
          </p:cNvGrpSpPr>
          <p:nvPr/>
        </p:nvGrpSpPr>
        <p:grpSpPr bwMode="auto">
          <a:xfrm>
            <a:off x="5179220" y="4526757"/>
            <a:ext cx="2971800" cy="1714500"/>
            <a:chOff x="2640" y="2016"/>
            <a:chExt cx="1248" cy="720"/>
          </a:xfrm>
        </p:grpSpPr>
        <p:sp>
          <p:nvSpPr>
            <p:cNvPr id="1357864"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65" name="Text Box 41"/>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4" name="Group 42"/>
          <p:cNvGrpSpPr>
            <a:grpSpLocks/>
          </p:cNvGrpSpPr>
          <p:nvPr/>
        </p:nvGrpSpPr>
        <p:grpSpPr bwMode="auto">
          <a:xfrm>
            <a:off x="9151145" y="2721769"/>
            <a:ext cx="2971800" cy="1714500"/>
            <a:chOff x="2640" y="2016"/>
            <a:chExt cx="1248" cy="720"/>
          </a:xfrm>
        </p:grpSpPr>
        <p:sp>
          <p:nvSpPr>
            <p:cNvPr id="1357867"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68" name="Text Box 44"/>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5" name="Group 45"/>
          <p:cNvGrpSpPr>
            <a:grpSpLocks/>
          </p:cNvGrpSpPr>
          <p:nvPr/>
        </p:nvGrpSpPr>
        <p:grpSpPr bwMode="auto">
          <a:xfrm>
            <a:off x="10096500" y="3700462"/>
            <a:ext cx="2971800" cy="1714500"/>
            <a:chOff x="2640" y="2016"/>
            <a:chExt cx="1248" cy="720"/>
          </a:xfrm>
        </p:grpSpPr>
        <p:sp>
          <p:nvSpPr>
            <p:cNvPr id="1357870"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71" name="Text Box 47"/>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6" name="Group 48"/>
          <p:cNvGrpSpPr>
            <a:grpSpLocks/>
          </p:cNvGrpSpPr>
          <p:nvPr/>
        </p:nvGrpSpPr>
        <p:grpSpPr bwMode="auto">
          <a:xfrm>
            <a:off x="10263188" y="4800600"/>
            <a:ext cx="2971800" cy="1714500"/>
            <a:chOff x="2640" y="2016"/>
            <a:chExt cx="1248" cy="720"/>
          </a:xfrm>
        </p:grpSpPr>
        <p:sp>
          <p:nvSpPr>
            <p:cNvPr id="1357873"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74" name="Text Box 50"/>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7" name="Group 51"/>
          <p:cNvGrpSpPr>
            <a:grpSpLocks/>
          </p:cNvGrpSpPr>
          <p:nvPr/>
        </p:nvGrpSpPr>
        <p:grpSpPr bwMode="auto">
          <a:xfrm>
            <a:off x="9401175" y="5934075"/>
            <a:ext cx="2971800" cy="1714500"/>
            <a:chOff x="2640" y="2016"/>
            <a:chExt cx="1248" cy="720"/>
          </a:xfrm>
        </p:grpSpPr>
        <p:sp>
          <p:nvSpPr>
            <p:cNvPr id="1357876"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77" name="Text Box 53"/>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8" name="Group 54"/>
          <p:cNvGrpSpPr>
            <a:grpSpLocks/>
          </p:cNvGrpSpPr>
          <p:nvPr/>
        </p:nvGrpSpPr>
        <p:grpSpPr bwMode="auto">
          <a:xfrm>
            <a:off x="5172075" y="5679282"/>
            <a:ext cx="2971800" cy="1714500"/>
            <a:chOff x="2640" y="2016"/>
            <a:chExt cx="1248" cy="720"/>
          </a:xfrm>
        </p:grpSpPr>
        <p:sp>
          <p:nvSpPr>
            <p:cNvPr id="1357879"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80" name="Text Box 56"/>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spTree>
    <p:custDataLst>
      <p:tags r:id="rId1"/>
    </p:custDataLst>
    <p:extLst>
      <p:ext uri="{BB962C8B-B14F-4D97-AF65-F5344CB8AC3E}">
        <p14:creationId xmlns:p14="http://schemas.microsoft.com/office/powerpoint/2010/main" val="22990795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10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childTnLst>
                                </p:cTn>
                              </p:par>
                            </p:childTnLst>
                          </p:cTn>
                        </p:par>
                        <p:par>
                          <p:cTn id="43" fill="hold">
                            <p:stCondLst>
                              <p:cond delay="2000"/>
                            </p:stCondLst>
                            <p:childTnLst>
                              <p:par>
                                <p:cTn id="44" presetID="10" presetClass="entr" presetSubtype="0" fill="hold"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1000"/>
                                        <p:tgtEl>
                                          <p:spTgt spid="15"/>
                                        </p:tgtEl>
                                      </p:cBhvr>
                                    </p:animEffect>
                                  </p:childTnLst>
                                </p:cTn>
                              </p:par>
                            </p:childTnLst>
                          </p:cTn>
                        </p:par>
                        <p:par>
                          <p:cTn id="47" fill="hold">
                            <p:stCondLst>
                              <p:cond delay="3000"/>
                            </p:stCondLst>
                            <p:childTnLst>
                              <p:par>
                                <p:cTn id="48" presetID="10" presetClass="entr" presetSubtype="0" fill="hold"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childTnLst>
                                </p:cTn>
                              </p:par>
                            </p:childTnLst>
                          </p:cTn>
                        </p:par>
                        <p:par>
                          <p:cTn id="51" fill="hold">
                            <p:stCondLst>
                              <p:cond delay="400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0"/>
                                        <p:tgtEl>
                                          <p:spTgt spid="14"/>
                                        </p:tgtEl>
                                      </p:cBhvr>
                                    </p:animEffect>
                                  </p:childTnLst>
                                </p:cTn>
                              </p:par>
                            </p:childTnLst>
                          </p:cTn>
                        </p:par>
                        <p:par>
                          <p:cTn id="55" fill="hold">
                            <p:stCondLst>
                              <p:cond delay="5000"/>
                            </p:stCondLst>
                            <p:childTnLst>
                              <p:par>
                                <p:cTn id="56" presetID="10" presetClass="entr" presetSubtype="0"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1000"/>
                                        <p:tgtEl>
                                          <p:spTgt spid="18"/>
                                        </p:tgtEl>
                                      </p:cBhvr>
                                    </p:animEffect>
                                  </p:childTnLst>
                                </p:cTn>
                              </p:par>
                            </p:childTnLst>
                          </p:cTn>
                        </p:par>
                        <p:par>
                          <p:cTn id="59" fill="hold">
                            <p:stCondLst>
                              <p:cond delay="600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childTnLst>
                                </p:cTn>
                              </p:par>
                            </p:childTnLst>
                          </p:cTn>
                        </p:par>
                        <p:par>
                          <p:cTn id="63" fill="hold">
                            <p:stCondLst>
                              <p:cond delay="7000"/>
                            </p:stCondLst>
                            <p:childTnLst>
                              <p:par>
                                <p:cTn id="64" presetID="10" presetClass="entr" presetSubtype="0" fill="hold" nodeType="after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1000"/>
                                        <p:tgtEl>
                                          <p:spTgt spid="11"/>
                                        </p:tgtEl>
                                      </p:cBhvr>
                                    </p:animEffect>
                                  </p:childTnLst>
                                </p:cTn>
                              </p:par>
                            </p:childTnLst>
                          </p:cTn>
                        </p:par>
                        <p:par>
                          <p:cTn id="67" fill="hold">
                            <p:stCondLst>
                              <p:cond delay="8000"/>
                            </p:stCondLst>
                            <p:childTnLst>
                              <p:par>
                                <p:cTn id="68" presetID="10" presetClass="entr" presetSubtype="0" fill="hold" nodeType="after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childTnLst>
                                </p:cTn>
                              </p:par>
                            </p:childTnLst>
                          </p:cTn>
                        </p:par>
                        <p:par>
                          <p:cTn id="71" fill="hold">
                            <p:stCondLst>
                              <p:cond delay="9000"/>
                            </p:stCondLst>
                            <p:childTnLst>
                              <p:par>
                                <p:cTn id="72" presetID="10" presetClass="entr" presetSubtype="0" fill="hold" nodeType="after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9FD72-E9BD-F414-169B-E0E7E38DE2FF}"/>
            </a:ext>
          </a:extLst>
        </p:cNvPr>
        <p:cNvGrpSpPr/>
        <p:nvPr/>
      </p:nvGrpSpPr>
      <p:grpSpPr>
        <a:xfrm>
          <a:off x="0" y="0"/>
          <a:ext cx="0" cy="0"/>
          <a:chOff x="0" y="0"/>
          <a:chExt cx="0" cy="0"/>
        </a:xfrm>
      </p:grpSpPr>
      <p:sp>
        <p:nvSpPr>
          <p:cNvPr id="3811330" name="Rectangle 2">
            <a:extLst>
              <a:ext uri="{FF2B5EF4-FFF2-40B4-BE49-F238E27FC236}">
                <a16:creationId xmlns:a16="http://schemas.microsoft.com/office/drawing/2014/main" id="{8771C5D0-285B-3D9A-4625-5FCEDB387324}"/>
              </a:ext>
            </a:extLst>
          </p:cNvPr>
          <p:cNvSpPr>
            <a:spLocks noGrp="1" noChangeArrowheads="1"/>
          </p:cNvSpPr>
          <p:nvPr>
            <p:ph type="title"/>
          </p:nvPr>
        </p:nvSpPr>
        <p:spPr/>
        <p:txBody>
          <a:bodyPr/>
          <a:lstStyle/>
          <a:p>
            <a:r>
              <a:rPr lang="en-US" altLang="en-US" dirty="0"/>
              <a:t>Encryption in Transit</a:t>
            </a:r>
            <a:endParaRPr lang="en-US" altLang="en-US" b="0" dirty="0"/>
          </a:p>
        </p:txBody>
      </p:sp>
      <p:sp>
        <p:nvSpPr>
          <p:cNvPr id="3811331" name="Rectangle 3">
            <a:extLst>
              <a:ext uri="{FF2B5EF4-FFF2-40B4-BE49-F238E27FC236}">
                <a16:creationId xmlns:a16="http://schemas.microsoft.com/office/drawing/2014/main" id="{CCAF5E17-C7F1-ACD4-EB97-4B31ED459ED2}"/>
              </a:ext>
            </a:extLst>
          </p:cNvPr>
          <p:cNvSpPr>
            <a:spLocks noGrp="1" noChangeArrowheads="1"/>
          </p:cNvSpPr>
          <p:nvPr>
            <p:ph type="body" idx="1"/>
          </p:nvPr>
        </p:nvSpPr>
        <p:spPr>
          <a:xfrm>
            <a:off x="1257300" y="2193130"/>
            <a:ext cx="15773400" cy="6627019"/>
          </a:xfrm>
        </p:spPr>
        <p:txBody>
          <a:bodyPr>
            <a:normAutofit/>
          </a:bodyPr>
          <a:lstStyle/>
          <a:p>
            <a:r>
              <a:rPr lang="en-US" altLang="en-US" sz="3450" dirty="0"/>
              <a:t>Remember that IP is connectionless and doesn’t guarantee delivery!</a:t>
            </a:r>
          </a:p>
          <a:p>
            <a:r>
              <a:rPr lang="en-US" altLang="en-US" sz="3450" dirty="0"/>
              <a:t>IP needs help to build the reliable internet banks demand</a:t>
            </a:r>
          </a:p>
          <a:p>
            <a:r>
              <a:rPr lang="en-US" altLang="en-US" sz="3450" dirty="0"/>
              <a:t>Most encryption happens using Transport Layer Security (TLS)</a:t>
            </a:r>
          </a:p>
          <a:p>
            <a:pPr lvl="1"/>
            <a:r>
              <a:rPr lang="en-US" altLang="en-US" sz="3200" dirty="0"/>
              <a:t>This used to be called the Secure Sockets Layer (SSL)</a:t>
            </a:r>
          </a:p>
          <a:p>
            <a:r>
              <a:rPr lang="en-US" altLang="en-US" sz="3800" dirty="0"/>
              <a:t>Remember CIA triad: Confidentiality, Integrity, Availability</a:t>
            </a:r>
          </a:p>
          <a:p>
            <a:pPr lvl="1"/>
            <a:r>
              <a:rPr lang="en-US" altLang="en-US" sz="3200" dirty="0"/>
              <a:t>TLS, TCP, and IP work together to fulfil the CIA triad</a:t>
            </a:r>
          </a:p>
          <a:p>
            <a:pPr lvl="1"/>
            <a:r>
              <a:rPr lang="en-US" sz="3200" dirty="0"/>
              <a:t>TCP answers "Did the data arrive?" </a:t>
            </a:r>
          </a:p>
          <a:p>
            <a:pPr lvl="1"/>
            <a:r>
              <a:rPr lang="en-US" sz="3200" dirty="0"/>
              <a:t>TLS answers "Can I trust </a:t>
            </a:r>
            <a:r>
              <a:rPr lang="en-US" sz="3200"/>
              <a:t>that data?”</a:t>
            </a:r>
            <a:endParaRPr lang="en-US" sz="3200" dirty="0"/>
          </a:p>
          <a:p>
            <a:pPr lvl="1"/>
            <a:r>
              <a:rPr lang="en-US" altLang="en-US" sz="3200" dirty="0"/>
              <a:t>QUIC is a new protocol that’s rapidly replacing the TCP/TLS combo</a:t>
            </a:r>
          </a:p>
        </p:txBody>
      </p:sp>
    </p:spTree>
    <p:custDataLst>
      <p:tags r:id="rId1"/>
    </p:custDataLst>
    <p:extLst>
      <p:ext uri="{BB962C8B-B14F-4D97-AF65-F5344CB8AC3E}">
        <p14:creationId xmlns:p14="http://schemas.microsoft.com/office/powerpoint/2010/main" val="41832466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itle 111">
            <a:extLst>
              <a:ext uri="{FF2B5EF4-FFF2-40B4-BE49-F238E27FC236}">
                <a16:creationId xmlns:a16="http://schemas.microsoft.com/office/drawing/2014/main" id="{20BB1BF6-81BB-4345-9A1C-83A73E6B7C63}"/>
              </a:ext>
            </a:extLst>
          </p:cNvPr>
          <p:cNvSpPr>
            <a:spLocks noGrp="1"/>
          </p:cNvSpPr>
          <p:nvPr>
            <p:ph type="title"/>
          </p:nvPr>
        </p:nvSpPr>
        <p:spPr>
          <a:xfrm>
            <a:off x="1257300" y="296745"/>
            <a:ext cx="15773400" cy="1988345"/>
          </a:xfrm>
        </p:spPr>
        <p:txBody>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Models and the TCP/IP Protocol Stack</a:t>
            </a:r>
          </a:p>
        </p:txBody>
      </p:sp>
      <p:sp>
        <p:nvSpPr>
          <p:cNvPr id="6" name="Content Placeholder 3">
            <a:extLst>
              <a:ext uri="{FF2B5EF4-FFF2-40B4-BE49-F238E27FC236}">
                <a16:creationId xmlns:a16="http://schemas.microsoft.com/office/drawing/2014/main" id="{69C384EE-BA91-608A-3006-CF8AF2CC3197}"/>
              </a:ext>
            </a:extLst>
          </p:cNvPr>
          <p:cNvSpPr txBox="1">
            <a:spLocks/>
          </p:cNvSpPr>
          <p:nvPr/>
        </p:nvSpPr>
        <p:spPr>
          <a:xfrm>
            <a:off x="1257300" y="8106507"/>
            <a:ext cx="15773400" cy="2244539"/>
          </a:xfrm>
          <a:prstGeom prst="rect">
            <a:avLst/>
          </a:prstGeom>
        </p:spPr>
        <p:txBody>
          <a:bodyPr>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dirty="0"/>
              <a:t>This is a summary view of a very detailed topic. It’s mostly correct but not even close to comprehensive. Quibbles could go on forever!</a:t>
            </a:r>
          </a:p>
          <a:p>
            <a:r>
              <a:rPr lang="en-US" dirty="0"/>
              <a:t>The framework is what’s important, we’ll give specific details later.</a:t>
            </a:r>
          </a:p>
        </p:txBody>
      </p:sp>
      <p:pic>
        <p:nvPicPr>
          <p:cNvPr id="7" name="Picture 6" descr="Table&#10;&#10;Description automatically generated">
            <a:extLst>
              <a:ext uri="{FF2B5EF4-FFF2-40B4-BE49-F238E27FC236}">
                <a16:creationId xmlns:a16="http://schemas.microsoft.com/office/drawing/2014/main" id="{A7E5C952-F656-125D-551A-CBF57900FFC5}"/>
              </a:ext>
            </a:extLst>
          </p:cNvPr>
          <p:cNvPicPr>
            <a:picLocks noChangeAspect="1"/>
          </p:cNvPicPr>
          <p:nvPr/>
        </p:nvPicPr>
        <p:blipFill>
          <a:blip r:embed="rId4"/>
          <a:stretch>
            <a:fillRect/>
          </a:stretch>
        </p:blipFill>
        <p:spPr>
          <a:xfrm>
            <a:off x="2022230" y="2026339"/>
            <a:ext cx="13353073" cy="5854011"/>
          </a:xfrm>
          <a:prstGeom prst="rect">
            <a:avLst/>
          </a:prstGeom>
        </p:spPr>
      </p:pic>
    </p:spTree>
    <p:custDataLst>
      <p:tags r:id="rId1"/>
    </p:custDataLst>
    <p:extLst>
      <p:ext uri="{BB962C8B-B14F-4D97-AF65-F5344CB8AC3E}">
        <p14:creationId xmlns:p14="http://schemas.microsoft.com/office/powerpoint/2010/main" val="1624387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DEFA-1E43-AC1E-F75F-30161492A3A8}"/>
            </a:ext>
          </a:extLst>
        </p:cNvPr>
        <p:cNvGrpSpPr/>
        <p:nvPr/>
      </p:nvGrpSpPr>
      <p:grpSpPr>
        <a:xfrm>
          <a:off x="0" y="0"/>
          <a:ext cx="0" cy="0"/>
          <a:chOff x="0" y="0"/>
          <a:chExt cx="0" cy="0"/>
        </a:xfrm>
      </p:grpSpPr>
      <p:pic>
        <p:nvPicPr>
          <p:cNvPr id="5" name="Picture 4" descr="A diagram of a network&#10;&#10;AI-generated content may be incorrect.">
            <a:extLst>
              <a:ext uri="{FF2B5EF4-FFF2-40B4-BE49-F238E27FC236}">
                <a16:creationId xmlns:a16="http://schemas.microsoft.com/office/drawing/2014/main" id="{EA57D907-54DC-CEDB-9963-B492F4E2D877}"/>
              </a:ext>
            </a:extLst>
          </p:cNvPr>
          <p:cNvPicPr>
            <a:picLocks noChangeAspect="1"/>
          </p:cNvPicPr>
          <p:nvPr/>
        </p:nvPicPr>
        <p:blipFill>
          <a:blip r:embed="rId2"/>
          <a:stretch>
            <a:fillRect/>
          </a:stretch>
        </p:blipFill>
        <p:spPr>
          <a:xfrm>
            <a:off x="5037596" y="2193131"/>
            <a:ext cx="10195468" cy="8036428"/>
          </a:xfrm>
          <a:prstGeom prst="rect">
            <a:avLst/>
          </a:prstGeom>
        </p:spPr>
      </p:pic>
      <p:sp>
        <p:nvSpPr>
          <p:cNvPr id="7" name="Title 6">
            <a:extLst>
              <a:ext uri="{FF2B5EF4-FFF2-40B4-BE49-F238E27FC236}">
                <a16:creationId xmlns:a16="http://schemas.microsoft.com/office/drawing/2014/main" id="{41402DBD-C187-5707-D087-0EC1F50191C1}"/>
              </a:ext>
            </a:extLst>
          </p:cNvPr>
          <p:cNvSpPr>
            <a:spLocks noGrp="1"/>
          </p:cNvSpPr>
          <p:nvPr>
            <p:ph type="title"/>
          </p:nvPr>
        </p:nvSpPr>
        <p:spPr/>
        <p:txBody>
          <a:bodyPr/>
          <a:lstStyle/>
          <a:p>
            <a:r>
              <a:rPr lang="en-US" dirty="0"/>
              <a:t>Where do Security Controls Live?</a:t>
            </a:r>
          </a:p>
        </p:txBody>
      </p:sp>
      <p:sp>
        <p:nvSpPr>
          <p:cNvPr id="3" name="Donut 2">
            <a:extLst>
              <a:ext uri="{FF2B5EF4-FFF2-40B4-BE49-F238E27FC236}">
                <a16:creationId xmlns:a16="http://schemas.microsoft.com/office/drawing/2014/main" id="{FB1D643A-760A-5830-021F-ED66E14E4C75}"/>
              </a:ext>
            </a:extLst>
          </p:cNvPr>
          <p:cNvSpPr/>
          <p:nvPr/>
        </p:nvSpPr>
        <p:spPr>
          <a:xfrm>
            <a:off x="9133840" y="4893734"/>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4" name="Donut 3">
            <a:extLst>
              <a:ext uri="{FF2B5EF4-FFF2-40B4-BE49-F238E27FC236}">
                <a16:creationId xmlns:a16="http://schemas.microsoft.com/office/drawing/2014/main" id="{331DA67E-029A-F458-317D-2A95B8F5E75E}"/>
              </a:ext>
            </a:extLst>
          </p:cNvPr>
          <p:cNvSpPr/>
          <p:nvPr/>
        </p:nvSpPr>
        <p:spPr>
          <a:xfrm>
            <a:off x="11074915" y="5928630"/>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6" name="Donut 5">
            <a:extLst>
              <a:ext uri="{FF2B5EF4-FFF2-40B4-BE49-F238E27FC236}">
                <a16:creationId xmlns:a16="http://schemas.microsoft.com/office/drawing/2014/main" id="{0D6A29CB-F096-3779-DDAF-E897F59DC621}"/>
              </a:ext>
            </a:extLst>
          </p:cNvPr>
          <p:cNvSpPr/>
          <p:nvPr/>
        </p:nvSpPr>
        <p:spPr>
          <a:xfrm>
            <a:off x="11074915" y="5539162"/>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8" name="Donut 7">
            <a:extLst>
              <a:ext uri="{FF2B5EF4-FFF2-40B4-BE49-F238E27FC236}">
                <a16:creationId xmlns:a16="http://schemas.microsoft.com/office/drawing/2014/main" id="{7A24BFAF-2C5B-27D8-8446-1640D250BFA2}"/>
              </a:ext>
            </a:extLst>
          </p:cNvPr>
          <p:cNvSpPr/>
          <p:nvPr/>
        </p:nvSpPr>
        <p:spPr>
          <a:xfrm>
            <a:off x="11074915" y="6329746"/>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9" name="Donut 8">
            <a:extLst>
              <a:ext uri="{FF2B5EF4-FFF2-40B4-BE49-F238E27FC236}">
                <a16:creationId xmlns:a16="http://schemas.microsoft.com/office/drawing/2014/main" id="{6DBBFC96-E6C4-8491-F07E-00A654FF9004}"/>
              </a:ext>
            </a:extLst>
          </p:cNvPr>
          <p:cNvSpPr/>
          <p:nvPr/>
        </p:nvSpPr>
        <p:spPr>
          <a:xfrm>
            <a:off x="7226017" y="9149644"/>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0" name="Donut 9">
            <a:extLst>
              <a:ext uri="{FF2B5EF4-FFF2-40B4-BE49-F238E27FC236}">
                <a16:creationId xmlns:a16="http://schemas.microsoft.com/office/drawing/2014/main" id="{DBEE8FEB-1D78-EA22-80E6-E32338F5CFF6}"/>
              </a:ext>
            </a:extLst>
          </p:cNvPr>
          <p:cNvSpPr/>
          <p:nvPr/>
        </p:nvSpPr>
        <p:spPr>
          <a:xfrm>
            <a:off x="11922196" y="9110132"/>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1" name="Donut 10">
            <a:extLst>
              <a:ext uri="{FF2B5EF4-FFF2-40B4-BE49-F238E27FC236}">
                <a16:creationId xmlns:a16="http://schemas.microsoft.com/office/drawing/2014/main" id="{5370DE76-EE62-EDF4-73C8-944E5CA95C09}"/>
              </a:ext>
            </a:extLst>
          </p:cNvPr>
          <p:cNvSpPr/>
          <p:nvPr/>
        </p:nvSpPr>
        <p:spPr>
          <a:xfrm>
            <a:off x="8479083" y="9149644"/>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2" name="Donut 11">
            <a:extLst>
              <a:ext uri="{FF2B5EF4-FFF2-40B4-BE49-F238E27FC236}">
                <a16:creationId xmlns:a16="http://schemas.microsoft.com/office/drawing/2014/main" id="{63EA66C8-5306-541F-F921-9A9E63E42842}"/>
              </a:ext>
            </a:extLst>
          </p:cNvPr>
          <p:cNvSpPr/>
          <p:nvPr/>
        </p:nvSpPr>
        <p:spPr>
          <a:xfrm>
            <a:off x="12723708" y="6699958"/>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3" name="Donut 12">
            <a:extLst>
              <a:ext uri="{FF2B5EF4-FFF2-40B4-BE49-F238E27FC236}">
                <a16:creationId xmlns:a16="http://schemas.microsoft.com/office/drawing/2014/main" id="{E3FB4E25-B16B-B6D4-2BDA-3BBD630CDF70}"/>
              </a:ext>
            </a:extLst>
          </p:cNvPr>
          <p:cNvSpPr/>
          <p:nvPr/>
        </p:nvSpPr>
        <p:spPr>
          <a:xfrm>
            <a:off x="9416062" y="3290711"/>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4" name="TextBox 13">
            <a:extLst>
              <a:ext uri="{FF2B5EF4-FFF2-40B4-BE49-F238E27FC236}">
                <a16:creationId xmlns:a16="http://schemas.microsoft.com/office/drawing/2014/main" id="{1B3A3B81-5FCF-C639-33B7-8B9A2E351622}"/>
              </a:ext>
            </a:extLst>
          </p:cNvPr>
          <p:cNvSpPr txBox="1"/>
          <p:nvPr/>
        </p:nvSpPr>
        <p:spPr>
          <a:xfrm>
            <a:off x="2477590" y="4081971"/>
            <a:ext cx="3487455" cy="3693319"/>
          </a:xfrm>
          <a:prstGeom prst="rect">
            <a:avLst/>
          </a:prstGeom>
          <a:noFill/>
        </p:spPr>
        <p:txBody>
          <a:bodyPr wrap="square" rtlCol="0">
            <a:spAutoFit/>
          </a:bodyPr>
          <a:lstStyle/>
          <a:p>
            <a:pPr marL="285750" indent="-285750">
              <a:buFont typeface="Arial" panose="020B0604020202020204" pitchFamily="34" charset="0"/>
              <a:buChar char="•"/>
            </a:pPr>
            <a:r>
              <a:rPr lang="en-US" dirty="0"/>
              <a:t>General Security Management</a:t>
            </a:r>
          </a:p>
          <a:p>
            <a:pPr marL="285750" indent="-285750">
              <a:buFont typeface="Arial" panose="020B0604020202020204" pitchFamily="34" charset="0"/>
              <a:buChar char="•"/>
            </a:pPr>
            <a:r>
              <a:rPr lang="en-US"/>
              <a:t>Anti-DoS </a:t>
            </a:r>
            <a:r>
              <a:rPr lang="en-US" dirty="0"/>
              <a:t>service</a:t>
            </a:r>
          </a:p>
          <a:p>
            <a:pPr marL="285750" indent="-285750">
              <a:buFont typeface="Arial" panose="020B0604020202020204" pitchFamily="34" charset="0"/>
              <a:buChar char="•"/>
            </a:pPr>
            <a:r>
              <a:rPr lang="en-US" dirty="0"/>
              <a:t>Firewalls (duh)</a:t>
            </a:r>
          </a:p>
          <a:p>
            <a:pPr marL="285750" indent="-285750">
              <a:buFont typeface="Arial" panose="020B0604020202020204" pitchFamily="34" charset="0"/>
              <a:buChar char="•"/>
            </a:pPr>
            <a:r>
              <a:rPr lang="en-US" dirty="0"/>
              <a:t>IDS/IPS</a:t>
            </a:r>
          </a:p>
          <a:p>
            <a:pPr marL="285750" indent="-285750">
              <a:buFont typeface="Arial" panose="020B0604020202020204" pitchFamily="34" charset="0"/>
              <a:buChar char="•"/>
            </a:pPr>
            <a:r>
              <a:rPr lang="en-US" dirty="0"/>
              <a:t>EDR/XDR</a:t>
            </a:r>
          </a:p>
          <a:p>
            <a:pPr marL="285750" indent="-285750">
              <a:buFont typeface="Arial" panose="020B0604020202020204" pitchFamily="34" charset="0"/>
              <a:buChar char="•"/>
            </a:pPr>
            <a:r>
              <a:rPr lang="en-US" dirty="0"/>
              <a:t>SIEM</a:t>
            </a:r>
          </a:p>
          <a:p>
            <a:pPr marL="285750" indent="-285750">
              <a:buFont typeface="Arial" panose="020B0604020202020204" pitchFamily="34" charset="0"/>
              <a:buChar char="•"/>
            </a:pPr>
            <a:r>
              <a:rPr lang="en-US" dirty="0"/>
              <a:t>VPN/ZTNA</a:t>
            </a:r>
          </a:p>
          <a:p>
            <a:pPr marL="285750" indent="-285750">
              <a:buFont typeface="Arial" panose="020B0604020202020204" pitchFamily="34" charset="0"/>
              <a:buChar char="•"/>
            </a:pPr>
            <a:r>
              <a:rPr lang="en-US" dirty="0"/>
              <a:t>MS security</a:t>
            </a:r>
          </a:p>
          <a:p>
            <a:pPr marL="285750" indent="-285750">
              <a:buFont typeface="Arial" panose="020B0604020202020204" pitchFamily="34" charset="0"/>
              <a:buChar char="•"/>
            </a:pPr>
            <a:r>
              <a:rPr lang="en-US" dirty="0"/>
              <a:t>Core Security </a:t>
            </a:r>
          </a:p>
          <a:p>
            <a:pPr marL="285750" indent="-285750">
              <a:buFont typeface="Arial" panose="020B0604020202020204" pitchFamily="34" charset="0"/>
              <a:buChar char="•"/>
            </a:pPr>
            <a:r>
              <a:rPr lang="en-US" dirty="0"/>
              <a:t>General tools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Plenty of others!</a:t>
            </a:r>
          </a:p>
          <a:p>
            <a:pPr marL="285750" indent="-285750">
              <a:buFont typeface="Arial" panose="020B0604020202020204" pitchFamily="34" charset="0"/>
              <a:buChar char="•"/>
            </a:pPr>
            <a:r>
              <a:rPr lang="en-US" dirty="0"/>
              <a:t>It gets messy!</a:t>
            </a:r>
          </a:p>
        </p:txBody>
      </p:sp>
      <p:sp>
        <p:nvSpPr>
          <p:cNvPr id="15" name="Donut 14">
            <a:extLst>
              <a:ext uri="{FF2B5EF4-FFF2-40B4-BE49-F238E27FC236}">
                <a16:creationId xmlns:a16="http://schemas.microsoft.com/office/drawing/2014/main" id="{A0134C4D-2740-087F-7CD9-755990C97B5E}"/>
              </a:ext>
            </a:extLst>
          </p:cNvPr>
          <p:cNvSpPr/>
          <p:nvPr/>
        </p:nvSpPr>
        <p:spPr>
          <a:xfrm>
            <a:off x="12170552" y="4238979"/>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cxnSp>
        <p:nvCxnSpPr>
          <p:cNvPr id="17" name="Elbow Connector 16">
            <a:extLst>
              <a:ext uri="{FF2B5EF4-FFF2-40B4-BE49-F238E27FC236}">
                <a16:creationId xmlns:a16="http://schemas.microsoft.com/office/drawing/2014/main" id="{D5F32E5A-330F-794C-A7BD-1892F4626637}"/>
              </a:ext>
            </a:extLst>
          </p:cNvPr>
          <p:cNvCxnSpPr>
            <a:cxnSpLocks/>
            <a:endCxn id="15" idx="2"/>
          </p:cNvCxnSpPr>
          <p:nvPr/>
        </p:nvCxnSpPr>
        <p:spPr>
          <a:xfrm>
            <a:off x="6073379" y="4238979"/>
            <a:ext cx="6097173" cy="169334"/>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22326B12-1835-8BFB-8B2E-FDC8880A599D}"/>
              </a:ext>
            </a:extLst>
          </p:cNvPr>
          <p:cNvCxnSpPr>
            <a:cxnSpLocks/>
            <a:endCxn id="13" idx="2"/>
          </p:cNvCxnSpPr>
          <p:nvPr/>
        </p:nvCxnSpPr>
        <p:spPr>
          <a:xfrm flipV="1">
            <a:off x="4874520" y="3460045"/>
            <a:ext cx="4541542" cy="1087470"/>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468A5725-AC18-E022-592F-D94AA4E05209}"/>
              </a:ext>
            </a:extLst>
          </p:cNvPr>
          <p:cNvCxnSpPr>
            <a:cxnSpLocks/>
            <a:endCxn id="3" idx="2"/>
          </p:cNvCxnSpPr>
          <p:nvPr/>
        </p:nvCxnSpPr>
        <p:spPr>
          <a:xfrm>
            <a:off x="4669084" y="4833472"/>
            <a:ext cx="4464756" cy="229596"/>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AE4F8B08-C7CA-8D06-3895-59CD9ED68EF3}"/>
              </a:ext>
            </a:extLst>
          </p:cNvPr>
          <p:cNvCxnSpPr>
            <a:cxnSpLocks/>
          </p:cNvCxnSpPr>
          <p:nvPr/>
        </p:nvCxnSpPr>
        <p:spPr>
          <a:xfrm>
            <a:off x="3969173" y="5123330"/>
            <a:ext cx="7112000" cy="586025"/>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00BD6041-2B14-656C-68D8-A217071FBE33}"/>
              </a:ext>
            </a:extLst>
          </p:cNvPr>
          <p:cNvCxnSpPr>
            <a:cxnSpLocks/>
            <a:endCxn id="4" idx="2"/>
          </p:cNvCxnSpPr>
          <p:nvPr/>
        </p:nvCxnSpPr>
        <p:spPr>
          <a:xfrm>
            <a:off x="4172373" y="5368781"/>
            <a:ext cx="6902542" cy="729183"/>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A1BCC3B6-E278-3F53-D778-334FA93893FF}"/>
              </a:ext>
            </a:extLst>
          </p:cNvPr>
          <p:cNvCxnSpPr>
            <a:cxnSpLocks/>
            <a:endCxn id="8" idx="2"/>
          </p:cNvCxnSpPr>
          <p:nvPr/>
        </p:nvCxnSpPr>
        <p:spPr>
          <a:xfrm>
            <a:off x="3777262" y="5648233"/>
            <a:ext cx="7297653" cy="850847"/>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3274645D-8589-D138-4C19-E5FB1C4A9EC6}"/>
              </a:ext>
            </a:extLst>
          </p:cNvPr>
          <p:cNvCxnSpPr>
            <a:cxnSpLocks/>
            <a:endCxn id="12" idx="2"/>
          </p:cNvCxnSpPr>
          <p:nvPr/>
        </p:nvCxnSpPr>
        <p:spPr>
          <a:xfrm>
            <a:off x="4273973" y="5895621"/>
            <a:ext cx="8449735" cy="973671"/>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657AA1BA-02BA-9125-8322-15A1FA71118B}"/>
              </a:ext>
            </a:extLst>
          </p:cNvPr>
          <p:cNvCxnSpPr>
            <a:cxnSpLocks/>
            <a:endCxn id="9" idx="0"/>
          </p:cNvCxnSpPr>
          <p:nvPr/>
        </p:nvCxnSpPr>
        <p:spPr>
          <a:xfrm>
            <a:off x="4409440" y="6213855"/>
            <a:ext cx="2985911" cy="2935789"/>
          </a:xfrm>
          <a:prstGeom prst="bentConnector2">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473C48E1-0AA3-F803-3A35-815468237C14}"/>
              </a:ext>
            </a:extLst>
          </p:cNvPr>
          <p:cNvCxnSpPr>
            <a:cxnSpLocks/>
            <a:endCxn id="11" idx="2"/>
          </p:cNvCxnSpPr>
          <p:nvPr/>
        </p:nvCxnSpPr>
        <p:spPr>
          <a:xfrm>
            <a:off x="4556196" y="6499079"/>
            <a:ext cx="3922887" cy="2819899"/>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F3FA9307-4474-DFA2-0100-7EB2864045B7}"/>
              </a:ext>
            </a:extLst>
          </p:cNvPr>
          <p:cNvCxnSpPr>
            <a:cxnSpLocks/>
            <a:endCxn id="10" idx="2"/>
          </p:cNvCxnSpPr>
          <p:nvPr/>
        </p:nvCxnSpPr>
        <p:spPr>
          <a:xfrm>
            <a:off x="4556196" y="6745108"/>
            <a:ext cx="7366000" cy="2534358"/>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07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P spid="9" grpId="0" animBg="1"/>
      <p:bldP spid="10" grpId="0" animBg="1"/>
      <p:bldP spid="11" grpId="0" animBg="1"/>
      <p:bldP spid="12" grpId="0" animBg="1"/>
      <p:bldP spid="13" grpId="0" animBg="1"/>
      <p:bldP spid="1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05F1-4798-415F-DBE4-C1A0830FF07E}"/>
              </a:ext>
            </a:extLst>
          </p:cNvPr>
          <p:cNvSpPr>
            <a:spLocks noGrp="1"/>
          </p:cNvSpPr>
          <p:nvPr>
            <p:ph type="title"/>
          </p:nvPr>
        </p:nvSpPr>
        <p:spPr/>
        <p:txBody>
          <a:bodyPr/>
          <a:lstStyle/>
          <a:p>
            <a:r>
              <a:rPr lang="en-US" dirty="0"/>
              <a:t>What an Examiner might ask at PVB</a:t>
            </a:r>
          </a:p>
        </p:txBody>
      </p:sp>
      <p:sp>
        <p:nvSpPr>
          <p:cNvPr id="3" name="Content Placeholder 2">
            <a:extLst>
              <a:ext uri="{FF2B5EF4-FFF2-40B4-BE49-F238E27FC236}">
                <a16:creationId xmlns:a16="http://schemas.microsoft.com/office/drawing/2014/main" id="{9E28BB58-BA4D-1D1D-EAAE-A5FED21C761A}"/>
              </a:ext>
            </a:extLst>
          </p:cNvPr>
          <p:cNvSpPr>
            <a:spLocks noGrp="1"/>
          </p:cNvSpPr>
          <p:nvPr>
            <p:ph idx="1"/>
          </p:nvPr>
        </p:nvSpPr>
        <p:spPr/>
        <p:txBody>
          <a:bodyPr/>
          <a:lstStyle/>
          <a:p>
            <a:r>
              <a:rPr lang="en-US" dirty="0"/>
              <a:t>Is the network documented? </a:t>
            </a:r>
          </a:p>
          <a:p>
            <a:r>
              <a:rPr lang="en-US" dirty="0"/>
              <a:t>Is it understood? By whom?</a:t>
            </a:r>
          </a:p>
          <a:p>
            <a:r>
              <a:rPr lang="en-US" dirty="0"/>
              <a:t>Are critical systems identified?</a:t>
            </a:r>
          </a:p>
          <a:p>
            <a:r>
              <a:rPr lang="en-US" dirty="0"/>
              <a:t>Are internet connections understood and protected?</a:t>
            </a:r>
          </a:p>
          <a:p>
            <a:r>
              <a:rPr lang="en-US" dirty="0"/>
              <a:t>What solutions or platforms are in use, and for what?</a:t>
            </a:r>
          </a:p>
          <a:p>
            <a:r>
              <a:rPr lang="en-US" dirty="0"/>
              <a:t>Who manages the infrastructure?</a:t>
            </a:r>
          </a:p>
          <a:p>
            <a:endParaRPr lang="en-US" dirty="0"/>
          </a:p>
        </p:txBody>
      </p:sp>
    </p:spTree>
    <p:extLst>
      <p:ext uri="{BB962C8B-B14F-4D97-AF65-F5344CB8AC3E}">
        <p14:creationId xmlns:p14="http://schemas.microsoft.com/office/powerpoint/2010/main" val="35452203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p>
        </p:txBody>
      </p:sp>
      <p:sp>
        <p:nvSpPr>
          <p:cNvPr id="3" name="Content Placeholder 2"/>
          <p:cNvSpPr>
            <a:spLocks noGrp="1"/>
          </p:cNvSpPr>
          <p:nvPr>
            <p:ph idx="1"/>
          </p:nvPr>
        </p:nvSpPr>
        <p:spPr/>
        <p:txBody>
          <a:bodyPr/>
          <a:lstStyle/>
          <a:p>
            <a:r>
              <a:rPr lang="en-US" dirty="0"/>
              <a:t>Having completed this chapter, you should be able to:</a:t>
            </a:r>
          </a:p>
          <a:p>
            <a:pPr lvl="1"/>
            <a:r>
              <a:rPr lang="en-US" dirty="0"/>
              <a:t>Read and discuss a bank network diagram.</a:t>
            </a:r>
          </a:p>
          <a:p>
            <a:pPr lvl="1"/>
            <a:r>
              <a:rPr lang="en-US" dirty="0"/>
              <a:t>Follow a transaction across a network.</a:t>
            </a:r>
          </a:p>
          <a:p>
            <a:pPr lvl="1"/>
            <a:r>
              <a:rPr lang="en-US" dirty="0"/>
              <a:t>Understand the basic purpose of TCP/IP.</a:t>
            </a:r>
          </a:p>
          <a:p>
            <a:pPr lvl="1"/>
            <a:r>
              <a:rPr lang="en-US" dirty="0"/>
              <a:t>Recognize where common security controls operate.</a:t>
            </a:r>
          </a:p>
          <a:p>
            <a:pPr lvl="1"/>
            <a:r>
              <a:rPr lang="en-US" dirty="0"/>
              <a:t>Ask informed questions during an examination.</a:t>
            </a:r>
          </a:p>
          <a:p>
            <a:r>
              <a:rPr lang="en-US" dirty="0"/>
              <a:t>But there’s still a lot to learn about security</a:t>
            </a:r>
          </a:p>
          <a:p>
            <a:r>
              <a:rPr lang="en-US" dirty="0"/>
              <a:t>Firewalls are an important part of that, but</a:t>
            </a:r>
          </a:p>
          <a:p>
            <a:pPr lvl="1"/>
            <a:r>
              <a:rPr lang="en-US" dirty="0"/>
              <a:t>Only one part</a:t>
            </a:r>
          </a:p>
          <a:p>
            <a:pPr lvl="1"/>
            <a:r>
              <a:rPr lang="en-US" dirty="0"/>
              <a:t>That exists in many forms and names</a:t>
            </a:r>
          </a:p>
          <a:p>
            <a:pPr lvl="1"/>
            <a:r>
              <a:rPr lang="en-US" dirty="0"/>
              <a:t>In many places in the network</a:t>
            </a:r>
          </a:p>
        </p:txBody>
      </p:sp>
      <p:pic>
        <p:nvPicPr>
          <p:cNvPr id="4" name="Picture 1" descr="\\Col-srvr1\elmov\Library\Graphics\iStock_Other_Purchased_Graphics\PresenterMedia\dart_and_target_400_clr.png"/>
          <p:cNvPicPr>
            <a:picLocks noChangeAspect="1" noChangeArrowheads="1"/>
          </p:cNvPicPr>
          <p:nvPr/>
        </p:nvPicPr>
        <p:blipFill>
          <a:blip r:embed="rId4" cstate="print"/>
          <a:srcRect/>
          <a:stretch>
            <a:fillRect/>
          </a:stretch>
        </p:blipFill>
        <p:spPr bwMode="auto">
          <a:xfrm>
            <a:off x="13588761" y="6036469"/>
            <a:ext cx="4114800" cy="4114800"/>
          </a:xfrm>
          <a:prstGeom prst="rect">
            <a:avLst/>
          </a:prstGeom>
          <a:noFill/>
        </p:spPr>
      </p:pic>
    </p:spTree>
    <p:custDataLst>
      <p:tags r:id="rId1"/>
    </p:custDataLst>
    <p:extLst>
      <p:ext uri="{BB962C8B-B14F-4D97-AF65-F5344CB8AC3E}">
        <p14:creationId xmlns:p14="http://schemas.microsoft.com/office/powerpoint/2010/main" val="3417624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3382F-B86F-336A-915E-DC56D6F11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2981B-D31A-2E1D-B758-93C3A35F79B8}"/>
              </a:ext>
            </a:extLst>
          </p:cNvPr>
          <p:cNvSpPr>
            <a:spLocks noGrp="1"/>
          </p:cNvSpPr>
          <p:nvPr>
            <p:ph type="ctrTitle"/>
          </p:nvPr>
        </p:nvSpPr>
        <p:spPr/>
        <p:txBody>
          <a:bodyPr/>
          <a:lstStyle/>
          <a:p>
            <a:r>
              <a:rPr lang="en-US" dirty="0"/>
              <a:t>Firewalls and Security Architecture</a:t>
            </a:r>
          </a:p>
        </p:txBody>
      </p:sp>
      <p:sp>
        <p:nvSpPr>
          <p:cNvPr id="4" name="Subtitle 3">
            <a:extLst>
              <a:ext uri="{FF2B5EF4-FFF2-40B4-BE49-F238E27FC236}">
                <a16:creationId xmlns:a16="http://schemas.microsoft.com/office/drawing/2014/main" id="{B09CDAB1-AC78-C15E-2C52-89763436C877}"/>
              </a:ext>
            </a:extLst>
          </p:cNvPr>
          <p:cNvSpPr>
            <a:spLocks noGrp="1"/>
          </p:cNvSpPr>
          <p:nvPr>
            <p:ph type="subTitle" idx="1"/>
          </p:nvPr>
        </p:nvSpPr>
        <p:spPr/>
        <p:txBody>
          <a:bodyPr/>
          <a:lstStyle/>
          <a:p>
            <a:r>
              <a:rPr lang="en-US"/>
              <a:t>Chapter 3</a:t>
            </a:r>
          </a:p>
        </p:txBody>
      </p:sp>
    </p:spTree>
    <p:custDataLst>
      <p:tags r:id="rId1"/>
    </p:custDataLst>
    <p:extLst>
      <p:ext uri="{BB962C8B-B14F-4D97-AF65-F5344CB8AC3E}">
        <p14:creationId xmlns:p14="http://schemas.microsoft.com/office/powerpoint/2010/main" val="2415521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F22A4-79D7-41FB-F456-ED088B163E08}"/>
              </a:ext>
            </a:extLst>
          </p:cNvPr>
          <p:cNvSpPr>
            <a:spLocks noGrp="1"/>
          </p:cNvSpPr>
          <p:nvPr>
            <p:ph type="title"/>
          </p:nvPr>
        </p:nvSpPr>
        <p:spPr/>
        <p:txBody>
          <a:bodyPr/>
          <a:lstStyle/>
          <a:p>
            <a:r>
              <a:rPr lang="en-US" dirty="0"/>
              <a:t>Examiner Question</a:t>
            </a:r>
          </a:p>
        </p:txBody>
      </p:sp>
      <p:sp>
        <p:nvSpPr>
          <p:cNvPr id="3" name="Content Placeholder 2">
            <a:extLst>
              <a:ext uri="{FF2B5EF4-FFF2-40B4-BE49-F238E27FC236}">
                <a16:creationId xmlns:a16="http://schemas.microsoft.com/office/drawing/2014/main" id="{1C607FB0-1070-6E14-20EE-20C6DB9AE834}"/>
              </a:ext>
            </a:extLst>
          </p:cNvPr>
          <p:cNvSpPr>
            <a:spLocks noGrp="1"/>
          </p:cNvSpPr>
          <p:nvPr>
            <p:ph idx="1"/>
          </p:nvPr>
        </p:nvSpPr>
        <p:spPr>
          <a:xfrm>
            <a:off x="1257299" y="2193131"/>
            <a:ext cx="16446261" cy="6967198"/>
          </a:xfrm>
        </p:spPr>
        <p:txBody>
          <a:bodyPr>
            <a:normAutofit/>
          </a:bodyPr>
          <a:lstStyle/>
          <a:p>
            <a:r>
              <a:rPr lang="en-US" i="1" dirty="0"/>
              <a:t>How does the bank control, inspect, and protect the movement of information within and between networks?</a:t>
            </a:r>
          </a:p>
          <a:p>
            <a:endParaRPr lang="en-US" i="1" dirty="0"/>
          </a:p>
          <a:p>
            <a:r>
              <a:rPr lang="en-US" dirty="0"/>
              <a:t>We need to be sure we can:</a:t>
            </a:r>
          </a:p>
          <a:p>
            <a:pPr lvl="1"/>
            <a:r>
              <a:rPr lang="en-US" dirty="0"/>
              <a:t>Know what a firewall is supposed to do</a:t>
            </a:r>
          </a:p>
          <a:p>
            <a:pPr lvl="1"/>
            <a:r>
              <a:rPr lang="en-US" dirty="0"/>
              <a:t>Understand bank network security architecture</a:t>
            </a:r>
          </a:p>
          <a:p>
            <a:pPr lvl="1"/>
            <a:r>
              <a:rPr lang="en-US" dirty="0"/>
              <a:t>Have  some idea of how a firewall works</a:t>
            </a:r>
          </a:p>
          <a:p>
            <a:pPr lvl="1"/>
            <a:r>
              <a:rPr lang="en-US" dirty="0"/>
              <a:t>Identify risk related to various security functions</a:t>
            </a:r>
          </a:p>
          <a:p>
            <a:pPr marL="0" indent="0">
              <a:buNone/>
            </a:pPr>
            <a:endParaRPr lang="en-US" dirty="0"/>
          </a:p>
          <a:p>
            <a:r>
              <a:rPr lang="en-US" dirty="0"/>
              <a:t>We should also learn some cybersecurity concepts</a:t>
            </a:r>
          </a:p>
        </p:txBody>
      </p:sp>
    </p:spTree>
    <p:extLst>
      <p:ext uri="{BB962C8B-B14F-4D97-AF65-F5344CB8AC3E}">
        <p14:creationId xmlns:p14="http://schemas.microsoft.com/office/powerpoint/2010/main" val="10518249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7220" y="770917"/>
            <a:ext cx="16870680" cy="617220"/>
          </a:xfrm>
          <a:prstGeom prst="rect">
            <a:avLst/>
          </a:prstGeom>
          <a:noFill/>
          <a:ln/>
        </p:spPr>
        <p:txBody>
          <a:bodyPr wrap="square" lIns="0" tIns="0" rIns="0" bIns="0" rtlCol="0" anchor="ctr"/>
          <a:lstStyle/>
          <a:p>
            <a:r>
              <a:rPr lang="en-US" sz="66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What can go wrong with the PVB Balance Inquiry?</a:t>
            </a:r>
          </a:p>
        </p:txBody>
      </p:sp>
      <p:sp>
        <p:nvSpPr>
          <p:cNvPr id="3" name="Text 1"/>
          <p:cNvSpPr/>
          <p:nvPr/>
        </p:nvSpPr>
        <p:spPr>
          <a:xfrm>
            <a:off x="891540" y="1974705"/>
            <a:ext cx="3909060" cy="301752"/>
          </a:xfrm>
          <a:prstGeom prst="rect">
            <a:avLst/>
          </a:prstGeom>
          <a:noFill/>
          <a:ln/>
        </p:spPr>
        <p:txBody>
          <a:bodyPr wrap="square" lIns="0" tIns="0" rIns="0" bIns="0" rtlCol="0" anchor="ctr"/>
          <a:lstStyle/>
          <a:p>
            <a:r>
              <a:rPr lang="en-US" sz="2400" b="1" dirty="0">
                <a:solidFill>
                  <a:srgbClr val="2B6FA3"/>
                </a:solidFill>
              </a:rPr>
              <a:t>PINE VALLEY EAST BRANCH</a:t>
            </a:r>
            <a:endParaRPr lang="en-US" sz="2400" dirty="0"/>
          </a:p>
        </p:txBody>
      </p:sp>
      <p:sp>
        <p:nvSpPr>
          <p:cNvPr id="4" name="Text 2"/>
          <p:cNvSpPr/>
          <p:nvPr/>
        </p:nvSpPr>
        <p:spPr>
          <a:xfrm>
            <a:off x="891540" y="6336393"/>
            <a:ext cx="3909060" cy="301752"/>
          </a:xfrm>
          <a:prstGeom prst="rect">
            <a:avLst/>
          </a:prstGeom>
          <a:noFill/>
          <a:ln/>
        </p:spPr>
        <p:txBody>
          <a:bodyPr wrap="square" lIns="0" tIns="0" rIns="0" bIns="0" rtlCol="0" anchor="ctr"/>
          <a:lstStyle/>
          <a:p>
            <a:r>
              <a:rPr lang="en-US" sz="2400" b="1" dirty="0">
                <a:solidFill>
                  <a:srgbClr val="5B6770"/>
                </a:solidFill>
              </a:rPr>
              <a:t>PROVIDER NETWORK</a:t>
            </a:r>
            <a:endParaRPr lang="en-US" sz="2400" dirty="0"/>
          </a:p>
        </p:txBody>
      </p:sp>
      <p:sp>
        <p:nvSpPr>
          <p:cNvPr id="5" name="Text 3"/>
          <p:cNvSpPr/>
          <p:nvPr/>
        </p:nvSpPr>
        <p:spPr>
          <a:xfrm>
            <a:off x="891539" y="7625697"/>
            <a:ext cx="4205743" cy="301752"/>
          </a:xfrm>
          <a:prstGeom prst="rect">
            <a:avLst/>
          </a:prstGeom>
          <a:noFill/>
          <a:ln/>
        </p:spPr>
        <p:txBody>
          <a:bodyPr wrap="square" lIns="0" tIns="0" rIns="0" bIns="0" rtlCol="0" anchor="ctr"/>
          <a:lstStyle/>
          <a:p>
            <a:r>
              <a:rPr lang="en-US" sz="2400" b="1" dirty="0">
                <a:solidFill>
                  <a:srgbClr val="2E7D7D"/>
                </a:solidFill>
              </a:rPr>
              <a:t>CORE PROCESSOR DATA CENTER</a:t>
            </a:r>
            <a:endParaRPr lang="en-US" sz="2400" dirty="0"/>
          </a:p>
        </p:txBody>
      </p:sp>
      <p:sp>
        <p:nvSpPr>
          <p:cNvPr id="6" name="Shape 4"/>
          <p:cNvSpPr/>
          <p:nvPr/>
        </p:nvSpPr>
        <p:spPr>
          <a:xfrm>
            <a:off x="9155430" y="2646789"/>
            <a:ext cx="0" cy="233172"/>
          </a:xfrm>
          <a:prstGeom prst="line">
            <a:avLst/>
          </a:prstGeom>
          <a:noFill/>
          <a:ln w="19050">
            <a:solidFill>
              <a:srgbClr val="8795A1"/>
            </a:solidFill>
            <a:prstDash val="solid"/>
            <a:tailEnd type="triangle"/>
          </a:ln>
        </p:spPr>
        <p:txBody>
          <a:bodyPr/>
          <a:lstStyle/>
          <a:p>
            <a:endParaRPr lang="en-US" sz="2700"/>
          </a:p>
        </p:txBody>
      </p:sp>
      <p:sp>
        <p:nvSpPr>
          <p:cNvPr id="7" name="Shape 5"/>
          <p:cNvSpPr/>
          <p:nvPr/>
        </p:nvSpPr>
        <p:spPr>
          <a:xfrm>
            <a:off x="9155430" y="3538329"/>
            <a:ext cx="0" cy="233172"/>
          </a:xfrm>
          <a:prstGeom prst="line">
            <a:avLst/>
          </a:prstGeom>
          <a:noFill/>
          <a:ln w="19050">
            <a:solidFill>
              <a:srgbClr val="8795A1"/>
            </a:solidFill>
            <a:prstDash val="solid"/>
            <a:tailEnd type="triangle"/>
          </a:ln>
        </p:spPr>
        <p:txBody>
          <a:bodyPr/>
          <a:lstStyle/>
          <a:p>
            <a:endParaRPr lang="en-US" sz="2700"/>
          </a:p>
        </p:txBody>
      </p:sp>
      <p:sp>
        <p:nvSpPr>
          <p:cNvPr id="8" name="Shape 6"/>
          <p:cNvSpPr/>
          <p:nvPr/>
        </p:nvSpPr>
        <p:spPr>
          <a:xfrm>
            <a:off x="9155430" y="4429869"/>
            <a:ext cx="0" cy="233172"/>
          </a:xfrm>
          <a:prstGeom prst="line">
            <a:avLst/>
          </a:prstGeom>
          <a:noFill/>
          <a:ln w="19050">
            <a:solidFill>
              <a:srgbClr val="8795A1"/>
            </a:solidFill>
            <a:prstDash val="solid"/>
            <a:tailEnd type="triangle"/>
          </a:ln>
        </p:spPr>
        <p:txBody>
          <a:bodyPr/>
          <a:lstStyle/>
          <a:p>
            <a:endParaRPr lang="en-US" sz="2700"/>
          </a:p>
        </p:txBody>
      </p:sp>
      <p:sp>
        <p:nvSpPr>
          <p:cNvPr id="9" name="Shape 7"/>
          <p:cNvSpPr/>
          <p:nvPr/>
        </p:nvSpPr>
        <p:spPr>
          <a:xfrm>
            <a:off x="9155430" y="5321409"/>
            <a:ext cx="0" cy="233172"/>
          </a:xfrm>
          <a:prstGeom prst="line">
            <a:avLst/>
          </a:prstGeom>
          <a:noFill/>
          <a:ln w="19050">
            <a:solidFill>
              <a:srgbClr val="8795A1"/>
            </a:solidFill>
            <a:prstDash val="solid"/>
            <a:tailEnd type="triangle"/>
          </a:ln>
        </p:spPr>
        <p:txBody>
          <a:bodyPr/>
          <a:lstStyle/>
          <a:p>
            <a:endParaRPr lang="en-US" sz="2700"/>
          </a:p>
        </p:txBody>
      </p:sp>
      <p:sp>
        <p:nvSpPr>
          <p:cNvPr id="10" name="Shape 8"/>
          <p:cNvSpPr/>
          <p:nvPr/>
        </p:nvSpPr>
        <p:spPr>
          <a:xfrm>
            <a:off x="9155430" y="6212949"/>
            <a:ext cx="0" cy="150876"/>
          </a:xfrm>
          <a:prstGeom prst="line">
            <a:avLst/>
          </a:prstGeom>
          <a:noFill/>
          <a:ln w="19050">
            <a:solidFill>
              <a:srgbClr val="8795A1"/>
            </a:solidFill>
            <a:prstDash val="solid"/>
            <a:tailEnd type="triangle"/>
          </a:ln>
        </p:spPr>
        <p:txBody>
          <a:bodyPr/>
          <a:lstStyle/>
          <a:p>
            <a:endParaRPr lang="en-US" sz="2700"/>
          </a:p>
        </p:txBody>
      </p:sp>
      <p:sp>
        <p:nvSpPr>
          <p:cNvPr id="11" name="Shape 9"/>
          <p:cNvSpPr/>
          <p:nvPr/>
        </p:nvSpPr>
        <p:spPr>
          <a:xfrm>
            <a:off x="9155430" y="7022193"/>
            <a:ext cx="0" cy="658368"/>
          </a:xfrm>
          <a:prstGeom prst="line">
            <a:avLst/>
          </a:prstGeom>
          <a:noFill/>
          <a:ln w="19050">
            <a:solidFill>
              <a:srgbClr val="8795A1"/>
            </a:solidFill>
            <a:prstDash val="solid"/>
            <a:tailEnd type="triangle"/>
          </a:ln>
        </p:spPr>
        <p:txBody>
          <a:bodyPr/>
          <a:lstStyle/>
          <a:p>
            <a:endParaRPr lang="en-US" sz="2700"/>
          </a:p>
        </p:txBody>
      </p:sp>
      <p:sp>
        <p:nvSpPr>
          <p:cNvPr id="12" name="Shape 10"/>
          <p:cNvSpPr/>
          <p:nvPr/>
        </p:nvSpPr>
        <p:spPr>
          <a:xfrm>
            <a:off x="9155430" y="8338929"/>
            <a:ext cx="0" cy="233172"/>
          </a:xfrm>
          <a:prstGeom prst="line">
            <a:avLst/>
          </a:prstGeom>
          <a:noFill/>
          <a:ln w="19050">
            <a:solidFill>
              <a:srgbClr val="8795A1"/>
            </a:solidFill>
            <a:prstDash val="solid"/>
            <a:tailEnd type="triangle"/>
          </a:ln>
        </p:spPr>
        <p:txBody>
          <a:bodyPr/>
          <a:lstStyle/>
          <a:p>
            <a:endParaRPr lang="en-US" sz="2700"/>
          </a:p>
        </p:txBody>
      </p:sp>
      <p:sp>
        <p:nvSpPr>
          <p:cNvPr id="13" name="Text 11"/>
          <p:cNvSpPr/>
          <p:nvPr/>
        </p:nvSpPr>
        <p:spPr>
          <a:xfrm>
            <a:off x="885825" y="5635734"/>
            <a:ext cx="5829300" cy="301752"/>
          </a:xfrm>
          <a:prstGeom prst="rect">
            <a:avLst/>
          </a:prstGeom>
          <a:noFill/>
          <a:ln/>
        </p:spPr>
        <p:txBody>
          <a:bodyPr wrap="square" lIns="0" tIns="0" rIns="0" bIns="0" rtlCol="0" anchor="ctr"/>
          <a:lstStyle/>
          <a:p>
            <a:r>
              <a:rPr lang="en-US" sz="2800" i="1" dirty="0">
                <a:solidFill>
                  <a:srgbClr val="5B6770"/>
                </a:solidFill>
              </a:rPr>
              <a:t>encrypted provider connection</a:t>
            </a:r>
            <a:endParaRPr lang="en-US" sz="2800" dirty="0"/>
          </a:p>
        </p:txBody>
      </p:sp>
      <p:sp>
        <p:nvSpPr>
          <p:cNvPr id="14" name="Text 12"/>
          <p:cNvSpPr/>
          <p:nvPr/>
        </p:nvSpPr>
        <p:spPr>
          <a:xfrm>
            <a:off x="13293090" y="4526280"/>
            <a:ext cx="3634740" cy="891540"/>
          </a:xfrm>
          <a:prstGeom prst="rect">
            <a:avLst/>
          </a:prstGeom>
          <a:noFill/>
          <a:ln/>
        </p:spPr>
        <p:txBody>
          <a:bodyPr wrap="square" lIns="953" tIns="953" rIns="953" bIns="953" rtlCol="0" anchor="ctr">
            <a:normAutofit/>
          </a:bodyPr>
          <a:lstStyle/>
          <a:p>
            <a:r>
              <a:rPr lang="en-US" sz="2250" b="1" dirty="0">
                <a:solidFill>
                  <a:srgbClr val="15324B"/>
                </a:solidFill>
              </a:rPr>
              <a:t>Response returns</a:t>
            </a:r>
            <a:endParaRPr lang="en-US" sz="2250" dirty="0"/>
          </a:p>
          <a:p>
            <a:r>
              <a:rPr lang="en-US" sz="2250" b="1" dirty="0">
                <a:solidFill>
                  <a:srgbClr val="15324B"/>
                </a:solidFill>
              </a:rPr>
              <a:t>along the same path</a:t>
            </a:r>
            <a:endParaRPr lang="en-US" sz="2250" dirty="0"/>
          </a:p>
        </p:txBody>
      </p:sp>
      <p:sp>
        <p:nvSpPr>
          <p:cNvPr id="15" name="Text 13"/>
          <p:cNvSpPr/>
          <p:nvPr/>
        </p:nvSpPr>
        <p:spPr>
          <a:xfrm>
            <a:off x="14292072" y="5019657"/>
            <a:ext cx="548640" cy="2674620"/>
          </a:xfrm>
          <a:prstGeom prst="rect">
            <a:avLst/>
          </a:prstGeom>
          <a:noFill/>
          <a:ln/>
        </p:spPr>
        <p:txBody>
          <a:bodyPr wrap="square" lIns="0" tIns="0" rIns="0" bIns="0" rtlCol="0" anchor="ctr"/>
          <a:lstStyle/>
          <a:p>
            <a:pPr algn="ctr"/>
            <a:r>
              <a:rPr lang="en-US" sz="6600" b="1" dirty="0">
                <a:solidFill>
                  <a:srgbClr val="2E7D7D"/>
                </a:solidFill>
              </a:rPr>
              <a:t>↑</a:t>
            </a:r>
            <a:endParaRPr lang="en-US" sz="6600" dirty="0"/>
          </a:p>
        </p:txBody>
      </p:sp>
      <p:sp>
        <p:nvSpPr>
          <p:cNvPr id="16" name="Shape 14"/>
          <p:cNvSpPr/>
          <p:nvPr/>
        </p:nvSpPr>
        <p:spPr>
          <a:xfrm>
            <a:off x="5829300" y="201585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17" name="Text 15"/>
          <p:cNvSpPr/>
          <p:nvPr/>
        </p:nvSpPr>
        <p:spPr>
          <a:xfrm>
            <a:off x="6035040" y="2098149"/>
            <a:ext cx="6240780" cy="246888"/>
          </a:xfrm>
          <a:prstGeom prst="rect">
            <a:avLst/>
          </a:prstGeom>
          <a:noFill/>
          <a:ln/>
        </p:spPr>
        <p:txBody>
          <a:bodyPr wrap="square" lIns="0" tIns="0" rIns="0" bIns="0" rtlCol="0" anchor="ctr"/>
          <a:lstStyle/>
          <a:p>
            <a:r>
              <a:rPr lang="en-US" sz="2325" b="1" dirty="0">
                <a:solidFill>
                  <a:srgbClr val="15324B"/>
                </a:solidFill>
              </a:rPr>
              <a:t>Customer</a:t>
            </a:r>
            <a:endParaRPr lang="en-US" sz="2325" dirty="0"/>
          </a:p>
        </p:txBody>
      </p:sp>
      <p:sp>
        <p:nvSpPr>
          <p:cNvPr id="18" name="Text 16"/>
          <p:cNvSpPr/>
          <p:nvPr/>
        </p:nvSpPr>
        <p:spPr>
          <a:xfrm>
            <a:off x="6035040" y="2386185"/>
            <a:ext cx="6240780" cy="205740"/>
          </a:xfrm>
          <a:prstGeom prst="rect">
            <a:avLst/>
          </a:prstGeom>
          <a:noFill/>
          <a:ln/>
        </p:spPr>
        <p:txBody>
          <a:bodyPr wrap="square" lIns="0" tIns="0" rIns="0" bIns="0" rtlCol="0" anchor="ctr"/>
          <a:lstStyle/>
          <a:p>
            <a:r>
              <a:rPr lang="en-US" sz="1455" dirty="0">
                <a:solidFill>
                  <a:srgbClr val="5B6770"/>
                </a:solidFill>
              </a:rPr>
              <a:t>“What’s my balance?”</a:t>
            </a:r>
            <a:endParaRPr lang="en-US" sz="1455" dirty="0"/>
          </a:p>
        </p:txBody>
      </p:sp>
      <p:sp>
        <p:nvSpPr>
          <p:cNvPr id="19" name="Shape 17"/>
          <p:cNvSpPr/>
          <p:nvPr/>
        </p:nvSpPr>
        <p:spPr>
          <a:xfrm>
            <a:off x="5829300" y="290739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0" name="Text 18"/>
          <p:cNvSpPr/>
          <p:nvPr/>
        </p:nvSpPr>
        <p:spPr>
          <a:xfrm>
            <a:off x="6035040" y="2989689"/>
            <a:ext cx="6240780" cy="246888"/>
          </a:xfrm>
          <a:prstGeom prst="rect">
            <a:avLst/>
          </a:prstGeom>
          <a:noFill/>
          <a:ln/>
        </p:spPr>
        <p:txBody>
          <a:bodyPr wrap="square" lIns="0" tIns="0" rIns="0" bIns="0" rtlCol="0" anchor="ctr"/>
          <a:lstStyle/>
          <a:p>
            <a:r>
              <a:rPr lang="en-US" sz="2325" b="1" dirty="0">
                <a:solidFill>
                  <a:srgbClr val="15324B"/>
                </a:solidFill>
              </a:rPr>
              <a:t>Teller</a:t>
            </a:r>
            <a:endParaRPr lang="en-US" sz="2325" dirty="0"/>
          </a:p>
        </p:txBody>
      </p:sp>
      <p:sp>
        <p:nvSpPr>
          <p:cNvPr id="21" name="Text 19"/>
          <p:cNvSpPr/>
          <p:nvPr/>
        </p:nvSpPr>
        <p:spPr>
          <a:xfrm>
            <a:off x="6035040" y="3277725"/>
            <a:ext cx="6240780" cy="205740"/>
          </a:xfrm>
          <a:prstGeom prst="rect">
            <a:avLst/>
          </a:prstGeom>
          <a:noFill/>
          <a:ln/>
        </p:spPr>
        <p:txBody>
          <a:bodyPr wrap="square" lIns="0" tIns="0" rIns="0" bIns="0" rtlCol="0" anchor="ctr"/>
          <a:lstStyle/>
          <a:p>
            <a:r>
              <a:rPr lang="en-US" sz="1455" dirty="0">
                <a:solidFill>
                  <a:srgbClr val="5B6770"/>
                </a:solidFill>
              </a:rPr>
              <a:t>Receives the request</a:t>
            </a:r>
            <a:endParaRPr lang="en-US" sz="1455" dirty="0"/>
          </a:p>
        </p:txBody>
      </p:sp>
      <p:sp>
        <p:nvSpPr>
          <p:cNvPr id="22" name="Shape 20"/>
          <p:cNvSpPr/>
          <p:nvPr/>
        </p:nvSpPr>
        <p:spPr>
          <a:xfrm>
            <a:off x="5829300" y="379893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3" name="Text 21"/>
          <p:cNvSpPr/>
          <p:nvPr/>
        </p:nvSpPr>
        <p:spPr>
          <a:xfrm>
            <a:off x="6035040" y="3881229"/>
            <a:ext cx="6240780" cy="246888"/>
          </a:xfrm>
          <a:prstGeom prst="rect">
            <a:avLst/>
          </a:prstGeom>
          <a:noFill/>
          <a:ln/>
        </p:spPr>
        <p:txBody>
          <a:bodyPr wrap="square" lIns="0" tIns="0" rIns="0" bIns="0" rtlCol="0" anchor="ctr"/>
          <a:lstStyle/>
          <a:p>
            <a:r>
              <a:rPr lang="en-US" sz="2325" b="1" dirty="0">
                <a:solidFill>
                  <a:srgbClr val="15324B"/>
                </a:solidFill>
              </a:rPr>
              <a:t>Teller Workstation</a:t>
            </a:r>
            <a:endParaRPr lang="en-US" sz="2325" dirty="0"/>
          </a:p>
        </p:txBody>
      </p:sp>
      <p:sp>
        <p:nvSpPr>
          <p:cNvPr id="24" name="Text 22"/>
          <p:cNvSpPr/>
          <p:nvPr/>
        </p:nvSpPr>
        <p:spPr>
          <a:xfrm>
            <a:off x="6035040" y="4169265"/>
            <a:ext cx="6240780" cy="205740"/>
          </a:xfrm>
          <a:prstGeom prst="rect">
            <a:avLst/>
          </a:prstGeom>
          <a:noFill/>
          <a:ln/>
        </p:spPr>
        <p:txBody>
          <a:bodyPr wrap="square" lIns="0" tIns="0" rIns="0" bIns="0" rtlCol="0" anchor="ctr"/>
          <a:lstStyle/>
          <a:p>
            <a:r>
              <a:rPr lang="en-US" sz="1455" dirty="0">
                <a:solidFill>
                  <a:srgbClr val="5B6770"/>
                </a:solidFill>
              </a:rPr>
              <a:t>Core application client</a:t>
            </a:r>
            <a:endParaRPr lang="en-US" sz="1455" dirty="0"/>
          </a:p>
        </p:txBody>
      </p:sp>
      <p:sp>
        <p:nvSpPr>
          <p:cNvPr id="25" name="Shape 23"/>
          <p:cNvSpPr/>
          <p:nvPr/>
        </p:nvSpPr>
        <p:spPr>
          <a:xfrm>
            <a:off x="5829300" y="469047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6" name="Text 24"/>
          <p:cNvSpPr/>
          <p:nvPr/>
        </p:nvSpPr>
        <p:spPr>
          <a:xfrm>
            <a:off x="6035040" y="4772769"/>
            <a:ext cx="6240780" cy="246888"/>
          </a:xfrm>
          <a:prstGeom prst="rect">
            <a:avLst/>
          </a:prstGeom>
          <a:noFill/>
          <a:ln/>
        </p:spPr>
        <p:txBody>
          <a:bodyPr wrap="square" lIns="0" tIns="0" rIns="0" bIns="0" rtlCol="0" anchor="ctr"/>
          <a:lstStyle/>
          <a:p>
            <a:r>
              <a:rPr lang="en-US" sz="2325" b="1" dirty="0">
                <a:solidFill>
                  <a:srgbClr val="15324B"/>
                </a:solidFill>
              </a:rPr>
              <a:t>Branch Switch</a:t>
            </a:r>
            <a:endParaRPr lang="en-US" sz="2325" dirty="0"/>
          </a:p>
        </p:txBody>
      </p:sp>
      <p:sp>
        <p:nvSpPr>
          <p:cNvPr id="27" name="Text 25"/>
          <p:cNvSpPr/>
          <p:nvPr/>
        </p:nvSpPr>
        <p:spPr>
          <a:xfrm>
            <a:off x="6035040" y="5060805"/>
            <a:ext cx="6240780" cy="205740"/>
          </a:xfrm>
          <a:prstGeom prst="rect">
            <a:avLst/>
          </a:prstGeom>
          <a:noFill/>
          <a:ln/>
        </p:spPr>
        <p:txBody>
          <a:bodyPr wrap="square" lIns="0" tIns="0" rIns="0" bIns="0" rtlCol="0" anchor="ctr"/>
          <a:lstStyle/>
          <a:p>
            <a:r>
              <a:rPr lang="en-US" sz="1455" dirty="0">
                <a:solidFill>
                  <a:srgbClr val="5B6770"/>
                </a:solidFill>
              </a:rPr>
              <a:t>Moves traffic within the branch LAN</a:t>
            </a:r>
            <a:endParaRPr lang="en-US" sz="1455" dirty="0"/>
          </a:p>
        </p:txBody>
      </p:sp>
      <p:sp>
        <p:nvSpPr>
          <p:cNvPr id="28" name="Shape 26"/>
          <p:cNvSpPr/>
          <p:nvPr/>
        </p:nvSpPr>
        <p:spPr>
          <a:xfrm>
            <a:off x="5829300" y="5582013"/>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9" name="Text 27"/>
          <p:cNvSpPr/>
          <p:nvPr/>
        </p:nvSpPr>
        <p:spPr>
          <a:xfrm>
            <a:off x="6035040" y="5664309"/>
            <a:ext cx="6240780" cy="246888"/>
          </a:xfrm>
          <a:prstGeom prst="rect">
            <a:avLst/>
          </a:prstGeom>
          <a:noFill/>
          <a:ln/>
        </p:spPr>
        <p:txBody>
          <a:bodyPr wrap="square" lIns="0" tIns="0" rIns="0" bIns="0" rtlCol="0" anchor="ctr"/>
          <a:lstStyle/>
          <a:p>
            <a:r>
              <a:rPr lang="en-US" sz="2325" b="1" dirty="0">
                <a:solidFill>
                  <a:srgbClr val="15324B"/>
                </a:solidFill>
              </a:rPr>
              <a:t>Branch Router / Firewall</a:t>
            </a:r>
            <a:endParaRPr lang="en-US" sz="2325" dirty="0"/>
          </a:p>
        </p:txBody>
      </p:sp>
      <p:sp>
        <p:nvSpPr>
          <p:cNvPr id="30" name="Text 28"/>
          <p:cNvSpPr/>
          <p:nvPr/>
        </p:nvSpPr>
        <p:spPr>
          <a:xfrm>
            <a:off x="6035040" y="5952345"/>
            <a:ext cx="6240780" cy="205740"/>
          </a:xfrm>
          <a:prstGeom prst="rect">
            <a:avLst/>
          </a:prstGeom>
          <a:noFill/>
          <a:ln/>
        </p:spPr>
        <p:txBody>
          <a:bodyPr wrap="square" lIns="0" tIns="0" rIns="0" bIns="0" rtlCol="0" anchor="ctr"/>
          <a:lstStyle/>
          <a:p>
            <a:r>
              <a:rPr lang="en-US" sz="1455" dirty="0">
                <a:solidFill>
                  <a:srgbClr val="5B6770"/>
                </a:solidFill>
              </a:rPr>
              <a:t>Forwards traffic outside the branch</a:t>
            </a:r>
            <a:endParaRPr lang="en-US" sz="1455" dirty="0"/>
          </a:p>
        </p:txBody>
      </p:sp>
      <p:sp>
        <p:nvSpPr>
          <p:cNvPr id="31" name="Shape 29"/>
          <p:cNvSpPr/>
          <p:nvPr/>
        </p:nvSpPr>
        <p:spPr>
          <a:xfrm>
            <a:off x="5829300" y="6391257"/>
            <a:ext cx="6652260" cy="630936"/>
          </a:xfrm>
          <a:prstGeom prst="roundRect">
            <a:avLst>
              <a:gd name="adj" fmla="val 17391"/>
            </a:avLst>
          </a:prstGeom>
          <a:solidFill>
            <a:srgbClr val="FFFFFF"/>
          </a:solidFill>
          <a:ln w="16510">
            <a:solidFill>
              <a:srgbClr val="5B6770"/>
            </a:solidFill>
            <a:prstDash val="solid"/>
          </a:ln>
        </p:spPr>
        <p:txBody>
          <a:bodyPr/>
          <a:lstStyle/>
          <a:p>
            <a:endParaRPr lang="en-US" sz="2700"/>
          </a:p>
        </p:txBody>
      </p:sp>
      <p:sp>
        <p:nvSpPr>
          <p:cNvPr id="32" name="Text 30"/>
          <p:cNvSpPr/>
          <p:nvPr/>
        </p:nvSpPr>
        <p:spPr>
          <a:xfrm>
            <a:off x="6035040" y="6473553"/>
            <a:ext cx="6240780" cy="246888"/>
          </a:xfrm>
          <a:prstGeom prst="rect">
            <a:avLst/>
          </a:prstGeom>
          <a:noFill/>
          <a:ln/>
        </p:spPr>
        <p:txBody>
          <a:bodyPr wrap="square" lIns="0" tIns="0" rIns="0" bIns="0" rtlCol="0" anchor="ctr"/>
          <a:lstStyle/>
          <a:p>
            <a:r>
              <a:rPr lang="en-US" sz="2325" b="1" dirty="0">
                <a:solidFill>
                  <a:srgbClr val="15324B"/>
                </a:solidFill>
              </a:rPr>
              <a:t>Telecommunications Provider Network</a:t>
            </a:r>
            <a:endParaRPr lang="en-US" sz="2325" dirty="0"/>
          </a:p>
        </p:txBody>
      </p:sp>
      <p:sp>
        <p:nvSpPr>
          <p:cNvPr id="33" name="Text 31"/>
          <p:cNvSpPr/>
          <p:nvPr/>
        </p:nvSpPr>
        <p:spPr>
          <a:xfrm>
            <a:off x="6035040" y="6761589"/>
            <a:ext cx="6240780" cy="205740"/>
          </a:xfrm>
          <a:prstGeom prst="rect">
            <a:avLst/>
          </a:prstGeom>
          <a:noFill/>
          <a:ln/>
        </p:spPr>
        <p:txBody>
          <a:bodyPr wrap="square" lIns="0" tIns="0" rIns="0" bIns="0" rtlCol="0" anchor="ctr"/>
          <a:lstStyle/>
          <a:p>
            <a:r>
              <a:rPr lang="en-US" sz="1455" dirty="0">
                <a:solidFill>
                  <a:srgbClr val="5B6770"/>
                </a:solidFill>
              </a:rPr>
              <a:t>WAN / VPN / MPLS transport</a:t>
            </a:r>
            <a:endParaRPr lang="en-US" sz="1455" dirty="0"/>
          </a:p>
        </p:txBody>
      </p:sp>
      <p:sp>
        <p:nvSpPr>
          <p:cNvPr id="34" name="Shape 32"/>
          <p:cNvSpPr/>
          <p:nvPr/>
        </p:nvSpPr>
        <p:spPr>
          <a:xfrm>
            <a:off x="5829300" y="7707993"/>
            <a:ext cx="6652260" cy="630936"/>
          </a:xfrm>
          <a:prstGeom prst="roundRect">
            <a:avLst>
              <a:gd name="adj" fmla="val 17391"/>
            </a:avLst>
          </a:prstGeom>
          <a:solidFill>
            <a:srgbClr val="FFFFFF"/>
          </a:solidFill>
          <a:ln w="16510">
            <a:solidFill>
              <a:srgbClr val="2E7D7D"/>
            </a:solidFill>
            <a:prstDash val="solid"/>
          </a:ln>
        </p:spPr>
        <p:txBody>
          <a:bodyPr/>
          <a:lstStyle/>
          <a:p>
            <a:endParaRPr lang="en-US" sz="2700"/>
          </a:p>
        </p:txBody>
      </p:sp>
      <p:sp>
        <p:nvSpPr>
          <p:cNvPr id="35" name="Text 33"/>
          <p:cNvSpPr/>
          <p:nvPr/>
        </p:nvSpPr>
        <p:spPr>
          <a:xfrm>
            <a:off x="6035040" y="7790289"/>
            <a:ext cx="6240780" cy="246888"/>
          </a:xfrm>
          <a:prstGeom prst="rect">
            <a:avLst/>
          </a:prstGeom>
          <a:noFill/>
          <a:ln/>
        </p:spPr>
        <p:txBody>
          <a:bodyPr wrap="square" lIns="0" tIns="0" rIns="0" bIns="0" rtlCol="0" anchor="ctr"/>
          <a:lstStyle/>
          <a:p>
            <a:r>
              <a:rPr lang="en-US" sz="2325" b="1" dirty="0">
                <a:solidFill>
                  <a:srgbClr val="15324B"/>
                </a:solidFill>
              </a:rPr>
              <a:t>Vendor-Hosted Core Processor</a:t>
            </a:r>
            <a:endParaRPr lang="en-US" sz="2325" dirty="0"/>
          </a:p>
        </p:txBody>
      </p:sp>
      <p:sp>
        <p:nvSpPr>
          <p:cNvPr id="36" name="Text 34"/>
          <p:cNvSpPr/>
          <p:nvPr/>
        </p:nvSpPr>
        <p:spPr>
          <a:xfrm>
            <a:off x="6035040" y="8078325"/>
            <a:ext cx="6240780" cy="205740"/>
          </a:xfrm>
          <a:prstGeom prst="rect">
            <a:avLst/>
          </a:prstGeom>
          <a:noFill/>
          <a:ln/>
        </p:spPr>
        <p:txBody>
          <a:bodyPr wrap="square" lIns="0" tIns="0" rIns="0" bIns="0" rtlCol="0" anchor="ctr"/>
          <a:lstStyle/>
          <a:p>
            <a:r>
              <a:rPr lang="en-US" sz="1455" dirty="0">
                <a:solidFill>
                  <a:srgbClr val="5B6770"/>
                </a:solidFill>
              </a:rPr>
              <a:t>Core banking application</a:t>
            </a:r>
            <a:endParaRPr lang="en-US" sz="1455" dirty="0"/>
          </a:p>
        </p:txBody>
      </p:sp>
      <p:sp>
        <p:nvSpPr>
          <p:cNvPr id="37" name="Shape 35"/>
          <p:cNvSpPr/>
          <p:nvPr/>
        </p:nvSpPr>
        <p:spPr>
          <a:xfrm>
            <a:off x="5829300" y="8599533"/>
            <a:ext cx="6652260" cy="630936"/>
          </a:xfrm>
          <a:prstGeom prst="roundRect">
            <a:avLst>
              <a:gd name="adj" fmla="val 17391"/>
            </a:avLst>
          </a:prstGeom>
          <a:solidFill>
            <a:srgbClr val="FFFFFF"/>
          </a:solidFill>
          <a:ln w="16510">
            <a:solidFill>
              <a:srgbClr val="2E7D7D"/>
            </a:solidFill>
            <a:prstDash val="solid"/>
          </a:ln>
        </p:spPr>
        <p:txBody>
          <a:bodyPr/>
          <a:lstStyle/>
          <a:p>
            <a:endParaRPr lang="en-US" sz="2700"/>
          </a:p>
        </p:txBody>
      </p:sp>
      <p:sp>
        <p:nvSpPr>
          <p:cNvPr id="38" name="Text 36"/>
          <p:cNvSpPr/>
          <p:nvPr/>
        </p:nvSpPr>
        <p:spPr>
          <a:xfrm>
            <a:off x="6035040" y="8681829"/>
            <a:ext cx="6240780" cy="246888"/>
          </a:xfrm>
          <a:prstGeom prst="rect">
            <a:avLst/>
          </a:prstGeom>
          <a:noFill/>
          <a:ln/>
        </p:spPr>
        <p:txBody>
          <a:bodyPr wrap="square" lIns="0" tIns="0" rIns="0" bIns="0" rtlCol="0" anchor="ctr"/>
          <a:lstStyle/>
          <a:p>
            <a:r>
              <a:rPr lang="en-US" sz="2325" b="1" dirty="0">
                <a:solidFill>
                  <a:srgbClr val="15324B"/>
                </a:solidFill>
              </a:rPr>
              <a:t>Customer Account Database</a:t>
            </a:r>
            <a:endParaRPr lang="en-US" sz="2325" dirty="0"/>
          </a:p>
        </p:txBody>
      </p:sp>
      <p:sp>
        <p:nvSpPr>
          <p:cNvPr id="39" name="Text 37"/>
          <p:cNvSpPr/>
          <p:nvPr/>
        </p:nvSpPr>
        <p:spPr>
          <a:xfrm>
            <a:off x="6035040" y="8969865"/>
            <a:ext cx="6240780" cy="205740"/>
          </a:xfrm>
          <a:prstGeom prst="rect">
            <a:avLst/>
          </a:prstGeom>
          <a:noFill/>
          <a:ln/>
        </p:spPr>
        <p:txBody>
          <a:bodyPr wrap="square" lIns="0" tIns="0" rIns="0" bIns="0" rtlCol="0" anchor="ctr"/>
          <a:lstStyle/>
          <a:p>
            <a:r>
              <a:rPr lang="en-US" sz="1455" dirty="0">
                <a:solidFill>
                  <a:srgbClr val="5B6770"/>
                </a:solidFill>
              </a:rPr>
              <a:t>Account balance found</a:t>
            </a:r>
            <a:endParaRPr lang="en-US" sz="1455" dirty="0"/>
          </a:p>
        </p:txBody>
      </p:sp>
      <p:sp>
        <p:nvSpPr>
          <p:cNvPr id="40" name="Shape 38"/>
          <p:cNvSpPr/>
          <p:nvPr/>
        </p:nvSpPr>
        <p:spPr>
          <a:xfrm>
            <a:off x="617220" y="9354312"/>
            <a:ext cx="17076420" cy="617220"/>
          </a:xfrm>
          <a:prstGeom prst="rect">
            <a:avLst/>
          </a:prstGeom>
          <a:solidFill>
            <a:srgbClr val="F8FAFB"/>
          </a:solidFill>
          <a:ln w="12700">
            <a:solidFill>
              <a:srgbClr val="E2E6EA"/>
            </a:solidFill>
            <a:prstDash val="solid"/>
          </a:ln>
        </p:spPr>
        <p:txBody>
          <a:bodyPr/>
          <a:lstStyle/>
          <a:p>
            <a:endParaRPr lang="en-US" sz="3600"/>
          </a:p>
        </p:txBody>
      </p:sp>
      <p:sp>
        <p:nvSpPr>
          <p:cNvPr id="41" name="Text 39"/>
          <p:cNvSpPr/>
          <p:nvPr/>
        </p:nvSpPr>
        <p:spPr>
          <a:xfrm>
            <a:off x="891540" y="9518904"/>
            <a:ext cx="16527780" cy="246888"/>
          </a:xfrm>
          <a:prstGeom prst="rect">
            <a:avLst/>
          </a:prstGeom>
          <a:noFill/>
          <a:ln/>
        </p:spPr>
        <p:txBody>
          <a:bodyPr wrap="square" lIns="0" tIns="0" rIns="0" bIns="0" rtlCol="0" anchor="ctr"/>
          <a:lstStyle/>
          <a:p>
            <a:r>
              <a:rPr lang="en-US" sz="3200" dirty="0">
                <a:solidFill>
                  <a:srgbClr val="15324B"/>
                </a:solidFill>
              </a:rPr>
              <a:t>Every transaction depends on addressing, forwarding, transmission, delivery, and a return path.</a:t>
            </a:r>
            <a:endParaRPr lang="en-US" sz="3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672" y="311053"/>
            <a:ext cx="15773400" cy="1988345"/>
          </a:xfrm>
        </p:spPr>
        <p:txBody>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What is a Firewall?</a:t>
            </a:r>
          </a:p>
        </p:txBody>
      </p:sp>
      <p:pic>
        <p:nvPicPr>
          <p:cNvPr id="7" name="Picture 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09700" y="2148302"/>
            <a:ext cx="3151586" cy="1575794"/>
          </a:xfrm>
          <a:prstGeom prst="rect">
            <a:avLst/>
          </a:prstGeom>
        </p:spPr>
      </p:pic>
      <p:sp>
        <p:nvSpPr>
          <p:cNvPr id="9" name="Right Arrow 8"/>
          <p:cNvSpPr/>
          <p:nvPr/>
        </p:nvSpPr>
        <p:spPr bwMode="auto">
          <a:xfrm rot="2327900">
            <a:off x="6665834" y="4230409"/>
            <a:ext cx="1413035" cy="1132592"/>
          </a:xfrm>
          <a:prstGeom prst="rightArrow">
            <a:avLst/>
          </a:prstGeom>
          <a:solidFill>
            <a:srgbClr val="008000"/>
          </a:solidFill>
          <a:ln w="28575" cap="flat" cmpd="sng" algn="ctr">
            <a:no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10" name="Right Arrow 9"/>
          <p:cNvSpPr/>
          <p:nvPr/>
        </p:nvSpPr>
        <p:spPr bwMode="auto">
          <a:xfrm rot="13062618">
            <a:off x="9184163" y="6531128"/>
            <a:ext cx="1413035" cy="1132592"/>
          </a:xfrm>
          <a:prstGeom prst="rightArrow">
            <a:avLst/>
          </a:prstGeom>
          <a:solidFill>
            <a:srgbClr val="008000"/>
          </a:solidFill>
          <a:ln w="28575" cap="flat" cmpd="sng" algn="ctr">
            <a:no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11" name="TextBox 10"/>
          <p:cNvSpPr txBox="1"/>
          <p:nvPr/>
        </p:nvSpPr>
        <p:spPr>
          <a:xfrm>
            <a:off x="10355750" y="3634201"/>
            <a:ext cx="3479607" cy="923330"/>
          </a:xfrm>
          <a:prstGeom prst="rect">
            <a:avLst/>
          </a:prstGeom>
          <a:noFill/>
        </p:spPr>
        <p:txBody>
          <a:bodyPr wrap="none" rtlCol="0">
            <a:spAutoFit/>
          </a:bodyPr>
          <a:lstStyle/>
          <a:p>
            <a:r>
              <a:rPr lang="en-US" sz="2700" dirty="0">
                <a:latin typeface="+mj-lt"/>
              </a:rPr>
              <a:t>Blocks or permits traffic</a:t>
            </a:r>
          </a:p>
          <a:p>
            <a:r>
              <a:rPr lang="en-US" sz="2700" dirty="0">
                <a:latin typeface="+mj-lt"/>
              </a:rPr>
              <a:t>based on a set of rules</a:t>
            </a:r>
          </a:p>
        </p:txBody>
      </p:sp>
      <p:grpSp>
        <p:nvGrpSpPr>
          <p:cNvPr id="16" name="Group 15"/>
          <p:cNvGrpSpPr/>
          <p:nvPr/>
        </p:nvGrpSpPr>
        <p:grpSpPr>
          <a:xfrm>
            <a:off x="2743200" y="1943100"/>
            <a:ext cx="4572000" cy="3086100"/>
            <a:chOff x="-3124200" y="1600200"/>
            <a:chExt cx="3048000" cy="2057400"/>
          </a:xfrm>
        </p:grpSpPr>
        <p:sp>
          <p:nvSpPr>
            <p:cNvPr id="17" name="Cloud 16"/>
            <p:cNvSpPr/>
            <p:nvPr/>
          </p:nvSpPr>
          <p:spPr bwMode="auto">
            <a:xfrm>
              <a:off x="-3124200" y="1600200"/>
              <a:ext cx="3048000" cy="2057400"/>
            </a:xfrm>
            <a:prstGeom prst="cloud">
              <a:avLst/>
            </a:prstGeom>
            <a:solidFill>
              <a:schemeClr val="accent1"/>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600" b="1">
                <a:solidFill>
                  <a:schemeClr val="bg1"/>
                </a:solidFill>
                <a:latin typeface="Arial Narrow" pitchFamily="34" charset="0"/>
              </a:endParaRPr>
            </a:p>
          </p:txBody>
        </p:sp>
        <p:sp>
          <p:nvSpPr>
            <p:cNvPr id="18" name="TextBox 17"/>
            <p:cNvSpPr txBox="1"/>
            <p:nvPr/>
          </p:nvSpPr>
          <p:spPr>
            <a:xfrm>
              <a:off x="-2342548" y="1982571"/>
              <a:ext cx="1405513" cy="1292661"/>
            </a:xfrm>
            <a:prstGeom prst="rect">
              <a:avLst/>
            </a:prstGeom>
            <a:noFill/>
          </p:spPr>
          <p:txBody>
            <a:bodyPr wrap="none" rtlCol="0" anchor="ctr">
              <a:spAutoFit/>
            </a:bodyPr>
            <a:lstStyle/>
            <a:p>
              <a:r>
                <a:rPr lang="en-US" sz="4000" b="1" dirty="0">
                  <a:solidFill>
                    <a:schemeClr val="bg1"/>
                  </a:solidFill>
                  <a:latin typeface="+mj-lt"/>
                </a:rPr>
                <a:t>Outside</a:t>
              </a:r>
              <a:br>
                <a:rPr lang="en-US" sz="4000" dirty="0">
                  <a:solidFill>
                    <a:schemeClr val="bg1"/>
                  </a:solidFill>
                  <a:latin typeface="+mj-lt"/>
                </a:rPr>
              </a:br>
              <a:r>
                <a:rPr lang="en-US" sz="4000" dirty="0">
                  <a:solidFill>
                    <a:schemeClr val="bg1"/>
                  </a:solidFill>
                  <a:latin typeface="+mj-lt"/>
                </a:rPr>
                <a:t>(Security </a:t>
              </a:r>
              <a:br>
                <a:rPr lang="en-US" sz="4000" dirty="0">
                  <a:solidFill>
                    <a:schemeClr val="bg1"/>
                  </a:solidFill>
                  <a:latin typeface="+mj-lt"/>
                </a:rPr>
              </a:br>
              <a:r>
                <a:rPr lang="en-US" sz="4000" dirty="0">
                  <a:solidFill>
                    <a:schemeClr val="bg1"/>
                  </a:solidFill>
                  <a:latin typeface="+mj-lt"/>
                </a:rPr>
                <a:t>Zone 1)</a:t>
              </a:r>
            </a:p>
          </p:txBody>
        </p:sp>
      </p:grpSp>
      <p:grpSp>
        <p:nvGrpSpPr>
          <p:cNvPr id="19" name="Group 18"/>
          <p:cNvGrpSpPr/>
          <p:nvPr/>
        </p:nvGrpSpPr>
        <p:grpSpPr>
          <a:xfrm>
            <a:off x="10287000" y="6743700"/>
            <a:ext cx="4572000" cy="3086100"/>
            <a:chOff x="-3124200" y="1600200"/>
            <a:chExt cx="3048000" cy="2057400"/>
          </a:xfrm>
        </p:grpSpPr>
        <p:sp>
          <p:nvSpPr>
            <p:cNvPr id="20" name="Cloud 19"/>
            <p:cNvSpPr/>
            <p:nvPr/>
          </p:nvSpPr>
          <p:spPr bwMode="auto">
            <a:xfrm>
              <a:off x="-3124200" y="1600200"/>
              <a:ext cx="3048000" cy="2057400"/>
            </a:xfrm>
            <a:prstGeom prst="cloud">
              <a:avLst/>
            </a:prstGeom>
            <a:solidFill>
              <a:schemeClr val="accent1"/>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600" b="1">
                <a:solidFill>
                  <a:schemeClr val="bg1"/>
                </a:solidFill>
                <a:latin typeface="Arial Narrow" pitchFamily="34" charset="0"/>
              </a:endParaRPr>
            </a:p>
          </p:txBody>
        </p:sp>
        <p:sp>
          <p:nvSpPr>
            <p:cNvPr id="21" name="TextBox 20"/>
            <p:cNvSpPr txBox="1"/>
            <p:nvPr/>
          </p:nvSpPr>
          <p:spPr>
            <a:xfrm>
              <a:off x="-2342548" y="1982571"/>
              <a:ext cx="1405513" cy="1292661"/>
            </a:xfrm>
            <a:prstGeom prst="rect">
              <a:avLst/>
            </a:prstGeom>
            <a:noFill/>
          </p:spPr>
          <p:txBody>
            <a:bodyPr wrap="none" rtlCol="0" anchor="ctr">
              <a:spAutoFit/>
            </a:bodyPr>
            <a:lstStyle/>
            <a:p>
              <a:r>
                <a:rPr lang="en-US" sz="4000" b="1" dirty="0">
                  <a:solidFill>
                    <a:schemeClr val="bg1"/>
                  </a:solidFill>
                  <a:latin typeface="+mj-lt"/>
                </a:rPr>
                <a:t>Inside</a:t>
              </a:r>
            </a:p>
            <a:p>
              <a:r>
                <a:rPr lang="en-US" sz="4000" dirty="0">
                  <a:solidFill>
                    <a:schemeClr val="bg1"/>
                  </a:solidFill>
                  <a:latin typeface="+mj-lt"/>
                </a:rPr>
                <a:t>(Security </a:t>
              </a:r>
              <a:br>
                <a:rPr lang="en-US" sz="4000" dirty="0">
                  <a:solidFill>
                    <a:schemeClr val="bg1"/>
                  </a:solidFill>
                  <a:latin typeface="+mj-lt"/>
                </a:rPr>
              </a:br>
              <a:r>
                <a:rPr lang="en-US" sz="4000" dirty="0">
                  <a:solidFill>
                    <a:schemeClr val="bg1"/>
                  </a:solidFill>
                  <a:latin typeface="+mj-lt"/>
                </a:rPr>
                <a:t>Zone 2)</a:t>
              </a:r>
            </a:p>
          </p:txBody>
        </p:sp>
      </p:grpSp>
      <p:pic>
        <p:nvPicPr>
          <p:cNvPr id="22" name="Picture 2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543800" y="5029201"/>
            <a:ext cx="2700936" cy="1862972"/>
          </a:xfrm>
          <a:prstGeom prst="rect">
            <a:avLst/>
          </a:prstGeom>
        </p:spPr>
      </p:pic>
      <p:sp>
        <p:nvSpPr>
          <p:cNvPr id="14" name="TextBox 13">
            <a:extLst>
              <a:ext uri="{FF2B5EF4-FFF2-40B4-BE49-F238E27FC236}">
                <a16:creationId xmlns:a16="http://schemas.microsoft.com/office/drawing/2014/main" id="{845E60D9-2ACC-1DE5-C3A6-7A9FD8DA3F69}"/>
              </a:ext>
            </a:extLst>
          </p:cNvPr>
          <p:cNvSpPr txBox="1"/>
          <p:nvPr/>
        </p:nvSpPr>
        <p:spPr>
          <a:xfrm>
            <a:off x="1128787" y="6635740"/>
            <a:ext cx="6162863" cy="3416320"/>
          </a:xfrm>
          <a:prstGeom prst="rect">
            <a:avLst/>
          </a:prstGeom>
          <a:noFill/>
        </p:spPr>
        <p:txBody>
          <a:bodyPr wrap="square" rtlCol="0">
            <a:spAutoFit/>
          </a:bodyPr>
          <a:lstStyle/>
          <a:p>
            <a:r>
              <a:rPr lang="en-US" sz="2700" dirty="0">
                <a:latin typeface="+mj-lt"/>
              </a:rPr>
              <a:t>In the VPN course, we learn how outmoded – yet persistent – this “zone” way of thinking is.</a:t>
            </a:r>
          </a:p>
          <a:p>
            <a:endParaRPr lang="en-US" sz="2700" dirty="0">
              <a:latin typeface="+mj-lt"/>
            </a:endParaRPr>
          </a:p>
          <a:p>
            <a:r>
              <a:rPr lang="en-US" sz="2700" dirty="0">
                <a:latin typeface="+mj-lt"/>
              </a:rPr>
              <a:t>“Outside” no longer means “untrusted” and “inside” is no guarantee of trust.</a:t>
            </a:r>
          </a:p>
          <a:p>
            <a:endParaRPr lang="en-US" sz="2700" dirty="0">
              <a:latin typeface="+mj-lt"/>
            </a:endParaRPr>
          </a:p>
          <a:p>
            <a:endParaRPr lang="en-US" sz="2700" dirty="0">
              <a:latin typeface="+mj-lt"/>
            </a:endParaRPr>
          </a:p>
        </p:txBody>
      </p:sp>
    </p:spTree>
    <p:custDataLst>
      <p:tags r:id="rId1"/>
    </p:custDataLst>
    <p:extLst>
      <p:ext uri="{BB962C8B-B14F-4D97-AF65-F5344CB8AC3E}">
        <p14:creationId xmlns:p14="http://schemas.microsoft.com/office/powerpoint/2010/main" val="2687052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Bank Use Firewalls</a:t>
            </a:r>
          </a:p>
        </p:txBody>
      </p:sp>
      <p:sp>
        <p:nvSpPr>
          <p:cNvPr id="4" name="Content Placeholder 3"/>
          <p:cNvSpPr>
            <a:spLocks noGrp="1"/>
          </p:cNvSpPr>
          <p:nvPr>
            <p:ph idx="1"/>
          </p:nvPr>
        </p:nvSpPr>
        <p:spPr>
          <a:xfrm>
            <a:off x="971547" y="2171700"/>
            <a:ext cx="9597215" cy="7315200"/>
          </a:xfrm>
        </p:spPr>
        <p:txBody>
          <a:bodyPr>
            <a:normAutofit/>
          </a:bodyPr>
          <a:lstStyle/>
          <a:p>
            <a:r>
              <a:rPr lang="en-US" dirty="0"/>
              <a:t>Provide a network control point</a:t>
            </a:r>
          </a:p>
          <a:p>
            <a:r>
              <a:rPr lang="en-US" dirty="0"/>
              <a:t>Establish different security zones</a:t>
            </a:r>
          </a:p>
          <a:p>
            <a:r>
              <a:rPr lang="en-US" dirty="0"/>
              <a:t>Limit access to sensitive data</a:t>
            </a:r>
          </a:p>
          <a:p>
            <a:r>
              <a:rPr lang="en-US" dirty="0"/>
              <a:t>Meet compliance requirements</a:t>
            </a:r>
          </a:p>
          <a:p>
            <a:r>
              <a:rPr lang="en-US" dirty="0"/>
              <a:t>Protection from litigation</a:t>
            </a:r>
          </a:p>
          <a:p>
            <a:r>
              <a:rPr lang="en-US" dirty="0"/>
              <a:t>Gather statistics on network usage</a:t>
            </a:r>
          </a:p>
          <a:p>
            <a:r>
              <a:rPr lang="en-US" dirty="0"/>
              <a:t>Block unauthorized types of traffic</a:t>
            </a:r>
          </a:p>
          <a:p>
            <a:r>
              <a:rPr lang="en-US" dirty="0"/>
              <a:t>Limit transfers to known safe locations</a:t>
            </a:r>
          </a:p>
          <a:p>
            <a:endParaRPr lang="en-US" dirty="0"/>
          </a:p>
          <a:p>
            <a:endParaRPr lang="en-US" dirty="0"/>
          </a:p>
        </p:txBody>
      </p:sp>
      <p:pic>
        <p:nvPicPr>
          <p:cNvPr id="8" name="Picture 7"/>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955870" y="4146697"/>
            <a:ext cx="7143750" cy="4914900"/>
          </a:xfrm>
          <a:prstGeom prst="rect">
            <a:avLst/>
          </a:prstGeom>
        </p:spPr>
      </p:pic>
    </p:spTree>
    <p:custDataLst>
      <p:tags r:id="rId1"/>
    </p:custDataLst>
    <p:extLst>
      <p:ext uri="{BB962C8B-B14F-4D97-AF65-F5344CB8AC3E}">
        <p14:creationId xmlns:p14="http://schemas.microsoft.com/office/powerpoint/2010/main" val="4069822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22829" y="251853"/>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IP Header Filters</a:t>
            </a:r>
          </a:p>
        </p:txBody>
      </p:sp>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208276" y="2400300"/>
            <a:ext cx="11393424" cy="6793992"/>
          </a:xfrm>
          <a:prstGeom prst="rect">
            <a:avLst/>
          </a:prstGeom>
        </p:spPr>
      </p:pic>
    </p:spTree>
    <p:custDataLst>
      <p:tags r:id="rId1"/>
    </p:custDataLst>
    <p:extLst>
      <p:ext uri="{BB962C8B-B14F-4D97-AF65-F5344CB8AC3E}">
        <p14:creationId xmlns:p14="http://schemas.microsoft.com/office/powerpoint/2010/main" val="39045297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183355"/>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Packet Filtering</a:t>
            </a:r>
          </a:p>
        </p:txBody>
      </p:sp>
      <p:sp>
        <p:nvSpPr>
          <p:cNvPr id="6" name="Content Placeholder 5"/>
          <p:cNvSpPr>
            <a:spLocks noGrp="1"/>
          </p:cNvSpPr>
          <p:nvPr>
            <p:ph sz="half" idx="2"/>
          </p:nvPr>
        </p:nvSpPr>
        <p:spPr/>
        <p:txBody>
          <a:bodyPr>
            <a:normAutofit fontScale="92500" lnSpcReduction="10000"/>
          </a:bodyPr>
          <a:lstStyle/>
          <a:p>
            <a:endParaRPr lang="en-US" dirty="0"/>
          </a:p>
          <a:p>
            <a:r>
              <a:rPr lang="en-US" dirty="0"/>
              <a:t>Basic firewall feature</a:t>
            </a:r>
          </a:p>
          <a:p>
            <a:r>
              <a:rPr lang="en-US" dirty="0"/>
              <a:t>Usually implemented in the router</a:t>
            </a:r>
          </a:p>
          <a:p>
            <a:r>
              <a:rPr lang="en-US" dirty="0"/>
              <a:t>Treats each packet independently</a:t>
            </a:r>
          </a:p>
          <a:p>
            <a:r>
              <a:rPr lang="en-US" dirty="0"/>
              <a:t>Filters based on source and destination addresses (IP and Port)</a:t>
            </a:r>
          </a:p>
          <a:p>
            <a:r>
              <a:rPr lang="en-US" dirty="0"/>
              <a:t>For example:</a:t>
            </a:r>
            <a:br>
              <a:rPr lang="en-US" dirty="0"/>
            </a:br>
            <a:endParaRPr lang="en-US" b="0" i="1" dirty="0">
              <a:latin typeface="Courier" charset="0"/>
              <a:ea typeface="Courier" charset="0"/>
              <a:cs typeface="Courier" charset="0"/>
            </a:endParaRPr>
          </a:p>
          <a:p>
            <a:pPr marL="0" indent="0">
              <a:buNone/>
            </a:pPr>
            <a:r>
              <a:rPr lang="en-US" b="0" i="1" dirty="0">
                <a:latin typeface="Courier" charset="0"/>
                <a:ea typeface="Courier" charset="0"/>
                <a:cs typeface="Courier" charset="0"/>
              </a:rPr>
              <a:t>filter all outbound private IP addresses </a:t>
            </a:r>
          </a:p>
          <a:p>
            <a:endParaRPr lang="en-US" dirty="0"/>
          </a:p>
        </p:txBody>
      </p:sp>
      <p:pic>
        <p:nvPicPr>
          <p:cNvPr id="4" name="Picture 3"/>
          <p:cNvPicPr>
            <a:picLocks noChangeAspect="1"/>
          </p:cNvPicPr>
          <p:nvPr/>
        </p:nvPicPr>
        <p:blipFill>
          <a:blip r:embed="rId4"/>
          <a:stretch>
            <a:fillRect/>
          </a:stretch>
        </p:blipFill>
        <p:spPr>
          <a:xfrm>
            <a:off x="2652147" y="2171700"/>
            <a:ext cx="5181600" cy="6057900"/>
          </a:xfrm>
          <a:prstGeom prst="rect">
            <a:avLst/>
          </a:prstGeom>
        </p:spPr>
      </p:pic>
    </p:spTree>
    <p:custDataLst>
      <p:tags r:id="rId1"/>
    </p:custDataLst>
    <p:extLst>
      <p:ext uri="{BB962C8B-B14F-4D97-AF65-F5344CB8AC3E}">
        <p14:creationId xmlns:p14="http://schemas.microsoft.com/office/powerpoint/2010/main" val="41943099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Stateful</a:t>
            </a:r>
            <a:r>
              <a:rPr lang="en-US"/>
              <a:t> Inspection</a:t>
            </a:r>
          </a:p>
        </p:txBody>
      </p:sp>
      <p:sp>
        <p:nvSpPr>
          <p:cNvPr id="3" name="Content Placeholder 2"/>
          <p:cNvSpPr>
            <a:spLocks noGrp="1"/>
          </p:cNvSpPr>
          <p:nvPr>
            <p:ph idx="1"/>
          </p:nvPr>
        </p:nvSpPr>
        <p:spPr/>
        <p:txBody>
          <a:bodyPr/>
          <a:lstStyle/>
          <a:p>
            <a:r>
              <a:rPr lang="en-US" dirty="0"/>
              <a:t>Improves on packet filters</a:t>
            </a:r>
          </a:p>
          <a:p>
            <a:r>
              <a:rPr lang="en-US" dirty="0"/>
              <a:t>Tracks the </a:t>
            </a:r>
            <a:r>
              <a:rPr lang="en-US" i="1" dirty="0"/>
              <a:t>state</a:t>
            </a:r>
            <a:r>
              <a:rPr lang="en-US" dirty="0"/>
              <a:t> connections for TCP and other protocols</a:t>
            </a:r>
          </a:p>
          <a:p>
            <a:r>
              <a:rPr lang="en-US" dirty="0"/>
              <a:t>TCP connections can be in three states</a:t>
            </a:r>
          </a:p>
          <a:p>
            <a:pPr lvl="1"/>
            <a:r>
              <a:rPr lang="en-US" dirty="0"/>
              <a:t>Connection establishment</a:t>
            </a:r>
          </a:p>
          <a:p>
            <a:pPr lvl="1"/>
            <a:r>
              <a:rPr lang="en-US" dirty="0"/>
              <a:t>Established</a:t>
            </a:r>
          </a:p>
          <a:p>
            <a:pPr lvl="1"/>
            <a:r>
              <a:rPr lang="en-US" dirty="0"/>
              <a:t>Termination</a:t>
            </a:r>
          </a:p>
          <a:p>
            <a:r>
              <a:rPr lang="en-US" dirty="0"/>
              <a:t>Connectionless UDP still follows protocol sequence, e.g., a DNS response is always preceded by a DNS query</a:t>
            </a:r>
          </a:p>
          <a:p>
            <a:r>
              <a:rPr lang="en-US" dirty="0"/>
              <a:t>State table tracks the status/state of connections</a:t>
            </a:r>
          </a:p>
          <a:p>
            <a:endParaRPr lang="en-US" dirty="0"/>
          </a:p>
        </p:txBody>
      </p:sp>
    </p:spTree>
    <p:custDataLst>
      <p:tags r:id="rId1"/>
    </p:custDataLst>
    <p:extLst>
      <p:ext uri="{BB962C8B-B14F-4D97-AF65-F5344CB8AC3E}">
        <p14:creationId xmlns:p14="http://schemas.microsoft.com/office/powerpoint/2010/main" val="3771011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Connection State Table</a:t>
            </a:r>
          </a:p>
        </p:txBody>
      </p:sp>
      <p:graphicFrame>
        <p:nvGraphicFramePr>
          <p:cNvPr id="4" name="Content Placeholder 3"/>
          <p:cNvGraphicFramePr>
            <a:graphicFrameLocks noGrp="1"/>
          </p:cNvGraphicFramePr>
          <p:nvPr>
            <p:ph idx="1"/>
          </p:nvPr>
        </p:nvGraphicFramePr>
        <p:xfrm>
          <a:off x="2277139" y="3774558"/>
          <a:ext cx="13113161" cy="5074920"/>
        </p:xfrm>
        <a:graphic>
          <a:graphicData uri="http://schemas.openxmlformats.org/drawingml/2006/table">
            <a:tbl>
              <a:tblPr firstRow="1" bandRow="1">
                <a:tableStyleId>{5C22544A-7EE6-4342-B048-85BDC9FD1C3A}</a:tableStyleId>
              </a:tblPr>
              <a:tblGrid>
                <a:gridCol w="2622632">
                  <a:extLst>
                    <a:ext uri="{9D8B030D-6E8A-4147-A177-3AD203B41FA5}">
                      <a16:colId xmlns:a16="http://schemas.microsoft.com/office/drawing/2014/main" val="20000"/>
                    </a:ext>
                  </a:extLst>
                </a:gridCol>
                <a:gridCol w="1841423">
                  <a:extLst>
                    <a:ext uri="{9D8B030D-6E8A-4147-A177-3AD203B41FA5}">
                      <a16:colId xmlns:a16="http://schemas.microsoft.com/office/drawing/2014/main" val="20001"/>
                    </a:ext>
                  </a:extLst>
                </a:gridCol>
                <a:gridCol w="3403842">
                  <a:extLst>
                    <a:ext uri="{9D8B030D-6E8A-4147-A177-3AD203B41FA5}">
                      <a16:colId xmlns:a16="http://schemas.microsoft.com/office/drawing/2014/main" val="20002"/>
                    </a:ext>
                  </a:extLst>
                </a:gridCol>
                <a:gridCol w="2622632">
                  <a:extLst>
                    <a:ext uri="{9D8B030D-6E8A-4147-A177-3AD203B41FA5}">
                      <a16:colId xmlns:a16="http://schemas.microsoft.com/office/drawing/2014/main" val="20003"/>
                    </a:ext>
                  </a:extLst>
                </a:gridCol>
                <a:gridCol w="2622632">
                  <a:extLst>
                    <a:ext uri="{9D8B030D-6E8A-4147-A177-3AD203B41FA5}">
                      <a16:colId xmlns:a16="http://schemas.microsoft.com/office/drawing/2014/main" val="20004"/>
                    </a:ext>
                  </a:extLst>
                </a:gridCol>
              </a:tblGrid>
              <a:tr h="1234440">
                <a:tc>
                  <a:txBody>
                    <a:bodyPr/>
                    <a:lstStyle/>
                    <a:p>
                      <a:pPr algn="ctr"/>
                      <a:r>
                        <a:rPr lang="en-US" sz="3600" dirty="0"/>
                        <a:t>Source Address</a:t>
                      </a:r>
                    </a:p>
                  </a:txBody>
                  <a:tcPr marL="137160" marR="137160" marT="68580" marB="68580"/>
                </a:tc>
                <a:tc>
                  <a:txBody>
                    <a:bodyPr/>
                    <a:lstStyle/>
                    <a:p>
                      <a:pPr algn="ctr"/>
                      <a:r>
                        <a:rPr lang="en-US" sz="3600"/>
                        <a:t>Source Port</a:t>
                      </a:r>
                    </a:p>
                  </a:txBody>
                  <a:tcPr marL="137160" marR="137160" marT="68580" marB="68580"/>
                </a:tc>
                <a:tc>
                  <a:txBody>
                    <a:bodyPr/>
                    <a:lstStyle/>
                    <a:p>
                      <a:pPr algn="ctr"/>
                      <a:r>
                        <a:rPr lang="en-US" sz="3600" dirty="0"/>
                        <a:t>Destination Address</a:t>
                      </a:r>
                    </a:p>
                  </a:txBody>
                  <a:tcPr marL="137160" marR="137160" marT="68580" marB="68580"/>
                </a:tc>
                <a:tc>
                  <a:txBody>
                    <a:bodyPr/>
                    <a:lstStyle/>
                    <a:p>
                      <a:pPr algn="ctr"/>
                      <a:r>
                        <a:rPr lang="en-US" sz="3600" dirty="0"/>
                        <a:t>Destination Port</a:t>
                      </a:r>
                    </a:p>
                  </a:txBody>
                  <a:tcPr marL="137160" marR="137160" marT="68580" marB="68580"/>
                </a:tc>
                <a:tc>
                  <a:txBody>
                    <a:bodyPr/>
                    <a:lstStyle/>
                    <a:p>
                      <a:pPr algn="ctr"/>
                      <a:r>
                        <a:rPr lang="en-US" sz="3600"/>
                        <a:t>Connection State</a:t>
                      </a:r>
                    </a:p>
                  </a:txBody>
                  <a:tcPr marL="137160" marR="137160" marT="68580" marB="68580"/>
                </a:tc>
                <a:extLst>
                  <a:ext uri="{0D108BD9-81ED-4DB2-BD59-A6C34878D82A}">
                    <a16:rowId xmlns:a16="http://schemas.microsoft.com/office/drawing/2014/main" val="10000"/>
                  </a:ext>
                </a:extLst>
              </a:tr>
              <a:tr h="685800">
                <a:tc>
                  <a:txBody>
                    <a:bodyPr/>
                    <a:lstStyle/>
                    <a:p>
                      <a:pPr algn="ctr"/>
                      <a:r>
                        <a:rPr lang="en-US" sz="3600"/>
                        <a:t>10.0.1.50</a:t>
                      </a:r>
                    </a:p>
                  </a:txBody>
                  <a:tcPr marL="137160" marR="137160" marT="68580" marB="68580"/>
                </a:tc>
                <a:tc>
                  <a:txBody>
                    <a:bodyPr/>
                    <a:lstStyle/>
                    <a:p>
                      <a:pPr algn="ctr"/>
                      <a:r>
                        <a:rPr lang="en-US" sz="3600"/>
                        <a:t>1024</a:t>
                      </a:r>
                    </a:p>
                  </a:txBody>
                  <a:tcPr marL="137160" marR="137160" marT="68580" marB="68580"/>
                </a:tc>
                <a:tc>
                  <a:txBody>
                    <a:bodyPr/>
                    <a:lstStyle/>
                    <a:p>
                      <a:pPr algn="ctr"/>
                      <a:r>
                        <a:rPr lang="en-US" sz="3600"/>
                        <a:t>13.107.7.190</a:t>
                      </a:r>
                    </a:p>
                  </a:txBody>
                  <a:tcPr marL="137160" marR="137160" marT="68580" marB="68580"/>
                </a:tc>
                <a:tc>
                  <a:txBody>
                    <a:bodyPr/>
                    <a:lstStyle/>
                    <a:p>
                      <a:pPr algn="ctr"/>
                      <a:r>
                        <a:rPr lang="en-US" sz="3600"/>
                        <a:t>25</a:t>
                      </a:r>
                    </a:p>
                  </a:txBody>
                  <a:tcPr marL="137160" marR="137160" marT="68580" marB="68580"/>
                </a:tc>
                <a:tc>
                  <a:txBody>
                    <a:bodyPr/>
                    <a:lstStyle/>
                    <a:p>
                      <a:pPr algn="ctr"/>
                      <a:r>
                        <a:rPr lang="en-US" sz="3600"/>
                        <a:t>Established</a:t>
                      </a:r>
                    </a:p>
                  </a:txBody>
                  <a:tcPr marL="137160" marR="137160" marT="68580" marB="68580"/>
                </a:tc>
                <a:extLst>
                  <a:ext uri="{0D108BD9-81ED-4DB2-BD59-A6C34878D82A}">
                    <a16:rowId xmlns:a16="http://schemas.microsoft.com/office/drawing/2014/main" val="10001"/>
                  </a:ext>
                </a:extLst>
              </a:tr>
              <a:tr h="1234440">
                <a:tc>
                  <a:txBody>
                    <a:bodyPr/>
                    <a:lstStyle/>
                    <a:p>
                      <a:pPr algn="ctr"/>
                      <a:r>
                        <a:rPr lang="en-US" sz="3600"/>
                        <a:t>10.0.1.67</a:t>
                      </a:r>
                    </a:p>
                  </a:txBody>
                  <a:tcPr marL="137160" marR="137160" marT="68580" marB="68580"/>
                </a:tc>
                <a:tc>
                  <a:txBody>
                    <a:bodyPr/>
                    <a:lstStyle/>
                    <a:p>
                      <a:pPr algn="ctr"/>
                      <a:r>
                        <a:rPr lang="en-US" sz="3600"/>
                        <a:t>1025</a:t>
                      </a:r>
                    </a:p>
                  </a:txBody>
                  <a:tcPr marL="137160" marR="137160" marT="68580" marB="68580"/>
                </a:tc>
                <a:tc>
                  <a:txBody>
                    <a:bodyPr/>
                    <a:lstStyle/>
                    <a:p>
                      <a:pPr algn="ctr"/>
                      <a:r>
                        <a:rPr lang="en-US" sz="3600"/>
                        <a:t>173.194.207.101</a:t>
                      </a:r>
                    </a:p>
                  </a:txBody>
                  <a:tcPr marL="137160" marR="137160" marT="68580" marB="68580"/>
                </a:tc>
                <a:tc>
                  <a:txBody>
                    <a:bodyPr/>
                    <a:lstStyle/>
                    <a:p>
                      <a:pPr algn="ctr"/>
                      <a:r>
                        <a:rPr lang="en-US" sz="3600"/>
                        <a:t>80</a:t>
                      </a:r>
                    </a:p>
                  </a:txBody>
                  <a:tcPr marL="137160" marR="137160" marT="68580" marB="68580"/>
                </a:tc>
                <a:tc>
                  <a:txBody>
                    <a:bodyPr/>
                    <a:lstStyle/>
                    <a:p>
                      <a:pPr algn="ctr"/>
                      <a:r>
                        <a:rPr lang="en-US" sz="3600"/>
                        <a:t>Initiated</a:t>
                      </a:r>
                    </a:p>
                  </a:txBody>
                  <a:tcPr marL="137160" marR="137160" marT="68580" marB="68580"/>
                </a:tc>
                <a:extLst>
                  <a:ext uri="{0D108BD9-81ED-4DB2-BD59-A6C34878D82A}">
                    <a16:rowId xmlns:a16="http://schemas.microsoft.com/office/drawing/2014/main" val="10002"/>
                  </a:ext>
                </a:extLst>
              </a:tr>
              <a:tr h="1234440">
                <a:tc>
                  <a:txBody>
                    <a:bodyPr/>
                    <a:lstStyle/>
                    <a:p>
                      <a:pPr algn="ctr"/>
                      <a:r>
                        <a:rPr lang="en-US" sz="3600"/>
                        <a:t>10.0.1.50</a:t>
                      </a:r>
                    </a:p>
                  </a:txBody>
                  <a:tcPr marL="137160" marR="137160" marT="68580" marB="68580"/>
                </a:tc>
                <a:tc>
                  <a:txBody>
                    <a:bodyPr/>
                    <a:lstStyle/>
                    <a:p>
                      <a:pPr algn="ctr"/>
                      <a:r>
                        <a:rPr lang="en-US" sz="3600"/>
                        <a:t>1030</a:t>
                      </a:r>
                    </a:p>
                  </a:txBody>
                  <a:tcPr marL="137160" marR="137160" marT="68580" marB="6858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3600"/>
                        <a:t>173.194.207.101</a:t>
                      </a:r>
                    </a:p>
                  </a:txBody>
                  <a:tcPr marL="137160" marR="137160" marT="68580" marB="68580"/>
                </a:tc>
                <a:tc>
                  <a:txBody>
                    <a:bodyPr/>
                    <a:lstStyle/>
                    <a:p>
                      <a:pPr algn="ctr"/>
                      <a:r>
                        <a:rPr lang="en-US" sz="3600"/>
                        <a:t>80</a:t>
                      </a:r>
                    </a:p>
                  </a:txBody>
                  <a:tcPr marL="137160" marR="137160" marT="68580" marB="68580"/>
                </a:tc>
                <a:tc>
                  <a:txBody>
                    <a:bodyPr/>
                    <a:lstStyle/>
                    <a:p>
                      <a:pPr algn="ctr"/>
                      <a:r>
                        <a:rPr lang="en-US" sz="3600"/>
                        <a:t>Established</a:t>
                      </a:r>
                    </a:p>
                  </a:txBody>
                  <a:tcPr marL="137160" marR="137160" marT="68580" marB="68580"/>
                </a:tc>
                <a:extLst>
                  <a:ext uri="{0D108BD9-81ED-4DB2-BD59-A6C34878D82A}">
                    <a16:rowId xmlns:a16="http://schemas.microsoft.com/office/drawing/2014/main" val="10003"/>
                  </a:ext>
                </a:extLst>
              </a:tr>
              <a:tr h="685800">
                <a:tc>
                  <a:txBody>
                    <a:bodyPr/>
                    <a:lstStyle/>
                    <a:p>
                      <a:pPr algn="ctr"/>
                      <a:r>
                        <a:rPr lang="en-US" sz="3600"/>
                        <a:t>10.0.1.100</a:t>
                      </a:r>
                    </a:p>
                  </a:txBody>
                  <a:tcPr marL="137160" marR="137160" marT="68580" marB="68580"/>
                </a:tc>
                <a:tc>
                  <a:txBody>
                    <a:bodyPr/>
                    <a:lstStyle/>
                    <a:p>
                      <a:pPr algn="ctr"/>
                      <a:r>
                        <a:rPr lang="en-US" sz="3600"/>
                        <a:t>1033</a:t>
                      </a:r>
                    </a:p>
                  </a:txBody>
                  <a:tcPr marL="137160" marR="137160" marT="68580" marB="68580"/>
                </a:tc>
                <a:tc>
                  <a:txBody>
                    <a:bodyPr/>
                    <a:lstStyle/>
                    <a:p>
                      <a:pPr algn="ctr"/>
                      <a:r>
                        <a:rPr lang="en-US" sz="3600"/>
                        <a:t>173.252.90.132</a:t>
                      </a:r>
                    </a:p>
                  </a:txBody>
                  <a:tcPr marL="137160" marR="137160" marT="68580" marB="68580"/>
                </a:tc>
                <a:tc>
                  <a:txBody>
                    <a:bodyPr/>
                    <a:lstStyle/>
                    <a:p>
                      <a:pPr algn="ctr"/>
                      <a:r>
                        <a:rPr lang="en-US" sz="3600"/>
                        <a:t>443</a:t>
                      </a:r>
                    </a:p>
                  </a:txBody>
                  <a:tcPr marL="137160" marR="137160" marT="68580" marB="68580"/>
                </a:tc>
                <a:tc>
                  <a:txBody>
                    <a:bodyPr/>
                    <a:lstStyle/>
                    <a:p>
                      <a:pPr algn="ctr"/>
                      <a:r>
                        <a:rPr lang="en-US" sz="3600"/>
                        <a:t>Established</a:t>
                      </a:r>
                    </a:p>
                  </a:txBody>
                  <a:tcPr marL="137160" marR="137160" marT="68580" marB="68580"/>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6781245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6B483-1C31-2637-DC1F-BAD28F43D507}"/>
              </a:ext>
            </a:extLst>
          </p:cNvPr>
          <p:cNvSpPr>
            <a:spLocks noGrp="1"/>
          </p:cNvSpPr>
          <p:nvPr>
            <p:ph type="title"/>
          </p:nvPr>
        </p:nvSpPr>
        <p:spPr/>
        <p:txBody>
          <a:bodyPr/>
          <a:lstStyle/>
          <a:p>
            <a:r>
              <a:rPr lang="en-US" dirty="0"/>
              <a:t>What are Firewall rules?</a:t>
            </a:r>
          </a:p>
        </p:txBody>
      </p:sp>
      <p:sp>
        <p:nvSpPr>
          <p:cNvPr id="3" name="Content Placeholder 2">
            <a:extLst>
              <a:ext uri="{FF2B5EF4-FFF2-40B4-BE49-F238E27FC236}">
                <a16:creationId xmlns:a16="http://schemas.microsoft.com/office/drawing/2014/main" id="{5AD287C5-4CBC-82B6-5FAC-3EDF2A10992B}"/>
              </a:ext>
            </a:extLst>
          </p:cNvPr>
          <p:cNvSpPr>
            <a:spLocks noGrp="1"/>
          </p:cNvSpPr>
          <p:nvPr>
            <p:ph idx="1"/>
          </p:nvPr>
        </p:nvSpPr>
        <p:spPr/>
        <p:txBody>
          <a:bodyPr/>
          <a:lstStyle/>
          <a:p>
            <a:r>
              <a:rPr lang="en-US" dirty="0"/>
              <a:t>Used to be:</a:t>
            </a:r>
          </a:p>
          <a:p>
            <a:pPr lvl="1"/>
            <a:r>
              <a:rPr lang="en-US" dirty="0"/>
              <a:t>“Don’t allow connections from outside”</a:t>
            </a:r>
          </a:p>
          <a:p>
            <a:pPr lvl="1"/>
            <a:r>
              <a:rPr lang="en-US" dirty="0"/>
              <a:t>“No TCP to ports other than 80, 443, 22, 25”</a:t>
            </a:r>
          </a:p>
          <a:p>
            <a:pPr lvl="1"/>
            <a:r>
              <a:rPr lang="en-US" dirty="0"/>
              <a:t>Lots of others</a:t>
            </a:r>
          </a:p>
          <a:p>
            <a:r>
              <a:rPr lang="en-US" dirty="0"/>
              <a:t>Stateful inspection allows much more fine-grained control</a:t>
            </a:r>
          </a:p>
          <a:p>
            <a:r>
              <a:rPr lang="en-US" dirty="0"/>
              <a:t>Application knowledge even more so</a:t>
            </a:r>
          </a:p>
          <a:p>
            <a:r>
              <a:rPr lang="en-US" dirty="0"/>
              <a:t>What are some examples of this?</a:t>
            </a:r>
          </a:p>
          <a:p>
            <a:r>
              <a:rPr lang="en-US" dirty="0"/>
              <a:t>Do you review bank firewall rules? </a:t>
            </a:r>
          </a:p>
          <a:p>
            <a:r>
              <a:rPr lang="en-US" dirty="0"/>
              <a:t>Should you?</a:t>
            </a:r>
          </a:p>
        </p:txBody>
      </p:sp>
    </p:spTree>
    <p:extLst>
      <p:ext uri="{BB962C8B-B14F-4D97-AF65-F5344CB8AC3E}">
        <p14:creationId xmlns:p14="http://schemas.microsoft.com/office/powerpoint/2010/main" val="30962920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(Web) Application Firewalls</a:t>
            </a:r>
          </a:p>
        </p:txBody>
      </p:sp>
      <p:sp>
        <p:nvSpPr>
          <p:cNvPr id="9" name="Content Placeholder 8"/>
          <p:cNvSpPr>
            <a:spLocks noGrp="1"/>
          </p:cNvSpPr>
          <p:nvPr>
            <p:ph idx="1"/>
          </p:nvPr>
        </p:nvSpPr>
        <p:spPr/>
        <p:txBody>
          <a:bodyPr>
            <a:normAutofit fontScale="92500" lnSpcReduction="10000"/>
          </a:bodyPr>
          <a:lstStyle/>
          <a:p>
            <a:r>
              <a:rPr lang="en-US" dirty="0"/>
              <a:t>Deeper inspection of the packet</a:t>
            </a:r>
          </a:p>
          <a:p>
            <a:r>
              <a:rPr lang="en-US" dirty="0"/>
              <a:t>Understands how the protocols </a:t>
            </a:r>
            <a:r>
              <a:rPr lang="en-US" i="1" dirty="0"/>
              <a:t>should</a:t>
            </a:r>
            <a:r>
              <a:rPr lang="en-US" dirty="0"/>
              <a:t> work</a:t>
            </a:r>
          </a:p>
          <a:p>
            <a:r>
              <a:rPr lang="en-US" dirty="0"/>
              <a:t>Analyzes activity to ensure protocol sequences are </a:t>
            </a:r>
            <a:r>
              <a:rPr lang="en-US" i="1" dirty="0"/>
              <a:t>normal</a:t>
            </a:r>
            <a:r>
              <a:rPr lang="en-US" dirty="0"/>
              <a:t> and any application specific rules are followed</a:t>
            </a:r>
          </a:p>
          <a:p>
            <a:r>
              <a:rPr lang="en-US" dirty="0"/>
              <a:t>For example:</a:t>
            </a:r>
            <a:br>
              <a:rPr lang="en-US" dirty="0"/>
            </a:br>
            <a:endParaRPr lang="en-US" dirty="0"/>
          </a:p>
          <a:p>
            <a:pPr marL="0" indent="-9525">
              <a:buNone/>
            </a:pPr>
            <a:r>
              <a:rPr lang="en-US" b="0" i="1" dirty="0">
                <a:latin typeface="Courier" charset="0"/>
                <a:ea typeface="Courier" charset="0"/>
                <a:cs typeface="Courier" charset="0"/>
              </a:rPr>
              <a:t>Multipurpose Internet Mail Extensions (MIME)</a:t>
            </a:r>
          </a:p>
          <a:p>
            <a:pPr lvl="1">
              <a:buFontTx/>
              <a:buChar char="-"/>
            </a:pPr>
            <a:r>
              <a:rPr lang="en-US" b="0" i="1" dirty="0">
                <a:latin typeface="Courier" charset="0"/>
                <a:ea typeface="Courier" charset="0"/>
                <a:cs typeface="Courier" charset="0"/>
              </a:rPr>
              <a:t>Allows for email attachments</a:t>
            </a:r>
            <a:endParaRPr lang="en-US" i="1" dirty="0">
              <a:latin typeface="Courier" charset="0"/>
              <a:ea typeface="Courier" charset="0"/>
              <a:cs typeface="Courier" charset="0"/>
            </a:endParaRPr>
          </a:p>
          <a:p>
            <a:pPr>
              <a:buFontTx/>
              <a:buChar char="-"/>
            </a:pPr>
            <a:endParaRPr lang="en-US" b="0" i="1" dirty="0">
              <a:latin typeface="Courier" charset="0"/>
              <a:ea typeface="Courier" charset="0"/>
              <a:cs typeface="Courier" charset="0"/>
            </a:endParaRPr>
          </a:p>
          <a:p>
            <a:r>
              <a:rPr lang="en-US" dirty="0">
                <a:ea typeface="Courier" charset="0"/>
                <a:cs typeface="Courier" charset="0"/>
              </a:rPr>
              <a:t>Application Firewall rule might exclude </a:t>
            </a:r>
            <a:r>
              <a:rPr lang="en-US" b="0" i="1" dirty="0">
                <a:latin typeface="Courier" charset="0"/>
                <a:ea typeface="Courier" charset="0"/>
                <a:cs typeface="Courier" charset="0"/>
              </a:rPr>
              <a:t>.exe </a:t>
            </a:r>
            <a:r>
              <a:rPr lang="en-US" dirty="0">
                <a:ea typeface="Courier" charset="0"/>
                <a:cs typeface="Courier" charset="0"/>
              </a:rPr>
              <a:t>attachments</a:t>
            </a:r>
          </a:p>
          <a:p>
            <a:r>
              <a:rPr lang="en-US" dirty="0">
                <a:ea typeface="Courier" charset="0"/>
                <a:cs typeface="Courier" charset="0"/>
              </a:rPr>
              <a:t>Any such attachment would be blocked at the firewall</a:t>
            </a:r>
          </a:p>
          <a:p>
            <a:endParaRPr lang="en-US" dirty="0"/>
          </a:p>
        </p:txBody>
      </p:sp>
    </p:spTree>
    <p:custDataLst>
      <p:tags r:id="rId1"/>
    </p:custDataLst>
    <p:extLst>
      <p:ext uri="{BB962C8B-B14F-4D97-AF65-F5344CB8AC3E}">
        <p14:creationId xmlns:p14="http://schemas.microsoft.com/office/powerpoint/2010/main" val="8872486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Unified Threat Management (or NGFW)</a:t>
            </a:r>
          </a:p>
        </p:txBody>
      </p:sp>
      <p:pic>
        <p:nvPicPr>
          <p:cNvPr id="3" name="Picture 2">
            <a:extLst>
              <a:ext uri="{FF2B5EF4-FFF2-40B4-BE49-F238E27FC236}">
                <a16:creationId xmlns:a16="http://schemas.microsoft.com/office/drawing/2014/main" id="{EDF3F6BD-4001-7347-8F2B-7BC53DA2C127}"/>
              </a:ext>
            </a:extLst>
          </p:cNvPr>
          <p:cNvPicPr>
            <a:picLocks noChangeAspect="1"/>
          </p:cNvPicPr>
          <p:nvPr/>
        </p:nvPicPr>
        <p:blipFill>
          <a:blip r:embed="rId4"/>
          <a:stretch>
            <a:fillRect/>
          </a:stretch>
        </p:blipFill>
        <p:spPr>
          <a:xfrm>
            <a:off x="3175427" y="2860861"/>
            <a:ext cx="11640991" cy="5933515"/>
          </a:xfrm>
          <a:prstGeom prst="rect">
            <a:avLst/>
          </a:prstGeom>
        </p:spPr>
      </p:pic>
    </p:spTree>
    <p:custDataLst>
      <p:tags r:id="rId1"/>
    </p:custDataLst>
    <p:extLst>
      <p:ext uri="{BB962C8B-B14F-4D97-AF65-F5344CB8AC3E}">
        <p14:creationId xmlns:p14="http://schemas.microsoft.com/office/powerpoint/2010/main" val="29874757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21B7D-BC1F-1E7F-1604-7CEBA9878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8C918-5434-552E-05A1-26AB43FD5A9A}"/>
              </a:ext>
            </a:extLst>
          </p:cNvPr>
          <p:cNvSpPr>
            <a:spLocks noGrp="1"/>
          </p:cNvSpPr>
          <p:nvPr>
            <p:ph type="title"/>
          </p:nvPr>
        </p:nvSpPr>
        <p:spPr/>
        <p:txBody>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Today one platform (sometimes) does it all</a:t>
            </a:r>
          </a:p>
        </p:txBody>
      </p:sp>
      <p:sp>
        <p:nvSpPr>
          <p:cNvPr id="4" name="Content Placeholder 2">
            <a:extLst>
              <a:ext uri="{FF2B5EF4-FFF2-40B4-BE49-F238E27FC236}">
                <a16:creationId xmlns:a16="http://schemas.microsoft.com/office/drawing/2014/main" id="{BA226E6F-8783-6177-9DA7-3042E7F7C54D}"/>
              </a:ext>
            </a:extLst>
          </p:cNvPr>
          <p:cNvSpPr txBox="1">
            <a:spLocks/>
          </p:cNvSpPr>
          <p:nvPr/>
        </p:nvSpPr>
        <p:spPr>
          <a:xfrm>
            <a:off x="1257300" y="2193130"/>
            <a:ext cx="6155871" cy="7546181"/>
          </a:xfrm>
          <a:prstGeom prst="rect">
            <a:avLst/>
          </a:prstGeom>
        </p:spPr>
        <p:txBody>
          <a:bodyPr>
            <a:normAutofit fontScale="92500" lnSpcReduction="20000"/>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dirty="0"/>
              <a:t>Twenty years ago, firewalls were simple:</a:t>
            </a:r>
          </a:p>
          <a:p>
            <a:pPr lvl="1"/>
            <a:r>
              <a:rPr lang="en-US" dirty="0"/>
              <a:t>Allow or deny connections.</a:t>
            </a:r>
          </a:p>
          <a:p>
            <a:pPr lvl="1"/>
            <a:r>
              <a:rPr lang="en-US" dirty="0"/>
              <a:t>Route packets.</a:t>
            </a:r>
          </a:p>
          <a:p>
            <a:pPr lvl="1"/>
            <a:r>
              <a:rPr lang="en-US" dirty="0"/>
              <a:t>Maybe terminate VPNs.</a:t>
            </a:r>
          </a:p>
          <a:p>
            <a:r>
              <a:rPr lang="en-US" dirty="0"/>
              <a:t>Everything else was separate devices:</a:t>
            </a:r>
          </a:p>
          <a:p>
            <a:pPr lvl="1"/>
            <a:r>
              <a:rPr lang="en-US" dirty="0"/>
              <a:t>Firewall</a:t>
            </a:r>
          </a:p>
          <a:p>
            <a:pPr lvl="1"/>
            <a:r>
              <a:rPr lang="en-US" dirty="0"/>
              <a:t>VPN concentrator</a:t>
            </a:r>
          </a:p>
          <a:p>
            <a:pPr lvl="1"/>
            <a:r>
              <a:rPr lang="en-US" dirty="0"/>
              <a:t>IDS</a:t>
            </a:r>
          </a:p>
          <a:p>
            <a:pPr lvl="1"/>
            <a:r>
              <a:rPr lang="en-US" dirty="0"/>
              <a:t>IPS</a:t>
            </a:r>
          </a:p>
          <a:p>
            <a:pPr lvl="1"/>
            <a:r>
              <a:rPr lang="en-US" dirty="0"/>
              <a:t>Web filter</a:t>
            </a:r>
          </a:p>
          <a:p>
            <a:pPr lvl="1"/>
            <a:r>
              <a:rPr lang="en-US" dirty="0"/>
              <a:t>Email gateway</a:t>
            </a:r>
          </a:p>
          <a:p>
            <a:pPr lvl="1"/>
            <a:r>
              <a:rPr lang="en-US" dirty="0"/>
              <a:t>Anti-virus gateway</a:t>
            </a:r>
          </a:p>
          <a:p>
            <a:pPr lvl="1"/>
            <a:r>
              <a:rPr lang="en-US" dirty="0"/>
              <a:t>DLP appliance</a:t>
            </a:r>
          </a:p>
          <a:p>
            <a:pPr lvl="1"/>
            <a:endParaRPr lang="en-US" dirty="0"/>
          </a:p>
        </p:txBody>
      </p:sp>
      <p:sp>
        <p:nvSpPr>
          <p:cNvPr id="5" name="Content Placeholder 2">
            <a:extLst>
              <a:ext uri="{FF2B5EF4-FFF2-40B4-BE49-F238E27FC236}">
                <a16:creationId xmlns:a16="http://schemas.microsoft.com/office/drawing/2014/main" id="{1B2D278A-B36C-6D1F-341C-77C2E817815D}"/>
              </a:ext>
            </a:extLst>
          </p:cNvPr>
          <p:cNvSpPr txBox="1">
            <a:spLocks/>
          </p:cNvSpPr>
          <p:nvPr/>
        </p:nvSpPr>
        <p:spPr>
          <a:xfrm>
            <a:off x="8920842" y="2182245"/>
            <a:ext cx="7081158" cy="7546181"/>
          </a:xfrm>
          <a:prstGeom prst="rect">
            <a:avLst/>
          </a:prstGeom>
        </p:spPr>
        <p:txBody>
          <a:bodyPr>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dirty="0"/>
              <a:t>But now, because:</a:t>
            </a:r>
          </a:p>
          <a:p>
            <a:pPr lvl="1"/>
            <a:r>
              <a:rPr lang="en-US" dirty="0"/>
              <a:t>These functions need the same information</a:t>
            </a:r>
          </a:p>
          <a:p>
            <a:pPr lvl="1"/>
            <a:r>
              <a:rPr lang="en-US" dirty="0"/>
              <a:t>Traffic is usually encrypted</a:t>
            </a:r>
          </a:p>
          <a:p>
            <a:pPr lvl="1"/>
            <a:r>
              <a:rPr lang="en-US" dirty="0"/>
              <a:t>Software ate the world</a:t>
            </a:r>
          </a:p>
          <a:p>
            <a:pPr lvl="1"/>
            <a:r>
              <a:rPr lang="en-US" dirty="0"/>
              <a:t>Banks want simplicity</a:t>
            </a:r>
          </a:p>
          <a:p>
            <a:r>
              <a:rPr lang="en-US" dirty="0"/>
              <a:t>These devices are integrated into one or a few</a:t>
            </a:r>
          </a:p>
          <a:p>
            <a:r>
              <a:rPr lang="en-US" dirty="0"/>
              <a:t>This eases admin burden</a:t>
            </a:r>
          </a:p>
          <a:p>
            <a:r>
              <a:rPr lang="en-US" dirty="0"/>
              <a:t>It also changes what an examiner might ask…</a:t>
            </a:r>
          </a:p>
          <a:p>
            <a:pPr lvl="1"/>
            <a:endParaRPr lang="en-US" dirty="0"/>
          </a:p>
        </p:txBody>
      </p:sp>
    </p:spTree>
    <p:custDataLst>
      <p:tags r:id="rId1"/>
    </p:custDataLst>
    <p:extLst>
      <p:ext uri="{BB962C8B-B14F-4D97-AF65-F5344CB8AC3E}">
        <p14:creationId xmlns:p14="http://schemas.microsoft.com/office/powerpoint/2010/main" val="24876228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UTM the New Norm</a:t>
            </a:r>
          </a:p>
        </p:txBody>
      </p:sp>
      <p:sp>
        <p:nvSpPr>
          <p:cNvPr id="4" name="Content Placeholder 3"/>
          <p:cNvSpPr>
            <a:spLocks noGrp="1"/>
          </p:cNvSpPr>
          <p:nvPr>
            <p:ph idx="1"/>
          </p:nvPr>
        </p:nvSpPr>
        <p:spPr/>
        <p:txBody>
          <a:bodyPr/>
          <a:lstStyle/>
          <a:p>
            <a:r>
              <a:rPr lang="en-US" dirty="0"/>
              <a:t>Integrates multiple security functions</a:t>
            </a:r>
          </a:p>
          <a:p>
            <a:r>
              <a:rPr lang="en-US" dirty="0"/>
              <a:t>Advanced threat analysis</a:t>
            </a:r>
          </a:p>
          <a:p>
            <a:r>
              <a:rPr lang="en-US" dirty="0"/>
              <a:t>Policy controls</a:t>
            </a:r>
          </a:p>
          <a:p>
            <a:pPr lvl="1"/>
            <a:r>
              <a:rPr lang="en-US" dirty="0"/>
              <a:t>Applications</a:t>
            </a:r>
          </a:p>
          <a:p>
            <a:pPr lvl="1"/>
            <a:r>
              <a:rPr lang="en-US" dirty="0"/>
              <a:t>Users</a:t>
            </a:r>
          </a:p>
          <a:p>
            <a:pPr lvl="1"/>
            <a:r>
              <a:rPr lang="en-US" dirty="0"/>
              <a:t>Content</a:t>
            </a:r>
          </a:p>
          <a:p>
            <a:r>
              <a:rPr lang="en-US" dirty="0"/>
              <a:t>Network and endpoint security</a:t>
            </a:r>
          </a:p>
          <a:p>
            <a:r>
              <a:rPr lang="en-US" dirty="0"/>
              <a:t>Appliance and cloud driven</a:t>
            </a:r>
          </a:p>
          <a:p>
            <a:r>
              <a:rPr lang="en-US" dirty="0"/>
              <a:t>Next Generation Firewall</a:t>
            </a:r>
          </a:p>
        </p:txBody>
      </p:sp>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997888" y="4507605"/>
            <a:ext cx="7429500" cy="4652724"/>
          </a:xfrm>
          <a:prstGeom prst="rect">
            <a:avLst/>
          </a:prstGeom>
        </p:spPr>
      </p:pic>
    </p:spTree>
    <p:custDataLst>
      <p:tags r:id="rId1"/>
    </p:custDataLst>
    <p:extLst>
      <p:ext uri="{BB962C8B-B14F-4D97-AF65-F5344CB8AC3E}">
        <p14:creationId xmlns:p14="http://schemas.microsoft.com/office/powerpoint/2010/main" val="10425124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DEFA-1E43-AC1E-F75F-30161492A3A8}"/>
            </a:ext>
          </a:extLst>
        </p:cNvPr>
        <p:cNvGrpSpPr/>
        <p:nvPr/>
      </p:nvGrpSpPr>
      <p:grpSpPr>
        <a:xfrm>
          <a:off x="0" y="0"/>
          <a:ext cx="0" cy="0"/>
          <a:chOff x="0" y="0"/>
          <a:chExt cx="0" cy="0"/>
        </a:xfrm>
      </p:grpSpPr>
      <p:pic>
        <p:nvPicPr>
          <p:cNvPr id="5" name="Picture 4" descr="A diagram of a network&#10;&#10;AI-generated content may be incorrect.">
            <a:extLst>
              <a:ext uri="{FF2B5EF4-FFF2-40B4-BE49-F238E27FC236}">
                <a16:creationId xmlns:a16="http://schemas.microsoft.com/office/drawing/2014/main" id="{EA57D907-54DC-CEDB-9963-B492F4E2D877}"/>
              </a:ext>
            </a:extLst>
          </p:cNvPr>
          <p:cNvPicPr>
            <a:picLocks noChangeAspect="1"/>
          </p:cNvPicPr>
          <p:nvPr/>
        </p:nvPicPr>
        <p:blipFill>
          <a:blip r:embed="rId2"/>
          <a:stretch>
            <a:fillRect/>
          </a:stretch>
        </p:blipFill>
        <p:spPr>
          <a:xfrm>
            <a:off x="5037596" y="2193131"/>
            <a:ext cx="10195468" cy="8036428"/>
          </a:xfrm>
          <a:prstGeom prst="rect">
            <a:avLst/>
          </a:prstGeom>
        </p:spPr>
      </p:pic>
      <p:sp>
        <p:nvSpPr>
          <p:cNvPr id="7" name="Title 6">
            <a:extLst>
              <a:ext uri="{FF2B5EF4-FFF2-40B4-BE49-F238E27FC236}">
                <a16:creationId xmlns:a16="http://schemas.microsoft.com/office/drawing/2014/main" id="{41402DBD-C187-5707-D087-0EC1F50191C1}"/>
              </a:ext>
            </a:extLst>
          </p:cNvPr>
          <p:cNvSpPr>
            <a:spLocks noGrp="1"/>
          </p:cNvSpPr>
          <p:nvPr>
            <p:ph type="title"/>
          </p:nvPr>
        </p:nvSpPr>
        <p:spPr/>
        <p:txBody>
          <a:bodyPr/>
          <a:lstStyle/>
          <a:p>
            <a:r>
              <a:rPr lang="en-US" dirty="0"/>
              <a:t>Where Firewalls Live</a:t>
            </a:r>
          </a:p>
        </p:txBody>
      </p:sp>
      <p:sp>
        <p:nvSpPr>
          <p:cNvPr id="3" name="Donut 2">
            <a:extLst>
              <a:ext uri="{FF2B5EF4-FFF2-40B4-BE49-F238E27FC236}">
                <a16:creationId xmlns:a16="http://schemas.microsoft.com/office/drawing/2014/main" id="{FB1D643A-760A-5830-021F-ED66E14E4C75}"/>
              </a:ext>
            </a:extLst>
          </p:cNvPr>
          <p:cNvSpPr/>
          <p:nvPr/>
        </p:nvSpPr>
        <p:spPr>
          <a:xfrm>
            <a:off x="9133840" y="4893734"/>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1" name="Donut 10">
            <a:extLst>
              <a:ext uri="{FF2B5EF4-FFF2-40B4-BE49-F238E27FC236}">
                <a16:creationId xmlns:a16="http://schemas.microsoft.com/office/drawing/2014/main" id="{5370DE76-EE62-EDF4-73C8-944E5CA95C09}"/>
              </a:ext>
            </a:extLst>
          </p:cNvPr>
          <p:cNvSpPr/>
          <p:nvPr/>
        </p:nvSpPr>
        <p:spPr>
          <a:xfrm>
            <a:off x="8479083" y="9149644"/>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2" name="Donut 11">
            <a:extLst>
              <a:ext uri="{FF2B5EF4-FFF2-40B4-BE49-F238E27FC236}">
                <a16:creationId xmlns:a16="http://schemas.microsoft.com/office/drawing/2014/main" id="{63EA66C8-5306-541F-F921-9A9E63E42842}"/>
              </a:ext>
            </a:extLst>
          </p:cNvPr>
          <p:cNvSpPr/>
          <p:nvPr/>
        </p:nvSpPr>
        <p:spPr>
          <a:xfrm>
            <a:off x="12723708" y="6699958"/>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4" name="TextBox 13">
            <a:extLst>
              <a:ext uri="{FF2B5EF4-FFF2-40B4-BE49-F238E27FC236}">
                <a16:creationId xmlns:a16="http://schemas.microsoft.com/office/drawing/2014/main" id="{1B3A3B81-5FCF-C639-33B7-8B9A2E351622}"/>
              </a:ext>
            </a:extLst>
          </p:cNvPr>
          <p:cNvSpPr txBox="1"/>
          <p:nvPr/>
        </p:nvSpPr>
        <p:spPr>
          <a:xfrm>
            <a:off x="2477590" y="4081971"/>
            <a:ext cx="348745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Internet Edge</a:t>
            </a:r>
          </a:p>
          <a:p>
            <a:pPr marL="285750" indent="-285750">
              <a:buFont typeface="Arial" panose="020B0604020202020204" pitchFamily="34" charset="0"/>
              <a:buChar char="•"/>
            </a:pPr>
            <a:r>
              <a:rPr lang="en-US" dirty="0"/>
              <a:t>Internal Segmentation</a:t>
            </a:r>
          </a:p>
          <a:p>
            <a:pPr marL="285750" indent="-285750">
              <a:buFont typeface="Arial" panose="020B0604020202020204" pitchFamily="34" charset="0"/>
              <a:buChar char="•"/>
            </a:pPr>
            <a:r>
              <a:rPr lang="en-US" dirty="0"/>
              <a:t>Branches</a:t>
            </a:r>
          </a:p>
          <a:p>
            <a:pPr marL="285750" indent="-285750">
              <a:buFont typeface="Arial" panose="020B0604020202020204" pitchFamily="34" charset="0"/>
              <a:buChar char="•"/>
            </a:pPr>
            <a:r>
              <a:rPr lang="en-US" dirty="0"/>
              <a:t>Cloud Services</a:t>
            </a:r>
          </a:p>
        </p:txBody>
      </p:sp>
      <p:cxnSp>
        <p:nvCxnSpPr>
          <p:cNvPr id="22" name="Elbow Connector 21">
            <a:extLst>
              <a:ext uri="{FF2B5EF4-FFF2-40B4-BE49-F238E27FC236}">
                <a16:creationId xmlns:a16="http://schemas.microsoft.com/office/drawing/2014/main" id="{468A5725-AC18-E022-592F-D94AA4E05209}"/>
              </a:ext>
            </a:extLst>
          </p:cNvPr>
          <p:cNvCxnSpPr>
            <a:cxnSpLocks/>
            <a:endCxn id="3" idx="2"/>
          </p:cNvCxnSpPr>
          <p:nvPr/>
        </p:nvCxnSpPr>
        <p:spPr>
          <a:xfrm>
            <a:off x="4330417" y="4280413"/>
            <a:ext cx="4803423" cy="782655"/>
          </a:xfrm>
          <a:prstGeom prst="bentConnector3">
            <a:avLst>
              <a:gd name="adj1" fmla="val 89659"/>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3274645D-8589-D138-4C19-E5FB1C4A9EC6}"/>
              </a:ext>
            </a:extLst>
          </p:cNvPr>
          <p:cNvCxnSpPr>
            <a:cxnSpLocks/>
          </p:cNvCxnSpPr>
          <p:nvPr/>
        </p:nvCxnSpPr>
        <p:spPr>
          <a:xfrm>
            <a:off x="4330419" y="5063069"/>
            <a:ext cx="4317996" cy="4060674"/>
          </a:xfrm>
          <a:prstGeom prst="bentConnector3">
            <a:avLst>
              <a:gd name="adj1" fmla="val 1735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Donut 15">
            <a:extLst>
              <a:ext uri="{FF2B5EF4-FFF2-40B4-BE49-F238E27FC236}">
                <a16:creationId xmlns:a16="http://schemas.microsoft.com/office/drawing/2014/main" id="{4359B470-6D3B-AAE7-0B92-335B29469BD3}"/>
              </a:ext>
            </a:extLst>
          </p:cNvPr>
          <p:cNvSpPr/>
          <p:nvPr/>
        </p:nvSpPr>
        <p:spPr>
          <a:xfrm>
            <a:off x="7210775" y="6267297"/>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9" name="Donut 18">
            <a:extLst>
              <a:ext uri="{FF2B5EF4-FFF2-40B4-BE49-F238E27FC236}">
                <a16:creationId xmlns:a16="http://schemas.microsoft.com/office/drawing/2014/main" id="{BD10102B-2001-ED7E-A8D0-A16B59CAE918}"/>
              </a:ext>
            </a:extLst>
          </p:cNvPr>
          <p:cNvSpPr/>
          <p:nvPr/>
        </p:nvSpPr>
        <p:spPr>
          <a:xfrm>
            <a:off x="7210775" y="6514947"/>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21" name="Donut 20">
            <a:extLst>
              <a:ext uri="{FF2B5EF4-FFF2-40B4-BE49-F238E27FC236}">
                <a16:creationId xmlns:a16="http://schemas.microsoft.com/office/drawing/2014/main" id="{2B287594-B08B-D907-C573-F2DF5D083560}"/>
              </a:ext>
            </a:extLst>
          </p:cNvPr>
          <p:cNvSpPr/>
          <p:nvPr/>
        </p:nvSpPr>
        <p:spPr>
          <a:xfrm>
            <a:off x="7210775" y="6743547"/>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23" name="Donut 22">
            <a:extLst>
              <a:ext uri="{FF2B5EF4-FFF2-40B4-BE49-F238E27FC236}">
                <a16:creationId xmlns:a16="http://schemas.microsoft.com/office/drawing/2014/main" id="{43735A8C-BBC7-BC16-C942-0050F155DA87}"/>
              </a:ext>
            </a:extLst>
          </p:cNvPr>
          <p:cNvSpPr/>
          <p:nvPr/>
        </p:nvSpPr>
        <p:spPr>
          <a:xfrm>
            <a:off x="7210775" y="6953097"/>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26" name="Donut 25">
            <a:extLst>
              <a:ext uri="{FF2B5EF4-FFF2-40B4-BE49-F238E27FC236}">
                <a16:creationId xmlns:a16="http://schemas.microsoft.com/office/drawing/2014/main" id="{B6C476E1-0492-DD9E-07A5-D7FF222E37A5}"/>
              </a:ext>
            </a:extLst>
          </p:cNvPr>
          <p:cNvSpPr/>
          <p:nvPr/>
        </p:nvSpPr>
        <p:spPr>
          <a:xfrm>
            <a:off x="7496525" y="6495897"/>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27" name="Donut 26">
            <a:extLst>
              <a:ext uri="{FF2B5EF4-FFF2-40B4-BE49-F238E27FC236}">
                <a16:creationId xmlns:a16="http://schemas.microsoft.com/office/drawing/2014/main" id="{A0ABC896-E053-9821-614E-219E3A92E02E}"/>
              </a:ext>
            </a:extLst>
          </p:cNvPr>
          <p:cNvSpPr/>
          <p:nvPr/>
        </p:nvSpPr>
        <p:spPr>
          <a:xfrm>
            <a:off x="7496525" y="6743547"/>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29" name="Donut 28">
            <a:extLst>
              <a:ext uri="{FF2B5EF4-FFF2-40B4-BE49-F238E27FC236}">
                <a16:creationId xmlns:a16="http://schemas.microsoft.com/office/drawing/2014/main" id="{E30E2E95-5042-9F5E-55A9-336D26124C44}"/>
              </a:ext>
            </a:extLst>
          </p:cNvPr>
          <p:cNvSpPr/>
          <p:nvPr/>
        </p:nvSpPr>
        <p:spPr>
          <a:xfrm>
            <a:off x="7496525" y="6972147"/>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30" name="Donut 29">
            <a:extLst>
              <a:ext uri="{FF2B5EF4-FFF2-40B4-BE49-F238E27FC236}">
                <a16:creationId xmlns:a16="http://schemas.microsoft.com/office/drawing/2014/main" id="{6D7F5EF4-0B6C-B6FC-4761-178BFF3DF43D}"/>
              </a:ext>
            </a:extLst>
          </p:cNvPr>
          <p:cNvSpPr/>
          <p:nvPr/>
        </p:nvSpPr>
        <p:spPr>
          <a:xfrm>
            <a:off x="7496525" y="7181697"/>
            <a:ext cx="338667" cy="338667"/>
          </a:xfrm>
          <a:prstGeom prst="donut">
            <a:avLst/>
          </a:prstGeom>
          <a:solidFill>
            <a:srgbClr val="EE4C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cxnSp>
        <p:nvCxnSpPr>
          <p:cNvPr id="33" name="Elbow Connector 32">
            <a:extLst>
              <a:ext uri="{FF2B5EF4-FFF2-40B4-BE49-F238E27FC236}">
                <a16:creationId xmlns:a16="http://schemas.microsoft.com/office/drawing/2014/main" id="{FB99DEB4-567C-6222-6430-48CB23C62EA6}"/>
              </a:ext>
            </a:extLst>
          </p:cNvPr>
          <p:cNvCxnSpPr>
            <a:cxnSpLocks/>
            <a:endCxn id="16" idx="0"/>
          </p:cNvCxnSpPr>
          <p:nvPr/>
        </p:nvCxnSpPr>
        <p:spPr>
          <a:xfrm>
            <a:off x="3880290" y="4893734"/>
            <a:ext cx="3499819" cy="1373563"/>
          </a:xfrm>
          <a:prstGeom prst="bentConnector2">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BEDB4252-170F-0672-FC31-87688B862624}"/>
              </a:ext>
            </a:extLst>
          </p:cNvPr>
          <p:cNvCxnSpPr>
            <a:cxnSpLocks/>
          </p:cNvCxnSpPr>
          <p:nvPr/>
        </p:nvCxnSpPr>
        <p:spPr>
          <a:xfrm>
            <a:off x="5031806" y="4588237"/>
            <a:ext cx="7691902" cy="2281054"/>
          </a:xfrm>
          <a:prstGeom prst="bentConnector3">
            <a:avLst>
              <a:gd name="adj1" fmla="val 4331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004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6" grpId="0" animBg="1"/>
      <p:bldP spid="19" grpId="0" animBg="1"/>
      <p:bldP spid="21" grpId="0" animBg="1"/>
      <p:bldP spid="23" grpId="0" animBg="1"/>
      <p:bldP spid="26" grpId="0" animBg="1"/>
      <p:bldP spid="27" grpId="0" animBg="1"/>
      <p:bldP spid="29" grpId="0" animBg="1"/>
      <p:bldP spid="3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0E0FE-A51E-7EF9-B27E-D29814C1E80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1473A8F-B9CC-4401-A2FE-E2A7A380D223}"/>
              </a:ext>
            </a:extLst>
          </p:cNvPr>
          <p:cNvSpPr>
            <a:spLocks noGrp="1"/>
          </p:cNvSpPr>
          <p:nvPr>
            <p:ph type="title"/>
          </p:nvPr>
        </p:nvSpPr>
        <p:spPr/>
        <p:txBody>
          <a:bodyPr/>
          <a:lstStyle/>
          <a:p>
            <a:r>
              <a:rPr lang="en-US" dirty="0"/>
              <a:t>Security is a Multi-layer Problem</a:t>
            </a:r>
          </a:p>
        </p:txBody>
      </p:sp>
      <p:sp>
        <p:nvSpPr>
          <p:cNvPr id="2" name="Content Placeholder 2">
            <a:extLst>
              <a:ext uri="{FF2B5EF4-FFF2-40B4-BE49-F238E27FC236}">
                <a16:creationId xmlns:a16="http://schemas.microsoft.com/office/drawing/2014/main" id="{76224FDC-431D-AF74-66FE-CDC467AD6570}"/>
              </a:ext>
            </a:extLst>
          </p:cNvPr>
          <p:cNvSpPr>
            <a:spLocks noGrp="1"/>
          </p:cNvSpPr>
          <p:nvPr>
            <p:ph idx="1"/>
          </p:nvPr>
        </p:nvSpPr>
        <p:spPr>
          <a:xfrm>
            <a:off x="1257299" y="2193131"/>
            <a:ext cx="16446261" cy="6967198"/>
          </a:xfrm>
        </p:spPr>
        <p:txBody>
          <a:bodyPr>
            <a:normAutofit/>
          </a:bodyPr>
          <a:lstStyle/>
          <a:p>
            <a:r>
              <a:rPr lang="en-US" dirty="0"/>
              <a:t>Firewalls are commonly the first thought for security</a:t>
            </a:r>
          </a:p>
          <a:p>
            <a:r>
              <a:rPr lang="en-US" dirty="0"/>
              <a:t>Despite integration, other platforms lead for other functions</a:t>
            </a:r>
          </a:p>
          <a:p>
            <a:r>
              <a:rPr lang="en-US" dirty="0"/>
              <a:t>This is just one interpretation; there are many potential solutions</a:t>
            </a:r>
          </a:p>
        </p:txBody>
      </p:sp>
      <p:graphicFrame>
        <p:nvGraphicFramePr>
          <p:cNvPr id="4" name="Content Placeholder 3">
            <a:extLst>
              <a:ext uri="{FF2B5EF4-FFF2-40B4-BE49-F238E27FC236}">
                <a16:creationId xmlns:a16="http://schemas.microsoft.com/office/drawing/2014/main" id="{CDFAF36A-9CB8-D733-747C-73304A87410B}"/>
              </a:ext>
            </a:extLst>
          </p:cNvPr>
          <p:cNvGraphicFramePr>
            <a:graphicFrameLocks/>
          </p:cNvGraphicFramePr>
          <p:nvPr/>
        </p:nvGraphicFramePr>
        <p:xfrm>
          <a:off x="1257300" y="4701621"/>
          <a:ext cx="15773400" cy="5029200"/>
        </p:xfrm>
        <a:graphic>
          <a:graphicData uri="http://schemas.openxmlformats.org/drawingml/2006/table">
            <a:tbl>
              <a:tblPr firstRow="1" bandRow="1">
                <a:tableStyleId>{5C22544A-7EE6-4342-B048-85BDC9FD1C3A}</a:tableStyleId>
              </a:tblPr>
              <a:tblGrid>
                <a:gridCol w="7886700">
                  <a:extLst>
                    <a:ext uri="{9D8B030D-6E8A-4147-A177-3AD203B41FA5}">
                      <a16:colId xmlns:a16="http://schemas.microsoft.com/office/drawing/2014/main" val="121622280"/>
                    </a:ext>
                  </a:extLst>
                </a:gridCol>
                <a:gridCol w="7886700">
                  <a:extLst>
                    <a:ext uri="{9D8B030D-6E8A-4147-A177-3AD203B41FA5}">
                      <a16:colId xmlns:a16="http://schemas.microsoft.com/office/drawing/2014/main" val="250303957"/>
                    </a:ext>
                  </a:extLst>
                </a:gridCol>
              </a:tblGrid>
              <a:tr h="370840">
                <a:tc>
                  <a:txBody>
                    <a:bodyPr/>
                    <a:lstStyle/>
                    <a:p>
                      <a:pPr lvl="1"/>
                      <a:r>
                        <a:rPr lang="en-US" dirty="0"/>
                        <a:t>Security Function			</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Often Provided By</a:t>
                      </a:r>
                    </a:p>
                  </a:txBody>
                  <a:tcPr/>
                </a:tc>
                <a:extLst>
                  <a:ext uri="{0D108BD9-81ED-4DB2-BD59-A6C34878D82A}">
                    <a16:rowId xmlns:a16="http://schemas.microsoft.com/office/drawing/2014/main" val="2257279149"/>
                  </a:ext>
                </a:extLst>
              </a:tr>
              <a:tr h="370840">
                <a:tc>
                  <a:txBody>
                    <a:bodyPr/>
                    <a:lstStyle/>
                    <a:p>
                      <a:r>
                        <a:rPr lang="en-US" dirty="0"/>
                        <a:t>Traffic control</a:t>
                      </a:r>
                    </a:p>
                  </a:txBody>
                  <a:tcPr/>
                </a:tc>
                <a:tc>
                  <a:txBody>
                    <a:bodyPr/>
                    <a:lstStyle/>
                    <a:p>
                      <a:r>
                        <a:rPr lang="en-US" dirty="0"/>
                        <a:t>Firewall</a:t>
                      </a:r>
                    </a:p>
                  </a:txBody>
                  <a:tcPr/>
                </a:tc>
                <a:extLst>
                  <a:ext uri="{0D108BD9-81ED-4DB2-BD59-A6C34878D82A}">
                    <a16:rowId xmlns:a16="http://schemas.microsoft.com/office/drawing/2014/main" val="1340836289"/>
                  </a:ext>
                </a:extLst>
              </a:tr>
              <a:tr h="370840">
                <a:tc>
                  <a:txBody>
                    <a:bodyPr/>
                    <a:lstStyle/>
                    <a:p>
                      <a:r>
                        <a:rPr lang="en-US" dirty="0"/>
                        <a:t>Secure remote access		</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Firewall, VPN gateway, ZTNA</a:t>
                      </a:r>
                    </a:p>
                  </a:txBody>
                  <a:tcPr/>
                </a:tc>
                <a:extLst>
                  <a:ext uri="{0D108BD9-81ED-4DB2-BD59-A6C34878D82A}">
                    <a16:rowId xmlns:a16="http://schemas.microsoft.com/office/drawing/2014/main" val="1561426752"/>
                  </a:ext>
                </a:extLst>
              </a:tr>
              <a:tr h="370840">
                <a:tc>
                  <a:txBody>
                    <a:bodyPr/>
                    <a:lstStyle/>
                    <a:p>
                      <a:r>
                        <a:rPr lang="en-US" dirty="0"/>
                        <a:t>Intrusion prevention</a:t>
                      </a:r>
                    </a:p>
                  </a:txBody>
                  <a:tcPr/>
                </a:tc>
                <a:tc>
                  <a:txBody>
                    <a:bodyPr/>
                    <a:lstStyle/>
                    <a:p>
                      <a:r>
                        <a:rPr lang="en-US" dirty="0"/>
                        <a:t>Firewall, dedicated IPS, cloud security</a:t>
                      </a:r>
                    </a:p>
                  </a:txBody>
                  <a:tcPr/>
                </a:tc>
                <a:extLst>
                  <a:ext uri="{0D108BD9-81ED-4DB2-BD59-A6C34878D82A}">
                    <a16:rowId xmlns:a16="http://schemas.microsoft.com/office/drawing/2014/main" val="950750447"/>
                  </a:ext>
                </a:extLst>
              </a:tr>
              <a:tr h="370840">
                <a:tc>
                  <a:txBody>
                    <a:bodyPr/>
                    <a:lstStyle/>
                    <a:p>
                      <a:r>
                        <a:rPr lang="en-US" dirty="0"/>
                        <a:t>Malware detection</a:t>
                      </a:r>
                    </a:p>
                  </a:txBody>
                  <a:tcPr/>
                </a:tc>
                <a:tc>
                  <a:txBody>
                    <a:bodyPr/>
                    <a:lstStyle/>
                    <a:p>
                      <a:r>
                        <a:rPr lang="en-US" dirty="0"/>
                        <a:t>Firewall, endpoint software, cloud gateway</a:t>
                      </a:r>
                    </a:p>
                  </a:txBody>
                  <a:tcPr/>
                </a:tc>
                <a:extLst>
                  <a:ext uri="{0D108BD9-81ED-4DB2-BD59-A6C34878D82A}">
                    <a16:rowId xmlns:a16="http://schemas.microsoft.com/office/drawing/2014/main" val="404356398"/>
                  </a:ext>
                </a:extLst>
              </a:tr>
              <a:tr h="370840">
                <a:tc>
                  <a:txBody>
                    <a:bodyPr/>
                    <a:lstStyle/>
                    <a:p>
                      <a:r>
                        <a:rPr lang="en-US" dirty="0"/>
                        <a:t>Identity verification</a:t>
                      </a:r>
                    </a:p>
                  </a:txBody>
                  <a:tcPr/>
                </a:tc>
                <a:tc>
                  <a:txBody>
                    <a:bodyPr/>
                    <a:lstStyle/>
                    <a:p>
                      <a:r>
                        <a:rPr lang="en-US" dirty="0"/>
                        <a:t>Microsoft Entra ID, Okta, Active Directory</a:t>
                      </a:r>
                    </a:p>
                  </a:txBody>
                  <a:tcPr/>
                </a:tc>
                <a:extLst>
                  <a:ext uri="{0D108BD9-81ED-4DB2-BD59-A6C34878D82A}">
                    <a16:rowId xmlns:a16="http://schemas.microsoft.com/office/drawing/2014/main" val="2380706510"/>
                  </a:ext>
                </a:extLst>
              </a:tr>
              <a:tr h="370840">
                <a:tc>
                  <a:txBody>
                    <a:bodyPr/>
                    <a:lstStyle/>
                    <a:p>
                      <a:r>
                        <a:rPr lang="en-US" dirty="0"/>
                        <a:t>Endpoint protection</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EDR/XDR platform</a:t>
                      </a:r>
                    </a:p>
                  </a:txBody>
                  <a:tcPr/>
                </a:tc>
                <a:extLst>
                  <a:ext uri="{0D108BD9-81ED-4DB2-BD59-A6C34878D82A}">
                    <a16:rowId xmlns:a16="http://schemas.microsoft.com/office/drawing/2014/main" val="2588718983"/>
                  </a:ext>
                </a:extLst>
              </a:tr>
              <a:tr h="370840">
                <a:tc>
                  <a:txBody>
                    <a:bodyPr/>
                    <a:lstStyle/>
                    <a:p>
                      <a:r>
                        <a:rPr lang="en-US" dirty="0"/>
                        <a:t>Monitoring &amp; logging</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SIEM, MDR</a:t>
                      </a:r>
                    </a:p>
                  </a:txBody>
                  <a:tcPr/>
                </a:tc>
                <a:extLst>
                  <a:ext uri="{0D108BD9-81ED-4DB2-BD59-A6C34878D82A}">
                    <a16:rowId xmlns:a16="http://schemas.microsoft.com/office/drawing/2014/main" val="1756225733"/>
                  </a:ext>
                </a:extLst>
              </a:tr>
              <a:tr h="370840">
                <a:tc>
                  <a:txBody>
                    <a:bodyPr/>
                    <a:lstStyle/>
                    <a:p>
                      <a:r>
                        <a:rPr lang="en-US" dirty="0"/>
                        <a:t>Email Security</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Microsoft 365, Proofpoint, Mimecast</a:t>
                      </a:r>
                    </a:p>
                  </a:txBody>
                  <a:tcPr/>
                </a:tc>
                <a:extLst>
                  <a:ext uri="{0D108BD9-81ED-4DB2-BD59-A6C34878D82A}">
                    <a16:rowId xmlns:a16="http://schemas.microsoft.com/office/drawing/2014/main" val="1382465005"/>
                  </a:ext>
                </a:extLst>
              </a:tr>
              <a:tr h="370840">
                <a:tc>
                  <a:txBody>
                    <a:bodyPr/>
                    <a:lstStyle/>
                    <a:p>
                      <a:r>
                        <a:rPr lang="en-US" dirty="0"/>
                        <a:t>DNS filtering</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Cisco Umbrella, Cloudflare, firewall</a:t>
                      </a:r>
                    </a:p>
                  </a:txBody>
                  <a:tcPr/>
                </a:tc>
                <a:extLst>
                  <a:ext uri="{0D108BD9-81ED-4DB2-BD59-A6C34878D82A}">
                    <a16:rowId xmlns:a16="http://schemas.microsoft.com/office/drawing/2014/main" val="2761717557"/>
                  </a:ext>
                </a:extLst>
              </a:tr>
            </a:tbl>
          </a:graphicData>
        </a:graphic>
      </p:graphicFrame>
    </p:spTree>
    <p:extLst>
      <p:ext uri="{BB962C8B-B14F-4D97-AF65-F5344CB8AC3E}">
        <p14:creationId xmlns:p14="http://schemas.microsoft.com/office/powerpoint/2010/main" val="221588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81A33-FBD8-0147-2F46-D4A24304154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A0966CC-40D0-46D0-2705-0F4005416169}"/>
              </a:ext>
            </a:extLst>
          </p:cNvPr>
          <p:cNvSpPr>
            <a:spLocks noGrp="1"/>
          </p:cNvSpPr>
          <p:nvPr>
            <p:ph type="title"/>
          </p:nvPr>
        </p:nvSpPr>
        <p:spPr/>
        <p:txBody>
          <a:bodyPr/>
          <a:lstStyle/>
          <a:p>
            <a:r>
              <a:rPr lang="en-US" dirty="0"/>
              <a:t>What firewalls don’t do</a:t>
            </a:r>
          </a:p>
        </p:txBody>
      </p:sp>
      <p:sp>
        <p:nvSpPr>
          <p:cNvPr id="2" name="Content Placeholder 2">
            <a:extLst>
              <a:ext uri="{FF2B5EF4-FFF2-40B4-BE49-F238E27FC236}">
                <a16:creationId xmlns:a16="http://schemas.microsoft.com/office/drawing/2014/main" id="{144F47D5-F7B8-846D-667D-7BDA11A8918C}"/>
              </a:ext>
            </a:extLst>
          </p:cNvPr>
          <p:cNvSpPr>
            <a:spLocks noGrp="1"/>
          </p:cNvSpPr>
          <p:nvPr>
            <p:ph idx="1"/>
          </p:nvPr>
        </p:nvSpPr>
        <p:spPr>
          <a:xfrm>
            <a:off x="1257299" y="2193131"/>
            <a:ext cx="16446261" cy="6967198"/>
          </a:xfrm>
        </p:spPr>
        <p:txBody>
          <a:bodyPr>
            <a:normAutofit/>
          </a:bodyPr>
          <a:lstStyle/>
          <a:p>
            <a:r>
              <a:rPr lang="en-US" dirty="0"/>
              <a:t>Firewalls play a limited role in addressing:</a:t>
            </a:r>
          </a:p>
          <a:p>
            <a:pPr lvl="1"/>
            <a:r>
              <a:rPr lang="en-US" dirty="0"/>
              <a:t>Many parts of the phishing problem</a:t>
            </a:r>
          </a:p>
          <a:p>
            <a:pPr lvl="2"/>
            <a:r>
              <a:rPr lang="en-US" dirty="0"/>
              <a:t>Only if the phishing target site is known to it</a:t>
            </a:r>
          </a:p>
          <a:p>
            <a:pPr lvl="1"/>
            <a:r>
              <a:rPr lang="en-US" dirty="0"/>
              <a:t>Insider threats</a:t>
            </a:r>
          </a:p>
          <a:p>
            <a:pPr lvl="2"/>
            <a:r>
              <a:rPr lang="en-US" dirty="0"/>
              <a:t>A threat that doesn’t cross a firewall can’t be detected by it</a:t>
            </a:r>
          </a:p>
          <a:p>
            <a:pPr lvl="1"/>
            <a:r>
              <a:rPr lang="en-US" dirty="0"/>
              <a:t>Poor governance</a:t>
            </a:r>
          </a:p>
          <a:p>
            <a:pPr lvl="2"/>
            <a:r>
              <a:rPr lang="en-US" dirty="0"/>
              <a:t>If the patch didn’t get applied, it can’t do its job</a:t>
            </a:r>
          </a:p>
          <a:p>
            <a:pPr lvl="1"/>
            <a:r>
              <a:rPr lang="en-US" dirty="0"/>
              <a:t>Most endpoint compromises</a:t>
            </a:r>
          </a:p>
          <a:p>
            <a:pPr lvl="2"/>
            <a:r>
              <a:rPr lang="en-US" dirty="0"/>
              <a:t>Bugs, zero-day exploits</a:t>
            </a:r>
          </a:p>
        </p:txBody>
      </p:sp>
    </p:spTree>
    <p:extLst>
      <p:ext uri="{BB962C8B-B14F-4D97-AF65-F5344CB8AC3E}">
        <p14:creationId xmlns:p14="http://schemas.microsoft.com/office/powerpoint/2010/main" val="1011460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DB81A-BC2A-5BB8-87AE-B79BFC997E73}"/>
              </a:ext>
            </a:extLst>
          </p:cNvPr>
          <p:cNvSpPr>
            <a:spLocks noGrp="1"/>
          </p:cNvSpPr>
          <p:nvPr>
            <p:ph type="title"/>
          </p:nvPr>
        </p:nvSpPr>
        <p:spPr/>
        <p:txBody>
          <a:bodyPr/>
          <a:lstStyle/>
          <a:p>
            <a:r>
              <a:rPr lang="en-US" dirty="0"/>
              <a:t>Zero Trust </a:t>
            </a:r>
            <a:r>
              <a:rPr lang="en-US"/>
              <a:t>Network Access</a:t>
            </a:r>
          </a:p>
        </p:txBody>
      </p:sp>
      <p:sp>
        <p:nvSpPr>
          <p:cNvPr id="3" name="Content Placeholder 2">
            <a:extLst>
              <a:ext uri="{FF2B5EF4-FFF2-40B4-BE49-F238E27FC236}">
                <a16:creationId xmlns:a16="http://schemas.microsoft.com/office/drawing/2014/main" id="{9329D575-B6EB-7AEE-E837-F5914D027BA6}"/>
              </a:ext>
            </a:extLst>
          </p:cNvPr>
          <p:cNvSpPr>
            <a:spLocks noGrp="1"/>
          </p:cNvSpPr>
          <p:nvPr>
            <p:ph idx="1"/>
          </p:nvPr>
        </p:nvSpPr>
        <p:spPr/>
        <p:txBody>
          <a:bodyPr>
            <a:normAutofit fontScale="92500" lnSpcReduction="20000"/>
          </a:bodyPr>
          <a:lstStyle/>
          <a:p>
            <a:r>
              <a:rPr lang="en-US" dirty="0"/>
              <a:t>Core principle: never trust, always verify</a:t>
            </a:r>
          </a:p>
          <a:p>
            <a:pPr lvl="1"/>
            <a:r>
              <a:rPr lang="en-US" dirty="0"/>
              <a:t>No implicit trust based on network location, even inside the corporate network</a:t>
            </a:r>
          </a:p>
          <a:p>
            <a:pPr lvl="1"/>
            <a:r>
              <a:rPr lang="en-US" dirty="0"/>
              <a:t>Every access request is authenticated, authorized, and continuously validated</a:t>
            </a:r>
          </a:p>
          <a:p>
            <a:r>
              <a:rPr lang="en-US" dirty="0"/>
              <a:t>How it differs from firewall-based trust</a:t>
            </a:r>
          </a:p>
          <a:p>
            <a:pPr lvl="1"/>
            <a:r>
              <a:rPr lang="en-US" dirty="0"/>
              <a:t>A firewall trusts by zone: reach the right interface or segment, and traffic is allowed</a:t>
            </a:r>
          </a:p>
          <a:p>
            <a:pPr lvl="1"/>
            <a:r>
              <a:rPr lang="en-US" dirty="0"/>
              <a:t>ZTNA trusts by identity and context, not by which network segment a request comes from</a:t>
            </a:r>
          </a:p>
          <a:p>
            <a:pPr lvl="1"/>
            <a:r>
              <a:rPr lang="en-US" dirty="0"/>
              <a:t>Being "inside the firewall" no longer implies being trusted</a:t>
            </a:r>
          </a:p>
          <a:p>
            <a:r>
              <a:rPr lang="en-US" dirty="0"/>
              <a:t>Key components</a:t>
            </a:r>
          </a:p>
          <a:p>
            <a:pPr lvl="1"/>
            <a:r>
              <a:rPr lang="en-US" dirty="0"/>
              <a:t>Strong identity verification, typically multi-factor</a:t>
            </a:r>
          </a:p>
          <a:p>
            <a:pPr lvl="1"/>
            <a:r>
              <a:rPr lang="en-US" dirty="0"/>
              <a:t>Device posture checks before granting access</a:t>
            </a:r>
          </a:p>
          <a:p>
            <a:pPr lvl="1"/>
            <a:r>
              <a:rPr lang="en-US" dirty="0"/>
              <a:t>Session-based, continuous authorization rather than one-time login</a:t>
            </a:r>
          </a:p>
        </p:txBody>
      </p:sp>
    </p:spTree>
    <p:extLst>
      <p:ext uri="{BB962C8B-B14F-4D97-AF65-F5344CB8AC3E}">
        <p14:creationId xmlns:p14="http://schemas.microsoft.com/office/powerpoint/2010/main" val="13456222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81A33-FBD8-0147-2F46-D4A24304154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A0966CC-40D0-46D0-2705-0F4005416169}"/>
              </a:ext>
            </a:extLst>
          </p:cNvPr>
          <p:cNvSpPr>
            <a:spLocks noGrp="1"/>
          </p:cNvSpPr>
          <p:nvPr>
            <p:ph type="title"/>
          </p:nvPr>
        </p:nvSpPr>
        <p:spPr/>
        <p:txBody>
          <a:bodyPr/>
          <a:lstStyle/>
          <a:p>
            <a:r>
              <a:rPr lang="en-US" dirty="0"/>
              <a:t>ZTNA in Practice</a:t>
            </a:r>
          </a:p>
        </p:txBody>
      </p:sp>
      <p:sp>
        <p:nvSpPr>
          <p:cNvPr id="2" name="Content Placeholder 2">
            <a:extLst>
              <a:ext uri="{FF2B5EF4-FFF2-40B4-BE49-F238E27FC236}">
                <a16:creationId xmlns:a16="http://schemas.microsoft.com/office/drawing/2014/main" id="{144F47D5-F7B8-846D-667D-7BDA11A8918C}"/>
              </a:ext>
            </a:extLst>
          </p:cNvPr>
          <p:cNvSpPr>
            <a:spLocks noGrp="1"/>
          </p:cNvSpPr>
          <p:nvPr>
            <p:ph idx="1"/>
          </p:nvPr>
        </p:nvSpPr>
        <p:spPr>
          <a:xfrm>
            <a:off x="1257299" y="2193131"/>
            <a:ext cx="16446261" cy="6967198"/>
          </a:xfrm>
        </p:spPr>
        <p:txBody>
          <a:bodyPr>
            <a:normAutofit fontScale="85000" lnSpcReduction="20000"/>
          </a:bodyPr>
          <a:lstStyle/>
          <a:p>
            <a:r>
              <a:rPr lang="en-US" dirty="0"/>
              <a:t>Common deployment models</a:t>
            </a:r>
          </a:p>
          <a:p>
            <a:pPr lvl="1"/>
            <a:r>
              <a:rPr lang="en-US" dirty="0"/>
              <a:t>Service-based (cloud broker) ZTNA — vendor-hosted broker mediates every connection</a:t>
            </a:r>
          </a:p>
          <a:p>
            <a:pPr lvl="1"/>
            <a:r>
              <a:rPr lang="en-US" dirty="0"/>
              <a:t>Client-based agent ZTNA — endpoint agent enforces policy before allowing access</a:t>
            </a:r>
          </a:p>
          <a:p>
            <a:r>
              <a:rPr lang="en-US" dirty="0"/>
              <a:t>Benefits for banks</a:t>
            </a:r>
          </a:p>
          <a:p>
            <a:pPr lvl="1"/>
            <a:r>
              <a:rPr lang="en-US" dirty="0"/>
              <a:t>Shrinks what a compromised zone can reach — no more broad access just for being inside the perimeter</a:t>
            </a:r>
          </a:p>
          <a:p>
            <a:pPr lvl="1"/>
            <a:r>
              <a:rPr lang="en-US" dirty="0"/>
              <a:t>Least-privilege access for remote staff and third-party vendors, enforced per application</a:t>
            </a:r>
          </a:p>
          <a:p>
            <a:pPr lvl="1"/>
            <a:r>
              <a:rPr lang="en-US" dirty="0"/>
              <a:t>Granular, per-session visibility and logging the firewall alone can't provide</a:t>
            </a:r>
          </a:p>
          <a:p>
            <a:r>
              <a:rPr lang="en-US" dirty="0"/>
              <a:t>What examiners should ask</a:t>
            </a:r>
          </a:p>
          <a:p>
            <a:pPr lvl="1"/>
            <a:r>
              <a:rPr lang="en-US" dirty="0"/>
              <a:t>Where does the bank still rely on firewall zone placement alone as its access control?</a:t>
            </a:r>
          </a:p>
          <a:p>
            <a:pPr lvl="1"/>
            <a:r>
              <a:rPr lang="en-US" dirty="0"/>
              <a:t>How is device posture validated before access is granted?</a:t>
            </a:r>
          </a:p>
          <a:p>
            <a:pPr lvl="1"/>
            <a:r>
              <a:rPr lang="en-US" dirty="0"/>
              <a:t>Are vendor and third-party sessions logged, time-limited, and reviewed?</a:t>
            </a:r>
          </a:p>
        </p:txBody>
      </p:sp>
    </p:spTree>
    <p:extLst>
      <p:ext uri="{BB962C8B-B14F-4D97-AF65-F5344CB8AC3E}">
        <p14:creationId xmlns:p14="http://schemas.microsoft.com/office/powerpoint/2010/main" val="817587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35C92-3986-3C9A-5BC1-A0C3F5F85D0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C99FEBE-A4D7-E9E3-EBBB-442385FBFC65}"/>
              </a:ext>
            </a:extLst>
          </p:cNvPr>
          <p:cNvSpPr>
            <a:spLocks noGrp="1"/>
          </p:cNvSpPr>
          <p:nvPr>
            <p:ph type="title"/>
          </p:nvPr>
        </p:nvSpPr>
        <p:spPr/>
        <p:txBody>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Managing Firewall Risk</a:t>
            </a:r>
          </a:p>
        </p:txBody>
      </p:sp>
      <p:sp>
        <p:nvSpPr>
          <p:cNvPr id="3" name="Content Placeholder 2">
            <a:extLst>
              <a:ext uri="{FF2B5EF4-FFF2-40B4-BE49-F238E27FC236}">
                <a16:creationId xmlns:a16="http://schemas.microsoft.com/office/drawing/2014/main" id="{EA997FE7-C3D9-EA9E-4A3C-9ECBE46FA335}"/>
              </a:ext>
            </a:extLst>
          </p:cNvPr>
          <p:cNvSpPr>
            <a:spLocks noGrp="1"/>
          </p:cNvSpPr>
          <p:nvPr>
            <p:ph sz="half" idx="1"/>
          </p:nvPr>
        </p:nvSpPr>
        <p:spPr/>
        <p:txBody>
          <a:bodyPr>
            <a:normAutofit/>
          </a:bodyPr>
          <a:lstStyle/>
          <a:p>
            <a:pPr marL="742950" indent="-742950">
              <a:buFont typeface="+mj-lt"/>
              <a:buAutoNum type="arabicPeriod"/>
            </a:pPr>
            <a:r>
              <a:rPr lang="en-US" dirty="0"/>
              <a:t>Configuration Management</a:t>
            </a:r>
          </a:p>
          <a:p>
            <a:pPr marL="742950" indent="-742950">
              <a:buFont typeface="+mj-lt"/>
              <a:buAutoNum type="arabicPeriod"/>
            </a:pPr>
            <a:r>
              <a:rPr lang="en-US" dirty="0"/>
              <a:t>Rule Management</a:t>
            </a:r>
          </a:p>
          <a:p>
            <a:pPr marL="742950" indent="-742950">
              <a:buFont typeface="+mj-lt"/>
              <a:buAutoNum type="arabicPeriod"/>
            </a:pPr>
            <a:r>
              <a:rPr lang="en-US" dirty="0"/>
              <a:t>Monitoring</a:t>
            </a:r>
          </a:p>
          <a:p>
            <a:pPr marL="742950" indent="-742950">
              <a:buFont typeface="+mj-lt"/>
              <a:buAutoNum type="arabicPeriod"/>
            </a:pPr>
            <a:r>
              <a:rPr lang="en-US" dirty="0"/>
              <a:t>Maintenance</a:t>
            </a:r>
          </a:p>
          <a:p>
            <a:pPr marL="742950" indent="-742950">
              <a:buFont typeface="+mj-lt"/>
              <a:buAutoNum type="arabicPeriod"/>
            </a:pPr>
            <a:r>
              <a:rPr lang="en-US" dirty="0"/>
              <a:t>Governance</a:t>
            </a:r>
          </a:p>
        </p:txBody>
      </p:sp>
      <p:sp>
        <p:nvSpPr>
          <p:cNvPr id="4" name="Content Placeholder 3">
            <a:extLst>
              <a:ext uri="{FF2B5EF4-FFF2-40B4-BE49-F238E27FC236}">
                <a16:creationId xmlns:a16="http://schemas.microsoft.com/office/drawing/2014/main" id="{803E9C26-C77F-ED03-5279-883057D2F465}"/>
              </a:ext>
            </a:extLst>
          </p:cNvPr>
          <p:cNvSpPr>
            <a:spLocks noGrp="1"/>
          </p:cNvSpPr>
          <p:nvPr>
            <p:ph sz="half" idx="2"/>
          </p:nvPr>
        </p:nvSpPr>
        <p:spPr>
          <a:xfrm>
            <a:off x="9258300" y="4351513"/>
            <a:ext cx="7772400" cy="3300855"/>
          </a:xfrm>
        </p:spPr>
        <p:txBody>
          <a:bodyPr>
            <a:normAutofit/>
          </a:bodyPr>
          <a:lstStyle/>
          <a:p>
            <a:r>
              <a:rPr lang="en-US" dirty="0"/>
              <a:t>What are some examples of these elements of management?</a:t>
            </a:r>
          </a:p>
          <a:p>
            <a:r>
              <a:rPr lang="en-US" dirty="0"/>
              <a:t>What questions should the examiner ask about them?</a:t>
            </a:r>
          </a:p>
        </p:txBody>
      </p:sp>
    </p:spTree>
    <p:extLst>
      <p:ext uri="{BB962C8B-B14F-4D97-AF65-F5344CB8AC3E}">
        <p14:creationId xmlns:p14="http://schemas.microsoft.com/office/powerpoint/2010/main" val="29826964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AFAB-FEEC-98F0-032A-56B1F0ED2DE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841A52-C91B-98AD-4004-5AE331862EBC}"/>
              </a:ext>
            </a:extLst>
          </p:cNvPr>
          <p:cNvSpPr>
            <a:spLocks noGrp="1"/>
          </p:cNvSpPr>
          <p:nvPr>
            <p:ph type="title"/>
          </p:nvPr>
        </p:nvSpPr>
        <p:spPr/>
        <p:txBody>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When someone else manages the firewall</a:t>
            </a:r>
          </a:p>
        </p:txBody>
      </p:sp>
      <p:sp>
        <p:nvSpPr>
          <p:cNvPr id="3" name="Content Placeholder 2">
            <a:extLst>
              <a:ext uri="{FF2B5EF4-FFF2-40B4-BE49-F238E27FC236}">
                <a16:creationId xmlns:a16="http://schemas.microsoft.com/office/drawing/2014/main" id="{BBF99825-6588-6A1B-A659-AD84659CAD49}"/>
              </a:ext>
            </a:extLst>
          </p:cNvPr>
          <p:cNvSpPr>
            <a:spLocks noGrp="1"/>
          </p:cNvSpPr>
          <p:nvPr>
            <p:ph sz="half" idx="1"/>
          </p:nvPr>
        </p:nvSpPr>
        <p:spPr/>
        <p:txBody>
          <a:bodyPr>
            <a:normAutofit/>
          </a:bodyPr>
          <a:lstStyle/>
          <a:p>
            <a:pPr marL="742950" indent="-742950">
              <a:buFont typeface="+mj-lt"/>
              <a:buAutoNum type="arabicPeriod"/>
            </a:pPr>
            <a:r>
              <a:rPr lang="en-US" dirty="0"/>
              <a:t>Responsibility</a:t>
            </a:r>
          </a:p>
          <a:p>
            <a:pPr marL="742950" indent="-742950">
              <a:buFont typeface="+mj-lt"/>
              <a:buAutoNum type="arabicPeriod"/>
            </a:pPr>
            <a:r>
              <a:rPr lang="en-US" dirty="0"/>
              <a:t>Change control</a:t>
            </a:r>
          </a:p>
          <a:p>
            <a:pPr marL="742950" indent="-742950">
              <a:buFont typeface="+mj-lt"/>
              <a:buAutoNum type="arabicPeriod"/>
            </a:pPr>
            <a:r>
              <a:rPr lang="en-US" dirty="0"/>
              <a:t>Provider monitoring</a:t>
            </a:r>
          </a:p>
          <a:p>
            <a:pPr marL="742950" indent="-742950">
              <a:buFont typeface="+mj-lt"/>
              <a:buAutoNum type="arabicPeriod"/>
            </a:pPr>
            <a:r>
              <a:rPr lang="en-US" dirty="0"/>
              <a:t>Incident response</a:t>
            </a:r>
          </a:p>
          <a:p>
            <a:pPr marL="742950" indent="-742950">
              <a:buFont typeface="+mj-lt"/>
              <a:buAutoNum type="arabicPeriod"/>
            </a:pPr>
            <a:r>
              <a:rPr lang="en-US" dirty="0"/>
              <a:t>Bank oversight</a:t>
            </a:r>
          </a:p>
        </p:txBody>
      </p:sp>
      <p:sp>
        <p:nvSpPr>
          <p:cNvPr id="6" name="TextBox 5">
            <a:extLst>
              <a:ext uri="{FF2B5EF4-FFF2-40B4-BE49-F238E27FC236}">
                <a16:creationId xmlns:a16="http://schemas.microsoft.com/office/drawing/2014/main" id="{C0DB9FB0-E26A-C1E2-A7C5-C91E86C57174}"/>
              </a:ext>
            </a:extLst>
          </p:cNvPr>
          <p:cNvSpPr txBox="1"/>
          <p:nvPr/>
        </p:nvSpPr>
        <p:spPr>
          <a:xfrm>
            <a:off x="7230138" y="2714110"/>
            <a:ext cx="6868631" cy="3970318"/>
          </a:xfrm>
          <a:prstGeom prst="rect">
            <a:avLst/>
          </a:prstGeom>
          <a:noFill/>
        </p:spPr>
        <p:txBody>
          <a:bodyPr wrap="square" rtlCol="0">
            <a:spAutoFit/>
          </a:bodyPr>
          <a:lstStyle/>
          <a:p>
            <a:r>
              <a:rPr lang="en-US" sz="2800" dirty="0"/>
              <a:t>Who manages the firewall day to day?</a:t>
            </a:r>
          </a:p>
          <a:p>
            <a:r>
              <a:rPr lang="en-US" sz="2800" dirty="0"/>
              <a:t>What responsibilities remain with the bank?</a:t>
            </a:r>
          </a:p>
          <a:p>
            <a:r>
              <a:rPr lang="en-US" sz="2800" dirty="0"/>
              <a:t>How are changes controlled?</a:t>
            </a:r>
          </a:p>
          <a:p>
            <a:r>
              <a:rPr lang="en-US" sz="2800" dirty="0"/>
              <a:t>Who approves rule changes?</a:t>
            </a:r>
          </a:p>
          <a:p>
            <a:r>
              <a:rPr lang="en-US" sz="2800" dirty="0"/>
              <a:t>Is there documentation?</a:t>
            </a:r>
          </a:p>
          <a:p>
            <a:r>
              <a:rPr lang="en-US" sz="2800" dirty="0"/>
              <a:t>Is there an audit trail?</a:t>
            </a:r>
          </a:p>
          <a:p>
            <a:r>
              <a:rPr lang="en-US" sz="2800" dirty="0"/>
              <a:t>How is the provider monitored?</a:t>
            </a:r>
          </a:p>
          <a:p>
            <a:r>
              <a:rPr lang="en-US" sz="2800" dirty="0"/>
              <a:t>Does the bank receive reports?</a:t>
            </a:r>
          </a:p>
          <a:p>
            <a:r>
              <a:rPr lang="en-US" sz="2800" dirty="0"/>
              <a:t>Are alerts reviewed?</a:t>
            </a:r>
          </a:p>
        </p:txBody>
      </p:sp>
      <p:sp>
        <p:nvSpPr>
          <p:cNvPr id="8" name="TextBox 7">
            <a:extLst>
              <a:ext uri="{FF2B5EF4-FFF2-40B4-BE49-F238E27FC236}">
                <a16:creationId xmlns:a16="http://schemas.microsoft.com/office/drawing/2014/main" id="{53E1D509-FF7B-7C15-70EC-F6848E31A03F}"/>
              </a:ext>
            </a:extLst>
          </p:cNvPr>
          <p:cNvSpPr txBox="1"/>
          <p:nvPr/>
        </p:nvSpPr>
        <p:spPr>
          <a:xfrm>
            <a:off x="12137472" y="4981221"/>
            <a:ext cx="6363177" cy="4832092"/>
          </a:xfrm>
          <a:prstGeom prst="rect">
            <a:avLst/>
          </a:prstGeom>
          <a:noFill/>
        </p:spPr>
        <p:txBody>
          <a:bodyPr wrap="square" rtlCol="0">
            <a:spAutoFit/>
          </a:bodyPr>
          <a:lstStyle/>
          <a:p>
            <a:r>
              <a:rPr lang="en-US" sz="2800" dirty="0"/>
              <a:t>How is performance evaluated?</a:t>
            </a:r>
          </a:p>
          <a:p>
            <a:r>
              <a:rPr lang="en-US" sz="2800" dirty="0"/>
              <a:t>Who responds to incidents?</a:t>
            </a:r>
          </a:p>
          <a:p>
            <a:r>
              <a:rPr lang="en-US" sz="2800" dirty="0"/>
              <a:t>Who receives after-hours alerts?</a:t>
            </a:r>
          </a:p>
          <a:p>
            <a:r>
              <a:rPr lang="en-US" sz="2800" dirty="0"/>
              <a:t>What are the response expectations?</a:t>
            </a:r>
          </a:p>
          <a:p>
            <a:r>
              <a:rPr lang="en-US" sz="2800" dirty="0"/>
              <a:t>How are responsibilities divided?</a:t>
            </a:r>
          </a:p>
          <a:p>
            <a:r>
              <a:rPr lang="en-US" sz="2800" dirty="0"/>
              <a:t>How does the bank maintain oversight?</a:t>
            </a:r>
          </a:p>
          <a:p>
            <a:r>
              <a:rPr lang="en-US" sz="2800" dirty="0"/>
              <a:t>Does management understand the arrangement?</a:t>
            </a:r>
          </a:p>
          <a:p>
            <a:r>
              <a:rPr lang="en-US" sz="2800" dirty="0"/>
              <a:t>Is the service periodically reviewed?</a:t>
            </a:r>
          </a:p>
          <a:p>
            <a:r>
              <a:rPr lang="en-US" sz="2800" dirty="0"/>
              <a:t>Is it covered by vendor management?</a:t>
            </a:r>
          </a:p>
          <a:p>
            <a:endParaRPr lang="en-US" sz="2800" dirty="0"/>
          </a:p>
        </p:txBody>
      </p:sp>
      <p:sp>
        <p:nvSpPr>
          <p:cNvPr id="9" name="TextBox 8">
            <a:extLst>
              <a:ext uri="{FF2B5EF4-FFF2-40B4-BE49-F238E27FC236}">
                <a16:creationId xmlns:a16="http://schemas.microsoft.com/office/drawing/2014/main" id="{73A8597E-F62F-F520-EAA1-1E21E05D68C7}"/>
              </a:ext>
            </a:extLst>
          </p:cNvPr>
          <p:cNvSpPr txBox="1"/>
          <p:nvPr/>
        </p:nvSpPr>
        <p:spPr>
          <a:xfrm>
            <a:off x="1743739" y="8080744"/>
            <a:ext cx="8718698" cy="769441"/>
          </a:xfrm>
          <a:prstGeom prst="rect">
            <a:avLst/>
          </a:prstGeom>
          <a:noFill/>
        </p:spPr>
        <p:txBody>
          <a:bodyPr wrap="square" rtlCol="0">
            <a:spAutoFit/>
          </a:bodyPr>
          <a:lstStyle/>
          <a:p>
            <a:r>
              <a:rPr lang="en-US" sz="4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It’s almost easier to do it yourself!</a:t>
            </a:r>
          </a:p>
        </p:txBody>
      </p:sp>
    </p:spTree>
    <p:extLst>
      <p:ext uri="{BB962C8B-B14F-4D97-AF65-F5344CB8AC3E}">
        <p14:creationId xmlns:p14="http://schemas.microsoft.com/office/powerpoint/2010/main" val="41701773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05F1-4798-415F-DBE4-C1A0830FF07E}"/>
              </a:ext>
            </a:extLst>
          </p:cNvPr>
          <p:cNvSpPr>
            <a:spLocks noGrp="1"/>
          </p:cNvSpPr>
          <p:nvPr>
            <p:ph type="title"/>
          </p:nvPr>
        </p:nvSpPr>
        <p:spPr/>
        <p:txBody>
          <a:bodyPr/>
          <a:lstStyle/>
          <a:p>
            <a:r>
              <a:t>Firewalls and Security Architecture</a:t>
            </a:r>
          </a:p>
        </p:txBody>
      </p:sp>
      <p:sp>
        <p:nvSpPr>
          <p:cNvPr id="3" name="Content Placeholder 2">
            <a:extLst>
              <a:ext uri="{FF2B5EF4-FFF2-40B4-BE49-F238E27FC236}">
                <a16:creationId xmlns:a16="http://schemas.microsoft.com/office/drawing/2014/main" id="{9E28BB58-BA4D-1D1D-EAAE-A5FED21C761A}"/>
              </a:ext>
            </a:extLst>
          </p:cNvPr>
          <p:cNvSpPr>
            <a:spLocks noGrp="1"/>
          </p:cNvSpPr>
          <p:nvPr>
            <p:ph idx="1"/>
          </p:nvPr>
        </p:nvSpPr>
        <p:spPr/>
        <p:txBody>
          <a:bodyPr/>
          <a:lstStyle/>
          <a:p>
            <a:r>
              <a:rPr lang="en-US" dirty="0"/>
              <a:t>Is the network documented? Is it understood? By whom?</a:t>
            </a:r>
          </a:p>
          <a:p>
            <a:r>
              <a:rPr lang="en-US" dirty="0"/>
              <a:t>Are critical systems identified?</a:t>
            </a:r>
          </a:p>
          <a:p>
            <a:r>
              <a:rPr lang="en-US" dirty="0"/>
              <a:t>Are internet connections understood and protected?</a:t>
            </a:r>
          </a:p>
          <a:p>
            <a:r>
              <a:rPr lang="en-US" dirty="0"/>
              <a:t>What solutions or platforms are in use, and for what?</a:t>
            </a:r>
          </a:p>
          <a:p>
            <a:r>
              <a:rPr lang="en-US" dirty="0"/>
              <a:t>Who manages the infrastructure?</a:t>
            </a:r>
          </a:p>
          <a:p>
            <a:endParaRPr lang="en-US" dirty="0"/>
          </a:p>
        </p:txBody>
      </p:sp>
    </p:spTree>
    <p:extLst>
      <p:ext uri="{BB962C8B-B14F-4D97-AF65-F5344CB8AC3E}">
        <p14:creationId xmlns:p14="http://schemas.microsoft.com/office/powerpoint/2010/main" val="9294513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7220" y="342900"/>
            <a:ext cx="16870680" cy="617220"/>
          </a:xfrm>
          <a:prstGeom prst="rect">
            <a:avLst/>
          </a:prstGeom>
          <a:noFill/>
          <a:ln/>
        </p:spPr>
        <p:txBody>
          <a:bodyPr wrap="square" lIns="0" tIns="0" rIns="0" bIns="0" rtlCol="0" anchor="ctr"/>
          <a:lstStyle/>
          <a:p>
            <a:r>
              <a:rPr lang="en-US" sz="4200" b="1" dirty="0">
                <a:solidFill>
                  <a:srgbClr val="15324B"/>
                </a:solidFill>
                <a:latin typeface="Aptos Display" pitchFamily="34" charset="0"/>
                <a:ea typeface="Aptos Display" pitchFamily="34" charset="-122"/>
                <a:cs typeface="Aptos Display" pitchFamily="34" charset="-120"/>
              </a:rPr>
              <a:t>Teller Balance Inquiry: Where are the controls?</a:t>
            </a:r>
            <a:endParaRPr lang="en-US" sz="4200" dirty="0"/>
          </a:p>
        </p:txBody>
      </p:sp>
      <p:sp>
        <p:nvSpPr>
          <p:cNvPr id="3" name="Text 1"/>
          <p:cNvSpPr/>
          <p:nvPr/>
        </p:nvSpPr>
        <p:spPr>
          <a:xfrm>
            <a:off x="891540" y="1371600"/>
            <a:ext cx="3291840" cy="301752"/>
          </a:xfrm>
          <a:prstGeom prst="rect">
            <a:avLst/>
          </a:prstGeom>
          <a:noFill/>
          <a:ln/>
        </p:spPr>
        <p:txBody>
          <a:bodyPr wrap="square" lIns="0" tIns="0" rIns="0" bIns="0" rtlCol="0" anchor="ctr"/>
          <a:lstStyle/>
          <a:p>
            <a:r>
              <a:rPr lang="en-US" sz="1500" b="1" dirty="0">
                <a:solidFill>
                  <a:srgbClr val="2B6FA3"/>
                </a:solidFill>
              </a:rPr>
              <a:t>PINE VALLEY EAST BRANCH</a:t>
            </a:r>
            <a:endParaRPr lang="en-US" sz="1500" dirty="0"/>
          </a:p>
        </p:txBody>
      </p:sp>
      <p:sp>
        <p:nvSpPr>
          <p:cNvPr id="4" name="Text 2"/>
          <p:cNvSpPr/>
          <p:nvPr/>
        </p:nvSpPr>
        <p:spPr>
          <a:xfrm>
            <a:off x="891540" y="5733288"/>
            <a:ext cx="3291840" cy="301752"/>
          </a:xfrm>
          <a:prstGeom prst="rect">
            <a:avLst/>
          </a:prstGeom>
          <a:noFill/>
          <a:ln/>
        </p:spPr>
        <p:txBody>
          <a:bodyPr wrap="square" lIns="0" tIns="0" rIns="0" bIns="0" rtlCol="0" anchor="ctr"/>
          <a:lstStyle/>
          <a:p>
            <a:r>
              <a:rPr lang="en-US" sz="1500" b="1" dirty="0">
                <a:solidFill>
                  <a:srgbClr val="5B6770"/>
                </a:solidFill>
              </a:rPr>
              <a:t>PROVIDER NETWORK</a:t>
            </a:r>
            <a:endParaRPr lang="en-US" sz="1500" dirty="0"/>
          </a:p>
        </p:txBody>
      </p:sp>
      <p:sp>
        <p:nvSpPr>
          <p:cNvPr id="5" name="Text 3"/>
          <p:cNvSpPr/>
          <p:nvPr/>
        </p:nvSpPr>
        <p:spPr>
          <a:xfrm>
            <a:off x="891540" y="7022592"/>
            <a:ext cx="3634740" cy="301752"/>
          </a:xfrm>
          <a:prstGeom prst="rect">
            <a:avLst/>
          </a:prstGeom>
          <a:noFill/>
          <a:ln/>
        </p:spPr>
        <p:txBody>
          <a:bodyPr wrap="square" lIns="0" tIns="0" rIns="0" bIns="0" rtlCol="0" anchor="ctr"/>
          <a:lstStyle/>
          <a:p>
            <a:r>
              <a:rPr lang="en-US" sz="1500" b="1" dirty="0">
                <a:solidFill>
                  <a:srgbClr val="2E7D7D"/>
                </a:solidFill>
              </a:rPr>
              <a:t>CORE PROCESSOR DATA CENTER</a:t>
            </a:r>
            <a:endParaRPr lang="en-US" sz="1500" dirty="0"/>
          </a:p>
        </p:txBody>
      </p:sp>
      <p:sp>
        <p:nvSpPr>
          <p:cNvPr id="6" name="Shape 4"/>
          <p:cNvSpPr/>
          <p:nvPr/>
        </p:nvSpPr>
        <p:spPr>
          <a:xfrm>
            <a:off x="9155430" y="2043684"/>
            <a:ext cx="0" cy="233172"/>
          </a:xfrm>
          <a:prstGeom prst="line">
            <a:avLst/>
          </a:prstGeom>
          <a:noFill/>
          <a:ln w="19050">
            <a:solidFill>
              <a:srgbClr val="8795A1"/>
            </a:solidFill>
            <a:prstDash val="solid"/>
            <a:tailEnd type="triangle"/>
          </a:ln>
        </p:spPr>
        <p:txBody>
          <a:bodyPr/>
          <a:lstStyle/>
          <a:p>
            <a:endParaRPr lang="en-US" sz="2700"/>
          </a:p>
        </p:txBody>
      </p:sp>
      <p:sp>
        <p:nvSpPr>
          <p:cNvPr id="7" name="Shape 5"/>
          <p:cNvSpPr/>
          <p:nvPr/>
        </p:nvSpPr>
        <p:spPr>
          <a:xfrm>
            <a:off x="9155430" y="2935224"/>
            <a:ext cx="0" cy="233172"/>
          </a:xfrm>
          <a:prstGeom prst="line">
            <a:avLst/>
          </a:prstGeom>
          <a:noFill/>
          <a:ln w="19050">
            <a:solidFill>
              <a:srgbClr val="8795A1"/>
            </a:solidFill>
            <a:prstDash val="solid"/>
            <a:tailEnd type="triangle"/>
          </a:ln>
        </p:spPr>
        <p:txBody>
          <a:bodyPr/>
          <a:lstStyle/>
          <a:p>
            <a:endParaRPr lang="en-US" sz="2700"/>
          </a:p>
        </p:txBody>
      </p:sp>
      <p:sp>
        <p:nvSpPr>
          <p:cNvPr id="8" name="Shape 6"/>
          <p:cNvSpPr/>
          <p:nvPr/>
        </p:nvSpPr>
        <p:spPr>
          <a:xfrm>
            <a:off x="9155430" y="3826764"/>
            <a:ext cx="0" cy="233172"/>
          </a:xfrm>
          <a:prstGeom prst="line">
            <a:avLst/>
          </a:prstGeom>
          <a:noFill/>
          <a:ln w="19050">
            <a:solidFill>
              <a:srgbClr val="8795A1"/>
            </a:solidFill>
            <a:prstDash val="solid"/>
            <a:tailEnd type="triangle"/>
          </a:ln>
        </p:spPr>
        <p:txBody>
          <a:bodyPr/>
          <a:lstStyle/>
          <a:p>
            <a:endParaRPr lang="en-US" sz="2700"/>
          </a:p>
        </p:txBody>
      </p:sp>
      <p:sp>
        <p:nvSpPr>
          <p:cNvPr id="9" name="Shape 7"/>
          <p:cNvSpPr/>
          <p:nvPr/>
        </p:nvSpPr>
        <p:spPr>
          <a:xfrm>
            <a:off x="9155430" y="4718304"/>
            <a:ext cx="0" cy="233172"/>
          </a:xfrm>
          <a:prstGeom prst="line">
            <a:avLst/>
          </a:prstGeom>
          <a:noFill/>
          <a:ln w="19050">
            <a:solidFill>
              <a:srgbClr val="8795A1"/>
            </a:solidFill>
            <a:prstDash val="solid"/>
            <a:tailEnd type="triangle"/>
          </a:ln>
        </p:spPr>
        <p:txBody>
          <a:bodyPr/>
          <a:lstStyle/>
          <a:p>
            <a:endParaRPr lang="en-US" sz="2700"/>
          </a:p>
        </p:txBody>
      </p:sp>
      <p:sp>
        <p:nvSpPr>
          <p:cNvPr id="10" name="Shape 8"/>
          <p:cNvSpPr/>
          <p:nvPr/>
        </p:nvSpPr>
        <p:spPr>
          <a:xfrm>
            <a:off x="9155430" y="5609844"/>
            <a:ext cx="0" cy="150876"/>
          </a:xfrm>
          <a:prstGeom prst="line">
            <a:avLst/>
          </a:prstGeom>
          <a:noFill/>
          <a:ln w="19050">
            <a:solidFill>
              <a:srgbClr val="8795A1"/>
            </a:solidFill>
            <a:prstDash val="solid"/>
            <a:tailEnd type="triangle"/>
          </a:ln>
        </p:spPr>
        <p:txBody>
          <a:bodyPr/>
          <a:lstStyle/>
          <a:p>
            <a:endParaRPr lang="en-US" sz="2700"/>
          </a:p>
        </p:txBody>
      </p:sp>
      <p:sp>
        <p:nvSpPr>
          <p:cNvPr id="11" name="Shape 9"/>
          <p:cNvSpPr/>
          <p:nvPr/>
        </p:nvSpPr>
        <p:spPr>
          <a:xfrm>
            <a:off x="9155430" y="6419088"/>
            <a:ext cx="0" cy="658368"/>
          </a:xfrm>
          <a:prstGeom prst="line">
            <a:avLst/>
          </a:prstGeom>
          <a:noFill/>
          <a:ln w="19050">
            <a:solidFill>
              <a:srgbClr val="8795A1"/>
            </a:solidFill>
            <a:prstDash val="solid"/>
            <a:tailEnd type="triangle"/>
          </a:ln>
        </p:spPr>
        <p:txBody>
          <a:bodyPr/>
          <a:lstStyle/>
          <a:p>
            <a:endParaRPr lang="en-US" sz="2700"/>
          </a:p>
        </p:txBody>
      </p:sp>
      <p:sp>
        <p:nvSpPr>
          <p:cNvPr id="12" name="Shape 10"/>
          <p:cNvSpPr/>
          <p:nvPr/>
        </p:nvSpPr>
        <p:spPr>
          <a:xfrm>
            <a:off x="9155430" y="7735824"/>
            <a:ext cx="0" cy="233172"/>
          </a:xfrm>
          <a:prstGeom prst="line">
            <a:avLst/>
          </a:prstGeom>
          <a:noFill/>
          <a:ln w="19050">
            <a:solidFill>
              <a:srgbClr val="8795A1"/>
            </a:solidFill>
            <a:prstDash val="solid"/>
            <a:tailEnd type="triangle"/>
          </a:ln>
        </p:spPr>
        <p:txBody>
          <a:bodyPr/>
          <a:lstStyle/>
          <a:p>
            <a:endParaRPr lang="en-US" sz="2700"/>
          </a:p>
        </p:txBody>
      </p:sp>
      <p:sp>
        <p:nvSpPr>
          <p:cNvPr id="13" name="Text 11"/>
          <p:cNvSpPr/>
          <p:nvPr/>
        </p:nvSpPr>
        <p:spPr>
          <a:xfrm>
            <a:off x="1508760" y="5184648"/>
            <a:ext cx="3291840" cy="301752"/>
          </a:xfrm>
          <a:prstGeom prst="rect">
            <a:avLst/>
          </a:prstGeom>
          <a:noFill/>
          <a:ln/>
        </p:spPr>
        <p:txBody>
          <a:bodyPr wrap="square" lIns="0" tIns="0" rIns="0" bIns="0" rtlCol="0" anchor="ctr"/>
          <a:lstStyle/>
          <a:p>
            <a:r>
              <a:rPr lang="en-US" sz="1575" i="1" dirty="0">
                <a:solidFill>
                  <a:srgbClr val="5B6770"/>
                </a:solidFill>
              </a:rPr>
              <a:t>encrypted provider connection</a:t>
            </a:r>
            <a:endParaRPr lang="en-US" sz="1575" dirty="0"/>
          </a:p>
        </p:txBody>
      </p:sp>
      <p:sp>
        <p:nvSpPr>
          <p:cNvPr id="14" name="Text 12"/>
          <p:cNvSpPr/>
          <p:nvPr/>
        </p:nvSpPr>
        <p:spPr>
          <a:xfrm>
            <a:off x="13235940" y="3497580"/>
            <a:ext cx="3634740" cy="891540"/>
          </a:xfrm>
          <a:prstGeom prst="rect">
            <a:avLst/>
          </a:prstGeom>
          <a:noFill/>
          <a:ln/>
        </p:spPr>
        <p:txBody>
          <a:bodyPr wrap="square" lIns="953" tIns="953" rIns="953" bIns="953" rtlCol="0" anchor="ctr">
            <a:normAutofit/>
          </a:bodyPr>
          <a:lstStyle/>
          <a:p>
            <a:r>
              <a:rPr lang="en-US" sz="2250" b="1" dirty="0">
                <a:solidFill>
                  <a:srgbClr val="15324B"/>
                </a:solidFill>
              </a:rPr>
              <a:t>Response returns</a:t>
            </a:r>
            <a:endParaRPr lang="en-US" sz="2250" dirty="0"/>
          </a:p>
          <a:p>
            <a:r>
              <a:rPr lang="en-US" sz="2250" b="1" dirty="0">
                <a:solidFill>
                  <a:srgbClr val="15324B"/>
                </a:solidFill>
              </a:rPr>
              <a:t>along the same path</a:t>
            </a:r>
            <a:endParaRPr lang="en-US" sz="2250" dirty="0"/>
          </a:p>
        </p:txBody>
      </p:sp>
      <p:sp>
        <p:nvSpPr>
          <p:cNvPr id="15" name="Text 13"/>
          <p:cNvSpPr/>
          <p:nvPr/>
        </p:nvSpPr>
        <p:spPr>
          <a:xfrm>
            <a:off x="14292072" y="4416552"/>
            <a:ext cx="548640" cy="2674620"/>
          </a:xfrm>
          <a:prstGeom prst="rect">
            <a:avLst/>
          </a:prstGeom>
          <a:noFill/>
          <a:ln/>
        </p:spPr>
        <p:txBody>
          <a:bodyPr wrap="square" lIns="0" tIns="0" rIns="0" bIns="0" rtlCol="0" anchor="ctr"/>
          <a:lstStyle/>
          <a:p>
            <a:pPr algn="ctr"/>
            <a:r>
              <a:rPr lang="en-US" sz="6600" b="1" dirty="0">
                <a:solidFill>
                  <a:srgbClr val="2E7D7D"/>
                </a:solidFill>
              </a:rPr>
              <a:t>↑</a:t>
            </a:r>
            <a:endParaRPr lang="en-US" sz="6600" dirty="0"/>
          </a:p>
        </p:txBody>
      </p:sp>
      <p:sp>
        <p:nvSpPr>
          <p:cNvPr id="16" name="Shape 14"/>
          <p:cNvSpPr/>
          <p:nvPr/>
        </p:nvSpPr>
        <p:spPr>
          <a:xfrm>
            <a:off x="5829300" y="141274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17" name="Text 15"/>
          <p:cNvSpPr/>
          <p:nvPr/>
        </p:nvSpPr>
        <p:spPr>
          <a:xfrm>
            <a:off x="6035040" y="1495044"/>
            <a:ext cx="6240780" cy="246888"/>
          </a:xfrm>
          <a:prstGeom prst="rect">
            <a:avLst/>
          </a:prstGeom>
          <a:noFill/>
          <a:ln/>
        </p:spPr>
        <p:txBody>
          <a:bodyPr wrap="square" lIns="0" tIns="0" rIns="0" bIns="0" rtlCol="0" anchor="ctr"/>
          <a:lstStyle/>
          <a:p>
            <a:r>
              <a:rPr lang="en-US" sz="2325" b="1" dirty="0">
                <a:solidFill>
                  <a:srgbClr val="15324B"/>
                </a:solidFill>
              </a:rPr>
              <a:t>Customer</a:t>
            </a:r>
            <a:endParaRPr lang="en-US" sz="2325" dirty="0"/>
          </a:p>
        </p:txBody>
      </p:sp>
      <p:sp>
        <p:nvSpPr>
          <p:cNvPr id="18" name="Text 16"/>
          <p:cNvSpPr/>
          <p:nvPr/>
        </p:nvSpPr>
        <p:spPr>
          <a:xfrm>
            <a:off x="6035040" y="1783080"/>
            <a:ext cx="6240780" cy="205740"/>
          </a:xfrm>
          <a:prstGeom prst="rect">
            <a:avLst/>
          </a:prstGeom>
          <a:noFill/>
          <a:ln/>
        </p:spPr>
        <p:txBody>
          <a:bodyPr wrap="square" lIns="0" tIns="0" rIns="0" bIns="0" rtlCol="0" anchor="ctr"/>
          <a:lstStyle/>
          <a:p>
            <a:r>
              <a:rPr lang="en-US" sz="1455" dirty="0">
                <a:solidFill>
                  <a:srgbClr val="5B6770"/>
                </a:solidFill>
              </a:rPr>
              <a:t>“What’s my balance?”</a:t>
            </a:r>
            <a:endParaRPr lang="en-US" sz="1455" dirty="0"/>
          </a:p>
        </p:txBody>
      </p:sp>
      <p:sp>
        <p:nvSpPr>
          <p:cNvPr id="19" name="Shape 17"/>
          <p:cNvSpPr/>
          <p:nvPr/>
        </p:nvSpPr>
        <p:spPr>
          <a:xfrm>
            <a:off x="5829300" y="230428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0" name="Text 18"/>
          <p:cNvSpPr/>
          <p:nvPr/>
        </p:nvSpPr>
        <p:spPr>
          <a:xfrm>
            <a:off x="6035040" y="2386584"/>
            <a:ext cx="6240780" cy="246888"/>
          </a:xfrm>
          <a:prstGeom prst="rect">
            <a:avLst/>
          </a:prstGeom>
          <a:noFill/>
          <a:ln/>
        </p:spPr>
        <p:txBody>
          <a:bodyPr wrap="square" lIns="0" tIns="0" rIns="0" bIns="0" rtlCol="0" anchor="ctr"/>
          <a:lstStyle/>
          <a:p>
            <a:r>
              <a:rPr lang="en-US" sz="2325" b="1" dirty="0">
                <a:solidFill>
                  <a:srgbClr val="15324B"/>
                </a:solidFill>
              </a:rPr>
              <a:t>Teller</a:t>
            </a:r>
            <a:endParaRPr lang="en-US" sz="2325" dirty="0"/>
          </a:p>
        </p:txBody>
      </p:sp>
      <p:sp>
        <p:nvSpPr>
          <p:cNvPr id="21" name="Text 19"/>
          <p:cNvSpPr/>
          <p:nvPr/>
        </p:nvSpPr>
        <p:spPr>
          <a:xfrm>
            <a:off x="6035040" y="2674620"/>
            <a:ext cx="6240780" cy="205740"/>
          </a:xfrm>
          <a:prstGeom prst="rect">
            <a:avLst/>
          </a:prstGeom>
          <a:noFill/>
          <a:ln/>
        </p:spPr>
        <p:txBody>
          <a:bodyPr wrap="square" lIns="0" tIns="0" rIns="0" bIns="0" rtlCol="0" anchor="ctr"/>
          <a:lstStyle/>
          <a:p>
            <a:r>
              <a:rPr lang="en-US" sz="1455" dirty="0">
                <a:solidFill>
                  <a:srgbClr val="5B6770"/>
                </a:solidFill>
              </a:rPr>
              <a:t>Receives the request</a:t>
            </a:r>
            <a:endParaRPr lang="en-US" sz="1455" dirty="0"/>
          </a:p>
        </p:txBody>
      </p:sp>
      <p:sp>
        <p:nvSpPr>
          <p:cNvPr id="22" name="Shape 20"/>
          <p:cNvSpPr/>
          <p:nvPr/>
        </p:nvSpPr>
        <p:spPr>
          <a:xfrm>
            <a:off x="5829300" y="319582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3" name="Text 21"/>
          <p:cNvSpPr/>
          <p:nvPr/>
        </p:nvSpPr>
        <p:spPr>
          <a:xfrm>
            <a:off x="6035040" y="3278124"/>
            <a:ext cx="6240780" cy="246888"/>
          </a:xfrm>
          <a:prstGeom prst="rect">
            <a:avLst/>
          </a:prstGeom>
          <a:noFill/>
          <a:ln/>
        </p:spPr>
        <p:txBody>
          <a:bodyPr wrap="square" lIns="0" tIns="0" rIns="0" bIns="0" rtlCol="0" anchor="ctr"/>
          <a:lstStyle/>
          <a:p>
            <a:r>
              <a:rPr lang="en-US" sz="2325" b="1" dirty="0">
                <a:solidFill>
                  <a:srgbClr val="15324B"/>
                </a:solidFill>
              </a:rPr>
              <a:t>Teller Workstation</a:t>
            </a:r>
            <a:endParaRPr lang="en-US" sz="2325" dirty="0"/>
          </a:p>
        </p:txBody>
      </p:sp>
      <p:sp>
        <p:nvSpPr>
          <p:cNvPr id="24" name="Text 22"/>
          <p:cNvSpPr/>
          <p:nvPr/>
        </p:nvSpPr>
        <p:spPr>
          <a:xfrm>
            <a:off x="6035040" y="3566160"/>
            <a:ext cx="6240780" cy="205740"/>
          </a:xfrm>
          <a:prstGeom prst="rect">
            <a:avLst/>
          </a:prstGeom>
          <a:noFill/>
          <a:ln/>
        </p:spPr>
        <p:txBody>
          <a:bodyPr wrap="square" lIns="0" tIns="0" rIns="0" bIns="0" rtlCol="0" anchor="ctr"/>
          <a:lstStyle/>
          <a:p>
            <a:r>
              <a:rPr lang="en-US" sz="1455" dirty="0">
                <a:solidFill>
                  <a:srgbClr val="5B6770"/>
                </a:solidFill>
              </a:rPr>
              <a:t>Core application client</a:t>
            </a:r>
            <a:endParaRPr lang="en-US" sz="1455" dirty="0"/>
          </a:p>
        </p:txBody>
      </p:sp>
      <p:sp>
        <p:nvSpPr>
          <p:cNvPr id="25" name="Shape 23"/>
          <p:cNvSpPr/>
          <p:nvPr/>
        </p:nvSpPr>
        <p:spPr>
          <a:xfrm>
            <a:off x="5829300" y="408736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6" name="Text 24"/>
          <p:cNvSpPr/>
          <p:nvPr/>
        </p:nvSpPr>
        <p:spPr>
          <a:xfrm>
            <a:off x="6035040" y="4169664"/>
            <a:ext cx="6240780" cy="246888"/>
          </a:xfrm>
          <a:prstGeom prst="rect">
            <a:avLst/>
          </a:prstGeom>
          <a:noFill/>
          <a:ln/>
        </p:spPr>
        <p:txBody>
          <a:bodyPr wrap="square" lIns="0" tIns="0" rIns="0" bIns="0" rtlCol="0" anchor="ctr"/>
          <a:lstStyle/>
          <a:p>
            <a:r>
              <a:rPr lang="en-US" sz="2325" b="1" dirty="0">
                <a:solidFill>
                  <a:srgbClr val="15324B"/>
                </a:solidFill>
              </a:rPr>
              <a:t>Branch Switch</a:t>
            </a:r>
            <a:endParaRPr lang="en-US" sz="2325" dirty="0"/>
          </a:p>
        </p:txBody>
      </p:sp>
      <p:sp>
        <p:nvSpPr>
          <p:cNvPr id="27" name="Text 25"/>
          <p:cNvSpPr/>
          <p:nvPr/>
        </p:nvSpPr>
        <p:spPr>
          <a:xfrm>
            <a:off x="6035040" y="4457700"/>
            <a:ext cx="6240780" cy="205740"/>
          </a:xfrm>
          <a:prstGeom prst="rect">
            <a:avLst/>
          </a:prstGeom>
          <a:noFill/>
          <a:ln/>
        </p:spPr>
        <p:txBody>
          <a:bodyPr wrap="square" lIns="0" tIns="0" rIns="0" bIns="0" rtlCol="0" anchor="ctr"/>
          <a:lstStyle/>
          <a:p>
            <a:r>
              <a:rPr lang="en-US" sz="1455" dirty="0">
                <a:solidFill>
                  <a:srgbClr val="5B6770"/>
                </a:solidFill>
              </a:rPr>
              <a:t>Moves traffic within the branch LAN</a:t>
            </a:r>
            <a:endParaRPr lang="en-US" sz="1455" dirty="0"/>
          </a:p>
        </p:txBody>
      </p:sp>
      <p:sp>
        <p:nvSpPr>
          <p:cNvPr id="28" name="Shape 26"/>
          <p:cNvSpPr/>
          <p:nvPr/>
        </p:nvSpPr>
        <p:spPr>
          <a:xfrm>
            <a:off x="5829300" y="497890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9" name="Text 27"/>
          <p:cNvSpPr/>
          <p:nvPr/>
        </p:nvSpPr>
        <p:spPr>
          <a:xfrm>
            <a:off x="6035040" y="5061204"/>
            <a:ext cx="6240780" cy="246888"/>
          </a:xfrm>
          <a:prstGeom prst="rect">
            <a:avLst/>
          </a:prstGeom>
          <a:noFill/>
          <a:ln/>
        </p:spPr>
        <p:txBody>
          <a:bodyPr wrap="square" lIns="0" tIns="0" rIns="0" bIns="0" rtlCol="0" anchor="ctr"/>
          <a:lstStyle/>
          <a:p>
            <a:r>
              <a:rPr lang="en-US" sz="2325" b="1" dirty="0">
                <a:solidFill>
                  <a:srgbClr val="15324B"/>
                </a:solidFill>
              </a:rPr>
              <a:t>Branch Router / Firewall</a:t>
            </a:r>
            <a:endParaRPr lang="en-US" sz="2325" dirty="0"/>
          </a:p>
        </p:txBody>
      </p:sp>
      <p:sp>
        <p:nvSpPr>
          <p:cNvPr id="30" name="Text 28"/>
          <p:cNvSpPr/>
          <p:nvPr/>
        </p:nvSpPr>
        <p:spPr>
          <a:xfrm>
            <a:off x="6035040" y="5349240"/>
            <a:ext cx="6240780" cy="205740"/>
          </a:xfrm>
          <a:prstGeom prst="rect">
            <a:avLst/>
          </a:prstGeom>
          <a:noFill/>
          <a:ln/>
        </p:spPr>
        <p:txBody>
          <a:bodyPr wrap="square" lIns="0" tIns="0" rIns="0" bIns="0" rtlCol="0" anchor="ctr"/>
          <a:lstStyle/>
          <a:p>
            <a:r>
              <a:rPr lang="en-US" sz="1455" dirty="0">
                <a:solidFill>
                  <a:srgbClr val="5B6770"/>
                </a:solidFill>
              </a:rPr>
              <a:t>Forwards traffic outside the branch</a:t>
            </a:r>
            <a:endParaRPr lang="en-US" sz="1455" dirty="0"/>
          </a:p>
        </p:txBody>
      </p:sp>
      <p:sp>
        <p:nvSpPr>
          <p:cNvPr id="31" name="Shape 29"/>
          <p:cNvSpPr/>
          <p:nvPr/>
        </p:nvSpPr>
        <p:spPr>
          <a:xfrm>
            <a:off x="5829300" y="5788152"/>
            <a:ext cx="6652260" cy="630936"/>
          </a:xfrm>
          <a:prstGeom prst="roundRect">
            <a:avLst>
              <a:gd name="adj" fmla="val 17391"/>
            </a:avLst>
          </a:prstGeom>
          <a:solidFill>
            <a:srgbClr val="FFFFFF"/>
          </a:solidFill>
          <a:ln w="16510">
            <a:solidFill>
              <a:srgbClr val="5B6770"/>
            </a:solidFill>
            <a:prstDash val="solid"/>
          </a:ln>
        </p:spPr>
        <p:txBody>
          <a:bodyPr/>
          <a:lstStyle/>
          <a:p>
            <a:endParaRPr lang="en-US" sz="2700"/>
          </a:p>
        </p:txBody>
      </p:sp>
      <p:sp>
        <p:nvSpPr>
          <p:cNvPr id="32" name="Text 30"/>
          <p:cNvSpPr/>
          <p:nvPr/>
        </p:nvSpPr>
        <p:spPr>
          <a:xfrm>
            <a:off x="6035040" y="5870448"/>
            <a:ext cx="6240780" cy="246888"/>
          </a:xfrm>
          <a:prstGeom prst="rect">
            <a:avLst/>
          </a:prstGeom>
          <a:noFill/>
          <a:ln/>
        </p:spPr>
        <p:txBody>
          <a:bodyPr wrap="square" lIns="0" tIns="0" rIns="0" bIns="0" rtlCol="0" anchor="ctr"/>
          <a:lstStyle/>
          <a:p>
            <a:r>
              <a:rPr lang="en-US" sz="2325" b="1" dirty="0">
                <a:solidFill>
                  <a:srgbClr val="15324B"/>
                </a:solidFill>
              </a:rPr>
              <a:t>Telecommunications Provider Network</a:t>
            </a:r>
            <a:endParaRPr lang="en-US" sz="2325" dirty="0"/>
          </a:p>
        </p:txBody>
      </p:sp>
      <p:sp>
        <p:nvSpPr>
          <p:cNvPr id="33" name="Text 31"/>
          <p:cNvSpPr/>
          <p:nvPr/>
        </p:nvSpPr>
        <p:spPr>
          <a:xfrm>
            <a:off x="6035040" y="6158484"/>
            <a:ext cx="6240780" cy="205740"/>
          </a:xfrm>
          <a:prstGeom prst="rect">
            <a:avLst/>
          </a:prstGeom>
          <a:noFill/>
          <a:ln/>
        </p:spPr>
        <p:txBody>
          <a:bodyPr wrap="square" lIns="0" tIns="0" rIns="0" bIns="0" rtlCol="0" anchor="ctr"/>
          <a:lstStyle/>
          <a:p>
            <a:r>
              <a:rPr lang="en-US" sz="1455" dirty="0">
                <a:solidFill>
                  <a:srgbClr val="5B6770"/>
                </a:solidFill>
              </a:rPr>
              <a:t>WAN / VPN / MPLS transport</a:t>
            </a:r>
            <a:endParaRPr lang="en-US" sz="1455" dirty="0"/>
          </a:p>
        </p:txBody>
      </p:sp>
      <p:sp>
        <p:nvSpPr>
          <p:cNvPr id="34" name="Shape 32"/>
          <p:cNvSpPr/>
          <p:nvPr/>
        </p:nvSpPr>
        <p:spPr>
          <a:xfrm>
            <a:off x="5829300" y="7104888"/>
            <a:ext cx="6652260" cy="630936"/>
          </a:xfrm>
          <a:prstGeom prst="roundRect">
            <a:avLst>
              <a:gd name="adj" fmla="val 17391"/>
            </a:avLst>
          </a:prstGeom>
          <a:solidFill>
            <a:srgbClr val="FFFFFF"/>
          </a:solidFill>
          <a:ln w="16510">
            <a:solidFill>
              <a:srgbClr val="2E7D7D"/>
            </a:solidFill>
            <a:prstDash val="solid"/>
          </a:ln>
        </p:spPr>
        <p:txBody>
          <a:bodyPr/>
          <a:lstStyle/>
          <a:p>
            <a:endParaRPr lang="en-US" sz="2700"/>
          </a:p>
        </p:txBody>
      </p:sp>
      <p:sp>
        <p:nvSpPr>
          <p:cNvPr id="35" name="Text 33"/>
          <p:cNvSpPr/>
          <p:nvPr/>
        </p:nvSpPr>
        <p:spPr>
          <a:xfrm>
            <a:off x="6035040" y="7187184"/>
            <a:ext cx="6240780" cy="246888"/>
          </a:xfrm>
          <a:prstGeom prst="rect">
            <a:avLst/>
          </a:prstGeom>
          <a:noFill/>
          <a:ln/>
        </p:spPr>
        <p:txBody>
          <a:bodyPr wrap="square" lIns="0" tIns="0" rIns="0" bIns="0" rtlCol="0" anchor="ctr"/>
          <a:lstStyle/>
          <a:p>
            <a:r>
              <a:rPr lang="en-US" sz="2325" b="1" dirty="0">
                <a:solidFill>
                  <a:srgbClr val="15324B"/>
                </a:solidFill>
              </a:rPr>
              <a:t>Vendor-Hosted Core Processor</a:t>
            </a:r>
            <a:endParaRPr lang="en-US" sz="2325" dirty="0"/>
          </a:p>
        </p:txBody>
      </p:sp>
      <p:sp>
        <p:nvSpPr>
          <p:cNvPr id="36" name="Text 34"/>
          <p:cNvSpPr/>
          <p:nvPr/>
        </p:nvSpPr>
        <p:spPr>
          <a:xfrm>
            <a:off x="6035040" y="7475220"/>
            <a:ext cx="6240780" cy="205740"/>
          </a:xfrm>
          <a:prstGeom prst="rect">
            <a:avLst/>
          </a:prstGeom>
          <a:noFill/>
          <a:ln/>
        </p:spPr>
        <p:txBody>
          <a:bodyPr wrap="square" lIns="0" tIns="0" rIns="0" bIns="0" rtlCol="0" anchor="ctr"/>
          <a:lstStyle/>
          <a:p>
            <a:r>
              <a:rPr lang="en-US" sz="1455" dirty="0">
                <a:solidFill>
                  <a:srgbClr val="5B6770"/>
                </a:solidFill>
              </a:rPr>
              <a:t>Core banking application</a:t>
            </a:r>
            <a:endParaRPr lang="en-US" sz="1455" dirty="0"/>
          </a:p>
        </p:txBody>
      </p:sp>
      <p:sp>
        <p:nvSpPr>
          <p:cNvPr id="37" name="Shape 35"/>
          <p:cNvSpPr/>
          <p:nvPr/>
        </p:nvSpPr>
        <p:spPr>
          <a:xfrm>
            <a:off x="5829300" y="7996428"/>
            <a:ext cx="6652260" cy="630936"/>
          </a:xfrm>
          <a:prstGeom prst="roundRect">
            <a:avLst>
              <a:gd name="adj" fmla="val 17391"/>
            </a:avLst>
          </a:prstGeom>
          <a:solidFill>
            <a:srgbClr val="FFFFFF"/>
          </a:solidFill>
          <a:ln w="16510">
            <a:solidFill>
              <a:srgbClr val="2E7D7D"/>
            </a:solidFill>
            <a:prstDash val="solid"/>
          </a:ln>
        </p:spPr>
        <p:txBody>
          <a:bodyPr/>
          <a:lstStyle/>
          <a:p>
            <a:endParaRPr lang="en-US" sz="2700"/>
          </a:p>
        </p:txBody>
      </p:sp>
      <p:sp>
        <p:nvSpPr>
          <p:cNvPr id="38" name="Text 36"/>
          <p:cNvSpPr/>
          <p:nvPr/>
        </p:nvSpPr>
        <p:spPr>
          <a:xfrm>
            <a:off x="6035040" y="8078724"/>
            <a:ext cx="6240780" cy="246888"/>
          </a:xfrm>
          <a:prstGeom prst="rect">
            <a:avLst/>
          </a:prstGeom>
          <a:noFill/>
          <a:ln/>
        </p:spPr>
        <p:txBody>
          <a:bodyPr wrap="square" lIns="0" tIns="0" rIns="0" bIns="0" rtlCol="0" anchor="ctr"/>
          <a:lstStyle/>
          <a:p>
            <a:r>
              <a:rPr lang="en-US" sz="2325" b="1" dirty="0">
                <a:solidFill>
                  <a:srgbClr val="15324B"/>
                </a:solidFill>
              </a:rPr>
              <a:t>Customer Account Database</a:t>
            </a:r>
            <a:endParaRPr lang="en-US" sz="2325" dirty="0"/>
          </a:p>
        </p:txBody>
      </p:sp>
      <p:sp>
        <p:nvSpPr>
          <p:cNvPr id="39" name="Text 37"/>
          <p:cNvSpPr/>
          <p:nvPr/>
        </p:nvSpPr>
        <p:spPr>
          <a:xfrm>
            <a:off x="6035040" y="8366760"/>
            <a:ext cx="6240780" cy="205740"/>
          </a:xfrm>
          <a:prstGeom prst="rect">
            <a:avLst/>
          </a:prstGeom>
          <a:noFill/>
          <a:ln/>
        </p:spPr>
        <p:txBody>
          <a:bodyPr wrap="square" lIns="0" tIns="0" rIns="0" bIns="0" rtlCol="0" anchor="ctr"/>
          <a:lstStyle/>
          <a:p>
            <a:r>
              <a:rPr lang="en-US" sz="1455" dirty="0">
                <a:solidFill>
                  <a:srgbClr val="5B6770"/>
                </a:solidFill>
              </a:rPr>
              <a:t>Account balance found</a:t>
            </a:r>
            <a:endParaRPr lang="en-US" sz="1455" dirty="0"/>
          </a:p>
        </p:txBody>
      </p:sp>
      <p:sp>
        <p:nvSpPr>
          <p:cNvPr id="40" name="Shape 38"/>
          <p:cNvSpPr/>
          <p:nvPr/>
        </p:nvSpPr>
        <p:spPr>
          <a:xfrm>
            <a:off x="617220" y="9354312"/>
            <a:ext cx="17076420" cy="617220"/>
          </a:xfrm>
          <a:prstGeom prst="rect">
            <a:avLst/>
          </a:prstGeom>
          <a:solidFill>
            <a:srgbClr val="F8FAFB"/>
          </a:solidFill>
          <a:ln w="12700">
            <a:solidFill>
              <a:srgbClr val="E2E6EA"/>
            </a:solidFill>
            <a:prstDash val="solid"/>
          </a:ln>
        </p:spPr>
        <p:txBody>
          <a:bodyPr/>
          <a:lstStyle/>
          <a:p>
            <a:endParaRPr lang="en-US" sz="2700"/>
          </a:p>
        </p:txBody>
      </p:sp>
      <p:sp>
        <p:nvSpPr>
          <p:cNvPr id="41" name="Text 39"/>
          <p:cNvSpPr/>
          <p:nvPr/>
        </p:nvSpPr>
        <p:spPr>
          <a:xfrm>
            <a:off x="891540" y="9518904"/>
            <a:ext cx="16527780" cy="246888"/>
          </a:xfrm>
          <a:prstGeom prst="rect">
            <a:avLst/>
          </a:prstGeom>
          <a:noFill/>
          <a:ln/>
        </p:spPr>
        <p:txBody>
          <a:bodyPr wrap="square" lIns="0" tIns="0" rIns="0" bIns="0" rtlCol="0" anchor="ctr"/>
          <a:lstStyle/>
          <a:p>
            <a:r>
              <a:rPr lang="en-US" sz="1950">
                <a:solidFill>
                  <a:srgbClr val="15324B"/>
                </a:solidFill>
              </a:rPr>
              <a:t>Every </a:t>
            </a:r>
            <a:r>
              <a:rPr lang="en-US" sz="1950" dirty="0">
                <a:solidFill>
                  <a:srgbClr val="15324B"/>
                </a:solidFill>
              </a:rPr>
              <a:t>transaction depends on addressing, forwarding, transmission, delivery, and a return path.</a:t>
            </a:r>
            <a:endParaRPr lang="en-US" sz="1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2473B-4A42-9C1A-7E67-BC28A0DCB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82F6D-EB84-DD7D-02D4-63EDD305D831}"/>
              </a:ext>
            </a:extLst>
          </p:cNvPr>
          <p:cNvSpPr>
            <a:spLocks noGrp="1"/>
          </p:cNvSpPr>
          <p:nvPr>
            <p:ph type="title"/>
          </p:nvPr>
        </p:nvSpPr>
        <p:spPr/>
        <p:txBody>
          <a:bodyPr/>
          <a:lstStyle/>
          <a:p>
            <a:r>
              <a:rPr lang="en-US" dirty="0"/>
              <a:t>Key Takeaways</a:t>
            </a:r>
            <a:endParaRPr dirty="0"/>
          </a:p>
        </p:txBody>
      </p:sp>
      <p:sp>
        <p:nvSpPr>
          <p:cNvPr id="3" name="Content Placeholder 2">
            <a:extLst>
              <a:ext uri="{FF2B5EF4-FFF2-40B4-BE49-F238E27FC236}">
                <a16:creationId xmlns:a16="http://schemas.microsoft.com/office/drawing/2014/main" id="{25DF9E3A-37F1-6E71-2146-8EA586DBA926}"/>
              </a:ext>
            </a:extLst>
          </p:cNvPr>
          <p:cNvSpPr>
            <a:spLocks noGrp="1"/>
          </p:cNvSpPr>
          <p:nvPr>
            <p:ph idx="1"/>
          </p:nvPr>
        </p:nvSpPr>
        <p:spPr>
          <a:xfrm>
            <a:off x="1257299" y="2193131"/>
            <a:ext cx="17307147" cy="5632432"/>
          </a:xfrm>
        </p:spPr>
        <p:txBody>
          <a:bodyPr/>
          <a:lstStyle/>
          <a:p>
            <a:r>
              <a:rPr lang="en-US" dirty="0"/>
              <a:t>Firewalls control communications between security zones.</a:t>
            </a:r>
          </a:p>
          <a:p>
            <a:r>
              <a:rPr lang="en-US" dirty="0"/>
              <a:t>Today’s firewalls understand much more than addresses and ports.</a:t>
            </a:r>
          </a:p>
          <a:p>
            <a:r>
              <a:rPr lang="en-US" dirty="0"/>
              <a:t>Many security functions are now integrated into a single platform.</a:t>
            </a:r>
          </a:p>
          <a:p>
            <a:r>
              <a:rPr lang="en-US" dirty="0"/>
              <a:t>Firewalls are one part of a broader security architecture.</a:t>
            </a:r>
          </a:p>
          <a:p>
            <a:r>
              <a:rPr lang="en-US" dirty="0"/>
              <a:t>Firewall management depends on governance </a:t>
            </a:r>
            <a:r>
              <a:rPr lang="en-US" i="1" dirty="0"/>
              <a:t>and</a:t>
            </a:r>
            <a:r>
              <a:rPr lang="en-US" dirty="0"/>
              <a:t> technology.</a:t>
            </a:r>
          </a:p>
          <a:p>
            <a:r>
              <a:rPr lang="en-US" dirty="0"/>
              <a:t>Examiners evaluate whether security functions are effective—not whether particular products are present.</a:t>
            </a:r>
          </a:p>
        </p:txBody>
      </p:sp>
      <p:sp>
        <p:nvSpPr>
          <p:cNvPr id="5" name="TextBox 4">
            <a:extLst>
              <a:ext uri="{FF2B5EF4-FFF2-40B4-BE49-F238E27FC236}">
                <a16:creationId xmlns:a16="http://schemas.microsoft.com/office/drawing/2014/main" id="{0417E03F-B304-987E-6145-7BB38BB77755}"/>
              </a:ext>
            </a:extLst>
          </p:cNvPr>
          <p:cNvSpPr txBox="1"/>
          <p:nvPr/>
        </p:nvSpPr>
        <p:spPr>
          <a:xfrm>
            <a:off x="1105786" y="8399721"/>
            <a:ext cx="16586791" cy="830997"/>
          </a:xfrm>
          <a:prstGeom prst="rect">
            <a:avLst/>
          </a:prstGeom>
          <a:noFill/>
        </p:spPr>
        <p:txBody>
          <a:bodyPr wrap="square" rtlCol="0">
            <a:spAutoFit/>
          </a:bodyPr>
          <a:lstStyle/>
          <a:p>
            <a:r>
              <a:rPr lang="en-US" sz="4800" i="1" dirty="0">
                <a:solidFill>
                  <a:schemeClr val="accent1">
                    <a:lumMod val="60000"/>
                    <a:lumOff val="40000"/>
                  </a:schemeClr>
                </a:solidFill>
              </a:rPr>
              <a:t>Understand the function. Then ask how the bank accomplishes it.</a:t>
            </a:r>
          </a:p>
        </p:txBody>
      </p:sp>
    </p:spTree>
    <p:extLst>
      <p:ext uri="{BB962C8B-B14F-4D97-AF65-F5344CB8AC3E}">
        <p14:creationId xmlns:p14="http://schemas.microsoft.com/office/powerpoint/2010/main" val="36406258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2217C-2A15-0F2B-7741-B2FB8287301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F463E2-F45D-F717-6DBF-0D9A6868A18C}"/>
              </a:ext>
            </a:extLst>
          </p:cNvPr>
          <p:cNvSpPr/>
          <p:nvPr/>
        </p:nvSpPr>
        <p:spPr>
          <a:xfrm>
            <a:off x="560070" y="841379"/>
            <a:ext cx="16870680" cy="617220"/>
          </a:xfrm>
          <a:prstGeom prst="rect">
            <a:avLst/>
          </a:prstGeom>
          <a:noFill/>
          <a:ln/>
        </p:spPr>
        <p:txBody>
          <a:bodyPr wrap="square" lIns="0" tIns="0" rIns="0" bIns="0" rtlCol="0" anchor="ctr"/>
          <a:lstStyle/>
          <a:p>
            <a:r>
              <a:rPr lang="en-US" sz="6600" b="1" dirty="0">
                <a:solidFill>
                  <a:srgbClr val="15324B"/>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Looking Ahead: Where are the attacks?</a:t>
            </a:r>
            <a:endParaRPr lang="en-US" sz="66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3" name="Text 1">
            <a:extLst>
              <a:ext uri="{FF2B5EF4-FFF2-40B4-BE49-F238E27FC236}">
                <a16:creationId xmlns:a16="http://schemas.microsoft.com/office/drawing/2014/main" id="{3BB1B981-DF5C-CFD7-7FF4-3E0F00F5DD8E}"/>
              </a:ext>
            </a:extLst>
          </p:cNvPr>
          <p:cNvSpPr/>
          <p:nvPr/>
        </p:nvSpPr>
        <p:spPr>
          <a:xfrm>
            <a:off x="967740" y="1866900"/>
            <a:ext cx="3291840" cy="301752"/>
          </a:xfrm>
          <a:prstGeom prst="rect">
            <a:avLst/>
          </a:prstGeom>
          <a:noFill/>
          <a:ln/>
        </p:spPr>
        <p:txBody>
          <a:bodyPr wrap="square" lIns="0" tIns="0" rIns="0" bIns="0" rtlCol="0" anchor="ctr"/>
          <a:lstStyle/>
          <a:p>
            <a:r>
              <a:rPr lang="en-US" sz="1500" b="1" dirty="0">
                <a:solidFill>
                  <a:srgbClr val="2B6FA3"/>
                </a:solidFill>
              </a:rPr>
              <a:t>PINE VALLEY EAST BRANCH</a:t>
            </a:r>
            <a:endParaRPr lang="en-US" sz="1500" dirty="0"/>
          </a:p>
        </p:txBody>
      </p:sp>
      <p:sp>
        <p:nvSpPr>
          <p:cNvPr id="4" name="Text 2">
            <a:extLst>
              <a:ext uri="{FF2B5EF4-FFF2-40B4-BE49-F238E27FC236}">
                <a16:creationId xmlns:a16="http://schemas.microsoft.com/office/drawing/2014/main" id="{F6AF7153-05D6-2456-83D5-05746FB8D4CB}"/>
              </a:ext>
            </a:extLst>
          </p:cNvPr>
          <p:cNvSpPr/>
          <p:nvPr/>
        </p:nvSpPr>
        <p:spPr>
          <a:xfrm>
            <a:off x="967740" y="6228588"/>
            <a:ext cx="3291840" cy="301752"/>
          </a:xfrm>
          <a:prstGeom prst="rect">
            <a:avLst/>
          </a:prstGeom>
          <a:noFill/>
          <a:ln/>
        </p:spPr>
        <p:txBody>
          <a:bodyPr wrap="square" lIns="0" tIns="0" rIns="0" bIns="0" rtlCol="0" anchor="ctr"/>
          <a:lstStyle/>
          <a:p>
            <a:r>
              <a:rPr lang="en-US" sz="1500" b="1" dirty="0">
                <a:solidFill>
                  <a:srgbClr val="5B6770"/>
                </a:solidFill>
              </a:rPr>
              <a:t>PROVIDER NETWORK</a:t>
            </a:r>
            <a:endParaRPr lang="en-US" sz="1500" dirty="0"/>
          </a:p>
        </p:txBody>
      </p:sp>
      <p:sp>
        <p:nvSpPr>
          <p:cNvPr id="5" name="Text 3">
            <a:extLst>
              <a:ext uri="{FF2B5EF4-FFF2-40B4-BE49-F238E27FC236}">
                <a16:creationId xmlns:a16="http://schemas.microsoft.com/office/drawing/2014/main" id="{C059C9DA-2795-20FD-69BE-9724385E9115}"/>
              </a:ext>
            </a:extLst>
          </p:cNvPr>
          <p:cNvSpPr/>
          <p:nvPr/>
        </p:nvSpPr>
        <p:spPr>
          <a:xfrm>
            <a:off x="967740" y="7517892"/>
            <a:ext cx="3634740" cy="301752"/>
          </a:xfrm>
          <a:prstGeom prst="rect">
            <a:avLst/>
          </a:prstGeom>
          <a:noFill/>
          <a:ln/>
        </p:spPr>
        <p:txBody>
          <a:bodyPr wrap="square" lIns="0" tIns="0" rIns="0" bIns="0" rtlCol="0" anchor="ctr"/>
          <a:lstStyle/>
          <a:p>
            <a:r>
              <a:rPr lang="en-US" sz="1500" b="1" dirty="0">
                <a:solidFill>
                  <a:srgbClr val="2E7D7D"/>
                </a:solidFill>
              </a:rPr>
              <a:t>CORE PROCESSOR DATA CENTER</a:t>
            </a:r>
            <a:endParaRPr lang="en-US" sz="1500" dirty="0"/>
          </a:p>
        </p:txBody>
      </p:sp>
      <p:sp>
        <p:nvSpPr>
          <p:cNvPr id="6" name="Shape 4">
            <a:extLst>
              <a:ext uri="{FF2B5EF4-FFF2-40B4-BE49-F238E27FC236}">
                <a16:creationId xmlns:a16="http://schemas.microsoft.com/office/drawing/2014/main" id="{2426E818-75AE-7CE6-114D-5F626BE60251}"/>
              </a:ext>
            </a:extLst>
          </p:cNvPr>
          <p:cNvSpPr/>
          <p:nvPr/>
        </p:nvSpPr>
        <p:spPr>
          <a:xfrm>
            <a:off x="9231630" y="2538984"/>
            <a:ext cx="0" cy="233172"/>
          </a:xfrm>
          <a:prstGeom prst="line">
            <a:avLst/>
          </a:prstGeom>
          <a:noFill/>
          <a:ln w="19050">
            <a:solidFill>
              <a:srgbClr val="8795A1"/>
            </a:solidFill>
            <a:prstDash val="solid"/>
            <a:tailEnd type="triangle"/>
          </a:ln>
        </p:spPr>
        <p:txBody>
          <a:bodyPr/>
          <a:lstStyle/>
          <a:p>
            <a:endParaRPr lang="en-US" sz="2700"/>
          </a:p>
        </p:txBody>
      </p:sp>
      <p:sp>
        <p:nvSpPr>
          <p:cNvPr id="7" name="Shape 5">
            <a:extLst>
              <a:ext uri="{FF2B5EF4-FFF2-40B4-BE49-F238E27FC236}">
                <a16:creationId xmlns:a16="http://schemas.microsoft.com/office/drawing/2014/main" id="{2B58F507-DC5C-0C15-B606-0FB514DDDC47}"/>
              </a:ext>
            </a:extLst>
          </p:cNvPr>
          <p:cNvSpPr/>
          <p:nvPr/>
        </p:nvSpPr>
        <p:spPr>
          <a:xfrm>
            <a:off x="9231630" y="3430524"/>
            <a:ext cx="0" cy="233172"/>
          </a:xfrm>
          <a:prstGeom prst="line">
            <a:avLst/>
          </a:prstGeom>
          <a:noFill/>
          <a:ln w="19050">
            <a:solidFill>
              <a:srgbClr val="8795A1"/>
            </a:solidFill>
            <a:prstDash val="solid"/>
            <a:tailEnd type="triangle"/>
          </a:ln>
        </p:spPr>
        <p:txBody>
          <a:bodyPr/>
          <a:lstStyle/>
          <a:p>
            <a:endParaRPr lang="en-US" sz="2700"/>
          </a:p>
        </p:txBody>
      </p:sp>
      <p:sp>
        <p:nvSpPr>
          <p:cNvPr id="8" name="Shape 6">
            <a:extLst>
              <a:ext uri="{FF2B5EF4-FFF2-40B4-BE49-F238E27FC236}">
                <a16:creationId xmlns:a16="http://schemas.microsoft.com/office/drawing/2014/main" id="{837FF031-3F42-DB8D-B7EC-EA0AEB1A545A}"/>
              </a:ext>
            </a:extLst>
          </p:cNvPr>
          <p:cNvSpPr/>
          <p:nvPr/>
        </p:nvSpPr>
        <p:spPr>
          <a:xfrm>
            <a:off x="9231630" y="4322064"/>
            <a:ext cx="0" cy="233172"/>
          </a:xfrm>
          <a:prstGeom prst="line">
            <a:avLst/>
          </a:prstGeom>
          <a:noFill/>
          <a:ln w="19050">
            <a:solidFill>
              <a:srgbClr val="8795A1"/>
            </a:solidFill>
            <a:prstDash val="solid"/>
            <a:tailEnd type="triangle"/>
          </a:ln>
        </p:spPr>
        <p:txBody>
          <a:bodyPr/>
          <a:lstStyle/>
          <a:p>
            <a:endParaRPr lang="en-US" sz="2700"/>
          </a:p>
        </p:txBody>
      </p:sp>
      <p:sp>
        <p:nvSpPr>
          <p:cNvPr id="9" name="Shape 7">
            <a:extLst>
              <a:ext uri="{FF2B5EF4-FFF2-40B4-BE49-F238E27FC236}">
                <a16:creationId xmlns:a16="http://schemas.microsoft.com/office/drawing/2014/main" id="{AB950A79-E49B-4641-1885-0A275938FF23}"/>
              </a:ext>
            </a:extLst>
          </p:cNvPr>
          <p:cNvSpPr/>
          <p:nvPr/>
        </p:nvSpPr>
        <p:spPr>
          <a:xfrm>
            <a:off x="9231630" y="5213604"/>
            <a:ext cx="0" cy="233172"/>
          </a:xfrm>
          <a:prstGeom prst="line">
            <a:avLst/>
          </a:prstGeom>
          <a:noFill/>
          <a:ln w="19050">
            <a:solidFill>
              <a:srgbClr val="8795A1"/>
            </a:solidFill>
            <a:prstDash val="solid"/>
            <a:tailEnd type="triangle"/>
          </a:ln>
        </p:spPr>
        <p:txBody>
          <a:bodyPr/>
          <a:lstStyle/>
          <a:p>
            <a:endParaRPr lang="en-US" sz="2700"/>
          </a:p>
        </p:txBody>
      </p:sp>
      <p:sp>
        <p:nvSpPr>
          <p:cNvPr id="10" name="Shape 8">
            <a:extLst>
              <a:ext uri="{FF2B5EF4-FFF2-40B4-BE49-F238E27FC236}">
                <a16:creationId xmlns:a16="http://schemas.microsoft.com/office/drawing/2014/main" id="{2A4E874F-88CB-9D2F-42CA-EC4732552C0D}"/>
              </a:ext>
            </a:extLst>
          </p:cNvPr>
          <p:cNvSpPr/>
          <p:nvPr/>
        </p:nvSpPr>
        <p:spPr>
          <a:xfrm>
            <a:off x="9231630" y="6105144"/>
            <a:ext cx="0" cy="150876"/>
          </a:xfrm>
          <a:prstGeom prst="line">
            <a:avLst/>
          </a:prstGeom>
          <a:noFill/>
          <a:ln w="19050">
            <a:solidFill>
              <a:srgbClr val="8795A1"/>
            </a:solidFill>
            <a:prstDash val="solid"/>
            <a:tailEnd type="triangle"/>
          </a:ln>
        </p:spPr>
        <p:txBody>
          <a:bodyPr/>
          <a:lstStyle/>
          <a:p>
            <a:endParaRPr lang="en-US" sz="2700"/>
          </a:p>
        </p:txBody>
      </p:sp>
      <p:sp>
        <p:nvSpPr>
          <p:cNvPr id="11" name="Shape 9">
            <a:extLst>
              <a:ext uri="{FF2B5EF4-FFF2-40B4-BE49-F238E27FC236}">
                <a16:creationId xmlns:a16="http://schemas.microsoft.com/office/drawing/2014/main" id="{6D75D63A-C1DF-DC3B-4DA9-8243DC8D71D7}"/>
              </a:ext>
            </a:extLst>
          </p:cNvPr>
          <p:cNvSpPr/>
          <p:nvPr/>
        </p:nvSpPr>
        <p:spPr>
          <a:xfrm>
            <a:off x="9231630" y="6914388"/>
            <a:ext cx="0" cy="658368"/>
          </a:xfrm>
          <a:prstGeom prst="line">
            <a:avLst/>
          </a:prstGeom>
          <a:noFill/>
          <a:ln w="19050">
            <a:solidFill>
              <a:srgbClr val="8795A1"/>
            </a:solidFill>
            <a:prstDash val="solid"/>
            <a:tailEnd type="triangle"/>
          </a:ln>
        </p:spPr>
        <p:txBody>
          <a:bodyPr/>
          <a:lstStyle/>
          <a:p>
            <a:endParaRPr lang="en-US" sz="2700"/>
          </a:p>
        </p:txBody>
      </p:sp>
      <p:sp>
        <p:nvSpPr>
          <p:cNvPr id="12" name="Shape 10">
            <a:extLst>
              <a:ext uri="{FF2B5EF4-FFF2-40B4-BE49-F238E27FC236}">
                <a16:creationId xmlns:a16="http://schemas.microsoft.com/office/drawing/2014/main" id="{BD0F0D78-27C1-A065-61E7-047D5EED1F27}"/>
              </a:ext>
            </a:extLst>
          </p:cNvPr>
          <p:cNvSpPr/>
          <p:nvPr/>
        </p:nvSpPr>
        <p:spPr>
          <a:xfrm>
            <a:off x="9231630" y="8231124"/>
            <a:ext cx="0" cy="233172"/>
          </a:xfrm>
          <a:prstGeom prst="line">
            <a:avLst/>
          </a:prstGeom>
          <a:noFill/>
          <a:ln w="19050">
            <a:solidFill>
              <a:srgbClr val="8795A1"/>
            </a:solidFill>
            <a:prstDash val="solid"/>
            <a:tailEnd type="triangle"/>
          </a:ln>
        </p:spPr>
        <p:txBody>
          <a:bodyPr/>
          <a:lstStyle/>
          <a:p>
            <a:endParaRPr lang="en-US" sz="2700"/>
          </a:p>
        </p:txBody>
      </p:sp>
      <p:sp>
        <p:nvSpPr>
          <p:cNvPr id="13" name="Text 11">
            <a:extLst>
              <a:ext uri="{FF2B5EF4-FFF2-40B4-BE49-F238E27FC236}">
                <a16:creationId xmlns:a16="http://schemas.microsoft.com/office/drawing/2014/main" id="{651C47CD-E218-AB0C-472A-B23520D784EA}"/>
              </a:ext>
            </a:extLst>
          </p:cNvPr>
          <p:cNvSpPr/>
          <p:nvPr/>
        </p:nvSpPr>
        <p:spPr>
          <a:xfrm>
            <a:off x="1584960" y="5679948"/>
            <a:ext cx="3291840" cy="301752"/>
          </a:xfrm>
          <a:prstGeom prst="rect">
            <a:avLst/>
          </a:prstGeom>
          <a:noFill/>
          <a:ln/>
        </p:spPr>
        <p:txBody>
          <a:bodyPr wrap="square" lIns="0" tIns="0" rIns="0" bIns="0" rtlCol="0" anchor="ctr"/>
          <a:lstStyle/>
          <a:p>
            <a:r>
              <a:rPr lang="en-US" sz="1575" i="1" dirty="0">
                <a:solidFill>
                  <a:srgbClr val="5B6770"/>
                </a:solidFill>
              </a:rPr>
              <a:t>encrypted provider connection</a:t>
            </a:r>
            <a:endParaRPr lang="en-US" sz="1575" dirty="0"/>
          </a:p>
        </p:txBody>
      </p:sp>
      <p:sp>
        <p:nvSpPr>
          <p:cNvPr id="14" name="Text 12">
            <a:extLst>
              <a:ext uri="{FF2B5EF4-FFF2-40B4-BE49-F238E27FC236}">
                <a16:creationId xmlns:a16="http://schemas.microsoft.com/office/drawing/2014/main" id="{35B554E2-E642-0635-0190-00891595B5A4}"/>
              </a:ext>
            </a:extLst>
          </p:cNvPr>
          <p:cNvSpPr/>
          <p:nvPr/>
        </p:nvSpPr>
        <p:spPr>
          <a:xfrm>
            <a:off x="13312140" y="3992880"/>
            <a:ext cx="3634740" cy="891540"/>
          </a:xfrm>
          <a:prstGeom prst="rect">
            <a:avLst/>
          </a:prstGeom>
          <a:noFill/>
          <a:ln/>
        </p:spPr>
        <p:txBody>
          <a:bodyPr wrap="square" lIns="953" tIns="953" rIns="953" bIns="953" rtlCol="0" anchor="ctr">
            <a:normAutofit/>
          </a:bodyPr>
          <a:lstStyle/>
          <a:p>
            <a:r>
              <a:rPr lang="en-US" sz="2250" b="1" dirty="0">
                <a:solidFill>
                  <a:srgbClr val="15324B"/>
                </a:solidFill>
              </a:rPr>
              <a:t>Response returns</a:t>
            </a:r>
            <a:endParaRPr lang="en-US" sz="2250" dirty="0"/>
          </a:p>
          <a:p>
            <a:r>
              <a:rPr lang="en-US" sz="2250" b="1" dirty="0">
                <a:solidFill>
                  <a:srgbClr val="15324B"/>
                </a:solidFill>
              </a:rPr>
              <a:t>along the same path</a:t>
            </a:r>
            <a:endParaRPr lang="en-US" sz="2250" dirty="0"/>
          </a:p>
        </p:txBody>
      </p:sp>
      <p:sp>
        <p:nvSpPr>
          <p:cNvPr id="15" name="Text 13">
            <a:extLst>
              <a:ext uri="{FF2B5EF4-FFF2-40B4-BE49-F238E27FC236}">
                <a16:creationId xmlns:a16="http://schemas.microsoft.com/office/drawing/2014/main" id="{2E12AB8E-2A88-CC4D-2FB4-5CEC9F6CD855}"/>
              </a:ext>
            </a:extLst>
          </p:cNvPr>
          <p:cNvSpPr/>
          <p:nvPr/>
        </p:nvSpPr>
        <p:spPr>
          <a:xfrm>
            <a:off x="14368272" y="4911852"/>
            <a:ext cx="548640" cy="2674620"/>
          </a:xfrm>
          <a:prstGeom prst="rect">
            <a:avLst/>
          </a:prstGeom>
          <a:noFill/>
          <a:ln/>
        </p:spPr>
        <p:txBody>
          <a:bodyPr wrap="square" lIns="0" tIns="0" rIns="0" bIns="0" rtlCol="0" anchor="ctr"/>
          <a:lstStyle/>
          <a:p>
            <a:pPr algn="ctr"/>
            <a:r>
              <a:rPr lang="en-US" sz="6600" b="1" dirty="0">
                <a:solidFill>
                  <a:srgbClr val="2E7D7D"/>
                </a:solidFill>
              </a:rPr>
              <a:t>↑</a:t>
            </a:r>
            <a:endParaRPr lang="en-US" sz="6600" dirty="0"/>
          </a:p>
        </p:txBody>
      </p:sp>
      <p:sp>
        <p:nvSpPr>
          <p:cNvPr id="16" name="Shape 14">
            <a:extLst>
              <a:ext uri="{FF2B5EF4-FFF2-40B4-BE49-F238E27FC236}">
                <a16:creationId xmlns:a16="http://schemas.microsoft.com/office/drawing/2014/main" id="{263EE4E9-F963-8C6D-20CF-A33BA845ED58}"/>
              </a:ext>
            </a:extLst>
          </p:cNvPr>
          <p:cNvSpPr/>
          <p:nvPr/>
        </p:nvSpPr>
        <p:spPr>
          <a:xfrm>
            <a:off x="5905500" y="190804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17" name="Text 15">
            <a:extLst>
              <a:ext uri="{FF2B5EF4-FFF2-40B4-BE49-F238E27FC236}">
                <a16:creationId xmlns:a16="http://schemas.microsoft.com/office/drawing/2014/main" id="{A13D0AAA-9CCB-215B-67E0-D030E4ED642F}"/>
              </a:ext>
            </a:extLst>
          </p:cNvPr>
          <p:cNvSpPr/>
          <p:nvPr/>
        </p:nvSpPr>
        <p:spPr>
          <a:xfrm>
            <a:off x="6111240" y="1990344"/>
            <a:ext cx="6240780" cy="246888"/>
          </a:xfrm>
          <a:prstGeom prst="rect">
            <a:avLst/>
          </a:prstGeom>
          <a:noFill/>
          <a:ln/>
        </p:spPr>
        <p:txBody>
          <a:bodyPr wrap="square" lIns="0" tIns="0" rIns="0" bIns="0" rtlCol="0" anchor="ctr"/>
          <a:lstStyle/>
          <a:p>
            <a:r>
              <a:rPr lang="en-US" sz="2325" b="1" dirty="0">
                <a:solidFill>
                  <a:srgbClr val="15324B"/>
                </a:solidFill>
              </a:rPr>
              <a:t>Customer</a:t>
            </a:r>
            <a:endParaRPr lang="en-US" sz="2325" dirty="0"/>
          </a:p>
        </p:txBody>
      </p:sp>
      <p:sp>
        <p:nvSpPr>
          <p:cNvPr id="18" name="Text 16">
            <a:extLst>
              <a:ext uri="{FF2B5EF4-FFF2-40B4-BE49-F238E27FC236}">
                <a16:creationId xmlns:a16="http://schemas.microsoft.com/office/drawing/2014/main" id="{787BB2FA-D04D-EA1F-2A29-D336E3676B05}"/>
              </a:ext>
            </a:extLst>
          </p:cNvPr>
          <p:cNvSpPr/>
          <p:nvPr/>
        </p:nvSpPr>
        <p:spPr>
          <a:xfrm>
            <a:off x="6111240" y="2278380"/>
            <a:ext cx="6240780" cy="205740"/>
          </a:xfrm>
          <a:prstGeom prst="rect">
            <a:avLst/>
          </a:prstGeom>
          <a:noFill/>
          <a:ln/>
        </p:spPr>
        <p:txBody>
          <a:bodyPr wrap="square" lIns="0" tIns="0" rIns="0" bIns="0" rtlCol="0" anchor="ctr"/>
          <a:lstStyle/>
          <a:p>
            <a:r>
              <a:rPr lang="en-US" sz="1455" dirty="0">
                <a:solidFill>
                  <a:srgbClr val="5B6770"/>
                </a:solidFill>
              </a:rPr>
              <a:t>“What’s my balance?”</a:t>
            </a:r>
            <a:endParaRPr lang="en-US" sz="1455" dirty="0"/>
          </a:p>
        </p:txBody>
      </p:sp>
      <p:sp>
        <p:nvSpPr>
          <p:cNvPr id="19" name="Shape 17">
            <a:extLst>
              <a:ext uri="{FF2B5EF4-FFF2-40B4-BE49-F238E27FC236}">
                <a16:creationId xmlns:a16="http://schemas.microsoft.com/office/drawing/2014/main" id="{0BB56616-3AF9-5C55-2906-30AB990DDB0B}"/>
              </a:ext>
            </a:extLst>
          </p:cNvPr>
          <p:cNvSpPr/>
          <p:nvPr/>
        </p:nvSpPr>
        <p:spPr>
          <a:xfrm>
            <a:off x="5905500" y="279958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0" name="Text 18">
            <a:extLst>
              <a:ext uri="{FF2B5EF4-FFF2-40B4-BE49-F238E27FC236}">
                <a16:creationId xmlns:a16="http://schemas.microsoft.com/office/drawing/2014/main" id="{70312384-67F3-E992-3C5A-5EA6F79A82CE}"/>
              </a:ext>
            </a:extLst>
          </p:cNvPr>
          <p:cNvSpPr/>
          <p:nvPr/>
        </p:nvSpPr>
        <p:spPr>
          <a:xfrm>
            <a:off x="6111240" y="2881884"/>
            <a:ext cx="6240780" cy="246888"/>
          </a:xfrm>
          <a:prstGeom prst="rect">
            <a:avLst/>
          </a:prstGeom>
          <a:noFill/>
          <a:ln/>
        </p:spPr>
        <p:txBody>
          <a:bodyPr wrap="square" lIns="0" tIns="0" rIns="0" bIns="0" rtlCol="0" anchor="ctr"/>
          <a:lstStyle/>
          <a:p>
            <a:r>
              <a:rPr lang="en-US" sz="2325" b="1" dirty="0">
                <a:solidFill>
                  <a:srgbClr val="15324B"/>
                </a:solidFill>
              </a:rPr>
              <a:t>Teller</a:t>
            </a:r>
            <a:endParaRPr lang="en-US" sz="2325" dirty="0"/>
          </a:p>
        </p:txBody>
      </p:sp>
      <p:sp>
        <p:nvSpPr>
          <p:cNvPr id="21" name="Text 19">
            <a:extLst>
              <a:ext uri="{FF2B5EF4-FFF2-40B4-BE49-F238E27FC236}">
                <a16:creationId xmlns:a16="http://schemas.microsoft.com/office/drawing/2014/main" id="{B34CC2E3-FC44-5534-EEFF-D90490A4CCDC}"/>
              </a:ext>
            </a:extLst>
          </p:cNvPr>
          <p:cNvSpPr/>
          <p:nvPr/>
        </p:nvSpPr>
        <p:spPr>
          <a:xfrm>
            <a:off x="6111240" y="3169920"/>
            <a:ext cx="6240780" cy="205740"/>
          </a:xfrm>
          <a:prstGeom prst="rect">
            <a:avLst/>
          </a:prstGeom>
          <a:noFill/>
          <a:ln/>
        </p:spPr>
        <p:txBody>
          <a:bodyPr wrap="square" lIns="0" tIns="0" rIns="0" bIns="0" rtlCol="0" anchor="ctr"/>
          <a:lstStyle/>
          <a:p>
            <a:r>
              <a:rPr lang="en-US" sz="1455" dirty="0">
                <a:solidFill>
                  <a:srgbClr val="5B6770"/>
                </a:solidFill>
              </a:rPr>
              <a:t>Receives the request</a:t>
            </a:r>
            <a:endParaRPr lang="en-US" sz="1455" dirty="0"/>
          </a:p>
        </p:txBody>
      </p:sp>
      <p:sp>
        <p:nvSpPr>
          <p:cNvPr id="22" name="Shape 20">
            <a:extLst>
              <a:ext uri="{FF2B5EF4-FFF2-40B4-BE49-F238E27FC236}">
                <a16:creationId xmlns:a16="http://schemas.microsoft.com/office/drawing/2014/main" id="{6D4FDAF3-21A3-B51E-A58E-F2DD6FCA3F19}"/>
              </a:ext>
            </a:extLst>
          </p:cNvPr>
          <p:cNvSpPr/>
          <p:nvPr/>
        </p:nvSpPr>
        <p:spPr>
          <a:xfrm>
            <a:off x="5905500" y="369112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3" name="Text 21">
            <a:extLst>
              <a:ext uri="{FF2B5EF4-FFF2-40B4-BE49-F238E27FC236}">
                <a16:creationId xmlns:a16="http://schemas.microsoft.com/office/drawing/2014/main" id="{295EE4A3-02A7-E9FE-5FF1-A68EBD2DDF91}"/>
              </a:ext>
            </a:extLst>
          </p:cNvPr>
          <p:cNvSpPr/>
          <p:nvPr/>
        </p:nvSpPr>
        <p:spPr>
          <a:xfrm>
            <a:off x="6111240" y="3773424"/>
            <a:ext cx="6240780" cy="246888"/>
          </a:xfrm>
          <a:prstGeom prst="rect">
            <a:avLst/>
          </a:prstGeom>
          <a:noFill/>
          <a:ln/>
        </p:spPr>
        <p:txBody>
          <a:bodyPr wrap="square" lIns="0" tIns="0" rIns="0" bIns="0" rtlCol="0" anchor="ctr"/>
          <a:lstStyle/>
          <a:p>
            <a:r>
              <a:rPr lang="en-US" sz="2325" b="1" dirty="0">
                <a:solidFill>
                  <a:srgbClr val="15324B"/>
                </a:solidFill>
              </a:rPr>
              <a:t>Teller Workstation</a:t>
            </a:r>
            <a:endParaRPr lang="en-US" sz="2325" dirty="0"/>
          </a:p>
        </p:txBody>
      </p:sp>
      <p:sp>
        <p:nvSpPr>
          <p:cNvPr id="24" name="Text 22">
            <a:extLst>
              <a:ext uri="{FF2B5EF4-FFF2-40B4-BE49-F238E27FC236}">
                <a16:creationId xmlns:a16="http://schemas.microsoft.com/office/drawing/2014/main" id="{BF2BE8EB-F012-4757-2B7F-5B7A7C6F943E}"/>
              </a:ext>
            </a:extLst>
          </p:cNvPr>
          <p:cNvSpPr/>
          <p:nvPr/>
        </p:nvSpPr>
        <p:spPr>
          <a:xfrm>
            <a:off x="6111240" y="4061460"/>
            <a:ext cx="6240780" cy="205740"/>
          </a:xfrm>
          <a:prstGeom prst="rect">
            <a:avLst/>
          </a:prstGeom>
          <a:noFill/>
          <a:ln/>
        </p:spPr>
        <p:txBody>
          <a:bodyPr wrap="square" lIns="0" tIns="0" rIns="0" bIns="0" rtlCol="0" anchor="ctr"/>
          <a:lstStyle/>
          <a:p>
            <a:r>
              <a:rPr lang="en-US" sz="1455" dirty="0">
                <a:solidFill>
                  <a:srgbClr val="5B6770"/>
                </a:solidFill>
              </a:rPr>
              <a:t>Core application client</a:t>
            </a:r>
            <a:endParaRPr lang="en-US" sz="1455" dirty="0"/>
          </a:p>
        </p:txBody>
      </p:sp>
      <p:sp>
        <p:nvSpPr>
          <p:cNvPr id="25" name="Shape 23">
            <a:extLst>
              <a:ext uri="{FF2B5EF4-FFF2-40B4-BE49-F238E27FC236}">
                <a16:creationId xmlns:a16="http://schemas.microsoft.com/office/drawing/2014/main" id="{8B000E1E-4A8C-4A50-E7D1-FC4EC74AA388}"/>
              </a:ext>
            </a:extLst>
          </p:cNvPr>
          <p:cNvSpPr/>
          <p:nvPr/>
        </p:nvSpPr>
        <p:spPr>
          <a:xfrm>
            <a:off x="5905500" y="458266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6" name="Text 24">
            <a:extLst>
              <a:ext uri="{FF2B5EF4-FFF2-40B4-BE49-F238E27FC236}">
                <a16:creationId xmlns:a16="http://schemas.microsoft.com/office/drawing/2014/main" id="{88AC3581-D9E0-8D89-5308-767FE169216F}"/>
              </a:ext>
            </a:extLst>
          </p:cNvPr>
          <p:cNvSpPr/>
          <p:nvPr/>
        </p:nvSpPr>
        <p:spPr>
          <a:xfrm>
            <a:off x="6111240" y="4664964"/>
            <a:ext cx="6240780" cy="246888"/>
          </a:xfrm>
          <a:prstGeom prst="rect">
            <a:avLst/>
          </a:prstGeom>
          <a:noFill/>
          <a:ln/>
        </p:spPr>
        <p:txBody>
          <a:bodyPr wrap="square" lIns="0" tIns="0" rIns="0" bIns="0" rtlCol="0" anchor="ctr"/>
          <a:lstStyle/>
          <a:p>
            <a:r>
              <a:rPr lang="en-US" sz="2325" b="1" dirty="0">
                <a:solidFill>
                  <a:srgbClr val="15324B"/>
                </a:solidFill>
              </a:rPr>
              <a:t>Branch Switch</a:t>
            </a:r>
            <a:endParaRPr lang="en-US" sz="2325" dirty="0"/>
          </a:p>
        </p:txBody>
      </p:sp>
      <p:sp>
        <p:nvSpPr>
          <p:cNvPr id="27" name="Text 25">
            <a:extLst>
              <a:ext uri="{FF2B5EF4-FFF2-40B4-BE49-F238E27FC236}">
                <a16:creationId xmlns:a16="http://schemas.microsoft.com/office/drawing/2014/main" id="{8C7DC2DD-608A-3A86-5A75-704A946D379F}"/>
              </a:ext>
            </a:extLst>
          </p:cNvPr>
          <p:cNvSpPr/>
          <p:nvPr/>
        </p:nvSpPr>
        <p:spPr>
          <a:xfrm>
            <a:off x="6111240" y="4953000"/>
            <a:ext cx="6240780" cy="205740"/>
          </a:xfrm>
          <a:prstGeom prst="rect">
            <a:avLst/>
          </a:prstGeom>
          <a:noFill/>
          <a:ln/>
        </p:spPr>
        <p:txBody>
          <a:bodyPr wrap="square" lIns="0" tIns="0" rIns="0" bIns="0" rtlCol="0" anchor="ctr"/>
          <a:lstStyle/>
          <a:p>
            <a:r>
              <a:rPr lang="en-US" sz="1455" dirty="0">
                <a:solidFill>
                  <a:srgbClr val="5B6770"/>
                </a:solidFill>
              </a:rPr>
              <a:t>Moves traffic within the branch LAN</a:t>
            </a:r>
            <a:endParaRPr lang="en-US" sz="1455" dirty="0"/>
          </a:p>
        </p:txBody>
      </p:sp>
      <p:sp>
        <p:nvSpPr>
          <p:cNvPr id="28" name="Shape 26">
            <a:extLst>
              <a:ext uri="{FF2B5EF4-FFF2-40B4-BE49-F238E27FC236}">
                <a16:creationId xmlns:a16="http://schemas.microsoft.com/office/drawing/2014/main" id="{4C59E305-4030-59D4-4A41-E7D58CBC4436}"/>
              </a:ext>
            </a:extLst>
          </p:cNvPr>
          <p:cNvSpPr/>
          <p:nvPr/>
        </p:nvSpPr>
        <p:spPr>
          <a:xfrm>
            <a:off x="5905500" y="547420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9" name="Text 27">
            <a:extLst>
              <a:ext uri="{FF2B5EF4-FFF2-40B4-BE49-F238E27FC236}">
                <a16:creationId xmlns:a16="http://schemas.microsoft.com/office/drawing/2014/main" id="{93913D1F-F4E6-9395-D716-15CA89F42167}"/>
              </a:ext>
            </a:extLst>
          </p:cNvPr>
          <p:cNvSpPr/>
          <p:nvPr/>
        </p:nvSpPr>
        <p:spPr>
          <a:xfrm>
            <a:off x="6111240" y="5556504"/>
            <a:ext cx="6240780" cy="246888"/>
          </a:xfrm>
          <a:prstGeom prst="rect">
            <a:avLst/>
          </a:prstGeom>
          <a:noFill/>
          <a:ln/>
        </p:spPr>
        <p:txBody>
          <a:bodyPr wrap="square" lIns="0" tIns="0" rIns="0" bIns="0" rtlCol="0" anchor="ctr"/>
          <a:lstStyle/>
          <a:p>
            <a:r>
              <a:rPr lang="en-US" sz="2325" b="1" dirty="0">
                <a:solidFill>
                  <a:srgbClr val="15324B"/>
                </a:solidFill>
              </a:rPr>
              <a:t>Branch Router / Firewall</a:t>
            </a:r>
            <a:endParaRPr lang="en-US" sz="2325" dirty="0"/>
          </a:p>
        </p:txBody>
      </p:sp>
      <p:sp>
        <p:nvSpPr>
          <p:cNvPr id="30" name="Text 28">
            <a:extLst>
              <a:ext uri="{FF2B5EF4-FFF2-40B4-BE49-F238E27FC236}">
                <a16:creationId xmlns:a16="http://schemas.microsoft.com/office/drawing/2014/main" id="{A81BC2E4-107B-8FEF-5689-93DE78854EF6}"/>
              </a:ext>
            </a:extLst>
          </p:cNvPr>
          <p:cNvSpPr/>
          <p:nvPr/>
        </p:nvSpPr>
        <p:spPr>
          <a:xfrm>
            <a:off x="6111240" y="5844540"/>
            <a:ext cx="6240780" cy="205740"/>
          </a:xfrm>
          <a:prstGeom prst="rect">
            <a:avLst/>
          </a:prstGeom>
          <a:noFill/>
          <a:ln/>
        </p:spPr>
        <p:txBody>
          <a:bodyPr wrap="square" lIns="0" tIns="0" rIns="0" bIns="0" rtlCol="0" anchor="ctr"/>
          <a:lstStyle/>
          <a:p>
            <a:r>
              <a:rPr lang="en-US" sz="1455" dirty="0">
                <a:solidFill>
                  <a:srgbClr val="5B6770"/>
                </a:solidFill>
              </a:rPr>
              <a:t>Forwards traffic outside the branch</a:t>
            </a:r>
            <a:endParaRPr lang="en-US" sz="1455" dirty="0"/>
          </a:p>
        </p:txBody>
      </p:sp>
      <p:sp>
        <p:nvSpPr>
          <p:cNvPr id="31" name="Shape 29">
            <a:extLst>
              <a:ext uri="{FF2B5EF4-FFF2-40B4-BE49-F238E27FC236}">
                <a16:creationId xmlns:a16="http://schemas.microsoft.com/office/drawing/2014/main" id="{E9FF864E-50C9-C5CC-5763-4E3782CE93CE}"/>
              </a:ext>
            </a:extLst>
          </p:cNvPr>
          <p:cNvSpPr/>
          <p:nvPr/>
        </p:nvSpPr>
        <p:spPr>
          <a:xfrm>
            <a:off x="5905500" y="6283452"/>
            <a:ext cx="6652260" cy="630936"/>
          </a:xfrm>
          <a:prstGeom prst="roundRect">
            <a:avLst>
              <a:gd name="adj" fmla="val 17391"/>
            </a:avLst>
          </a:prstGeom>
          <a:solidFill>
            <a:srgbClr val="FFFFFF"/>
          </a:solidFill>
          <a:ln w="16510">
            <a:solidFill>
              <a:srgbClr val="5B6770"/>
            </a:solidFill>
            <a:prstDash val="solid"/>
          </a:ln>
        </p:spPr>
        <p:txBody>
          <a:bodyPr/>
          <a:lstStyle/>
          <a:p>
            <a:endParaRPr lang="en-US" sz="2700"/>
          </a:p>
        </p:txBody>
      </p:sp>
      <p:sp>
        <p:nvSpPr>
          <p:cNvPr id="32" name="Text 30">
            <a:extLst>
              <a:ext uri="{FF2B5EF4-FFF2-40B4-BE49-F238E27FC236}">
                <a16:creationId xmlns:a16="http://schemas.microsoft.com/office/drawing/2014/main" id="{B38BA9EF-E10F-E998-1D09-BED1AB1FAC6F}"/>
              </a:ext>
            </a:extLst>
          </p:cNvPr>
          <p:cNvSpPr/>
          <p:nvPr/>
        </p:nvSpPr>
        <p:spPr>
          <a:xfrm>
            <a:off x="6111240" y="6365748"/>
            <a:ext cx="6240780" cy="246888"/>
          </a:xfrm>
          <a:prstGeom prst="rect">
            <a:avLst/>
          </a:prstGeom>
          <a:noFill/>
          <a:ln/>
        </p:spPr>
        <p:txBody>
          <a:bodyPr wrap="square" lIns="0" tIns="0" rIns="0" bIns="0" rtlCol="0" anchor="ctr"/>
          <a:lstStyle/>
          <a:p>
            <a:r>
              <a:rPr lang="en-US" sz="2325" b="1" dirty="0">
                <a:solidFill>
                  <a:srgbClr val="15324B"/>
                </a:solidFill>
              </a:rPr>
              <a:t>Telecommunications Provider Network</a:t>
            </a:r>
            <a:endParaRPr lang="en-US" sz="2325" dirty="0"/>
          </a:p>
        </p:txBody>
      </p:sp>
      <p:sp>
        <p:nvSpPr>
          <p:cNvPr id="33" name="Text 31">
            <a:extLst>
              <a:ext uri="{FF2B5EF4-FFF2-40B4-BE49-F238E27FC236}">
                <a16:creationId xmlns:a16="http://schemas.microsoft.com/office/drawing/2014/main" id="{5B7AD53C-1CD4-FDD6-1219-E9E46A8993FC}"/>
              </a:ext>
            </a:extLst>
          </p:cNvPr>
          <p:cNvSpPr/>
          <p:nvPr/>
        </p:nvSpPr>
        <p:spPr>
          <a:xfrm>
            <a:off x="6111240" y="6653784"/>
            <a:ext cx="6240780" cy="205740"/>
          </a:xfrm>
          <a:prstGeom prst="rect">
            <a:avLst/>
          </a:prstGeom>
          <a:noFill/>
          <a:ln/>
        </p:spPr>
        <p:txBody>
          <a:bodyPr wrap="square" lIns="0" tIns="0" rIns="0" bIns="0" rtlCol="0" anchor="ctr"/>
          <a:lstStyle/>
          <a:p>
            <a:r>
              <a:rPr lang="en-US" sz="1455" dirty="0">
                <a:solidFill>
                  <a:srgbClr val="5B6770"/>
                </a:solidFill>
              </a:rPr>
              <a:t>WAN / VPN / MPLS transport</a:t>
            </a:r>
            <a:endParaRPr lang="en-US" sz="1455" dirty="0"/>
          </a:p>
        </p:txBody>
      </p:sp>
      <p:sp>
        <p:nvSpPr>
          <p:cNvPr id="34" name="Shape 32">
            <a:extLst>
              <a:ext uri="{FF2B5EF4-FFF2-40B4-BE49-F238E27FC236}">
                <a16:creationId xmlns:a16="http://schemas.microsoft.com/office/drawing/2014/main" id="{AE32AEB8-C83E-EA17-B50B-1AB317DEB622}"/>
              </a:ext>
            </a:extLst>
          </p:cNvPr>
          <p:cNvSpPr/>
          <p:nvPr/>
        </p:nvSpPr>
        <p:spPr>
          <a:xfrm>
            <a:off x="5905500" y="7600188"/>
            <a:ext cx="6652260" cy="630936"/>
          </a:xfrm>
          <a:prstGeom prst="roundRect">
            <a:avLst>
              <a:gd name="adj" fmla="val 17391"/>
            </a:avLst>
          </a:prstGeom>
          <a:solidFill>
            <a:srgbClr val="FFFFFF"/>
          </a:solidFill>
          <a:ln w="16510">
            <a:solidFill>
              <a:srgbClr val="2E7D7D"/>
            </a:solidFill>
            <a:prstDash val="solid"/>
          </a:ln>
        </p:spPr>
        <p:txBody>
          <a:bodyPr/>
          <a:lstStyle/>
          <a:p>
            <a:endParaRPr lang="en-US" sz="2700"/>
          </a:p>
        </p:txBody>
      </p:sp>
      <p:sp>
        <p:nvSpPr>
          <p:cNvPr id="35" name="Text 33">
            <a:extLst>
              <a:ext uri="{FF2B5EF4-FFF2-40B4-BE49-F238E27FC236}">
                <a16:creationId xmlns:a16="http://schemas.microsoft.com/office/drawing/2014/main" id="{0F2113D4-5685-FE7E-56F5-96A1617739A3}"/>
              </a:ext>
            </a:extLst>
          </p:cNvPr>
          <p:cNvSpPr/>
          <p:nvPr/>
        </p:nvSpPr>
        <p:spPr>
          <a:xfrm>
            <a:off x="6111240" y="7682484"/>
            <a:ext cx="6240780" cy="246888"/>
          </a:xfrm>
          <a:prstGeom prst="rect">
            <a:avLst/>
          </a:prstGeom>
          <a:noFill/>
          <a:ln/>
        </p:spPr>
        <p:txBody>
          <a:bodyPr wrap="square" lIns="0" tIns="0" rIns="0" bIns="0" rtlCol="0" anchor="ctr"/>
          <a:lstStyle/>
          <a:p>
            <a:r>
              <a:rPr lang="en-US" sz="2325" b="1" dirty="0">
                <a:solidFill>
                  <a:srgbClr val="15324B"/>
                </a:solidFill>
              </a:rPr>
              <a:t>Vendor-Hosted Core Processor</a:t>
            </a:r>
            <a:endParaRPr lang="en-US" sz="2325" dirty="0"/>
          </a:p>
        </p:txBody>
      </p:sp>
      <p:sp>
        <p:nvSpPr>
          <p:cNvPr id="36" name="Text 34">
            <a:extLst>
              <a:ext uri="{FF2B5EF4-FFF2-40B4-BE49-F238E27FC236}">
                <a16:creationId xmlns:a16="http://schemas.microsoft.com/office/drawing/2014/main" id="{BA77B321-1979-F013-7C2B-6FE928EBC1F3}"/>
              </a:ext>
            </a:extLst>
          </p:cNvPr>
          <p:cNvSpPr/>
          <p:nvPr/>
        </p:nvSpPr>
        <p:spPr>
          <a:xfrm>
            <a:off x="6111240" y="7970520"/>
            <a:ext cx="6240780" cy="205740"/>
          </a:xfrm>
          <a:prstGeom prst="rect">
            <a:avLst/>
          </a:prstGeom>
          <a:noFill/>
          <a:ln/>
        </p:spPr>
        <p:txBody>
          <a:bodyPr wrap="square" lIns="0" tIns="0" rIns="0" bIns="0" rtlCol="0" anchor="ctr"/>
          <a:lstStyle/>
          <a:p>
            <a:r>
              <a:rPr lang="en-US" sz="1455" dirty="0">
                <a:solidFill>
                  <a:srgbClr val="5B6770"/>
                </a:solidFill>
              </a:rPr>
              <a:t>Core banking application</a:t>
            </a:r>
            <a:endParaRPr lang="en-US" sz="1455" dirty="0"/>
          </a:p>
        </p:txBody>
      </p:sp>
      <p:sp>
        <p:nvSpPr>
          <p:cNvPr id="37" name="Shape 35">
            <a:extLst>
              <a:ext uri="{FF2B5EF4-FFF2-40B4-BE49-F238E27FC236}">
                <a16:creationId xmlns:a16="http://schemas.microsoft.com/office/drawing/2014/main" id="{B8A853D6-BB17-66A6-73DB-EF1A0FA91323}"/>
              </a:ext>
            </a:extLst>
          </p:cNvPr>
          <p:cNvSpPr/>
          <p:nvPr/>
        </p:nvSpPr>
        <p:spPr>
          <a:xfrm>
            <a:off x="5905500" y="8491728"/>
            <a:ext cx="6652260" cy="630936"/>
          </a:xfrm>
          <a:prstGeom prst="roundRect">
            <a:avLst>
              <a:gd name="adj" fmla="val 17391"/>
            </a:avLst>
          </a:prstGeom>
          <a:solidFill>
            <a:srgbClr val="FFFFFF"/>
          </a:solidFill>
          <a:ln w="16510">
            <a:solidFill>
              <a:srgbClr val="2E7D7D"/>
            </a:solidFill>
            <a:prstDash val="solid"/>
          </a:ln>
        </p:spPr>
        <p:txBody>
          <a:bodyPr/>
          <a:lstStyle/>
          <a:p>
            <a:endParaRPr lang="en-US" sz="2700"/>
          </a:p>
        </p:txBody>
      </p:sp>
      <p:sp>
        <p:nvSpPr>
          <p:cNvPr id="38" name="Text 36">
            <a:extLst>
              <a:ext uri="{FF2B5EF4-FFF2-40B4-BE49-F238E27FC236}">
                <a16:creationId xmlns:a16="http://schemas.microsoft.com/office/drawing/2014/main" id="{9FD43586-BD77-A720-B383-AD76AD837AA0}"/>
              </a:ext>
            </a:extLst>
          </p:cNvPr>
          <p:cNvSpPr/>
          <p:nvPr/>
        </p:nvSpPr>
        <p:spPr>
          <a:xfrm>
            <a:off x="6111240" y="8574024"/>
            <a:ext cx="6240780" cy="246888"/>
          </a:xfrm>
          <a:prstGeom prst="rect">
            <a:avLst/>
          </a:prstGeom>
          <a:noFill/>
          <a:ln/>
        </p:spPr>
        <p:txBody>
          <a:bodyPr wrap="square" lIns="0" tIns="0" rIns="0" bIns="0" rtlCol="0" anchor="ctr"/>
          <a:lstStyle/>
          <a:p>
            <a:r>
              <a:rPr lang="en-US" sz="2325" b="1" dirty="0">
                <a:solidFill>
                  <a:srgbClr val="15324B"/>
                </a:solidFill>
              </a:rPr>
              <a:t>Customer Account Database</a:t>
            </a:r>
            <a:endParaRPr lang="en-US" sz="2325" dirty="0"/>
          </a:p>
        </p:txBody>
      </p:sp>
      <p:sp>
        <p:nvSpPr>
          <p:cNvPr id="39" name="Text 37">
            <a:extLst>
              <a:ext uri="{FF2B5EF4-FFF2-40B4-BE49-F238E27FC236}">
                <a16:creationId xmlns:a16="http://schemas.microsoft.com/office/drawing/2014/main" id="{8B5FFB94-698C-D12F-7CC1-89AC1780364B}"/>
              </a:ext>
            </a:extLst>
          </p:cNvPr>
          <p:cNvSpPr/>
          <p:nvPr/>
        </p:nvSpPr>
        <p:spPr>
          <a:xfrm>
            <a:off x="6111240" y="8862060"/>
            <a:ext cx="6240780" cy="205740"/>
          </a:xfrm>
          <a:prstGeom prst="rect">
            <a:avLst/>
          </a:prstGeom>
          <a:noFill/>
          <a:ln/>
        </p:spPr>
        <p:txBody>
          <a:bodyPr wrap="square" lIns="0" tIns="0" rIns="0" bIns="0" rtlCol="0" anchor="ctr"/>
          <a:lstStyle/>
          <a:p>
            <a:r>
              <a:rPr lang="en-US" sz="1455" dirty="0">
                <a:solidFill>
                  <a:srgbClr val="5B6770"/>
                </a:solidFill>
              </a:rPr>
              <a:t>Account balance found</a:t>
            </a:r>
            <a:endParaRPr lang="en-US" sz="1455" dirty="0"/>
          </a:p>
        </p:txBody>
      </p:sp>
      <p:sp>
        <p:nvSpPr>
          <p:cNvPr id="45" name="Cloud 44">
            <a:extLst>
              <a:ext uri="{FF2B5EF4-FFF2-40B4-BE49-F238E27FC236}">
                <a16:creationId xmlns:a16="http://schemas.microsoft.com/office/drawing/2014/main" id="{5C8E66CC-A355-1984-E664-832B09A54FBE}"/>
              </a:ext>
            </a:extLst>
          </p:cNvPr>
          <p:cNvSpPr/>
          <p:nvPr/>
        </p:nvSpPr>
        <p:spPr>
          <a:xfrm>
            <a:off x="10192439" y="3445919"/>
            <a:ext cx="2513897" cy="1328640"/>
          </a:xfrm>
          <a:prstGeom prst="cloud">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Malware / Ransomware</a:t>
            </a:r>
          </a:p>
        </p:txBody>
      </p:sp>
      <p:pic>
        <p:nvPicPr>
          <p:cNvPr id="47" name="Graphic 46" descr="Telephone with solid fill">
            <a:extLst>
              <a:ext uri="{FF2B5EF4-FFF2-40B4-BE49-F238E27FC236}">
                <a16:creationId xmlns:a16="http://schemas.microsoft.com/office/drawing/2014/main" id="{010F82FB-D094-1A4A-8EF3-A98E4DC05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32753" y="2248183"/>
            <a:ext cx="1447091" cy="1447091"/>
          </a:xfrm>
          <a:prstGeom prst="rect">
            <a:avLst/>
          </a:prstGeom>
        </p:spPr>
      </p:pic>
      <p:sp>
        <p:nvSpPr>
          <p:cNvPr id="48" name="TextBox 47">
            <a:extLst>
              <a:ext uri="{FF2B5EF4-FFF2-40B4-BE49-F238E27FC236}">
                <a16:creationId xmlns:a16="http://schemas.microsoft.com/office/drawing/2014/main" id="{337963AB-77F6-3422-D2EA-85C87039E9A2}"/>
              </a:ext>
            </a:extLst>
          </p:cNvPr>
          <p:cNvSpPr txBox="1"/>
          <p:nvPr/>
        </p:nvSpPr>
        <p:spPr>
          <a:xfrm>
            <a:off x="9690002" y="2764032"/>
            <a:ext cx="2402958" cy="646331"/>
          </a:xfrm>
          <a:prstGeom prst="rect">
            <a:avLst/>
          </a:prstGeom>
          <a:noFill/>
        </p:spPr>
        <p:txBody>
          <a:bodyPr wrap="square" rtlCol="0">
            <a:spAutoFit/>
          </a:bodyPr>
          <a:lstStyle/>
          <a:p>
            <a:r>
              <a:rPr lang="en-US" dirty="0">
                <a:solidFill>
                  <a:srgbClr val="FF0000"/>
                </a:solidFill>
              </a:rPr>
              <a:t>Phishing/Social Engineering</a:t>
            </a:r>
          </a:p>
        </p:txBody>
      </p:sp>
      <p:pic>
        <p:nvPicPr>
          <p:cNvPr id="50" name="Graphic 49" descr="Connections outline">
            <a:extLst>
              <a:ext uri="{FF2B5EF4-FFF2-40B4-BE49-F238E27FC236}">
                <a16:creationId xmlns:a16="http://schemas.microsoft.com/office/drawing/2014/main" id="{71BF0E72-074B-2CF8-9159-BF7955B331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02476" y="4820095"/>
            <a:ext cx="1380264" cy="1380264"/>
          </a:xfrm>
          <a:prstGeom prst="rect">
            <a:avLst/>
          </a:prstGeom>
        </p:spPr>
      </p:pic>
      <p:sp>
        <p:nvSpPr>
          <p:cNvPr id="51" name="TextBox 50">
            <a:extLst>
              <a:ext uri="{FF2B5EF4-FFF2-40B4-BE49-F238E27FC236}">
                <a16:creationId xmlns:a16="http://schemas.microsoft.com/office/drawing/2014/main" id="{5889358C-B557-A24B-1817-1BD77DEED965}"/>
              </a:ext>
            </a:extLst>
          </p:cNvPr>
          <p:cNvSpPr txBox="1"/>
          <p:nvPr/>
        </p:nvSpPr>
        <p:spPr>
          <a:xfrm>
            <a:off x="9391041" y="5467893"/>
            <a:ext cx="2402958" cy="369332"/>
          </a:xfrm>
          <a:prstGeom prst="rect">
            <a:avLst/>
          </a:prstGeom>
          <a:noFill/>
        </p:spPr>
        <p:txBody>
          <a:bodyPr wrap="square" rtlCol="0">
            <a:spAutoFit/>
          </a:bodyPr>
          <a:lstStyle/>
          <a:p>
            <a:r>
              <a:rPr lang="en-US" dirty="0">
                <a:solidFill>
                  <a:srgbClr val="FF0000"/>
                </a:solidFill>
              </a:rPr>
              <a:t>Network Attack</a:t>
            </a:r>
          </a:p>
        </p:txBody>
      </p:sp>
      <p:pic>
        <p:nvPicPr>
          <p:cNvPr id="53" name="Graphic 52" descr="Headphones with solid fill">
            <a:extLst>
              <a:ext uri="{FF2B5EF4-FFF2-40B4-BE49-F238E27FC236}">
                <a16:creationId xmlns:a16="http://schemas.microsoft.com/office/drawing/2014/main" id="{965FBB9A-0F79-ADF3-9121-A0E0B7032A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785916" y="6180582"/>
            <a:ext cx="914400" cy="914400"/>
          </a:xfrm>
          <a:prstGeom prst="rect">
            <a:avLst/>
          </a:prstGeom>
        </p:spPr>
      </p:pic>
      <p:sp>
        <p:nvSpPr>
          <p:cNvPr id="54" name="TextBox 53">
            <a:extLst>
              <a:ext uri="{FF2B5EF4-FFF2-40B4-BE49-F238E27FC236}">
                <a16:creationId xmlns:a16="http://schemas.microsoft.com/office/drawing/2014/main" id="{1B45D7AA-EEED-5BFB-8A39-598CB0D050C3}"/>
              </a:ext>
            </a:extLst>
          </p:cNvPr>
          <p:cNvSpPr txBox="1"/>
          <p:nvPr/>
        </p:nvSpPr>
        <p:spPr>
          <a:xfrm>
            <a:off x="11664048" y="6427970"/>
            <a:ext cx="2402958" cy="369332"/>
          </a:xfrm>
          <a:prstGeom prst="rect">
            <a:avLst/>
          </a:prstGeom>
          <a:noFill/>
        </p:spPr>
        <p:txBody>
          <a:bodyPr wrap="square" rtlCol="0">
            <a:spAutoFit/>
          </a:bodyPr>
          <a:lstStyle/>
          <a:p>
            <a:r>
              <a:rPr lang="en-US" dirty="0">
                <a:solidFill>
                  <a:srgbClr val="FF0000"/>
                </a:solidFill>
              </a:rPr>
              <a:t>Interception</a:t>
            </a:r>
          </a:p>
        </p:txBody>
      </p:sp>
      <p:pic>
        <p:nvPicPr>
          <p:cNvPr id="56" name="Graphic 55" descr="Badge 3 with solid fill">
            <a:extLst>
              <a:ext uri="{FF2B5EF4-FFF2-40B4-BE49-F238E27FC236}">
                <a16:creationId xmlns:a16="http://schemas.microsoft.com/office/drawing/2014/main" id="{A06F5539-B0A4-CEAE-DBE9-E69B3B94172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36538" y="7457515"/>
            <a:ext cx="914400" cy="914400"/>
          </a:xfrm>
          <a:prstGeom prst="rect">
            <a:avLst/>
          </a:prstGeom>
        </p:spPr>
      </p:pic>
      <p:sp>
        <p:nvSpPr>
          <p:cNvPr id="57" name="TextBox 56">
            <a:extLst>
              <a:ext uri="{FF2B5EF4-FFF2-40B4-BE49-F238E27FC236}">
                <a16:creationId xmlns:a16="http://schemas.microsoft.com/office/drawing/2014/main" id="{EBDF40CC-0039-E9F6-BC43-7250B4F210DC}"/>
              </a:ext>
            </a:extLst>
          </p:cNvPr>
          <p:cNvSpPr txBox="1"/>
          <p:nvPr/>
        </p:nvSpPr>
        <p:spPr>
          <a:xfrm>
            <a:off x="10041637" y="7558599"/>
            <a:ext cx="2402958" cy="646331"/>
          </a:xfrm>
          <a:prstGeom prst="rect">
            <a:avLst/>
          </a:prstGeom>
          <a:noFill/>
        </p:spPr>
        <p:txBody>
          <a:bodyPr wrap="square" rtlCol="0">
            <a:spAutoFit/>
          </a:bodyPr>
          <a:lstStyle/>
          <a:p>
            <a:r>
              <a:rPr lang="en-US" dirty="0">
                <a:solidFill>
                  <a:srgbClr val="FF0000"/>
                </a:solidFill>
              </a:rPr>
              <a:t>3rd-party</a:t>
            </a:r>
            <a:br>
              <a:rPr lang="en-US" dirty="0">
                <a:solidFill>
                  <a:srgbClr val="FF0000"/>
                </a:solidFill>
              </a:rPr>
            </a:br>
            <a:r>
              <a:rPr lang="en-US" dirty="0">
                <a:solidFill>
                  <a:srgbClr val="FF0000"/>
                </a:solidFill>
              </a:rPr>
              <a:t>Compromise</a:t>
            </a:r>
          </a:p>
        </p:txBody>
      </p:sp>
      <p:pic>
        <p:nvPicPr>
          <p:cNvPr id="59" name="Graphic 58" descr="Robber with solid fill">
            <a:extLst>
              <a:ext uri="{FF2B5EF4-FFF2-40B4-BE49-F238E27FC236}">
                <a16:creationId xmlns:a16="http://schemas.microsoft.com/office/drawing/2014/main" id="{533AA124-56C7-8428-CDBB-B7504FA599B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866732" y="8327098"/>
            <a:ext cx="914400" cy="914400"/>
          </a:xfrm>
          <a:prstGeom prst="rect">
            <a:avLst/>
          </a:prstGeom>
        </p:spPr>
      </p:pic>
    </p:spTree>
    <p:extLst>
      <p:ext uri="{BB962C8B-B14F-4D97-AF65-F5344CB8AC3E}">
        <p14:creationId xmlns:p14="http://schemas.microsoft.com/office/powerpoint/2010/main" val="156517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ppt_x"/>
                                          </p:val>
                                        </p:tav>
                                        <p:tav tm="100000">
                                          <p:val>
                                            <p:strVal val="#ppt_x"/>
                                          </p:val>
                                        </p:tav>
                                      </p:tavLst>
                                    </p:anim>
                                    <p:anim calcmode="lin" valueType="num">
                                      <p:cBhvr additive="base">
                                        <p:cTn id="8" dur="500" fill="hold"/>
                                        <p:tgtEl>
                                          <p:spTgt spid="4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7"/>
                                        </p:tgtEl>
                                        <p:attrNameLst>
                                          <p:attrName>style.visibility</p:attrName>
                                        </p:attrNameLst>
                                      </p:cBhvr>
                                      <p:to>
                                        <p:strVal val="visible"/>
                                      </p:to>
                                    </p:set>
                                    <p:anim calcmode="lin" valueType="num">
                                      <p:cBhvr additive="base">
                                        <p:cTn id="11" dur="500" fill="hold"/>
                                        <p:tgtEl>
                                          <p:spTgt spid="47"/>
                                        </p:tgtEl>
                                        <p:attrNameLst>
                                          <p:attrName>ppt_x</p:attrName>
                                        </p:attrNameLst>
                                      </p:cBhvr>
                                      <p:tavLst>
                                        <p:tav tm="0">
                                          <p:val>
                                            <p:strVal val="#ppt_x"/>
                                          </p:val>
                                        </p:tav>
                                        <p:tav tm="100000">
                                          <p:val>
                                            <p:strVal val="#ppt_x"/>
                                          </p:val>
                                        </p:tav>
                                      </p:tavLst>
                                    </p:anim>
                                    <p:anim calcmode="lin" valueType="num">
                                      <p:cBhvr additive="base">
                                        <p:cTn id="12" dur="500" fill="hold"/>
                                        <p:tgtEl>
                                          <p:spTgt spid="4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ppt_x"/>
                                          </p:val>
                                        </p:tav>
                                        <p:tav tm="100000">
                                          <p:val>
                                            <p:strVal val="#ppt_x"/>
                                          </p:val>
                                        </p:tav>
                                      </p:tavLst>
                                    </p:anim>
                                    <p:anim calcmode="lin" valueType="num">
                                      <p:cBhvr additive="base">
                                        <p:cTn id="16" dur="500" fill="hold"/>
                                        <p:tgtEl>
                                          <p:spTgt spid="4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fill="hold"/>
                                        <p:tgtEl>
                                          <p:spTgt spid="51"/>
                                        </p:tgtEl>
                                        <p:attrNameLst>
                                          <p:attrName>ppt_x</p:attrName>
                                        </p:attrNameLst>
                                      </p:cBhvr>
                                      <p:tavLst>
                                        <p:tav tm="0">
                                          <p:val>
                                            <p:strVal val="#ppt_x"/>
                                          </p:val>
                                        </p:tav>
                                        <p:tav tm="100000">
                                          <p:val>
                                            <p:strVal val="#ppt_x"/>
                                          </p:val>
                                        </p:tav>
                                      </p:tavLst>
                                    </p:anim>
                                    <p:anim calcmode="lin" valueType="num">
                                      <p:cBhvr additive="base">
                                        <p:cTn id="20" dur="500" fill="hold"/>
                                        <p:tgtEl>
                                          <p:spTgt spid="5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anim calcmode="lin" valueType="num">
                                      <p:cBhvr additive="base">
                                        <p:cTn id="23" dur="500" fill="hold"/>
                                        <p:tgtEl>
                                          <p:spTgt spid="50"/>
                                        </p:tgtEl>
                                        <p:attrNameLst>
                                          <p:attrName>ppt_x</p:attrName>
                                        </p:attrNameLst>
                                      </p:cBhvr>
                                      <p:tavLst>
                                        <p:tav tm="0">
                                          <p:val>
                                            <p:strVal val="#ppt_x"/>
                                          </p:val>
                                        </p:tav>
                                        <p:tav tm="100000">
                                          <p:val>
                                            <p:strVal val="#ppt_x"/>
                                          </p:val>
                                        </p:tav>
                                      </p:tavLst>
                                    </p:anim>
                                    <p:anim calcmode="lin" valueType="num">
                                      <p:cBhvr additive="base">
                                        <p:cTn id="24" dur="500" fill="hold"/>
                                        <p:tgtEl>
                                          <p:spTgt spid="5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anim calcmode="lin" valueType="num">
                                      <p:cBhvr additive="base">
                                        <p:cTn id="27" dur="500" fill="hold"/>
                                        <p:tgtEl>
                                          <p:spTgt spid="54"/>
                                        </p:tgtEl>
                                        <p:attrNameLst>
                                          <p:attrName>ppt_x</p:attrName>
                                        </p:attrNameLst>
                                      </p:cBhvr>
                                      <p:tavLst>
                                        <p:tav tm="0">
                                          <p:val>
                                            <p:strVal val="#ppt_x"/>
                                          </p:val>
                                        </p:tav>
                                        <p:tav tm="100000">
                                          <p:val>
                                            <p:strVal val="#ppt_x"/>
                                          </p:val>
                                        </p:tav>
                                      </p:tavLst>
                                    </p:anim>
                                    <p:anim calcmode="lin" valueType="num">
                                      <p:cBhvr additive="base">
                                        <p:cTn id="28" dur="500" fill="hold"/>
                                        <p:tgtEl>
                                          <p:spTgt spid="5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500" fill="hold"/>
                                        <p:tgtEl>
                                          <p:spTgt spid="53"/>
                                        </p:tgtEl>
                                        <p:attrNameLst>
                                          <p:attrName>ppt_x</p:attrName>
                                        </p:attrNameLst>
                                      </p:cBhvr>
                                      <p:tavLst>
                                        <p:tav tm="0">
                                          <p:val>
                                            <p:strVal val="#ppt_x"/>
                                          </p:val>
                                        </p:tav>
                                        <p:tav tm="100000">
                                          <p:val>
                                            <p:strVal val="#ppt_x"/>
                                          </p:val>
                                        </p:tav>
                                      </p:tavLst>
                                    </p:anim>
                                    <p:anim calcmode="lin" valueType="num">
                                      <p:cBhvr additive="base">
                                        <p:cTn id="32" dur="500" fill="hold"/>
                                        <p:tgtEl>
                                          <p:spTgt spid="5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9"/>
                                        </p:tgtEl>
                                        <p:attrNameLst>
                                          <p:attrName>style.visibility</p:attrName>
                                        </p:attrNameLst>
                                      </p:cBhvr>
                                      <p:to>
                                        <p:strVal val="visible"/>
                                      </p:to>
                                    </p:set>
                                    <p:anim calcmode="lin" valueType="num">
                                      <p:cBhvr additive="base">
                                        <p:cTn id="35" dur="500" fill="hold"/>
                                        <p:tgtEl>
                                          <p:spTgt spid="59"/>
                                        </p:tgtEl>
                                        <p:attrNameLst>
                                          <p:attrName>ppt_x</p:attrName>
                                        </p:attrNameLst>
                                      </p:cBhvr>
                                      <p:tavLst>
                                        <p:tav tm="0">
                                          <p:val>
                                            <p:strVal val="#ppt_x"/>
                                          </p:val>
                                        </p:tav>
                                        <p:tav tm="100000">
                                          <p:val>
                                            <p:strVal val="#ppt_x"/>
                                          </p:val>
                                        </p:tav>
                                      </p:tavLst>
                                    </p:anim>
                                    <p:anim calcmode="lin" valueType="num">
                                      <p:cBhvr additive="base">
                                        <p:cTn id="36" dur="500" fill="hold"/>
                                        <p:tgtEl>
                                          <p:spTgt spid="59"/>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anim calcmode="lin" valueType="num">
                                      <p:cBhvr additive="base">
                                        <p:cTn id="39" dur="500" fill="hold"/>
                                        <p:tgtEl>
                                          <p:spTgt spid="56"/>
                                        </p:tgtEl>
                                        <p:attrNameLst>
                                          <p:attrName>ppt_x</p:attrName>
                                        </p:attrNameLst>
                                      </p:cBhvr>
                                      <p:tavLst>
                                        <p:tav tm="0">
                                          <p:val>
                                            <p:strVal val="#ppt_x"/>
                                          </p:val>
                                        </p:tav>
                                        <p:tav tm="100000">
                                          <p:val>
                                            <p:strVal val="#ppt_x"/>
                                          </p:val>
                                        </p:tav>
                                      </p:tavLst>
                                    </p:anim>
                                    <p:anim calcmode="lin" valueType="num">
                                      <p:cBhvr additive="base">
                                        <p:cTn id="40" dur="500" fill="hold"/>
                                        <p:tgtEl>
                                          <p:spTgt spid="5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anim calcmode="lin" valueType="num">
                                      <p:cBhvr additive="base">
                                        <p:cTn id="43" dur="500" fill="hold"/>
                                        <p:tgtEl>
                                          <p:spTgt spid="57"/>
                                        </p:tgtEl>
                                        <p:attrNameLst>
                                          <p:attrName>ppt_x</p:attrName>
                                        </p:attrNameLst>
                                      </p:cBhvr>
                                      <p:tavLst>
                                        <p:tav tm="0">
                                          <p:val>
                                            <p:strVal val="#ppt_x"/>
                                          </p:val>
                                        </p:tav>
                                        <p:tav tm="100000">
                                          <p:val>
                                            <p:strVal val="#ppt_x"/>
                                          </p:val>
                                        </p:tav>
                                      </p:tavLst>
                                    </p:anim>
                                    <p:anim calcmode="lin" valueType="num">
                                      <p:cBhvr additive="base">
                                        <p:cTn id="4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8" grpId="0"/>
      <p:bldP spid="51" grpId="0"/>
      <p:bldP spid="54" grpId="0"/>
      <p:bldP spid="5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t>Network Vulnerabilities and Attacks</a:t>
            </a:r>
          </a:p>
        </p:txBody>
      </p:sp>
      <p:sp>
        <p:nvSpPr>
          <p:cNvPr id="8" name="Subtitle 7"/>
          <p:cNvSpPr>
            <a:spLocks noGrp="1"/>
          </p:cNvSpPr>
          <p:nvPr>
            <p:ph type="subTitle" idx="1"/>
          </p:nvPr>
        </p:nvSpPr>
        <p:spPr/>
        <p:txBody>
          <a:bodyPr/>
          <a:lstStyle/>
          <a:p>
            <a:r>
              <a:rPr lang="en-US"/>
              <a:t>Chapter 4</a:t>
            </a:r>
          </a:p>
        </p:txBody>
      </p:sp>
    </p:spTree>
    <p:custDataLst>
      <p:tags r:id="rId1"/>
    </p:custDataLst>
    <p:extLst>
      <p:ext uri="{BB962C8B-B14F-4D97-AF65-F5344CB8AC3E}">
        <p14:creationId xmlns:p14="http://schemas.microsoft.com/office/powerpoint/2010/main" val="20713696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F22A4-79D7-41FB-F456-ED088B163E08}"/>
              </a:ext>
            </a:extLst>
          </p:cNvPr>
          <p:cNvSpPr>
            <a:spLocks noGrp="1"/>
          </p:cNvSpPr>
          <p:nvPr>
            <p:ph type="title"/>
          </p:nvPr>
        </p:nvSpPr>
        <p:spPr/>
        <p:txBody>
          <a:bodyPr/>
          <a:lstStyle/>
          <a:p>
            <a:r>
              <a:rPr lang="en-US" dirty="0"/>
              <a:t>Examiner Question</a:t>
            </a:r>
          </a:p>
        </p:txBody>
      </p:sp>
      <p:sp>
        <p:nvSpPr>
          <p:cNvPr id="3" name="Content Placeholder 2">
            <a:extLst>
              <a:ext uri="{FF2B5EF4-FFF2-40B4-BE49-F238E27FC236}">
                <a16:creationId xmlns:a16="http://schemas.microsoft.com/office/drawing/2014/main" id="{1C607FB0-1070-6E14-20EE-20C6DB9AE834}"/>
              </a:ext>
            </a:extLst>
          </p:cNvPr>
          <p:cNvSpPr>
            <a:spLocks noGrp="1"/>
          </p:cNvSpPr>
          <p:nvPr>
            <p:ph idx="1"/>
          </p:nvPr>
        </p:nvSpPr>
        <p:spPr>
          <a:xfrm>
            <a:off x="1257299" y="2193131"/>
            <a:ext cx="16446261" cy="6967198"/>
          </a:xfrm>
        </p:spPr>
        <p:txBody>
          <a:bodyPr>
            <a:normAutofit lnSpcReduction="10000"/>
          </a:bodyPr>
          <a:lstStyle/>
          <a:p>
            <a:r>
              <a:rPr lang="en-US" i="1" dirty="0"/>
              <a:t>What threats should an examiner understand, and what controls should they expect a bank to have?</a:t>
            </a:r>
          </a:p>
          <a:p>
            <a:endParaRPr lang="en-US" i="1" dirty="0"/>
          </a:p>
          <a:p>
            <a:r>
              <a:rPr lang="en-US" dirty="0"/>
              <a:t>We need to be sure we can:</a:t>
            </a:r>
          </a:p>
          <a:p>
            <a:pPr lvl="1"/>
            <a:r>
              <a:rPr lang="en-US" dirty="0"/>
              <a:t>Know major categories of threats facing community banks.</a:t>
            </a:r>
          </a:p>
          <a:p>
            <a:pPr lvl="1"/>
            <a:r>
              <a:rPr lang="en-US" dirty="0"/>
              <a:t>Understand principal controls used by banks.</a:t>
            </a:r>
          </a:p>
          <a:p>
            <a:pPr lvl="1"/>
            <a:r>
              <a:rPr lang="en-US" dirty="0"/>
              <a:t>Understand that controls overlap and change over time.</a:t>
            </a:r>
          </a:p>
          <a:p>
            <a:pPr lvl="1"/>
            <a:r>
              <a:rPr lang="en-US" dirty="0"/>
              <a:t>Recognize risk-based thinking.</a:t>
            </a:r>
          </a:p>
          <a:p>
            <a:pPr marL="0" indent="0">
              <a:buNone/>
            </a:pPr>
            <a:endParaRPr lang="en-US" dirty="0"/>
          </a:p>
          <a:p>
            <a:r>
              <a:rPr lang="en-US" b="1" dirty="0"/>
              <a:t>No security control stops every attack. Good security comes from matching controls to threats.</a:t>
            </a:r>
            <a:endParaRPr lang="en-US" dirty="0"/>
          </a:p>
        </p:txBody>
      </p:sp>
    </p:spTree>
    <p:extLst>
      <p:ext uri="{BB962C8B-B14F-4D97-AF65-F5344CB8AC3E}">
        <p14:creationId xmlns:p14="http://schemas.microsoft.com/office/powerpoint/2010/main" val="11307959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4A01B-AF5D-1446-92D1-CC3F01F2E4C0}"/>
              </a:ext>
            </a:extLst>
          </p:cNvPr>
          <p:cNvSpPr>
            <a:spLocks noGrp="1"/>
          </p:cNvSpPr>
          <p:nvPr>
            <p:ph type="title"/>
          </p:nvPr>
        </p:nvSpPr>
        <p:spPr/>
        <p:txBody>
          <a:bodyPr/>
          <a:lstStyle/>
          <a:p>
            <a:r>
              <a:rPr dirty="0"/>
              <a:t>Thinking Like an Attacker</a:t>
            </a:r>
          </a:p>
        </p:txBody>
      </p:sp>
      <p:sp>
        <p:nvSpPr>
          <p:cNvPr id="6" name="Content Placeholder 5">
            <a:extLst>
              <a:ext uri="{FF2B5EF4-FFF2-40B4-BE49-F238E27FC236}">
                <a16:creationId xmlns:a16="http://schemas.microsoft.com/office/drawing/2014/main" id="{D96A4AF8-CBFE-3744-BCC1-1BBBAF72D138}"/>
              </a:ext>
            </a:extLst>
          </p:cNvPr>
          <p:cNvSpPr>
            <a:spLocks noGrp="1"/>
          </p:cNvSpPr>
          <p:nvPr>
            <p:ph idx="1"/>
          </p:nvPr>
        </p:nvSpPr>
        <p:spPr>
          <a:xfrm>
            <a:off x="389965" y="1992334"/>
            <a:ext cx="8404411" cy="7429500"/>
          </a:xfrm>
        </p:spPr>
        <p:txBody>
          <a:bodyPr>
            <a:normAutofit/>
          </a:bodyPr>
          <a:lstStyle/>
          <a:p>
            <a:r>
              <a:rPr lang="en-US" sz="2800" dirty="0"/>
              <a:t>There are many ways to attack a network resource.</a:t>
            </a:r>
          </a:p>
          <a:p>
            <a:r>
              <a:rPr lang="en-US" sz="2800" dirty="0"/>
              <a:t>Firewalls can help with </a:t>
            </a:r>
            <a:r>
              <a:rPr lang="en-US" sz="2800" i="1" dirty="0"/>
              <a:t>some</a:t>
            </a:r>
            <a:r>
              <a:rPr lang="en-US" sz="2800" dirty="0"/>
              <a:t> of the problem.</a:t>
            </a:r>
          </a:p>
          <a:p>
            <a:r>
              <a:rPr lang="en-US" sz="2800" dirty="0"/>
              <a:t>Each type is worth some discussion.</a:t>
            </a:r>
          </a:p>
          <a:p>
            <a:r>
              <a:rPr lang="en-US" sz="2800" dirty="0"/>
              <a:t>Many attacks combine</a:t>
            </a:r>
            <a:br>
              <a:rPr lang="en-US" sz="2800" dirty="0"/>
            </a:br>
            <a:r>
              <a:rPr lang="en-US" sz="2800" dirty="0"/>
              <a:t>methods.</a:t>
            </a:r>
          </a:p>
        </p:txBody>
      </p:sp>
      <p:grpSp>
        <p:nvGrpSpPr>
          <p:cNvPr id="3" name="Group 2">
            <a:extLst>
              <a:ext uri="{FF2B5EF4-FFF2-40B4-BE49-F238E27FC236}">
                <a16:creationId xmlns:a16="http://schemas.microsoft.com/office/drawing/2014/main" id="{DD1B30EF-F923-C52B-CCC6-76BD85D3DF19}"/>
              </a:ext>
            </a:extLst>
          </p:cNvPr>
          <p:cNvGrpSpPr/>
          <p:nvPr/>
        </p:nvGrpSpPr>
        <p:grpSpPr>
          <a:xfrm>
            <a:off x="9844391" y="3035030"/>
            <a:ext cx="7645939" cy="6231162"/>
            <a:chOff x="3336325" y="1813177"/>
            <a:chExt cx="5078241" cy="4610761"/>
          </a:xfrm>
        </p:grpSpPr>
        <p:pic>
          <p:nvPicPr>
            <p:cNvPr id="5" name="Picture 2">
              <a:extLst>
                <a:ext uri="{FF2B5EF4-FFF2-40B4-BE49-F238E27FC236}">
                  <a16:creationId xmlns:a16="http://schemas.microsoft.com/office/drawing/2014/main" id="{28ABA36E-895A-9BBE-44E6-44A06EB31A1F}"/>
                </a:ext>
              </a:extLst>
            </p:cNvPr>
            <p:cNvPicPr>
              <a:picLocks noChangeAspect="1" noChangeArrowheads="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3336325" y="1813177"/>
              <a:ext cx="5078241" cy="461076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363F27A-A17A-D221-CD40-4B8FF08B7F46}"/>
                </a:ext>
              </a:extLst>
            </p:cNvPr>
            <p:cNvSpPr txBox="1"/>
            <p:nvPr/>
          </p:nvSpPr>
          <p:spPr>
            <a:xfrm rot="17970630">
              <a:off x="3425219" y="4240469"/>
              <a:ext cx="1864426" cy="463691"/>
            </a:xfrm>
            <a:prstGeom prst="rect">
              <a:avLst/>
            </a:prstGeom>
            <a:noFill/>
          </p:spPr>
          <p:txBody>
            <a:bodyPr wrap="none" lIns="0" tIns="0" rIns="0" bIns="0" rtlCol="0">
              <a:noAutofit/>
            </a:bodyPr>
            <a:lstStyle/>
            <a:p>
              <a:pPr algn="l"/>
              <a:r>
                <a:rPr lang="en-US" sz="2800" b="1">
                  <a:solidFill>
                    <a:schemeClr val="accent1">
                      <a:lumMod val="75000"/>
                    </a:schemeClr>
                  </a:solidFill>
                </a:rPr>
                <a:t>Confidentiality</a:t>
              </a:r>
            </a:p>
          </p:txBody>
        </p:sp>
        <p:sp>
          <p:nvSpPr>
            <p:cNvPr id="8" name="TextBox 7">
              <a:extLst>
                <a:ext uri="{FF2B5EF4-FFF2-40B4-BE49-F238E27FC236}">
                  <a16:creationId xmlns:a16="http://schemas.microsoft.com/office/drawing/2014/main" id="{5D3308C6-8AB7-1E79-0D88-F02AB407A35A}"/>
                </a:ext>
              </a:extLst>
            </p:cNvPr>
            <p:cNvSpPr txBox="1"/>
            <p:nvPr/>
          </p:nvSpPr>
          <p:spPr>
            <a:xfrm rot="3750580">
              <a:off x="6044440" y="3711074"/>
              <a:ext cx="1864426" cy="574155"/>
            </a:xfrm>
            <a:prstGeom prst="rect">
              <a:avLst/>
            </a:prstGeom>
            <a:noFill/>
          </p:spPr>
          <p:txBody>
            <a:bodyPr wrap="none" lIns="0" tIns="0" rIns="0" bIns="0" rtlCol="0">
              <a:noAutofit/>
            </a:bodyPr>
            <a:lstStyle/>
            <a:p>
              <a:pPr algn="l"/>
              <a:r>
                <a:rPr lang="en-US" sz="2800" b="1">
                  <a:solidFill>
                    <a:schemeClr val="tx2">
                      <a:lumMod val="60000"/>
                      <a:lumOff val="40000"/>
                    </a:schemeClr>
                  </a:solidFill>
                </a:rPr>
                <a:t>Integrity</a:t>
              </a:r>
            </a:p>
          </p:txBody>
        </p:sp>
        <p:sp>
          <p:nvSpPr>
            <p:cNvPr id="9" name="TextBox 8">
              <a:extLst>
                <a:ext uri="{FF2B5EF4-FFF2-40B4-BE49-F238E27FC236}">
                  <a16:creationId xmlns:a16="http://schemas.microsoft.com/office/drawing/2014/main" id="{7ADBDF0C-364A-A93C-544F-8E7738C7C43A}"/>
                </a:ext>
              </a:extLst>
            </p:cNvPr>
            <p:cNvSpPr txBox="1"/>
            <p:nvPr/>
          </p:nvSpPr>
          <p:spPr>
            <a:xfrm>
              <a:off x="5163787" y="5846208"/>
              <a:ext cx="1864426" cy="463691"/>
            </a:xfrm>
            <a:prstGeom prst="rect">
              <a:avLst/>
            </a:prstGeom>
            <a:noFill/>
          </p:spPr>
          <p:txBody>
            <a:bodyPr wrap="none" lIns="0" tIns="0" rIns="0" bIns="0" rtlCol="0">
              <a:noAutofit/>
            </a:bodyPr>
            <a:lstStyle/>
            <a:p>
              <a:pPr algn="l"/>
              <a:r>
                <a:rPr lang="en-US" sz="2800" b="1">
                  <a:solidFill>
                    <a:schemeClr val="bg1"/>
                  </a:solidFill>
                </a:rPr>
                <a:t>Availability</a:t>
              </a:r>
            </a:p>
          </p:txBody>
        </p:sp>
      </p:grpSp>
    </p:spTree>
    <p:extLst>
      <p:ext uri="{BB962C8B-B14F-4D97-AF65-F5344CB8AC3E}">
        <p14:creationId xmlns:p14="http://schemas.microsoft.com/office/powerpoint/2010/main" val="38234561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70FF-0D60-BD9D-BBC4-9869C3C3E3F4}"/>
              </a:ext>
            </a:extLst>
          </p:cNvPr>
          <p:cNvSpPr>
            <a:spLocks noGrp="1"/>
          </p:cNvSpPr>
          <p:nvPr>
            <p:ph type="title"/>
          </p:nvPr>
        </p:nvSpPr>
        <p:spPr/>
        <p:txBody>
          <a:bodyPr/>
          <a:lstStyle/>
          <a:p>
            <a:r>
              <a:rPr lang="en-US" dirty="0"/>
              <a:t>Remember the Cyber Kill Chain?</a:t>
            </a:r>
          </a:p>
        </p:txBody>
      </p:sp>
      <p:sp>
        <p:nvSpPr>
          <p:cNvPr id="3" name="Content Placeholder 2">
            <a:extLst>
              <a:ext uri="{FF2B5EF4-FFF2-40B4-BE49-F238E27FC236}">
                <a16:creationId xmlns:a16="http://schemas.microsoft.com/office/drawing/2014/main" id="{41E39754-1135-3CBD-6629-125660505229}"/>
              </a:ext>
            </a:extLst>
          </p:cNvPr>
          <p:cNvSpPr>
            <a:spLocks noGrp="1"/>
          </p:cNvSpPr>
          <p:nvPr>
            <p:ph idx="1"/>
          </p:nvPr>
        </p:nvSpPr>
        <p:spPr>
          <a:xfrm>
            <a:off x="1257300" y="2193131"/>
            <a:ext cx="9715500" cy="6967198"/>
          </a:xfrm>
        </p:spPr>
        <p:txBody>
          <a:bodyPr/>
          <a:lstStyle/>
          <a:p>
            <a:r>
              <a:rPr lang="en-US" dirty="0"/>
              <a:t>Discussed in </a:t>
            </a:r>
            <a:r>
              <a:rPr lang="en-US" i="1" dirty="0"/>
              <a:t>Introduction to Security</a:t>
            </a:r>
          </a:p>
          <a:p>
            <a:r>
              <a:rPr lang="en-US" dirty="0"/>
              <a:t>The Lockheed Martin model can be very useful when thinking like a cyber-crook:</a:t>
            </a:r>
          </a:p>
          <a:p>
            <a:pPr marL="1428750" lvl="1" indent="-742950">
              <a:buFont typeface="+mj-lt"/>
              <a:buAutoNum type="arabicPeriod"/>
            </a:pPr>
            <a:r>
              <a:rPr lang="en-US" dirty="0"/>
              <a:t>Find a target.</a:t>
            </a:r>
          </a:p>
          <a:p>
            <a:pPr marL="1428750" lvl="1" indent="-742950">
              <a:buFont typeface="+mj-lt"/>
              <a:buAutoNum type="arabicPeriod"/>
            </a:pPr>
            <a:r>
              <a:rPr lang="en-US" dirty="0"/>
              <a:t>Gain access.</a:t>
            </a:r>
          </a:p>
          <a:p>
            <a:pPr marL="1428750" lvl="1" indent="-742950">
              <a:buFont typeface="+mj-lt"/>
              <a:buAutoNum type="arabicPeriod"/>
            </a:pPr>
            <a:r>
              <a:rPr lang="en-US" dirty="0"/>
              <a:t>Establish persistence.</a:t>
            </a:r>
          </a:p>
          <a:p>
            <a:pPr marL="1428750" lvl="1" indent="-742950">
              <a:buFont typeface="+mj-lt"/>
              <a:buAutoNum type="arabicPeriod"/>
            </a:pPr>
            <a:r>
              <a:rPr lang="en-US" dirty="0"/>
              <a:t>Move around.</a:t>
            </a:r>
          </a:p>
          <a:p>
            <a:pPr marL="1428750" lvl="1" indent="-742950">
              <a:buFont typeface="+mj-lt"/>
              <a:buAutoNum type="arabicPeriod"/>
            </a:pPr>
            <a:r>
              <a:rPr lang="en-US" dirty="0"/>
              <a:t>Achieve the objective.</a:t>
            </a:r>
          </a:p>
          <a:p>
            <a:pPr marL="1428750" lvl="1" indent="-742950">
              <a:buFont typeface="+mj-lt"/>
              <a:buAutoNum type="arabicPeriod"/>
            </a:pPr>
            <a:endParaRPr lang="en-US" dirty="0"/>
          </a:p>
          <a:p>
            <a:r>
              <a:rPr lang="en-US" dirty="0"/>
              <a:t>What else?</a:t>
            </a:r>
          </a:p>
        </p:txBody>
      </p:sp>
      <p:pic>
        <p:nvPicPr>
          <p:cNvPr id="4" name="Picture 3">
            <a:extLst>
              <a:ext uri="{FF2B5EF4-FFF2-40B4-BE49-F238E27FC236}">
                <a16:creationId xmlns:a16="http://schemas.microsoft.com/office/drawing/2014/main" id="{D6307AF6-1535-17ED-1C8A-5CC459552356}"/>
              </a:ext>
            </a:extLst>
          </p:cNvPr>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0826035" y="1439594"/>
            <a:ext cx="7270154" cy="8474273"/>
          </a:xfrm>
          <a:prstGeom prst="rect">
            <a:avLst/>
          </a:prstGeom>
        </p:spPr>
      </p:pic>
    </p:spTree>
    <p:extLst>
      <p:ext uri="{BB962C8B-B14F-4D97-AF65-F5344CB8AC3E}">
        <p14:creationId xmlns:p14="http://schemas.microsoft.com/office/powerpoint/2010/main" val="19970409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485CC-8D74-DE4C-BD33-F9131E14A042}"/>
              </a:ext>
            </a:extLst>
          </p:cNvPr>
          <p:cNvSpPr>
            <a:spLocks noGrp="1"/>
          </p:cNvSpPr>
          <p:nvPr>
            <p:ph type="title"/>
          </p:nvPr>
        </p:nvSpPr>
        <p:spPr/>
        <p:txBody>
          <a:bodyPr/>
          <a:lstStyle/>
          <a:p>
            <a:r>
              <a:t>Attacking People</a:t>
            </a:r>
          </a:p>
        </p:txBody>
      </p:sp>
      <p:sp>
        <p:nvSpPr>
          <p:cNvPr id="3" name="Content Placeholder 2">
            <a:extLst>
              <a:ext uri="{FF2B5EF4-FFF2-40B4-BE49-F238E27FC236}">
                <a16:creationId xmlns:a16="http://schemas.microsoft.com/office/drawing/2014/main" id="{2E534240-D128-C44F-908D-85F9AEA38C2B}"/>
              </a:ext>
            </a:extLst>
          </p:cNvPr>
          <p:cNvSpPr>
            <a:spLocks noGrp="1"/>
          </p:cNvSpPr>
          <p:nvPr>
            <p:ph idx="1"/>
          </p:nvPr>
        </p:nvSpPr>
        <p:spPr/>
        <p:txBody>
          <a:bodyPr>
            <a:normAutofit/>
          </a:bodyPr>
          <a:lstStyle/>
          <a:p>
            <a:r>
              <a:rPr lang="en-US" dirty="0"/>
              <a:t>People are almost always the weakest link</a:t>
            </a:r>
          </a:p>
          <a:p>
            <a:r>
              <a:rPr lang="en-US" dirty="0"/>
              <a:t>AI has made this almost exponentially more exploitable</a:t>
            </a:r>
          </a:p>
          <a:p>
            <a:endParaRPr lang="en-US" dirty="0"/>
          </a:p>
        </p:txBody>
      </p:sp>
    </p:spTree>
    <p:extLst>
      <p:ext uri="{BB962C8B-B14F-4D97-AF65-F5344CB8AC3E}">
        <p14:creationId xmlns:p14="http://schemas.microsoft.com/office/powerpoint/2010/main" val="8338317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1B7-F441-AC42-9240-062C7D9FFA26}"/>
              </a:ext>
            </a:extLst>
          </p:cNvPr>
          <p:cNvSpPr>
            <a:spLocks noGrp="1"/>
          </p:cNvSpPr>
          <p:nvPr>
            <p:ph type="title"/>
          </p:nvPr>
        </p:nvSpPr>
        <p:spPr/>
        <p:txBody>
          <a:bodyPr/>
          <a:lstStyle/>
          <a:p>
            <a:r>
              <a:t>Attacking Credentials</a:t>
            </a:r>
          </a:p>
        </p:txBody>
      </p:sp>
      <p:sp>
        <p:nvSpPr>
          <p:cNvPr id="3" name="Content Placeholder 2">
            <a:extLst>
              <a:ext uri="{FF2B5EF4-FFF2-40B4-BE49-F238E27FC236}">
                <a16:creationId xmlns:a16="http://schemas.microsoft.com/office/drawing/2014/main" id="{7C2F5407-7C72-344A-9980-056B63B8A7FB}"/>
              </a:ext>
            </a:extLst>
          </p:cNvPr>
          <p:cNvSpPr>
            <a:spLocks noGrp="1"/>
          </p:cNvSpPr>
          <p:nvPr>
            <p:ph idx="1"/>
          </p:nvPr>
        </p:nvSpPr>
        <p:spPr>
          <a:xfrm>
            <a:off x="1851411" y="2193131"/>
            <a:ext cx="13239455" cy="7658100"/>
          </a:xfrm>
        </p:spPr>
        <p:txBody>
          <a:bodyPr>
            <a:normAutofit/>
          </a:bodyPr>
          <a:lstStyle/>
          <a:p>
            <a:r>
              <a:rPr lang="en-US" dirty="0"/>
              <a:t>Credential theft is at least as common brute force</a:t>
            </a:r>
          </a:p>
          <a:p>
            <a:r>
              <a:rPr lang="en-US" dirty="0"/>
              <a:t>Crooks would much rather waltz in than break in</a:t>
            </a:r>
          </a:p>
          <a:p>
            <a:endParaRPr lang="en-US" dirty="0"/>
          </a:p>
        </p:txBody>
      </p:sp>
    </p:spTree>
    <p:extLst>
      <p:ext uri="{BB962C8B-B14F-4D97-AF65-F5344CB8AC3E}">
        <p14:creationId xmlns:p14="http://schemas.microsoft.com/office/powerpoint/2010/main" val="17286858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DDB30-7B0A-9244-BA8D-C22E3F451001}"/>
              </a:ext>
            </a:extLst>
          </p:cNvPr>
          <p:cNvSpPr>
            <a:spLocks noGrp="1"/>
          </p:cNvSpPr>
          <p:nvPr>
            <p:ph type="title"/>
          </p:nvPr>
        </p:nvSpPr>
        <p:spPr/>
        <p:txBody>
          <a:bodyPr/>
          <a:lstStyle/>
          <a:p>
            <a:r>
              <a:t>Attacking Systems</a:t>
            </a:r>
          </a:p>
        </p:txBody>
      </p:sp>
      <p:sp>
        <p:nvSpPr>
          <p:cNvPr id="3" name="Content Placeholder 2">
            <a:extLst>
              <a:ext uri="{FF2B5EF4-FFF2-40B4-BE49-F238E27FC236}">
                <a16:creationId xmlns:a16="http://schemas.microsoft.com/office/drawing/2014/main" id="{29210F30-300B-FE47-B5EE-E9159A79400D}"/>
              </a:ext>
            </a:extLst>
          </p:cNvPr>
          <p:cNvSpPr>
            <a:spLocks noGrp="1"/>
          </p:cNvSpPr>
          <p:nvPr>
            <p:ph idx="1"/>
          </p:nvPr>
        </p:nvSpPr>
        <p:spPr>
          <a:xfrm>
            <a:off x="805809" y="1738314"/>
            <a:ext cx="13396574" cy="7989346"/>
          </a:xfrm>
        </p:spPr>
        <p:txBody>
          <a:bodyPr>
            <a:normAutofit fontScale="92500" lnSpcReduction="10000"/>
          </a:bodyPr>
          <a:lstStyle/>
          <a:p>
            <a:r>
              <a:rPr lang="en-US" dirty="0"/>
              <a:t>Malware, ransomware, and exploits target end stations</a:t>
            </a:r>
          </a:p>
          <a:p>
            <a:r>
              <a:rPr lang="en-US" dirty="0"/>
              <a:t>Systems that aren’t well-secured may be penetrated by:</a:t>
            </a:r>
          </a:p>
          <a:p>
            <a:pPr lvl="1"/>
            <a:r>
              <a:rPr lang="en-US" dirty="0"/>
              <a:t>Automated port-scanning for script attachment.</a:t>
            </a:r>
          </a:p>
          <a:p>
            <a:pPr lvl="1"/>
            <a:r>
              <a:rPr lang="en-US" dirty="0"/>
              <a:t>Automated password or passphrase guessing.</a:t>
            </a:r>
          </a:p>
          <a:p>
            <a:pPr lvl="1"/>
            <a:r>
              <a:rPr lang="en-US" dirty="0"/>
              <a:t>Exploits of well-known openings in legacy systems.</a:t>
            </a:r>
          </a:p>
          <a:p>
            <a:r>
              <a:rPr lang="en-US" dirty="0"/>
              <a:t>Bad actors in these hacks aren’t always masterminds.</a:t>
            </a:r>
          </a:p>
          <a:p>
            <a:pPr lvl="1"/>
            <a:r>
              <a:rPr lang="en-US" dirty="0"/>
              <a:t>Many tools for this type of hack are available online for use by even beginner hackers, so-called “script kiddies.”</a:t>
            </a:r>
          </a:p>
          <a:p>
            <a:r>
              <a:rPr lang="en-US" dirty="0"/>
              <a:t>The largest organizations are usually well-protected, but smaller ones are often users of older, even </a:t>
            </a:r>
            <a:r>
              <a:rPr lang="en-US" dirty="0" err="1"/>
              <a:t>out-dated</a:t>
            </a:r>
            <a:r>
              <a:rPr lang="en-US" dirty="0"/>
              <a:t>, technology that’s more susceptible to BFH.</a:t>
            </a:r>
          </a:p>
          <a:p>
            <a:r>
              <a:rPr lang="en-US" dirty="0"/>
              <a:t>Not all of these attacks are from outside!</a:t>
            </a:r>
          </a:p>
          <a:p>
            <a:r>
              <a:rPr lang="en-US" dirty="0"/>
              <a:t>Therefore, tight system security management is a primary defense.</a:t>
            </a:r>
          </a:p>
        </p:txBody>
      </p:sp>
      <p:pic>
        <p:nvPicPr>
          <p:cNvPr id="5" name="Picture 4">
            <a:extLst>
              <a:ext uri="{FF2B5EF4-FFF2-40B4-BE49-F238E27FC236}">
                <a16:creationId xmlns:a16="http://schemas.microsoft.com/office/drawing/2014/main" id="{C500DE64-044A-5341-B3D1-E832A51150B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707545" y="2810436"/>
            <a:ext cx="4267200" cy="2667000"/>
          </a:xfrm>
          <a:prstGeom prst="rect">
            <a:avLst/>
          </a:prstGeom>
        </p:spPr>
      </p:pic>
    </p:spTree>
    <p:extLst>
      <p:ext uri="{BB962C8B-B14F-4D97-AF65-F5344CB8AC3E}">
        <p14:creationId xmlns:p14="http://schemas.microsoft.com/office/powerpoint/2010/main" val="15736549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Attacking Communications</a:t>
            </a:r>
          </a:p>
        </p:txBody>
      </p:sp>
      <p:sp>
        <p:nvSpPr>
          <p:cNvPr id="3" name="Content Placeholder 2"/>
          <p:cNvSpPr>
            <a:spLocks noGrp="1"/>
          </p:cNvSpPr>
          <p:nvPr>
            <p:ph idx="1"/>
          </p:nvPr>
        </p:nvSpPr>
        <p:spPr>
          <a:xfrm>
            <a:off x="1257300" y="6064736"/>
            <a:ext cx="15773400" cy="2950369"/>
          </a:xfrm>
        </p:spPr>
        <p:txBody>
          <a:bodyPr/>
          <a:lstStyle/>
          <a:p>
            <a:r>
              <a:rPr lang="en-US" dirty="0"/>
              <a:t>Something-in-the-middle attacks are most obvious</a:t>
            </a:r>
          </a:p>
          <a:p>
            <a:endParaRPr lang="en-US" dirty="0"/>
          </a:p>
          <a:p>
            <a:endParaRPr lang="en-US" dirty="0"/>
          </a:p>
        </p:txBody>
      </p:sp>
      <p:pic>
        <p:nvPicPr>
          <p:cNvPr id="4" name="Picture 3">
            <a:extLst>
              <a:ext uri="{FF2B5EF4-FFF2-40B4-BE49-F238E27FC236}">
                <a16:creationId xmlns:a16="http://schemas.microsoft.com/office/drawing/2014/main" id="{7AF06FE7-1E42-5FDC-40DE-09DE5828C97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386898" y="2781474"/>
            <a:ext cx="2400300" cy="1800225"/>
          </a:xfrm>
          <a:prstGeom prst="rect">
            <a:avLst/>
          </a:prstGeom>
        </p:spPr>
      </p:pic>
      <p:pic>
        <p:nvPicPr>
          <p:cNvPr id="5" name="Picture 4">
            <a:extLst>
              <a:ext uri="{FF2B5EF4-FFF2-40B4-BE49-F238E27FC236}">
                <a16:creationId xmlns:a16="http://schemas.microsoft.com/office/drawing/2014/main" id="{A03D4205-D2FB-5ED3-9A5D-1382B08BE27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845099" y="2288460"/>
            <a:ext cx="2558144" cy="2238375"/>
          </a:xfrm>
          <a:prstGeom prst="rect">
            <a:avLst/>
          </a:prstGeom>
        </p:spPr>
      </p:pic>
      <p:pic>
        <p:nvPicPr>
          <p:cNvPr id="7" name="Picture 6">
            <a:extLst>
              <a:ext uri="{FF2B5EF4-FFF2-40B4-BE49-F238E27FC236}">
                <a16:creationId xmlns:a16="http://schemas.microsoft.com/office/drawing/2014/main" id="{27FE4A8F-8665-928F-22EF-DDD355DA562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873173" y="3866752"/>
            <a:ext cx="1885950" cy="1131570"/>
          </a:xfrm>
          <a:prstGeom prst="rect">
            <a:avLst/>
          </a:prstGeom>
        </p:spPr>
      </p:pic>
      <p:sp>
        <p:nvSpPr>
          <p:cNvPr id="8" name="Left-Right Arrow 7">
            <a:extLst>
              <a:ext uri="{FF2B5EF4-FFF2-40B4-BE49-F238E27FC236}">
                <a16:creationId xmlns:a16="http://schemas.microsoft.com/office/drawing/2014/main" id="{1AB29154-78B8-7D5C-C6E0-D0CC295361C2}"/>
              </a:ext>
            </a:extLst>
          </p:cNvPr>
          <p:cNvSpPr/>
          <p:nvPr/>
        </p:nvSpPr>
        <p:spPr bwMode="auto">
          <a:xfrm>
            <a:off x="6244398" y="2848460"/>
            <a:ext cx="5372100" cy="1132592"/>
          </a:xfrm>
          <a:prstGeom prst="leftRightArrow">
            <a:avLst/>
          </a:prstGeom>
          <a:solidFill>
            <a:schemeClr val="accent1"/>
          </a:solidFill>
          <a:ln w="12700" cap="flat" cmpd="sng" algn="ctr">
            <a:solidFill>
              <a:schemeClr val="accent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r>
              <a:rPr lang="en-US" sz="3300" b="1">
                <a:solidFill>
                  <a:srgbClr val="FFFFFF"/>
                </a:solidFill>
                <a:latin typeface="Arial Narrow" pitchFamily="34" charset="0"/>
              </a:rPr>
              <a:t>Legitimate Session</a:t>
            </a:r>
          </a:p>
        </p:txBody>
      </p:sp>
    </p:spTree>
    <p:custDataLst>
      <p:tags r:id="rId1"/>
    </p:custDataLst>
    <p:extLst>
      <p:ext uri="{BB962C8B-B14F-4D97-AF65-F5344CB8AC3E}">
        <p14:creationId xmlns:p14="http://schemas.microsoft.com/office/powerpoint/2010/main" val="29730643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829" y="278747"/>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Who Initiates DDoS Attacks</a:t>
            </a:r>
          </a:p>
        </p:txBody>
      </p:sp>
      <p:graphicFrame>
        <p:nvGraphicFramePr>
          <p:cNvPr id="9" name="Table 8"/>
          <p:cNvGraphicFramePr>
            <a:graphicFrameLocks noGrp="1"/>
          </p:cNvGraphicFramePr>
          <p:nvPr/>
        </p:nvGraphicFramePr>
        <p:xfrm>
          <a:off x="3200400" y="2171700"/>
          <a:ext cx="10744201" cy="7269480"/>
        </p:xfrm>
        <a:graphic>
          <a:graphicData uri="http://schemas.openxmlformats.org/drawingml/2006/table">
            <a:tbl>
              <a:tblPr firstRow="1" bandRow="1">
                <a:tableStyleId>{5C22544A-7EE6-4342-B048-85BDC9FD1C3A}</a:tableStyleId>
              </a:tblPr>
              <a:tblGrid>
                <a:gridCol w="4714292">
                  <a:extLst>
                    <a:ext uri="{9D8B030D-6E8A-4147-A177-3AD203B41FA5}">
                      <a16:colId xmlns:a16="http://schemas.microsoft.com/office/drawing/2014/main" val="20000"/>
                    </a:ext>
                  </a:extLst>
                </a:gridCol>
                <a:gridCol w="6029909">
                  <a:extLst>
                    <a:ext uri="{9D8B030D-6E8A-4147-A177-3AD203B41FA5}">
                      <a16:colId xmlns:a16="http://schemas.microsoft.com/office/drawing/2014/main" val="20001"/>
                    </a:ext>
                  </a:extLst>
                </a:gridCol>
              </a:tblGrid>
              <a:tr h="685800">
                <a:tc>
                  <a:txBody>
                    <a:bodyPr/>
                    <a:lstStyle/>
                    <a:p>
                      <a:r>
                        <a:rPr lang="en-US" sz="3600" b="1" dirty="0"/>
                        <a:t>Who</a:t>
                      </a:r>
                    </a:p>
                  </a:txBody>
                  <a:tcPr marL="137160" marR="137160" marT="68580" marB="68580"/>
                </a:tc>
                <a:tc>
                  <a:txBody>
                    <a:bodyPr/>
                    <a:lstStyle/>
                    <a:p>
                      <a:r>
                        <a:rPr lang="en-US" sz="3600" b="1"/>
                        <a:t>Why</a:t>
                      </a:r>
                    </a:p>
                  </a:txBody>
                  <a:tcPr marL="137160" marR="137160" marT="68580" marB="68580"/>
                </a:tc>
                <a:extLst>
                  <a:ext uri="{0D108BD9-81ED-4DB2-BD59-A6C34878D82A}">
                    <a16:rowId xmlns:a16="http://schemas.microsoft.com/office/drawing/2014/main" val="10000"/>
                  </a:ext>
                </a:extLst>
              </a:tr>
              <a:tr h="1234440">
                <a:tc>
                  <a:txBody>
                    <a:bodyPr/>
                    <a:lstStyle/>
                    <a:p>
                      <a:r>
                        <a:rPr lang="en-US" sz="3600" b="1"/>
                        <a:t>Hackers or “Hacktivists”</a:t>
                      </a:r>
                    </a:p>
                  </a:txBody>
                  <a:tcPr marL="137160" marR="137160" marT="68580" marB="68580"/>
                </a:tc>
                <a:tc>
                  <a:txBody>
                    <a:bodyPr/>
                    <a:lstStyle/>
                    <a:p>
                      <a:r>
                        <a:rPr lang="en-US" sz="3600" b="1"/>
                        <a:t>Publicize a cause </a:t>
                      </a:r>
                    </a:p>
                    <a:p>
                      <a:r>
                        <a:rPr lang="en-US" sz="3600" b="1"/>
                        <a:t>Gain a reputation</a:t>
                      </a:r>
                    </a:p>
                  </a:txBody>
                  <a:tcPr marL="137160" marR="137160" marT="68580" marB="68580"/>
                </a:tc>
                <a:extLst>
                  <a:ext uri="{0D108BD9-81ED-4DB2-BD59-A6C34878D82A}">
                    <a16:rowId xmlns:a16="http://schemas.microsoft.com/office/drawing/2014/main" val="10001"/>
                  </a:ext>
                </a:extLst>
              </a:tr>
              <a:tr h="1783080">
                <a:tc>
                  <a:txBody>
                    <a:bodyPr/>
                    <a:lstStyle/>
                    <a:p>
                      <a:r>
                        <a:rPr lang="en-US" sz="3600" b="1"/>
                        <a:t>Criminals</a:t>
                      </a:r>
                    </a:p>
                  </a:txBody>
                  <a:tcPr marL="137160" marR="137160" marT="68580" marB="68580"/>
                </a:tc>
                <a:tc>
                  <a:txBody>
                    <a:bodyPr/>
                    <a:lstStyle/>
                    <a:p>
                      <a:r>
                        <a:rPr lang="en-US" sz="3600" b="1"/>
                        <a:t>Extort</a:t>
                      </a:r>
                    </a:p>
                    <a:p>
                      <a:r>
                        <a:rPr lang="en-US" sz="3600" b="1"/>
                        <a:t>Cover</a:t>
                      </a:r>
                      <a:r>
                        <a:rPr lang="en-US" sz="3600" b="1" baseline="0"/>
                        <a:t> up another attack</a:t>
                      </a:r>
                    </a:p>
                    <a:p>
                      <a:r>
                        <a:rPr lang="en-US" sz="3600" b="1" baseline="0"/>
                        <a:t>Financial gain</a:t>
                      </a:r>
                      <a:endParaRPr lang="en-US" sz="3600" b="1"/>
                    </a:p>
                  </a:txBody>
                  <a:tcPr marL="137160" marR="137160" marT="68580" marB="68580"/>
                </a:tc>
                <a:extLst>
                  <a:ext uri="{0D108BD9-81ED-4DB2-BD59-A6C34878D82A}">
                    <a16:rowId xmlns:a16="http://schemas.microsoft.com/office/drawing/2014/main" val="10002"/>
                  </a:ext>
                </a:extLst>
              </a:tr>
              <a:tr h="2331720">
                <a:tc>
                  <a:txBody>
                    <a:bodyPr/>
                    <a:lstStyle/>
                    <a:p>
                      <a:r>
                        <a:rPr lang="en-US" sz="3600" b="1"/>
                        <a:t>Governments</a:t>
                      </a:r>
                    </a:p>
                  </a:txBody>
                  <a:tcPr marL="137160" marR="137160" marT="68580" marB="68580"/>
                </a:tc>
                <a:tc>
                  <a:txBody>
                    <a:bodyPr/>
                    <a:lstStyle/>
                    <a:p>
                      <a:r>
                        <a:rPr lang="en-US" sz="3600" b="1" dirty="0"/>
                        <a:t>Move a nation’s agenda</a:t>
                      </a:r>
                    </a:p>
                    <a:p>
                      <a:r>
                        <a:rPr lang="en-US" sz="3600" b="1" dirty="0"/>
                        <a:t>Politics</a:t>
                      </a:r>
                    </a:p>
                    <a:p>
                      <a:r>
                        <a:rPr lang="en-US" sz="3600" b="1" dirty="0"/>
                        <a:t>War</a:t>
                      </a:r>
                    </a:p>
                    <a:p>
                      <a:r>
                        <a:rPr lang="en-US" sz="3600" b="1" dirty="0"/>
                        <a:t>Espionage</a:t>
                      </a:r>
                    </a:p>
                  </a:txBody>
                  <a:tcPr marL="137160" marR="137160" marT="68580" marB="68580"/>
                </a:tc>
                <a:extLst>
                  <a:ext uri="{0D108BD9-81ED-4DB2-BD59-A6C34878D82A}">
                    <a16:rowId xmlns:a16="http://schemas.microsoft.com/office/drawing/2014/main" val="10003"/>
                  </a:ext>
                </a:extLst>
              </a:tr>
              <a:tr h="1234440">
                <a:tc>
                  <a:txBody>
                    <a:bodyPr/>
                    <a:lstStyle/>
                    <a:p>
                      <a:r>
                        <a:rPr lang="en-US" sz="3600" b="1"/>
                        <a:t>Businesses</a:t>
                      </a:r>
                    </a:p>
                  </a:txBody>
                  <a:tcPr marL="137160" marR="137160" marT="68580" marB="68580"/>
                </a:tc>
                <a:tc>
                  <a:txBody>
                    <a:bodyPr/>
                    <a:lstStyle/>
                    <a:p>
                      <a:r>
                        <a:rPr lang="en-US" sz="3600" b="1" dirty="0"/>
                        <a:t>Eliminate the competition</a:t>
                      </a:r>
                    </a:p>
                    <a:p>
                      <a:r>
                        <a:rPr lang="en-US" sz="3600" b="1" dirty="0"/>
                        <a:t>Impact market</a:t>
                      </a:r>
                      <a:r>
                        <a:rPr lang="en-US" sz="3600" b="1" baseline="0" dirty="0"/>
                        <a:t> reputation</a:t>
                      </a:r>
                      <a:endParaRPr lang="en-US" sz="3600" b="1" dirty="0"/>
                    </a:p>
                  </a:txBody>
                  <a:tcPr marL="137160" marR="137160" marT="68580" marB="68580"/>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5625938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9401" y="17767"/>
            <a:ext cx="15773400" cy="1988345"/>
          </a:xfrm>
        </p:spPr>
        <p:txBody>
          <a:bodyPr/>
          <a:lstStyle/>
          <a:p>
            <a:r>
              <a:rPr lang="en-US" dirty="0"/>
              <a:t>Botnets</a:t>
            </a:r>
          </a:p>
        </p:txBody>
      </p:sp>
      <p:sp>
        <p:nvSpPr>
          <p:cNvPr id="4" name="Content Placeholder 3"/>
          <p:cNvSpPr>
            <a:spLocks noGrp="1"/>
          </p:cNvSpPr>
          <p:nvPr>
            <p:ph idx="1"/>
          </p:nvPr>
        </p:nvSpPr>
        <p:spPr>
          <a:xfrm>
            <a:off x="722817" y="2193131"/>
            <a:ext cx="8532161" cy="7658100"/>
          </a:xfrm>
        </p:spPr>
        <p:txBody>
          <a:bodyPr>
            <a:normAutofit/>
          </a:bodyPr>
          <a:lstStyle/>
          <a:p>
            <a:r>
              <a:rPr lang="en-US" sz="3200" dirty="0"/>
              <a:t>Infect a computer with malware that allows it to be controlled</a:t>
            </a:r>
          </a:p>
          <a:p>
            <a:r>
              <a:rPr lang="en-US" sz="3200" dirty="0"/>
              <a:t>Do this to hundreds or thousands of computers</a:t>
            </a:r>
          </a:p>
          <a:p>
            <a:r>
              <a:rPr lang="en-US" sz="3200" dirty="0"/>
              <a:t>Control all of these by a command and control computer </a:t>
            </a:r>
            <a:br>
              <a:rPr lang="en-US" sz="3200" dirty="0"/>
            </a:br>
            <a:r>
              <a:rPr lang="en-US" sz="3200" dirty="0"/>
              <a:t>(not necessarily your own)</a:t>
            </a:r>
          </a:p>
          <a:p>
            <a:r>
              <a:rPr lang="en-US" sz="3200" dirty="0"/>
              <a:t>Initiate a coordinated attack on the desired target. I </a:t>
            </a:r>
            <a:r>
              <a:rPr lang="en-US" sz="3200" dirty="0" err="1"/>
              <a:t>dunno</a:t>
            </a:r>
            <a:r>
              <a:rPr lang="en-US" sz="3200" dirty="0"/>
              <a:t>, a bank?</a:t>
            </a:r>
          </a:p>
        </p:txBody>
      </p:sp>
      <p:pic>
        <p:nvPicPr>
          <p:cNvPr id="5" name="Happy PC"/>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287028" y="2809593"/>
            <a:ext cx="5258256" cy="3868248"/>
          </a:xfrm>
          <a:prstGeom prst="rect">
            <a:avLst/>
          </a:prstGeom>
        </p:spPr>
      </p:pic>
      <p:pic>
        <p:nvPicPr>
          <p:cNvPr id="6" name="Virus"/>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659600" y="800100"/>
            <a:ext cx="1316508" cy="1485900"/>
          </a:xfrm>
          <a:prstGeom prst="rect">
            <a:avLst/>
          </a:prstGeom>
        </p:spPr>
      </p:pic>
      <p:pic>
        <p:nvPicPr>
          <p:cNvPr id="11" name="Infected"/>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744228" y="2238093"/>
            <a:ext cx="1063203" cy="782148"/>
          </a:xfrm>
          <a:prstGeom prst="rect">
            <a:avLst/>
          </a:prstGeom>
        </p:spPr>
      </p:pic>
      <p:pic>
        <p:nvPicPr>
          <p:cNvPr id="7" name="Infected"/>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287028" y="2809593"/>
            <a:ext cx="5258256" cy="3868248"/>
          </a:xfrm>
          <a:prstGeom prst="rect">
            <a:avLst/>
          </a:prstGeom>
        </p:spPr>
      </p:pic>
      <p:pic>
        <p:nvPicPr>
          <p:cNvPr id="8" name="Picture 7"/>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372628" y="4066893"/>
            <a:ext cx="1063203" cy="782148"/>
          </a:xfrm>
          <a:prstGeom prst="rect">
            <a:avLst/>
          </a:prstGeom>
        </p:spPr>
      </p:pic>
      <p:pic>
        <p:nvPicPr>
          <p:cNvPr id="9" name="Picture 8"/>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029728" y="3381093"/>
            <a:ext cx="1063203" cy="782148"/>
          </a:xfrm>
          <a:prstGeom prst="rect">
            <a:avLst/>
          </a:prstGeom>
        </p:spPr>
      </p:pic>
      <p:pic>
        <p:nvPicPr>
          <p:cNvPr id="10" name="Picture 9"/>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372628" y="4866993"/>
            <a:ext cx="1063203" cy="782148"/>
          </a:xfrm>
          <a:prstGeom prst="rect">
            <a:avLst/>
          </a:prstGeom>
        </p:spPr>
      </p:pic>
      <p:pic>
        <p:nvPicPr>
          <p:cNvPr id="12" name="Picture 1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258328" y="1666593"/>
            <a:ext cx="1063203" cy="782148"/>
          </a:xfrm>
          <a:prstGeom prst="rect">
            <a:avLst/>
          </a:prstGeom>
        </p:spPr>
      </p:pic>
      <p:pic>
        <p:nvPicPr>
          <p:cNvPr id="13" name="Picture 1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4144528" y="1895193"/>
            <a:ext cx="1063203" cy="782148"/>
          </a:xfrm>
          <a:prstGeom prst="rect">
            <a:avLst/>
          </a:prstGeom>
        </p:spPr>
      </p:pic>
      <p:pic>
        <p:nvPicPr>
          <p:cNvPr id="14" name="Picture 13"/>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859028" y="2580993"/>
            <a:ext cx="1063203" cy="782148"/>
          </a:xfrm>
          <a:prstGeom prst="rect">
            <a:avLst/>
          </a:prstGeom>
        </p:spPr>
      </p:pic>
      <p:pic>
        <p:nvPicPr>
          <p:cNvPr id="15" name="Picture 14"/>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6062392" y="4181193"/>
            <a:ext cx="1063203" cy="782148"/>
          </a:xfrm>
          <a:prstGeom prst="rect">
            <a:avLst/>
          </a:prstGeom>
        </p:spPr>
      </p:pic>
      <p:pic>
        <p:nvPicPr>
          <p:cNvPr id="16" name="Picture 15"/>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2887228" y="2009493"/>
            <a:ext cx="1063203" cy="782148"/>
          </a:xfrm>
          <a:prstGeom prst="rect">
            <a:avLst/>
          </a:prstGeom>
        </p:spPr>
      </p:pic>
      <p:pic>
        <p:nvPicPr>
          <p:cNvPr id="17" name="Picture 16"/>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287028" y="1552293"/>
            <a:ext cx="1063203" cy="782148"/>
          </a:xfrm>
          <a:prstGeom prst="rect">
            <a:avLst/>
          </a:prstGeom>
        </p:spPr>
      </p:pic>
      <p:pic>
        <p:nvPicPr>
          <p:cNvPr id="18" name="Picture 17"/>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715528" y="3381093"/>
            <a:ext cx="1063203" cy="782148"/>
          </a:xfrm>
          <a:prstGeom prst="rect">
            <a:avLst/>
          </a:prstGeom>
        </p:spPr>
      </p:pic>
      <p:pic>
        <p:nvPicPr>
          <p:cNvPr id="19" name="Picture 18"/>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4944628" y="1780893"/>
            <a:ext cx="1063203" cy="782148"/>
          </a:xfrm>
          <a:prstGeom prst="rect">
            <a:avLst/>
          </a:prstGeom>
        </p:spPr>
      </p:pic>
      <p:pic>
        <p:nvPicPr>
          <p:cNvPr id="20" name="Picture 19"/>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2430028" y="1552293"/>
            <a:ext cx="1063203" cy="782148"/>
          </a:xfrm>
          <a:prstGeom prst="rect">
            <a:avLst/>
          </a:prstGeom>
        </p:spPr>
      </p:pic>
      <p:pic>
        <p:nvPicPr>
          <p:cNvPr id="21" name="Picture 20"/>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944128" y="2809593"/>
            <a:ext cx="1063203" cy="782148"/>
          </a:xfrm>
          <a:prstGeom prst="rect">
            <a:avLst/>
          </a:prstGeom>
        </p:spPr>
      </p:pic>
      <p:pic>
        <p:nvPicPr>
          <p:cNvPr id="22" name="Picture 2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3573028" y="1323693"/>
            <a:ext cx="1063203" cy="782148"/>
          </a:xfrm>
          <a:prstGeom prst="rect">
            <a:avLst/>
          </a:prstGeom>
        </p:spPr>
      </p:pic>
      <p:pic>
        <p:nvPicPr>
          <p:cNvPr id="23" name="Picture 2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630428" y="2009493"/>
            <a:ext cx="1063203" cy="782148"/>
          </a:xfrm>
          <a:prstGeom prst="rect">
            <a:avLst/>
          </a:prstGeom>
        </p:spPr>
      </p:pic>
      <p:pic>
        <p:nvPicPr>
          <p:cNvPr id="24" name="Picture 23"/>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6053125" y="3381093"/>
            <a:ext cx="1063203" cy="782148"/>
          </a:xfrm>
          <a:prstGeom prst="rect">
            <a:avLst/>
          </a:prstGeom>
        </p:spPr>
      </p:pic>
      <p:pic>
        <p:nvPicPr>
          <p:cNvPr id="25" name="Picture 24"/>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486928" y="2238093"/>
            <a:ext cx="1063203" cy="782148"/>
          </a:xfrm>
          <a:prstGeom prst="rect">
            <a:avLst/>
          </a:prstGeom>
        </p:spPr>
      </p:pic>
      <p:sp>
        <p:nvSpPr>
          <p:cNvPr id="95" name="TextBox 94"/>
          <p:cNvSpPr txBox="1"/>
          <p:nvPr/>
        </p:nvSpPr>
        <p:spPr>
          <a:xfrm rot="20040464">
            <a:off x="4638732" y="8489186"/>
            <a:ext cx="1053365" cy="507831"/>
          </a:xfrm>
          <a:prstGeom prst="rect">
            <a:avLst/>
          </a:prstGeom>
          <a:noFill/>
        </p:spPr>
        <p:txBody>
          <a:bodyPr wrap="none" rtlCol="0" anchor="ctr">
            <a:spAutoFit/>
          </a:bodyPr>
          <a:lstStyle/>
          <a:p>
            <a:r>
              <a:rPr lang="en-US" sz="2700">
                <a:solidFill>
                  <a:schemeClr val="accent1">
                    <a:lumMod val="75000"/>
                  </a:schemeClr>
                </a:solidFill>
                <a:latin typeface="+mj-lt"/>
              </a:rPr>
              <a:t>Attack</a:t>
            </a:r>
          </a:p>
        </p:txBody>
      </p:sp>
      <p:pic>
        <p:nvPicPr>
          <p:cNvPr id="26" name="Hearde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478052" y="7119182"/>
            <a:ext cx="3200400" cy="2732049"/>
          </a:xfrm>
          <a:prstGeom prst="rect">
            <a:avLst/>
          </a:prstGeom>
        </p:spPr>
      </p:pic>
      <p:pic>
        <p:nvPicPr>
          <p:cNvPr id="41" name="Attack"/>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5630428" y="1895194"/>
            <a:ext cx="1069848" cy="863321"/>
          </a:xfrm>
          <a:prstGeom prst="rect">
            <a:avLst/>
          </a:prstGeom>
        </p:spPr>
      </p:pic>
      <p:pic>
        <p:nvPicPr>
          <p:cNvPr id="35" name="Attack"/>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1744228" y="2123794"/>
            <a:ext cx="1069848" cy="863321"/>
          </a:xfrm>
          <a:prstGeom prst="rect">
            <a:avLst/>
          </a:prstGeom>
        </p:spPr>
      </p:pic>
      <p:pic>
        <p:nvPicPr>
          <p:cNvPr id="28" name="Picture 27"/>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372628" y="4866994"/>
            <a:ext cx="1069848" cy="863321"/>
          </a:xfrm>
          <a:prstGeom prst="rect">
            <a:avLst/>
          </a:prstGeom>
        </p:spPr>
      </p:pic>
      <p:pic>
        <p:nvPicPr>
          <p:cNvPr id="29" name="Picture 28"/>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372628" y="4066894"/>
            <a:ext cx="1069848" cy="863321"/>
          </a:xfrm>
          <a:prstGeom prst="rect">
            <a:avLst/>
          </a:prstGeom>
        </p:spPr>
      </p:pic>
      <p:pic>
        <p:nvPicPr>
          <p:cNvPr id="30" name="Picture 29"/>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995505" y="3220138"/>
            <a:ext cx="1069848" cy="863321"/>
          </a:xfrm>
          <a:prstGeom prst="rect">
            <a:avLst/>
          </a:prstGeom>
        </p:spPr>
      </p:pic>
      <p:pic>
        <p:nvPicPr>
          <p:cNvPr id="31" name="Picture 30"/>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715528" y="3266794"/>
            <a:ext cx="1069848" cy="863321"/>
          </a:xfrm>
          <a:prstGeom prst="rect">
            <a:avLst/>
          </a:prstGeom>
        </p:spPr>
      </p:pic>
      <p:pic>
        <p:nvPicPr>
          <p:cNvPr id="32" name="Picture 31"/>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486928" y="2123794"/>
            <a:ext cx="1069848" cy="863321"/>
          </a:xfrm>
          <a:prstGeom prst="rect">
            <a:avLst/>
          </a:prstGeom>
        </p:spPr>
      </p:pic>
      <p:pic>
        <p:nvPicPr>
          <p:cNvPr id="33" name="Picture 32"/>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258328" y="1552294"/>
            <a:ext cx="1069848" cy="863321"/>
          </a:xfrm>
          <a:prstGeom prst="rect">
            <a:avLst/>
          </a:prstGeom>
        </p:spPr>
      </p:pic>
      <p:pic>
        <p:nvPicPr>
          <p:cNvPr id="34" name="Picture 33"/>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1287028" y="1437994"/>
            <a:ext cx="1069848" cy="863321"/>
          </a:xfrm>
          <a:prstGeom prst="rect">
            <a:avLst/>
          </a:prstGeom>
        </p:spPr>
      </p:pic>
      <p:pic>
        <p:nvPicPr>
          <p:cNvPr id="36" name="Picture 35"/>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2430028" y="1437994"/>
            <a:ext cx="1069848" cy="863321"/>
          </a:xfrm>
          <a:prstGeom prst="rect">
            <a:avLst/>
          </a:prstGeom>
        </p:spPr>
      </p:pic>
      <p:pic>
        <p:nvPicPr>
          <p:cNvPr id="37" name="Picture 36"/>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2887228" y="1895194"/>
            <a:ext cx="1069848" cy="863321"/>
          </a:xfrm>
          <a:prstGeom prst="rect">
            <a:avLst/>
          </a:prstGeom>
        </p:spPr>
      </p:pic>
      <p:pic>
        <p:nvPicPr>
          <p:cNvPr id="38" name="Picture 37"/>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3573028" y="1209394"/>
            <a:ext cx="1069848" cy="863321"/>
          </a:xfrm>
          <a:prstGeom prst="rect">
            <a:avLst/>
          </a:prstGeom>
        </p:spPr>
      </p:pic>
      <p:pic>
        <p:nvPicPr>
          <p:cNvPr id="39" name="Picture 38"/>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4144528" y="1780894"/>
            <a:ext cx="1069848" cy="863321"/>
          </a:xfrm>
          <a:prstGeom prst="rect">
            <a:avLst/>
          </a:prstGeom>
        </p:spPr>
      </p:pic>
      <p:pic>
        <p:nvPicPr>
          <p:cNvPr id="40" name="Picture 39"/>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4944628" y="1666594"/>
            <a:ext cx="1069848" cy="863321"/>
          </a:xfrm>
          <a:prstGeom prst="rect">
            <a:avLst/>
          </a:prstGeom>
        </p:spPr>
      </p:pic>
      <p:pic>
        <p:nvPicPr>
          <p:cNvPr id="42" name="Picture 41"/>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5859028" y="2466694"/>
            <a:ext cx="1069848" cy="863321"/>
          </a:xfrm>
          <a:prstGeom prst="rect">
            <a:avLst/>
          </a:prstGeom>
        </p:spPr>
      </p:pic>
      <p:pic>
        <p:nvPicPr>
          <p:cNvPr id="43" name="Picture 42"/>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6024856" y="3266794"/>
            <a:ext cx="1069848" cy="863321"/>
          </a:xfrm>
          <a:prstGeom prst="rect">
            <a:avLst/>
          </a:prstGeom>
        </p:spPr>
      </p:pic>
      <p:pic>
        <p:nvPicPr>
          <p:cNvPr id="44" name="Picture 43"/>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6046480" y="4066894"/>
            <a:ext cx="1069848" cy="863321"/>
          </a:xfrm>
          <a:prstGeom prst="rect">
            <a:avLst/>
          </a:prstGeom>
        </p:spPr>
      </p:pic>
      <p:cxnSp>
        <p:nvCxnSpPr>
          <p:cNvPr id="46" name="Straight Arrow Connector 45"/>
          <p:cNvCxnSpPr>
            <a:stCxn id="28" idx="2"/>
          </p:cNvCxnSpPr>
          <p:nvPr/>
        </p:nvCxnSpPr>
        <p:spPr bwMode="auto">
          <a:xfrm>
            <a:off x="10907552" y="5730314"/>
            <a:ext cx="1979676" cy="405158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49" name="Straight Arrow Connector 48"/>
          <p:cNvCxnSpPr/>
          <p:nvPr/>
        </p:nvCxnSpPr>
        <p:spPr bwMode="auto">
          <a:xfrm flipH="1">
            <a:off x="12887228" y="6924393"/>
            <a:ext cx="4229100" cy="28575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0" name="Straight Arrow Connector 49"/>
          <p:cNvCxnSpPr/>
          <p:nvPr/>
        </p:nvCxnSpPr>
        <p:spPr bwMode="auto">
          <a:xfrm flipH="1">
            <a:off x="12887228" y="5895693"/>
            <a:ext cx="114300" cy="38862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1" name="Straight Arrow Connector 50"/>
          <p:cNvCxnSpPr/>
          <p:nvPr/>
        </p:nvCxnSpPr>
        <p:spPr bwMode="auto">
          <a:xfrm flipH="1">
            <a:off x="12887228" y="6009993"/>
            <a:ext cx="800100" cy="37719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2" name="Straight Arrow Connector 51"/>
          <p:cNvCxnSpPr/>
          <p:nvPr/>
        </p:nvCxnSpPr>
        <p:spPr bwMode="auto">
          <a:xfrm flipH="1">
            <a:off x="12887228" y="6238593"/>
            <a:ext cx="1485900" cy="35433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3" name="Straight Arrow Connector 52"/>
          <p:cNvCxnSpPr/>
          <p:nvPr/>
        </p:nvCxnSpPr>
        <p:spPr bwMode="auto">
          <a:xfrm>
            <a:off x="11287028" y="5667093"/>
            <a:ext cx="1600200" cy="41148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4" name="Straight Arrow Connector 53"/>
          <p:cNvCxnSpPr/>
          <p:nvPr/>
        </p:nvCxnSpPr>
        <p:spPr bwMode="auto">
          <a:xfrm flipH="1">
            <a:off x="12887228" y="5781393"/>
            <a:ext cx="4229100" cy="40005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5" name="Straight Arrow Connector 54"/>
          <p:cNvCxnSpPr/>
          <p:nvPr/>
        </p:nvCxnSpPr>
        <p:spPr bwMode="auto">
          <a:xfrm flipH="1">
            <a:off x="12887228" y="6352893"/>
            <a:ext cx="1143000" cy="34290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6" name="Straight Arrow Connector 55"/>
          <p:cNvCxnSpPr/>
          <p:nvPr/>
        </p:nvCxnSpPr>
        <p:spPr bwMode="auto">
          <a:xfrm>
            <a:off x="11629928" y="4295493"/>
            <a:ext cx="1257300" cy="54864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7" name="Straight Arrow Connector 56"/>
          <p:cNvCxnSpPr/>
          <p:nvPr/>
        </p:nvCxnSpPr>
        <p:spPr bwMode="auto">
          <a:xfrm flipH="1">
            <a:off x="12887228" y="6581493"/>
            <a:ext cx="4000500" cy="32004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8" name="Straight Arrow Connector 57"/>
          <p:cNvCxnSpPr>
            <a:cxnSpLocks/>
          </p:cNvCxnSpPr>
          <p:nvPr/>
        </p:nvCxnSpPr>
        <p:spPr bwMode="auto">
          <a:xfrm>
            <a:off x="10413776" y="5685045"/>
            <a:ext cx="2514599" cy="405765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59" name="Straight Arrow Connector 58"/>
          <p:cNvCxnSpPr/>
          <p:nvPr/>
        </p:nvCxnSpPr>
        <p:spPr bwMode="auto">
          <a:xfrm>
            <a:off x="11401328" y="4981293"/>
            <a:ext cx="1485900" cy="48006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60" name="Straight Arrow Connector 59"/>
          <p:cNvCxnSpPr/>
          <p:nvPr/>
        </p:nvCxnSpPr>
        <p:spPr bwMode="auto">
          <a:xfrm>
            <a:off x="12658628" y="6467193"/>
            <a:ext cx="228600" cy="33147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61" name="Straight Arrow Connector 60"/>
          <p:cNvCxnSpPr/>
          <p:nvPr/>
        </p:nvCxnSpPr>
        <p:spPr bwMode="auto">
          <a:xfrm flipH="1">
            <a:off x="12887228" y="6352893"/>
            <a:ext cx="457200" cy="34290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62" name="Straight Arrow Connector 61"/>
          <p:cNvCxnSpPr/>
          <p:nvPr/>
        </p:nvCxnSpPr>
        <p:spPr bwMode="auto">
          <a:xfrm flipH="1">
            <a:off x="12887228" y="6467193"/>
            <a:ext cx="1828800" cy="33147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63" name="Straight Arrow Connector 62"/>
          <p:cNvCxnSpPr/>
          <p:nvPr/>
        </p:nvCxnSpPr>
        <p:spPr bwMode="auto">
          <a:xfrm flipH="1">
            <a:off x="12887228" y="5095593"/>
            <a:ext cx="3429000" cy="46863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cxnSp>
        <p:nvCxnSpPr>
          <p:cNvPr id="64" name="Straight Arrow Connector 63"/>
          <p:cNvCxnSpPr/>
          <p:nvPr/>
        </p:nvCxnSpPr>
        <p:spPr bwMode="auto">
          <a:xfrm flipH="1">
            <a:off x="12887228" y="5438493"/>
            <a:ext cx="4000500" cy="4343400"/>
          </a:xfrm>
          <a:prstGeom prst="straightConnector1">
            <a:avLst/>
          </a:prstGeom>
          <a:solidFill>
            <a:schemeClr val="accent1"/>
          </a:solidFill>
          <a:ln w="28575" cap="flat" cmpd="sng" algn="ctr">
            <a:solidFill>
              <a:srgbClr val="C00000"/>
            </a:solidFill>
            <a:prstDash val="solid"/>
            <a:round/>
            <a:headEnd type="none" w="med" len="med"/>
            <a:tailEnd type="stealth" w="lg" len="lg"/>
          </a:ln>
          <a:effectLst/>
        </p:spPr>
      </p:cxnSp>
      <p:sp>
        <p:nvSpPr>
          <p:cNvPr id="94" name="Rectangle 93"/>
          <p:cNvSpPr/>
          <p:nvPr/>
        </p:nvSpPr>
        <p:spPr bwMode="auto">
          <a:xfrm>
            <a:off x="12087128" y="3152493"/>
            <a:ext cx="3657600" cy="2514600"/>
          </a:xfrm>
          <a:prstGeom prst="rect">
            <a:avLst/>
          </a:prstGeom>
          <a:solidFill>
            <a:schemeClr val="bg1"/>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t" anchorCtr="0" compatLnSpc="1">
            <a:prstTxWarp prst="textNoShape">
              <a:avLst/>
            </a:prstTxWarp>
            <a:noAutofit/>
          </a:bodyPr>
          <a:lstStyle/>
          <a:p>
            <a:pPr algn="ctr" defTabSz="1540670" fontAlgn="base">
              <a:lnSpc>
                <a:spcPct val="85000"/>
              </a:lnSpc>
              <a:spcBef>
                <a:spcPct val="0"/>
              </a:spcBef>
              <a:spcAft>
                <a:spcPct val="0"/>
              </a:spcAft>
            </a:pPr>
            <a:endParaRPr lang="en-US" sz="3300" b="1">
              <a:latin typeface="Arial Narrow" pitchFamily="34" charset="0"/>
            </a:endParaRPr>
          </a:p>
        </p:txBody>
      </p:sp>
      <p:pic>
        <p:nvPicPr>
          <p:cNvPr id="27" name="Attack"/>
          <p:cNvPicPr>
            <a:picLocks noChangeAspect="1"/>
          </p:cNvPicPr>
          <p:nvPr/>
        </p:nvPicPr>
        <p:blipFill>
          <a:blip r:embed="rId10"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1287028" y="2466694"/>
            <a:ext cx="5258256" cy="4243184"/>
          </a:xfrm>
          <a:prstGeom prst="rect">
            <a:avLst/>
          </a:prstGeom>
        </p:spPr>
      </p:pic>
      <p:pic>
        <p:nvPicPr>
          <p:cNvPr id="65" name="Picture 64">
            <a:extLst>
              <a:ext uri="{FF2B5EF4-FFF2-40B4-BE49-F238E27FC236}">
                <a16:creationId xmlns:a16="http://schemas.microsoft.com/office/drawing/2014/main" id="{6FE5AEFD-63EE-D3DD-648F-05CBF1B4F9C3}"/>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1234064" y="8727987"/>
            <a:ext cx="3277928" cy="2458446"/>
          </a:xfrm>
          <a:prstGeom prst="rect">
            <a:avLst/>
          </a:prstGeom>
        </p:spPr>
      </p:pic>
      <p:pic>
        <p:nvPicPr>
          <p:cNvPr id="66" name="Picture 65">
            <a:extLst>
              <a:ext uri="{FF2B5EF4-FFF2-40B4-BE49-F238E27FC236}">
                <a16:creationId xmlns:a16="http://schemas.microsoft.com/office/drawing/2014/main" id="{F8F71F93-27CF-DBA7-C785-0216465344AD}"/>
              </a:ext>
            </a:extLst>
          </p:cNvPr>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a:xfrm>
            <a:off x="10668565" y="8533231"/>
            <a:ext cx="4153859" cy="1997161"/>
          </a:xfrm>
          <a:prstGeom prst="rect">
            <a:avLst/>
          </a:prstGeom>
        </p:spPr>
      </p:pic>
    </p:spTree>
    <p:custDataLst>
      <p:tags r:id="rId1"/>
    </p:custDataLst>
    <p:extLst>
      <p:ext uri="{BB962C8B-B14F-4D97-AF65-F5344CB8AC3E}">
        <p14:creationId xmlns:p14="http://schemas.microsoft.com/office/powerpoint/2010/main" val="164326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dissolve">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par>
                          <p:cTn id="13" fill="hold">
                            <p:stCondLst>
                              <p:cond delay="500"/>
                            </p:stCondLst>
                            <p:childTnLst>
                              <p:par>
                                <p:cTn id="14" presetID="0" presetClass="path" presetSubtype="0" accel="50000" decel="50000" fill="hold" nodeType="afterEffect">
                                  <p:stCondLst>
                                    <p:cond delay="0"/>
                                  </p:stCondLst>
                                  <p:childTnLst>
                                    <p:animMotion origin="layout" path="M -2.5E-6 2.96296E-6 L -2.5E-6 2.96296E-6 C -0.00052 0.00509 -0.00052 0.01551 -0.00278 0.02152 C -0.00399 0.02453 -0.00556 0.02754 -0.00677 0.03055 C -0.00695 0.03148 -0.00885 0.04514 -0.00955 0.04676 C -0.01094 0.05069 -0.01337 0.0537 -0.01493 0.05764 C -0.01649 0.06111 -0.01719 0.06504 -0.01892 0.06828 C -0.0217 0.07315 -0.0257 0.07639 -0.02847 0.08102 C -0.03802 0.09676 -0.02951 0.08426 -0.03924 0.09537 C -0.0408 0.09699 -0.04184 0.0993 -0.0434 0.10069 C -0.04549 0.10277 -0.04792 0.10416 -0.05017 0.10625 C -0.05295 0.10902 -0.05538 0.11227 -0.05816 0.11527 C -0.06129 0.11852 -0.06875 0.12569 -0.0717 0.12777 C -0.07379 0.1294 -0.07639 0.12986 -0.07847 0.13148 C -0.08038 0.13287 -0.08212 0.13495 -0.08385 0.1368 C -0.08524 0.13796 -0.08663 0.13912 -0.08785 0.14051 C -0.09479 0.14815 -0.09115 0.14884 -0.10278 0.15671 L -0.11354 0.16389 C -0.11458 0.1662 -0.11476 0.16921 -0.11632 0.17106 C -0.11858 0.17361 -0.1217 0.175 -0.12448 0.17639 C -0.12934 0.17916 -0.13299 0.18009 -0.13785 0.18194 C -0.13924 0.1831 -0.14045 0.18449 -0.14201 0.18541 C -0.14392 0.1868 -0.14965 0.18842 -0.15139 0.18912 C -0.1533 0.19074 -0.15486 0.19305 -0.15677 0.19444 C -0.15851 0.1956 -0.16042 0.1956 -0.16233 0.19629 C -0.16493 0.19745 -0.16771 0.19838 -0.17031 0.19977 C -0.17222 0.20092 -0.17396 0.20254 -0.1757 0.20347 C -0.17882 0.20486 -0.18212 0.20555 -0.18524 0.20717 C -0.1967 0.21273 -0.18438 0.20833 -0.19601 0.21597 C -0.19774 0.21713 -0.19965 0.2169 -0.20139 0.21782 C -0.21406 0.22407 -0.19844 0.21967 -0.21493 0.22338 C -0.21684 0.22453 -0.2184 0.22592 -0.22031 0.22685 C -0.22257 0.22777 -0.22483 0.22824 -0.22708 0.2287 C -0.2316 0.22986 -0.23629 0.23032 -0.24063 0.23217 C -0.24288 0.23333 -0.24514 0.23472 -0.2474 0.23588 C -0.2592 0.24166 -0.25156 0.23773 -0.26094 0.2412 C -0.26233 0.2419 -0.26354 0.24259 -0.26493 0.24305 C -0.26771 0.24398 -0.27031 0.24421 -0.27309 0.2449 C -0.27448 0.2456 -0.27587 0.24606 -0.27708 0.24676 C -0.27934 0.24791 -0.2816 0.2493 -0.28385 0.25023 C -0.28559 0.25115 -0.2875 0.25139 -0.28924 0.25208 C -0.29063 0.25254 -0.29201 0.25347 -0.2934 0.25393 C -0.29514 0.25463 -0.29688 0.25509 -0.29879 0.25578 C -0.32031 0.26389 -0.27656 0.24838 -0.30955 0.25926 C -0.31094 0.25972 -0.31215 0.26111 -0.31354 0.26111 C -0.34115 0.26227 -0.36858 0.26227 -0.39601 0.26296 C -0.39792 0.26412 -0.39983 0.26504 -0.40139 0.26643 C -0.40521 0.27014 -0.41476 0.28773 -0.41493 0.28819 C -0.4158 0.29004 -0.41649 0.2919 -0.41771 0.29352 C -0.41927 0.2956 -0.42118 0.29722 -0.42309 0.29884 C -0.42517 0.31041 -0.42344 0.30416 -0.42986 0.3169 L -0.42986 0.3169 C -0.43021 0.31875 -0.43073 0.3206 -0.43125 0.32245 C -0.43177 0.32477 -0.43195 0.32731 -0.43247 0.32963 C -0.43316 0.33217 -0.43438 0.33449 -0.43524 0.3368 C -0.43576 0.34166 -0.43611 0.34629 -0.43663 0.35115 C -0.43698 0.35486 -0.43785 0.35833 -0.43785 0.36203 C -0.43785 0.36504 -0.43715 0.36805 -0.43663 0.37106 C -0.43629 0.37291 -0.43629 0.375 -0.43524 0.37639 C -0.4342 0.37777 -0.43247 0.37731 -0.43125 0.37824 C -0.42257 0.38402 -0.42674 0.38356 -0.41771 0.38727 C -0.41406 0.38865 -0.41042 0.38935 -0.40677 0.39074 C -0.40451 0.39166 -0.40243 0.39352 -0.40017 0.39444 C -0.39653 0.39583 -0.38924 0.39815 -0.38924 0.39815 L -0.3434 0.39629 C -0.33976 0.39606 -0.33594 0.39629 -0.33247 0.39444 C -0.32535 0.39074 -0.31233 0.38009 -0.31233 0.38009 C -0.31042 0.37639 -0.30764 0.37338 -0.30677 0.36921 C -0.30556 0.36227 -0.30538 0.35972 -0.30278 0.35301 C -0.30208 0.35115 -0.30104 0.3493 -0.30017 0.34768 C -0.29965 0.34213 -0.29879 0.3368 -0.29879 0.33148 C -0.29879 0.32546 -0.29948 0.31736 -0.30139 0.31157 C -0.30226 0.30902 -0.30313 0.30671 -0.30417 0.3044 C -0.30504 0.30254 -0.30608 0.30092 -0.30677 0.29884 C -0.30781 0.29652 -0.30799 0.29328 -0.30955 0.29166 C -0.31181 0.28935 -0.31493 0.28958 -0.31771 0.28819 C -0.32622 0.28356 -0.32205 0.28541 -0.32986 0.28264 C -0.3309 0.28287 -0.3632 0.28379 -0.3717 0.28634 C -0.37413 0.28703 -0.37622 0.28889 -0.37847 0.29004 C -0.37986 0.29051 -0.38125 0.2912 -0.38247 0.29166 C -0.38351 0.29352 -0.38403 0.2956 -0.38524 0.29722 C -0.38646 0.29861 -0.38854 0.29884 -0.38924 0.30069 C -0.39097 0.30509 -0.3908 0.31041 -0.39201 0.31504 L -0.3934 0.3206 C -0.39288 0.32477 -0.3934 0.3294 -0.39201 0.3331 C -0.39132 0.33495 -0.38941 0.33495 -0.38785 0.33495 C -0.38021 0.33495 -0.37257 0.33379 -0.36493 0.3331 C -0.36354 0.33264 -0.36198 0.33264 -0.36094 0.33148 C -0.3599 0.33009 -0.36024 0.32777 -0.35955 0.32592 C -0.3559 0.3162 -0.35677 0.32546 -0.35677 0.31342 L -0.35677 0.31157 " pathEditMode="relative" ptsTypes="AAAAAAAAAAAAAAAAAAAAAAAAAAAAAAAAAAAAAAAAAAAAAAAAAAAAAAAAAAAAAAAAAAAAAAAAAAAAAAAAAAAAAAAAAAA">
                                      <p:cBhvr>
                                        <p:cTn id="15" dur="2000" fill="hold"/>
                                        <p:tgtEl>
                                          <p:spTgt spid="6"/>
                                        </p:tgtEl>
                                        <p:attrNameLst>
                                          <p:attrName>ppt_x</p:attrName>
                                          <p:attrName>ppt_y</p:attrName>
                                        </p:attrNameLst>
                                      </p:cBhvr>
                                    </p:animMotion>
                                  </p:childTnLst>
                                </p:cTn>
                              </p:par>
                            </p:childTnLst>
                          </p:cTn>
                        </p:par>
                        <p:par>
                          <p:cTn id="16" fill="hold">
                            <p:stCondLst>
                              <p:cond delay="2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animEffect transition="in" filter="fade">
                                      <p:cBhvr>
                                        <p:cTn id="24" dur="500"/>
                                        <p:tgtEl>
                                          <p:spTgt spid="4">
                                            <p:txEl>
                                              <p:pRg st="1" end="1"/>
                                            </p:txEl>
                                          </p:spTgt>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
                                        <p:tgtEl>
                                          <p:spTgt spid="11"/>
                                        </p:tgtEl>
                                      </p:cBhvr>
                                    </p:animEffect>
                                  </p:childTnLst>
                                </p:cTn>
                              </p:par>
                            </p:childTnLst>
                          </p:cTn>
                        </p:par>
                        <p:par>
                          <p:cTn id="29" fill="hold">
                            <p:stCondLst>
                              <p:cond delay="600"/>
                            </p:stCondLst>
                            <p:childTnLst>
                              <p:par>
                                <p:cTn id="30" presetID="10" presetClass="entr" presetSubtype="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
                                        <p:tgtEl>
                                          <p:spTgt spid="8"/>
                                        </p:tgtEl>
                                      </p:cBhvr>
                                    </p:animEffect>
                                  </p:childTnLst>
                                </p:cTn>
                              </p:par>
                            </p:childTnLst>
                          </p:cTn>
                        </p:par>
                        <p:par>
                          <p:cTn id="33" fill="hold">
                            <p:stCondLst>
                              <p:cond delay="700"/>
                            </p:stCondLst>
                            <p:childTnLst>
                              <p:par>
                                <p:cTn id="34" presetID="10" presetClass="entr" presetSubtype="0"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
                                        <p:tgtEl>
                                          <p:spTgt spid="9"/>
                                        </p:tgtEl>
                                      </p:cBhvr>
                                    </p:animEffect>
                                  </p:childTnLst>
                                </p:cTn>
                              </p:par>
                            </p:childTnLst>
                          </p:cTn>
                        </p:par>
                        <p:par>
                          <p:cTn id="37" fill="hold">
                            <p:stCondLst>
                              <p:cond delay="800"/>
                            </p:stCondLst>
                            <p:childTnLst>
                              <p:par>
                                <p:cTn id="38" presetID="10" presetClass="entr" presetSubtype="0"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
                                        <p:tgtEl>
                                          <p:spTgt spid="10"/>
                                        </p:tgtEl>
                                      </p:cBhvr>
                                    </p:animEffect>
                                  </p:childTnLst>
                                </p:cTn>
                              </p:par>
                            </p:childTnLst>
                          </p:cTn>
                        </p:par>
                        <p:par>
                          <p:cTn id="41" fill="hold">
                            <p:stCondLst>
                              <p:cond delay="900"/>
                            </p:stCondLst>
                            <p:childTnLst>
                              <p:par>
                                <p:cTn id="42" presetID="10" presetClass="entr" presetSubtype="0"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100"/>
                                        <p:tgtEl>
                                          <p:spTgt spid="12"/>
                                        </p:tgtEl>
                                      </p:cBhvr>
                                    </p:animEffect>
                                  </p:childTnLst>
                                </p:cTn>
                              </p:par>
                            </p:childTnLst>
                          </p:cTn>
                        </p:par>
                        <p:par>
                          <p:cTn id="45" fill="hold">
                            <p:stCondLst>
                              <p:cond delay="1000"/>
                            </p:stCondLst>
                            <p:childTnLst>
                              <p:par>
                                <p:cTn id="46" presetID="10" presetClass="entr" presetSubtype="0" fill="hold"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
                                        <p:tgtEl>
                                          <p:spTgt spid="13"/>
                                        </p:tgtEl>
                                      </p:cBhvr>
                                    </p:animEffect>
                                  </p:childTnLst>
                                </p:cTn>
                              </p:par>
                            </p:childTnLst>
                          </p:cTn>
                        </p:par>
                        <p:par>
                          <p:cTn id="49" fill="hold">
                            <p:stCondLst>
                              <p:cond delay="1100"/>
                            </p:stCondLst>
                            <p:childTnLst>
                              <p:par>
                                <p:cTn id="50" presetID="10" presetClass="entr" presetSubtype="0" fill="hold" nodeType="after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100"/>
                                        <p:tgtEl>
                                          <p:spTgt spid="14"/>
                                        </p:tgtEl>
                                      </p:cBhvr>
                                    </p:animEffect>
                                  </p:childTnLst>
                                </p:cTn>
                              </p:par>
                            </p:childTnLst>
                          </p:cTn>
                        </p:par>
                        <p:par>
                          <p:cTn id="53" fill="hold">
                            <p:stCondLst>
                              <p:cond delay="1200"/>
                            </p:stCondLst>
                            <p:childTnLst>
                              <p:par>
                                <p:cTn id="54" presetID="10" presetClass="entr" presetSubtype="0"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100"/>
                                        <p:tgtEl>
                                          <p:spTgt spid="15"/>
                                        </p:tgtEl>
                                      </p:cBhvr>
                                    </p:animEffect>
                                  </p:childTnLst>
                                </p:cTn>
                              </p:par>
                            </p:childTnLst>
                          </p:cTn>
                        </p:par>
                        <p:par>
                          <p:cTn id="57" fill="hold">
                            <p:stCondLst>
                              <p:cond delay="1300"/>
                            </p:stCondLst>
                            <p:childTnLst>
                              <p:par>
                                <p:cTn id="58" presetID="10" presetClass="entr" presetSubtype="0"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100"/>
                                        <p:tgtEl>
                                          <p:spTgt spid="16"/>
                                        </p:tgtEl>
                                      </p:cBhvr>
                                    </p:animEffect>
                                  </p:childTnLst>
                                </p:cTn>
                              </p:par>
                            </p:childTnLst>
                          </p:cTn>
                        </p:par>
                        <p:par>
                          <p:cTn id="61" fill="hold">
                            <p:stCondLst>
                              <p:cond delay="1400"/>
                            </p:stCondLst>
                            <p:childTnLst>
                              <p:par>
                                <p:cTn id="62" presetID="10" presetClass="entr" presetSubtype="0" fill="hold" nodeType="after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100"/>
                                        <p:tgtEl>
                                          <p:spTgt spid="17"/>
                                        </p:tgtEl>
                                      </p:cBhvr>
                                    </p:animEffect>
                                  </p:childTnLst>
                                </p:cTn>
                              </p:par>
                            </p:childTnLst>
                          </p:cTn>
                        </p:par>
                        <p:par>
                          <p:cTn id="65" fill="hold">
                            <p:stCondLst>
                              <p:cond delay="1500"/>
                            </p:stCondLst>
                            <p:childTnLst>
                              <p:par>
                                <p:cTn id="66" presetID="10" presetClass="entr" presetSubtype="0" fill="hold"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100"/>
                                        <p:tgtEl>
                                          <p:spTgt spid="18"/>
                                        </p:tgtEl>
                                      </p:cBhvr>
                                    </p:animEffect>
                                  </p:childTnLst>
                                </p:cTn>
                              </p:par>
                            </p:childTnLst>
                          </p:cTn>
                        </p:par>
                        <p:par>
                          <p:cTn id="69" fill="hold">
                            <p:stCondLst>
                              <p:cond delay="1600"/>
                            </p:stCondLst>
                            <p:childTnLst>
                              <p:par>
                                <p:cTn id="70" presetID="10" presetClass="entr" presetSubtype="0" fill="hold" nodeType="after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100"/>
                                        <p:tgtEl>
                                          <p:spTgt spid="19"/>
                                        </p:tgtEl>
                                      </p:cBhvr>
                                    </p:animEffect>
                                  </p:childTnLst>
                                </p:cTn>
                              </p:par>
                            </p:childTnLst>
                          </p:cTn>
                        </p:par>
                        <p:par>
                          <p:cTn id="73" fill="hold">
                            <p:stCondLst>
                              <p:cond delay="1700"/>
                            </p:stCondLst>
                            <p:childTnLst>
                              <p:par>
                                <p:cTn id="74" presetID="10" presetClass="entr" presetSubtype="0" fill="hold"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100"/>
                                        <p:tgtEl>
                                          <p:spTgt spid="20"/>
                                        </p:tgtEl>
                                      </p:cBhvr>
                                    </p:animEffect>
                                  </p:childTnLst>
                                </p:cTn>
                              </p:par>
                            </p:childTnLst>
                          </p:cTn>
                        </p:par>
                        <p:par>
                          <p:cTn id="77" fill="hold">
                            <p:stCondLst>
                              <p:cond delay="1800"/>
                            </p:stCondLst>
                            <p:childTnLst>
                              <p:par>
                                <p:cTn id="78" presetID="10" presetClass="entr" presetSubtype="0" fill="hold" nodeType="after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100"/>
                                        <p:tgtEl>
                                          <p:spTgt spid="21"/>
                                        </p:tgtEl>
                                      </p:cBhvr>
                                    </p:animEffect>
                                  </p:childTnLst>
                                </p:cTn>
                              </p:par>
                            </p:childTnLst>
                          </p:cTn>
                        </p:par>
                        <p:par>
                          <p:cTn id="81" fill="hold">
                            <p:stCondLst>
                              <p:cond delay="1900"/>
                            </p:stCondLst>
                            <p:childTnLst>
                              <p:par>
                                <p:cTn id="82" presetID="10" presetClass="entr" presetSubtype="0" fill="hold" nodeType="after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100"/>
                                        <p:tgtEl>
                                          <p:spTgt spid="22"/>
                                        </p:tgtEl>
                                      </p:cBhvr>
                                    </p:animEffect>
                                  </p:childTnLst>
                                </p:cTn>
                              </p:par>
                            </p:childTnLst>
                          </p:cTn>
                        </p:par>
                        <p:par>
                          <p:cTn id="85" fill="hold">
                            <p:stCondLst>
                              <p:cond delay="2000"/>
                            </p:stCondLst>
                            <p:childTnLst>
                              <p:par>
                                <p:cTn id="86" presetID="10" presetClass="entr" presetSubtype="0" fill="hold"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100"/>
                                        <p:tgtEl>
                                          <p:spTgt spid="23"/>
                                        </p:tgtEl>
                                      </p:cBhvr>
                                    </p:animEffect>
                                  </p:childTnLst>
                                </p:cTn>
                              </p:par>
                            </p:childTnLst>
                          </p:cTn>
                        </p:par>
                        <p:par>
                          <p:cTn id="89" fill="hold">
                            <p:stCondLst>
                              <p:cond delay="2100"/>
                            </p:stCondLst>
                            <p:childTnLst>
                              <p:par>
                                <p:cTn id="90" presetID="10" presetClass="entr" presetSubtype="0" fill="hold" nodeType="after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100"/>
                                        <p:tgtEl>
                                          <p:spTgt spid="24"/>
                                        </p:tgtEl>
                                      </p:cBhvr>
                                    </p:animEffect>
                                  </p:childTnLst>
                                </p:cTn>
                              </p:par>
                            </p:childTnLst>
                          </p:cTn>
                        </p:par>
                        <p:par>
                          <p:cTn id="93" fill="hold">
                            <p:stCondLst>
                              <p:cond delay="2200"/>
                            </p:stCondLst>
                            <p:childTnLst>
                              <p:par>
                                <p:cTn id="94" presetID="10" presetClass="entr" presetSubtype="0" fill="hold" nodeType="after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100"/>
                                        <p:tgtEl>
                                          <p:spTgt spid="25"/>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4">
                                            <p:txEl>
                                              <p:pRg st="2" end="2"/>
                                            </p:txEl>
                                          </p:spTgt>
                                        </p:tgtEl>
                                        <p:attrNameLst>
                                          <p:attrName>style.visibility</p:attrName>
                                        </p:attrNameLst>
                                      </p:cBhvr>
                                      <p:to>
                                        <p:strVal val="visible"/>
                                      </p:to>
                                    </p:set>
                                    <p:animEffect transition="in" filter="fade">
                                      <p:cBhvr>
                                        <p:cTn id="101" dur="500"/>
                                        <p:tgtEl>
                                          <p:spTgt spid="4">
                                            <p:txEl>
                                              <p:pRg st="2" end="2"/>
                                            </p:txEl>
                                          </p:spTgt>
                                        </p:tgtEl>
                                      </p:cBhvr>
                                    </p:animEffect>
                                  </p:childTnLst>
                                </p:cTn>
                              </p:par>
                            </p:childTnLst>
                          </p:cTn>
                        </p:par>
                        <p:par>
                          <p:cTn id="102" fill="hold">
                            <p:stCondLst>
                              <p:cond delay="500"/>
                            </p:stCondLst>
                            <p:childTnLst>
                              <p:par>
                                <p:cTn id="103" presetID="10" presetClass="entr" presetSubtype="0" fill="hold" nodeType="after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5" dur="500"/>
                                        <p:tgtEl>
                                          <p:spTgt spid="2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4">
                                            <p:txEl>
                                              <p:pRg st="3" end="3"/>
                                            </p:txEl>
                                          </p:spTgt>
                                        </p:tgtEl>
                                        <p:attrNameLst>
                                          <p:attrName>style.visibility</p:attrName>
                                        </p:attrNameLst>
                                      </p:cBhvr>
                                      <p:to>
                                        <p:strVal val="visible"/>
                                      </p:to>
                                    </p:set>
                                    <p:animEffect transition="in" filter="fade">
                                      <p:cBhvr>
                                        <p:cTn id="110" dur="500"/>
                                        <p:tgtEl>
                                          <p:spTgt spid="4">
                                            <p:txEl>
                                              <p:pRg st="3" end="3"/>
                                            </p:txEl>
                                          </p:spTgt>
                                        </p:tgtEl>
                                      </p:cBhvr>
                                    </p:animEffect>
                                  </p:childTnLst>
                                </p:cTn>
                              </p:par>
                            </p:childTnLst>
                          </p:cTn>
                        </p:par>
                        <p:par>
                          <p:cTn id="111" fill="hold">
                            <p:stCondLst>
                              <p:cond delay="500"/>
                            </p:stCondLst>
                            <p:childTnLst>
                              <p:par>
                                <p:cTn id="112" presetID="1" presetClass="entr" presetSubtype="0" fill="hold" grpId="1" nodeType="afterEffect">
                                  <p:stCondLst>
                                    <p:cond delay="0"/>
                                  </p:stCondLst>
                                  <p:childTnLst>
                                    <p:set>
                                      <p:cBhvr>
                                        <p:cTn id="113" dur="1" fill="hold">
                                          <p:stCondLst>
                                            <p:cond delay="0"/>
                                          </p:stCondLst>
                                        </p:cTn>
                                        <p:tgtEl>
                                          <p:spTgt spid="95"/>
                                        </p:tgtEl>
                                        <p:attrNameLst>
                                          <p:attrName>style.visibility</p:attrName>
                                        </p:attrNameLst>
                                      </p:cBhvr>
                                      <p:to>
                                        <p:strVal val="visible"/>
                                      </p:to>
                                    </p:set>
                                  </p:childTnLst>
                                </p:cTn>
                              </p:par>
                              <p:par>
                                <p:cTn id="114" presetID="42" presetClass="path" presetSubtype="0" accel="50000" decel="50000" fill="hold" grpId="0" nodeType="withEffect">
                                  <p:stCondLst>
                                    <p:cond delay="0"/>
                                  </p:stCondLst>
                                  <p:childTnLst>
                                    <p:animMotion origin="layout" path="M 4.16667E-6 1.48148E-6 L 0.53177 -0.23866 " pathEditMode="relative" rAng="0" ptsTypes="AA">
                                      <p:cBhvr>
                                        <p:cTn id="115" dur="2000" fill="hold"/>
                                        <p:tgtEl>
                                          <p:spTgt spid="95"/>
                                        </p:tgtEl>
                                        <p:attrNameLst>
                                          <p:attrName>ppt_x</p:attrName>
                                          <p:attrName>ppt_y</p:attrName>
                                        </p:attrNameLst>
                                      </p:cBhvr>
                                      <p:rCtr x="26580" y="-11944"/>
                                    </p:animMotion>
                                  </p:childTnLst>
                                </p:cTn>
                              </p:par>
                            </p:childTnLst>
                          </p:cTn>
                        </p:par>
                        <p:par>
                          <p:cTn id="116" fill="hold">
                            <p:stCondLst>
                              <p:cond delay="2500"/>
                            </p:stCondLst>
                            <p:childTnLst>
                              <p:par>
                                <p:cTn id="117" presetID="10" presetClass="entr" presetSubtype="0" fill="hold" nodeType="afterEffect">
                                  <p:stCondLst>
                                    <p:cond delay="0"/>
                                  </p:stCondLst>
                                  <p:childTnLst>
                                    <p:set>
                                      <p:cBhvr>
                                        <p:cTn id="118" dur="1" fill="hold">
                                          <p:stCondLst>
                                            <p:cond delay="0"/>
                                          </p:stCondLst>
                                        </p:cTn>
                                        <p:tgtEl>
                                          <p:spTgt spid="27"/>
                                        </p:tgtEl>
                                        <p:attrNameLst>
                                          <p:attrName>style.visibility</p:attrName>
                                        </p:attrNameLst>
                                      </p:cBhvr>
                                      <p:to>
                                        <p:strVal val="visible"/>
                                      </p:to>
                                    </p:set>
                                    <p:animEffect transition="in" filter="fade">
                                      <p:cBhvr>
                                        <p:cTn id="119" dur="100"/>
                                        <p:tgtEl>
                                          <p:spTgt spid="2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94"/>
                                        </p:tgtEl>
                                        <p:attrNameLst>
                                          <p:attrName>style.visibility</p:attrName>
                                        </p:attrNameLst>
                                      </p:cBhvr>
                                      <p:to>
                                        <p:strVal val="visible"/>
                                      </p:to>
                                    </p:set>
                                    <p:animEffect transition="in" filter="fade">
                                      <p:cBhvr>
                                        <p:cTn id="122" dur="100"/>
                                        <p:tgtEl>
                                          <p:spTgt spid="94"/>
                                        </p:tgtEl>
                                      </p:cBhvr>
                                    </p:animEffect>
                                  </p:childTnLst>
                                </p:cTn>
                              </p:par>
                            </p:childTnLst>
                          </p:cTn>
                        </p:par>
                        <p:par>
                          <p:cTn id="123" fill="hold">
                            <p:stCondLst>
                              <p:cond delay="2600"/>
                            </p:stCondLst>
                            <p:childTnLst>
                              <p:par>
                                <p:cTn id="124" presetID="10" presetClass="entr" presetSubtype="0" fill="hold" nodeType="afterEffect">
                                  <p:stCondLst>
                                    <p:cond delay="0"/>
                                  </p:stCondLst>
                                  <p:childTnLst>
                                    <p:set>
                                      <p:cBhvr>
                                        <p:cTn id="125" dur="1" fill="hold">
                                          <p:stCondLst>
                                            <p:cond delay="0"/>
                                          </p:stCondLst>
                                        </p:cTn>
                                        <p:tgtEl>
                                          <p:spTgt spid="41"/>
                                        </p:tgtEl>
                                        <p:attrNameLst>
                                          <p:attrName>style.visibility</p:attrName>
                                        </p:attrNameLst>
                                      </p:cBhvr>
                                      <p:to>
                                        <p:strVal val="visible"/>
                                      </p:to>
                                    </p:set>
                                    <p:animEffect transition="in" filter="fade">
                                      <p:cBhvr>
                                        <p:cTn id="126" dur="100"/>
                                        <p:tgtEl>
                                          <p:spTgt spid="41"/>
                                        </p:tgtEl>
                                      </p:cBhvr>
                                    </p:animEffect>
                                  </p:childTnLst>
                                </p:cTn>
                              </p:par>
                            </p:childTnLst>
                          </p:cTn>
                        </p:par>
                        <p:par>
                          <p:cTn id="127" fill="hold">
                            <p:stCondLst>
                              <p:cond delay="2700"/>
                            </p:stCondLst>
                            <p:childTnLst>
                              <p:par>
                                <p:cTn id="128" presetID="10" presetClass="entr" presetSubtype="0" fill="hold" nodeType="after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100"/>
                                        <p:tgtEl>
                                          <p:spTgt spid="35"/>
                                        </p:tgtEl>
                                      </p:cBhvr>
                                    </p:animEffect>
                                  </p:childTnLst>
                                </p:cTn>
                              </p:par>
                            </p:childTnLst>
                          </p:cTn>
                        </p:par>
                        <p:par>
                          <p:cTn id="131" fill="hold">
                            <p:stCondLst>
                              <p:cond delay="2800"/>
                            </p:stCondLst>
                            <p:childTnLst>
                              <p:par>
                                <p:cTn id="132" presetID="10" presetClass="entr" presetSubtype="0" fill="hold" nodeType="afterEffect">
                                  <p:stCondLst>
                                    <p:cond delay="0"/>
                                  </p:stCondLst>
                                  <p:childTnLst>
                                    <p:set>
                                      <p:cBhvr>
                                        <p:cTn id="133" dur="1" fill="hold">
                                          <p:stCondLst>
                                            <p:cond delay="0"/>
                                          </p:stCondLst>
                                        </p:cTn>
                                        <p:tgtEl>
                                          <p:spTgt spid="28"/>
                                        </p:tgtEl>
                                        <p:attrNameLst>
                                          <p:attrName>style.visibility</p:attrName>
                                        </p:attrNameLst>
                                      </p:cBhvr>
                                      <p:to>
                                        <p:strVal val="visible"/>
                                      </p:to>
                                    </p:set>
                                    <p:animEffect transition="in" filter="fade">
                                      <p:cBhvr>
                                        <p:cTn id="134" dur="100"/>
                                        <p:tgtEl>
                                          <p:spTgt spid="28"/>
                                        </p:tgtEl>
                                      </p:cBhvr>
                                    </p:animEffect>
                                  </p:childTnLst>
                                </p:cTn>
                              </p:par>
                            </p:childTnLst>
                          </p:cTn>
                        </p:par>
                        <p:par>
                          <p:cTn id="135" fill="hold">
                            <p:stCondLst>
                              <p:cond delay="2900"/>
                            </p:stCondLst>
                            <p:childTnLst>
                              <p:par>
                                <p:cTn id="136" presetID="10" presetClass="entr" presetSubtype="0" fill="hold" nodeType="afterEffect">
                                  <p:stCondLst>
                                    <p:cond delay="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00"/>
                                        <p:tgtEl>
                                          <p:spTgt spid="29"/>
                                        </p:tgtEl>
                                      </p:cBhvr>
                                    </p:animEffect>
                                  </p:childTnLst>
                                </p:cTn>
                              </p:par>
                            </p:childTnLst>
                          </p:cTn>
                        </p:par>
                        <p:par>
                          <p:cTn id="139" fill="hold">
                            <p:stCondLst>
                              <p:cond delay="3000"/>
                            </p:stCondLst>
                            <p:childTnLst>
                              <p:par>
                                <p:cTn id="140" presetID="10" presetClass="entr" presetSubtype="0" fill="hold" nodeType="after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100"/>
                                        <p:tgtEl>
                                          <p:spTgt spid="30"/>
                                        </p:tgtEl>
                                      </p:cBhvr>
                                    </p:animEffect>
                                  </p:childTnLst>
                                </p:cTn>
                              </p:par>
                            </p:childTnLst>
                          </p:cTn>
                        </p:par>
                        <p:par>
                          <p:cTn id="143" fill="hold">
                            <p:stCondLst>
                              <p:cond delay="3100"/>
                            </p:stCondLst>
                            <p:childTnLst>
                              <p:par>
                                <p:cTn id="144" presetID="10" presetClass="entr" presetSubtype="0" fill="hold" nodeType="afterEffect">
                                  <p:stCondLst>
                                    <p:cond delay="0"/>
                                  </p:stCondLst>
                                  <p:childTnLst>
                                    <p:set>
                                      <p:cBhvr>
                                        <p:cTn id="145" dur="1" fill="hold">
                                          <p:stCondLst>
                                            <p:cond delay="0"/>
                                          </p:stCondLst>
                                        </p:cTn>
                                        <p:tgtEl>
                                          <p:spTgt spid="31"/>
                                        </p:tgtEl>
                                        <p:attrNameLst>
                                          <p:attrName>style.visibility</p:attrName>
                                        </p:attrNameLst>
                                      </p:cBhvr>
                                      <p:to>
                                        <p:strVal val="visible"/>
                                      </p:to>
                                    </p:set>
                                    <p:animEffect transition="in" filter="fade">
                                      <p:cBhvr>
                                        <p:cTn id="146" dur="100"/>
                                        <p:tgtEl>
                                          <p:spTgt spid="31"/>
                                        </p:tgtEl>
                                      </p:cBhvr>
                                    </p:animEffect>
                                  </p:childTnLst>
                                </p:cTn>
                              </p:par>
                            </p:childTnLst>
                          </p:cTn>
                        </p:par>
                        <p:par>
                          <p:cTn id="147" fill="hold">
                            <p:stCondLst>
                              <p:cond delay="3200"/>
                            </p:stCondLst>
                            <p:childTnLst>
                              <p:par>
                                <p:cTn id="148" presetID="10" presetClass="entr" presetSubtype="0" fill="hold" nodeType="after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100"/>
                                        <p:tgtEl>
                                          <p:spTgt spid="32"/>
                                        </p:tgtEl>
                                      </p:cBhvr>
                                    </p:animEffect>
                                  </p:childTnLst>
                                </p:cTn>
                              </p:par>
                            </p:childTnLst>
                          </p:cTn>
                        </p:par>
                        <p:par>
                          <p:cTn id="151" fill="hold">
                            <p:stCondLst>
                              <p:cond delay="3300"/>
                            </p:stCondLst>
                            <p:childTnLst>
                              <p:par>
                                <p:cTn id="152" presetID="10" presetClass="entr" presetSubtype="0" fill="hold" nodeType="afterEffect">
                                  <p:stCondLst>
                                    <p:cond delay="0"/>
                                  </p:stCondLst>
                                  <p:childTnLst>
                                    <p:set>
                                      <p:cBhvr>
                                        <p:cTn id="153" dur="1" fill="hold">
                                          <p:stCondLst>
                                            <p:cond delay="0"/>
                                          </p:stCondLst>
                                        </p:cTn>
                                        <p:tgtEl>
                                          <p:spTgt spid="33"/>
                                        </p:tgtEl>
                                        <p:attrNameLst>
                                          <p:attrName>style.visibility</p:attrName>
                                        </p:attrNameLst>
                                      </p:cBhvr>
                                      <p:to>
                                        <p:strVal val="visible"/>
                                      </p:to>
                                    </p:set>
                                    <p:animEffect transition="in" filter="fade">
                                      <p:cBhvr>
                                        <p:cTn id="154" dur="100"/>
                                        <p:tgtEl>
                                          <p:spTgt spid="33"/>
                                        </p:tgtEl>
                                      </p:cBhvr>
                                    </p:animEffect>
                                  </p:childTnLst>
                                </p:cTn>
                              </p:par>
                            </p:childTnLst>
                          </p:cTn>
                        </p:par>
                        <p:par>
                          <p:cTn id="155" fill="hold">
                            <p:stCondLst>
                              <p:cond delay="3400"/>
                            </p:stCondLst>
                            <p:childTnLst>
                              <p:par>
                                <p:cTn id="156" presetID="10" presetClass="entr" presetSubtype="0" fill="hold" nodeType="afterEffect">
                                  <p:stCondLst>
                                    <p:cond delay="0"/>
                                  </p:stCondLst>
                                  <p:childTnLst>
                                    <p:set>
                                      <p:cBhvr>
                                        <p:cTn id="157" dur="1" fill="hold">
                                          <p:stCondLst>
                                            <p:cond delay="0"/>
                                          </p:stCondLst>
                                        </p:cTn>
                                        <p:tgtEl>
                                          <p:spTgt spid="34"/>
                                        </p:tgtEl>
                                        <p:attrNameLst>
                                          <p:attrName>style.visibility</p:attrName>
                                        </p:attrNameLst>
                                      </p:cBhvr>
                                      <p:to>
                                        <p:strVal val="visible"/>
                                      </p:to>
                                    </p:set>
                                    <p:animEffect transition="in" filter="fade">
                                      <p:cBhvr>
                                        <p:cTn id="158" dur="100"/>
                                        <p:tgtEl>
                                          <p:spTgt spid="34"/>
                                        </p:tgtEl>
                                      </p:cBhvr>
                                    </p:animEffect>
                                  </p:childTnLst>
                                </p:cTn>
                              </p:par>
                            </p:childTnLst>
                          </p:cTn>
                        </p:par>
                        <p:par>
                          <p:cTn id="159" fill="hold">
                            <p:stCondLst>
                              <p:cond delay="3500"/>
                            </p:stCondLst>
                            <p:childTnLst>
                              <p:par>
                                <p:cTn id="160" presetID="10" presetClass="entr" presetSubtype="0" fill="hold" nodeType="afterEffect">
                                  <p:stCondLst>
                                    <p:cond delay="0"/>
                                  </p:stCondLst>
                                  <p:childTnLst>
                                    <p:set>
                                      <p:cBhvr>
                                        <p:cTn id="161" dur="1" fill="hold">
                                          <p:stCondLst>
                                            <p:cond delay="0"/>
                                          </p:stCondLst>
                                        </p:cTn>
                                        <p:tgtEl>
                                          <p:spTgt spid="36"/>
                                        </p:tgtEl>
                                        <p:attrNameLst>
                                          <p:attrName>style.visibility</p:attrName>
                                        </p:attrNameLst>
                                      </p:cBhvr>
                                      <p:to>
                                        <p:strVal val="visible"/>
                                      </p:to>
                                    </p:set>
                                    <p:animEffect transition="in" filter="fade">
                                      <p:cBhvr>
                                        <p:cTn id="162" dur="100"/>
                                        <p:tgtEl>
                                          <p:spTgt spid="36"/>
                                        </p:tgtEl>
                                      </p:cBhvr>
                                    </p:animEffect>
                                  </p:childTnLst>
                                </p:cTn>
                              </p:par>
                            </p:childTnLst>
                          </p:cTn>
                        </p:par>
                        <p:par>
                          <p:cTn id="163" fill="hold">
                            <p:stCondLst>
                              <p:cond delay="3600"/>
                            </p:stCondLst>
                            <p:childTnLst>
                              <p:par>
                                <p:cTn id="164" presetID="10" presetClass="entr" presetSubtype="0" fill="hold" nodeType="afterEffect">
                                  <p:stCondLst>
                                    <p:cond delay="0"/>
                                  </p:stCondLst>
                                  <p:childTnLst>
                                    <p:set>
                                      <p:cBhvr>
                                        <p:cTn id="165" dur="1" fill="hold">
                                          <p:stCondLst>
                                            <p:cond delay="0"/>
                                          </p:stCondLst>
                                        </p:cTn>
                                        <p:tgtEl>
                                          <p:spTgt spid="37"/>
                                        </p:tgtEl>
                                        <p:attrNameLst>
                                          <p:attrName>style.visibility</p:attrName>
                                        </p:attrNameLst>
                                      </p:cBhvr>
                                      <p:to>
                                        <p:strVal val="visible"/>
                                      </p:to>
                                    </p:set>
                                    <p:animEffect transition="in" filter="fade">
                                      <p:cBhvr>
                                        <p:cTn id="166" dur="100"/>
                                        <p:tgtEl>
                                          <p:spTgt spid="37"/>
                                        </p:tgtEl>
                                      </p:cBhvr>
                                    </p:animEffect>
                                  </p:childTnLst>
                                </p:cTn>
                              </p:par>
                            </p:childTnLst>
                          </p:cTn>
                        </p:par>
                        <p:par>
                          <p:cTn id="167" fill="hold">
                            <p:stCondLst>
                              <p:cond delay="3700"/>
                            </p:stCondLst>
                            <p:childTnLst>
                              <p:par>
                                <p:cTn id="168" presetID="10" presetClass="entr" presetSubtype="0" fill="hold" nodeType="afterEffect">
                                  <p:stCondLst>
                                    <p:cond delay="0"/>
                                  </p:stCondLst>
                                  <p:childTnLst>
                                    <p:set>
                                      <p:cBhvr>
                                        <p:cTn id="169" dur="1" fill="hold">
                                          <p:stCondLst>
                                            <p:cond delay="0"/>
                                          </p:stCondLst>
                                        </p:cTn>
                                        <p:tgtEl>
                                          <p:spTgt spid="40"/>
                                        </p:tgtEl>
                                        <p:attrNameLst>
                                          <p:attrName>style.visibility</p:attrName>
                                        </p:attrNameLst>
                                      </p:cBhvr>
                                      <p:to>
                                        <p:strVal val="visible"/>
                                      </p:to>
                                    </p:set>
                                    <p:animEffect transition="in" filter="fade">
                                      <p:cBhvr>
                                        <p:cTn id="170" dur="100"/>
                                        <p:tgtEl>
                                          <p:spTgt spid="40"/>
                                        </p:tgtEl>
                                      </p:cBhvr>
                                    </p:animEffect>
                                  </p:childTnLst>
                                </p:cTn>
                              </p:par>
                            </p:childTnLst>
                          </p:cTn>
                        </p:par>
                        <p:par>
                          <p:cTn id="171" fill="hold">
                            <p:stCondLst>
                              <p:cond delay="3800"/>
                            </p:stCondLst>
                            <p:childTnLst>
                              <p:par>
                                <p:cTn id="172" presetID="10" presetClass="entr" presetSubtype="0" fill="hold" nodeType="afterEffect">
                                  <p:stCondLst>
                                    <p:cond delay="0"/>
                                  </p:stCondLst>
                                  <p:childTnLst>
                                    <p:set>
                                      <p:cBhvr>
                                        <p:cTn id="173" dur="1" fill="hold">
                                          <p:stCondLst>
                                            <p:cond delay="0"/>
                                          </p:stCondLst>
                                        </p:cTn>
                                        <p:tgtEl>
                                          <p:spTgt spid="39"/>
                                        </p:tgtEl>
                                        <p:attrNameLst>
                                          <p:attrName>style.visibility</p:attrName>
                                        </p:attrNameLst>
                                      </p:cBhvr>
                                      <p:to>
                                        <p:strVal val="visible"/>
                                      </p:to>
                                    </p:set>
                                    <p:animEffect transition="in" filter="fade">
                                      <p:cBhvr>
                                        <p:cTn id="174" dur="100"/>
                                        <p:tgtEl>
                                          <p:spTgt spid="39"/>
                                        </p:tgtEl>
                                      </p:cBhvr>
                                    </p:animEffect>
                                  </p:childTnLst>
                                </p:cTn>
                              </p:par>
                            </p:childTnLst>
                          </p:cTn>
                        </p:par>
                        <p:par>
                          <p:cTn id="175" fill="hold">
                            <p:stCondLst>
                              <p:cond delay="3900"/>
                            </p:stCondLst>
                            <p:childTnLst>
                              <p:par>
                                <p:cTn id="176" presetID="10" presetClass="entr" presetSubtype="0" fill="hold" nodeType="afterEffect">
                                  <p:stCondLst>
                                    <p:cond delay="0"/>
                                  </p:stCondLst>
                                  <p:childTnLst>
                                    <p:set>
                                      <p:cBhvr>
                                        <p:cTn id="177" dur="1" fill="hold">
                                          <p:stCondLst>
                                            <p:cond delay="0"/>
                                          </p:stCondLst>
                                        </p:cTn>
                                        <p:tgtEl>
                                          <p:spTgt spid="38"/>
                                        </p:tgtEl>
                                        <p:attrNameLst>
                                          <p:attrName>style.visibility</p:attrName>
                                        </p:attrNameLst>
                                      </p:cBhvr>
                                      <p:to>
                                        <p:strVal val="visible"/>
                                      </p:to>
                                    </p:set>
                                    <p:animEffect transition="in" filter="fade">
                                      <p:cBhvr>
                                        <p:cTn id="178" dur="100"/>
                                        <p:tgtEl>
                                          <p:spTgt spid="38"/>
                                        </p:tgtEl>
                                      </p:cBhvr>
                                    </p:animEffect>
                                  </p:childTnLst>
                                </p:cTn>
                              </p:par>
                            </p:childTnLst>
                          </p:cTn>
                        </p:par>
                        <p:par>
                          <p:cTn id="179" fill="hold">
                            <p:stCondLst>
                              <p:cond delay="4000"/>
                            </p:stCondLst>
                            <p:childTnLst>
                              <p:par>
                                <p:cTn id="180" presetID="10" presetClass="entr" presetSubtype="0" fill="hold" nodeType="afterEffect">
                                  <p:stCondLst>
                                    <p:cond delay="0"/>
                                  </p:stCondLst>
                                  <p:childTnLst>
                                    <p:set>
                                      <p:cBhvr>
                                        <p:cTn id="181" dur="1" fill="hold">
                                          <p:stCondLst>
                                            <p:cond delay="0"/>
                                          </p:stCondLst>
                                        </p:cTn>
                                        <p:tgtEl>
                                          <p:spTgt spid="42"/>
                                        </p:tgtEl>
                                        <p:attrNameLst>
                                          <p:attrName>style.visibility</p:attrName>
                                        </p:attrNameLst>
                                      </p:cBhvr>
                                      <p:to>
                                        <p:strVal val="visible"/>
                                      </p:to>
                                    </p:set>
                                    <p:animEffect transition="in" filter="fade">
                                      <p:cBhvr>
                                        <p:cTn id="182" dur="100"/>
                                        <p:tgtEl>
                                          <p:spTgt spid="42"/>
                                        </p:tgtEl>
                                      </p:cBhvr>
                                    </p:animEffect>
                                  </p:childTnLst>
                                </p:cTn>
                              </p:par>
                            </p:childTnLst>
                          </p:cTn>
                        </p:par>
                        <p:par>
                          <p:cTn id="183" fill="hold">
                            <p:stCondLst>
                              <p:cond delay="4100"/>
                            </p:stCondLst>
                            <p:childTnLst>
                              <p:par>
                                <p:cTn id="184" presetID="10" presetClass="entr" presetSubtype="0" fill="hold" nodeType="afterEffect">
                                  <p:stCondLst>
                                    <p:cond delay="0"/>
                                  </p:stCondLst>
                                  <p:childTnLst>
                                    <p:set>
                                      <p:cBhvr>
                                        <p:cTn id="185" dur="1" fill="hold">
                                          <p:stCondLst>
                                            <p:cond delay="0"/>
                                          </p:stCondLst>
                                        </p:cTn>
                                        <p:tgtEl>
                                          <p:spTgt spid="43"/>
                                        </p:tgtEl>
                                        <p:attrNameLst>
                                          <p:attrName>style.visibility</p:attrName>
                                        </p:attrNameLst>
                                      </p:cBhvr>
                                      <p:to>
                                        <p:strVal val="visible"/>
                                      </p:to>
                                    </p:set>
                                    <p:animEffect transition="in" filter="fade">
                                      <p:cBhvr>
                                        <p:cTn id="186" dur="100"/>
                                        <p:tgtEl>
                                          <p:spTgt spid="43"/>
                                        </p:tgtEl>
                                      </p:cBhvr>
                                    </p:animEffect>
                                  </p:childTnLst>
                                </p:cTn>
                              </p:par>
                            </p:childTnLst>
                          </p:cTn>
                        </p:par>
                        <p:par>
                          <p:cTn id="187" fill="hold">
                            <p:stCondLst>
                              <p:cond delay="4200"/>
                            </p:stCondLst>
                            <p:childTnLst>
                              <p:par>
                                <p:cTn id="188" presetID="10" presetClass="entr" presetSubtype="0" fill="hold" nodeType="afterEffect">
                                  <p:stCondLst>
                                    <p:cond delay="0"/>
                                  </p:stCondLst>
                                  <p:childTnLst>
                                    <p:set>
                                      <p:cBhvr>
                                        <p:cTn id="189" dur="1" fill="hold">
                                          <p:stCondLst>
                                            <p:cond delay="0"/>
                                          </p:stCondLst>
                                        </p:cTn>
                                        <p:tgtEl>
                                          <p:spTgt spid="44"/>
                                        </p:tgtEl>
                                        <p:attrNameLst>
                                          <p:attrName>style.visibility</p:attrName>
                                        </p:attrNameLst>
                                      </p:cBhvr>
                                      <p:to>
                                        <p:strVal val="visible"/>
                                      </p:to>
                                    </p:set>
                                    <p:animEffect transition="in" filter="fade">
                                      <p:cBhvr>
                                        <p:cTn id="190" dur="100"/>
                                        <p:tgtEl>
                                          <p:spTgt spid="44"/>
                                        </p:tgtEl>
                                      </p:cBhvr>
                                    </p:animEffect>
                                  </p:childTnLst>
                                </p:cTn>
                              </p:par>
                            </p:childTnLst>
                          </p:cTn>
                        </p:par>
                        <p:par>
                          <p:cTn id="191" fill="hold">
                            <p:stCondLst>
                              <p:cond delay="4300"/>
                            </p:stCondLst>
                            <p:childTnLst>
                              <p:par>
                                <p:cTn id="192" presetID="22" presetClass="entr" presetSubtype="1" fill="hold" nodeType="afterEffect">
                                  <p:stCondLst>
                                    <p:cond delay="0"/>
                                  </p:stCondLst>
                                  <p:childTnLst>
                                    <p:set>
                                      <p:cBhvr>
                                        <p:cTn id="193" dur="1" fill="hold">
                                          <p:stCondLst>
                                            <p:cond delay="0"/>
                                          </p:stCondLst>
                                        </p:cTn>
                                        <p:tgtEl>
                                          <p:spTgt spid="46"/>
                                        </p:tgtEl>
                                        <p:attrNameLst>
                                          <p:attrName>style.visibility</p:attrName>
                                        </p:attrNameLst>
                                      </p:cBhvr>
                                      <p:to>
                                        <p:strVal val="visible"/>
                                      </p:to>
                                    </p:set>
                                    <p:animEffect transition="in" filter="wipe(up)">
                                      <p:cBhvr>
                                        <p:cTn id="194" dur="500"/>
                                        <p:tgtEl>
                                          <p:spTgt spid="46"/>
                                        </p:tgtEl>
                                      </p:cBhvr>
                                    </p:animEffect>
                                  </p:childTnLst>
                                </p:cTn>
                              </p:par>
                              <p:par>
                                <p:cTn id="195" presetID="22" presetClass="entr" presetSubtype="1" fill="hold" nodeType="withEffect">
                                  <p:stCondLst>
                                    <p:cond delay="0"/>
                                  </p:stCondLst>
                                  <p:childTnLst>
                                    <p:set>
                                      <p:cBhvr>
                                        <p:cTn id="196" dur="1" fill="hold">
                                          <p:stCondLst>
                                            <p:cond delay="0"/>
                                          </p:stCondLst>
                                        </p:cTn>
                                        <p:tgtEl>
                                          <p:spTgt spid="49"/>
                                        </p:tgtEl>
                                        <p:attrNameLst>
                                          <p:attrName>style.visibility</p:attrName>
                                        </p:attrNameLst>
                                      </p:cBhvr>
                                      <p:to>
                                        <p:strVal val="visible"/>
                                      </p:to>
                                    </p:set>
                                    <p:animEffect transition="in" filter="wipe(up)">
                                      <p:cBhvr>
                                        <p:cTn id="197" dur="500"/>
                                        <p:tgtEl>
                                          <p:spTgt spid="49"/>
                                        </p:tgtEl>
                                      </p:cBhvr>
                                    </p:animEffect>
                                  </p:childTnLst>
                                </p:cTn>
                              </p:par>
                              <p:par>
                                <p:cTn id="198" presetID="22" presetClass="entr" presetSubtype="1" fill="hold" nodeType="withEffect">
                                  <p:stCondLst>
                                    <p:cond delay="0"/>
                                  </p:stCondLst>
                                  <p:childTnLst>
                                    <p:set>
                                      <p:cBhvr>
                                        <p:cTn id="199" dur="1" fill="hold">
                                          <p:stCondLst>
                                            <p:cond delay="0"/>
                                          </p:stCondLst>
                                        </p:cTn>
                                        <p:tgtEl>
                                          <p:spTgt spid="50"/>
                                        </p:tgtEl>
                                        <p:attrNameLst>
                                          <p:attrName>style.visibility</p:attrName>
                                        </p:attrNameLst>
                                      </p:cBhvr>
                                      <p:to>
                                        <p:strVal val="visible"/>
                                      </p:to>
                                    </p:set>
                                    <p:animEffect transition="in" filter="wipe(up)">
                                      <p:cBhvr>
                                        <p:cTn id="200" dur="500"/>
                                        <p:tgtEl>
                                          <p:spTgt spid="50"/>
                                        </p:tgtEl>
                                      </p:cBhvr>
                                    </p:animEffect>
                                  </p:childTnLst>
                                </p:cTn>
                              </p:par>
                              <p:par>
                                <p:cTn id="201" presetID="22" presetClass="entr" presetSubtype="1" fill="hold" nodeType="withEffect">
                                  <p:stCondLst>
                                    <p:cond delay="0"/>
                                  </p:stCondLst>
                                  <p:childTnLst>
                                    <p:set>
                                      <p:cBhvr>
                                        <p:cTn id="202" dur="1" fill="hold">
                                          <p:stCondLst>
                                            <p:cond delay="0"/>
                                          </p:stCondLst>
                                        </p:cTn>
                                        <p:tgtEl>
                                          <p:spTgt spid="51"/>
                                        </p:tgtEl>
                                        <p:attrNameLst>
                                          <p:attrName>style.visibility</p:attrName>
                                        </p:attrNameLst>
                                      </p:cBhvr>
                                      <p:to>
                                        <p:strVal val="visible"/>
                                      </p:to>
                                    </p:set>
                                    <p:animEffect transition="in" filter="wipe(up)">
                                      <p:cBhvr>
                                        <p:cTn id="203" dur="500"/>
                                        <p:tgtEl>
                                          <p:spTgt spid="51"/>
                                        </p:tgtEl>
                                      </p:cBhvr>
                                    </p:animEffect>
                                  </p:childTnLst>
                                </p:cTn>
                              </p:par>
                              <p:par>
                                <p:cTn id="204" presetID="22" presetClass="entr" presetSubtype="1" fill="hold" nodeType="withEffect">
                                  <p:stCondLst>
                                    <p:cond delay="0"/>
                                  </p:stCondLst>
                                  <p:childTnLst>
                                    <p:set>
                                      <p:cBhvr>
                                        <p:cTn id="205" dur="1" fill="hold">
                                          <p:stCondLst>
                                            <p:cond delay="0"/>
                                          </p:stCondLst>
                                        </p:cTn>
                                        <p:tgtEl>
                                          <p:spTgt spid="52"/>
                                        </p:tgtEl>
                                        <p:attrNameLst>
                                          <p:attrName>style.visibility</p:attrName>
                                        </p:attrNameLst>
                                      </p:cBhvr>
                                      <p:to>
                                        <p:strVal val="visible"/>
                                      </p:to>
                                    </p:set>
                                    <p:animEffect transition="in" filter="wipe(up)">
                                      <p:cBhvr>
                                        <p:cTn id="206" dur="500"/>
                                        <p:tgtEl>
                                          <p:spTgt spid="52"/>
                                        </p:tgtEl>
                                      </p:cBhvr>
                                    </p:animEffect>
                                  </p:childTnLst>
                                </p:cTn>
                              </p:par>
                              <p:par>
                                <p:cTn id="207" presetID="22" presetClass="entr" presetSubtype="1" fill="hold" nodeType="withEffect">
                                  <p:stCondLst>
                                    <p:cond delay="0"/>
                                  </p:stCondLst>
                                  <p:childTnLst>
                                    <p:set>
                                      <p:cBhvr>
                                        <p:cTn id="208" dur="1" fill="hold">
                                          <p:stCondLst>
                                            <p:cond delay="0"/>
                                          </p:stCondLst>
                                        </p:cTn>
                                        <p:tgtEl>
                                          <p:spTgt spid="53"/>
                                        </p:tgtEl>
                                        <p:attrNameLst>
                                          <p:attrName>style.visibility</p:attrName>
                                        </p:attrNameLst>
                                      </p:cBhvr>
                                      <p:to>
                                        <p:strVal val="visible"/>
                                      </p:to>
                                    </p:set>
                                    <p:animEffect transition="in" filter="wipe(up)">
                                      <p:cBhvr>
                                        <p:cTn id="209" dur="500"/>
                                        <p:tgtEl>
                                          <p:spTgt spid="53"/>
                                        </p:tgtEl>
                                      </p:cBhvr>
                                    </p:animEffect>
                                  </p:childTnLst>
                                </p:cTn>
                              </p:par>
                              <p:par>
                                <p:cTn id="210" presetID="22" presetClass="entr" presetSubtype="1" fill="hold" nodeType="withEffect">
                                  <p:stCondLst>
                                    <p:cond delay="0"/>
                                  </p:stCondLst>
                                  <p:childTnLst>
                                    <p:set>
                                      <p:cBhvr>
                                        <p:cTn id="211" dur="1" fill="hold">
                                          <p:stCondLst>
                                            <p:cond delay="0"/>
                                          </p:stCondLst>
                                        </p:cTn>
                                        <p:tgtEl>
                                          <p:spTgt spid="54"/>
                                        </p:tgtEl>
                                        <p:attrNameLst>
                                          <p:attrName>style.visibility</p:attrName>
                                        </p:attrNameLst>
                                      </p:cBhvr>
                                      <p:to>
                                        <p:strVal val="visible"/>
                                      </p:to>
                                    </p:set>
                                    <p:animEffect transition="in" filter="wipe(up)">
                                      <p:cBhvr>
                                        <p:cTn id="212" dur="500"/>
                                        <p:tgtEl>
                                          <p:spTgt spid="54"/>
                                        </p:tgtEl>
                                      </p:cBhvr>
                                    </p:animEffect>
                                  </p:childTnLst>
                                </p:cTn>
                              </p:par>
                              <p:par>
                                <p:cTn id="213" presetID="22" presetClass="entr" presetSubtype="1" fill="hold" nodeType="withEffect">
                                  <p:stCondLst>
                                    <p:cond delay="0"/>
                                  </p:stCondLst>
                                  <p:childTnLst>
                                    <p:set>
                                      <p:cBhvr>
                                        <p:cTn id="214" dur="1" fill="hold">
                                          <p:stCondLst>
                                            <p:cond delay="0"/>
                                          </p:stCondLst>
                                        </p:cTn>
                                        <p:tgtEl>
                                          <p:spTgt spid="55"/>
                                        </p:tgtEl>
                                        <p:attrNameLst>
                                          <p:attrName>style.visibility</p:attrName>
                                        </p:attrNameLst>
                                      </p:cBhvr>
                                      <p:to>
                                        <p:strVal val="visible"/>
                                      </p:to>
                                    </p:set>
                                    <p:animEffect transition="in" filter="wipe(up)">
                                      <p:cBhvr>
                                        <p:cTn id="215" dur="500"/>
                                        <p:tgtEl>
                                          <p:spTgt spid="55"/>
                                        </p:tgtEl>
                                      </p:cBhvr>
                                    </p:animEffect>
                                  </p:childTnLst>
                                </p:cTn>
                              </p:par>
                              <p:par>
                                <p:cTn id="216" presetID="22" presetClass="entr" presetSubtype="1" fill="hold" nodeType="with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wipe(up)">
                                      <p:cBhvr>
                                        <p:cTn id="218" dur="500"/>
                                        <p:tgtEl>
                                          <p:spTgt spid="56"/>
                                        </p:tgtEl>
                                      </p:cBhvr>
                                    </p:animEffect>
                                  </p:childTnLst>
                                </p:cTn>
                              </p:par>
                              <p:par>
                                <p:cTn id="219" presetID="22" presetClass="entr" presetSubtype="1" fill="hold" nodeType="withEffect">
                                  <p:stCondLst>
                                    <p:cond delay="0"/>
                                  </p:stCondLst>
                                  <p:childTnLst>
                                    <p:set>
                                      <p:cBhvr>
                                        <p:cTn id="220" dur="1" fill="hold">
                                          <p:stCondLst>
                                            <p:cond delay="0"/>
                                          </p:stCondLst>
                                        </p:cTn>
                                        <p:tgtEl>
                                          <p:spTgt spid="57"/>
                                        </p:tgtEl>
                                        <p:attrNameLst>
                                          <p:attrName>style.visibility</p:attrName>
                                        </p:attrNameLst>
                                      </p:cBhvr>
                                      <p:to>
                                        <p:strVal val="visible"/>
                                      </p:to>
                                    </p:set>
                                    <p:animEffect transition="in" filter="wipe(up)">
                                      <p:cBhvr>
                                        <p:cTn id="221" dur="500"/>
                                        <p:tgtEl>
                                          <p:spTgt spid="57"/>
                                        </p:tgtEl>
                                      </p:cBhvr>
                                    </p:animEffect>
                                  </p:childTnLst>
                                </p:cTn>
                              </p:par>
                              <p:par>
                                <p:cTn id="222" presetID="22" presetClass="entr" presetSubtype="1" fill="hold" nodeType="withEffect">
                                  <p:stCondLst>
                                    <p:cond delay="0"/>
                                  </p:stCondLst>
                                  <p:childTnLst>
                                    <p:set>
                                      <p:cBhvr>
                                        <p:cTn id="223" dur="1" fill="hold">
                                          <p:stCondLst>
                                            <p:cond delay="0"/>
                                          </p:stCondLst>
                                        </p:cTn>
                                        <p:tgtEl>
                                          <p:spTgt spid="58"/>
                                        </p:tgtEl>
                                        <p:attrNameLst>
                                          <p:attrName>style.visibility</p:attrName>
                                        </p:attrNameLst>
                                      </p:cBhvr>
                                      <p:to>
                                        <p:strVal val="visible"/>
                                      </p:to>
                                    </p:set>
                                    <p:animEffect transition="in" filter="wipe(up)">
                                      <p:cBhvr>
                                        <p:cTn id="224" dur="500"/>
                                        <p:tgtEl>
                                          <p:spTgt spid="58"/>
                                        </p:tgtEl>
                                      </p:cBhvr>
                                    </p:animEffect>
                                  </p:childTnLst>
                                </p:cTn>
                              </p:par>
                              <p:par>
                                <p:cTn id="225" presetID="22" presetClass="entr" presetSubtype="1" fill="hold" nodeType="withEffect">
                                  <p:stCondLst>
                                    <p:cond delay="0"/>
                                  </p:stCondLst>
                                  <p:childTnLst>
                                    <p:set>
                                      <p:cBhvr>
                                        <p:cTn id="226" dur="1" fill="hold">
                                          <p:stCondLst>
                                            <p:cond delay="0"/>
                                          </p:stCondLst>
                                        </p:cTn>
                                        <p:tgtEl>
                                          <p:spTgt spid="59"/>
                                        </p:tgtEl>
                                        <p:attrNameLst>
                                          <p:attrName>style.visibility</p:attrName>
                                        </p:attrNameLst>
                                      </p:cBhvr>
                                      <p:to>
                                        <p:strVal val="visible"/>
                                      </p:to>
                                    </p:set>
                                    <p:animEffect transition="in" filter="wipe(up)">
                                      <p:cBhvr>
                                        <p:cTn id="227" dur="500"/>
                                        <p:tgtEl>
                                          <p:spTgt spid="59"/>
                                        </p:tgtEl>
                                      </p:cBhvr>
                                    </p:animEffect>
                                  </p:childTnLst>
                                </p:cTn>
                              </p:par>
                              <p:par>
                                <p:cTn id="228" presetID="22" presetClass="entr" presetSubtype="1" fill="hold" nodeType="withEffect">
                                  <p:stCondLst>
                                    <p:cond delay="0"/>
                                  </p:stCondLst>
                                  <p:childTnLst>
                                    <p:set>
                                      <p:cBhvr>
                                        <p:cTn id="229" dur="1" fill="hold">
                                          <p:stCondLst>
                                            <p:cond delay="0"/>
                                          </p:stCondLst>
                                        </p:cTn>
                                        <p:tgtEl>
                                          <p:spTgt spid="60"/>
                                        </p:tgtEl>
                                        <p:attrNameLst>
                                          <p:attrName>style.visibility</p:attrName>
                                        </p:attrNameLst>
                                      </p:cBhvr>
                                      <p:to>
                                        <p:strVal val="visible"/>
                                      </p:to>
                                    </p:set>
                                    <p:animEffect transition="in" filter="wipe(up)">
                                      <p:cBhvr>
                                        <p:cTn id="230" dur="500"/>
                                        <p:tgtEl>
                                          <p:spTgt spid="60"/>
                                        </p:tgtEl>
                                      </p:cBhvr>
                                    </p:animEffect>
                                  </p:childTnLst>
                                </p:cTn>
                              </p:par>
                              <p:par>
                                <p:cTn id="231" presetID="22" presetClass="entr" presetSubtype="1" fill="hold" nodeType="withEffect">
                                  <p:stCondLst>
                                    <p:cond delay="0"/>
                                  </p:stCondLst>
                                  <p:childTnLst>
                                    <p:set>
                                      <p:cBhvr>
                                        <p:cTn id="232" dur="1" fill="hold">
                                          <p:stCondLst>
                                            <p:cond delay="0"/>
                                          </p:stCondLst>
                                        </p:cTn>
                                        <p:tgtEl>
                                          <p:spTgt spid="61"/>
                                        </p:tgtEl>
                                        <p:attrNameLst>
                                          <p:attrName>style.visibility</p:attrName>
                                        </p:attrNameLst>
                                      </p:cBhvr>
                                      <p:to>
                                        <p:strVal val="visible"/>
                                      </p:to>
                                    </p:set>
                                    <p:animEffect transition="in" filter="wipe(up)">
                                      <p:cBhvr>
                                        <p:cTn id="233" dur="500"/>
                                        <p:tgtEl>
                                          <p:spTgt spid="61"/>
                                        </p:tgtEl>
                                      </p:cBhvr>
                                    </p:animEffect>
                                  </p:childTnLst>
                                </p:cTn>
                              </p:par>
                              <p:par>
                                <p:cTn id="234" presetID="22" presetClass="entr" presetSubtype="1" fill="hold" nodeType="withEffect">
                                  <p:stCondLst>
                                    <p:cond delay="0"/>
                                  </p:stCondLst>
                                  <p:childTnLst>
                                    <p:set>
                                      <p:cBhvr>
                                        <p:cTn id="235" dur="1" fill="hold">
                                          <p:stCondLst>
                                            <p:cond delay="0"/>
                                          </p:stCondLst>
                                        </p:cTn>
                                        <p:tgtEl>
                                          <p:spTgt spid="62"/>
                                        </p:tgtEl>
                                        <p:attrNameLst>
                                          <p:attrName>style.visibility</p:attrName>
                                        </p:attrNameLst>
                                      </p:cBhvr>
                                      <p:to>
                                        <p:strVal val="visible"/>
                                      </p:to>
                                    </p:set>
                                    <p:animEffect transition="in" filter="wipe(up)">
                                      <p:cBhvr>
                                        <p:cTn id="236" dur="500"/>
                                        <p:tgtEl>
                                          <p:spTgt spid="62"/>
                                        </p:tgtEl>
                                      </p:cBhvr>
                                    </p:animEffect>
                                  </p:childTnLst>
                                </p:cTn>
                              </p:par>
                              <p:par>
                                <p:cTn id="237" presetID="22" presetClass="entr" presetSubtype="1" fill="hold" nodeType="withEffect">
                                  <p:stCondLst>
                                    <p:cond delay="0"/>
                                  </p:stCondLst>
                                  <p:childTnLst>
                                    <p:set>
                                      <p:cBhvr>
                                        <p:cTn id="238" dur="1" fill="hold">
                                          <p:stCondLst>
                                            <p:cond delay="0"/>
                                          </p:stCondLst>
                                        </p:cTn>
                                        <p:tgtEl>
                                          <p:spTgt spid="63"/>
                                        </p:tgtEl>
                                        <p:attrNameLst>
                                          <p:attrName>style.visibility</p:attrName>
                                        </p:attrNameLst>
                                      </p:cBhvr>
                                      <p:to>
                                        <p:strVal val="visible"/>
                                      </p:to>
                                    </p:set>
                                    <p:animEffect transition="in" filter="wipe(up)">
                                      <p:cBhvr>
                                        <p:cTn id="239" dur="500"/>
                                        <p:tgtEl>
                                          <p:spTgt spid="63"/>
                                        </p:tgtEl>
                                      </p:cBhvr>
                                    </p:animEffect>
                                  </p:childTnLst>
                                </p:cTn>
                              </p:par>
                              <p:par>
                                <p:cTn id="240" presetID="22" presetClass="entr" presetSubtype="1" fill="hold" nodeType="withEffect">
                                  <p:stCondLst>
                                    <p:cond delay="0"/>
                                  </p:stCondLst>
                                  <p:childTnLst>
                                    <p:set>
                                      <p:cBhvr>
                                        <p:cTn id="241" dur="1" fill="hold">
                                          <p:stCondLst>
                                            <p:cond delay="0"/>
                                          </p:stCondLst>
                                        </p:cTn>
                                        <p:tgtEl>
                                          <p:spTgt spid="64"/>
                                        </p:tgtEl>
                                        <p:attrNameLst>
                                          <p:attrName>style.visibility</p:attrName>
                                        </p:attrNameLst>
                                      </p:cBhvr>
                                      <p:to>
                                        <p:strVal val="visible"/>
                                      </p:to>
                                    </p:set>
                                    <p:animEffect transition="in" filter="wipe(up)">
                                      <p:cBhvr>
                                        <p:cTn id="242" dur="500"/>
                                        <p:tgtEl>
                                          <p:spTgt spid="64"/>
                                        </p:tgtEl>
                                      </p:cBhvr>
                                    </p:animEffect>
                                  </p:childTnLst>
                                </p:cTn>
                              </p:par>
                            </p:childTnLst>
                          </p:cTn>
                        </p:par>
                      </p:childTnLst>
                    </p:cTn>
                  </p:par>
                  <p:par>
                    <p:cTn id="243" fill="hold">
                      <p:stCondLst>
                        <p:cond delay="indefinite"/>
                      </p:stCondLst>
                      <p:childTnLst>
                        <p:par>
                          <p:cTn id="244" fill="hold">
                            <p:stCondLst>
                              <p:cond delay="0"/>
                            </p:stCondLst>
                            <p:childTnLst>
                              <p:par>
                                <p:cTn id="245" presetID="9" presetClass="entr" presetSubtype="0" fill="hold" nodeType="clickEffect">
                                  <p:stCondLst>
                                    <p:cond delay="0"/>
                                  </p:stCondLst>
                                  <p:childTnLst>
                                    <p:set>
                                      <p:cBhvr>
                                        <p:cTn id="246" dur="1" fill="hold">
                                          <p:stCondLst>
                                            <p:cond delay="0"/>
                                          </p:stCondLst>
                                        </p:cTn>
                                        <p:tgtEl>
                                          <p:spTgt spid="66"/>
                                        </p:tgtEl>
                                        <p:attrNameLst>
                                          <p:attrName>style.visibility</p:attrName>
                                        </p:attrNameLst>
                                      </p:cBhvr>
                                      <p:to>
                                        <p:strVal val="visible"/>
                                      </p:to>
                                    </p:set>
                                    <p:animEffect transition="in" filter="dissolve">
                                      <p:cBhvr>
                                        <p:cTn id="24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95" grpId="0"/>
      <p:bldP spid="95" grpId="1"/>
      <p:bldP spid="9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SYN Flood</a:t>
            </a:r>
          </a:p>
        </p:txBody>
      </p:sp>
      <p:sp>
        <p:nvSpPr>
          <p:cNvPr id="4" name="Content Placeholder 3"/>
          <p:cNvSpPr>
            <a:spLocks noGrp="1"/>
          </p:cNvSpPr>
          <p:nvPr>
            <p:ph idx="1"/>
          </p:nvPr>
        </p:nvSpPr>
        <p:spPr>
          <a:xfrm>
            <a:off x="584439" y="2267221"/>
            <a:ext cx="15773400" cy="6967198"/>
          </a:xfrm>
        </p:spPr>
        <p:txBody>
          <a:bodyPr/>
          <a:lstStyle/>
          <a:p>
            <a:r>
              <a:rPr lang="en-US"/>
              <a:t>Exploits the function of a TCP connection 3 way handshake</a:t>
            </a:r>
          </a:p>
          <a:p>
            <a:r>
              <a:rPr lang="en-US"/>
              <a:t>Normal operation:</a:t>
            </a:r>
          </a:p>
          <a:p>
            <a:endParaRPr lang="en-US"/>
          </a:p>
          <a:p>
            <a:endParaRPr lang="en-US"/>
          </a:p>
          <a:p>
            <a:pPr marL="0" indent="0">
              <a:buNone/>
            </a:pPr>
            <a:endParaRPr lang="en-US"/>
          </a:p>
          <a:p>
            <a:r>
              <a:rPr lang="en-US"/>
              <a:t>Attack operation:</a:t>
            </a:r>
          </a:p>
          <a:p>
            <a:endParaRPr lang="en-US"/>
          </a:p>
        </p:txBody>
      </p:sp>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43401" y="4114800"/>
            <a:ext cx="2002538" cy="1600200"/>
          </a:xfrm>
          <a:prstGeom prst="rect">
            <a:avLst/>
          </a:prstGeom>
        </p:spPr>
      </p:pic>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544301" y="4114800"/>
            <a:ext cx="2002538" cy="1600200"/>
          </a:xfrm>
          <a:prstGeom prst="rect">
            <a:avLst/>
          </a:prstGeom>
        </p:spPr>
      </p:pic>
      <p:cxnSp>
        <p:nvCxnSpPr>
          <p:cNvPr id="8" name="Straight Arrow Connector 7"/>
          <p:cNvCxnSpPr/>
          <p:nvPr/>
        </p:nvCxnSpPr>
        <p:spPr bwMode="auto">
          <a:xfrm>
            <a:off x="6629400" y="4229100"/>
            <a:ext cx="4686300" cy="4572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0" name="Straight Arrow Connector 9"/>
          <p:cNvCxnSpPr/>
          <p:nvPr/>
        </p:nvCxnSpPr>
        <p:spPr bwMode="auto">
          <a:xfrm flipH="1">
            <a:off x="6629400" y="5143500"/>
            <a:ext cx="4686300" cy="3429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4" name="Straight Arrow Connector 13"/>
          <p:cNvCxnSpPr/>
          <p:nvPr/>
        </p:nvCxnSpPr>
        <p:spPr bwMode="auto">
          <a:xfrm>
            <a:off x="6629400" y="5829300"/>
            <a:ext cx="4800600" cy="4572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15" name="TextBox 14"/>
          <p:cNvSpPr txBox="1"/>
          <p:nvPr/>
        </p:nvSpPr>
        <p:spPr>
          <a:xfrm>
            <a:off x="8343901" y="3878123"/>
            <a:ext cx="723211" cy="507831"/>
          </a:xfrm>
          <a:prstGeom prst="rect">
            <a:avLst/>
          </a:prstGeom>
          <a:noFill/>
        </p:spPr>
        <p:txBody>
          <a:bodyPr wrap="none" rtlCol="0" anchor="ctr">
            <a:spAutoFit/>
          </a:bodyPr>
          <a:lstStyle/>
          <a:p>
            <a:r>
              <a:rPr lang="en-US" sz="2700">
                <a:latin typeface="+mj-lt"/>
              </a:rPr>
              <a:t>SYN</a:t>
            </a:r>
          </a:p>
        </p:txBody>
      </p:sp>
      <p:sp>
        <p:nvSpPr>
          <p:cNvPr id="16" name="TextBox 15"/>
          <p:cNvSpPr txBox="1"/>
          <p:nvPr/>
        </p:nvSpPr>
        <p:spPr>
          <a:xfrm>
            <a:off x="8332303" y="5592623"/>
            <a:ext cx="739241" cy="507831"/>
          </a:xfrm>
          <a:prstGeom prst="rect">
            <a:avLst/>
          </a:prstGeom>
          <a:noFill/>
        </p:spPr>
        <p:txBody>
          <a:bodyPr wrap="none" rtlCol="0" anchor="ctr">
            <a:spAutoFit/>
          </a:bodyPr>
          <a:lstStyle/>
          <a:p>
            <a:r>
              <a:rPr lang="en-US" sz="2700">
                <a:latin typeface="+mj-lt"/>
              </a:rPr>
              <a:t>ACK</a:t>
            </a:r>
          </a:p>
        </p:txBody>
      </p:sp>
      <p:sp>
        <p:nvSpPr>
          <p:cNvPr id="17" name="TextBox 16"/>
          <p:cNvSpPr txBox="1"/>
          <p:nvPr/>
        </p:nvSpPr>
        <p:spPr>
          <a:xfrm>
            <a:off x="7886700" y="4792523"/>
            <a:ext cx="1441292" cy="507831"/>
          </a:xfrm>
          <a:prstGeom prst="rect">
            <a:avLst/>
          </a:prstGeom>
          <a:noFill/>
        </p:spPr>
        <p:txBody>
          <a:bodyPr wrap="none" rtlCol="0" anchor="ctr">
            <a:spAutoFit/>
          </a:bodyPr>
          <a:lstStyle/>
          <a:p>
            <a:r>
              <a:rPr lang="en-US" sz="2700">
                <a:latin typeface="+mj-lt"/>
              </a:rPr>
              <a:t>SYN, ACK</a:t>
            </a:r>
          </a:p>
        </p:txBody>
      </p:sp>
      <p:sp>
        <p:nvSpPr>
          <p:cNvPr id="18" name="TextBox 17"/>
          <p:cNvSpPr txBox="1"/>
          <p:nvPr/>
        </p:nvSpPr>
        <p:spPr>
          <a:xfrm>
            <a:off x="13573732" y="4406811"/>
            <a:ext cx="1948547" cy="923330"/>
          </a:xfrm>
          <a:prstGeom prst="rect">
            <a:avLst/>
          </a:prstGeom>
          <a:noFill/>
        </p:spPr>
        <p:txBody>
          <a:bodyPr wrap="none" rtlCol="0" anchor="ctr">
            <a:spAutoFit/>
          </a:bodyPr>
          <a:lstStyle/>
          <a:p>
            <a:r>
              <a:rPr lang="en-US" sz="2700">
                <a:latin typeface="+mj-lt"/>
              </a:rPr>
              <a:t>Allocate </a:t>
            </a:r>
            <a:br>
              <a:rPr lang="en-US" sz="2700">
                <a:latin typeface="+mj-lt"/>
              </a:rPr>
            </a:br>
            <a:r>
              <a:rPr lang="en-US" sz="2700">
                <a:latin typeface="+mj-lt"/>
              </a:rPr>
              <a:t>memory etc.</a:t>
            </a:r>
          </a:p>
        </p:txBody>
      </p:sp>
      <p:pic>
        <p:nvPicPr>
          <p:cNvPr id="20" name="Picture 1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43401" y="7886700"/>
            <a:ext cx="2002538" cy="1600200"/>
          </a:xfrm>
          <a:prstGeom prst="rect">
            <a:avLst/>
          </a:prstGeom>
        </p:spPr>
      </p:pic>
      <p:pic>
        <p:nvPicPr>
          <p:cNvPr id="21" name="Picture 20"/>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544301" y="7886700"/>
            <a:ext cx="2002538" cy="1600200"/>
          </a:xfrm>
          <a:prstGeom prst="rect">
            <a:avLst/>
          </a:prstGeom>
        </p:spPr>
      </p:pic>
      <p:cxnSp>
        <p:nvCxnSpPr>
          <p:cNvPr id="22" name="Straight Arrow Connector 21"/>
          <p:cNvCxnSpPr/>
          <p:nvPr/>
        </p:nvCxnSpPr>
        <p:spPr bwMode="auto">
          <a:xfrm>
            <a:off x="6629400" y="7910568"/>
            <a:ext cx="4686300" cy="4572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25" name="TextBox 24"/>
          <p:cNvSpPr txBox="1"/>
          <p:nvPr/>
        </p:nvSpPr>
        <p:spPr>
          <a:xfrm>
            <a:off x="8343901" y="7650023"/>
            <a:ext cx="723211" cy="507831"/>
          </a:xfrm>
          <a:prstGeom prst="rect">
            <a:avLst/>
          </a:prstGeom>
          <a:noFill/>
        </p:spPr>
        <p:txBody>
          <a:bodyPr wrap="none" rtlCol="0" anchor="ctr">
            <a:spAutoFit/>
          </a:bodyPr>
          <a:lstStyle/>
          <a:p>
            <a:r>
              <a:rPr lang="en-US" sz="2700">
                <a:latin typeface="+mj-lt"/>
              </a:rPr>
              <a:t>SYN</a:t>
            </a:r>
          </a:p>
        </p:txBody>
      </p:sp>
      <p:sp>
        <p:nvSpPr>
          <p:cNvPr id="28" name="TextBox 27"/>
          <p:cNvSpPr txBox="1"/>
          <p:nvPr/>
        </p:nvSpPr>
        <p:spPr>
          <a:xfrm>
            <a:off x="13573732" y="7970962"/>
            <a:ext cx="1948547" cy="1338828"/>
          </a:xfrm>
          <a:prstGeom prst="rect">
            <a:avLst/>
          </a:prstGeom>
          <a:noFill/>
        </p:spPr>
        <p:txBody>
          <a:bodyPr wrap="none" rtlCol="0" anchor="ctr">
            <a:spAutoFit/>
          </a:bodyPr>
          <a:lstStyle/>
          <a:p>
            <a:r>
              <a:rPr lang="en-US" sz="2700">
                <a:latin typeface="+mj-lt"/>
              </a:rPr>
              <a:t>Allocate </a:t>
            </a:r>
            <a:br>
              <a:rPr lang="en-US" sz="2700">
                <a:latin typeface="+mj-lt"/>
              </a:rPr>
            </a:br>
            <a:r>
              <a:rPr lang="en-US" sz="2700">
                <a:latin typeface="+mj-lt"/>
              </a:rPr>
              <a:t>lots and lots</a:t>
            </a:r>
            <a:br>
              <a:rPr lang="en-US" sz="2700">
                <a:latin typeface="+mj-lt"/>
              </a:rPr>
            </a:br>
            <a:r>
              <a:rPr lang="en-US" sz="2700">
                <a:latin typeface="+mj-lt"/>
              </a:rPr>
              <a:t>memory etc.</a:t>
            </a:r>
          </a:p>
        </p:txBody>
      </p:sp>
      <p:cxnSp>
        <p:nvCxnSpPr>
          <p:cNvPr id="29" name="Straight Arrow Connector 28"/>
          <p:cNvCxnSpPr/>
          <p:nvPr/>
        </p:nvCxnSpPr>
        <p:spPr bwMode="auto">
          <a:xfrm>
            <a:off x="6629400" y="8482068"/>
            <a:ext cx="4686300" cy="4572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30" name="TextBox 29"/>
          <p:cNvSpPr txBox="1"/>
          <p:nvPr/>
        </p:nvSpPr>
        <p:spPr>
          <a:xfrm>
            <a:off x="8343901" y="8221523"/>
            <a:ext cx="723211" cy="507831"/>
          </a:xfrm>
          <a:prstGeom prst="rect">
            <a:avLst/>
          </a:prstGeom>
          <a:noFill/>
        </p:spPr>
        <p:txBody>
          <a:bodyPr wrap="none" rtlCol="0" anchor="ctr">
            <a:spAutoFit/>
          </a:bodyPr>
          <a:lstStyle/>
          <a:p>
            <a:r>
              <a:rPr lang="en-US" sz="2700">
                <a:latin typeface="+mj-lt"/>
              </a:rPr>
              <a:t>SYN</a:t>
            </a:r>
          </a:p>
        </p:txBody>
      </p:sp>
      <p:cxnSp>
        <p:nvCxnSpPr>
          <p:cNvPr id="31" name="Straight Arrow Connector 30"/>
          <p:cNvCxnSpPr/>
          <p:nvPr/>
        </p:nvCxnSpPr>
        <p:spPr bwMode="auto">
          <a:xfrm>
            <a:off x="6629400" y="9053568"/>
            <a:ext cx="4686300" cy="4572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32" name="TextBox 31"/>
          <p:cNvSpPr txBox="1"/>
          <p:nvPr/>
        </p:nvSpPr>
        <p:spPr>
          <a:xfrm>
            <a:off x="8343901" y="8793023"/>
            <a:ext cx="723211" cy="507831"/>
          </a:xfrm>
          <a:prstGeom prst="rect">
            <a:avLst/>
          </a:prstGeom>
          <a:noFill/>
        </p:spPr>
        <p:txBody>
          <a:bodyPr wrap="none" rtlCol="0" anchor="ctr">
            <a:spAutoFit/>
          </a:bodyPr>
          <a:lstStyle/>
          <a:p>
            <a:r>
              <a:rPr lang="en-US" sz="2700">
                <a:latin typeface="+mj-lt"/>
              </a:rPr>
              <a:t>SYN</a:t>
            </a:r>
          </a:p>
        </p:txBody>
      </p:sp>
      <p:cxnSp>
        <p:nvCxnSpPr>
          <p:cNvPr id="33" name="Straight Arrow Connector 32"/>
          <p:cNvCxnSpPr/>
          <p:nvPr/>
        </p:nvCxnSpPr>
        <p:spPr bwMode="auto">
          <a:xfrm>
            <a:off x="6629400" y="9625068"/>
            <a:ext cx="4686300" cy="4572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34" name="TextBox 33"/>
          <p:cNvSpPr txBox="1"/>
          <p:nvPr/>
        </p:nvSpPr>
        <p:spPr>
          <a:xfrm>
            <a:off x="8343901" y="9364523"/>
            <a:ext cx="723211" cy="507831"/>
          </a:xfrm>
          <a:prstGeom prst="rect">
            <a:avLst/>
          </a:prstGeom>
          <a:noFill/>
        </p:spPr>
        <p:txBody>
          <a:bodyPr wrap="none" rtlCol="0" anchor="ctr">
            <a:spAutoFit/>
          </a:bodyPr>
          <a:lstStyle/>
          <a:p>
            <a:r>
              <a:rPr lang="en-US" sz="2700">
                <a:latin typeface="+mj-lt"/>
              </a:rPr>
              <a:t>SYN</a:t>
            </a:r>
          </a:p>
        </p:txBody>
      </p:sp>
      <p:sp>
        <p:nvSpPr>
          <p:cNvPr id="35" name="TextBox 34"/>
          <p:cNvSpPr txBox="1"/>
          <p:nvPr/>
        </p:nvSpPr>
        <p:spPr>
          <a:xfrm>
            <a:off x="2524333" y="7136610"/>
            <a:ext cx="1306255" cy="1338828"/>
          </a:xfrm>
          <a:prstGeom prst="rect">
            <a:avLst/>
          </a:prstGeom>
          <a:noFill/>
        </p:spPr>
        <p:txBody>
          <a:bodyPr wrap="none" rtlCol="0" anchor="ctr">
            <a:spAutoFit/>
          </a:bodyPr>
          <a:lstStyle/>
          <a:p>
            <a:r>
              <a:rPr lang="en-US" sz="2700">
                <a:latin typeface="+mj-lt"/>
              </a:rPr>
              <a:t>From</a:t>
            </a:r>
            <a:br>
              <a:rPr lang="en-US" sz="2700">
                <a:latin typeface="+mj-lt"/>
              </a:rPr>
            </a:br>
            <a:r>
              <a:rPr lang="en-US" sz="2700">
                <a:latin typeface="+mj-lt"/>
              </a:rPr>
              <a:t>spoofed</a:t>
            </a:r>
            <a:br>
              <a:rPr lang="en-US" sz="2700">
                <a:latin typeface="+mj-lt"/>
              </a:rPr>
            </a:br>
            <a:r>
              <a:rPr lang="en-US" sz="2700">
                <a:latin typeface="+mj-lt"/>
              </a:rPr>
              <a:t>address</a:t>
            </a:r>
          </a:p>
        </p:txBody>
      </p:sp>
      <p:sp>
        <p:nvSpPr>
          <p:cNvPr id="36" name="TextBox 35"/>
          <p:cNvSpPr txBox="1"/>
          <p:nvPr/>
        </p:nvSpPr>
        <p:spPr>
          <a:xfrm>
            <a:off x="2605579" y="4272996"/>
            <a:ext cx="1261627" cy="1338828"/>
          </a:xfrm>
          <a:prstGeom prst="rect">
            <a:avLst/>
          </a:prstGeom>
          <a:noFill/>
        </p:spPr>
        <p:txBody>
          <a:bodyPr wrap="none" rtlCol="0" anchor="ctr">
            <a:spAutoFit/>
          </a:bodyPr>
          <a:lstStyle/>
          <a:p>
            <a:r>
              <a:rPr lang="en-US" sz="2700">
                <a:latin typeface="+mj-lt"/>
              </a:rPr>
              <a:t>From</a:t>
            </a:r>
            <a:br>
              <a:rPr lang="en-US" sz="2700">
                <a:latin typeface="+mj-lt"/>
              </a:rPr>
            </a:br>
            <a:r>
              <a:rPr lang="en-US" sz="2700">
                <a:latin typeface="+mj-lt"/>
              </a:rPr>
              <a:t>real</a:t>
            </a:r>
            <a:br>
              <a:rPr lang="en-US" sz="2700">
                <a:latin typeface="+mj-lt"/>
              </a:rPr>
            </a:br>
            <a:r>
              <a:rPr lang="en-US" sz="2700">
                <a:latin typeface="+mj-lt"/>
              </a:rPr>
              <a:t>address</a:t>
            </a:r>
          </a:p>
        </p:txBody>
      </p:sp>
      <p:pic>
        <p:nvPicPr>
          <p:cNvPr id="37" name="Attack"/>
          <p:cNvPicPr>
            <a:picLocks noChangeAspect="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31842" y="8025225"/>
            <a:ext cx="1828800" cy="1475760"/>
          </a:xfrm>
          <a:prstGeom prst="rect">
            <a:avLst/>
          </a:prstGeom>
        </p:spPr>
      </p:pic>
    </p:spTree>
    <p:custDataLst>
      <p:tags r:id="rId1"/>
    </p:custDataLst>
    <p:extLst>
      <p:ext uri="{BB962C8B-B14F-4D97-AF65-F5344CB8AC3E}">
        <p14:creationId xmlns:p14="http://schemas.microsoft.com/office/powerpoint/2010/main" val="10871597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342900"/>
            <a:ext cx="15773400" cy="1988345"/>
          </a:xfrm>
        </p:spPr>
        <p:txBody>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DDoS Mitigation Technology Approaches</a:t>
            </a:r>
          </a:p>
        </p:txBody>
      </p:sp>
      <p:sp>
        <p:nvSpPr>
          <p:cNvPr id="5" name="Rounded Rectangle 4"/>
          <p:cNvSpPr/>
          <p:nvPr/>
        </p:nvSpPr>
        <p:spPr bwMode="auto">
          <a:xfrm>
            <a:off x="2857500" y="2286000"/>
            <a:ext cx="5943600" cy="3771900"/>
          </a:xfrm>
          <a:prstGeom prst="round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137160" tIns="68580" rIns="137160" bIns="68580" numCol="1" rtlCol="0" anchor="t" anchorCtr="0" compatLnSpc="1">
            <a:prstTxWarp prst="textNoShape">
              <a:avLst/>
            </a:prstTxWarp>
            <a:noAutofit/>
          </a:bodyPr>
          <a:lstStyle/>
          <a:p>
            <a:pPr defTabSz="1540670"/>
            <a:r>
              <a:rPr lang="en-US" sz="2700">
                <a:solidFill>
                  <a:schemeClr val="bg1"/>
                </a:solidFill>
                <a:latin typeface="Arial Narrow" pitchFamily="34" charset="0"/>
              </a:rPr>
              <a:t>On Premises</a:t>
            </a:r>
          </a:p>
          <a:p>
            <a:pPr defTabSz="1540670"/>
            <a:endParaRPr lang="en-US" sz="2700">
              <a:solidFill>
                <a:schemeClr val="bg1"/>
              </a:solidFill>
              <a:latin typeface="Arial Narrow" pitchFamily="34" charset="0"/>
            </a:endParaRPr>
          </a:p>
          <a:p>
            <a:pPr defTabSz="1540670"/>
            <a:r>
              <a:rPr lang="en-US" sz="2700">
                <a:solidFill>
                  <a:schemeClr val="bg1"/>
                </a:solidFill>
                <a:latin typeface="Arial Narrow" pitchFamily="34" charset="0"/>
              </a:rPr>
              <a:t>A security device placed </a:t>
            </a:r>
            <a:br>
              <a:rPr lang="en-US" sz="2700">
                <a:solidFill>
                  <a:schemeClr val="bg1"/>
                </a:solidFill>
                <a:latin typeface="Arial Narrow" pitchFamily="34" charset="0"/>
              </a:rPr>
            </a:br>
            <a:r>
              <a:rPr lang="en-US" sz="2700">
                <a:solidFill>
                  <a:schemeClr val="bg1"/>
                </a:solidFill>
                <a:latin typeface="Arial Narrow" pitchFamily="34" charset="0"/>
              </a:rPr>
              <a:t>as the first device passed through </a:t>
            </a:r>
            <a:br>
              <a:rPr lang="en-US" sz="2700">
                <a:solidFill>
                  <a:schemeClr val="bg1"/>
                </a:solidFill>
                <a:latin typeface="Arial Narrow" pitchFamily="34" charset="0"/>
              </a:rPr>
            </a:br>
            <a:r>
              <a:rPr lang="en-US" sz="2700">
                <a:solidFill>
                  <a:schemeClr val="bg1"/>
                </a:solidFill>
                <a:latin typeface="Arial Narrow" pitchFamily="34" charset="0"/>
              </a:rPr>
              <a:t>for Internet traffic entering a </a:t>
            </a:r>
            <a:br>
              <a:rPr lang="en-US" sz="2700">
                <a:solidFill>
                  <a:schemeClr val="bg1"/>
                </a:solidFill>
                <a:latin typeface="Arial Narrow" pitchFamily="34" charset="0"/>
              </a:rPr>
            </a:br>
            <a:r>
              <a:rPr lang="en-US" sz="2700">
                <a:solidFill>
                  <a:schemeClr val="bg1"/>
                </a:solidFill>
                <a:latin typeface="Arial Narrow" pitchFamily="34" charset="0"/>
              </a:rPr>
              <a:t>customer’s location</a:t>
            </a:r>
          </a:p>
          <a:p>
            <a:pPr defTabSz="1540670"/>
            <a:endParaRPr lang="en-US" sz="3300" b="1">
              <a:solidFill>
                <a:schemeClr val="bg1"/>
              </a:solidFill>
              <a:latin typeface="Arial Narrow" pitchFamily="34" charset="0"/>
            </a:endParaRPr>
          </a:p>
          <a:p>
            <a:pPr defTabSz="1540670"/>
            <a:r>
              <a:rPr lang="en-US" sz="2700">
                <a:solidFill>
                  <a:schemeClr val="bg1"/>
                </a:solidFill>
                <a:latin typeface="Arial Narrow" pitchFamily="34" charset="0"/>
              </a:rPr>
              <a:t>Scrub traffic clean</a:t>
            </a:r>
            <a:endParaRPr lang="en-US" sz="3300" b="1">
              <a:solidFill>
                <a:schemeClr val="bg1"/>
              </a:solidFill>
              <a:latin typeface="Arial Narrow" pitchFamily="34" charset="0"/>
            </a:endParaRPr>
          </a:p>
        </p:txBody>
      </p:sp>
      <p:sp>
        <p:nvSpPr>
          <p:cNvPr id="6" name="Rounded Rectangle 5"/>
          <p:cNvSpPr/>
          <p:nvPr/>
        </p:nvSpPr>
        <p:spPr bwMode="auto">
          <a:xfrm>
            <a:off x="9601200" y="2286000"/>
            <a:ext cx="5943600" cy="3771900"/>
          </a:xfrm>
          <a:prstGeom prst="round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137160" tIns="68580" rIns="137160" bIns="68580" numCol="1" rtlCol="0" anchor="t" anchorCtr="0" compatLnSpc="1">
            <a:prstTxWarp prst="textNoShape">
              <a:avLst/>
            </a:prstTxWarp>
            <a:noAutofit/>
          </a:bodyPr>
          <a:lstStyle/>
          <a:p>
            <a:pPr defTabSz="1540670" fontAlgn="base">
              <a:lnSpc>
                <a:spcPct val="85000"/>
              </a:lnSpc>
              <a:spcBef>
                <a:spcPct val="0"/>
              </a:spcBef>
              <a:spcAft>
                <a:spcPct val="0"/>
              </a:spcAft>
            </a:pPr>
            <a:r>
              <a:rPr lang="en-US" sz="3300" b="1">
                <a:solidFill>
                  <a:schemeClr val="bg1"/>
                </a:solidFill>
                <a:latin typeface="Arial Narrow" pitchFamily="34" charset="0"/>
              </a:rPr>
              <a:t>ISP Solution</a:t>
            </a:r>
          </a:p>
          <a:p>
            <a:pPr defTabSz="1540670" fontAlgn="base">
              <a:lnSpc>
                <a:spcPct val="85000"/>
              </a:lnSpc>
              <a:spcBef>
                <a:spcPct val="0"/>
              </a:spcBef>
              <a:spcAft>
                <a:spcPct val="0"/>
              </a:spcAft>
            </a:pPr>
            <a:endParaRPr lang="en-US" sz="2700">
              <a:solidFill>
                <a:schemeClr val="bg1"/>
              </a:solidFill>
              <a:latin typeface="Arial Narrow" pitchFamily="34" charset="0"/>
            </a:endParaRPr>
          </a:p>
          <a:p>
            <a:pPr defTabSz="1540670" fontAlgn="base">
              <a:lnSpc>
                <a:spcPct val="85000"/>
              </a:lnSpc>
              <a:spcBef>
                <a:spcPct val="0"/>
              </a:spcBef>
              <a:spcAft>
                <a:spcPct val="0"/>
              </a:spcAft>
            </a:pPr>
            <a:r>
              <a:rPr lang="en-US" sz="2700">
                <a:solidFill>
                  <a:schemeClr val="bg1"/>
                </a:solidFill>
                <a:latin typeface="Arial Narrow" pitchFamily="34" charset="0"/>
              </a:rPr>
              <a:t>Arrangement with local ISP</a:t>
            </a:r>
            <a:br>
              <a:rPr lang="en-US" sz="2700">
                <a:solidFill>
                  <a:schemeClr val="bg1"/>
                </a:solidFill>
                <a:latin typeface="Arial Narrow" pitchFamily="34" charset="0"/>
              </a:rPr>
            </a:br>
            <a:r>
              <a:rPr lang="en-US" sz="2700">
                <a:solidFill>
                  <a:schemeClr val="bg1"/>
                </a:solidFill>
                <a:latin typeface="Arial Narrow" pitchFamily="34" charset="0"/>
              </a:rPr>
              <a:t>to “black hole” traffic during </a:t>
            </a:r>
            <a:br>
              <a:rPr lang="en-US" sz="2700">
                <a:solidFill>
                  <a:schemeClr val="bg1"/>
                </a:solidFill>
                <a:latin typeface="Arial Narrow" pitchFamily="34" charset="0"/>
              </a:rPr>
            </a:br>
            <a:r>
              <a:rPr lang="en-US" sz="2700">
                <a:solidFill>
                  <a:schemeClr val="bg1"/>
                </a:solidFill>
                <a:latin typeface="Arial Narrow" pitchFamily="34" charset="0"/>
              </a:rPr>
              <a:t>a DDoS attack</a:t>
            </a:r>
          </a:p>
          <a:p>
            <a:pPr defTabSz="1540670" fontAlgn="base">
              <a:lnSpc>
                <a:spcPct val="85000"/>
              </a:lnSpc>
              <a:spcBef>
                <a:spcPct val="0"/>
              </a:spcBef>
              <a:spcAft>
                <a:spcPct val="0"/>
              </a:spcAft>
            </a:pPr>
            <a:endParaRPr lang="en-US" sz="3300" b="1">
              <a:solidFill>
                <a:schemeClr val="bg1"/>
              </a:solidFill>
              <a:latin typeface="Arial Narrow" pitchFamily="34" charset="0"/>
            </a:endParaRPr>
          </a:p>
          <a:p>
            <a:pPr defTabSz="1540670" fontAlgn="base">
              <a:lnSpc>
                <a:spcPct val="85000"/>
              </a:lnSpc>
              <a:spcBef>
                <a:spcPct val="0"/>
              </a:spcBef>
              <a:spcAft>
                <a:spcPct val="0"/>
              </a:spcAft>
            </a:pPr>
            <a:endParaRPr lang="en-US" sz="2700">
              <a:solidFill>
                <a:schemeClr val="bg1"/>
              </a:solidFill>
              <a:latin typeface="Arial Narrow" pitchFamily="34" charset="0"/>
            </a:endParaRPr>
          </a:p>
          <a:p>
            <a:pPr defTabSz="1540670" fontAlgn="base">
              <a:lnSpc>
                <a:spcPct val="85000"/>
              </a:lnSpc>
              <a:spcBef>
                <a:spcPct val="0"/>
              </a:spcBef>
              <a:spcAft>
                <a:spcPct val="0"/>
              </a:spcAft>
            </a:pPr>
            <a:r>
              <a:rPr lang="en-US" sz="2700">
                <a:solidFill>
                  <a:schemeClr val="bg1"/>
                </a:solidFill>
                <a:latin typeface="Arial Narrow" pitchFamily="34" charset="0"/>
              </a:rPr>
              <a:t>Relieve impact on other services</a:t>
            </a:r>
            <a:endParaRPr lang="en-US" sz="3300" b="1">
              <a:solidFill>
                <a:schemeClr val="bg1"/>
              </a:solidFill>
              <a:latin typeface="Arial Narrow" pitchFamily="34" charset="0"/>
            </a:endParaRPr>
          </a:p>
        </p:txBody>
      </p:sp>
      <p:sp>
        <p:nvSpPr>
          <p:cNvPr id="7" name="Rounded Rectangle 6"/>
          <p:cNvSpPr/>
          <p:nvPr/>
        </p:nvSpPr>
        <p:spPr bwMode="auto">
          <a:xfrm>
            <a:off x="9601200" y="6172200"/>
            <a:ext cx="5943600" cy="3771900"/>
          </a:xfrm>
          <a:prstGeom prst="round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137160" tIns="68580" rIns="137160" bIns="68580" numCol="1" rtlCol="0" anchor="t" anchorCtr="0" compatLnSpc="1">
            <a:prstTxWarp prst="textNoShape">
              <a:avLst/>
            </a:prstTxWarp>
            <a:noAutofit/>
          </a:bodyPr>
          <a:lstStyle/>
          <a:p>
            <a:pPr defTabSz="1540670" fontAlgn="base">
              <a:lnSpc>
                <a:spcPct val="85000"/>
              </a:lnSpc>
              <a:spcBef>
                <a:spcPct val="0"/>
              </a:spcBef>
              <a:spcAft>
                <a:spcPct val="0"/>
              </a:spcAft>
            </a:pPr>
            <a:r>
              <a:rPr lang="en-US" sz="3300" b="1">
                <a:solidFill>
                  <a:schemeClr val="bg1"/>
                </a:solidFill>
                <a:latin typeface="Arial Narrow" pitchFamily="34" charset="0"/>
              </a:rPr>
              <a:t>Hybrid</a:t>
            </a:r>
          </a:p>
          <a:p>
            <a:pPr defTabSz="1540670" fontAlgn="base">
              <a:lnSpc>
                <a:spcPct val="85000"/>
              </a:lnSpc>
              <a:spcBef>
                <a:spcPct val="0"/>
              </a:spcBef>
              <a:spcAft>
                <a:spcPct val="0"/>
              </a:spcAft>
            </a:pPr>
            <a:endParaRPr lang="en-US" sz="2700">
              <a:solidFill>
                <a:schemeClr val="bg1"/>
              </a:solidFill>
              <a:latin typeface="Arial Narrow" pitchFamily="34" charset="0"/>
            </a:endParaRPr>
          </a:p>
          <a:p>
            <a:pPr defTabSz="1540670" fontAlgn="base">
              <a:lnSpc>
                <a:spcPct val="85000"/>
              </a:lnSpc>
              <a:spcBef>
                <a:spcPct val="0"/>
              </a:spcBef>
              <a:spcAft>
                <a:spcPct val="0"/>
              </a:spcAft>
            </a:pPr>
            <a:r>
              <a:rPr lang="en-US" sz="3300" b="1">
                <a:solidFill>
                  <a:schemeClr val="bg1"/>
                </a:solidFill>
                <a:latin typeface="Arial Narrow" pitchFamily="34" charset="0"/>
              </a:rPr>
              <a:t>Combines a cloud service with </a:t>
            </a:r>
            <a:br>
              <a:rPr lang="en-US" sz="3300" b="1">
                <a:solidFill>
                  <a:schemeClr val="bg1"/>
                </a:solidFill>
                <a:latin typeface="Arial Narrow" pitchFamily="34" charset="0"/>
              </a:rPr>
            </a:br>
            <a:r>
              <a:rPr lang="en-US" sz="3300" b="1">
                <a:solidFill>
                  <a:schemeClr val="bg1"/>
                </a:solidFill>
                <a:latin typeface="Arial Narrow" pitchFamily="34" charset="0"/>
              </a:rPr>
              <a:t>an on premises service</a:t>
            </a:r>
          </a:p>
          <a:p>
            <a:pPr defTabSz="1540670" fontAlgn="base">
              <a:lnSpc>
                <a:spcPct val="85000"/>
              </a:lnSpc>
              <a:spcBef>
                <a:spcPct val="0"/>
              </a:spcBef>
              <a:spcAft>
                <a:spcPct val="0"/>
              </a:spcAft>
            </a:pPr>
            <a:endParaRPr lang="en-US" sz="2700">
              <a:solidFill>
                <a:schemeClr val="bg1"/>
              </a:solidFill>
              <a:latin typeface="Arial Narrow" pitchFamily="34" charset="0"/>
            </a:endParaRPr>
          </a:p>
          <a:p>
            <a:pPr defTabSz="1540670" fontAlgn="base">
              <a:lnSpc>
                <a:spcPct val="85000"/>
              </a:lnSpc>
              <a:spcBef>
                <a:spcPct val="0"/>
              </a:spcBef>
              <a:spcAft>
                <a:spcPct val="0"/>
              </a:spcAft>
            </a:pPr>
            <a:endParaRPr lang="en-US" sz="3300" b="1">
              <a:solidFill>
                <a:schemeClr val="bg1"/>
              </a:solidFill>
              <a:latin typeface="Arial Narrow" pitchFamily="34" charset="0"/>
            </a:endParaRPr>
          </a:p>
          <a:p>
            <a:pPr defTabSz="1540670" fontAlgn="base">
              <a:lnSpc>
                <a:spcPct val="85000"/>
              </a:lnSpc>
              <a:spcBef>
                <a:spcPct val="0"/>
              </a:spcBef>
              <a:spcAft>
                <a:spcPct val="0"/>
              </a:spcAft>
            </a:pPr>
            <a:endParaRPr lang="en-US" sz="2700">
              <a:solidFill>
                <a:schemeClr val="bg1"/>
              </a:solidFill>
              <a:latin typeface="Arial Narrow" pitchFamily="34" charset="0"/>
            </a:endParaRPr>
          </a:p>
          <a:p>
            <a:pPr defTabSz="1540670" fontAlgn="base">
              <a:lnSpc>
                <a:spcPct val="85000"/>
              </a:lnSpc>
              <a:spcBef>
                <a:spcPct val="0"/>
              </a:spcBef>
              <a:spcAft>
                <a:spcPct val="0"/>
              </a:spcAft>
            </a:pPr>
            <a:r>
              <a:rPr lang="en-US" sz="3300" b="1">
                <a:solidFill>
                  <a:schemeClr val="bg1"/>
                </a:solidFill>
                <a:latin typeface="Arial Narrow" pitchFamily="34" charset="0"/>
              </a:rPr>
              <a:t>Scrubs traffic clean </a:t>
            </a:r>
          </a:p>
        </p:txBody>
      </p:sp>
      <p:sp>
        <p:nvSpPr>
          <p:cNvPr id="8" name="Rounded Rectangle 7"/>
          <p:cNvSpPr/>
          <p:nvPr/>
        </p:nvSpPr>
        <p:spPr bwMode="auto">
          <a:xfrm>
            <a:off x="2857500" y="6172200"/>
            <a:ext cx="5943600" cy="3771900"/>
          </a:xfrm>
          <a:prstGeom prst="round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137160" tIns="68580" rIns="137160" bIns="68580" numCol="1" rtlCol="0" anchor="t" anchorCtr="0" compatLnSpc="1">
            <a:prstTxWarp prst="textNoShape">
              <a:avLst/>
            </a:prstTxWarp>
            <a:noAutofit/>
          </a:bodyPr>
          <a:lstStyle/>
          <a:p>
            <a:pPr defTabSz="1540670" fontAlgn="base">
              <a:lnSpc>
                <a:spcPct val="85000"/>
              </a:lnSpc>
              <a:spcBef>
                <a:spcPct val="0"/>
              </a:spcBef>
              <a:spcAft>
                <a:spcPct val="0"/>
              </a:spcAft>
            </a:pPr>
            <a:r>
              <a:rPr lang="en-US" sz="2700">
                <a:solidFill>
                  <a:schemeClr val="bg1"/>
                </a:solidFill>
                <a:latin typeface="Arial Narrow" pitchFamily="34" charset="0"/>
              </a:rPr>
              <a:t>Specialist Cloud Provider</a:t>
            </a:r>
          </a:p>
          <a:p>
            <a:pPr defTabSz="1540670"/>
            <a:endParaRPr lang="en-US" sz="2700">
              <a:solidFill>
                <a:schemeClr val="bg1"/>
              </a:solidFill>
              <a:latin typeface="Arial Narrow" pitchFamily="34" charset="0"/>
            </a:endParaRPr>
          </a:p>
          <a:p>
            <a:pPr defTabSz="1540670"/>
            <a:r>
              <a:rPr lang="en-US" sz="2700">
                <a:solidFill>
                  <a:schemeClr val="bg1"/>
                </a:solidFill>
                <a:latin typeface="Arial Narrow" pitchFamily="34" charset="0"/>
              </a:rPr>
              <a:t>A specialty service that takes </a:t>
            </a:r>
            <a:br>
              <a:rPr lang="en-US" sz="2700">
                <a:solidFill>
                  <a:schemeClr val="bg1"/>
                </a:solidFill>
                <a:latin typeface="Arial Narrow" pitchFamily="34" charset="0"/>
              </a:rPr>
            </a:br>
            <a:r>
              <a:rPr lang="en-US" sz="2700">
                <a:solidFill>
                  <a:schemeClr val="bg1"/>
                </a:solidFill>
                <a:latin typeface="Arial Narrow" pitchFamily="34" charset="0"/>
              </a:rPr>
              <a:t>all of a customer’s traffic and </a:t>
            </a:r>
            <a:br>
              <a:rPr lang="en-US" sz="2700">
                <a:solidFill>
                  <a:schemeClr val="bg1"/>
                </a:solidFill>
                <a:latin typeface="Arial Narrow" pitchFamily="34" charset="0"/>
              </a:rPr>
            </a:br>
            <a:r>
              <a:rPr lang="en-US" sz="2700">
                <a:solidFill>
                  <a:schemeClr val="bg1"/>
                </a:solidFill>
                <a:latin typeface="Arial Narrow" pitchFamily="34" charset="0"/>
              </a:rPr>
              <a:t>“scrubs” it to remove the DDoS </a:t>
            </a:r>
            <a:br>
              <a:rPr lang="en-US" sz="2700">
                <a:solidFill>
                  <a:schemeClr val="bg1"/>
                </a:solidFill>
                <a:latin typeface="Arial Narrow" pitchFamily="34" charset="0"/>
              </a:rPr>
            </a:br>
            <a:r>
              <a:rPr lang="en-US" sz="2700">
                <a:solidFill>
                  <a:schemeClr val="bg1"/>
                </a:solidFill>
                <a:latin typeface="Arial Narrow" pitchFamily="34" charset="0"/>
              </a:rPr>
              <a:t>traffic and then forwards only the </a:t>
            </a:r>
            <a:br>
              <a:rPr lang="en-US" sz="2700">
                <a:solidFill>
                  <a:schemeClr val="bg1"/>
                </a:solidFill>
                <a:latin typeface="Arial Narrow" pitchFamily="34" charset="0"/>
              </a:rPr>
            </a:br>
            <a:r>
              <a:rPr lang="en-US" sz="2700">
                <a:solidFill>
                  <a:schemeClr val="bg1"/>
                </a:solidFill>
                <a:latin typeface="Arial Narrow" pitchFamily="34" charset="0"/>
              </a:rPr>
              <a:t>good traffic to the customer</a:t>
            </a:r>
            <a:endParaRPr lang="en-US" sz="3300" b="1">
              <a:solidFill>
                <a:schemeClr val="bg1"/>
              </a:solidFill>
              <a:latin typeface="Arial Narrow" pitchFamily="34" charset="0"/>
            </a:endParaRPr>
          </a:p>
          <a:p>
            <a:pPr defTabSz="1540670"/>
            <a:r>
              <a:rPr lang="en-US" sz="2700">
                <a:solidFill>
                  <a:schemeClr val="bg1"/>
                </a:solidFill>
                <a:latin typeface="Arial Narrow" pitchFamily="34" charset="0"/>
              </a:rPr>
              <a:t>Scrubs traffic clean</a:t>
            </a:r>
            <a:endParaRPr lang="en-US" sz="3300" b="1">
              <a:solidFill>
                <a:schemeClr val="bg1"/>
              </a:solidFill>
              <a:latin typeface="Arial Narrow" pitchFamily="34" charset="0"/>
            </a:endParaRPr>
          </a:p>
        </p:txBody>
      </p:sp>
    </p:spTree>
    <p:custDataLst>
      <p:tags r:id="rId1"/>
    </p:custDataLst>
    <p:extLst>
      <p:ext uri="{BB962C8B-B14F-4D97-AF65-F5344CB8AC3E}">
        <p14:creationId xmlns:p14="http://schemas.microsoft.com/office/powerpoint/2010/main" val="38944646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2796" y="252875"/>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Compare Solutions</a:t>
            </a:r>
          </a:p>
        </p:txBody>
      </p:sp>
      <p:cxnSp>
        <p:nvCxnSpPr>
          <p:cNvPr id="5" name="Straight Connector 4"/>
          <p:cNvCxnSpPr/>
          <p:nvPr/>
        </p:nvCxnSpPr>
        <p:spPr bwMode="auto">
          <a:xfrm flipV="1">
            <a:off x="4229100" y="2301072"/>
            <a:ext cx="0" cy="60579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7" name="Straight Connector 6"/>
          <p:cNvCxnSpPr/>
          <p:nvPr/>
        </p:nvCxnSpPr>
        <p:spPr bwMode="auto">
          <a:xfrm>
            <a:off x="4229100" y="8343900"/>
            <a:ext cx="10287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8" name="TextBox 7"/>
          <p:cNvSpPr txBox="1"/>
          <p:nvPr/>
        </p:nvSpPr>
        <p:spPr>
          <a:xfrm>
            <a:off x="4114801" y="8335823"/>
            <a:ext cx="834267" cy="507831"/>
          </a:xfrm>
          <a:prstGeom prst="rect">
            <a:avLst/>
          </a:prstGeom>
          <a:noFill/>
        </p:spPr>
        <p:txBody>
          <a:bodyPr wrap="none" rtlCol="0" anchor="ctr">
            <a:spAutoFit/>
          </a:bodyPr>
          <a:lstStyle/>
          <a:p>
            <a:r>
              <a:rPr lang="en-US" sz="2700">
                <a:latin typeface="+mj-lt"/>
              </a:rPr>
              <a:t>Poor</a:t>
            </a:r>
          </a:p>
        </p:txBody>
      </p:sp>
      <p:sp>
        <p:nvSpPr>
          <p:cNvPr id="9" name="TextBox 8"/>
          <p:cNvSpPr txBox="1"/>
          <p:nvPr/>
        </p:nvSpPr>
        <p:spPr>
          <a:xfrm>
            <a:off x="13207363" y="8450123"/>
            <a:ext cx="1425583" cy="507831"/>
          </a:xfrm>
          <a:prstGeom prst="rect">
            <a:avLst/>
          </a:prstGeom>
          <a:noFill/>
        </p:spPr>
        <p:txBody>
          <a:bodyPr wrap="none" rtlCol="0" anchor="ctr">
            <a:spAutoFit/>
          </a:bodyPr>
          <a:lstStyle/>
          <a:p>
            <a:r>
              <a:rPr lang="en-US" sz="2700">
                <a:latin typeface="+mj-lt"/>
              </a:rPr>
              <a:t>Excellent</a:t>
            </a:r>
          </a:p>
        </p:txBody>
      </p:sp>
      <p:sp>
        <p:nvSpPr>
          <p:cNvPr id="10" name="TextBox 9"/>
          <p:cNvSpPr txBox="1"/>
          <p:nvPr/>
        </p:nvSpPr>
        <p:spPr>
          <a:xfrm>
            <a:off x="3105338" y="7650023"/>
            <a:ext cx="750462" cy="507831"/>
          </a:xfrm>
          <a:prstGeom prst="rect">
            <a:avLst/>
          </a:prstGeom>
          <a:noFill/>
        </p:spPr>
        <p:txBody>
          <a:bodyPr wrap="none" rtlCol="0" anchor="ctr">
            <a:spAutoFit/>
          </a:bodyPr>
          <a:lstStyle/>
          <a:p>
            <a:r>
              <a:rPr lang="en-US" sz="2700">
                <a:latin typeface="+mj-lt"/>
              </a:rPr>
              <a:t>Low</a:t>
            </a:r>
          </a:p>
        </p:txBody>
      </p:sp>
      <p:sp>
        <p:nvSpPr>
          <p:cNvPr id="11" name="TextBox 10"/>
          <p:cNvSpPr txBox="1"/>
          <p:nvPr/>
        </p:nvSpPr>
        <p:spPr>
          <a:xfrm>
            <a:off x="3181166" y="2245259"/>
            <a:ext cx="817853" cy="507831"/>
          </a:xfrm>
          <a:prstGeom prst="rect">
            <a:avLst/>
          </a:prstGeom>
          <a:noFill/>
        </p:spPr>
        <p:txBody>
          <a:bodyPr wrap="none" rtlCol="0" anchor="ctr">
            <a:spAutoFit/>
          </a:bodyPr>
          <a:lstStyle/>
          <a:p>
            <a:r>
              <a:rPr lang="en-US" sz="2700">
                <a:latin typeface="+mj-lt"/>
              </a:rPr>
              <a:t>High</a:t>
            </a:r>
          </a:p>
        </p:txBody>
      </p:sp>
      <p:sp>
        <p:nvSpPr>
          <p:cNvPr id="12" name="Rectangle 11"/>
          <p:cNvSpPr/>
          <p:nvPr/>
        </p:nvSpPr>
        <p:spPr>
          <a:xfrm>
            <a:off x="2283196" y="4572000"/>
            <a:ext cx="1982594" cy="1154162"/>
          </a:xfrm>
          <a:prstGeom prst="rect">
            <a:avLst/>
          </a:prstGeom>
          <a:noFill/>
        </p:spPr>
        <p:txBody>
          <a:bodyPr wrap="none" lIns="137160" tIns="68580" rIns="137160" bIns="68580">
            <a:spAutoFit/>
          </a:bodyPr>
          <a:lstStyle/>
          <a:p>
            <a:pPr algn="ctr"/>
            <a:r>
              <a:rPr lang="en-US" sz="660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Price</a:t>
            </a:r>
          </a:p>
        </p:txBody>
      </p:sp>
      <p:sp>
        <p:nvSpPr>
          <p:cNvPr id="13" name="Rectangle 12"/>
          <p:cNvSpPr/>
          <p:nvPr/>
        </p:nvSpPr>
        <p:spPr>
          <a:xfrm>
            <a:off x="6639366" y="8343900"/>
            <a:ext cx="4700261" cy="1154162"/>
          </a:xfrm>
          <a:prstGeom prst="rect">
            <a:avLst/>
          </a:prstGeom>
          <a:noFill/>
        </p:spPr>
        <p:txBody>
          <a:bodyPr wrap="none" lIns="137160" tIns="68580" rIns="137160" bIns="68580">
            <a:spAutoFit/>
          </a:bodyPr>
          <a:lstStyle/>
          <a:p>
            <a:pPr algn="ctr"/>
            <a:r>
              <a:rPr lang="en-US" sz="660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Performance</a:t>
            </a:r>
          </a:p>
        </p:txBody>
      </p:sp>
      <p:sp>
        <p:nvSpPr>
          <p:cNvPr id="14" name="Oval 13"/>
          <p:cNvSpPr/>
          <p:nvPr/>
        </p:nvSpPr>
        <p:spPr bwMode="auto">
          <a:xfrm>
            <a:off x="4229100" y="6629400"/>
            <a:ext cx="1828800" cy="1600200"/>
          </a:xfrm>
          <a:prstGeom prst="ellipse">
            <a:avLst/>
          </a:prstGeom>
          <a:solidFill>
            <a:schemeClr val="accent4"/>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ctr" anchorCtr="0" compatLnSpc="1">
            <a:prstTxWarp prst="textNoShape">
              <a:avLst/>
            </a:prstTxWarp>
            <a:noAutofit/>
          </a:bodyPr>
          <a:lstStyle/>
          <a:p>
            <a:pPr algn="ctr" defTabSz="1540670" fontAlgn="base">
              <a:lnSpc>
                <a:spcPct val="85000"/>
              </a:lnSpc>
              <a:spcBef>
                <a:spcPct val="0"/>
              </a:spcBef>
              <a:spcAft>
                <a:spcPct val="0"/>
              </a:spcAft>
            </a:pPr>
            <a:r>
              <a:rPr lang="en-US" sz="2700" b="1">
                <a:latin typeface="+mj-lt"/>
              </a:rPr>
              <a:t>Do</a:t>
            </a:r>
          </a:p>
          <a:p>
            <a:pPr algn="ctr" defTabSz="1540670" fontAlgn="base">
              <a:lnSpc>
                <a:spcPct val="85000"/>
              </a:lnSpc>
              <a:spcBef>
                <a:spcPct val="0"/>
              </a:spcBef>
              <a:spcAft>
                <a:spcPct val="0"/>
              </a:spcAft>
            </a:pPr>
            <a:r>
              <a:rPr lang="en-US" sz="2700">
                <a:latin typeface="+mj-lt"/>
              </a:rPr>
              <a:t>Nothing</a:t>
            </a:r>
            <a:endParaRPr lang="en-US" sz="2700" b="1">
              <a:latin typeface="+mj-lt"/>
            </a:endParaRPr>
          </a:p>
        </p:txBody>
      </p:sp>
      <p:sp>
        <p:nvSpPr>
          <p:cNvPr id="15" name="Oval 14"/>
          <p:cNvSpPr/>
          <p:nvPr/>
        </p:nvSpPr>
        <p:spPr bwMode="auto">
          <a:xfrm>
            <a:off x="5600700" y="3456989"/>
            <a:ext cx="1828800" cy="1600200"/>
          </a:xfrm>
          <a:prstGeom prst="ellipse">
            <a:avLst/>
          </a:prstGeom>
          <a:solidFill>
            <a:schemeClr val="accent4"/>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ctr" anchorCtr="0" compatLnSpc="1">
            <a:prstTxWarp prst="textNoShape">
              <a:avLst/>
            </a:prstTxWarp>
            <a:noAutofit/>
          </a:bodyPr>
          <a:lstStyle/>
          <a:p>
            <a:pPr algn="ctr" defTabSz="1540670" fontAlgn="base">
              <a:lnSpc>
                <a:spcPct val="85000"/>
              </a:lnSpc>
              <a:spcBef>
                <a:spcPct val="0"/>
              </a:spcBef>
              <a:spcAft>
                <a:spcPct val="0"/>
              </a:spcAft>
            </a:pPr>
            <a:r>
              <a:rPr lang="en-US" sz="2700" b="1">
                <a:latin typeface="+mj-lt"/>
              </a:rPr>
              <a:t>On</a:t>
            </a:r>
          </a:p>
          <a:p>
            <a:pPr algn="ctr" defTabSz="1540670" fontAlgn="base">
              <a:lnSpc>
                <a:spcPct val="85000"/>
              </a:lnSpc>
              <a:spcBef>
                <a:spcPct val="0"/>
              </a:spcBef>
              <a:spcAft>
                <a:spcPct val="0"/>
              </a:spcAft>
            </a:pPr>
            <a:r>
              <a:rPr lang="en-US" sz="2700">
                <a:latin typeface="+mj-lt"/>
              </a:rPr>
              <a:t>Premises</a:t>
            </a:r>
          </a:p>
        </p:txBody>
      </p:sp>
      <p:sp>
        <p:nvSpPr>
          <p:cNvPr id="16" name="Oval 15"/>
          <p:cNvSpPr/>
          <p:nvPr/>
        </p:nvSpPr>
        <p:spPr bwMode="auto">
          <a:xfrm>
            <a:off x="9715500" y="4800600"/>
            <a:ext cx="1828800" cy="1600200"/>
          </a:xfrm>
          <a:prstGeom prst="ellipse">
            <a:avLst/>
          </a:prstGeom>
          <a:solidFill>
            <a:schemeClr val="accent4"/>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ctr" anchorCtr="0" compatLnSpc="1">
            <a:prstTxWarp prst="textNoShape">
              <a:avLst/>
            </a:prstTxWarp>
            <a:noAutofit/>
          </a:bodyPr>
          <a:lstStyle/>
          <a:p>
            <a:pPr algn="ctr" defTabSz="1540670" fontAlgn="base">
              <a:lnSpc>
                <a:spcPct val="85000"/>
              </a:lnSpc>
              <a:spcBef>
                <a:spcPct val="0"/>
              </a:spcBef>
              <a:spcAft>
                <a:spcPct val="0"/>
              </a:spcAft>
            </a:pPr>
            <a:r>
              <a:rPr lang="en-US" sz="2700" b="1">
                <a:latin typeface="+mj-lt"/>
              </a:rPr>
              <a:t>Cloud</a:t>
            </a:r>
          </a:p>
          <a:p>
            <a:pPr algn="ctr" defTabSz="1540670" fontAlgn="base">
              <a:lnSpc>
                <a:spcPct val="85000"/>
              </a:lnSpc>
              <a:spcBef>
                <a:spcPct val="0"/>
              </a:spcBef>
              <a:spcAft>
                <a:spcPct val="0"/>
              </a:spcAft>
            </a:pPr>
            <a:r>
              <a:rPr lang="en-US" sz="2700">
                <a:latin typeface="+mj-lt"/>
              </a:rPr>
              <a:t>Scrubbing</a:t>
            </a:r>
          </a:p>
        </p:txBody>
      </p:sp>
      <p:sp>
        <p:nvSpPr>
          <p:cNvPr id="17" name="Oval 16"/>
          <p:cNvSpPr/>
          <p:nvPr/>
        </p:nvSpPr>
        <p:spPr bwMode="auto">
          <a:xfrm>
            <a:off x="12001500" y="2171700"/>
            <a:ext cx="1828800" cy="1600200"/>
          </a:xfrm>
          <a:prstGeom prst="ellipse">
            <a:avLst/>
          </a:prstGeom>
          <a:solidFill>
            <a:schemeClr val="accent4"/>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ctr" anchorCtr="0" compatLnSpc="1">
            <a:prstTxWarp prst="textNoShape">
              <a:avLst/>
            </a:prstTxWarp>
            <a:noAutofit/>
          </a:bodyPr>
          <a:lstStyle/>
          <a:p>
            <a:pPr algn="ctr" defTabSz="1540670" fontAlgn="base">
              <a:lnSpc>
                <a:spcPct val="85000"/>
              </a:lnSpc>
              <a:spcBef>
                <a:spcPct val="0"/>
              </a:spcBef>
              <a:spcAft>
                <a:spcPct val="0"/>
              </a:spcAft>
            </a:pPr>
            <a:r>
              <a:rPr lang="en-US" sz="2700" b="1">
                <a:latin typeface="+mj-lt"/>
              </a:rPr>
              <a:t>On </a:t>
            </a:r>
            <a:r>
              <a:rPr lang="en-US" sz="2700" b="1" err="1">
                <a:latin typeface="+mj-lt"/>
              </a:rPr>
              <a:t>Prem</a:t>
            </a:r>
            <a:endParaRPr lang="en-US" sz="2700" b="1">
              <a:latin typeface="+mj-lt"/>
            </a:endParaRPr>
          </a:p>
          <a:p>
            <a:pPr algn="ctr" defTabSz="1540670" fontAlgn="base">
              <a:lnSpc>
                <a:spcPct val="85000"/>
              </a:lnSpc>
              <a:spcBef>
                <a:spcPct val="0"/>
              </a:spcBef>
              <a:spcAft>
                <a:spcPct val="0"/>
              </a:spcAft>
            </a:pPr>
            <a:r>
              <a:rPr lang="en-US" sz="2700" b="1">
                <a:latin typeface="+mj-lt"/>
              </a:rPr>
              <a:t>+</a:t>
            </a:r>
          </a:p>
          <a:p>
            <a:pPr algn="ctr" defTabSz="1540670" fontAlgn="base">
              <a:lnSpc>
                <a:spcPct val="85000"/>
              </a:lnSpc>
              <a:spcBef>
                <a:spcPct val="0"/>
              </a:spcBef>
              <a:spcAft>
                <a:spcPct val="0"/>
              </a:spcAft>
            </a:pPr>
            <a:r>
              <a:rPr lang="en-US" sz="2700">
                <a:latin typeface="+mj-lt"/>
              </a:rPr>
              <a:t>Cloud</a:t>
            </a:r>
          </a:p>
        </p:txBody>
      </p:sp>
      <p:sp>
        <p:nvSpPr>
          <p:cNvPr id="18" name="Oval 17"/>
          <p:cNvSpPr/>
          <p:nvPr/>
        </p:nvSpPr>
        <p:spPr bwMode="auto">
          <a:xfrm>
            <a:off x="6858000" y="5486400"/>
            <a:ext cx="1828800" cy="1600200"/>
          </a:xfrm>
          <a:prstGeom prst="ellipse">
            <a:avLst/>
          </a:prstGeom>
          <a:solidFill>
            <a:schemeClr val="accent4"/>
          </a:solidFill>
          <a:ln w="28575" cap="flat" cmpd="sng" algn="ctr">
            <a:solidFill>
              <a:schemeClr val="tx1"/>
            </a:solidFill>
            <a:prstDash val="solid"/>
            <a:round/>
            <a:headEnd type="none" w="med" len="med"/>
            <a:tailEnd type="none" w="med" len="med"/>
          </a:ln>
          <a:effectLst/>
        </p:spPr>
        <p:txBody>
          <a:bodyPr vert="horz" wrap="none" lIns="137160" tIns="68580" rIns="137160" bIns="68580" numCol="1" rtlCol="0" anchor="ctr" anchorCtr="0" compatLnSpc="1">
            <a:prstTxWarp prst="textNoShape">
              <a:avLst/>
            </a:prstTxWarp>
            <a:noAutofit/>
          </a:bodyPr>
          <a:lstStyle/>
          <a:p>
            <a:pPr algn="ctr" defTabSz="1540670" fontAlgn="base">
              <a:lnSpc>
                <a:spcPct val="85000"/>
              </a:lnSpc>
              <a:spcBef>
                <a:spcPct val="0"/>
              </a:spcBef>
              <a:spcAft>
                <a:spcPct val="0"/>
              </a:spcAft>
            </a:pPr>
            <a:r>
              <a:rPr lang="en-US" sz="2700" b="1">
                <a:latin typeface="+mj-lt"/>
              </a:rPr>
              <a:t>Cloud</a:t>
            </a:r>
          </a:p>
          <a:p>
            <a:pPr algn="ctr" defTabSz="1540670" fontAlgn="base">
              <a:lnSpc>
                <a:spcPct val="85000"/>
              </a:lnSpc>
              <a:spcBef>
                <a:spcPct val="0"/>
              </a:spcBef>
              <a:spcAft>
                <a:spcPct val="0"/>
              </a:spcAft>
            </a:pPr>
            <a:r>
              <a:rPr lang="en-US" sz="2700">
                <a:latin typeface="+mj-lt"/>
              </a:rPr>
              <a:t>CDN</a:t>
            </a:r>
          </a:p>
        </p:txBody>
      </p:sp>
    </p:spTree>
    <p:custDataLst>
      <p:tags r:id="rId1"/>
    </p:custDataLst>
    <p:extLst>
      <p:ext uri="{BB962C8B-B14F-4D97-AF65-F5344CB8AC3E}">
        <p14:creationId xmlns:p14="http://schemas.microsoft.com/office/powerpoint/2010/main" val="35102115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1DE1A-6DBD-23D1-0314-441F4C27C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08D7A-A350-5C2D-06E1-C14EC259EF1E}"/>
              </a:ext>
            </a:extLst>
          </p:cNvPr>
          <p:cNvSpPr>
            <a:spLocks noGrp="1"/>
          </p:cNvSpPr>
          <p:nvPr>
            <p:ph type="title"/>
          </p:nvPr>
        </p:nvSpPr>
        <p:spPr>
          <a:xfrm>
            <a:off x="1102796" y="252875"/>
            <a:ext cx="15773400" cy="1988345"/>
          </a:xfrm>
        </p:spPr>
        <p:txBody>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Defense in Depth Revisited</a:t>
            </a:r>
          </a:p>
        </p:txBody>
      </p:sp>
      <p:graphicFrame>
        <p:nvGraphicFramePr>
          <p:cNvPr id="3" name="Table 0">
            <a:extLst>
              <a:ext uri="{FF2B5EF4-FFF2-40B4-BE49-F238E27FC236}">
                <a16:creationId xmlns:a16="http://schemas.microsoft.com/office/drawing/2014/main" id="{B15ADD6C-8270-B876-A4DC-924B761B9518}"/>
              </a:ext>
            </a:extLst>
          </p:cNvPr>
          <p:cNvGraphicFramePr>
            <a:graphicFrameLocks noGrp="1"/>
          </p:cNvGraphicFramePr>
          <p:nvPr/>
        </p:nvGraphicFramePr>
        <p:xfrm>
          <a:off x="2490280" y="2241221"/>
          <a:ext cx="11517549" cy="5971663"/>
        </p:xfrm>
        <a:graphic>
          <a:graphicData uri="http://schemas.openxmlformats.org/drawingml/2006/table">
            <a:tbl>
              <a:tblPr/>
              <a:tblGrid>
                <a:gridCol w="2621881">
                  <a:extLst>
                    <a:ext uri="{9D8B030D-6E8A-4147-A177-3AD203B41FA5}">
                      <a16:colId xmlns:a16="http://schemas.microsoft.com/office/drawing/2014/main" val="20000"/>
                    </a:ext>
                  </a:extLst>
                </a:gridCol>
                <a:gridCol w="4447834">
                  <a:extLst>
                    <a:ext uri="{9D8B030D-6E8A-4147-A177-3AD203B41FA5}">
                      <a16:colId xmlns:a16="http://schemas.microsoft.com/office/drawing/2014/main" val="20001"/>
                    </a:ext>
                  </a:extLst>
                </a:gridCol>
                <a:gridCol w="4447834">
                  <a:extLst>
                    <a:ext uri="{9D8B030D-6E8A-4147-A177-3AD203B41FA5}">
                      <a16:colId xmlns:a16="http://schemas.microsoft.com/office/drawing/2014/main" val="20002"/>
                    </a:ext>
                  </a:extLst>
                </a:gridCol>
              </a:tblGrid>
              <a:tr h="735529">
                <a:tc>
                  <a:txBody>
                    <a:bodyPr/>
                    <a:lstStyle/>
                    <a:p>
                      <a:pPr marL="0" indent="0" algn="l">
                        <a:buNone/>
                      </a:pPr>
                      <a:r>
                        <a:rPr lang="en-US" sz="2800" b="1" dirty="0">
                          <a:solidFill>
                            <a:srgbClr val="FFFFFF"/>
                          </a:solidFill>
                          <a:latin typeface="Calibri" pitchFamily="34" charset="0"/>
                          <a:ea typeface="Calibri" pitchFamily="34" charset="-122"/>
                          <a:cs typeface="Calibri" pitchFamily="34" charset="-120"/>
                        </a:rPr>
                        <a:t>Attack</a:t>
                      </a:r>
                      <a:endParaRPr lang="en-US" sz="28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marL="0" indent="0" algn="l">
                        <a:buNone/>
                      </a:pPr>
                      <a:r>
                        <a:rPr lang="en-US" sz="2800" b="1" dirty="0">
                          <a:solidFill>
                            <a:srgbClr val="FFFFFF"/>
                          </a:solidFill>
                          <a:latin typeface="Calibri" pitchFamily="34" charset="0"/>
                          <a:ea typeface="Calibri" pitchFamily="34" charset="-122"/>
                          <a:cs typeface="Calibri" pitchFamily="34" charset="-120"/>
                        </a:rPr>
                        <a:t>Primary Controls</a:t>
                      </a:r>
                      <a:endParaRPr lang="en-US" sz="28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marL="0" indent="0" algn="l">
                        <a:buNone/>
                      </a:pPr>
                      <a:r>
                        <a:rPr lang="en-US" sz="2800" b="1" dirty="0">
                          <a:solidFill>
                            <a:srgbClr val="FFFFFF"/>
                          </a:solidFill>
                          <a:latin typeface="Calibri" pitchFamily="34" charset="0"/>
                          <a:ea typeface="Calibri" pitchFamily="34" charset="-122"/>
                          <a:cs typeface="Calibri" pitchFamily="34" charset="-120"/>
                        </a:rPr>
                        <a:t>Secondary Controls</a:t>
                      </a:r>
                      <a:endParaRPr lang="en-US" sz="28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735529">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Phishing</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User training, Email security</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Sandboxing, DNS filtering</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5529">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Credential theft</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MFA, Conditional Access</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Monitoring, User training</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735529">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Malware</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EDR, Patching</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NGFW, Application control</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5529">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MitM</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TLS, Certificates</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MFA, VPN</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735529">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DDoS</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ISP mitigation, Cloud scrubbing</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NGFW, Redundant Internet</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5529">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Insider misuse</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Least privilege</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Logging, SIEM</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781310">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Third-party compromise</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Vendor management</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A1A1A"/>
                          </a:solidFill>
                          <a:latin typeface="Calibri" pitchFamily="34" charset="0"/>
                          <a:ea typeface="Calibri" pitchFamily="34" charset="-122"/>
                          <a:cs typeface="Calibri" pitchFamily="34" charset="-120"/>
                        </a:rPr>
                        <a:t>Segmentation, Monitoring</a:t>
                      </a:r>
                      <a:endParaRPr lang="en-US" sz="24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12312685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927531"/>
            <a:ext cx="16870680" cy="822960"/>
          </a:xfrm>
          <a:prstGeom prst="rect">
            <a:avLst/>
          </a:prstGeom>
          <a:noFill/>
          <a:ln/>
        </p:spPr>
        <p:txBody>
          <a:bodyPr wrap="square" lIns="0" tIns="0" rIns="0" bIns="0" rtlCol="0" anchor="ctr"/>
          <a:lstStyle/>
          <a:p>
            <a:r>
              <a:rPr lang="en-US" sz="6600" b="1" dirty="0">
                <a:solidFill>
                  <a:srgbClr val="1F3864"/>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What an Examiner Might Look For</a:t>
            </a:r>
            <a:endParaRPr lang="en-US" sz="66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graphicFrame>
        <p:nvGraphicFramePr>
          <p:cNvPr id="3" name="Table 0"/>
          <p:cNvGraphicFramePr>
            <a:graphicFrameLocks noGrp="1"/>
          </p:cNvGraphicFramePr>
          <p:nvPr>
            <p:extLst>
              <p:ext uri="{D42A27DB-BD31-4B8C-83A1-F6EECF244321}">
                <p14:modId xmlns:p14="http://schemas.microsoft.com/office/powerpoint/2010/main" val="3125671178"/>
              </p:ext>
            </p:extLst>
          </p:nvPr>
        </p:nvGraphicFramePr>
        <p:xfrm>
          <a:off x="1222766" y="2117229"/>
          <a:ext cx="15327874" cy="7426320"/>
        </p:xfrm>
        <a:graphic>
          <a:graphicData uri="http://schemas.openxmlformats.org/drawingml/2006/table">
            <a:tbl>
              <a:tblPr/>
              <a:tblGrid>
                <a:gridCol w="5238358">
                  <a:extLst>
                    <a:ext uri="{9D8B030D-6E8A-4147-A177-3AD203B41FA5}">
                      <a16:colId xmlns:a16="http://schemas.microsoft.com/office/drawing/2014/main" val="20000"/>
                    </a:ext>
                  </a:extLst>
                </a:gridCol>
                <a:gridCol w="10089516">
                  <a:extLst>
                    <a:ext uri="{9D8B030D-6E8A-4147-A177-3AD203B41FA5}">
                      <a16:colId xmlns:a16="http://schemas.microsoft.com/office/drawing/2014/main" val="20001"/>
                    </a:ext>
                  </a:extLst>
                </a:gridCol>
              </a:tblGrid>
              <a:tr h="715080">
                <a:tc>
                  <a:txBody>
                    <a:bodyPr/>
                    <a:lstStyle/>
                    <a:p>
                      <a:pPr marL="0" indent="0" algn="l">
                        <a:buNone/>
                      </a:pPr>
                      <a:r>
                        <a:rPr lang="en-US" sz="3200" b="1" dirty="0">
                          <a:solidFill>
                            <a:srgbClr val="FFFFFF"/>
                          </a:solidFill>
                          <a:latin typeface="Calibri" pitchFamily="34" charset="0"/>
                          <a:ea typeface="Calibri" pitchFamily="34" charset="-122"/>
                          <a:cs typeface="Calibri" pitchFamily="34" charset="-120"/>
                        </a:rPr>
                        <a:t>Look For</a:t>
                      </a:r>
                      <a:endParaRPr lang="en-US" sz="32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marL="0" indent="0" algn="l">
                        <a:buNone/>
                      </a:pPr>
                      <a:r>
                        <a:rPr lang="en-US" sz="3200" b="1" dirty="0">
                          <a:solidFill>
                            <a:srgbClr val="FFFFFF"/>
                          </a:solidFill>
                          <a:latin typeface="Calibri" pitchFamily="34" charset="0"/>
                          <a:ea typeface="Calibri" pitchFamily="34" charset="-122"/>
                          <a:cs typeface="Calibri" pitchFamily="34" charset="-120"/>
                        </a:rPr>
                        <a:t>Why It Matters</a:t>
                      </a:r>
                      <a:endParaRPr lang="en-US" sz="32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715080">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Multi-factor authentication (MFA)</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Reduces credential theft.</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5080">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Security awareness training</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Helps defend against phishing and social engineering.</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715080">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Patch management</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Closes known software vulnerabilities.</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5080">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Endpoint detection and response (EDR)</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Detects malware and ransomware on workstations and servers.</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715080">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Email security</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Filters malicious messages before users see them.</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15080">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Network monitoring and logging</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Detects suspicious activity and supports investigations.</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715080">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Backups and recovery testing</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Limits the impact of ransomware and other destructive events.</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715080">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DDoS planning</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Ensures critical services remain available during attacks.</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r h="715080">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Vendor management</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2800" dirty="0">
                          <a:solidFill>
                            <a:srgbClr val="1A1A1A"/>
                          </a:solidFill>
                          <a:latin typeface="Calibri" pitchFamily="34" charset="0"/>
                          <a:ea typeface="Calibri" pitchFamily="34" charset="-122"/>
                          <a:cs typeface="Calibri" pitchFamily="34" charset="-120"/>
                        </a:rPr>
                        <a:t>Third parties often operate critical systems or controls.</a:t>
                      </a:r>
                      <a:endParaRPr lang="en-US" sz="2800" dirty="0">
                        <a:latin typeface="Calibri" charset="0"/>
                        <a:ea typeface="Calibri" charset="0"/>
                        <a:cs typeface="Calibri" charset="0"/>
                      </a:endParaRPr>
                    </a:p>
                  </a:txBody>
                  <a:tcPr marL="137160" marR="137160" marT="68580" marB="6858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2473B-4A42-9C1A-7E67-BC28A0DCB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82F6D-EB84-DD7D-02D4-63EDD305D831}"/>
              </a:ext>
            </a:extLst>
          </p:cNvPr>
          <p:cNvSpPr>
            <a:spLocks noGrp="1"/>
          </p:cNvSpPr>
          <p:nvPr>
            <p:ph type="title"/>
          </p:nvPr>
        </p:nvSpPr>
        <p:spPr/>
        <p:txBody>
          <a:bodyPr/>
          <a:lstStyle/>
          <a:p>
            <a:r>
              <a:rPr lang="en-US" dirty="0"/>
              <a:t>Key Takeaways</a:t>
            </a:r>
            <a:endParaRPr dirty="0"/>
          </a:p>
        </p:txBody>
      </p:sp>
      <p:sp>
        <p:nvSpPr>
          <p:cNvPr id="3" name="Content Placeholder 2">
            <a:extLst>
              <a:ext uri="{FF2B5EF4-FFF2-40B4-BE49-F238E27FC236}">
                <a16:creationId xmlns:a16="http://schemas.microsoft.com/office/drawing/2014/main" id="{25DF9E3A-37F1-6E71-2146-8EA586DBA926}"/>
              </a:ext>
            </a:extLst>
          </p:cNvPr>
          <p:cNvSpPr>
            <a:spLocks noGrp="1"/>
          </p:cNvSpPr>
          <p:nvPr>
            <p:ph idx="1"/>
          </p:nvPr>
        </p:nvSpPr>
        <p:spPr>
          <a:xfrm>
            <a:off x="1257299" y="2193131"/>
            <a:ext cx="12889007" cy="4171810"/>
          </a:xfrm>
        </p:spPr>
        <p:txBody>
          <a:bodyPr>
            <a:normAutofit lnSpcReduction="10000"/>
          </a:bodyPr>
          <a:lstStyle/>
          <a:p>
            <a:pPr marL="0" indent="0">
              <a:buNone/>
            </a:pPr>
            <a:r>
              <a:rPr lang="en-US" dirty="0"/>
              <a:t>Remember</a:t>
            </a:r>
          </a:p>
          <a:p>
            <a:pPr marL="0" indent="0">
              <a:buNone/>
            </a:pPr>
            <a:r>
              <a:rPr lang="en-US" dirty="0"/>
              <a:t>✓ Every attack has an objective.</a:t>
            </a:r>
          </a:p>
          <a:p>
            <a:pPr marL="0" indent="0">
              <a:buNone/>
            </a:pPr>
            <a:r>
              <a:rPr lang="en-US" dirty="0"/>
              <a:t>✓ Every attack has a preferred target.</a:t>
            </a:r>
          </a:p>
          <a:p>
            <a:pPr marL="0" indent="0">
              <a:buNone/>
            </a:pPr>
            <a:r>
              <a:rPr lang="en-US" dirty="0"/>
              <a:t>✓ Every attack has one or more countermeasures.</a:t>
            </a:r>
          </a:p>
          <a:p>
            <a:pPr marL="0" indent="0">
              <a:buNone/>
            </a:pPr>
            <a:r>
              <a:rPr lang="en-US" dirty="0"/>
              <a:t>✓ Every countermeasure has limitations.</a:t>
            </a:r>
          </a:p>
          <a:p>
            <a:pPr marL="0" indent="0">
              <a:buNone/>
            </a:pPr>
            <a:r>
              <a:rPr lang="en-US" dirty="0"/>
              <a:t>✓ Banks reduce risk through layers of controls.</a:t>
            </a:r>
          </a:p>
        </p:txBody>
      </p:sp>
      <p:sp>
        <p:nvSpPr>
          <p:cNvPr id="5" name="TextBox 4">
            <a:extLst>
              <a:ext uri="{FF2B5EF4-FFF2-40B4-BE49-F238E27FC236}">
                <a16:creationId xmlns:a16="http://schemas.microsoft.com/office/drawing/2014/main" id="{0417E03F-B304-987E-6145-7BB38BB77755}"/>
              </a:ext>
            </a:extLst>
          </p:cNvPr>
          <p:cNvSpPr txBox="1"/>
          <p:nvPr/>
        </p:nvSpPr>
        <p:spPr>
          <a:xfrm>
            <a:off x="1105786" y="8632804"/>
            <a:ext cx="16586791" cy="830997"/>
          </a:xfrm>
          <a:prstGeom prst="rect">
            <a:avLst/>
          </a:prstGeom>
          <a:noFill/>
        </p:spPr>
        <p:txBody>
          <a:bodyPr wrap="square" rtlCol="0">
            <a:spAutoFit/>
          </a:bodyPr>
          <a:lstStyle/>
          <a:p>
            <a:r>
              <a:rPr lang="en-US" sz="4800" i="1" dirty="0">
                <a:solidFill>
                  <a:schemeClr val="accent1">
                    <a:lumMod val="60000"/>
                    <a:lumOff val="40000"/>
                  </a:schemeClr>
                </a:solidFill>
              </a:rPr>
              <a:t>Good security is about managing risk—not eliminating it.</a:t>
            </a:r>
          </a:p>
        </p:txBody>
      </p:sp>
    </p:spTree>
    <p:extLst>
      <p:ext uri="{BB962C8B-B14F-4D97-AF65-F5344CB8AC3E}">
        <p14:creationId xmlns:p14="http://schemas.microsoft.com/office/powerpoint/2010/main" val="6450056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2217C-2A15-0F2B-7741-B2FB8287301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F463E2-F45D-F717-6DBF-0D9A6868A18C}"/>
              </a:ext>
            </a:extLst>
          </p:cNvPr>
          <p:cNvSpPr/>
          <p:nvPr/>
        </p:nvSpPr>
        <p:spPr>
          <a:xfrm>
            <a:off x="560070" y="841379"/>
            <a:ext cx="16870680" cy="617220"/>
          </a:xfrm>
          <a:prstGeom prst="rect">
            <a:avLst/>
          </a:prstGeom>
          <a:noFill/>
          <a:ln/>
        </p:spPr>
        <p:txBody>
          <a:bodyPr wrap="square" lIns="0" tIns="0" rIns="0" bIns="0" rtlCol="0" anchor="ctr"/>
          <a:lstStyle/>
          <a:p>
            <a:r>
              <a:rPr lang="en-US" sz="6600" b="1" dirty="0">
                <a:solidFill>
                  <a:srgbClr val="15324B"/>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Looking Ahead: Limiting the Damage</a:t>
            </a:r>
            <a:endParaRPr lang="en-US" sz="66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3" name="Text 1">
            <a:extLst>
              <a:ext uri="{FF2B5EF4-FFF2-40B4-BE49-F238E27FC236}">
                <a16:creationId xmlns:a16="http://schemas.microsoft.com/office/drawing/2014/main" id="{3BB1B981-DF5C-CFD7-7FF4-3E0F00F5DD8E}"/>
              </a:ext>
            </a:extLst>
          </p:cNvPr>
          <p:cNvSpPr/>
          <p:nvPr/>
        </p:nvSpPr>
        <p:spPr>
          <a:xfrm>
            <a:off x="967740" y="1866900"/>
            <a:ext cx="3291840" cy="301752"/>
          </a:xfrm>
          <a:prstGeom prst="rect">
            <a:avLst/>
          </a:prstGeom>
          <a:noFill/>
          <a:ln/>
        </p:spPr>
        <p:txBody>
          <a:bodyPr wrap="square" lIns="0" tIns="0" rIns="0" bIns="0" rtlCol="0" anchor="ctr"/>
          <a:lstStyle/>
          <a:p>
            <a:r>
              <a:rPr lang="en-US" sz="1500" b="1" dirty="0">
                <a:solidFill>
                  <a:srgbClr val="2B6FA3"/>
                </a:solidFill>
              </a:rPr>
              <a:t>PINE VALLEY EAST BRANCH</a:t>
            </a:r>
            <a:endParaRPr lang="en-US" sz="1500" dirty="0"/>
          </a:p>
        </p:txBody>
      </p:sp>
      <p:sp>
        <p:nvSpPr>
          <p:cNvPr id="4" name="Text 2">
            <a:extLst>
              <a:ext uri="{FF2B5EF4-FFF2-40B4-BE49-F238E27FC236}">
                <a16:creationId xmlns:a16="http://schemas.microsoft.com/office/drawing/2014/main" id="{F6AF7153-05D6-2456-83D5-05746FB8D4CB}"/>
              </a:ext>
            </a:extLst>
          </p:cNvPr>
          <p:cNvSpPr/>
          <p:nvPr/>
        </p:nvSpPr>
        <p:spPr>
          <a:xfrm>
            <a:off x="967740" y="6228588"/>
            <a:ext cx="3291840" cy="301752"/>
          </a:xfrm>
          <a:prstGeom prst="rect">
            <a:avLst/>
          </a:prstGeom>
          <a:noFill/>
          <a:ln/>
        </p:spPr>
        <p:txBody>
          <a:bodyPr wrap="square" lIns="0" tIns="0" rIns="0" bIns="0" rtlCol="0" anchor="ctr"/>
          <a:lstStyle/>
          <a:p>
            <a:r>
              <a:rPr lang="en-US" sz="1500" b="1" dirty="0">
                <a:solidFill>
                  <a:srgbClr val="5B6770"/>
                </a:solidFill>
              </a:rPr>
              <a:t>PROVIDER NETWORK</a:t>
            </a:r>
            <a:endParaRPr lang="en-US" sz="1500" dirty="0"/>
          </a:p>
        </p:txBody>
      </p:sp>
      <p:sp>
        <p:nvSpPr>
          <p:cNvPr id="5" name="Text 3">
            <a:extLst>
              <a:ext uri="{FF2B5EF4-FFF2-40B4-BE49-F238E27FC236}">
                <a16:creationId xmlns:a16="http://schemas.microsoft.com/office/drawing/2014/main" id="{C059C9DA-2795-20FD-69BE-9724385E9115}"/>
              </a:ext>
            </a:extLst>
          </p:cNvPr>
          <p:cNvSpPr/>
          <p:nvPr/>
        </p:nvSpPr>
        <p:spPr>
          <a:xfrm>
            <a:off x="967740" y="7517892"/>
            <a:ext cx="3634740" cy="301752"/>
          </a:xfrm>
          <a:prstGeom prst="rect">
            <a:avLst/>
          </a:prstGeom>
          <a:noFill/>
          <a:ln/>
        </p:spPr>
        <p:txBody>
          <a:bodyPr wrap="square" lIns="0" tIns="0" rIns="0" bIns="0" rtlCol="0" anchor="ctr"/>
          <a:lstStyle/>
          <a:p>
            <a:r>
              <a:rPr lang="en-US" sz="1500" b="1" dirty="0">
                <a:solidFill>
                  <a:srgbClr val="2E7D7D"/>
                </a:solidFill>
              </a:rPr>
              <a:t>CORE PROCESSOR DATA CENTER</a:t>
            </a:r>
            <a:endParaRPr lang="en-US" sz="1500" dirty="0"/>
          </a:p>
        </p:txBody>
      </p:sp>
      <p:sp>
        <p:nvSpPr>
          <p:cNvPr id="6" name="Shape 4">
            <a:extLst>
              <a:ext uri="{FF2B5EF4-FFF2-40B4-BE49-F238E27FC236}">
                <a16:creationId xmlns:a16="http://schemas.microsoft.com/office/drawing/2014/main" id="{2426E818-75AE-7CE6-114D-5F626BE60251}"/>
              </a:ext>
            </a:extLst>
          </p:cNvPr>
          <p:cNvSpPr/>
          <p:nvPr/>
        </p:nvSpPr>
        <p:spPr>
          <a:xfrm>
            <a:off x="9231630" y="2538984"/>
            <a:ext cx="0" cy="233172"/>
          </a:xfrm>
          <a:prstGeom prst="line">
            <a:avLst/>
          </a:prstGeom>
          <a:noFill/>
          <a:ln w="19050">
            <a:solidFill>
              <a:srgbClr val="8795A1"/>
            </a:solidFill>
            <a:prstDash val="solid"/>
            <a:tailEnd type="triangle"/>
          </a:ln>
        </p:spPr>
        <p:txBody>
          <a:bodyPr/>
          <a:lstStyle/>
          <a:p>
            <a:endParaRPr lang="en-US" sz="2700"/>
          </a:p>
        </p:txBody>
      </p:sp>
      <p:sp>
        <p:nvSpPr>
          <p:cNvPr id="7" name="Shape 5">
            <a:extLst>
              <a:ext uri="{FF2B5EF4-FFF2-40B4-BE49-F238E27FC236}">
                <a16:creationId xmlns:a16="http://schemas.microsoft.com/office/drawing/2014/main" id="{2B58F507-DC5C-0C15-B606-0FB514DDDC47}"/>
              </a:ext>
            </a:extLst>
          </p:cNvPr>
          <p:cNvSpPr/>
          <p:nvPr/>
        </p:nvSpPr>
        <p:spPr>
          <a:xfrm>
            <a:off x="9231630" y="3430524"/>
            <a:ext cx="0" cy="233172"/>
          </a:xfrm>
          <a:prstGeom prst="line">
            <a:avLst/>
          </a:prstGeom>
          <a:noFill/>
          <a:ln w="19050">
            <a:solidFill>
              <a:srgbClr val="8795A1"/>
            </a:solidFill>
            <a:prstDash val="solid"/>
            <a:tailEnd type="triangle"/>
          </a:ln>
        </p:spPr>
        <p:txBody>
          <a:bodyPr/>
          <a:lstStyle/>
          <a:p>
            <a:endParaRPr lang="en-US" sz="2700"/>
          </a:p>
        </p:txBody>
      </p:sp>
      <p:sp>
        <p:nvSpPr>
          <p:cNvPr id="8" name="Shape 6">
            <a:extLst>
              <a:ext uri="{FF2B5EF4-FFF2-40B4-BE49-F238E27FC236}">
                <a16:creationId xmlns:a16="http://schemas.microsoft.com/office/drawing/2014/main" id="{837FF031-3F42-DB8D-B7EC-EA0AEB1A545A}"/>
              </a:ext>
            </a:extLst>
          </p:cNvPr>
          <p:cNvSpPr/>
          <p:nvPr/>
        </p:nvSpPr>
        <p:spPr>
          <a:xfrm>
            <a:off x="9231630" y="4322064"/>
            <a:ext cx="0" cy="233172"/>
          </a:xfrm>
          <a:prstGeom prst="line">
            <a:avLst/>
          </a:prstGeom>
          <a:noFill/>
          <a:ln w="19050">
            <a:solidFill>
              <a:srgbClr val="8795A1"/>
            </a:solidFill>
            <a:prstDash val="solid"/>
            <a:tailEnd type="triangle"/>
          </a:ln>
        </p:spPr>
        <p:txBody>
          <a:bodyPr/>
          <a:lstStyle/>
          <a:p>
            <a:endParaRPr lang="en-US" sz="2700"/>
          </a:p>
        </p:txBody>
      </p:sp>
      <p:sp>
        <p:nvSpPr>
          <p:cNvPr id="9" name="Shape 7">
            <a:extLst>
              <a:ext uri="{FF2B5EF4-FFF2-40B4-BE49-F238E27FC236}">
                <a16:creationId xmlns:a16="http://schemas.microsoft.com/office/drawing/2014/main" id="{AB950A79-E49B-4641-1885-0A275938FF23}"/>
              </a:ext>
            </a:extLst>
          </p:cNvPr>
          <p:cNvSpPr/>
          <p:nvPr/>
        </p:nvSpPr>
        <p:spPr>
          <a:xfrm>
            <a:off x="9231630" y="5213604"/>
            <a:ext cx="0" cy="233172"/>
          </a:xfrm>
          <a:prstGeom prst="line">
            <a:avLst/>
          </a:prstGeom>
          <a:noFill/>
          <a:ln w="19050">
            <a:solidFill>
              <a:srgbClr val="8795A1"/>
            </a:solidFill>
            <a:prstDash val="solid"/>
            <a:tailEnd type="triangle"/>
          </a:ln>
        </p:spPr>
        <p:txBody>
          <a:bodyPr/>
          <a:lstStyle/>
          <a:p>
            <a:endParaRPr lang="en-US" sz="2700"/>
          </a:p>
        </p:txBody>
      </p:sp>
      <p:sp>
        <p:nvSpPr>
          <p:cNvPr id="10" name="Shape 8">
            <a:extLst>
              <a:ext uri="{FF2B5EF4-FFF2-40B4-BE49-F238E27FC236}">
                <a16:creationId xmlns:a16="http://schemas.microsoft.com/office/drawing/2014/main" id="{2A4E874F-88CB-9D2F-42CA-EC4732552C0D}"/>
              </a:ext>
            </a:extLst>
          </p:cNvPr>
          <p:cNvSpPr/>
          <p:nvPr/>
        </p:nvSpPr>
        <p:spPr>
          <a:xfrm>
            <a:off x="9231630" y="6105144"/>
            <a:ext cx="0" cy="150876"/>
          </a:xfrm>
          <a:prstGeom prst="line">
            <a:avLst/>
          </a:prstGeom>
          <a:noFill/>
          <a:ln w="19050">
            <a:solidFill>
              <a:srgbClr val="8795A1"/>
            </a:solidFill>
            <a:prstDash val="solid"/>
            <a:tailEnd type="triangle"/>
          </a:ln>
        </p:spPr>
        <p:txBody>
          <a:bodyPr/>
          <a:lstStyle/>
          <a:p>
            <a:endParaRPr lang="en-US" sz="2700"/>
          </a:p>
        </p:txBody>
      </p:sp>
      <p:sp>
        <p:nvSpPr>
          <p:cNvPr id="11" name="Shape 9">
            <a:extLst>
              <a:ext uri="{FF2B5EF4-FFF2-40B4-BE49-F238E27FC236}">
                <a16:creationId xmlns:a16="http://schemas.microsoft.com/office/drawing/2014/main" id="{6D75D63A-C1DF-DC3B-4DA9-8243DC8D71D7}"/>
              </a:ext>
            </a:extLst>
          </p:cNvPr>
          <p:cNvSpPr/>
          <p:nvPr/>
        </p:nvSpPr>
        <p:spPr>
          <a:xfrm>
            <a:off x="9231630" y="6914388"/>
            <a:ext cx="0" cy="658368"/>
          </a:xfrm>
          <a:prstGeom prst="line">
            <a:avLst/>
          </a:prstGeom>
          <a:noFill/>
          <a:ln w="19050">
            <a:solidFill>
              <a:srgbClr val="8795A1"/>
            </a:solidFill>
            <a:prstDash val="solid"/>
            <a:tailEnd type="triangle"/>
          </a:ln>
        </p:spPr>
        <p:txBody>
          <a:bodyPr/>
          <a:lstStyle/>
          <a:p>
            <a:endParaRPr lang="en-US" sz="2700"/>
          </a:p>
        </p:txBody>
      </p:sp>
      <p:sp>
        <p:nvSpPr>
          <p:cNvPr id="12" name="Shape 10">
            <a:extLst>
              <a:ext uri="{FF2B5EF4-FFF2-40B4-BE49-F238E27FC236}">
                <a16:creationId xmlns:a16="http://schemas.microsoft.com/office/drawing/2014/main" id="{BD0F0D78-27C1-A065-61E7-047D5EED1F27}"/>
              </a:ext>
            </a:extLst>
          </p:cNvPr>
          <p:cNvSpPr/>
          <p:nvPr/>
        </p:nvSpPr>
        <p:spPr>
          <a:xfrm>
            <a:off x="9231630" y="8231124"/>
            <a:ext cx="0" cy="233172"/>
          </a:xfrm>
          <a:prstGeom prst="line">
            <a:avLst/>
          </a:prstGeom>
          <a:noFill/>
          <a:ln w="19050">
            <a:solidFill>
              <a:srgbClr val="8795A1"/>
            </a:solidFill>
            <a:prstDash val="solid"/>
            <a:tailEnd type="triangle"/>
          </a:ln>
        </p:spPr>
        <p:txBody>
          <a:bodyPr/>
          <a:lstStyle/>
          <a:p>
            <a:endParaRPr lang="en-US" sz="2700"/>
          </a:p>
        </p:txBody>
      </p:sp>
      <p:sp>
        <p:nvSpPr>
          <p:cNvPr id="13" name="Text 11">
            <a:extLst>
              <a:ext uri="{FF2B5EF4-FFF2-40B4-BE49-F238E27FC236}">
                <a16:creationId xmlns:a16="http://schemas.microsoft.com/office/drawing/2014/main" id="{651C47CD-E218-AB0C-472A-B23520D784EA}"/>
              </a:ext>
            </a:extLst>
          </p:cNvPr>
          <p:cNvSpPr/>
          <p:nvPr/>
        </p:nvSpPr>
        <p:spPr>
          <a:xfrm>
            <a:off x="1584960" y="5679948"/>
            <a:ext cx="3291840" cy="301752"/>
          </a:xfrm>
          <a:prstGeom prst="rect">
            <a:avLst/>
          </a:prstGeom>
          <a:noFill/>
          <a:ln/>
        </p:spPr>
        <p:txBody>
          <a:bodyPr wrap="square" lIns="0" tIns="0" rIns="0" bIns="0" rtlCol="0" anchor="ctr"/>
          <a:lstStyle/>
          <a:p>
            <a:r>
              <a:rPr lang="en-US" sz="1575" i="1" dirty="0">
                <a:solidFill>
                  <a:srgbClr val="5B6770"/>
                </a:solidFill>
              </a:rPr>
              <a:t>encrypted provider connection</a:t>
            </a:r>
            <a:endParaRPr lang="en-US" sz="1575" dirty="0"/>
          </a:p>
        </p:txBody>
      </p:sp>
      <p:sp>
        <p:nvSpPr>
          <p:cNvPr id="16" name="Shape 14">
            <a:extLst>
              <a:ext uri="{FF2B5EF4-FFF2-40B4-BE49-F238E27FC236}">
                <a16:creationId xmlns:a16="http://schemas.microsoft.com/office/drawing/2014/main" id="{263EE4E9-F963-8C6D-20CF-A33BA845ED58}"/>
              </a:ext>
            </a:extLst>
          </p:cNvPr>
          <p:cNvSpPr/>
          <p:nvPr/>
        </p:nvSpPr>
        <p:spPr>
          <a:xfrm>
            <a:off x="5905500" y="190804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17" name="Text 15">
            <a:extLst>
              <a:ext uri="{FF2B5EF4-FFF2-40B4-BE49-F238E27FC236}">
                <a16:creationId xmlns:a16="http://schemas.microsoft.com/office/drawing/2014/main" id="{A13D0AAA-9CCB-215B-67E0-D030E4ED642F}"/>
              </a:ext>
            </a:extLst>
          </p:cNvPr>
          <p:cNvSpPr/>
          <p:nvPr/>
        </p:nvSpPr>
        <p:spPr>
          <a:xfrm>
            <a:off x="6111240" y="1990344"/>
            <a:ext cx="6240780" cy="246888"/>
          </a:xfrm>
          <a:prstGeom prst="rect">
            <a:avLst/>
          </a:prstGeom>
          <a:noFill/>
          <a:ln/>
        </p:spPr>
        <p:txBody>
          <a:bodyPr wrap="square" lIns="0" tIns="0" rIns="0" bIns="0" rtlCol="0" anchor="ctr"/>
          <a:lstStyle/>
          <a:p>
            <a:r>
              <a:rPr lang="en-US" sz="2325" b="1" dirty="0">
                <a:solidFill>
                  <a:srgbClr val="15324B"/>
                </a:solidFill>
              </a:rPr>
              <a:t>Customer</a:t>
            </a:r>
            <a:endParaRPr lang="en-US" sz="2325" dirty="0"/>
          </a:p>
        </p:txBody>
      </p:sp>
      <p:sp>
        <p:nvSpPr>
          <p:cNvPr id="18" name="Text 16">
            <a:extLst>
              <a:ext uri="{FF2B5EF4-FFF2-40B4-BE49-F238E27FC236}">
                <a16:creationId xmlns:a16="http://schemas.microsoft.com/office/drawing/2014/main" id="{787BB2FA-D04D-EA1F-2A29-D336E3676B05}"/>
              </a:ext>
            </a:extLst>
          </p:cNvPr>
          <p:cNvSpPr/>
          <p:nvPr/>
        </p:nvSpPr>
        <p:spPr>
          <a:xfrm>
            <a:off x="6111240" y="2278380"/>
            <a:ext cx="6240780" cy="205740"/>
          </a:xfrm>
          <a:prstGeom prst="rect">
            <a:avLst/>
          </a:prstGeom>
          <a:noFill/>
          <a:ln/>
        </p:spPr>
        <p:txBody>
          <a:bodyPr wrap="square" lIns="0" tIns="0" rIns="0" bIns="0" rtlCol="0" anchor="ctr"/>
          <a:lstStyle/>
          <a:p>
            <a:r>
              <a:rPr lang="en-US" sz="1455" dirty="0">
                <a:solidFill>
                  <a:srgbClr val="5B6770"/>
                </a:solidFill>
              </a:rPr>
              <a:t>“What’s my balance?”</a:t>
            </a:r>
            <a:endParaRPr lang="en-US" sz="1455" dirty="0"/>
          </a:p>
        </p:txBody>
      </p:sp>
      <p:sp>
        <p:nvSpPr>
          <p:cNvPr id="19" name="Shape 17">
            <a:extLst>
              <a:ext uri="{FF2B5EF4-FFF2-40B4-BE49-F238E27FC236}">
                <a16:creationId xmlns:a16="http://schemas.microsoft.com/office/drawing/2014/main" id="{0BB56616-3AF9-5C55-2906-30AB990DDB0B}"/>
              </a:ext>
            </a:extLst>
          </p:cNvPr>
          <p:cNvSpPr/>
          <p:nvPr/>
        </p:nvSpPr>
        <p:spPr>
          <a:xfrm>
            <a:off x="5905500" y="279958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0" name="Text 18">
            <a:extLst>
              <a:ext uri="{FF2B5EF4-FFF2-40B4-BE49-F238E27FC236}">
                <a16:creationId xmlns:a16="http://schemas.microsoft.com/office/drawing/2014/main" id="{70312384-67F3-E992-3C5A-5EA6F79A82CE}"/>
              </a:ext>
            </a:extLst>
          </p:cNvPr>
          <p:cNvSpPr/>
          <p:nvPr/>
        </p:nvSpPr>
        <p:spPr>
          <a:xfrm>
            <a:off x="6111240" y="2881884"/>
            <a:ext cx="6240780" cy="246888"/>
          </a:xfrm>
          <a:prstGeom prst="rect">
            <a:avLst/>
          </a:prstGeom>
          <a:noFill/>
          <a:ln/>
        </p:spPr>
        <p:txBody>
          <a:bodyPr wrap="square" lIns="0" tIns="0" rIns="0" bIns="0" rtlCol="0" anchor="ctr"/>
          <a:lstStyle/>
          <a:p>
            <a:r>
              <a:rPr lang="en-US" sz="2325" b="1" dirty="0">
                <a:solidFill>
                  <a:srgbClr val="15324B"/>
                </a:solidFill>
              </a:rPr>
              <a:t>Teller</a:t>
            </a:r>
            <a:endParaRPr lang="en-US" sz="2325" dirty="0"/>
          </a:p>
        </p:txBody>
      </p:sp>
      <p:sp>
        <p:nvSpPr>
          <p:cNvPr id="21" name="Text 19">
            <a:extLst>
              <a:ext uri="{FF2B5EF4-FFF2-40B4-BE49-F238E27FC236}">
                <a16:creationId xmlns:a16="http://schemas.microsoft.com/office/drawing/2014/main" id="{B34CC2E3-FC44-5534-EEFF-D90490A4CCDC}"/>
              </a:ext>
            </a:extLst>
          </p:cNvPr>
          <p:cNvSpPr/>
          <p:nvPr/>
        </p:nvSpPr>
        <p:spPr>
          <a:xfrm>
            <a:off x="6111240" y="3169920"/>
            <a:ext cx="6240780" cy="205740"/>
          </a:xfrm>
          <a:prstGeom prst="rect">
            <a:avLst/>
          </a:prstGeom>
          <a:noFill/>
          <a:ln/>
        </p:spPr>
        <p:txBody>
          <a:bodyPr wrap="square" lIns="0" tIns="0" rIns="0" bIns="0" rtlCol="0" anchor="ctr"/>
          <a:lstStyle/>
          <a:p>
            <a:r>
              <a:rPr lang="en-US" sz="1455" dirty="0">
                <a:solidFill>
                  <a:srgbClr val="5B6770"/>
                </a:solidFill>
              </a:rPr>
              <a:t>Receives the request</a:t>
            </a:r>
            <a:endParaRPr lang="en-US" sz="1455" dirty="0"/>
          </a:p>
        </p:txBody>
      </p:sp>
      <p:sp>
        <p:nvSpPr>
          <p:cNvPr id="22" name="Shape 20">
            <a:extLst>
              <a:ext uri="{FF2B5EF4-FFF2-40B4-BE49-F238E27FC236}">
                <a16:creationId xmlns:a16="http://schemas.microsoft.com/office/drawing/2014/main" id="{6D4FDAF3-21A3-B51E-A58E-F2DD6FCA3F19}"/>
              </a:ext>
            </a:extLst>
          </p:cNvPr>
          <p:cNvSpPr/>
          <p:nvPr/>
        </p:nvSpPr>
        <p:spPr>
          <a:xfrm>
            <a:off x="5905500" y="369112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3" name="Text 21">
            <a:extLst>
              <a:ext uri="{FF2B5EF4-FFF2-40B4-BE49-F238E27FC236}">
                <a16:creationId xmlns:a16="http://schemas.microsoft.com/office/drawing/2014/main" id="{295EE4A3-02A7-E9FE-5FF1-A68EBD2DDF91}"/>
              </a:ext>
            </a:extLst>
          </p:cNvPr>
          <p:cNvSpPr/>
          <p:nvPr/>
        </p:nvSpPr>
        <p:spPr>
          <a:xfrm>
            <a:off x="6111240" y="3773424"/>
            <a:ext cx="6240780" cy="246888"/>
          </a:xfrm>
          <a:prstGeom prst="rect">
            <a:avLst/>
          </a:prstGeom>
          <a:noFill/>
          <a:ln/>
        </p:spPr>
        <p:txBody>
          <a:bodyPr wrap="square" lIns="0" tIns="0" rIns="0" bIns="0" rtlCol="0" anchor="ctr"/>
          <a:lstStyle/>
          <a:p>
            <a:r>
              <a:rPr lang="en-US" sz="2325" b="1" dirty="0">
                <a:solidFill>
                  <a:srgbClr val="15324B"/>
                </a:solidFill>
              </a:rPr>
              <a:t>Teller Workstation</a:t>
            </a:r>
            <a:endParaRPr lang="en-US" sz="2325" dirty="0"/>
          </a:p>
        </p:txBody>
      </p:sp>
      <p:sp>
        <p:nvSpPr>
          <p:cNvPr id="24" name="Text 22">
            <a:extLst>
              <a:ext uri="{FF2B5EF4-FFF2-40B4-BE49-F238E27FC236}">
                <a16:creationId xmlns:a16="http://schemas.microsoft.com/office/drawing/2014/main" id="{BF2BE8EB-F012-4757-2B7F-5B7A7C6F943E}"/>
              </a:ext>
            </a:extLst>
          </p:cNvPr>
          <p:cNvSpPr/>
          <p:nvPr/>
        </p:nvSpPr>
        <p:spPr>
          <a:xfrm>
            <a:off x="6111240" y="4061460"/>
            <a:ext cx="6240780" cy="205740"/>
          </a:xfrm>
          <a:prstGeom prst="rect">
            <a:avLst/>
          </a:prstGeom>
          <a:noFill/>
          <a:ln/>
        </p:spPr>
        <p:txBody>
          <a:bodyPr wrap="square" lIns="0" tIns="0" rIns="0" bIns="0" rtlCol="0" anchor="ctr"/>
          <a:lstStyle/>
          <a:p>
            <a:r>
              <a:rPr lang="en-US" sz="1455" dirty="0">
                <a:solidFill>
                  <a:srgbClr val="5B6770"/>
                </a:solidFill>
              </a:rPr>
              <a:t>Core application client</a:t>
            </a:r>
            <a:endParaRPr lang="en-US" sz="1455" dirty="0"/>
          </a:p>
        </p:txBody>
      </p:sp>
      <p:sp>
        <p:nvSpPr>
          <p:cNvPr id="25" name="Shape 23">
            <a:extLst>
              <a:ext uri="{FF2B5EF4-FFF2-40B4-BE49-F238E27FC236}">
                <a16:creationId xmlns:a16="http://schemas.microsoft.com/office/drawing/2014/main" id="{8B000E1E-4A8C-4A50-E7D1-FC4EC74AA388}"/>
              </a:ext>
            </a:extLst>
          </p:cNvPr>
          <p:cNvSpPr/>
          <p:nvPr/>
        </p:nvSpPr>
        <p:spPr>
          <a:xfrm>
            <a:off x="5905500" y="458266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6" name="Text 24">
            <a:extLst>
              <a:ext uri="{FF2B5EF4-FFF2-40B4-BE49-F238E27FC236}">
                <a16:creationId xmlns:a16="http://schemas.microsoft.com/office/drawing/2014/main" id="{88AC3581-D9E0-8D89-5308-767FE169216F}"/>
              </a:ext>
            </a:extLst>
          </p:cNvPr>
          <p:cNvSpPr/>
          <p:nvPr/>
        </p:nvSpPr>
        <p:spPr>
          <a:xfrm>
            <a:off x="6111240" y="4664964"/>
            <a:ext cx="6240780" cy="246888"/>
          </a:xfrm>
          <a:prstGeom prst="rect">
            <a:avLst/>
          </a:prstGeom>
          <a:noFill/>
          <a:ln/>
        </p:spPr>
        <p:txBody>
          <a:bodyPr wrap="square" lIns="0" tIns="0" rIns="0" bIns="0" rtlCol="0" anchor="ctr"/>
          <a:lstStyle/>
          <a:p>
            <a:r>
              <a:rPr lang="en-US" sz="2325" b="1" dirty="0">
                <a:solidFill>
                  <a:srgbClr val="15324B"/>
                </a:solidFill>
              </a:rPr>
              <a:t>Branch Switch</a:t>
            </a:r>
            <a:endParaRPr lang="en-US" sz="2325" dirty="0"/>
          </a:p>
        </p:txBody>
      </p:sp>
      <p:sp>
        <p:nvSpPr>
          <p:cNvPr id="27" name="Text 25">
            <a:extLst>
              <a:ext uri="{FF2B5EF4-FFF2-40B4-BE49-F238E27FC236}">
                <a16:creationId xmlns:a16="http://schemas.microsoft.com/office/drawing/2014/main" id="{8C7DC2DD-608A-3A86-5A75-704A946D379F}"/>
              </a:ext>
            </a:extLst>
          </p:cNvPr>
          <p:cNvSpPr/>
          <p:nvPr/>
        </p:nvSpPr>
        <p:spPr>
          <a:xfrm>
            <a:off x="6111240" y="4953000"/>
            <a:ext cx="6240780" cy="205740"/>
          </a:xfrm>
          <a:prstGeom prst="rect">
            <a:avLst/>
          </a:prstGeom>
          <a:noFill/>
          <a:ln/>
        </p:spPr>
        <p:txBody>
          <a:bodyPr wrap="square" lIns="0" tIns="0" rIns="0" bIns="0" rtlCol="0" anchor="ctr"/>
          <a:lstStyle/>
          <a:p>
            <a:r>
              <a:rPr lang="en-US" sz="1455" dirty="0">
                <a:solidFill>
                  <a:srgbClr val="5B6770"/>
                </a:solidFill>
              </a:rPr>
              <a:t>Moves traffic within the branch LAN</a:t>
            </a:r>
            <a:endParaRPr lang="en-US" sz="1455" dirty="0"/>
          </a:p>
        </p:txBody>
      </p:sp>
      <p:sp>
        <p:nvSpPr>
          <p:cNvPr id="28" name="Shape 26">
            <a:extLst>
              <a:ext uri="{FF2B5EF4-FFF2-40B4-BE49-F238E27FC236}">
                <a16:creationId xmlns:a16="http://schemas.microsoft.com/office/drawing/2014/main" id="{4C59E305-4030-59D4-4A41-E7D58CBC4436}"/>
              </a:ext>
            </a:extLst>
          </p:cNvPr>
          <p:cNvSpPr/>
          <p:nvPr/>
        </p:nvSpPr>
        <p:spPr>
          <a:xfrm>
            <a:off x="5905500" y="5474208"/>
            <a:ext cx="6652260" cy="630936"/>
          </a:xfrm>
          <a:prstGeom prst="roundRect">
            <a:avLst>
              <a:gd name="adj" fmla="val 17391"/>
            </a:avLst>
          </a:prstGeom>
          <a:solidFill>
            <a:srgbClr val="FFFFFF"/>
          </a:solidFill>
          <a:ln w="16510">
            <a:solidFill>
              <a:srgbClr val="2B6FA3"/>
            </a:solidFill>
            <a:prstDash val="solid"/>
          </a:ln>
        </p:spPr>
        <p:txBody>
          <a:bodyPr/>
          <a:lstStyle/>
          <a:p>
            <a:endParaRPr lang="en-US" sz="2700"/>
          </a:p>
        </p:txBody>
      </p:sp>
      <p:sp>
        <p:nvSpPr>
          <p:cNvPr id="29" name="Text 27">
            <a:extLst>
              <a:ext uri="{FF2B5EF4-FFF2-40B4-BE49-F238E27FC236}">
                <a16:creationId xmlns:a16="http://schemas.microsoft.com/office/drawing/2014/main" id="{93913D1F-F4E6-9395-D716-15CA89F42167}"/>
              </a:ext>
            </a:extLst>
          </p:cNvPr>
          <p:cNvSpPr/>
          <p:nvPr/>
        </p:nvSpPr>
        <p:spPr>
          <a:xfrm>
            <a:off x="6111240" y="5556504"/>
            <a:ext cx="6240780" cy="246888"/>
          </a:xfrm>
          <a:prstGeom prst="rect">
            <a:avLst/>
          </a:prstGeom>
          <a:noFill/>
          <a:ln/>
        </p:spPr>
        <p:txBody>
          <a:bodyPr wrap="square" lIns="0" tIns="0" rIns="0" bIns="0" rtlCol="0" anchor="ctr"/>
          <a:lstStyle/>
          <a:p>
            <a:r>
              <a:rPr lang="en-US" sz="2325" b="1" dirty="0">
                <a:solidFill>
                  <a:srgbClr val="15324B"/>
                </a:solidFill>
              </a:rPr>
              <a:t>Branch Router / Firewall</a:t>
            </a:r>
            <a:endParaRPr lang="en-US" sz="2325" dirty="0"/>
          </a:p>
        </p:txBody>
      </p:sp>
      <p:sp>
        <p:nvSpPr>
          <p:cNvPr id="30" name="Text 28">
            <a:extLst>
              <a:ext uri="{FF2B5EF4-FFF2-40B4-BE49-F238E27FC236}">
                <a16:creationId xmlns:a16="http://schemas.microsoft.com/office/drawing/2014/main" id="{A81BC2E4-107B-8FEF-5689-93DE78854EF6}"/>
              </a:ext>
            </a:extLst>
          </p:cNvPr>
          <p:cNvSpPr/>
          <p:nvPr/>
        </p:nvSpPr>
        <p:spPr>
          <a:xfrm>
            <a:off x="6111240" y="5844540"/>
            <a:ext cx="6240780" cy="205740"/>
          </a:xfrm>
          <a:prstGeom prst="rect">
            <a:avLst/>
          </a:prstGeom>
          <a:noFill/>
          <a:ln/>
        </p:spPr>
        <p:txBody>
          <a:bodyPr wrap="square" lIns="0" tIns="0" rIns="0" bIns="0" rtlCol="0" anchor="ctr"/>
          <a:lstStyle/>
          <a:p>
            <a:r>
              <a:rPr lang="en-US" sz="1455" dirty="0">
                <a:solidFill>
                  <a:srgbClr val="5B6770"/>
                </a:solidFill>
              </a:rPr>
              <a:t>Forwards traffic outside the branch</a:t>
            </a:r>
            <a:endParaRPr lang="en-US" sz="1455" dirty="0"/>
          </a:p>
        </p:txBody>
      </p:sp>
      <p:sp>
        <p:nvSpPr>
          <p:cNvPr id="31" name="Shape 29">
            <a:extLst>
              <a:ext uri="{FF2B5EF4-FFF2-40B4-BE49-F238E27FC236}">
                <a16:creationId xmlns:a16="http://schemas.microsoft.com/office/drawing/2014/main" id="{E9FF864E-50C9-C5CC-5763-4E3782CE93CE}"/>
              </a:ext>
            </a:extLst>
          </p:cNvPr>
          <p:cNvSpPr/>
          <p:nvPr/>
        </p:nvSpPr>
        <p:spPr>
          <a:xfrm>
            <a:off x="5905500" y="6283452"/>
            <a:ext cx="6652260" cy="630936"/>
          </a:xfrm>
          <a:prstGeom prst="roundRect">
            <a:avLst>
              <a:gd name="adj" fmla="val 17391"/>
            </a:avLst>
          </a:prstGeom>
          <a:solidFill>
            <a:srgbClr val="FFFFFF"/>
          </a:solidFill>
          <a:ln w="16510">
            <a:solidFill>
              <a:srgbClr val="5B6770"/>
            </a:solidFill>
            <a:prstDash val="solid"/>
          </a:ln>
        </p:spPr>
        <p:txBody>
          <a:bodyPr/>
          <a:lstStyle/>
          <a:p>
            <a:endParaRPr lang="en-US" sz="2700"/>
          </a:p>
        </p:txBody>
      </p:sp>
      <p:sp>
        <p:nvSpPr>
          <p:cNvPr id="32" name="Text 30">
            <a:extLst>
              <a:ext uri="{FF2B5EF4-FFF2-40B4-BE49-F238E27FC236}">
                <a16:creationId xmlns:a16="http://schemas.microsoft.com/office/drawing/2014/main" id="{B38BA9EF-E10F-E998-1D09-BED1AB1FAC6F}"/>
              </a:ext>
            </a:extLst>
          </p:cNvPr>
          <p:cNvSpPr/>
          <p:nvPr/>
        </p:nvSpPr>
        <p:spPr>
          <a:xfrm>
            <a:off x="6111240" y="6365748"/>
            <a:ext cx="6240780" cy="246888"/>
          </a:xfrm>
          <a:prstGeom prst="rect">
            <a:avLst/>
          </a:prstGeom>
          <a:noFill/>
          <a:ln/>
        </p:spPr>
        <p:txBody>
          <a:bodyPr wrap="square" lIns="0" tIns="0" rIns="0" bIns="0" rtlCol="0" anchor="ctr"/>
          <a:lstStyle/>
          <a:p>
            <a:r>
              <a:rPr lang="en-US" sz="2325" b="1" dirty="0">
                <a:solidFill>
                  <a:srgbClr val="15324B"/>
                </a:solidFill>
              </a:rPr>
              <a:t>Telecommunications Provider Network</a:t>
            </a:r>
            <a:endParaRPr lang="en-US" sz="2325" dirty="0"/>
          </a:p>
        </p:txBody>
      </p:sp>
      <p:sp>
        <p:nvSpPr>
          <p:cNvPr id="33" name="Text 31">
            <a:extLst>
              <a:ext uri="{FF2B5EF4-FFF2-40B4-BE49-F238E27FC236}">
                <a16:creationId xmlns:a16="http://schemas.microsoft.com/office/drawing/2014/main" id="{5B7AD53C-1CD4-FDD6-1219-E9E46A8993FC}"/>
              </a:ext>
            </a:extLst>
          </p:cNvPr>
          <p:cNvSpPr/>
          <p:nvPr/>
        </p:nvSpPr>
        <p:spPr>
          <a:xfrm>
            <a:off x="6111240" y="6653784"/>
            <a:ext cx="6240780" cy="205740"/>
          </a:xfrm>
          <a:prstGeom prst="rect">
            <a:avLst/>
          </a:prstGeom>
          <a:noFill/>
          <a:ln/>
        </p:spPr>
        <p:txBody>
          <a:bodyPr wrap="square" lIns="0" tIns="0" rIns="0" bIns="0" rtlCol="0" anchor="ctr"/>
          <a:lstStyle/>
          <a:p>
            <a:r>
              <a:rPr lang="en-US" sz="1455" dirty="0">
                <a:solidFill>
                  <a:srgbClr val="5B6770"/>
                </a:solidFill>
              </a:rPr>
              <a:t>WAN / VPN / MPLS transport</a:t>
            </a:r>
            <a:endParaRPr lang="en-US" sz="1455" dirty="0"/>
          </a:p>
        </p:txBody>
      </p:sp>
      <p:sp>
        <p:nvSpPr>
          <p:cNvPr id="34" name="Shape 32">
            <a:extLst>
              <a:ext uri="{FF2B5EF4-FFF2-40B4-BE49-F238E27FC236}">
                <a16:creationId xmlns:a16="http://schemas.microsoft.com/office/drawing/2014/main" id="{AE32AEB8-C83E-EA17-B50B-1AB317DEB622}"/>
              </a:ext>
            </a:extLst>
          </p:cNvPr>
          <p:cNvSpPr/>
          <p:nvPr/>
        </p:nvSpPr>
        <p:spPr>
          <a:xfrm>
            <a:off x="5905500" y="7600188"/>
            <a:ext cx="6652260" cy="630936"/>
          </a:xfrm>
          <a:prstGeom prst="roundRect">
            <a:avLst>
              <a:gd name="adj" fmla="val 17391"/>
            </a:avLst>
          </a:prstGeom>
          <a:solidFill>
            <a:srgbClr val="FFFFFF"/>
          </a:solidFill>
          <a:ln w="16510">
            <a:solidFill>
              <a:srgbClr val="2E7D7D"/>
            </a:solidFill>
            <a:prstDash val="solid"/>
          </a:ln>
        </p:spPr>
        <p:txBody>
          <a:bodyPr/>
          <a:lstStyle/>
          <a:p>
            <a:endParaRPr lang="en-US" sz="2700"/>
          </a:p>
        </p:txBody>
      </p:sp>
      <p:sp>
        <p:nvSpPr>
          <p:cNvPr id="35" name="Text 33">
            <a:extLst>
              <a:ext uri="{FF2B5EF4-FFF2-40B4-BE49-F238E27FC236}">
                <a16:creationId xmlns:a16="http://schemas.microsoft.com/office/drawing/2014/main" id="{0F2113D4-5685-FE7E-56F5-96A1617739A3}"/>
              </a:ext>
            </a:extLst>
          </p:cNvPr>
          <p:cNvSpPr/>
          <p:nvPr/>
        </p:nvSpPr>
        <p:spPr>
          <a:xfrm>
            <a:off x="6111240" y="7682484"/>
            <a:ext cx="6240780" cy="246888"/>
          </a:xfrm>
          <a:prstGeom prst="rect">
            <a:avLst/>
          </a:prstGeom>
          <a:noFill/>
          <a:ln/>
        </p:spPr>
        <p:txBody>
          <a:bodyPr wrap="square" lIns="0" tIns="0" rIns="0" bIns="0" rtlCol="0" anchor="ctr"/>
          <a:lstStyle/>
          <a:p>
            <a:r>
              <a:rPr lang="en-US" sz="2325" b="1" dirty="0">
                <a:solidFill>
                  <a:srgbClr val="15324B"/>
                </a:solidFill>
              </a:rPr>
              <a:t>Vendor-Hosted Core Processor</a:t>
            </a:r>
            <a:endParaRPr lang="en-US" sz="2325" dirty="0"/>
          </a:p>
        </p:txBody>
      </p:sp>
      <p:sp>
        <p:nvSpPr>
          <p:cNvPr id="36" name="Text 34">
            <a:extLst>
              <a:ext uri="{FF2B5EF4-FFF2-40B4-BE49-F238E27FC236}">
                <a16:creationId xmlns:a16="http://schemas.microsoft.com/office/drawing/2014/main" id="{BA77B321-1979-F013-7C2B-6FE928EBC1F3}"/>
              </a:ext>
            </a:extLst>
          </p:cNvPr>
          <p:cNvSpPr/>
          <p:nvPr/>
        </p:nvSpPr>
        <p:spPr>
          <a:xfrm>
            <a:off x="6111240" y="7970520"/>
            <a:ext cx="6240780" cy="205740"/>
          </a:xfrm>
          <a:prstGeom prst="rect">
            <a:avLst/>
          </a:prstGeom>
          <a:noFill/>
          <a:ln/>
        </p:spPr>
        <p:txBody>
          <a:bodyPr wrap="square" lIns="0" tIns="0" rIns="0" bIns="0" rtlCol="0" anchor="ctr"/>
          <a:lstStyle/>
          <a:p>
            <a:r>
              <a:rPr lang="en-US" sz="1455" dirty="0">
                <a:solidFill>
                  <a:srgbClr val="5B6770"/>
                </a:solidFill>
              </a:rPr>
              <a:t>Core banking application</a:t>
            </a:r>
            <a:endParaRPr lang="en-US" sz="1455" dirty="0"/>
          </a:p>
        </p:txBody>
      </p:sp>
      <p:sp>
        <p:nvSpPr>
          <p:cNvPr id="37" name="Shape 35">
            <a:extLst>
              <a:ext uri="{FF2B5EF4-FFF2-40B4-BE49-F238E27FC236}">
                <a16:creationId xmlns:a16="http://schemas.microsoft.com/office/drawing/2014/main" id="{B8A853D6-BB17-66A6-73DB-EF1A0FA91323}"/>
              </a:ext>
            </a:extLst>
          </p:cNvPr>
          <p:cNvSpPr/>
          <p:nvPr/>
        </p:nvSpPr>
        <p:spPr>
          <a:xfrm>
            <a:off x="5905500" y="8491728"/>
            <a:ext cx="6652260" cy="630936"/>
          </a:xfrm>
          <a:prstGeom prst="roundRect">
            <a:avLst>
              <a:gd name="adj" fmla="val 17391"/>
            </a:avLst>
          </a:prstGeom>
          <a:solidFill>
            <a:srgbClr val="FFFFFF"/>
          </a:solidFill>
          <a:ln w="38100">
            <a:solidFill>
              <a:srgbClr val="2E7D7D"/>
            </a:solidFill>
            <a:prstDash val="solid"/>
          </a:ln>
        </p:spPr>
        <p:txBody>
          <a:bodyPr/>
          <a:lstStyle/>
          <a:p>
            <a:endParaRPr lang="en-US" sz="2700"/>
          </a:p>
        </p:txBody>
      </p:sp>
      <p:sp>
        <p:nvSpPr>
          <p:cNvPr id="38" name="Text 36">
            <a:extLst>
              <a:ext uri="{FF2B5EF4-FFF2-40B4-BE49-F238E27FC236}">
                <a16:creationId xmlns:a16="http://schemas.microsoft.com/office/drawing/2014/main" id="{9FD43586-BD77-A720-B383-AD76AD837AA0}"/>
              </a:ext>
            </a:extLst>
          </p:cNvPr>
          <p:cNvSpPr/>
          <p:nvPr/>
        </p:nvSpPr>
        <p:spPr>
          <a:xfrm>
            <a:off x="6111240" y="8574024"/>
            <a:ext cx="6240780" cy="246888"/>
          </a:xfrm>
          <a:prstGeom prst="rect">
            <a:avLst/>
          </a:prstGeom>
          <a:noFill/>
          <a:ln/>
        </p:spPr>
        <p:txBody>
          <a:bodyPr wrap="square" lIns="0" tIns="0" rIns="0" bIns="0" rtlCol="0" anchor="ctr"/>
          <a:lstStyle/>
          <a:p>
            <a:r>
              <a:rPr lang="en-US" sz="2325" b="1" dirty="0">
                <a:solidFill>
                  <a:srgbClr val="15324B"/>
                </a:solidFill>
              </a:rPr>
              <a:t>Customer Account Database</a:t>
            </a:r>
            <a:endParaRPr lang="en-US" sz="2325" dirty="0"/>
          </a:p>
        </p:txBody>
      </p:sp>
      <p:sp>
        <p:nvSpPr>
          <p:cNvPr id="39" name="Text 37">
            <a:extLst>
              <a:ext uri="{FF2B5EF4-FFF2-40B4-BE49-F238E27FC236}">
                <a16:creationId xmlns:a16="http://schemas.microsoft.com/office/drawing/2014/main" id="{8B5FFB94-698C-D12F-7CC1-89AC1780364B}"/>
              </a:ext>
            </a:extLst>
          </p:cNvPr>
          <p:cNvSpPr/>
          <p:nvPr/>
        </p:nvSpPr>
        <p:spPr>
          <a:xfrm>
            <a:off x="6111240" y="8862060"/>
            <a:ext cx="6240780" cy="205740"/>
          </a:xfrm>
          <a:prstGeom prst="rect">
            <a:avLst/>
          </a:prstGeom>
          <a:noFill/>
          <a:ln/>
        </p:spPr>
        <p:txBody>
          <a:bodyPr wrap="square" lIns="0" tIns="0" rIns="0" bIns="0" rtlCol="0" anchor="ctr"/>
          <a:lstStyle/>
          <a:p>
            <a:r>
              <a:rPr lang="en-US" sz="1455" dirty="0">
                <a:solidFill>
                  <a:srgbClr val="5B6770"/>
                </a:solidFill>
              </a:rPr>
              <a:t>Account balance found</a:t>
            </a:r>
            <a:endParaRPr lang="en-US" sz="1455" dirty="0"/>
          </a:p>
        </p:txBody>
      </p:sp>
      <p:sp>
        <p:nvSpPr>
          <p:cNvPr id="42" name="Freeform 41">
            <a:extLst>
              <a:ext uri="{FF2B5EF4-FFF2-40B4-BE49-F238E27FC236}">
                <a16:creationId xmlns:a16="http://schemas.microsoft.com/office/drawing/2014/main" id="{C23E69C7-8A1D-BAEE-6DF9-365104CD56CC}"/>
              </a:ext>
            </a:extLst>
          </p:cNvPr>
          <p:cNvSpPr/>
          <p:nvPr/>
        </p:nvSpPr>
        <p:spPr>
          <a:xfrm>
            <a:off x="10515573" y="4019550"/>
            <a:ext cx="2286027" cy="3863341"/>
          </a:xfrm>
          <a:custGeom>
            <a:avLst/>
            <a:gdLst>
              <a:gd name="connsiteX0" fmla="*/ 2286027 w 2286027"/>
              <a:gd name="connsiteY0" fmla="*/ 0 h 5810250"/>
              <a:gd name="connsiteX1" fmla="*/ 361977 w 2286027"/>
              <a:gd name="connsiteY1" fmla="*/ 1847850 h 5810250"/>
              <a:gd name="connsiteX2" fmla="*/ 95277 w 2286027"/>
              <a:gd name="connsiteY2" fmla="*/ 5810250 h 5810250"/>
            </a:gdLst>
            <a:ahLst/>
            <a:cxnLst>
              <a:cxn ang="0">
                <a:pos x="connsiteX0" y="connsiteY0"/>
              </a:cxn>
              <a:cxn ang="0">
                <a:pos x="connsiteX1" y="connsiteY1"/>
              </a:cxn>
              <a:cxn ang="0">
                <a:pos x="connsiteX2" y="connsiteY2"/>
              </a:cxn>
            </a:cxnLst>
            <a:rect l="l" t="t" r="r" b="b"/>
            <a:pathLst>
              <a:path w="2286027" h="5810250">
                <a:moveTo>
                  <a:pt x="2286027" y="0"/>
                </a:moveTo>
                <a:cubicBezTo>
                  <a:pt x="1506564" y="439737"/>
                  <a:pt x="727102" y="879475"/>
                  <a:pt x="361977" y="1847850"/>
                </a:cubicBezTo>
                <a:cubicBezTo>
                  <a:pt x="-3148" y="2816225"/>
                  <a:pt x="-92048" y="5105400"/>
                  <a:pt x="95277" y="5810250"/>
                </a:cubicBezTo>
              </a:path>
            </a:pathLst>
          </a:custGeom>
          <a:noFill/>
          <a:ln w="76200">
            <a:solidFill>
              <a:srgbClr val="EE4C59"/>
            </a:solidFill>
            <a:headEnd type="diamond" w="med" len="med"/>
            <a:tailEnd type="diamond"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a:extLst>
              <a:ext uri="{FF2B5EF4-FFF2-40B4-BE49-F238E27FC236}">
                <a16:creationId xmlns:a16="http://schemas.microsoft.com/office/drawing/2014/main" id="{E6386F12-0C13-1916-D80A-AD4F2DE1F429}"/>
              </a:ext>
            </a:extLst>
          </p:cNvPr>
          <p:cNvSpPr/>
          <p:nvPr/>
        </p:nvSpPr>
        <p:spPr>
          <a:xfrm>
            <a:off x="11132793" y="4171950"/>
            <a:ext cx="1745007" cy="4667250"/>
          </a:xfrm>
          <a:custGeom>
            <a:avLst/>
            <a:gdLst>
              <a:gd name="connsiteX0" fmla="*/ 2286027 w 2286027"/>
              <a:gd name="connsiteY0" fmla="*/ 0 h 5810250"/>
              <a:gd name="connsiteX1" fmla="*/ 361977 w 2286027"/>
              <a:gd name="connsiteY1" fmla="*/ 1847850 h 5810250"/>
              <a:gd name="connsiteX2" fmla="*/ 95277 w 2286027"/>
              <a:gd name="connsiteY2" fmla="*/ 5810250 h 5810250"/>
            </a:gdLst>
            <a:ahLst/>
            <a:cxnLst>
              <a:cxn ang="0">
                <a:pos x="connsiteX0" y="connsiteY0"/>
              </a:cxn>
              <a:cxn ang="0">
                <a:pos x="connsiteX1" y="connsiteY1"/>
              </a:cxn>
              <a:cxn ang="0">
                <a:pos x="connsiteX2" y="connsiteY2"/>
              </a:cxn>
            </a:cxnLst>
            <a:rect l="l" t="t" r="r" b="b"/>
            <a:pathLst>
              <a:path w="2286027" h="5810250">
                <a:moveTo>
                  <a:pt x="2286027" y="0"/>
                </a:moveTo>
                <a:cubicBezTo>
                  <a:pt x="1506564" y="439737"/>
                  <a:pt x="727102" y="879475"/>
                  <a:pt x="361977" y="1847850"/>
                </a:cubicBezTo>
                <a:cubicBezTo>
                  <a:pt x="-3148" y="2816225"/>
                  <a:pt x="-92048" y="5105400"/>
                  <a:pt x="95277" y="5810250"/>
                </a:cubicBezTo>
              </a:path>
            </a:pathLst>
          </a:custGeom>
          <a:noFill/>
          <a:ln w="76200">
            <a:solidFill>
              <a:srgbClr val="EE4C59"/>
            </a:solidFill>
            <a:headEnd type="diamond" w="med" len="med"/>
            <a:tailEnd type="diamond"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a:extLst>
              <a:ext uri="{FF2B5EF4-FFF2-40B4-BE49-F238E27FC236}">
                <a16:creationId xmlns:a16="http://schemas.microsoft.com/office/drawing/2014/main" id="{976DBBE6-05E4-A6D0-8072-9261AEEC114D}"/>
              </a:ext>
            </a:extLst>
          </p:cNvPr>
          <p:cNvSpPr/>
          <p:nvPr/>
        </p:nvSpPr>
        <p:spPr>
          <a:xfrm>
            <a:off x="9582153" y="3752851"/>
            <a:ext cx="3371848" cy="2036826"/>
          </a:xfrm>
          <a:custGeom>
            <a:avLst/>
            <a:gdLst>
              <a:gd name="connsiteX0" fmla="*/ 2286027 w 2286027"/>
              <a:gd name="connsiteY0" fmla="*/ 0 h 5810250"/>
              <a:gd name="connsiteX1" fmla="*/ 361977 w 2286027"/>
              <a:gd name="connsiteY1" fmla="*/ 1847850 h 5810250"/>
              <a:gd name="connsiteX2" fmla="*/ 95277 w 2286027"/>
              <a:gd name="connsiteY2" fmla="*/ 5810250 h 5810250"/>
            </a:gdLst>
            <a:ahLst/>
            <a:cxnLst>
              <a:cxn ang="0">
                <a:pos x="connsiteX0" y="connsiteY0"/>
              </a:cxn>
              <a:cxn ang="0">
                <a:pos x="connsiteX1" y="connsiteY1"/>
              </a:cxn>
              <a:cxn ang="0">
                <a:pos x="connsiteX2" y="connsiteY2"/>
              </a:cxn>
            </a:cxnLst>
            <a:rect l="l" t="t" r="r" b="b"/>
            <a:pathLst>
              <a:path w="2286027" h="5810250">
                <a:moveTo>
                  <a:pt x="2286027" y="0"/>
                </a:moveTo>
                <a:cubicBezTo>
                  <a:pt x="1506564" y="439737"/>
                  <a:pt x="727102" y="879475"/>
                  <a:pt x="361977" y="1847850"/>
                </a:cubicBezTo>
                <a:cubicBezTo>
                  <a:pt x="-3148" y="2816225"/>
                  <a:pt x="-92048" y="5105400"/>
                  <a:pt x="95277" y="5810250"/>
                </a:cubicBezTo>
              </a:path>
            </a:pathLst>
          </a:custGeom>
          <a:noFill/>
          <a:ln w="76200">
            <a:solidFill>
              <a:srgbClr val="EE4C59"/>
            </a:solidFill>
            <a:headEnd type="diamond" w="med" len="med"/>
            <a:tailEnd type="diamond"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8A605202-3441-43C6-847F-86F5BEB927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397740" y="3291459"/>
            <a:ext cx="2400300" cy="1800225"/>
          </a:xfrm>
          <a:prstGeom prst="rect">
            <a:avLst/>
          </a:prstGeom>
        </p:spPr>
      </p:pic>
      <p:sp>
        <p:nvSpPr>
          <p:cNvPr id="46" name="TextBox 45">
            <a:extLst>
              <a:ext uri="{FF2B5EF4-FFF2-40B4-BE49-F238E27FC236}">
                <a16:creationId xmlns:a16="http://schemas.microsoft.com/office/drawing/2014/main" id="{F543C9E1-ED62-E436-D063-B2E71F7EF444}"/>
              </a:ext>
            </a:extLst>
          </p:cNvPr>
          <p:cNvSpPr txBox="1"/>
          <p:nvPr/>
        </p:nvSpPr>
        <p:spPr>
          <a:xfrm>
            <a:off x="13597890" y="1908048"/>
            <a:ext cx="4495800" cy="1077218"/>
          </a:xfrm>
          <a:prstGeom prst="rect">
            <a:avLst/>
          </a:prstGeom>
          <a:noFill/>
        </p:spPr>
        <p:txBody>
          <a:bodyPr wrap="square" rtlCol="0">
            <a:spAutoFit/>
          </a:bodyPr>
          <a:lstStyle/>
          <a:p>
            <a:r>
              <a:rPr lang="en-US" sz="3200" dirty="0"/>
              <a:t>If one computer is compromised…</a:t>
            </a:r>
          </a:p>
        </p:txBody>
      </p:sp>
      <p:sp>
        <p:nvSpPr>
          <p:cNvPr id="49" name="TextBox 48">
            <a:extLst>
              <a:ext uri="{FF2B5EF4-FFF2-40B4-BE49-F238E27FC236}">
                <a16:creationId xmlns:a16="http://schemas.microsoft.com/office/drawing/2014/main" id="{C423A93A-86D9-ED93-D226-7DC7939CAE82}"/>
              </a:ext>
            </a:extLst>
          </p:cNvPr>
          <p:cNvSpPr txBox="1"/>
          <p:nvPr/>
        </p:nvSpPr>
        <p:spPr>
          <a:xfrm>
            <a:off x="13597890" y="5718048"/>
            <a:ext cx="4495800" cy="1569660"/>
          </a:xfrm>
          <a:prstGeom prst="rect">
            <a:avLst/>
          </a:prstGeom>
          <a:noFill/>
        </p:spPr>
        <p:txBody>
          <a:bodyPr wrap="square" rtlCol="0">
            <a:spAutoFit/>
          </a:bodyPr>
          <a:lstStyle/>
          <a:p>
            <a:r>
              <a:rPr lang="en-US" sz="3200" dirty="0"/>
              <a:t>Then how do we keep the attack from reaching everything else?</a:t>
            </a:r>
          </a:p>
        </p:txBody>
      </p:sp>
    </p:spTree>
    <p:extLst>
      <p:ext uri="{BB962C8B-B14F-4D97-AF65-F5344CB8AC3E}">
        <p14:creationId xmlns:p14="http://schemas.microsoft.com/office/powerpoint/2010/main" val="208889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ppt_x"/>
                                          </p:val>
                                        </p:tav>
                                        <p:tav tm="100000">
                                          <p:val>
                                            <p:strVal val="#ppt_x"/>
                                          </p:val>
                                        </p:tav>
                                      </p:tavLst>
                                    </p:anim>
                                    <p:anim calcmode="lin" valueType="num">
                                      <p:cBhvr additive="base">
                                        <p:cTn id="12" dur="500" fill="hold"/>
                                        <p:tgtEl>
                                          <p:spTgt spid="4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500" fill="hold"/>
                                        <p:tgtEl>
                                          <p:spTgt spid="43"/>
                                        </p:tgtEl>
                                        <p:attrNameLst>
                                          <p:attrName>ppt_x</p:attrName>
                                        </p:attrNameLst>
                                      </p:cBhvr>
                                      <p:tavLst>
                                        <p:tav tm="0">
                                          <p:val>
                                            <p:strVal val="#ppt_x"/>
                                          </p:val>
                                        </p:tav>
                                        <p:tav tm="100000">
                                          <p:val>
                                            <p:strVal val="#ppt_x"/>
                                          </p:val>
                                        </p:tav>
                                      </p:tavLst>
                                    </p:anim>
                                    <p:anim calcmode="lin" valueType="num">
                                      <p:cBhvr additive="base">
                                        <p:cTn id="1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05F1-4798-415F-DBE4-C1A0830FF07E}"/>
              </a:ext>
            </a:extLst>
          </p:cNvPr>
          <p:cNvSpPr>
            <a:spLocks noGrp="1"/>
          </p:cNvSpPr>
          <p:nvPr>
            <p:ph type="ctrTitle"/>
          </p:nvPr>
        </p:nvSpPr>
        <p:spPr/>
        <p:txBody>
          <a:bodyPr/>
          <a:lstStyle/>
          <a:p>
            <a:r>
              <a:rPr dirty="0"/>
              <a:t>Network Segmentation</a:t>
            </a:r>
          </a:p>
        </p:txBody>
      </p:sp>
      <p:sp>
        <p:nvSpPr>
          <p:cNvPr id="4" name="Subtitle 3">
            <a:extLst>
              <a:ext uri="{FF2B5EF4-FFF2-40B4-BE49-F238E27FC236}">
                <a16:creationId xmlns:a16="http://schemas.microsoft.com/office/drawing/2014/main" id="{355CB6C4-1187-6CB9-F343-16FA0C173429}"/>
              </a:ext>
            </a:extLst>
          </p:cNvPr>
          <p:cNvSpPr>
            <a:spLocks noGrp="1"/>
          </p:cNvSpPr>
          <p:nvPr>
            <p:ph type="subTitle" idx="1"/>
          </p:nvPr>
        </p:nvSpPr>
        <p:spPr/>
        <p:txBody>
          <a:bodyPr/>
          <a:lstStyle/>
          <a:p>
            <a:r>
              <a:rPr lang="en-US" dirty="0"/>
              <a:t>Chapter 5</a:t>
            </a:r>
          </a:p>
        </p:txBody>
      </p:sp>
    </p:spTree>
    <p:extLst>
      <p:ext uri="{BB962C8B-B14F-4D97-AF65-F5344CB8AC3E}">
        <p14:creationId xmlns:p14="http://schemas.microsoft.com/office/powerpoint/2010/main" val="37906238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Segment a Network?</a:t>
            </a:r>
          </a:p>
        </p:txBody>
      </p:sp>
      <p:sp>
        <p:nvSpPr>
          <p:cNvPr id="4" name="Content Placeholder 3">
            <a:extLst>
              <a:ext uri="{FF2B5EF4-FFF2-40B4-BE49-F238E27FC236}">
                <a16:creationId xmlns:a16="http://schemas.microsoft.com/office/drawing/2014/main" id="{A32C7CD9-4FF0-CB69-03BC-B60EEDD030DA}"/>
              </a:ext>
            </a:extLst>
          </p:cNvPr>
          <p:cNvSpPr>
            <a:spLocks noGrp="1"/>
          </p:cNvSpPr>
          <p:nvPr>
            <p:ph idx="1"/>
          </p:nvPr>
        </p:nvSpPr>
        <p:spPr>
          <a:xfrm>
            <a:off x="1257300" y="2193131"/>
            <a:ext cx="10458279" cy="6967198"/>
          </a:xfrm>
        </p:spPr>
        <p:txBody>
          <a:bodyPr>
            <a:normAutofit/>
          </a:bodyPr>
          <a:lstStyle/>
          <a:p>
            <a:r>
              <a:rPr lang="en-US" dirty="0"/>
              <a:t>Tom wonders:</a:t>
            </a:r>
          </a:p>
          <a:p>
            <a:pPr lvl="1"/>
            <a:r>
              <a:rPr lang="en-US" dirty="0"/>
              <a:t>“Do we have to? Our perimeter and FW rules are tight. And we have an IDP!” </a:t>
            </a:r>
          </a:p>
          <a:p>
            <a:endParaRPr lang="en-US" dirty="0"/>
          </a:p>
          <a:p>
            <a:r>
              <a:rPr lang="en-US" dirty="0"/>
              <a:t>But what if:</a:t>
            </a:r>
          </a:p>
          <a:p>
            <a:pPr lvl="1"/>
            <a:r>
              <a:rPr lang="en-US" dirty="0"/>
              <a:t>They get in anyway?</a:t>
            </a:r>
          </a:p>
          <a:p>
            <a:pPr lvl="1"/>
            <a:r>
              <a:rPr lang="en-US" dirty="0"/>
              <a:t>They’re already inside!?</a:t>
            </a:r>
          </a:p>
          <a:p>
            <a:pPr lvl="1"/>
            <a:r>
              <a:rPr lang="en-US" dirty="0"/>
              <a:t>A zero-day on a router hits us?</a:t>
            </a:r>
          </a:p>
          <a:p>
            <a:pPr lvl="1"/>
            <a:r>
              <a:rPr lang="en-US" dirty="0"/>
              <a:t>A legit update is corrupted?</a:t>
            </a:r>
          </a:p>
          <a:p>
            <a:pPr lvl="1"/>
            <a:r>
              <a:rPr lang="en-US" dirty="0"/>
              <a:t>Or the unknown happens</a:t>
            </a:r>
          </a:p>
          <a:p>
            <a:pPr lvl="2"/>
            <a:r>
              <a:rPr lang="en-US" dirty="0"/>
              <a:t>As it always seems to…</a:t>
            </a:r>
          </a:p>
          <a:p>
            <a:endParaRPr lang="en-US" dirty="0"/>
          </a:p>
        </p:txBody>
      </p:sp>
      <p:pic>
        <p:nvPicPr>
          <p:cNvPr id="6" name="Picture 5" descr="A person in a blue shirt and tie&#10;&#10;AI-generated content may be incorrect.">
            <a:extLst>
              <a:ext uri="{FF2B5EF4-FFF2-40B4-BE49-F238E27FC236}">
                <a16:creationId xmlns:a16="http://schemas.microsoft.com/office/drawing/2014/main" id="{DBB4DF2E-D439-FBD6-4200-280DD7CCF1B2}"/>
              </a:ext>
            </a:extLst>
          </p:cNvPr>
          <p:cNvPicPr>
            <a:picLocks noChangeAspect="1"/>
          </p:cNvPicPr>
          <p:nvPr/>
        </p:nvPicPr>
        <p:blipFill>
          <a:blip r:embed="rId3"/>
          <a:stretch>
            <a:fillRect/>
          </a:stretch>
        </p:blipFill>
        <p:spPr>
          <a:xfrm>
            <a:off x="11715579" y="1235529"/>
            <a:ext cx="5283200" cy="79248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Examiner Question</a:t>
            </a:r>
          </a:p>
        </p:txBody>
      </p:sp>
      <p:sp>
        <p:nvSpPr>
          <p:cNvPr id="5" name="Content Placeholder 4">
            <a:extLst>
              <a:ext uri="{FF2B5EF4-FFF2-40B4-BE49-F238E27FC236}">
                <a16:creationId xmlns:a16="http://schemas.microsoft.com/office/drawing/2014/main" id="{128F218F-B01D-B6F1-4998-9D7EEAEE5509}"/>
              </a:ext>
            </a:extLst>
          </p:cNvPr>
          <p:cNvSpPr>
            <a:spLocks noGrp="1"/>
          </p:cNvSpPr>
          <p:nvPr>
            <p:ph idx="1"/>
          </p:nvPr>
        </p:nvSpPr>
        <p:spPr/>
        <p:txBody>
          <a:bodyPr>
            <a:normAutofit lnSpcReduction="10000"/>
          </a:bodyPr>
          <a:lstStyle/>
          <a:p>
            <a:r>
              <a:rPr lang="en-US" dirty="0"/>
              <a:t>Does the bank's network architecture appropriately separate systems with different security requirements?</a:t>
            </a:r>
          </a:p>
          <a:p>
            <a:endParaRPr lang="en-US" dirty="0"/>
          </a:p>
          <a:p>
            <a:pPr lvl="1"/>
            <a:r>
              <a:rPr lang="en-US" dirty="0"/>
              <a:t>ATMs</a:t>
            </a:r>
          </a:p>
          <a:p>
            <a:pPr lvl="1"/>
            <a:r>
              <a:rPr lang="en-US" dirty="0"/>
              <a:t>Guest Wi-Fi</a:t>
            </a:r>
          </a:p>
          <a:p>
            <a:pPr lvl="1"/>
            <a:r>
              <a:rPr lang="en-US" dirty="0"/>
              <a:t>Servers</a:t>
            </a:r>
          </a:p>
          <a:p>
            <a:pPr lvl="1"/>
            <a:r>
              <a:rPr lang="en-US" dirty="0"/>
              <a:t>Vendor access</a:t>
            </a:r>
          </a:p>
          <a:p>
            <a:pPr lvl="1"/>
            <a:r>
              <a:rPr lang="en-US" dirty="0"/>
              <a:t>Management networks</a:t>
            </a:r>
          </a:p>
          <a:p>
            <a:pPr lvl="1"/>
            <a:r>
              <a:rPr lang="en-US" dirty="0"/>
              <a:t>User workstations</a:t>
            </a:r>
          </a:p>
          <a:p>
            <a:pPr lvl="1"/>
            <a:endParaRPr lang="en-US" dirty="0"/>
          </a:p>
          <a:p>
            <a:r>
              <a:rPr lang="en-US" b="1" dirty="0"/>
              <a:t>How does the bank's network architecture limit the spread of an attack?</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Security Zones</a:t>
            </a:r>
          </a:p>
        </p:txBody>
      </p:sp>
      <p:sp>
        <p:nvSpPr>
          <p:cNvPr id="4" name="Content Placeholder 3">
            <a:extLst>
              <a:ext uri="{FF2B5EF4-FFF2-40B4-BE49-F238E27FC236}">
                <a16:creationId xmlns:a16="http://schemas.microsoft.com/office/drawing/2014/main" id="{0401DE2C-04D2-A06E-F8C0-B327EF45BB1D}"/>
              </a:ext>
            </a:extLst>
          </p:cNvPr>
          <p:cNvSpPr>
            <a:spLocks noGrp="1"/>
          </p:cNvSpPr>
          <p:nvPr>
            <p:ph idx="1"/>
          </p:nvPr>
        </p:nvSpPr>
        <p:spPr>
          <a:xfrm>
            <a:off x="1257300" y="2193131"/>
            <a:ext cx="5309233" cy="6693694"/>
          </a:xfrm>
        </p:spPr>
        <p:txBody>
          <a:bodyPr>
            <a:normAutofit/>
          </a:bodyPr>
          <a:lstStyle/>
          <a:p>
            <a:r>
              <a:rPr lang="en-US" dirty="0"/>
              <a:t>Group systems with similar trust levels and business functions</a:t>
            </a:r>
          </a:p>
          <a:p>
            <a:r>
              <a:rPr lang="en-US" dirty="0"/>
              <a:t>Focus on the groups rather than the mechanisms</a:t>
            </a:r>
          </a:p>
        </p:txBody>
      </p:sp>
      <p:sp>
        <p:nvSpPr>
          <p:cNvPr id="5" name="Rounded Rectangle 4">
            <a:extLst>
              <a:ext uri="{FF2B5EF4-FFF2-40B4-BE49-F238E27FC236}">
                <a16:creationId xmlns:a16="http://schemas.microsoft.com/office/drawing/2014/main" id="{411F5421-CACE-1A85-AF0E-328EED55A3B1}"/>
              </a:ext>
            </a:extLst>
          </p:cNvPr>
          <p:cNvSpPr/>
          <p:nvPr/>
        </p:nvSpPr>
        <p:spPr>
          <a:xfrm>
            <a:off x="11138535" y="2590324"/>
            <a:ext cx="18288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rPr dirty="0"/>
              <a:t>Internet</a:t>
            </a:r>
          </a:p>
        </p:txBody>
      </p:sp>
      <p:sp>
        <p:nvSpPr>
          <p:cNvPr id="6" name="Rounded Rectangle 5">
            <a:extLst>
              <a:ext uri="{FF2B5EF4-FFF2-40B4-BE49-F238E27FC236}">
                <a16:creationId xmlns:a16="http://schemas.microsoft.com/office/drawing/2014/main" id="{FD9CFA12-FD6E-FCE1-0FD9-E9BC1E59C9C2}"/>
              </a:ext>
            </a:extLst>
          </p:cNvPr>
          <p:cNvSpPr/>
          <p:nvPr/>
        </p:nvSpPr>
        <p:spPr>
          <a:xfrm>
            <a:off x="10955655" y="3321844"/>
            <a:ext cx="2194560" cy="502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Internet Firewall</a:t>
            </a:r>
          </a:p>
        </p:txBody>
      </p:sp>
      <p:sp>
        <p:nvSpPr>
          <p:cNvPr id="7" name="Rounded Rectangle 6">
            <a:extLst>
              <a:ext uri="{FF2B5EF4-FFF2-40B4-BE49-F238E27FC236}">
                <a16:creationId xmlns:a16="http://schemas.microsoft.com/office/drawing/2014/main" id="{1DA73016-4D26-C97E-5AE8-53667569846A}"/>
              </a:ext>
            </a:extLst>
          </p:cNvPr>
          <p:cNvSpPr/>
          <p:nvPr/>
        </p:nvSpPr>
        <p:spPr>
          <a:xfrm>
            <a:off x="6932295" y="4602004"/>
            <a:ext cx="1828800" cy="6400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Public</a:t>
            </a:r>
            <a:br/>
            <a:r>
              <a:t>Services</a:t>
            </a:r>
          </a:p>
        </p:txBody>
      </p:sp>
      <p:sp>
        <p:nvSpPr>
          <p:cNvPr id="8" name="Rounded Rectangle 7">
            <a:extLst>
              <a:ext uri="{FF2B5EF4-FFF2-40B4-BE49-F238E27FC236}">
                <a16:creationId xmlns:a16="http://schemas.microsoft.com/office/drawing/2014/main" id="{B37405B4-FC77-1E3F-1860-578B73B13DC3}"/>
              </a:ext>
            </a:extLst>
          </p:cNvPr>
          <p:cNvSpPr/>
          <p:nvPr/>
        </p:nvSpPr>
        <p:spPr>
          <a:xfrm>
            <a:off x="9766934" y="4602004"/>
            <a:ext cx="1828800" cy="640080"/>
          </a:xfrm>
          <a:prstGeom prst="roundRect">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VPN</a:t>
            </a:r>
            <a:br/>
            <a:r>
              <a:t>Users</a:t>
            </a:r>
          </a:p>
        </p:txBody>
      </p:sp>
      <p:sp>
        <p:nvSpPr>
          <p:cNvPr id="9" name="Rounded Rectangle 8">
            <a:extLst>
              <a:ext uri="{FF2B5EF4-FFF2-40B4-BE49-F238E27FC236}">
                <a16:creationId xmlns:a16="http://schemas.microsoft.com/office/drawing/2014/main" id="{B5E9EF72-62EB-2A11-D277-B94E77499185}"/>
              </a:ext>
            </a:extLst>
          </p:cNvPr>
          <p:cNvSpPr/>
          <p:nvPr/>
        </p:nvSpPr>
        <p:spPr>
          <a:xfrm>
            <a:off x="12601575" y="4602004"/>
            <a:ext cx="1828800" cy="640080"/>
          </a:xfrm>
          <a:prstGeom prst="roundRect">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Microsoft</a:t>
            </a:r>
            <a:br/>
            <a:r>
              <a:t>365</a:t>
            </a:r>
          </a:p>
        </p:txBody>
      </p:sp>
      <p:sp>
        <p:nvSpPr>
          <p:cNvPr id="10" name="Rounded Rectangle 9">
            <a:extLst>
              <a:ext uri="{FF2B5EF4-FFF2-40B4-BE49-F238E27FC236}">
                <a16:creationId xmlns:a16="http://schemas.microsoft.com/office/drawing/2014/main" id="{24E50971-CF39-A969-5478-CC48BC147F3D}"/>
              </a:ext>
            </a:extLst>
          </p:cNvPr>
          <p:cNvSpPr/>
          <p:nvPr/>
        </p:nvSpPr>
        <p:spPr>
          <a:xfrm>
            <a:off x="15344775" y="4602004"/>
            <a:ext cx="1828800" cy="640080"/>
          </a:xfrm>
          <a:prstGeom prst="roundRect">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Other Cloud</a:t>
            </a:r>
            <a:br/>
            <a:r>
              <a:t>Services</a:t>
            </a:r>
          </a:p>
        </p:txBody>
      </p:sp>
      <p:sp>
        <p:nvSpPr>
          <p:cNvPr id="11" name="Rounded Rectangle 10">
            <a:extLst>
              <a:ext uri="{FF2B5EF4-FFF2-40B4-BE49-F238E27FC236}">
                <a16:creationId xmlns:a16="http://schemas.microsoft.com/office/drawing/2014/main" id="{D6BCD925-701F-3198-F1E5-B57069FF4C2A}"/>
              </a:ext>
            </a:extLst>
          </p:cNvPr>
          <p:cNvSpPr/>
          <p:nvPr/>
        </p:nvSpPr>
        <p:spPr>
          <a:xfrm>
            <a:off x="10772775" y="5699284"/>
            <a:ext cx="2560320" cy="502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Internal Firewall</a:t>
            </a:r>
          </a:p>
        </p:txBody>
      </p:sp>
      <p:sp>
        <p:nvSpPr>
          <p:cNvPr id="12" name="Rounded Rectangle 11">
            <a:extLst>
              <a:ext uri="{FF2B5EF4-FFF2-40B4-BE49-F238E27FC236}">
                <a16:creationId xmlns:a16="http://schemas.microsoft.com/office/drawing/2014/main" id="{5217A480-4538-D802-7530-F75CC2FB8674}"/>
              </a:ext>
            </a:extLst>
          </p:cNvPr>
          <p:cNvSpPr/>
          <p:nvPr/>
        </p:nvSpPr>
        <p:spPr>
          <a:xfrm>
            <a:off x="6383655" y="6888004"/>
            <a:ext cx="1828800" cy="640080"/>
          </a:xfrm>
          <a:prstGeom prst="roundRect">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User PCs</a:t>
            </a:r>
          </a:p>
        </p:txBody>
      </p:sp>
      <p:sp>
        <p:nvSpPr>
          <p:cNvPr id="13" name="Rounded Rectangle 12">
            <a:extLst>
              <a:ext uri="{FF2B5EF4-FFF2-40B4-BE49-F238E27FC236}">
                <a16:creationId xmlns:a16="http://schemas.microsoft.com/office/drawing/2014/main" id="{F1D237FD-66AC-F96F-4BA1-A4656DF34AA7}"/>
              </a:ext>
            </a:extLst>
          </p:cNvPr>
          <p:cNvSpPr/>
          <p:nvPr/>
        </p:nvSpPr>
        <p:spPr>
          <a:xfrm>
            <a:off x="8578215" y="6888004"/>
            <a:ext cx="1828800" cy="640080"/>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Core Banking</a:t>
            </a:r>
          </a:p>
        </p:txBody>
      </p:sp>
      <p:sp>
        <p:nvSpPr>
          <p:cNvPr id="14" name="Rounded Rectangle 13">
            <a:extLst>
              <a:ext uri="{FF2B5EF4-FFF2-40B4-BE49-F238E27FC236}">
                <a16:creationId xmlns:a16="http://schemas.microsoft.com/office/drawing/2014/main" id="{DE6E3D4C-5856-5F7D-9A9F-BB0F7B81DA9A}"/>
              </a:ext>
            </a:extLst>
          </p:cNvPr>
          <p:cNvSpPr/>
          <p:nvPr/>
        </p:nvSpPr>
        <p:spPr>
          <a:xfrm>
            <a:off x="10772775" y="6888004"/>
            <a:ext cx="1828800" cy="640080"/>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Servers</a:t>
            </a:r>
          </a:p>
        </p:txBody>
      </p:sp>
      <p:sp>
        <p:nvSpPr>
          <p:cNvPr id="15" name="Rounded Rectangle 14">
            <a:extLst>
              <a:ext uri="{FF2B5EF4-FFF2-40B4-BE49-F238E27FC236}">
                <a16:creationId xmlns:a16="http://schemas.microsoft.com/office/drawing/2014/main" id="{C1CFA767-8174-C95C-D4A8-474A648FA442}"/>
              </a:ext>
            </a:extLst>
          </p:cNvPr>
          <p:cNvSpPr/>
          <p:nvPr/>
        </p:nvSpPr>
        <p:spPr>
          <a:xfrm>
            <a:off x="12967335" y="6888004"/>
            <a:ext cx="1828800" cy="640080"/>
          </a:xfrm>
          <a:prstGeom prst="roundRect">
            <a:avLst/>
          </a:prstGeom>
          <a:solidFill>
            <a:schemeClr val="bg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Management</a:t>
            </a:r>
            <a:br/>
            <a:r>
              <a:t>Network</a:t>
            </a:r>
          </a:p>
        </p:txBody>
      </p:sp>
      <p:sp>
        <p:nvSpPr>
          <p:cNvPr id="16" name="Rounded Rectangle 15">
            <a:extLst>
              <a:ext uri="{FF2B5EF4-FFF2-40B4-BE49-F238E27FC236}">
                <a16:creationId xmlns:a16="http://schemas.microsoft.com/office/drawing/2014/main" id="{0333061F-241C-D66D-E4B4-62CCD2CED904}"/>
              </a:ext>
            </a:extLst>
          </p:cNvPr>
          <p:cNvSpPr/>
          <p:nvPr/>
        </p:nvSpPr>
        <p:spPr>
          <a:xfrm>
            <a:off x="15161895" y="6888004"/>
            <a:ext cx="1828800" cy="6400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Guest Wi-Fi</a:t>
            </a:r>
          </a:p>
        </p:txBody>
      </p:sp>
      <p:cxnSp>
        <p:nvCxnSpPr>
          <p:cNvPr id="17" name="Connector 14">
            <a:extLst>
              <a:ext uri="{FF2B5EF4-FFF2-40B4-BE49-F238E27FC236}">
                <a16:creationId xmlns:a16="http://schemas.microsoft.com/office/drawing/2014/main" id="{037D07A2-1EB6-277B-9AB2-EB0B1A751B71}"/>
              </a:ext>
            </a:extLst>
          </p:cNvPr>
          <p:cNvCxnSpPr/>
          <p:nvPr/>
        </p:nvCxnSpPr>
        <p:spPr>
          <a:xfrm>
            <a:off x="12052935" y="3047524"/>
            <a:ext cx="0" cy="27432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nector 15">
            <a:extLst>
              <a:ext uri="{FF2B5EF4-FFF2-40B4-BE49-F238E27FC236}">
                <a16:creationId xmlns:a16="http://schemas.microsoft.com/office/drawing/2014/main" id="{9CD2AD06-08BF-4C2F-017A-C4C9357075D4}"/>
              </a:ext>
            </a:extLst>
          </p:cNvPr>
          <p:cNvCxnSpPr/>
          <p:nvPr/>
        </p:nvCxnSpPr>
        <p:spPr>
          <a:xfrm>
            <a:off x="12052935" y="3824764"/>
            <a:ext cx="0" cy="187452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nector 16">
            <a:extLst>
              <a:ext uri="{FF2B5EF4-FFF2-40B4-BE49-F238E27FC236}">
                <a16:creationId xmlns:a16="http://schemas.microsoft.com/office/drawing/2014/main" id="{A57DA1C2-1E24-A089-89D7-9FA13EBC6D48}"/>
              </a:ext>
            </a:extLst>
          </p:cNvPr>
          <p:cNvCxnSpPr/>
          <p:nvPr/>
        </p:nvCxnSpPr>
        <p:spPr>
          <a:xfrm flipH="1">
            <a:off x="7846695" y="3824764"/>
            <a:ext cx="4206240" cy="7772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nector 17">
            <a:extLst>
              <a:ext uri="{FF2B5EF4-FFF2-40B4-BE49-F238E27FC236}">
                <a16:creationId xmlns:a16="http://schemas.microsoft.com/office/drawing/2014/main" id="{834EA610-9555-E62A-30DB-23113401A9D8}"/>
              </a:ext>
            </a:extLst>
          </p:cNvPr>
          <p:cNvCxnSpPr/>
          <p:nvPr/>
        </p:nvCxnSpPr>
        <p:spPr>
          <a:xfrm flipH="1">
            <a:off x="10681335" y="3824764"/>
            <a:ext cx="1371600" cy="7772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nector 18">
            <a:extLst>
              <a:ext uri="{FF2B5EF4-FFF2-40B4-BE49-F238E27FC236}">
                <a16:creationId xmlns:a16="http://schemas.microsoft.com/office/drawing/2014/main" id="{BA5DEFE6-269F-A205-CD18-2FC35D0D2D21}"/>
              </a:ext>
            </a:extLst>
          </p:cNvPr>
          <p:cNvCxnSpPr/>
          <p:nvPr/>
        </p:nvCxnSpPr>
        <p:spPr>
          <a:xfrm>
            <a:off x="12052935" y="3824764"/>
            <a:ext cx="1463039" cy="7772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nector 19">
            <a:extLst>
              <a:ext uri="{FF2B5EF4-FFF2-40B4-BE49-F238E27FC236}">
                <a16:creationId xmlns:a16="http://schemas.microsoft.com/office/drawing/2014/main" id="{F4665065-5C77-B11C-97F7-AD29A744C2AD}"/>
              </a:ext>
            </a:extLst>
          </p:cNvPr>
          <p:cNvCxnSpPr/>
          <p:nvPr/>
        </p:nvCxnSpPr>
        <p:spPr>
          <a:xfrm>
            <a:off x="12052935" y="3824764"/>
            <a:ext cx="4206240" cy="7772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Connector 20">
            <a:extLst>
              <a:ext uri="{FF2B5EF4-FFF2-40B4-BE49-F238E27FC236}">
                <a16:creationId xmlns:a16="http://schemas.microsoft.com/office/drawing/2014/main" id="{F7B7138E-FBF7-12B4-211C-36A08A6CE205}"/>
              </a:ext>
            </a:extLst>
          </p:cNvPr>
          <p:cNvCxnSpPr/>
          <p:nvPr/>
        </p:nvCxnSpPr>
        <p:spPr>
          <a:xfrm flipH="1">
            <a:off x="7298055" y="6202204"/>
            <a:ext cx="4754880" cy="6858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Connector 21">
            <a:extLst>
              <a:ext uri="{FF2B5EF4-FFF2-40B4-BE49-F238E27FC236}">
                <a16:creationId xmlns:a16="http://schemas.microsoft.com/office/drawing/2014/main" id="{10C0C776-2439-D969-7D04-6A074AD3EAF6}"/>
              </a:ext>
            </a:extLst>
          </p:cNvPr>
          <p:cNvCxnSpPr/>
          <p:nvPr/>
        </p:nvCxnSpPr>
        <p:spPr>
          <a:xfrm flipH="1">
            <a:off x="9492615" y="6202204"/>
            <a:ext cx="2560320" cy="6858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nector 22">
            <a:extLst>
              <a:ext uri="{FF2B5EF4-FFF2-40B4-BE49-F238E27FC236}">
                <a16:creationId xmlns:a16="http://schemas.microsoft.com/office/drawing/2014/main" id="{D948BCB5-D17B-92AB-E279-13EC5B7184F2}"/>
              </a:ext>
            </a:extLst>
          </p:cNvPr>
          <p:cNvCxnSpPr/>
          <p:nvPr/>
        </p:nvCxnSpPr>
        <p:spPr>
          <a:xfrm flipH="1">
            <a:off x="11687175" y="6202204"/>
            <a:ext cx="365760" cy="6858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Connector 23">
            <a:extLst>
              <a:ext uri="{FF2B5EF4-FFF2-40B4-BE49-F238E27FC236}">
                <a16:creationId xmlns:a16="http://schemas.microsoft.com/office/drawing/2014/main" id="{EA4C36BA-3B20-30E0-7F09-16CB3290896B}"/>
              </a:ext>
            </a:extLst>
          </p:cNvPr>
          <p:cNvCxnSpPr/>
          <p:nvPr/>
        </p:nvCxnSpPr>
        <p:spPr>
          <a:xfrm>
            <a:off x="12052935" y="6202204"/>
            <a:ext cx="1828800" cy="6858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Connector 24">
            <a:extLst>
              <a:ext uri="{FF2B5EF4-FFF2-40B4-BE49-F238E27FC236}">
                <a16:creationId xmlns:a16="http://schemas.microsoft.com/office/drawing/2014/main" id="{89EBE87B-301B-22F2-7E32-F7D2ACA64D32}"/>
              </a:ext>
            </a:extLst>
          </p:cNvPr>
          <p:cNvCxnSpPr/>
          <p:nvPr/>
        </p:nvCxnSpPr>
        <p:spPr>
          <a:xfrm>
            <a:off x="12052935" y="6202204"/>
            <a:ext cx="4023360" cy="68580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VLANs</a:t>
            </a:r>
            <a:r>
              <a:rPr lang="en-US" dirty="0"/>
              <a:t>, SSIDs,</a:t>
            </a:r>
            <a:r>
              <a:rPr dirty="0"/>
              <a:t> and Subnets</a:t>
            </a:r>
          </a:p>
        </p:txBody>
      </p:sp>
      <p:graphicFrame>
        <p:nvGraphicFramePr>
          <p:cNvPr id="5" name="Content Placeholder 4">
            <a:extLst>
              <a:ext uri="{FF2B5EF4-FFF2-40B4-BE49-F238E27FC236}">
                <a16:creationId xmlns:a16="http://schemas.microsoft.com/office/drawing/2014/main" id="{13524EEB-8773-8DC1-845D-4E188715B1A4}"/>
              </a:ext>
            </a:extLst>
          </p:cNvPr>
          <p:cNvGraphicFramePr>
            <a:graphicFrameLocks noGrp="1"/>
          </p:cNvGraphicFramePr>
          <p:nvPr>
            <p:ph idx="1"/>
          </p:nvPr>
        </p:nvGraphicFramePr>
        <p:xfrm>
          <a:off x="5079834" y="6415513"/>
          <a:ext cx="11950866" cy="2011680"/>
        </p:xfrm>
        <a:graphic>
          <a:graphicData uri="http://schemas.openxmlformats.org/drawingml/2006/table">
            <a:tbl>
              <a:tblPr firstRow="1">
                <a:tableStyleId>{284E427A-3D55-4303-BF80-6455036E1DE7}</a:tableStyleId>
              </a:tblPr>
              <a:tblGrid>
                <a:gridCol w="2322479">
                  <a:extLst>
                    <a:ext uri="{9D8B030D-6E8A-4147-A177-3AD203B41FA5}">
                      <a16:colId xmlns:a16="http://schemas.microsoft.com/office/drawing/2014/main" val="1905619811"/>
                    </a:ext>
                  </a:extLst>
                </a:gridCol>
                <a:gridCol w="4455268">
                  <a:extLst>
                    <a:ext uri="{9D8B030D-6E8A-4147-A177-3AD203B41FA5}">
                      <a16:colId xmlns:a16="http://schemas.microsoft.com/office/drawing/2014/main" val="1979867826"/>
                    </a:ext>
                  </a:extLst>
                </a:gridCol>
                <a:gridCol w="5173119">
                  <a:extLst>
                    <a:ext uri="{9D8B030D-6E8A-4147-A177-3AD203B41FA5}">
                      <a16:colId xmlns:a16="http://schemas.microsoft.com/office/drawing/2014/main" val="1070836977"/>
                    </a:ext>
                  </a:extLst>
                </a:gridCol>
              </a:tblGrid>
              <a:tr h="497086">
                <a:tc>
                  <a:txBody>
                    <a:bodyPr/>
                    <a:lstStyle/>
                    <a:p>
                      <a:pPr>
                        <a:buNone/>
                      </a:pPr>
                      <a:r>
                        <a:rPr lang="en-US"/>
                        <a:t>Technology</a:t>
                      </a:r>
                    </a:p>
                  </a:txBody>
                  <a:tcPr anchor="ctr"/>
                </a:tc>
                <a:tc>
                  <a:txBody>
                    <a:bodyPr/>
                    <a:lstStyle/>
                    <a:p>
                      <a:pPr>
                        <a:buNone/>
                      </a:pPr>
                      <a:r>
                        <a:rPr lang="en-US" dirty="0"/>
                        <a:t>What it Separates</a:t>
                      </a:r>
                    </a:p>
                  </a:txBody>
                  <a:tcPr anchor="ctr"/>
                </a:tc>
                <a:tc>
                  <a:txBody>
                    <a:bodyPr/>
                    <a:lstStyle/>
                    <a:p>
                      <a:pPr>
                        <a:buNone/>
                      </a:pPr>
                      <a:r>
                        <a:rPr lang="en-US"/>
                        <a:t>Example at Pine Valley</a:t>
                      </a:r>
                    </a:p>
                  </a:txBody>
                  <a:tcPr anchor="ctr"/>
                </a:tc>
                <a:extLst>
                  <a:ext uri="{0D108BD9-81ED-4DB2-BD59-A6C34878D82A}">
                    <a16:rowId xmlns:a16="http://schemas.microsoft.com/office/drawing/2014/main" val="2735276476"/>
                  </a:ext>
                </a:extLst>
              </a:tr>
              <a:tr h="497086">
                <a:tc>
                  <a:txBody>
                    <a:bodyPr/>
                    <a:lstStyle/>
                    <a:p>
                      <a:pPr>
                        <a:buNone/>
                      </a:pPr>
                      <a:r>
                        <a:rPr lang="en-US" b="1"/>
                        <a:t>SSID</a:t>
                      </a:r>
                      <a:endParaRPr lang="en-US"/>
                    </a:p>
                  </a:txBody>
                  <a:tcPr anchor="ctr"/>
                </a:tc>
                <a:tc>
                  <a:txBody>
                    <a:bodyPr/>
                    <a:lstStyle/>
                    <a:p>
                      <a:pPr>
                        <a:buNone/>
                      </a:pPr>
                      <a:r>
                        <a:rPr lang="en-US" dirty="0"/>
                        <a:t>Wireless users</a:t>
                      </a:r>
                    </a:p>
                  </a:txBody>
                  <a:tcPr anchor="ctr"/>
                </a:tc>
                <a:tc>
                  <a:txBody>
                    <a:bodyPr/>
                    <a:lstStyle/>
                    <a:p>
                      <a:pPr>
                        <a:buNone/>
                      </a:pPr>
                      <a:r>
                        <a:rPr lang="en-US" dirty="0"/>
                        <a:t>Employee Wi-Fi vs. Guest Wi-Fi</a:t>
                      </a:r>
                    </a:p>
                  </a:txBody>
                  <a:tcPr anchor="ctr"/>
                </a:tc>
                <a:extLst>
                  <a:ext uri="{0D108BD9-81ED-4DB2-BD59-A6C34878D82A}">
                    <a16:rowId xmlns:a16="http://schemas.microsoft.com/office/drawing/2014/main" val="1811302819"/>
                  </a:ext>
                </a:extLst>
              </a:tr>
              <a:tr h="497086">
                <a:tc>
                  <a:txBody>
                    <a:bodyPr/>
                    <a:lstStyle/>
                    <a:p>
                      <a:pPr>
                        <a:buNone/>
                      </a:pPr>
                      <a:r>
                        <a:rPr lang="en-US" b="1"/>
                        <a:t>VLAN</a:t>
                      </a:r>
                      <a:endParaRPr lang="en-US"/>
                    </a:p>
                  </a:txBody>
                  <a:tcPr anchor="ctr"/>
                </a:tc>
                <a:tc>
                  <a:txBody>
                    <a:bodyPr/>
                    <a:lstStyle/>
                    <a:p>
                      <a:pPr>
                        <a:buNone/>
                      </a:pPr>
                      <a:r>
                        <a:rPr lang="en-US"/>
                        <a:t>Layer-2 broadcast domains</a:t>
                      </a:r>
                    </a:p>
                  </a:txBody>
                  <a:tcPr anchor="ctr"/>
                </a:tc>
                <a:tc>
                  <a:txBody>
                    <a:bodyPr/>
                    <a:lstStyle/>
                    <a:p>
                      <a:pPr>
                        <a:buNone/>
                      </a:pPr>
                      <a:r>
                        <a:rPr lang="en-US"/>
                        <a:t>Tellers, ATMs, Servers, VoIP</a:t>
                      </a:r>
                    </a:p>
                  </a:txBody>
                  <a:tcPr anchor="ctr"/>
                </a:tc>
                <a:extLst>
                  <a:ext uri="{0D108BD9-81ED-4DB2-BD59-A6C34878D82A}">
                    <a16:rowId xmlns:a16="http://schemas.microsoft.com/office/drawing/2014/main" val="614873236"/>
                  </a:ext>
                </a:extLst>
              </a:tr>
              <a:tr h="497086">
                <a:tc>
                  <a:txBody>
                    <a:bodyPr/>
                    <a:lstStyle/>
                    <a:p>
                      <a:pPr>
                        <a:buNone/>
                      </a:pPr>
                      <a:r>
                        <a:rPr lang="en-US" b="1"/>
                        <a:t>Subnet</a:t>
                      </a:r>
                      <a:endParaRPr lang="en-US"/>
                    </a:p>
                  </a:txBody>
                  <a:tcPr anchor="ctr"/>
                </a:tc>
                <a:tc>
                  <a:txBody>
                    <a:bodyPr/>
                    <a:lstStyle/>
                    <a:p>
                      <a:pPr>
                        <a:buNone/>
                      </a:pPr>
                      <a:r>
                        <a:rPr lang="en-US"/>
                        <a:t>IP address ranges</a:t>
                      </a:r>
                    </a:p>
                  </a:txBody>
                  <a:tcPr anchor="ctr"/>
                </a:tc>
                <a:tc>
                  <a:txBody>
                    <a:bodyPr/>
                    <a:lstStyle/>
                    <a:p>
                      <a:pPr>
                        <a:buNone/>
                      </a:pPr>
                      <a:r>
                        <a:rPr lang="en-US" dirty="0"/>
                        <a:t>10.10.10.0/24, 10.10.20.0/24</a:t>
                      </a:r>
                    </a:p>
                  </a:txBody>
                  <a:tcPr anchor="ctr"/>
                </a:tc>
                <a:extLst>
                  <a:ext uri="{0D108BD9-81ED-4DB2-BD59-A6C34878D82A}">
                    <a16:rowId xmlns:a16="http://schemas.microsoft.com/office/drawing/2014/main" val="556375326"/>
                  </a:ext>
                </a:extLst>
              </a:tr>
            </a:tbl>
          </a:graphicData>
        </a:graphic>
      </p:graphicFrame>
      <p:sp>
        <p:nvSpPr>
          <p:cNvPr id="6" name="Content Placeholder 3">
            <a:extLst>
              <a:ext uri="{FF2B5EF4-FFF2-40B4-BE49-F238E27FC236}">
                <a16:creationId xmlns:a16="http://schemas.microsoft.com/office/drawing/2014/main" id="{EACECE51-0FE0-4F78-F870-0148AF894156}"/>
              </a:ext>
            </a:extLst>
          </p:cNvPr>
          <p:cNvSpPr txBox="1">
            <a:spLocks/>
          </p:cNvSpPr>
          <p:nvPr/>
        </p:nvSpPr>
        <p:spPr>
          <a:xfrm>
            <a:off x="1257300" y="2193131"/>
            <a:ext cx="14404232" cy="6693694"/>
          </a:xfrm>
          <a:prstGeom prst="rect">
            <a:avLst/>
          </a:prstGeom>
        </p:spPr>
        <p:txBody>
          <a:bodyPr vert="horz" lIns="91440" tIns="45720" rIns="91440" bIns="45720" rtlCol="0">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dirty="0"/>
              <a:t>Banks separate different types of users and devices in order to apply different security policies to each.</a:t>
            </a:r>
          </a:p>
          <a:p>
            <a:r>
              <a:rPr lang="en-US" dirty="0"/>
              <a:t>These technologies are different, but they often work together to create security boundaries.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Routing and Policy Enforcement</a:t>
            </a:r>
          </a:p>
        </p:txBody>
      </p:sp>
      <p:sp>
        <p:nvSpPr>
          <p:cNvPr id="4" name="Content Placeholder 3">
            <a:extLst>
              <a:ext uri="{FF2B5EF4-FFF2-40B4-BE49-F238E27FC236}">
                <a16:creationId xmlns:a16="http://schemas.microsoft.com/office/drawing/2014/main" id="{949A66B6-48F5-9015-1634-E4AF91FB0397}"/>
              </a:ext>
            </a:extLst>
          </p:cNvPr>
          <p:cNvSpPr>
            <a:spLocks noGrp="1"/>
          </p:cNvSpPr>
          <p:nvPr>
            <p:ph idx="1"/>
          </p:nvPr>
        </p:nvSpPr>
        <p:spPr>
          <a:xfrm>
            <a:off x="1257300" y="2193131"/>
            <a:ext cx="15773400" cy="4363312"/>
          </a:xfrm>
        </p:spPr>
        <p:txBody>
          <a:bodyPr/>
          <a:lstStyle/>
          <a:p>
            <a:r>
              <a:rPr lang="en-US" dirty="0"/>
              <a:t>This is the question of traffic between security zones</a:t>
            </a:r>
          </a:p>
          <a:p>
            <a:r>
              <a:rPr lang="en-US" dirty="0"/>
              <a:t>Segmentation creates boundaries. Policy determines what is allowed to cross them.</a:t>
            </a:r>
          </a:p>
          <a:p>
            <a:pPr lvl="1"/>
            <a:r>
              <a:rPr lang="en-US" dirty="0"/>
              <a:t>In Chapter 3 we learned that a firewall is a policy enforcement point.</a:t>
            </a:r>
          </a:p>
          <a:p>
            <a:r>
              <a:rPr lang="en-US" b="1" dirty="0"/>
              <a:t>Once you've separated systems, you need rules governing which systems are allowed to talk to each other</a:t>
            </a:r>
            <a:r>
              <a:rPr lang="en-US" dirty="0"/>
              <a:t>.</a:t>
            </a:r>
          </a:p>
        </p:txBody>
      </p:sp>
      <p:graphicFrame>
        <p:nvGraphicFramePr>
          <p:cNvPr id="5" name="Table 4">
            <a:extLst>
              <a:ext uri="{FF2B5EF4-FFF2-40B4-BE49-F238E27FC236}">
                <a16:creationId xmlns:a16="http://schemas.microsoft.com/office/drawing/2014/main" id="{466CD7D0-C9AD-2E7D-D21F-64096FCA0CBA}"/>
              </a:ext>
            </a:extLst>
          </p:cNvPr>
          <p:cNvGraphicFramePr>
            <a:graphicFrameLocks noGrp="1"/>
          </p:cNvGraphicFramePr>
          <p:nvPr/>
        </p:nvGraphicFramePr>
        <p:xfrm>
          <a:off x="3047190" y="6556443"/>
          <a:ext cx="11855585" cy="3017520"/>
        </p:xfrm>
        <a:graphic>
          <a:graphicData uri="http://schemas.openxmlformats.org/drawingml/2006/table">
            <a:tbl>
              <a:tblPr firstRow="1">
                <a:tableStyleId>{72833802-FEF1-4C79-8D5D-14CF1EAF98D9}</a:tableStyleId>
              </a:tblPr>
              <a:tblGrid>
                <a:gridCol w="5454785">
                  <a:extLst>
                    <a:ext uri="{9D8B030D-6E8A-4147-A177-3AD203B41FA5}">
                      <a16:colId xmlns:a16="http://schemas.microsoft.com/office/drawing/2014/main" val="1416074612"/>
                    </a:ext>
                  </a:extLst>
                </a:gridCol>
                <a:gridCol w="6400800">
                  <a:extLst>
                    <a:ext uri="{9D8B030D-6E8A-4147-A177-3AD203B41FA5}">
                      <a16:colId xmlns:a16="http://schemas.microsoft.com/office/drawing/2014/main" val="1902060886"/>
                    </a:ext>
                  </a:extLst>
                </a:gridCol>
              </a:tblGrid>
              <a:tr h="0">
                <a:tc>
                  <a:txBody>
                    <a:bodyPr/>
                    <a:lstStyle/>
                    <a:p>
                      <a:pPr>
                        <a:buNone/>
                      </a:pPr>
                      <a:r>
                        <a:rPr lang="en-US"/>
                        <a:t>Business Requirement</a:t>
                      </a:r>
                    </a:p>
                  </a:txBody>
                  <a:tcPr anchor="ctr"/>
                </a:tc>
                <a:tc>
                  <a:txBody>
                    <a:bodyPr/>
                    <a:lstStyle/>
                    <a:p>
                      <a:pPr>
                        <a:buNone/>
                      </a:pPr>
                      <a:r>
                        <a:rPr lang="en-US"/>
                        <a:t>Technical Policy</a:t>
                      </a:r>
                    </a:p>
                  </a:txBody>
                  <a:tcPr anchor="ctr"/>
                </a:tc>
                <a:extLst>
                  <a:ext uri="{0D108BD9-81ED-4DB2-BD59-A6C34878D82A}">
                    <a16:rowId xmlns:a16="http://schemas.microsoft.com/office/drawing/2014/main" val="3319179356"/>
                  </a:ext>
                </a:extLst>
              </a:tr>
              <a:tr h="0">
                <a:tc>
                  <a:txBody>
                    <a:bodyPr/>
                    <a:lstStyle/>
                    <a:p>
                      <a:pPr>
                        <a:buNone/>
                      </a:pPr>
                      <a:r>
                        <a:rPr lang="en-US"/>
                        <a:t>Tellers need core banking</a:t>
                      </a:r>
                    </a:p>
                  </a:txBody>
                  <a:tcPr anchor="ctr"/>
                </a:tc>
                <a:tc>
                  <a:txBody>
                    <a:bodyPr/>
                    <a:lstStyle/>
                    <a:p>
                      <a:pPr>
                        <a:buNone/>
                      </a:pPr>
                      <a:r>
                        <a:rPr lang="en-US"/>
                        <a:t>Allow connections to core banking servers.</a:t>
                      </a:r>
                    </a:p>
                  </a:txBody>
                  <a:tcPr anchor="ctr"/>
                </a:tc>
                <a:extLst>
                  <a:ext uri="{0D108BD9-81ED-4DB2-BD59-A6C34878D82A}">
                    <a16:rowId xmlns:a16="http://schemas.microsoft.com/office/drawing/2014/main" val="1671754209"/>
                  </a:ext>
                </a:extLst>
              </a:tr>
              <a:tr h="0">
                <a:tc>
                  <a:txBody>
                    <a:bodyPr/>
                    <a:lstStyle/>
                    <a:p>
                      <a:pPr>
                        <a:buNone/>
                      </a:pPr>
                      <a:r>
                        <a:rPr lang="en-US"/>
                        <a:t>Tellers need email</a:t>
                      </a:r>
                    </a:p>
                  </a:txBody>
                  <a:tcPr anchor="ctr"/>
                </a:tc>
                <a:tc>
                  <a:txBody>
                    <a:bodyPr/>
                    <a:lstStyle/>
                    <a:p>
                      <a:pPr>
                        <a:buNone/>
                      </a:pPr>
                      <a:r>
                        <a:rPr lang="en-US" dirty="0"/>
                        <a:t>Allow Microsoft 365.</a:t>
                      </a:r>
                    </a:p>
                  </a:txBody>
                  <a:tcPr anchor="ctr"/>
                </a:tc>
                <a:extLst>
                  <a:ext uri="{0D108BD9-81ED-4DB2-BD59-A6C34878D82A}">
                    <a16:rowId xmlns:a16="http://schemas.microsoft.com/office/drawing/2014/main" val="3218416973"/>
                  </a:ext>
                </a:extLst>
              </a:tr>
              <a:tr h="0">
                <a:tc>
                  <a:txBody>
                    <a:bodyPr/>
                    <a:lstStyle/>
                    <a:p>
                      <a:pPr>
                        <a:buNone/>
                      </a:pPr>
                      <a:r>
                        <a:rPr lang="en-US"/>
                        <a:t>Tellers don't manage firewalls</a:t>
                      </a:r>
                    </a:p>
                  </a:txBody>
                  <a:tcPr anchor="ctr"/>
                </a:tc>
                <a:tc>
                  <a:txBody>
                    <a:bodyPr/>
                    <a:lstStyle/>
                    <a:p>
                      <a:pPr>
                        <a:buNone/>
                      </a:pPr>
                      <a:r>
                        <a:rPr lang="en-US"/>
                        <a:t>Deny access to management VLAN.</a:t>
                      </a:r>
                    </a:p>
                  </a:txBody>
                  <a:tcPr anchor="ctr"/>
                </a:tc>
                <a:extLst>
                  <a:ext uri="{0D108BD9-81ED-4DB2-BD59-A6C34878D82A}">
                    <a16:rowId xmlns:a16="http://schemas.microsoft.com/office/drawing/2014/main" val="3034278906"/>
                  </a:ext>
                </a:extLst>
              </a:tr>
              <a:tr h="0">
                <a:tc>
                  <a:txBody>
                    <a:bodyPr/>
                    <a:lstStyle/>
                    <a:p>
                      <a:pPr>
                        <a:buNone/>
                      </a:pPr>
                      <a:r>
                        <a:rPr lang="en-US"/>
                        <a:t>Guests need Internet</a:t>
                      </a:r>
                    </a:p>
                  </a:txBody>
                  <a:tcPr anchor="ctr"/>
                </a:tc>
                <a:tc>
                  <a:txBody>
                    <a:bodyPr/>
                    <a:lstStyle/>
                    <a:p>
                      <a:pPr>
                        <a:buNone/>
                      </a:pPr>
                      <a:r>
                        <a:rPr lang="en-US"/>
                        <a:t>Allow Internet only.</a:t>
                      </a:r>
                    </a:p>
                  </a:txBody>
                  <a:tcPr anchor="ctr"/>
                </a:tc>
                <a:extLst>
                  <a:ext uri="{0D108BD9-81ED-4DB2-BD59-A6C34878D82A}">
                    <a16:rowId xmlns:a16="http://schemas.microsoft.com/office/drawing/2014/main" val="2262628344"/>
                  </a:ext>
                </a:extLst>
              </a:tr>
              <a:tr h="0">
                <a:tc>
                  <a:txBody>
                    <a:bodyPr/>
                    <a:lstStyle/>
                    <a:p>
                      <a:pPr>
                        <a:buNone/>
                      </a:pPr>
                      <a:r>
                        <a:rPr lang="en-US"/>
                        <a:t>Guests don't need bank systems</a:t>
                      </a:r>
                    </a:p>
                  </a:txBody>
                  <a:tcPr anchor="ctr"/>
                </a:tc>
                <a:tc>
                  <a:txBody>
                    <a:bodyPr/>
                    <a:lstStyle/>
                    <a:p>
                      <a:pPr>
                        <a:buNone/>
                      </a:pPr>
                      <a:r>
                        <a:rPr lang="en-US" dirty="0"/>
                        <a:t>Deny internal networks.</a:t>
                      </a:r>
                    </a:p>
                  </a:txBody>
                  <a:tcPr anchor="ctr"/>
                </a:tc>
                <a:extLst>
                  <a:ext uri="{0D108BD9-81ED-4DB2-BD59-A6C34878D82A}">
                    <a16:rowId xmlns:a16="http://schemas.microsoft.com/office/drawing/2014/main" val="461466781"/>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Internal Firewalls</a:t>
            </a:r>
          </a:p>
        </p:txBody>
      </p:sp>
      <p:sp>
        <p:nvSpPr>
          <p:cNvPr id="4" name="Content Placeholder 3">
            <a:extLst>
              <a:ext uri="{FF2B5EF4-FFF2-40B4-BE49-F238E27FC236}">
                <a16:creationId xmlns:a16="http://schemas.microsoft.com/office/drawing/2014/main" id="{9DDB386C-B696-BBA0-64FA-D2C62D44718C}"/>
              </a:ext>
            </a:extLst>
          </p:cNvPr>
          <p:cNvSpPr>
            <a:spLocks noGrp="1"/>
          </p:cNvSpPr>
          <p:nvPr>
            <p:ph idx="1"/>
          </p:nvPr>
        </p:nvSpPr>
        <p:spPr/>
        <p:txBody>
          <a:bodyPr/>
          <a:lstStyle/>
          <a:p>
            <a:r>
              <a:rPr lang="en-US" dirty="0"/>
              <a:t>Why would a bank put a firewall between internal networks?</a:t>
            </a:r>
          </a:p>
          <a:p>
            <a:pPr lvl="1"/>
            <a:r>
              <a:rPr lang="en-US" dirty="0"/>
              <a:t>This is the “intranet firewall” use case from the course title</a:t>
            </a:r>
          </a:p>
          <a:p>
            <a:r>
              <a:rPr lang="en-US" dirty="0"/>
              <a:t>The implementation changes with scale</a:t>
            </a:r>
          </a:p>
          <a:p>
            <a:pPr lvl="1"/>
            <a:r>
              <a:rPr lang="en-US" dirty="0"/>
              <a:t>A $75M bank may use one FortiGate to separate guest Wi-Fi from teller systems.</a:t>
            </a:r>
          </a:p>
          <a:p>
            <a:pPr lvl="1"/>
            <a:r>
              <a:rPr lang="en-US" dirty="0"/>
              <a:t>A $1B bank may use internal firewalls between server networks.</a:t>
            </a:r>
          </a:p>
          <a:p>
            <a:pPr lvl="1"/>
            <a:r>
              <a:rPr lang="en-US" dirty="0"/>
              <a:t>Microsoft 365 uses Conditional Access to segment users based on identity.</a:t>
            </a:r>
          </a:p>
          <a:p>
            <a:pPr lvl="1"/>
            <a:r>
              <a:rPr lang="en-US" dirty="0"/>
              <a:t>Azure uses Network Security Groups and virtual networks.</a:t>
            </a:r>
          </a:p>
          <a:p>
            <a:r>
              <a:rPr lang="en-US" dirty="0"/>
              <a:t>But the goal doesn’t change</a:t>
            </a:r>
          </a:p>
          <a:p>
            <a:pPr lvl="1"/>
            <a:r>
              <a:rPr lang="en-US" b="1" dirty="0"/>
              <a:t>Limit communication to only what is necessary for the business.</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an Examiner Should Ask</a:t>
            </a:r>
          </a:p>
        </p:txBody>
      </p:sp>
      <p:sp>
        <p:nvSpPr>
          <p:cNvPr id="5" name="Content Placeholder 3">
            <a:extLst>
              <a:ext uri="{FF2B5EF4-FFF2-40B4-BE49-F238E27FC236}">
                <a16:creationId xmlns:a16="http://schemas.microsoft.com/office/drawing/2014/main" id="{7719F1A5-A958-5F79-3651-3546593DA3ED}"/>
              </a:ext>
            </a:extLst>
          </p:cNvPr>
          <p:cNvSpPr>
            <a:spLocks noGrp="1"/>
          </p:cNvSpPr>
          <p:nvPr>
            <p:ph idx="1"/>
          </p:nvPr>
        </p:nvSpPr>
        <p:spPr>
          <a:xfrm>
            <a:off x="1257300" y="2193131"/>
            <a:ext cx="15773400" cy="5758174"/>
          </a:xfrm>
        </p:spPr>
        <p:txBody>
          <a:bodyPr/>
          <a:lstStyle/>
          <a:p>
            <a:r>
              <a:rPr lang="en-US" dirty="0"/>
              <a:t>Which systems are intentionally separated?</a:t>
            </a:r>
          </a:p>
          <a:p>
            <a:r>
              <a:rPr lang="en-US" dirty="0"/>
              <a:t>Why are they separated?</a:t>
            </a:r>
          </a:p>
          <a:p>
            <a:r>
              <a:rPr lang="en-US" dirty="0"/>
              <a:t>Who is allowed to communicate across those boundaries?</a:t>
            </a:r>
          </a:p>
          <a:p>
            <a:r>
              <a:rPr lang="en-US" dirty="0"/>
              <a:t>How are exceptions approved?</a:t>
            </a:r>
          </a:p>
          <a:p>
            <a:r>
              <a:rPr lang="en-US" dirty="0"/>
              <a:t>Have segmentation rules changed as the bank's technology has changed?</a:t>
            </a:r>
          </a:p>
          <a:p>
            <a:r>
              <a:rPr lang="en-US" dirty="0"/>
              <a:t>How are vendor and cloud connections restricted?</a:t>
            </a:r>
          </a:p>
        </p:txBody>
      </p:sp>
      <p:sp>
        <p:nvSpPr>
          <p:cNvPr id="6" name="TextBox 5">
            <a:extLst>
              <a:ext uri="{FF2B5EF4-FFF2-40B4-BE49-F238E27FC236}">
                <a16:creationId xmlns:a16="http://schemas.microsoft.com/office/drawing/2014/main" id="{F1A82A28-1F75-03C0-8850-53A81676D294}"/>
              </a:ext>
            </a:extLst>
          </p:cNvPr>
          <p:cNvSpPr txBox="1"/>
          <p:nvPr/>
        </p:nvSpPr>
        <p:spPr>
          <a:xfrm>
            <a:off x="1774649" y="7951305"/>
            <a:ext cx="13392979" cy="1446550"/>
          </a:xfrm>
          <a:prstGeom prst="rect">
            <a:avLst/>
          </a:prstGeom>
          <a:noFill/>
        </p:spPr>
        <p:txBody>
          <a:bodyPr wrap="square" rtlCol="0">
            <a:spAutoFit/>
          </a:bodyPr>
          <a:lstStyle/>
          <a:p>
            <a:pPr algn="ctr"/>
            <a:r>
              <a:rPr lang="en-US" sz="4400" b="1" dirty="0">
                <a:solidFill>
                  <a:schemeClr val="accent4"/>
                </a:solidFill>
              </a:rPr>
              <a:t>We are determining whether the bank's controls are appropriate for the risks it faces.</a:t>
            </a:r>
            <a:endParaRPr lang="en-US" sz="4400" dirty="0">
              <a:solidFill>
                <a:schemeClr val="accent4"/>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 / Looking Ahead</a:t>
            </a:r>
          </a:p>
        </p:txBody>
      </p:sp>
      <p:sp>
        <p:nvSpPr>
          <p:cNvPr id="4" name="Content Placeholder 3">
            <a:extLst>
              <a:ext uri="{FF2B5EF4-FFF2-40B4-BE49-F238E27FC236}">
                <a16:creationId xmlns:a16="http://schemas.microsoft.com/office/drawing/2014/main" id="{56117DE5-1C8A-6503-270E-F29A581D062A}"/>
              </a:ext>
            </a:extLst>
          </p:cNvPr>
          <p:cNvSpPr>
            <a:spLocks noGrp="1"/>
          </p:cNvSpPr>
          <p:nvPr>
            <p:ph idx="1"/>
          </p:nvPr>
        </p:nvSpPr>
        <p:spPr>
          <a:xfrm>
            <a:off x="1257300" y="2193131"/>
            <a:ext cx="11007587" cy="6967198"/>
          </a:xfrm>
        </p:spPr>
        <p:txBody>
          <a:bodyPr/>
          <a:lstStyle/>
          <a:p>
            <a:r>
              <a:rPr lang="en-US" dirty="0"/>
              <a:t>Segmentation limits the impact of successful attacks.</a:t>
            </a:r>
          </a:p>
          <a:p>
            <a:r>
              <a:rPr lang="en-US" dirty="0"/>
              <a:t>Security policies determine which communications are allowed.</a:t>
            </a:r>
          </a:p>
          <a:p>
            <a:r>
              <a:rPr lang="en-US" dirty="0"/>
              <a:t>Different technologies can implement the same security objective.</a:t>
            </a:r>
          </a:p>
          <a:p>
            <a:r>
              <a:rPr lang="en-US" dirty="0"/>
              <a:t>Examiners evaluate whether the bank's architecture appropriately separates systems with different security requirements.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05F1-4798-415F-DBE4-C1A0830FF07E}"/>
              </a:ext>
            </a:extLst>
          </p:cNvPr>
          <p:cNvSpPr>
            <a:spLocks noGrp="1"/>
          </p:cNvSpPr>
          <p:nvPr>
            <p:ph type="ctrTitle"/>
          </p:nvPr>
        </p:nvSpPr>
        <p:spPr/>
        <p:txBody>
          <a:bodyPr/>
          <a:lstStyle/>
          <a:p>
            <a:r>
              <a:t>Availability &amp; Resilience</a:t>
            </a:r>
          </a:p>
        </p:txBody>
      </p:sp>
      <p:sp>
        <p:nvSpPr>
          <p:cNvPr id="4" name="Subtitle 3">
            <a:extLst>
              <a:ext uri="{FF2B5EF4-FFF2-40B4-BE49-F238E27FC236}">
                <a16:creationId xmlns:a16="http://schemas.microsoft.com/office/drawing/2014/main" id="{355CB6C4-1187-6CB9-F343-16FA0C173429}"/>
              </a:ext>
            </a:extLst>
          </p:cNvPr>
          <p:cNvSpPr>
            <a:spLocks noGrp="1"/>
          </p:cNvSpPr>
          <p:nvPr>
            <p:ph type="subTitle" idx="1"/>
          </p:nvPr>
        </p:nvSpPr>
        <p:spPr/>
        <p:txBody>
          <a:bodyPr/>
          <a:lstStyle/>
          <a:p>
            <a:r>
              <a:rPr lang="en-US" dirty="0"/>
              <a:t>Chapter 6</a:t>
            </a:r>
          </a:p>
        </p:txBody>
      </p:sp>
    </p:spTree>
    <p:extLst>
      <p:ext uri="{BB962C8B-B14F-4D97-AF65-F5344CB8AC3E}">
        <p14:creationId xmlns:p14="http://schemas.microsoft.com/office/powerpoint/2010/main" val="8656048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Availability Matters</a:t>
            </a:r>
          </a:p>
        </p:txBody>
      </p:sp>
      <p:sp>
        <p:nvSpPr>
          <p:cNvPr id="4" name="Content Placeholder 3">
            <a:extLst>
              <a:ext uri="{FF2B5EF4-FFF2-40B4-BE49-F238E27FC236}">
                <a16:creationId xmlns:a16="http://schemas.microsoft.com/office/drawing/2014/main" id="{A32C7CD9-4FF0-CB69-03BC-B60EEDD030DA}"/>
              </a:ext>
            </a:extLst>
          </p:cNvPr>
          <p:cNvSpPr>
            <a:spLocks noGrp="1"/>
          </p:cNvSpPr>
          <p:nvPr>
            <p:ph idx="1"/>
          </p:nvPr>
        </p:nvSpPr>
        <p:spPr>
          <a:xfrm>
            <a:off x="1257300" y="2193131"/>
            <a:ext cx="10458279" cy="6967198"/>
          </a:xfrm>
        </p:spPr>
        <p:txBody>
          <a:bodyPr>
            <a:normAutofit/>
          </a:bodyPr>
          <a:lstStyle/>
          <a:p>
            <a:r>
              <a:rPr lang="en-US" dirty="0"/>
              <a:t>When core banking goes down, Tom gets a visit from Cindy </a:t>
            </a:r>
          </a:p>
          <a:p>
            <a:r>
              <a:rPr lang="en-US" dirty="0"/>
              <a:t>More importantly, most bank tasks stop</a:t>
            </a:r>
          </a:p>
          <a:p>
            <a:r>
              <a:rPr lang="en-US" dirty="0"/>
              <a:t>At Pine Valley, availability can mean:</a:t>
            </a:r>
          </a:p>
          <a:p>
            <a:pPr lvl="1"/>
            <a:r>
              <a:rPr lang="en-US" dirty="0"/>
              <a:t>Applications (like core banking)</a:t>
            </a:r>
          </a:p>
          <a:p>
            <a:pPr lvl="1"/>
            <a:r>
              <a:rPr lang="en-US" dirty="0"/>
              <a:t>Internet</a:t>
            </a:r>
          </a:p>
          <a:p>
            <a:pPr lvl="1"/>
            <a:r>
              <a:rPr lang="en-US" dirty="0"/>
              <a:t>Power</a:t>
            </a:r>
          </a:p>
          <a:p>
            <a:pPr lvl="1"/>
            <a:r>
              <a:rPr lang="en-US" dirty="0"/>
              <a:t>Branch</a:t>
            </a:r>
          </a:p>
          <a:p>
            <a:pPr lvl="1"/>
            <a:r>
              <a:rPr lang="en-US" dirty="0"/>
              <a:t>Cloud</a:t>
            </a:r>
          </a:p>
          <a:p>
            <a:pPr lvl="1"/>
            <a:r>
              <a:rPr lang="en-US" dirty="0"/>
              <a:t>Firewall (and other security devices)</a:t>
            </a:r>
          </a:p>
          <a:p>
            <a:pPr lvl="1"/>
            <a:r>
              <a:rPr lang="en-US" dirty="0"/>
              <a:t>What else?</a:t>
            </a:r>
          </a:p>
        </p:txBody>
      </p:sp>
      <p:pic>
        <p:nvPicPr>
          <p:cNvPr id="12" name="Picture 11" descr="A person and person talking&#10;&#10;AI-generated content may be incorrect.">
            <a:extLst>
              <a:ext uri="{FF2B5EF4-FFF2-40B4-BE49-F238E27FC236}">
                <a16:creationId xmlns:a16="http://schemas.microsoft.com/office/drawing/2014/main" id="{3026BBE3-0BAC-4D4A-9E9E-237BC6485F92}"/>
              </a:ext>
            </a:extLst>
          </p:cNvPr>
          <p:cNvPicPr>
            <a:picLocks noChangeAspect="1"/>
          </p:cNvPicPr>
          <p:nvPr/>
        </p:nvPicPr>
        <p:blipFill>
          <a:blip r:embed="rId3"/>
          <a:stretch>
            <a:fillRect/>
          </a:stretch>
        </p:blipFill>
        <p:spPr>
          <a:xfrm>
            <a:off x="12108070" y="1714330"/>
            <a:ext cx="5283200" cy="79248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Examiner Question</a:t>
            </a:r>
            <a:r>
              <a:rPr lang="en-US" dirty="0"/>
              <a:t>(s)</a:t>
            </a:r>
            <a:endParaRPr dirty="0"/>
          </a:p>
        </p:txBody>
      </p:sp>
      <p:sp>
        <p:nvSpPr>
          <p:cNvPr id="5" name="Content Placeholder 4">
            <a:extLst>
              <a:ext uri="{FF2B5EF4-FFF2-40B4-BE49-F238E27FC236}">
                <a16:creationId xmlns:a16="http://schemas.microsoft.com/office/drawing/2014/main" id="{128F218F-B01D-B6F1-4998-9D7EEAEE5509}"/>
              </a:ext>
            </a:extLst>
          </p:cNvPr>
          <p:cNvSpPr>
            <a:spLocks noGrp="1"/>
          </p:cNvSpPr>
          <p:nvPr>
            <p:ph idx="1"/>
          </p:nvPr>
        </p:nvSpPr>
        <p:spPr/>
        <p:txBody>
          <a:bodyPr>
            <a:normAutofit/>
          </a:bodyPr>
          <a:lstStyle/>
          <a:p>
            <a:r>
              <a:rPr lang="en-US" dirty="0"/>
              <a:t>Which systems and services are critical to bank operations?</a:t>
            </a:r>
          </a:p>
          <a:p>
            <a:r>
              <a:rPr lang="en-US" dirty="0"/>
              <a:t>What happens if a critical system fails?</a:t>
            </a:r>
          </a:p>
          <a:p>
            <a:r>
              <a:rPr lang="en-US" dirty="0"/>
              <a:t>Has the bank implemented reasonable controls to maintain operations?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Availability in the CIA Triad</a:t>
            </a:r>
          </a:p>
        </p:txBody>
      </p:sp>
      <p:sp>
        <p:nvSpPr>
          <p:cNvPr id="4" name="Content Placeholder 3">
            <a:extLst>
              <a:ext uri="{FF2B5EF4-FFF2-40B4-BE49-F238E27FC236}">
                <a16:creationId xmlns:a16="http://schemas.microsoft.com/office/drawing/2014/main" id="{0401DE2C-04D2-A06E-F8C0-B327EF45BB1D}"/>
              </a:ext>
            </a:extLst>
          </p:cNvPr>
          <p:cNvSpPr>
            <a:spLocks noGrp="1"/>
          </p:cNvSpPr>
          <p:nvPr>
            <p:ph idx="1"/>
          </p:nvPr>
        </p:nvSpPr>
        <p:spPr>
          <a:xfrm>
            <a:off x="1257300" y="2193131"/>
            <a:ext cx="9200141" cy="6693694"/>
          </a:xfrm>
        </p:spPr>
        <p:txBody>
          <a:bodyPr>
            <a:normAutofit lnSpcReduction="10000"/>
          </a:bodyPr>
          <a:lstStyle/>
          <a:p>
            <a:r>
              <a:rPr lang="en-US" dirty="0"/>
              <a:t>The “foundation” of the triad</a:t>
            </a:r>
          </a:p>
          <a:p>
            <a:r>
              <a:rPr lang="en-US" dirty="0"/>
              <a:t>Availability doesn't mean "Nothing ever breaks."</a:t>
            </a:r>
          </a:p>
          <a:p>
            <a:r>
              <a:rPr lang="en-US" dirty="0"/>
              <a:t>It means "The bank can continue performing critical business functions."</a:t>
            </a:r>
          </a:p>
          <a:p>
            <a:pPr marL="0" indent="0">
              <a:buNone/>
            </a:pPr>
            <a:endParaRPr lang="en-US" dirty="0"/>
          </a:p>
          <a:p>
            <a:pPr lvl="1"/>
            <a:r>
              <a:rPr lang="en-US" dirty="0"/>
              <a:t>Customers withdraw cash.</a:t>
            </a:r>
          </a:p>
          <a:p>
            <a:pPr lvl="1"/>
            <a:r>
              <a:rPr lang="en-US" dirty="0"/>
              <a:t>Tellers process deposits.</a:t>
            </a:r>
          </a:p>
          <a:p>
            <a:pPr lvl="1"/>
            <a:r>
              <a:rPr lang="en-US" dirty="0"/>
              <a:t>ACH files are sent.</a:t>
            </a:r>
          </a:p>
          <a:p>
            <a:pPr lvl="1"/>
            <a:r>
              <a:rPr lang="en-US" dirty="0"/>
              <a:t>Wire transfers continue.</a:t>
            </a:r>
          </a:p>
        </p:txBody>
      </p:sp>
      <p:grpSp>
        <p:nvGrpSpPr>
          <p:cNvPr id="3" name="Group 2">
            <a:extLst>
              <a:ext uri="{FF2B5EF4-FFF2-40B4-BE49-F238E27FC236}">
                <a16:creationId xmlns:a16="http://schemas.microsoft.com/office/drawing/2014/main" id="{0369D270-5355-D5A9-4002-EC17DFCC0F80}"/>
              </a:ext>
            </a:extLst>
          </p:cNvPr>
          <p:cNvGrpSpPr/>
          <p:nvPr/>
        </p:nvGrpSpPr>
        <p:grpSpPr>
          <a:xfrm>
            <a:off x="9844391" y="3035030"/>
            <a:ext cx="7645939" cy="6231162"/>
            <a:chOff x="3336325" y="1813177"/>
            <a:chExt cx="5078241" cy="4610761"/>
          </a:xfrm>
        </p:grpSpPr>
        <p:pic>
          <p:nvPicPr>
            <p:cNvPr id="28" name="Picture 2">
              <a:extLst>
                <a:ext uri="{FF2B5EF4-FFF2-40B4-BE49-F238E27FC236}">
                  <a16:creationId xmlns:a16="http://schemas.microsoft.com/office/drawing/2014/main" id="{84DA3211-F08C-4430-1DFC-C43B111BF072}"/>
                </a:ext>
              </a:extLst>
            </p:cNvPr>
            <p:cNvPicPr>
              <a:picLocks noChangeAspect="1" noChangeArrowheads="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3336325" y="1813177"/>
              <a:ext cx="5078241" cy="4610761"/>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FA7A89DC-ABC3-7C81-9295-5F0DFD6B65EE}"/>
                </a:ext>
              </a:extLst>
            </p:cNvPr>
            <p:cNvSpPr txBox="1"/>
            <p:nvPr/>
          </p:nvSpPr>
          <p:spPr>
            <a:xfrm rot="17970630">
              <a:off x="3425219" y="4240469"/>
              <a:ext cx="1864426" cy="463691"/>
            </a:xfrm>
            <a:prstGeom prst="rect">
              <a:avLst/>
            </a:prstGeom>
            <a:noFill/>
          </p:spPr>
          <p:txBody>
            <a:bodyPr wrap="none" lIns="0" tIns="0" rIns="0" bIns="0" rtlCol="0">
              <a:noAutofit/>
            </a:bodyPr>
            <a:lstStyle/>
            <a:p>
              <a:pPr algn="l"/>
              <a:r>
                <a:rPr lang="en-US" sz="2800" b="1">
                  <a:solidFill>
                    <a:schemeClr val="accent1">
                      <a:lumMod val="75000"/>
                    </a:schemeClr>
                  </a:solidFill>
                </a:rPr>
                <a:t>Confidentiality</a:t>
              </a:r>
            </a:p>
          </p:txBody>
        </p:sp>
        <p:sp>
          <p:nvSpPr>
            <p:cNvPr id="30" name="TextBox 29">
              <a:extLst>
                <a:ext uri="{FF2B5EF4-FFF2-40B4-BE49-F238E27FC236}">
                  <a16:creationId xmlns:a16="http://schemas.microsoft.com/office/drawing/2014/main" id="{B1BE1BFB-C8BF-A3D3-6263-9ADD3668E85F}"/>
                </a:ext>
              </a:extLst>
            </p:cNvPr>
            <p:cNvSpPr txBox="1"/>
            <p:nvPr/>
          </p:nvSpPr>
          <p:spPr>
            <a:xfrm rot="3750580">
              <a:off x="6044440" y="3711074"/>
              <a:ext cx="1864426" cy="574155"/>
            </a:xfrm>
            <a:prstGeom prst="rect">
              <a:avLst/>
            </a:prstGeom>
            <a:noFill/>
          </p:spPr>
          <p:txBody>
            <a:bodyPr wrap="none" lIns="0" tIns="0" rIns="0" bIns="0" rtlCol="0">
              <a:noAutofit/>
            </a:bodyPr>
            <a:lstStyle/>
            <a:p>
              <a:pPr algn="l"/>
              <a:r>
                <a:rPr lang="en-US" sz="2800" b="1">
                  <a:solidFill>
                    <a:schemeClr val="tx2">
                      <a:lumMod val="60000"/>
                      <a:lumOff val="40000"/>
                    </a:schemeClr>
                  </a:solidFill>
                </a:rPr>
                <a:t>Integrity</a:t>
              </a:r>
            </a:p>
          </p:txBody>
        </p:sp>
        <p:sp>
          <p:nvSpPr>
            <p:cNvPr id="31" name="TextBox 30">
              <a:extLst>
                <a:ext uri="{FF2B5EF4-FFF2-40B4-BE49-F238E27FC236}">
                  <a16:creationId xmlns:a16="http://schemas.microsoft.com/office/drawing/2014/main" id="{78DADE37-40B0-C623-0ECD-14943F691AF6}"/>
                </a:ext>
              </a:extLst>
            </p:cNvPr>
            <p:cNvSpPr txBox="1"/>
            <p:nvPr/>
          </p:nvSpPr>
          <p:spPr>
            <a:xfrm>
              <a:off x="5163787" y="5846208"/>
              <a:ext cx="1864426" cy="463691"/>
            </a:xfrm>
            <a:prstGeom prst="rect">
              <a:avLst/>
            </a:prstGeom>
            <a:noFill/>
          </p:spPr>
          <p:txBody>
            <a:bodyPr wrap="none" lIns="0" tIns="0" rIns="0" bIns="0" rtlCol="0">
              <a:noAutofit/>
            </a:bodyPr>
            <a:lstStyle/>
            <a:p>
              <a:pPr algn="l"/>
              <a:r>
                <a:rPr lang="en-US" sz="2800" b="1">
                  <a:solidFill>
                    <a:schemeClr val="bg1"/>
                  </a:solidFill>
                </a:rPr>
                <a:t>Availability</a:t>
              </a:r>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EACECE51-0FE0-4F78-F870-0148AF894156}"/>
              </a:ext>
            </a:extLst>
          </p:cNvPr>
          <p:cNvSpPr txBox="1">
            <a:spLocks/>
          </p:cNvSpPr>
          <p:nvPr/>
        </p:nvSpPr>
        <p:spPr>
          <a:xfrm>
            <a:off x="1257301" y="2193131"/>
            <a:ext cx="5282648" cy="6693694"/>
          </a:xfrm>
          <a:prstGeom prst="rect">
            <a:avLst/>
          </a:prstGeom>
        </p:spPr>
        <p:txBody>
          <a:bodyPr vert="horz" lIns="91440" tIns="45720" rIns="91440" bIns="45720" rtlCol="0">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dirty="0"/>
              <a:t>Having no single points of failure is a great idea, but often impossible</a:t>
            </a:r>
          </a:p>
          <a:p>
            <a:r>
              <a:rPr lang="en-US" dirty="0"/>
              <a:t>What are the consequences of these failures?</a:t>
            </a:r>
          </a:p>
          <a:p>
            <a:r>
              <a:rPr lang="en-US" dirty="0"/>
              <a:t>How should a bank plan for such  occurrences?</a:t>
            </a:r>
          </a:p>
          <a:p>
            <a:endParaRPr lang="en-US" dirty="0"/>
          </a:p>
        </p:txBody>
      </p:sp>
      <p:pic>
        <p:nvPicPr>
          <p:cNvPr id="7" name="Picture 6" descr="A diagram of a network&#10;&#10;AI-generated content may be incorrect.">
            <a:extLst>
              <a:ext uri="{FF2B5EF4-FFF2-40B4-BE49-F238E27FC236}">
                <a16:creationId xmlns:a16="http://schemas.microsoft.com/office/drawing/2014/main" id="{7122F5EC-3323-8D78-8F11-3207ACDFB02D}"/>
              </a:ext>
            </a:extLst>
          </p:cNvPr>
          <p:cNvPicPr>
            <a:picLocks noChangeAspect="1"/>
          </p:cNvPicPr>
          <p:nvPr/>
        </p:nvPicPr>
        <p:blipFill>
          <a:blip r:embed="rId3"/>
          <a:stretch>
            <a:fillRect/>
          </a:stretch>
        </p:blipFill>
        <p:spPr>
          <a:xfrm>
            <a:off x="6897756" y="1453813"/>
            <a:ext cx="10999556" cy="8670238"/>
          </a:xfrm>
          <a:prstGeom prst="rect">
            <a:avLst/>
          </a:prstGeom>
        </p:spPr>
      </p:pic>
      <p:sp>
        <p:nvSpPr>
          <p:cNvPr id="2" name="Title 1"/>
          <p:cNvSpPr>
            <a:spLocks noGrp="1"/>
          </p:cNvSpPr>
          <p:nvPr>
            <p:ph type="title"/>
          </p:nvPr>
        </p:nvSpPr>
        <p:spPr/>
        <p:txBody>
          <a:bodyPr/>
          <a:lstStyle/>
          <a:p>
            <a:r>
              <a:rPr dirty="0"/>
              <a:t>Single Points of Failure</a:t>
            </a:r>
          </a:p>
        </p:txBody>
      </p:sp>
      <p:sp>
        <p:nvSpPr>
          <p:cNvPr id="8" name="TextBox 7">
            <a:extLst>
              <a:ext uri="{FF2B5EF4-FFF2-40B4-BE49-F238E27FC236}">
                <a16:creationId xmlns:a16="http://schemas.microsoft.com/office/drawing/2014/main" id="{4F5BDF45-7B2F-F526-071D-09CBDBCCDE5C}"/>
              </a:ext>
            </a:extLst>
          </p:cNvPr>
          <p:cNvSpPr txBox="1"/>
          <p:nvPr/>
        </p:nvSpPr>
        <p:spPr>
          <a:xfrm>
            <a:off x="11522891" y="3003881"/>
            <a:ext cx="874643" cy="3154710"/>
          </a:xfrm>
          <a:prstGeom prst="rect">
            <a:avLst/>
          </a:prstGeom>
          <a:noFill/>
        </p:spPr>
        <p:txBody>
          <a:bodyPr wrap="square" rtlCol="0">
            <a:spAutoFit/>
          </a:bodyPr>
          <a:lstStyle/>
          <a:p>
            <a:r>
              <a:rPr lang="en-US" sz="19900" b="1" dirty="0">
                <a:solidFill>
                  <a:srgbClr val="FF0000"/>
                </a:solidFill>
              </a:rPr>
              <a:t>X</a:t>
            </a:r>
          </a:p>
        </p:txBody>
      </p:sp>
      <p:sp>
        <p:nvSpPr>
          <p:cNvPr id="9" name="TextBox 8">
            <a:extLst>
              <a:ext uri="{FF2B5EF4-FFF2-40B4-BE49-F238E27FC236}">
                <a16:creationId xmlns:a16="http://schemas.microsoft.com/office/drawing/2014/main" id="{E01EAFD5-F86E-D530-3CF6-99F84A5F5282}"/>
              </a:ext>
            </a:extLst>
          </p:cNvPr>
          <p:cNvSpPr txBox="1"/>
          <p:nvPr/>
        </p:nvSpPr>
        <p:spPr>
          <a:xfrm>
            <a:off x="7408091" y="4653776"/>
            <a:ext cx="874643" cy="3154710"/>
          </a:xfrm>
          <a:prstGeom prst="rect">
            <a:avLst/>
          </a:prstGeom>
          <a:noFill/>
        </p:spPr>
        <p:txBody>
          <a:bodyPr wrap="square" rtlCol="0">
            <a:spAutoFit/>
          </a:bodyPr>
          <a:lstStyle/>
          <a:p>
            <a:r>
              <a:rPr lang="en-US" sz="19900" b="1" dirty="0">
                <a:solidFill>
                  <a:srgbClr val="FF0000"/>
                </a:solidFill>
              </a:rPr>
              <a:t>X</a:t>
            </a:r>
          </a:p>
        </p:txBody>
      </p:sp>
      <p:sp>
        <p:nvSpPr>
          <p:cNvPr id="10" name="TextBox 9">
            <a:extLst>
              <a:ext uri="{FF2B5EF4-FFF2-40B4-BE49-F238E27FC236}">
                <a16:creationId xmlns:a16="http://schemas.microsoft.com/office/drawing/2014/main" id="{C542F5DA-9111-6789-D165-BE9323D54B8B}"/>
              </a:ext>
            </a:extLst>
          </p:cNvPr>
          <p:cNvSpPr txBox="1"/>
          <p:nvPr/>
        </p:nvSpPr>
        <p:spPr>
          <a:xfrm>
            <a:off x="10469343" y="7675272"/>
            <a:ext cx="874643" cy="3154710"/>
          </a:xfrm>
          <a:prstGeom prst="rect">
            <a:avLst/>
          </a:prstGeom>
          <a:noFill/>
        </p:spPr>
        <p:txBody>
          <a:bodyPr wrap="square" rtlCol="0">
            <a:spAutoFit/>
          </a:bodyPr>
          <a:lstStyle/>
          <a:p>
            <a:r>
              <a:rPr lang="en-US" sz="19900" b="1" dirty="0">
                <a:solidFill>
                  <a:srgbClr val="FF0000"/>
                </a:solidFill>
              </a:rPr>
              <a:t>X</a:t>
            </a:r>
          </a:p>
        </p:txBody>
      </p:sp>
      <p:sp>
        <p:nvSpPr>
          <p:cNvPr id="11" name="TextBox 10">
            <a:extLst>
              <a:ext uri="{FF2B5EF4-FFF2-40B4-BE49-F238E27FC236}">
                <a16:creationId xmlns:a16="http://schemas.microsoft.com/office/drawing/2014/main" id="{57C26CA0-4245-42C1-14AE-83D26548B399}"/>
              </a:ext>
            </a:extLst>
          </p:cNvPr>
          <p:cNvSpPr txBox="1"/>
          <p:nvPr/>
        </p:nvSpPr>
        <p:spPr>
          <a:xfrm>
            <a:off x="9057986" y="7675272"/>
            <a:ext cx="874643" cy="3154710"/>
          </a:xfrm>
          <a:prstGeom prst="rect">
            <a:avLst/>
          </a:prstGeom>
          <a:noFill/>
        </p:spPr>
        <p:txBody>
          <a:bodyPr wrap="square" rtlCol="0">
            <a:spAutoFit/>
          </a:bodyPr>
          <a:lstStyle/>
          <a:p>
            <a:r>
              <a:rPr lang="en-US" sz="19900" b="1" dirty="0">
                <a:solidFill>
                  <a:srgbClr val="FF0000"/>
                </a:solidFill>
              </a:rPr>
              <a:t>X</a:t>
            </a:r>
          </a:p>
        </p:txBody>
      </p:sp>
      <p:sp>
        <p:nvSpPr>
          <p:cNvPr id="12" name="TextBox 11">
            <a:extLst>
              <a:ext uri="{FF2B5EF4-FFF2-40B4-BE49-F238E27FC236}">
                <a16:creationId xmlns:a16="http://schemas.microsoft.com/office/drawing/2014/main" id="{5D2CB65C-CA3B-BAD9-A968-3E91B9802205}"/>
              </a:ext>
            </a:extLst>
          </p:cNvPr>
          <p:cNvSpPr txBox="1"/>
          <p:nvPr/>
        </p:nvSpPr>
        <p:spPr>
          <a:xfrm>
            <a:off x="11522890" y="399828"/>
            <a:ext cx="874643" cy="3154710"/>
          </a:xfrm>
          <a:prstGeom prst="rect">
            <a:avLst/>
          </a:prstGeom>
          <a:noFill/>
        </p:spPr>
        <p:txBody>
          <a:bodyPr wrap="square" rtlCol="0">
            <a:spAutoFit/>
          </a:bodyPr>
          <a:lstStyle/>
          <a:p>
            <a:r>
              <a:rPr lang="en-US" sz="19900" b="1" dirty="0">
                <a:solidFill>
                  <a:srgbClr val="FF0000"/>
                </a:solidFill>
              </a:rPr>
              <a:t>X</a:t>
            </a:r>
          </a:p>
        </p:txBody>
      </p:sp>
      <p:sp>
        <p:nvSpPr>
          <p:cNvPr id="13" name="TextBox 12">
            <a:extLst>
              <a:ext uri="{FF2B5EF4-FFF2-40B4-BE49-F238E27FC236}">
                <a16:creationId xmlns:a16="http://schemas.microsoft.com/office/drawing/2014/main" id="{75E32BAC-E45A-6600-D0C7-077904194E69}"/>
              </a:ext>
            </a:extLst>
          </p:cNvPr>
          <p:cNvSpPr txBox="1"/>
          <p:nvPr/>
        </p:nvSpPr>
        <p:spPr>
          <a:xfrm>
            <a:off x="9256768" y="4713411"/>
            <a:ext cx="874643" cy="3154710"/>
          </a:xfrm>
          <a:prstGeom prst="rect">
            <a:avLst/>
          </a:prstGeom>
          <a:noFill/>
        </p:spPr>
        <p:txBody>
          <a:bodyPr wrap="square" rtlCol="0">
            <a:spAutoFit/>
          </a:bodyPr>
          <a:lstStyle/>
          <a:p>
            <a:r>
              <a:rPr lang="en-US" sz="19900" b="1" dirty="0">
                <a:solidFill>
                  <a:srgbClr val="FF0000"/>
                </a:solidFill>
              </a:rPr>
              <a:t>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t>
            </a:r>
            <a:r>
              <a:rPr dirty="0"/>
              <a:t>Resilience</a:t>
            </a:r>
          </a:p>
        </p:txBody>
      </p:sp>
      <p:sp>
        <p:nvSpPr>
          <p:cNvPr id="4" name="Content Placeholder 3">
            <a:extLst>
              <a:ext uri="{FF2B5EF4-FFF2-40B4-BE49-F238E27FC236}">
                <a16:creationId xmlns:a16="http://schemas.microsoft.com/office/drawing/2014/main" id="{949A66B6-48F5-9015-1634-E4AF91FB0397}"/>
              </a:ext>
            </a:extLst>
          </p:cNvPr>
          <p:cNvSpPr>
            <a:spLocks noGrp="1"/>
          </p:cNvSpPr>
          <p:nvPr>
            <p:ph idx="1"/>
          </p:nvPr>
        </p:nvSpPr>
        <p:spPr>
          <a:xfrm>
            <a:off x="1257300" y="2193130"/>
            <a:ext cx="15773400" cy="7567096"/>
          </a:xfrm>
        </p:spPr>
        <p:txBody>
          <a:bodyPr>
            <a:normAutofit/>
          </a:bodyPr>
          <a:lstStyle/>
          <a:p>
            <a:r>
              <a:rPr lang="en-US" dirty="0"/>
              <a:t>What steps can a bank take to build resilient systems?</a:t>
            </a:r>
          </a:p>
          <a:p>
            <a:pPr lvl="1"/>
            <a:r>
              <a:rPr lang="en-US" dirty="0"/>
              <a:t>Redundant Internet</a:t>
            </a:r>
          </a:p>
          <a:p>
            <a:pPr lvl="1"/>
            <a:r>
              <a:rPr lang="en-US" dirty="0"/>
              <a:t>HA firewalls</a:t>
            </a:r>
          </a:p>
          <a:p>
            <a:pPr lvl="1"/>
            <a:r>
              <a:rPr lang="en-US" dirty="0"/>
              <a:t>UPS</a:t>
            </a:r>
          </a:p>
          <a:p>
            <a:pPr lvl="1"/>
            <a:r>
              <a:rPr lang="en-US" dirty="0"/>
              <a:t>Generators</a:t>
            </a:r>
          </a:p>
          <a:p>
            <a:pPr lvl="1"/>
            <a:r>
              <a:rPr lang="en-US" dirty="0"/>
              <a:t>Clustered servers</a:t>
            </a:r>
          </a:p>
          <a:p>
            <a:pPr lvl="1"/>
            <a:r>
              <a:rPr lang="en-US" dirty="0"/>
              <a:t>Cloud redundancy</a:t>
            </a:r>
          </a:p>
          <a:p>
            <a:pPr lvl="1"/>
            <a:endParaRPr lang="en-US" dirty="0"/>
          </a:p>
          <a:p>
            <a:r>
              <a:rPr lang="en-US" dirty="0"/>
              <a:t>What do each of these terms mean?</a:t>
            </a:r>
          </a:p>
          <a:p>
            <a:pPr lvl="1"/>
            <a:r>
              <a:rPr lang="en-US" dirty="0"/>
              <a:t>What’s the difference between “highly available” and “redundant”?</a:t>
            </a:r>
          </a:p>
          <a:p>
            <a:r>
              <a:rPr lang="en-US" dirty="0"/>
              <a:t>Let’s review them and build some vocabulary</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Internet Failover</a:t>
            </a:r>
          </a:p>
        </p:txBody>
      </p:sp>
      <p:sp>
        <p:nvSpPr>
          <p:cNvPr id="4" name="Content Placeholder 3">
            <a:extLst>
              <a:ext uri="{FF2B5EF4-FFF2-40B4-BE49-F238E27FC236}">
                <a16:creationId xmlns:a16="http://schemas.microsoft.com/office/drawing/2014/main" id="{9DDB386C-B696-BBA0-64FA-D2C62D44718C}"/>
              </a:ext>
            </a:extLst>
          </p:cNvPr>
          <p:cNvSpPr>
            <a:spLocks noGrp="1"/>
          </p:cNvSpPr>
          <p:nvPr>
            <p:ph idx="1"/>
          </p:nvPr>
        </p:nvSpPr>
        <p:spPr/>
        <p:txBody>
          <a:bodyPr/>
          <a:lstStyle/>
          <a:p>
            <a:r>
              <a:rPr lang="en-US" dirty="0"/>
              <a:t>There is HA, failover, dual-homing, and other approaches</a:t>
            </a:r>
          </a:p>
          <a:p>
            <a:r>
              <a:rPr lang="en-US" dirty="0"/>
              <a:t>They are all somewhat alike, but have important differences</a:t>
            </a:r>
          </a:p>
          <a:p>
            <a:r>
              <a:rPr lang="en-US" dirty="0"/>
              <a:t>Remember your OSI model:</a:t>
            </a:r>
          </a:p>
          <a:p>
            <a:pPr lvl="1"/>
            <a:r>
              <a:rPr lang="en-US" dirty="0"/>
              <a:t>Layer 1 – addresses broken links</a:t>
            </a:r>
          </a:p>
          <a:p>
            <a:pPr lvl="1"/>
            <a:r>
              <a:rPr lang="en-US" dirty="0"/>
              <a:t>Layer 2 – addresses carrier access issues</a:t>
            </a:r>
          </a:p>
          <a:p>
            <a:pPr lvl="1"/>
            <a:r>
              <a:rPr lang="en-US" dirty="0"/>
              <a:t>Layer 3 – addresses routing and IP problems</a:t>
            </a:r>
          </a:p>
          <a:p>
            <a:pPr lvl="1"/>
            <a:r>
              <a:rPr lang="en-US" dirty="0"/>
              <a:t>Application redundancy can sometimes help</a:t>
            </a:r>
          </a:p>
          <a:p>
            <a:pPr lvl="1"/>
            <a:r>
              <a:rPr lang="en-US" dirty="0"/>
              <a:t>Device-centric solutions</a:t>
            </a:r>
            <a:br>
              <a:rPr lang="en-US" dirty="0"/>
            </a:br>
            <a:r>
              <a:rPr lang="en-US" dirty="0"/>
              <a:t>can provide simple solutions</a:t>
            </a:r>
          </a:p>
          <a:p>
            <a:pPr lvl="1"/>
            <a:r>
              <a:rPr lang="en-US" dirty="0"/>
              <a:t>This is </a:t>
            </a:r>
            <a:r>
              <a:rPr lang="en-US" dirty="0" err="1"/>
              <a:t>Cradlepoint</a:t>
            </a:r>
            <a:r>
              <a:rPr lang="en-US" dirty="0"/>
              <a:t>/Ericsson </a:t>
            </a:r>
          </a:p>
          <a:p>
            <a:pPr lvl="1"/>
            <a:r>
              <a:rPr lang="en-US" dirty="0"/>
              <a:t>What do you think of it?</a:t>
            </a:r>
          </a:p>
        </p:txBody>
      </p:sp>
      <p:pic>
        <p:nvPicPr>
          <p:cNvPr id="5" name="Picture 4" descr="A diagram of a network connection&#10;&#10;AI-generated content may be incorrect.">
            <a:extLst>
              <a:ext uri="{FF2B5EF4-FFF2-40B4-BE49-F238E27FC236}">
                <a16:creationId xmlns:a16="http://schemas.microsoft.com/office/drawing/2014/main" id="{1C0BEBEE-AA44-E550-FA70-39C7E500CB3E}"/>
              </a:ext>
            </a:extLst>
          </p:cNvPr>
          <p:cNvPicPr>
            <a:picLocks noChangeAspect="1"/>
          </p:cNvPicPr>
          <p:nvPr/>
        </p:nvPicPr>
        <p:blipFill>
          <a:blip r:embed="rId3"/>
          <a:stretch>
            <a:fillRect/>
          </a:stretch>
        </p:blipFill>
        <p:spPr>
          <a:xfrm>
            <a:off x="8926830" y="7349280"/>
            <a:ext cx="7772400" cy="2481609"/>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6E763-FEFD-0895-FA6F-8E5AA5DE9DF6}"/>
              </a:ext>
            </a:extLst>
          </p:cNvPr>
          <p:cNvSpPr>
            <a:spLocks noGrp="1"/>
          </p:cNvSpPr>
          <p:nvPr>
            <p:ph type="title"/>
          </p:nvPr>
        </p:nvSpPr>
        <p:spPr/>
        <p:txBody>
          <a:bodyPr/>
          <a:lstStyle/>
          <a:p>
            <a:r>
              <a:rPr lang="en-US" dirty="0"/>
              <a:t>Firewall Availability</a:t>
            </a:r>
          </a:p>
        </p:txBody>
      </p:sp>
      <p:sp>
        <p:nvSpPr>
          <p:cNvPr id="3" name="Content Placeholder 2">
            <a:extLst>
              <a:ext uri="{FF2B5EF4-FFF2-40B4-BE49-F238E27FC236}">
                <a16:creationId xmlns:a16="http://schemas.microsoft.com/office/drawing/2014/main" id="{3E36ACC6-4A11-4C93-1702-1C95E9432F7F}"/>
              </a:ext>
            </a:extLst>
          </p:cNvPr>
          <p:cNvSpPr>
            <a:spLocks noGrp="1"/>
          </p:cNvSpPr>
          <p:nvPr>
            <p:ph idx="1"/>
          </p:nvPr>
        </p:nvSpPr>
        <p:spPr/>
        <p:txBody>
          <a:bodyPr/>
          <a:lstStyle/>
          <a:p>
            <a:r>
              <a:rPr lang="en-US" dirty="0"/>
              <a:t>High Availability</a:t>
            </a:r>
          </a:p>
          <a:p>
            <a:pPr lvl="1"/>
            <a:r>
              <a:rPr lang="en-US" dirty="0"/>
              <a:t>Deploy two firewalls instead of one</a:t>
            </a:r>
          </a:p>
          <a:p>
            <a:r>
              <a:rPr lang="en-US" dirty="0"/>
              <a:t>Configuration Synchronization</a:t>
            </a:r>
          </a:p>
          <a:p>
            <a:pPr lvl="1"/>
            <a:r>
              <a:rPr lang="en-US" dirty="0"/>
              <a:t>Security policies</a:t>
            </a:r>
          </a:p>
          <a:p>
            <a:pPr lvl="1"/>
            <a:r>
              <a:rPr lang="en-US" dirty="0"/>
              <a:t>VPN settings</a:t>
            </a:r>
          </a:p>
          <a:p>
            <a:pPr lvl="1"/>
            <a:r>
              <a:rPr lang="en-US" dirty="0"/>
              <a:t>Routing information</a:t>
            </a:r>
          </a:p>
          <a:p>
            <a:pPr lvl="1"/>
            <a:r>
              <a:rPr lang="en-US" dirty="0"/>
              <a:t>User objects</a:t>
            </a:r>
          </a:p>
          <a:p>
            <a:pPr lvl="1"/>
            <a:r>
              <a:rPr lang="en-US" dirty="0"/>
              <a:t>Certificates</a:t>
            </a:r>
          </a:p>
          <a:p>
            <a:r>
              <a:rPr lang="en-US" dirty="0"/>
              <a:t>Active Session Synchronization</a:t>
            </a:r>
          </a:p>
          <a:p>
            <a:pPr lvl="1"/>
            <a:r>
              <a:rPr lang="en-US" dirty="0"/>
              <a:t>Session synch is hard and expensive</a:t>
            </a:r>
          </a:p>
          <a:p>
            <a:pPr lvl="1"/>
            <a:r>
              <a:rPr lang="en-US" dirty="0"/>
              <a:t>Probably not for the smallest banks</a:t>
            </a:r>
          </a:p>
          <a:p>
            <a:pPr lvl="1"/>
            <a:endParaRPr lang="en-US" dirty="0"/>
          </a:p>
        </p:txBody>
      </p:sp>
      <p:pic>
        <p:nvPicPr>
          <p:cNvPr id="6" name="Picture 5" descr="A diagram of a network&#10;&#10;AI-generated content may be incorrect.">
            <a:extLst>
              <a:ext uri="{FF2B5EF4-FFF2-40B4-BE49-F238E27FC236}">
                <a16:creationId xmlns:a16="http://schemas.microsoft.com/office/drawing/2014/main" id="{8723DCDB-97D9-E4A7-631C-19D95FB2F068}"/>
              </a:ext>
            </a:extLst>
          </p:cNvPr>
          <p:cNvPicPr>
            <a:picLocks noChangeAspect="1"/>
          </p:cNvPicPr>
          <p:nvPr/>
        </p:nvPicPr>
        <p:blipFill>
          <a:blip r:embed="rId2"/>
          <a:stretch>
            <a:fillRect/>
          </a:stretch>
        </p:blipFill>
        <p:spPr>
          <a:xfrm>
            <a:off x="10909061" y="2025650"/>
            <a:ext cx="6794500" cy="6235700"/>
          </a:xfrm>
          <a:prstGeom prst="rect">
            <a:avLst/>
          </a:prstGeom>
        </p:spPr>
      </p:pic>
    </p:spTree>
    <p:extLst>
      <p:ext uri="{BB962C8B-B14F-4D97-AF65-F5344CB8AC3E}">
        <p14:creationId xmlns:p14="http://schemas.microsoft.com/office/powerpoint/2010/main" val="41230369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Third-Party Dependencies</a:t>
            </a:r>
          </a:p>
        </p:txBody>
      </p:sp>
      <p:sp>
        <p:nvSpPr>
          <p:cNvPr id="5" name="Content Placeholder 3">
            <a:extLst>
              <a:ext uri="{FF2B5EF4-FFF2-40B4-BE49-F238E27FC236}">
                <a16:creationId xmlns:a16="http://schemas.microsoft.com/office/drawing/2014/main" id="{7719F1A5-A958-5F79-3651-3546593DA3ED}"/>
              </a:ext>
            </a:extLst>
          </p:cNvPr>
          <p:cNvSpPr>
            <a:spLocks noGrp="1"/>
          </p:cNvSpPr>
          <p:nvPr>
            <p:ph idx="1"/>
          </p:nvPr>
        </p:nvSpPr>
        <p:spPr>
          <a:xfrm>
            <a:off x="1257300" y="2193131"/>
            <a:ext cx="15773400" cy="5758174"/>
          </a:xfrm>
        </p:spPr>
        <p:txBody>
          <a:bodyPr/>
          <a:lstStyle/>
          <a:p>
            <a:r>
              <a:rPr lang="en-US" dirty="0"/>
              <a:t>Community banks depend heavily on third-party providers.</a:t>
            </a:r>
          </a:p>
          <a:p>
            <a:r>
              <a:rPr lang="en-US" dirty="0"/>
              <a:t>The bank remains responsible even when services are outsourced.</a:t>
            </a:r>
          </a:p>
          <a:p>
            <a:pPr lvl="1"/>
            <a:r>
              <a:rPr lang="en-US" dirty="0"/>
              <a:t>Do you understand and oversee the dependency?</a:t>
            </a:r>
          </a:p>
          <a:p>
            <a:pPr lvl="1"/>
            <a:r>
              <a:rPr lang="en-US" dirty="0"/>
              <a:t>What processes do you have in place to monitor these?</a:t>
            </a:r>
          </a:p>
          <a:p>
            <a:r>
              <a:rPr lang="en-US" dirty="0"/>
              <a:t>Availability planning should include vendors, partners, cloud providers, and telecommunications providers.</a:t>
            </a:r>
          </a:p>
        </p:txBody>
      </p:sp>
      <p:sp>
        <p:nvSpPr>
          <p:cNvPr id="6" name="TextBox 5">
            <a:extLst>
              <a:ext uri="{FF2B5EF4-FFF2-40B4-BE49-F238E27FC236}">
                <a16:creationId xmlns:a16="http://schemas.microsoft.com/office/drawing/2014/main" id="{F1A82A28-1F75-03C0-8850-53A81676D294}"/>
              </a:ext>
            </a:extLst>
          </p:cNvPr>
          <p:cNvSpPr txBox="1"/>
          <p:nvPr/>
        </p:nvSpPr>
        <p:spPr>
          <a:xfrm>
            <a:off x="1774649" y="7951305"/>
            <a:ext cx="13392979" cy="1446550"/>
          </a:xfrm>
          <a:prstGeom prst="rect">
            <a:avLst/>
          </a:prstGeom>
          <a:noFill/>
        </p:spPr>
        <p:txBody>
          <a:bodyPr wrap="square" rtlCol="0">
            <a:spAutoFit/>
          </a:bodyPr>
          <a:lstStyle/>
          <a:p>
            <a:pPr algn="ctr"/>
            <a:r>
              <a:rPr lang="en-US" sz="4400" b="1" dirty="0">
                <a:solidFill>
                  <a:schemeClr val="accent1">
                    <a:lumMod val="60000"/>
                    <a:lumOff val="40000"/>
                  </a:schemeClr>
                </a:solidFill>
              </a:rPr>
              <a:t>What critical services does the bank depend on that it does not directly control?</a:t>
            </a:r>
            <a:endParaRPr lang="en-US" sz="4400" dirty="0">
              <a:solidFill>
                <a:schemeClr val="accent1">
                  <a:lumMod val="60000"/>
                  <a:lumOff val="40000"/>
                </a:schemeClr>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Helvetica Neue Condensed" panose="02000503000000020004" pitchFamily="2" charset="0"/>
                <a:ea typeface="Helvetica Neue Condensed" panose="02000503000000020004" pitchFamily="2" charset="0"/>
                <a:cs typeface="Helvetica Neue Condensed" panose="02000503000000020004" pitchFamily="2" charset="0"/>
              </a:rPr>
              <a:t>Business Continuity vs. Disaster Recovery</a:t>
            </a:r>
          </a:p>
        </p:txBody>
      </p:sp>
      <p:sp>
        <p:nvSpPr>
          <p:cNvPr id="6" name="Text Placeholder 5">
            <a:extLst>
              <a:ext uri="{FF2B5EF4-FFF2-40B4-BE49-F238E27FC236}">
                <a16:creationId xmlns:a16="http://schemas.microsoft.com/office/drawing/2014/main" id="{3B8FC31E-CF0D-1C34-0303-224268658624}"/>
              </a:ext>
            </a:extLst>
          </p:cNvPr>
          <p:cNvSpPr>
            <a:spLocks noGrp="1"/>
          </p:cNvSpPr>
          <p:nvPr>
            <p:ph type="body" idx="1"/>
          </p:nvPr>
        </p:nvSpPr>
        <p:spPr>
          <a:xfrm>
            <a:off x="1259683" y="1786245"/>
            <a:ext cx="7736681" cy="1235868"/>
          </a:xfrm>
        </p:spPr>
        <p:txBody>
          <a:bodyPr/>
          <a:lstStyle/>
          <a:p>
            <a:r>
              <a:rPr lang="en-US" dirty="0"/>
              <a:t>Business Continuity</a:t>
            </a:r>
          </a:p>
        </p:txBody>
      </p:sp>
      <p:sp>
        <p:nvSpPr>
          <p:cNvPr id="7" name="Content Placeholder 6">
            <a:extLst>
              <a:ext uri="{FF2B5EF4-FFF2-40B4-BE49-F238E27FC236}">
                <a16:creationId xmlns:a16="http://schemas.microsoft.com/office/drawing/2014/main" id="{146C56D5-0D6D-349B-A319-4415D9AEAFB5}"/>
              </a:ext>
            </a:extLst>
          </p:cNvPr>
          <p:cNvSpPr>
            <a:spLocks noGrp="1"/>
          </p:cNvSpPr>
          <p:nvPr>
            <p:ph sz="half" idx="2"/>
          </p:nvPr>
        </p:nvSpPr>
        <p:spPr>
          <a:xfrm>
            <a:off x="1259683" y="3022113"/>
            <a:ext cx="7736681" cy="6519452"/>
          </a:xfrm>
        </p:spPr>
        <p:txBody>
          <a:bodyPr>
            <a:normAutofit fontScale="92500" lnSpcReduction="10000"/>
          </a:bodyPr>
          <a:lstStyle/>
          <a:p>
            <a:r>
              <a:rPr lang="en-US" dirty="0"/>
              <a:t>Continue serving customers.</a:t>
            </a:r>
          </a:p>
          <a:p>
            <a:r>
              <a:rPr lang="en-US" dirty="0"/>
              <a:t>Minutes to hours.</a:t>
            </a:r>
          </a:p>
          <a:p>
            <a:r>
              <a:rPr lang="en-US" dirty="0"/>
              <a:t>Keep the bank operating.</a:t>
            </a:r>
          </a:p>
          <a:p>
            <a:endParaRPr lang="en-US" dirty="0"/>
          </a:p>
          <a:p>
            <a:pPr marL="0" indent="0">
              <a:buNone/>
            </a:pPr>
            <a:endParaRPr lang="en-US" dirty="0"/>
          </a:p>
          <a:p>
            <a:r>
              <a:rPr lang="en-US" dirty="0"/>
              <a:t>HA firewall  configs</a:t>
            </a:r>
          </a:p>
          <a:p>
            <a:r>
              <a:rPr lang="en-US" dirty="0"/>
              <a:t>VPN redundancy</a:t>
            </a:r>
          </a:p>
          <a:p>
            <a:r>
              <a:rPr lang="en-US" dirty="0"/>
              <a:t>SD-WAN</a:t>
            </a:r>
          </a:p>
          <a:p>
            <a:r>
              <a:rPr lang="en-US" dirty="0"/>
              <a:t>Cellular backup</a:t>
            </a:r>
          </a:p>
        </p:txBody>
      </p:sp>
      <p:sp>
        <p:nvSpPr>
          <p:cNvPr id="8" name="Text Placeholder 7">
            <a:extLst>
              <a:ext uri="{FF2B5EF4-FFF2-40B4-BE49-F238E27FC236}">
                <a16:creationId xmlns:a16="http://schemas.microsoft.com/office/drawing/2014/main" id="{7A200689-7B65-B1C9-2A39-0CADC0F165AD}"/>
              </a:ext>
            </a:extLst>
          </p:cNvPr>
          <p:cNvSpPr>
            <a:spLocks noGrp="1"/>
          </p:cNvSpPr>
          <p:nvPr>
            <p:ph type="body" sz="quarter" idx="3"/>
          </p:nvPr>
        </p:nvSpPr>
        <p:spPr>
          <a:xfrm>
            <a:off x="9258300" y="1786245"/>
            <a:ext cx="7774782" cy="1235868"/>
          </a:xfrm>
        </p:spPr>
        <p:txBody>
          <a:bodyPr/>
          <a:lstStyle/>
          <a:p>
            <a:r>
              <a:rPr lang="en-US" dirty="0"/>
              <a:t>Disaster Recovery</a:t>
            </a:r>
          </a:p>
        </p:txBody>
      </p:sp>
      <p:sp>
        <p:nvSpPr>
          <p:cNvPr id="9" name="Content Placeholder 8">
            <a:extLst>
              <a:ext uri="{FF2B5EF4-FFF2-40B4-BE49-F238E27FC236}">
                <a16:creationId xmlns:a16="http://schemas.microsoft.com/office/drawing/2014/main" id="{B3D8BA6F-9E3D-D550-53A9-0CE613D5DC5F}"/>
              </a:ext>
            </a:extLst>
          </p:cNvPr>
          <p:cNvSpPr>
            <a:spLocks noGrp="1"/>
          </p:cNvSpPr>
          <p:nvPr>
            <p:ph sz="quarter" idx="4"/>
          </p:nvPr>
        </p:nvSpPr>
        <p:spPr>
          <a:xfrm>
            <a:off x="9258300" y="3022113"/>
            <a:ext cx="7774782" cy="5526882"/>
          </a:xfrm>
        </p:spPr>
        <p:txBody>
          <a:bodyPr>
            <a:normAutofit fontScale="92500" lnSpcReduction="10000"/>
          </a:bodyPr>
          <a:lstStyle/>
          <a:p>
            <a:r>
              <a:rPr lang="en-US" dirty="0"/>
              <a:t>Restore technology.</a:t>
            </a:r>
          </a:p>
          <a:p>
            <a:r>
              <a:rPr lang="en-US" dirty="0"/>
              <a:t>Hours to days.</a:t>
            </a:r>
          </a:p>
          <a:p>
            <a:r>
              <a:rPr lang="en-US" dirty="0"/>
              <a:t>Return the bank to normal.</a:t>
            </a:r>
          </a:p>
          <a:p>
            <a:endParaRPr lang="en-US" dirty="0"/>
          </a:p>
          <a:p>
            <a:endParaRPr lang="en-US" dirty="0"/>
          </a:p>
          <a:p>
            <a:r>
              <a:rPr lang="en-US" dirty="0"/>
              <a:t>Firewall configuration backups</a:t>
            </a:r>
          </a:p>
          <a:p>
            <a:r>
              <a:rPr lang="en-US" dirty="0"/>
              <a:t>Rebuilding failed appliances</a:t>
            </a:r>
          </a:p>
          <a:p>
            <a:r>
              <a:rPr lang="en-US" dirty="0"/>
              <a:t>Restoring VPNs</a:t>
            </a:r>
          </a:p>
        </p:txBody>
      </p:sp>
      <p:sp>
        <p:nvSpPr>
          <p:cNvPr id="10" name="Rectangle 9">
            <a:extLst>
              <a:ext uri="{FF2B5EF4-FFF2-40B4-BE49-F238E27FC236}">
                <a16:creationId xmlns:a16="http://schemas.microsoft.com/office/drawing/2014/main" id="{BBB39DC8-22F2-99D3-51AD-5F424601CEDE}"/>
              </a:ext>
            </a:extLst>
          </p:cNvPr>
          <p:cNvSpPr/>
          <p:nvPr/>
        </p:nvSpPr>
        <p:spPr>
          <a:xfrm>
            <a:off x="1336970" y="5140447"/>
            <a:ext cx="15318788" cy="834887"/>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How do Firewalls relate to each?</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an Examiner </a:t>
            </a:r>
            <a:r>
              <a:rPr lang="en-US" dirty="0"/>
              <a:t>might look for</a:t>
            </a:r>
            <a:endParaRPr dirty="0"/>
          </a:p>
        </p:txBody>
      </p:sp>
      <p:sp>
        <p:nvSpPr>
          <p:cNvPr id="4" name="Content Placeholder 3">
            <a:extLst>
              <a:ext uri="{FF2B5EF4-FFF2-40B4-BE49-F238E27FC236}">
                <a16:creationId xmlns:a16="http://schemas.microsoft.com/office/drawing/2014/main" id="{722EAC66-42E5-DD61-BDF8-B30AE59336D9}"/>
              </a:ext>
            </a:extLst>
          </p:cNvPr>
          <p:cNvSpPr>
            <a:spLocks noGrp="1"/>
          </p:cNvSpPr>
          <p:nvPr>
            <p:ph idx="1"/>
          </p:nvPr>
        </p:nvSpPr>
        <p:spPr>
          <a:xfrm>
            <a:off x="1257300" y="2193131"/>
            <a:ext cx="15773400" cy="5539512"/>
          </a:xfrm>
        </p:spPr>
        <p:txBody>
          <a:bodyPr>
            <a:normAutofit/>
          </a:bodyPr>
          <a:lstStyle/>
          <a:p>
            <a:r>
              <a:rPr lang="en-US" dirty="0"/>
              <a:t>What are the bank's most critical services?</a:t>
            </a:r>
          </a:p>
          <a:p>
            <a:r>
              <a:rPr lang="en-US" dirty="0"/>
              <a:t>What would interrupt those services?</a:t>
            </a:r>
          </a:p>
          <a:p>
            <a:r>
              <a:rPr lang="en-US" dirty="0"/>
              <a:t>Which single points of failure remain?</a:t>
            </a:r>
          </a:p>
          <a:p>
            <a:r>
              <a:rPr lang="en-US" dirty="0"/>
              <a:t>How has the bank reduced those risks?</a:t>
            </a:r>
          </a:p>
          <a:p>
            <a:r>
              <a:rPr lang="en-US" dirty="0"/>
              <a:t>Has failover or recovery actually been tested?</a:t>
            </a:r>
          </a:p>
          <a:p>
            <a:r>
              <a:rPr lang="en-US" dirty="0"/>
              <a:t>Are important third-party dependencies understood?</a:t>
            </a:r>
          </a:p>
        </p:txBody>
      </p:sp>
      <p:sp>
        <p:nvSpPr>
          <p:cNvPr id="6" name="TextBox 5">
            <a:extLst>
              <a:ext uri="{FF2B5EF4-FFF2-40B4-BE49-F238E27FC236}">
                <a16:creationId xmlns:a16="http://schemas.microsoft.com/office/drawing/2014/main" id="{61E66886-4E98-782E-C04E-F91B73E15B4A}"/>
              </a:ext>
            </a:extLst>
          </p:cNvPr>
          <p:cNvSpPr txBox="1"/>
          <p:nvPr/>
        </p:nvSpPr>
        <p:spPr>
          <a:xfrm>
            <a:off x="1774649" y="7951305"/>
            <a:ext cx="13392979" cy="1446550"/>
          </a:xfrm>
          <a:prstGeom prst="rect">
            <a:avLst/>
          </a:prstGeom>
          <a:noFill/>
        </p:spPr>
        <p:txBody>
          <a:bodyPr wrap="square" rtlCol="0">
            <a:spAutoFit/>
          </a:bodyPr>
          <a:lstStyle/>
          <a:p>
            <a:pPr algn="ctr"/>
            <a:r>
              <a:rPr lang="en-US" sz="4400" b="1" dirty="0">
                <a:solidFill>
                  <a:schemeClr val="accent1">
                    <a:lumMod val="60000"/>
                    <a:lumOff val="40000"/>
                  </a:schemeClr>
                </a:solidFill>
              </a:rPr>
              <a:t>We’re looking for evidence that resilience has been planned, implemented, and tested.</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 / Looking Ahead</a:t>
            </a:r>
          </a:p>
        </p:txBody>
      </p:sp>
      <p:sp>
        <p:nvSpPr>
          <p:cNvPr id="4" name="Content Placeholder 3">
            <a:extLst>
              <a:ext uri="{FF2B5EF4-FFF2-40B4-BE49-F238E27FC236}">
                <a16:creationId xmlns:a16="http://schemas.microsoft.com/office/drawing/2014/main" id="{78C1E3AE-3BDD-8AC9-1248-598CA4620353}"/>
              </a:ext>
            </a:extLst>
          </p:cNvPr>
          <p:cNvSpPr>
            <a:spLocks noGrp="1"/>
          </p:cNvSpPr>
          <p:nvPr>
            <p:ph idx="1"/>
          </p:nvPr>
        </p:nvSpPr>
        <p:spPr/>
        <p:txBody>
          <a:bodyPr/>
          <a:lstStyle/>
          <a:p>
            <a:r>
              <a:rPr lang="en-US" dirty="0"/>
              <a:t>Availability is about keeping the bank operating.</a:t>
            </a:r>
          </a:p>
          <a:p>
            <a:r>
              <a:rPr lang="en-US" dirty="0"/>
              <a:t>Firewalls and edge platforms contribute to resilience as well as security.</a:t>
            </a:r>
          </a:p>
          <a:p>
            <a:r>
              <a:rPr lang="en-US" dirty="0"/>
              <a:t>Redundancy, failover, and testing reduce operational risk.</a:t>
            </a:r>
          </a:p>
          <a:p>
            <a:r>
              <a:rPr lang="en-US" dirty="0"/>
              <a:t>Community banks depend on both internal systems and third-party providers.</a:t>
            </a:r>
          </a:p>
        </p:txBody>
      </p:sp>
      <p:sp>
        <p:nvSpPr>
          <p:cNvPr id="6" name="TextBox 5">
            <a:extLst>
              <a:ext uri="{FF2B5EF4-FFF2-40B4-BE49-F238E27FC236}">
                <a16:creationId xmlns:a16="http://schemas.microsoft.com/office/drawing/2014/main" id="{F97F13B2-5B1E-5DC1-8831-51B98369ED67}"/>
              </a:ext>
            </a:extLst>
          </p:cNvPr>
          <p:cNvSpPr txBox="1"/>
          <p:nvPr/>
        </p:nvSpPr>
        <p:spPr>
          <a:xfrm>
            <a:off x="3220276" y="7951305"/>
            <a:ext cx="11331124" cy="1446550"/>
          </a:xfrm>
          <a:prstGeom prst="rect">
            <a:avLst/>
          </a:prstGeom>
          <a:noFill/>
        </p:spPr>
        <p:txBody>
          <a:bodyPr wrap="square" rtlCol="0">
            <a:spAutoFit/>
          </a:bodyPr>
          <a:lstStyle/>
          <a:p>
            <a:pPr algn="ctr"/>
            <a:r>
              <a:rPr lang="en-US" sz="4400" b="1" dirty="0">
                <a:solidFill>
                  <a:schemeClr val="accent1">
                    <a:lumMod val="60000"/>
                    <a:lumOff val="40000"/>
                  </a:schemeClr>
                </a:solidFill>
              </a:rPr>
              <a:t>Next: How does the bank recognize when something is wrong?</a:t>
            </a:r>
            <a:endParaRPr lang="en-US" sz="4400" dirty="0">
              <a:solidFill>
                <a:schemeClr val="accent1">
                  <a:lumMod val="60000"/>
                  <a:lumOff val="40000"/>
                </a:schemeClr>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05F1-4798-415F-DBE4-C1A0830FF07E}"/>
              </a:ext>
            </a:extLst>
          </p:cNvPr>
          <p:cNvSpPr>
            <a:spLocks noGrp="1"/>
          </p:cNvSpPr>
          <p:nvPr>
            <p:ph type="ctrTitle"/>
          </p:nvPr>
        </p:nvSpPr>
        <p:spPr/>
        <p:txBody>
          <a:bodyPr/>
          <a:lstStyle/>
          <a:p>
            <a:r>
              <a:t>Monitoring &amp; Detection</a:t>
            </a:r>
          </a:p>
        </p:txBody>
      </p:sp>
      <p:sp>
        <p:nvSpPr>
          <p:cNvPr id="7" name="Subtitle 6">
            <a:extLst>
              <a:ext uri="{FF2B5EF4-FFF2-40B4-BE49-F238E27FC236}">
                <a16:creationId xmlns:a16="http://schemas.microsoft.com/office/drawing/2014/main" id="{FDAD9E6E-FE20-ADFC-4F7E-3F6F25A87F15}"/>
              </a:ext>
            </a:extLst>
          </p:cNvPr>
          <p:cNvSpPr>
            <a:spLocks noGrp="1"/>
          </p:cNvSpPr>
          <p:nvPr>
            <p:ph type="subTitle" idx="1"/>
          </p:nvPr>
        </p:nvSpPr>
        <p:spPr/>
        <p:txBody>
          <a:bodyPr/>
          <a:lstStyle/>
          <a:p>
            <a:r>
              <a:rPr lang="en-US" dirty="0"/>
              <a:t>Chapter 7</a:t>
            </a:r>
          </a:p>
        </p:txBody>
      </p:sp>
    </p:spTree>
    <p:extLst>
      <p:ext uri="{BB962C8B-B14F-4D97-AF65-F5344CB8AC3E}">
        <p14:creationId xmlns:p14="http://schemas.microsoft.com/office/powerpoint/2010/main" val="26526136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Examiner Question</a:t>
            </a:r>
          </a:p>
        </p:txBody>
      </p:sp>
      <p:sp>
        <p:nvSpPr>
          <p:cNvPr id="3" name="Subtitle 2"/>
          <p:cNvSpPr>
            <a:spLocks noGrp="1"/>
          </p:cNvSpPr>
          <p:nvPr>
            <p:ph idx="1"/>
          </p:nvPr>
        </p:nvSpPr>
        <p:spPr/>
        <p:txBody>
          <a:bodyPr>
            <a:normAutofit/>
          </a:bodyPr>
          <a:lstStyle/>
          <a:p>
            <a:pPr>
              <a:defRPr sz="2200"/>
            </a:pPr>
            <a:r>
              <a:rPr sz="3600" i="1" dirty="0"/>
              <a:t>How does the bank detect operational and security problems?</a:t>
            </a:r>
            <a:endParaRPr lang="en-US" sz="3600" i="1" dirty="0"/>
          </a:p>
          <a:p>
            <a:pPr>
              <a:defRPr sz="2200"/>
            </a:pPr>
            <a:endParaRPr lang="en-US" sz="3600" dirty="0"/>
          </a:p>
          <a:p>
            <a:pPr>
              <a:defRPr sz="2200"/>
            </a:pPr>
            <a:r>
              <a:rPr lang="en-US" sz="3600" dirty="0"/>
              <a:t>There are several components to this:</a:t>
            </a:r>
            <a:endParaRPr sz="3600" dirty="0"/>
          </a:p>
          <a:p>
            <a:pPr lvl="1">
              <a:defRPr sz="2200"/>
            </a:pPr>
            <a:r>
              <a:rPr lang="en-US" sz="3000" dirty="0"/>
              <a:t>What are the sources of alarms?</a:t>
            </a:r>
          </a:p>
          <a:p>
            <a:pPr lvl="1">
              <a:defRPr sz="2200"/>
            </a:pPr>
            <a:r>
              <a:rPr sz="3000" dirty="0"/>
              <a:t>Which events are monitored?</a:t>
            </a:r>
            <a:endParaRPr lang="en-US" sz="3000" dirty="0"/>
          </a:p>
          <a:p>
            <a:pPr lvl="1">
              <a:defRPr sz="2200"/>
            </a:pPr>
            <a:r>
              <a:rPr lang="en-US" sz="3000" dirty="0"/>
              <a:t>Who reviews any alarms?</a:t>
            </a:r>
            <a:endParaRPr sz="3000" dirty="0"/>
          </a:p>
          <a:p>
            <a:pPr lvl="1">
              <a:defRPr sz="2200"/>
            </a:pPr>
            <a:r>
              <a:rPr sz="3000" dirty="0"/>
              <a:t>Who responds when something unusual occurs?</a:t>
            </a:r>
            <a:endParaRPr lang="en-US" sz="3000" dirty="0"/>
          </a:p>
          <a:p>
            <a:pPr lvl="1">
              <a:defRPr sz="2200"/>
            </a:pPr>
            <a:r>
              <a:rPr lang="en-US" sz="3000" dirty="0"/>
              <a:t>What evidence determines that monitoring works?</a:t>
            </a:r>
          </a:p>
          <a:p>
            <a:pPr lvl="1">
              <a:defRPr sz="2200"/>
            </a:pPr>
            <a:endParaRPr lang="en-US" sz="3000" dirty="0"/>
          </a:p>
          <a:p>
            <a:pPr>
              <a:defRPr sz="2200"/>
            </a:pPr>
            <a:r>
              <a:rPr lang="en-US" sz="3600" dirty="0"/>
              <a:t>Variants of this question drive the issue of awareness.</a:t>
            </a:r>
            <a:endParaRPr sz="36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585F0-7EBF-65DD-97AB-AD1E4D025E09}"/>
              </a:ext>
            </a:extLst>
          </p:cNvPr>
          <p:cNvSpPr>
            <a:spLocks noGrp="1"/>
          </p:cNvSpPr>
          <p:nvPr>
            <p:ph type="title"/>
          </p:nvPr>
        </p:nvSpPr>
        <p:spPr/>
        <p:txBody>
          <a:bodyPr/>
          <a:lstStyle/>
          <a:p>
            <a:r>
              <a:rPr lang="en-US" dirty="0"/>
              <a:t>A Cycle of Awareness</a:t>
            </a:r>
          </a:p>
        </p:txBody>
      </p:sp>
      <p:graphicFrame>
        <p:nvGraphicFramePr>
          <p:cNvPr id="4" name="Content Placeholder 3">
            <a:extLst>
              <a:ext uri="{FF2B5EF4-FFF2-40B4-BE49-F238E27FC236}">
                <a16:creationId xmlns:a16="http://schemas.microsoft.com/office/drawing/2014/main" id="{DE1A6EF3-A5EE-CFA0-A835-F68CC6233171}"/>
              </a:ext>
            </a:extLst>
          </p:cNvPr>
          <p:cNvGraphicFramePr>
            <a:graphicFrameLocks noGrp="1"/>
          </p:cNvGraphicFramePr>
          <p:nvPr>
            <p:ph idx="1"/>
          </p:nvPr>
        </p:nvGraphicFramePr>
        <p:xfrm>
          <a:off x="-200025" y="2192338"/>
          <a:ext cx="10544175" cy="69675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ubtitle 2">
            <a:extLst>
              <a:ext uri="{FF2B5EF4-FFF2-40B4-BE49-F238E27FC236}">
                <a16:creationId xmlns:a16="http://schemas.microsoft.com/office/drawing/2014/main" id="{41D2463F-B424-9F2B-D6C6-01CD1C27E907}"/>
              </a:ext>
            </a:extLst>
          </p:cNvPr>
          <p:cNvSpPr txBox="1">
            <a:spLocks/>
          </p:cNvSpPr>
          <p:nvPr/>
        </p:nvSpPr>
        <p:spPr>
          <a:xfrm>
            <a:off x="9344025" y="2193131"/>
            <a:ext cx="8086725" cy="6967198"/>
          </a:xfrm>
          <a:prstGeom prst="rect">
            <a:avLst/>
          </a:prstGeom>
        </p:spPr>
        <p:txBody>
          <a:bodyPr vert="horz" lIns="91440" tIns="45720" rIns="91440" bIns="45720" rtlCol="0">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buNone/>
              <a:defRPr sz="2200"/>
            </a:pPr>
            <a:r>
              <a:rPr lang="en-US" sz="3600" dirty="0"/>
              <a:t>The cybersecurity industry has created many products with overlapping capabilities. </a:t>
            </a:r>
          </a:p>
          <a:p>
            <a:pPr marL="0" indent="0">
              <a:buNone/>
              <a:defRPr sz="2200"/>
            </a:pPr>
            <a:r>
              <a:rPr lang="en-US" sz="3600" dirty="0"/>
              <a:t>Rather than memorizing acronyms, ask three questions:</a:t>
            </a:r>
          </a:p>
          <a:p>
            <a:pPr>
              <a:defRPr sz="2200"/>
            </a:pPr>
            <a:endParaRPr lang="en-US" sz="3600" dirty="0"/>
          </a:p>
          <a:p>
            <a:pPr lvl="1">
              <a:defRPr sz="2200"/>
            </a:pPr>
            <a:r>
              <a:rPr lang="en-US" sz="3200" dirty="0"/>
              <a:t>What information is collected?</a:t>
            </a:r>
          </a:p>
          <a:p>
            <a:pPr lvl="1">
              <a:defRPr sz="2200"/>
            </a:pPr>
            <a:r>
              <a:rPr lang="en-US" sz="3200" dirty="0"/>
              <a:t>Who reviews it?</a:t>
            </a:r>
          </a:p>
          <a:p>
            <a:pPr lvl="1">
              <a:defRPr sz="2200"/>
            </a:pPr>
            <a:r>
              <a:rPr lang="en-US" sz="3200" dirty="0"/>
              <a:t>What happens when something important is detected?"</a:t>
            </a:r>
          </a:p>
        </p:txBody>
      </p:sp>
    </p:spTree>
    <p:extLst>
      <p:ext uri="{BB962C8B-B14F-4D97-AF65-F5344CB8AC3E}">
        <p14:creationId xmlns:p14="http://schemas.microsoft.com/office/powerpoint/2010/main" val="6502101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05F1-4798-415F-DBE4-C1A0830FF07E}"/>
              </a:ext>
            </a:extLst>
          </p:cNvPr>
          <p:cNvSpPr>
            <a:spLocks noGrp="1"/>
          </p:cNvSpPr>
          <p:nvPr>
            <p:ph type="title"/>
          </p:nvPr>
        </p:nvSpPr>
        <p:spPr/>
        <p:txBody>
          <a:bodyPr/>
          <a:lstStyle/>
          <a:p>
            <a:r>
              <a:t>Not Every Event Is a Security Incident</a:t>
            </a:r>
          </a:p>
        </p:txBody>
      </p:sp>
      <p:graphicFrame>
        <p:nvGraphicFramePr>
          <p:cNvPr id="4" name="Content Placeholder 3">
            <a:extLst>
              <a:ext uri="{FF2B5EF4-FFF2-40B4-BE49-F238E27FC236}">
                <a16:creationId xmlns:a16="http://schemas.microsoft.com/office/drawing/2014/main" id="{9DAD6C9F-E8C7-B1BB-4B85-2474CADA5574}"/>
              </a:ext>
            </a:extLst>
          </p:cNvPr>
          <p:cNvGraphicFramePr>
            <a:graphicFrameLocks noGrp="1"/>
          </p:cNvGraphicFramePr>
          <p:nvPr>
            <p:ph idx="1"/>
          </p:nvPr>
        </p:nvGraphicFramePr>
        <p:xfrm>
          <a:off x="1836859" y="2193131"/>
          <a:ext cx="14614281" cy="3474720"/>
        </p:xfrm>
        <a:graphic>
          <a:graphicData uri="http://schemas.openxmlformats.org/drawingml/2006/table">
            <a:tbl>
              <a:tblPr firstRow="1" bandRow="1">
                <a:tableStyleId>{5C22544A-7EE6-4342-B048-85BDC9FD1C3A}</a:tableStyleId>
              </a:tblPr>
              <a:tblGrid>
                <a:gridCol w="3963195">
                  <a:extLst>
                    <a:ext uri="{9D8B030D-6E8A-4147-A177-3AD203B41FA5}">
                      <a16:colId xmlns:a16="http://schemas.microsoft.com/office/drawing/2014/main" val="20000"/>
                    </a:ext>
                  </a:extLst>
                </a:gridCol>
                <a:gridCol w="2476997">
                  <a:extLst>
                    <a:ext uri="{9D8B030D-6E8A-4147-A177-3AD203B41FA5}">
                      <a16:colId xmlns:a16="http://schemas.microsoft.com/office/drawing/2014/main" val="20001"/>
                    </a:ext>
                  </a:extLst>
                </a:gridCol>
                <a:gridCol w="8174089">
                  <a:extLst>
                    <a:ext uri="{9D8B030D-6E8A-4147-A177-3AD203B41FA5}">
                      <a16:colId xmlns:a16="http://schemas.microsoft.com/office/drawing/2014/main" val="20002"/>
                    </a:ext>
                  </a:extLst>
                </a:gridCol>
              </a:tblGrid>
              <a:tr h="579120">
                <a:tc>
                  <a:txBody>
                    <a:bodyPr/>
                    <a:lstStyle/>
                    <a:p>
                      <a:pPr>
                        <a:defRPr sz="1800" b="1"/>
                      </a:pPr>
                      <a:r>
                        <a:rPr sz="2800"/>
                        <a:t>Event</a:t>
                      </a:r>
                    </a:p>
                  </a:txBody>
                  <a:tcPr/>
                </a:tc>
                <a:tc>
                  <a:txBody>
                    <a:bodyPr/>
                    <a:lstStyle/>
                    <a:p>
                      <a:pPr>
                        <a:defRPr sz="1800" b="1"/>
                      </a:pPr>
                      <a:r>
                        <a:rPr sz="2800"/>
                        <a:t>Security Issue?</a:t>
                      </a:r>
                    </a:p>
                  </a:txBody>
                  <a:tcPr/>
                </a:tc>
                <a:tc>
                  <a:txBody>
                    <a:bodyPr/>
                    <a:lstStyle/>
                    <a:p>
                      <a:pPr>
                        <a:defRPr sz="1800" b="1"/>
                      </a:pPr>
                      <a:r>
                        <a:rPr sz="2800" dirty="0"/>
                        <a:t>Why?</a:t>
                      </a:r>
                    </a:p>
                  </a:txBody>
                  <a:tcPr/>
                </a:tc>
                <a:extLst>
                  <a:ext uri="{0D108BD9-81ED-4DB2-BD59-A6C34878D82A}">
                    <a16:rowId xmlns:a16="http://schemas.microsoft.com/office/drawing/2014/main" val="10000"/>
                  </a:ext>
                </a:extLst>
              </a:tr>
              <a:tr h="579120">
                <a:tc>
                  <a:txBody>
                    <a:bodyPr/>
                    <a:lstStyle/>
                    <a:p>
                      <a:pPr>
                        <a:defRPr sz="1600"/>
                      </a:pPr>
                      <a:r>
                        <a:rPr sz="2400"/>
                        <a:t>ISP outage</a:t>
                      </a:r>
                    </a:p>
                  </a:txBody>
                  <a:tcPr/>
                </a:tc>
                <a:tc>
                  <a:txBody>
                    <a:bodyPr/>
                    <a:lstStyle/>
                    <a:p>
                      <a:pPr>
                        <a:defRPr sz="1600"/>
                      </a:pPr>
                      <a:r>
                        <a:rPr sz="2400"/>
                        <a:t>Maybe</a:t>
                      </a:r>
                    </a:p>
                  </a:txBody>
                  <a:tcPr/>
                </a:tc>
                <a:tc>
                  <a:txBody>
                    <a:bodyPr/>
                    <a:lstStyle/>
                    <a:p>
                      <a:pPr>
                        <a:defRPr sz="1600"/>
                      </a:pPr>
                      <a:r>
                        <a:rPr sz="2400"/>
                        <a:t>Could be a carrier failure rather than an attack.</a:t>
                      </a:r>
                    </a:p>
                  </a:txBody>
                  <a:tcPr/>
                </a:tc>
                <a:extLst>
                  <a:ext uri="{0D108BD9-81ED-4DB2-BD59-A6C34878D82A}">
                    <a16:rowId xmlns:a16="http://schemas.microsoft.com/office/drawing/2014/main" val="10001"/>
                  </a:ext>
                </a:extLst>
              </a:tr>
              <a:tr h="579120">
                <a:tc>
                  <a:txBody>
                    <a:bodyPr/>
                    <a:lstStyle/>
                    <a:p>
                      <a:pPr>
                        <a:defRPr sz="1600"/>
                      </a:pPr>
                      <a:r>
                        <a:rPr sz="2400"/>
                        <a:t>Firewall reboot</a:t>
                      </a:r>
                    </a:p>
                  </a:txBody>
                  <a:tcPr/>
                </a:tc>
                <a:tc>
                  <a:txBody>
                    <a:bodyPr/>
                    <a:lstStyle/>
                    <a:p>
                      <a:pPr>
                        <a:defRPr sz="1600"/>
                      </a:pPr>
                      <a:r>
                        <a:rPr sz="2400"/>
                        <a:t>Maybe</a:t>
                      </a:r>
                    </a:p>
                  </a:txBody>
                  <a:tcPr/>
                </a:tc>
                <a:tc>
                  <a:txBody>
                    <a:bodyPr/>
                    <a:lstStyle/>
                    <a:p>
                      <a:pPr>
                        <a:defRPr sz="1600"/>
                      </a:pPr>
                      <a:r>
                        <a:rPr sz="2400"/>
                        <a:t>Could be planned maintenance or a hardware fault.</a:t>
                      </a:r>
                    </a:p>
                  </a:txBody>
                  <a:tcPr/>
                </a:tc>
                <a:extLst>
                  <a:ext uri="{0D108BD9-81ED-4DB2-BD59-A6C34878D82A}">
                    <a16:rowId xmlns:a16="http://schemas.microsoft.com/office/drawing/2014/main" val="10002"/>
                  </a:ext>
                </a:extLst>
              </a:tr>
              <a:tr h="579120">
                <a:tc>
                  <a:txBody>
                    <a:bodyPr/>
                    <a:lstStyle/>
                    <a:p>
                      <a:pPr>
                        <a:defRPr sz="1600"/>
                      </a:pPr>
                      <a:r>
                        <a:rPr sz="2400"/>
                        <a:t>Administrator login at 2 AM</a:t>
                      </a:r>
                    </a:p>
                  </a:txBody>
                  <a:tcPr/>
                </a:tc>
                <a:tc>
                  <a:txBody>
                    <a:bodyPr/>
                    <a:lstStyle/>
                    <a:p>
                      <a:pPr>
                        <a:defRPr sz="1600"/>
                      </a:pPr>
                      <a:r>
                        <a:rPr sz="2400"/>
                        <a:t>Maybe</a:t>
                      </a:r>
                    </a:p>
                  </a:txBody>
                  <a:tcPr/>
                </a:tc>
                <a:tc>
                  <a:txBody>
                    <a:bodyPr/>
                    <a:lstStyle/>
                    <a:p>
                      <a:pPr>
                        <a:defRPr sz="1600"/>
                      </a:pPr>
                      <a:r>
                        <a:rPr sz="2400"/>
                        <a:t>Unusual activity deserves investigation.</a:t>
                      </a:r>
                    </a:p>
                  </a:txBody>
                  <a:tcPr/>
                </a:tc>
                <a:extLst>
                  <a:ext uri="{0D108BD9-81ED-4DB2-BD59-A6C34878D82A}">
                    <a16:rowId xmlns:a16="http://schemas.microsoft.com/office/drawing/2014/main" val="10003"/>
                  </a:ext>
                </a:extLst>
              </a:tr>
              <a:tr h="579120">
                <a:tc>
                  <a:txBody>
                    <a:bodyPr/>
                    <a:lstStyle/>
                    <a:p>
                      <a:pPr>
                        <a:defRPr sz="1600"/>
                      </a:pPr>
                      <a:r>
                        <a:rPr sz="2400"/>
                        <a:t>IPS exploit alert</a:t>
                      </a:r>
                    </a:p>
                  </a:txBody>
                  <a:tcPr/>
                </a:tc>
                <a:tc>
                  <a:txBody>
                    <a:bodyPr/>
                    <a:lstStyle/>
                    <a:p>
                      <a:pPr>
                        <a:defRPr sz="1600"/>
                      </a:pPr>
                      <a:r>
                        <a:rPr sz="2400"/>
                        <a:t>Probably</a:t>
                      </a:r>
                    </a:p>
                  </a:txBody>
                  <a:tcPr/>
                </a:tc>
                <a:tc>
                  <a:txBody>
                    <a:bodyPr/>
                    <a:lstStyle/>
                    <a:p>
                      <a:pPr>
                        <a:defRPr sz="1600"/>
                      </a:pPr>
                      <a:r>
                        <a:rPr sz="2400" dirty="0"/>
                        <a:t>Indicates a possible attack attempt.</a:t>
                      </a:r>
                    </a:p>
                  </a:txBody>
                  <a:tcPr/>
                </a:tc>
                <a:extLst>
                  <a:ext uri="{0D108BD9-81ED-4DB2-BD59-A6C34878D82A}">
                    <a16:rowId xmlns:a16="http://schemas.microsoft.com/office/drawing/2014/main" val="10004"/>
                  </a:ext>
                </a:extLst>
              </a:tr>
              <a:tr h="579120">
                <a:tc>
                  <a:txBody>
                    <a:bodyPr/>
                    <a:lstStyle/>
                    <a:p>
                      <a:pPr>
                        <a:defRPr sz="1600"/>
                      </a:pPr>
                      <a:r>
                        <a:rPr sz="2400"/>
                        <a:t>VPN tunnel down</a:t>
                      </a:r>
                    </a:p>
                  </a:txBody>
                  <a:tcPr/>
                </a:tc>
                <a:tc>
                  <a:txBody>
                    <a:bodyPr/>
                    <a:lstStyle/>
                    <a:p>
                      <a:pPr>
                        <a:defRPr sz="1600"/>
                      </a:pPr>
                      <a:r>
                        <a:rPr sz="2400"/>
                        <a:t>Depends</a:t>
                      </a:r>
                    </a:p>
                  </a:txBody>
                  <a:tcPr/>
                </a:tc>
                <a:tc>
                  <a:txBody>
                    <a:bodyPr/>
                    <a:lstStyle/>
                    <a:p>
                      <a:pPr>
                        <a:defRPr sz="1600"/>
                      </a:pPr>
                      <a:r>
                        <a:rPr sz="2400" dirty="0"/>
                        <a:t>May be routine or may indicate a larger problem.</a:t>
                      </a:r>
                    </a:p>
                  </a:txBody>
                  <a:tcPr/>
                </a:tc>
                <a:extLst>
                  <a:ext uri="{0D108BD9-81ED-4DB2-BD59-A6C34878D82A}">
                    <a16:rowId xmlns:a16="http://schemas.microsoft.com/office/drawing/2014/main" val="10005"/>
                  </a:ext>
                </a:extLst>
              </a:tr>
            </a:tbl>
          </a:graphicData>
        </a:graphic>
      </p:graphicFrame>
      <p:sp>
        <p:nvSpPr>
          <p:cNvPr id="5" name="Subtitle 2">
            <a:extLst>
              <a:ext uri="{FF2B5EF4-FFF2-40B4-BE49-F238E27FC236}">
                <a16:creationId xmlns:a16="http://schemas.microsoft.com/office/drawing/2014/main" id="{5B43C86D-EA32-6DC6-5C59-7BA10272EE04}"/>
              </a:ext>
            </a:extLst>
          </p:cNvPr>
          <p:cNvSpPr txBox="1">
            <a:spLocks/>
          </p:cNvSpPr>
          <p:nvPr/>
        </p:nvSpPr>
        <p:spPr>
          <a:xfrm>
            <a:off x="2143125" y="6618684"/>
            <a:ext cx="14001750" cy="2950369"/>
          </a:xfrm>
          <a:prstGeom prst="rect">
            <a:avLst/>
          </a:prstGeom>
        </p:spPr>
        <p:txBody>
          <a:bodyPr vert="horz" lIns="91440" tIns="45720" rIns="91440" bIns="45720" rtlCol="0">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defRPr sz="2200"/>
            </a:pPr>
            <a:r>
              <a:rPr lang="en-US" sz="3600" dirty="0"/>
              <a:t>Detection comes before response.</a:t>
            </a:r>
          </a:p>
          <a:p>
            <a:pPr>
              <a:defRPr sz="2200"/>
            </a:pPr>
            <a:r>
              <a:rPr lang="en-US" sz="3600" dirty="0"/>
              <a:t>Problems may be operational or security-related.</a:t>
            </a:r>
          </a:p>
          <a:p>
            <a:pPr>
              <a:defRPr sz="2200"/>
            </a:pPr>
            <a:r>
              <a:rPr lang="en-US" sz="3600" dirty="0"/>
              <a:t>Good monitoring reduces response time.</a:t>
            </a:r>
          </a:p>
        </p:txBody>
      </p:sp>
    </p:spTree>
    <p:extLst>
      <p:ext uri="{BB962C8B-B14F-4D97-AF65-F5344CB8AC3E}">
        <p14:creationId xmlns:p14="http://schemas.microsoft.com/office/powerpoint/2010/main" val="26774936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Should Be Monitored?</a:t>
            </a:r>
          </a:p>
        </p:txBody>
      </p:sp>
      <p:sp>
        <p:nvSpPr>
          <p:cNvPr id="3" name="Subtitle 2"/>
          <p:cNvSpPr>
            <a:spLocks noGrp="1"/>
          </p:cNvSpPr>
          <p:nvPr>
            <p:ph idx="1"/>
          </p:nvPr>
        </p:nvSpPr>
        <p:spPr/>
        <p:txBody>
          <a:bodyPr>
            <a:normAutofit/>
          </a:bodyPr>
          <a:lstStyle/>
          <a:p>
            <a:pPr>
              <a:defRPr sz="2200"/>
            </a:pPr>
            <a:r>
              <a:rPr lang="en-US" sz="3600" dirty="0"/>
              <a:t>Can we monitor everything on the network?</a:t>
            </a:r>
          </a:p>
          <a:p>
            <a:pPr>
              <a:defRPr sz="2200"/>
            </a:pPr>
            <a:r>
              <a:rPr lang="en-US" sz="3600" dirty="0"/>
              <a:t>Maybe not, but some seem obvious:</a:t>
            </a:r>
          </a:p>
          <a:p>
            <a:pPr lvl="1">
              <a:defRPr sz="2200"/>
            </a:pPr>
            <a:r>
              <a:rPr sz="3000" dirty="0"/>
              <a:t>Devices</a:t>
            </a:r>
            <a:r>
              <a:rPr lang="en-US" sz="3000" dirty="0"/>
              <a:t>:</a:t>
            </a:r>
            <a:r>
              <a:rPr sz="3000" dirty="0"/>
              <a:t> Firewalls, routers, switches</a:t>
            </a:r>
          </a:p>
          <a:p>
            <a:pPr lvl="1">
              <a:defRPr sz="2200"/>
            </a:pPr>
            <a:r>
              <a:rPr sz="3000" dirty="0"/>
              <a:t>Connections</a:t>
            </a:r>
            <a:r>
              <a:rPr lang="en-US" sz="3000" dirty="0"/>
              <a:t>:</a:t>
            </a:r>
            <a:r>
              <a:rPr sz="3000" dirty="0"/>
              <a:t> VPNs, Internet circuits</a:t>
            </a:r>
          </a:p>
          <a:p>
            <a:pPr lvl="1">
              <a:defRPr sz="2200"/>
            </a:pPr>
            <a:r>
              <a:rPr sz="3000" dirty="0"/>
              <a:t>Security Events</a:t>
            </a:r>
            <a:r>
              <a:rPr lang="en-US" sz="3000" dirty="0"/>
              <a:t>:</a:t>
            </a:r>
            <a:r>
              <a:rPr sz="3000" dirty="0"/>
              <a:t> IPS, malware, scans</a:t>
            </a:r>
          </a:p>
          <a:p>
            <a:pPr lvl="1">
              <a:defRPr sz="2200"/>
            </a:pPr>
            <a:r>
              <a:rPr sz="3000" dirty="0"/>
              <a:t>Users</a:t>
            </a:r>
            <a:r>
              <a:rPr lang="en-US" sz="3000" dirty="0"/>
              <a:t>:</a:t>
            </a:r>
            <a:r>
              <a:rPr sz="3000" dirty="0"/>
              <a:t> Logins, privilege changes</a:t>
            </a:r>
          </a:p>
          <a:p>
            <a:pPr lvl="1">
              <a:defRPr sz="2200"/>
            </a:pPr>
            <a:r>
              <a:rPr sz="3000" dirty="0"/>
              <a:t>Availability</a:t>
            </a:r>
            <a:r>
              <a:rPr lang="en-US" sz="3000" dirty="0"/>
              <a:t>:</a:t>
            </a:r>
            <a:r>
              <a:rPr sz="3000" dirty="0"/>
              <a:t> Interfaces, CPU, storage</a:t>
            </a:r>
            <a:endParaRPr lang="en-US" sz="3000" dirty="0"/>
          </a:p>
          <a:p>
            <a:pPr lvl="1">
              <a:defRPr sz="2200"/>
            </a:pPr>
            <a:r>
              <a:rPr lang="en-US" sz="3000" dirty="0"/>
              <a:t>What else?</a:t>
            </a:r>
          </a:p>
          <a:p>
            <a:pPr>
              <a:defRPr sz="2200"/>
            </a:pPr>
            <a:r>
              <a:rPr lang="en-US" sz="3600" dirty="0"/>
              <a:t>At some point, alerts become overwhelming</a:t>
            </a:r>
          </a:p>
          <a:p>
            <a:pPr>
              <a:defRPr sz="2200"/>
            </a:pPr>
            <a:endParaRPr sz="3600" dirty="0"/>
          </a:p>
        </p:txBody>
      </p:sp>
      <p:pic>
        <p:nvPicPr>
          <p:cNvPr id="5" name="Picture 4" descr="People sitting at a desk looking at a large screen&#10;&#10;AI-generated content may be incorrect.">
            <a:extLst>
              <a:ext uri="{FF2B5EF4-FFF2-40B4-BE49-F238E27FC236}">
                <a16:creationId xmlns:a16="http://schemas.microsoft.com/office/drawing/2014/main" id="{11611B5E-6BE2-4FCC-D3FE-61BD23C095A9}"/>
              </a:ext>
            </a:extLst>
          </p:cNvPr>
          <p:cNvPicPr>
            <a:picLocks noChangeAspect="1"/>
          </p:cNvPicPr>
          <p:nvPr/>
        </p:nvPicPr>
        <p:blipFill>
          <a:blip r:embed="rId2"/>
          <a:stretch>
            <a:fillRect/>
          </a:stretch>
        </p:blipFill>
        <p:spPr>
          <a:xfrm>
            <a:off x="12285779" y="1943100"/>
            <a:ext cx="4869224" cy="7092742"/>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Firewall Logs</a:t>
            </a:r>
          </a:p>
        </p:txBody>
      </p:sp>
      <p:sp>
        <p:nvSpPr>
          <p:cNvPr id="3" name="Subtitle 2"/>
          <p:cNvSpPr>
            <a:spLocks noGrp="1"/>
          </p:cNvSpPr>
          <p:nvPr>
            <p:ph idx="1"/>
          </p:nvPr>
        </p:nvSpPr>
        <p:spPr/>
        <p:txBody>
          <a:bodyPr>
            <a:normAutofit/>
          </a:bodyPr>
          <a:lstStyle/>
          <a:p>
            <a:r>
              <a:rPr lang="en-US" sz="3600" dirty="0"/>
              <a:t>Firewalls produce both operational information and security information. Both are valuable to an examiner:</a:t>
            </a:r>
          </a:p>
          <a:p>
            <a:endParaRPr lang="en-US" sz="3600" b="1" dirty="0"/>
          </a:p>
          <a:p>
            <a:pPr lvl="1"/>
            <a:r>
              <a:rPr lang="en-US" sz="3000" b="1" dirty="0"/>
              <a:t>Traffic activity</a:t>
            </a:r>
            <a:r>
              <a:rPr lang="en-US" sz="3000" dirty="0"/>
              <a:t> – Allowed and denied connections reveal how the firewall is enforcing policy. </a:t>
            </a:r>
          </a:p>
          <a:p>
            <a:pPr lvl="1"/>
            <a:r>
              <a:rPr lang="en-US" sz="3000" b="1" dirty="0"/>
              <a:t>Remote access</a:t>
            </a:r>
            <a:r>
              <a:rPr lang="en-US" sz="3000" dirty="0"/>
              <a:t> – VPN connections and administrator logins show who is accessing the bank and when. </a:t>
            </a:r>
          </a:p>
          <a:p>
            <a:pPr lvl="1"/>
            <a:r>
              <a:rPr lang="en-US" sz="3000" b="1" dirty="0"/>
              <a:t>Configuration changes</a:t>
            </a:r>
            <a:r>
              <a:rPr lang="en-US" sz="3000" dirty="0"/>
              <a:t> – Changes to rules or settings may affect security and should be authorized and auditable. </a:t>
            </a:r>
          </a:p>
          <a:p>
            <a:pPr lvl="1"/>
            <a:r>
              <a:rPr lang="en-US" sz="3000" b="1" dirty="0"/>
              <a:t>Security events</a:t>
            </a:r>
            <a:r>
              <a:rPr lang="en-US" sz="3000" dirty="0"/>
              <a:t> – IPS detections, scans, or other alerts may indicate attacks or suspicious activity. </a:t>
            </a:r>
          </a:p>
          <a:p>
            <a:pPr lvl="1"/>
            <a:r>
              <a:rPr lang="en-US" sz="3000" b="1" dirty="0"/>
              <a:t>System health</a:t>
            </a:r>
            <a:r>
              <a:rPr lang="en-US" sz="3000" dirty="0"/>
              <a:t> – Interface status, HA failovers, resource utilization, and reboots help identify operational problems.</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Alerts vs. Logs</a:t>
            </a:r>
          </a:p>
        </p:txBody>
      </p:sp>
      <p:sp>
        <p:nvSpPr>
          <p:cNvPr id="3" name="Subtitle 2"/>
          <p:cNvSpPr>
            <a:spLocks noGrp="1"/>
          </p:cNvSpPr>
          <p:nvPr>
            <p:ph idx="1"/>
          </p:nvPr>
        </p:nvSpPr>
        <p:spPr>
          <a:xfrm>
            <a:off x="584439" y="2193131"/>
            <a:ext cx="8144608" cy="6967198"/>
          </a:xfrm>
        </p:spPr>
        <p:txBody>
          <a:bodyPr>
            <a:normAutofit lnSpcReduction="10000"/>
          </a:bodyPr>
          <a:lstStyle/>
          <a:p>
            <a:pPr>
              <a:defRPr sz="2200"/>
            </a:pPr>
            <a:r>
              <a:rPr lang="en-US" sz="3600" dirty="0"/>
              <a:t>Logs are everything that happened. </a:t>
            </a:r>
          </a:p>
          <a:p>
            <a:pPr>
              <a:defRPr sz="2200"/>
            </a:pPr>
            <a:r>
              <a:rPr lang="en-US" sz="3600" dirty="0"/>
              <a:t>Alerts are the small subset that someone decided deserved attention.</a:t>
            </a:r>
          </a:p>
          <a:p>
            <a:pPr>
              <a:defRPr sz="2200"/>
            </a:pPr>
            <a:endParaRPr lang="en-US" sz="3600" dirty="0"/>
          </a:p>
          <a:p>
            <a:pPr>
              <a:defRPr sz="2200"/>
            </a:pPr>
            <a:r>
              <a:rPr lang="en-US" sz="3600" dirty="0"/>
              <a:t>More specifically:</a:t>
            </a:r>
          </a:p>
          <a:p>
            <a:pPr lvl="1">
              <a:defRPr sz="2200"/>
            </a:pPr>
            <a:r>
              <a:rPr lang="en-US" sz="3000" dirty="0"/>
              <a:t>Logs record activity for analysis, auditing, and troubleshooting.</a:t>
            </a:r>
          </a:p>
          <a:p>
            <a:pPr lvl="1">
              <a:defRPr sz="2200"/>
            </a:pPr>
            <a:r>
              <a:rPr lang="en-US" sz="3000" dirty="0"/>
              <a:t>Alerts identify events that may require investigation.</a:t>
            </a:r>
          </a:p>
          <a:p>
            <a:pPr lvl="1">
              <a:defRPr sz="2200"/>
            </a:pPr>
            <a:r>
              <a:rPr lang="en-US" sz="3000" dirty="0"/>
              <a:t>Good monitoring turns large volumes of logs into a manageable number of meaningful alerts.</a:t>
            </a:r>
          </a:p>
          <a:p>
            <a:pPr lvl="1">
              <a:defRPr sz="2200"/>
            </a:pPr>
            <a:r>
              <a:rPr lang="en-US" sz="3000" dirty="0"/>
              <a:t>Devices have many logs!</a:t>
            </a:r>
            <a:endParaRPr sz="3000" dirty="0"/>
          </a:p>
        </p:txBody>
      </p:sp>
      <p:pic>
        <p:nvPicPr>
          <p:cNvPr id="6" name="Picture 5" descr="A screenshot of a computer&#10;&#10;AI-generated content may be incorrect.">
            <a:extLst>
              <a:ext uri="{FF2B5EF4-FFF2-40B4-BE49-F238E27FC236}">
                <a16:creationId xmlns:a16="http://schemas.microsoft.com/office/drawing/2014/main" id="{3057D046-5F88-170E-C716-B634ED390488}"/>
              </a:ext>
            </a:extLst>
          </p:cNvPr>
          <p:cNvPicPr>
            <a:picLocks noChangeAspect="1"/>
          </p:cNvPicPr>
          <p:nvPr/>
        </p:nvPicPr>
        <p:blipFill>
          <a:blip r:embed="rId2"/>
          <a:stretch>
            <a:fillRect/>
          </a:stretch>
        </p:blipFill>
        <p:spPr>
          <a:xfrm>
            <a:off x="8463034" y="2602525"/>
            <a:ext cx="9240527" cy="3603224"/>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Watches the Alerts?</a:t>
            </a:r>
          </a:p>
        </p:txBody>
      </p:sp>
      <p:sp>
        <p:nvSpPr>
          <p:cNvPr id="3" name="Subtitle 2"/>
          <p:cNvSpPr>
            <a:spLocks noGrp="1"/>
          </p:cNvSpPr>
          <p:nvPr>
            <p:ph idx="1"/>
          </p:nvPr>
        </p:nvSpPr>
        <p:spPr>
          <a:xfrm>
            <a:off x="1257300" y="2193131"/>
            <a:ext cx="13959254" cy="6967198"/>
          </a:xfrm>
        </p:spPr>
        <p:txBody>
          <a:bodyPr>
            <a:normAutofit/>
          </a:bodyPr>
          <a:lstStyle/>
          <a:p>
            <a:pPr>
              <a:defRPr sz="2200"/>
            </a:pPr>
            <a:r>
              <a:rPr lang="en-US" sz="4000" dirty="0"/>
              <a:t>Monitoring is a shared responsibility – different concerns for different roles</a:t>
            </a:r>
          </a:p>
          <a:p>
            <a:pPr>
              <a:defRPr sz="2200"/>
            </a:pPr>
            <a:endParaRPr lang="en-US" sz="3600" dirty="0"/>
          </a:p>
          <a:p>
            <a:pPr>
              <a:defRPr sz="2200"/>
            </a:pPr>
            <a:r>
              <a:rPr sz="3600" dirty="0"/>
              <a:t>Internal IT (Tom)</a:t>
            </a:r>
            <a:r>
              <a:rPr lang="en-US" sz="3600" dirty="0"/>
              <a:t>: Reviews operational issues, manages infrastructure, coordinates response.</a:t>
            </a:r>
          </a:p>
          <a:p>
            <a:pPr>
              <a:defRPr sz="2200"/>
            </a:pPr>
            <a:r>
              <a:rPr lang="en-US" sz="3600" dirty="0"/>
              <a:t>Outsourced SOC/MSP: Monitors systems, investigates alerts, provides 24×7 coverage when contracted.</a:t>
            </a:r>
            <a:endParaRPr sz="3600" dirty="0"/>
          </a:p>
          <a:p>
            <a:pPr>
              <a:defRPr sz="2200"/>
            </a:pPr>
            <a:r>
              <a:rPr lang="en-US" sz="3600" dirty="0"/>
              <a:t>Management (Cindy): Receives significant alerts, makes business decisions, allocates resources.</a:t>
            </a:r>
            <a:endParaRPr sz="3600" dirty="0"/>
          </a:p>
          <a:p>
            <a:pPr>
              <a:defRPr sz="2200"/>
            </a:pPr>
            <a:r>
              <a:rPr lang="en-US" sz="3600" dirty="0"/>
              <a:t>Board: Receives summary reporting and provides oversight, not real-time monitoring.</a:t>
            </a:r>
            <a:endParaRPr sz="36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Modern Monitoring</a:t>
            </a:r>
            <a:r>
              <a:rPr lang="en-US" dirty="0"/>
              <a:t> Platforms</a:t>
            </a:r>
            <a:endParaRPr dirty="0"/>
          </a:p>
        </p:txBody>
      </p:sp>
      <p:sp>
        <p:nvSpPr>
          <p:cNvPr id="3" name="Subtitle 2"/>
          <p:cNvSpPr>
            <a:spLocks noGrp="1"/>
          </p:cNvSpPr>
          <p:nvPr>
            <p:ph idx="1"/>
          </p:nvPr>
        </p:nvSpPr>
        <p:spPr/>
        <p:txBody>
          <a:bodyPr>
            <a:normAutofit/>
          </a:bodyPr>
          <a:lstStyle/>
          <a:p>
            <a:pPr>
              <a:defRPr sz="2200"/>
            </a:pPr>
            <a:r>
              <a:rPr lang="en-US" sz="3600" dirty="0"/>
              <a:t>Banks and their partners increasingly use platforms that combine information from many sources to help identify and respond to important events.</a:t>
            </a:r>
          </a:p>
          <a:p>
            <a:pPr lvl="1">
              <a:defRPr sz="2200"/>
            </a:pPr>
            <a:r>
              <a:rPr sz="3000" dirty="0"/>
              <a:t>SIEM — Collect and correlate logs</a:t>
            </a:r>
          </a:p>
          <a:p>
            <a:pPr lvl="1">
              <a:defRPr sz="2200"/>
            </a:pPr>
            <a:r>
              <a:rPr lang="en-US" sz="3000" dirty="0"/>
              <a:t>EDR — Monitor and protect endpoints</a:t>
            </a:r>
          </a:p>
          <a:p>
            <a:pPr lvl="1">
              <a:defRPr sz="2200"/>
            </a:pPr>
            <a:r>
              <a:rPr sz="3000" dirty="0"/>
              <a:t>XDR — Correlate across security tools</a:t>
            </a:r>
            <a:endParaRPr lang="en-US" sz="3000" dirty="0"/>
          </a:p>
          <a:p>
            <a:pPr lvl="1">
              <a:defRPr sz="2200"/>
            </a:pPr>
            <a:r>
              <a:rPr sz="3000" dirty="0"/>
              <a:t>MDR — Third-party monitoring</a:t>
            </a:r>
          </a:p>
          <a:p>
            <a:pPr lvl="1">
              <a:defRPr sz="2200"/>
            </a:pPr>
            <a:r>
              <a:rPr sz="3000" dirty="0"/>
              <a:t>SOAR — Automate repetitive response tasks</a:t>
            </a:r>
            <a:endParaRPr lang="en-US" sz="3000" dirty="0"/>
          </a:p>
          <a:p>
            <a:pPr>
              <a:defRPr sz="2200"/>
            </a:pPr>
            <a:r>
              <a:rPr lang="en-US" sz="3600" dirty="0"/>
              <a:t>Alphabet soup here, don’t let it bother you</a:t>
            </a:r>
          </a:p>
          <a:p>
            <a:pPr lvl="1">
              <a:defRPr sz="2200"/>
            </a:pPr>
            <a:r>
              <a:rPr lang="en-US" sz="3000" dirty="0"/>
              <a:t>When someone tells you "We use Microsoft Sentinel." your next question shouldn't be, "Is that SIEM or XDR?"</a:t>
            </a:r>
          </a:p>
          <a:p>
            <a:pPr lvl="1">
              <a:defRPr sz="2200"/>
            </a:pPr>
            <a:r>
              <a:rPr lang="en-US" sz="3000" dirty="0"/>
              <a:t>It should be "What information does it collect, and who reviews it?"</a:t>
            </a:r>
            <a:endParaRPr sz="3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Makes a Good Alert?</a:t>
            </a:r>
          </a:p>
        </p:txBody>
      </p:sp>
      <p:sp>
        <p:nvSpPr>
          <p:cNvPr id="3" name="Subtitle 2"/>
          <p:cNvSpPr>
            <a:spLocks noGrp="1"/>
          </p:cNvSpPr>
          <p:nvPr>
            <p:ph idx="1"/>
          </p:nvPr>
        </p:nvSpPr>
        <p:spPr>
          <a:xfrm>
            <a:off x="1257300" y="2193131"/>
            <a:ext cx="7886700" cy="6967198"/>
          </a:xfrm>
        </p:spPr>
        <p:txBody>
          <a:bodyPr>
            <a:normAutofit/>
          </a:bodyPr>
          <a:lstStyle/>
          <a:p>
            <a:pPr>
              <a:defRPr sz="2200"/>
            </a:pPr>
            <a:r>
              <a:rPr sz="3600" dirty="0"/>
              <a:t>Actionable</a:t>
            </a:r>
            <a:endParaRPr lang="en-US" sz="3600" dirty="0"/>
          </a:p>
          <a:p>
            <a:pPr lvl="1">
              <a:defRPr sz="2200"/>
            </a:pPr>
            <a:r>
              <a:rPr lang="en-US" sz="3000" dirty="0"/>
              <a:t>You just learned something, what should you do now?</a:t>
            </a:r>
            <a:endParaRPr sz="3000" dirty="0"/>
          </a:p>
          <a:p>
            <a:pPr>
              <a:defRPr sz="2200"/>
            </a:pPr>
            <a:r>
              <a:rPr sz="3600" dirty="0"/>
              <a:t>Specific</a:t>
            </a:r>
            <a:endParaRPr lang="en-US" sz="3600" dirty="0"/>
          </a:p>
          <a:p>
            <a:pPr lvl="1">
              <a:defRPr sz="2200"/>
            </a:pPr>
            <a:r>
              <a:rPr lang="en-US" sz="3000" dirty="0"/>
              <a:t>Details about the threat</a:t>
            </a:r>
            <a:endParaRPr sz="3000" dirty="0"/>
          </a:p>
          <a:p>
            <a:pPr>
              <a:defRPr sz="2200"/>
            </a:pPr>
            <a:r>
              <a:rPr sz="3600" dirty="0"/>
              <a:t>Worth investigating</a:t>
            </a:r>
            <a:endParaRPr lang="en-US" sz="3600" dirty="0"/>
          </a:p>
          <a:p>
            <a:pPr lvl="1">
              <a:defRPr sz="2200"/>
            </a:pPr>
            <a:r>
              <a:rPr lang="en-US" sz="3000" dirty="0"/>
              <a:t>We’ve seen examples of alerts that were just distractions</a:t>
            </a:r>
            <a:endParaRPr sz="3000" dirty="0"/>
          </a:p>
        </p:txBody>
      </p:sp>
      <p:pic>
        <p:nvPicPr>
          <p:cNvPr id="5" name="Picture 4" descr="A group of people sitting at computers&#10;&#10;AI-generated content may be incorrect.">
            <a:extLst>
              <a:ext uri="{FF2B5EF4-FFF2-40B4-BE49-F238E27FC236}">
                <a16:creationId xmlns:a16="http://schemas.microsoft.com/office/drawing/2014/main" id="{CEE8F3D2-9573-AD94-E2CB-E81D04E2DDB0}"/>
              </a:ext>
            </a:extLst>
          </p:cNvPr>
          <p:cNvPicPr>
            <a:picLocks noChangeAspect="1"/>
          </p:cNvPicPr>
          <p:nvPr/>
        </p:nvPicPr>
        <p:blipFill>
          <a:blip r:embed="rId2"/>
          <a:stretch>
            <a:fillRect/>
          </a:stretch>
        </p:blipFill>
        <p:spPr>
          <a:xfrm>
            <a:off x="11261968" y="1469990"/>
            <a:ext cx="4868986" cy="7303479"/>
          </a:xfrm>
          <a:prstGeom prst="rect">
            <a:avLst/>
          </a:prstGeom>
        </p:spPr>
      </p:pic>
      <p:sp>
        <p:nvSpPr>
          <p:cNvPr id="6" name="TextBox 5">
            <a:extLst>
              <a:ext uri="{FF2B5EF4-FFF2-40B4-BE49-F238E27FC236}">
                <a16:creationId xmlns:a16="http://schemas.microsoft.com/office/drawing/2014/main" id="{18C0FC41-A660-FD7A-B6C0-75F382C732B9}"/>
              </a:ext>
            </a:extLst>
          </p:cNvPr>
          <p:cNvSpPr txBox="1"/>
          <p:nvPr/>
        </p:nvSpPr>
        <p:spPr>
          <a:xfrm>
            <a:off x="5838092" y="7616681"/>
            <a:ext cx="5603631" cy="1200329"/>
          </a:xfrm>
          <a:prstGeom prst="rect">
            <a:avLst/>
          </a:prstGeom>
          <a:noFill/>
        </p:spPr>
        <p:txBody>
          <a:bodyPr wrap="square" rtlCol="0">
            <a:spAutoFit/>
          </a:bodyPr>
          <a:lstStyle/>
          <a:p>
            <a:r>
              <a:rPr lang="en-US" sz="3600" i="1" dirty="0"/>
              <a:t>Hopefully, your bank never sees anything like this!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 / Looking Ahead</a:t>
            </a:r>
          </a:p>
        </p:txBody>
      </p:sp>
      <p:sp>
        <p:nvSpPr>
          <p:cNvPr id="3" name="Subtitle 2"/>
          <p:cNvSpPr>
            <a:spLocks noGrp="1"/>
          </p:cNvSpPr>
          <p:nvPr>
            <p:ph idx="1"/>
          </p:nvPr>
        </p:nvSpPr>
        <p:spPr>
          <a:xfrm>
            <a:off x="1257300" y="2193131"/>
            <a:ext cx="15773400" cy="6317823"/>
          </a:xfrm>
        </p:spPr>
        <p:txBody>
          <a:bodyPr>
            <a:normAutofit/>
          </a:bodyPr>
          <a:lstStyle/>
          <a:p>
            <a:pPr>
              <a:defRPr sz="2200"/>
            </a:pPr>
            <a:r>
              <a:rPr lang="en-US" sz="3600" dirty="0"/>
              <a:t>Monitoring turns information into action.</a:t>
            </a:r>
          </a:p>
          <a:p>
            <a:pPr>
              <a:defRPr sz="2200"/>
            </a:pPr>
            <a:r>
              <a:rPr lang="en-US" sz="3600" dirty="0"/>
              <a:t>Not every event is important—but important events must be recognized and investigated.</a:t>
            </a:r>
          </a:p>
          <a:p>
            <a:pPr>
              <a:defRPr sz="2200"/>
            </a:pPr>
            <a:r>
              <a:rPr lang="en-US" sz="3600" dirty="0"/>
              <a:t>Modern firewalls provide valuable operational and security information, but people and processes determine whether that information improves security.</a:t>
            </a:r>
          </a:p>
        </p:txBody>
      </p:sp>
      <p:sp>
        <p:nvSpPr>
          <p:cNvPr id="5" name="TextBox 4">
            <a:extLst>
              <a:ext uri="{FF2B5EF4-FFF2-40B4-BE49-F238E27FC236}">
                <a16:creationId xmlns:a16="http://schemas.microsoft.com/office/drawing/2014/main" id="{A62D6CD7-2C1F-9934-5710-7A232FBB6541}"/>
              </a:ext>
            </a:extLst>
          </p:cNvPr>
          <p:cNvSpPr txBox="1"/>
          <p:nvPr/>
        </p:nvSpPr>
        <p:spPr>
          <a:xfrm>
            <a:off x="2757853" y="7787679"/>
            <a:ext cx="13294100" cy="1446550"/>
          </a:xfrm>
          <a:prstGeom prst="rect">
            <a:avLst/>
          </a:prstGeom>
          <a:noFill/>
        </p:spPr>
        <p:txBody>
          <a:bodyPr wrap="square" rtlCol="0">
            <a:spAutoFit/>
          </a:bodyPr>
          <a:lstStyle/>
          <a:p>
            <a:pPr algn="ctr"/>
            <a:r>
              <a:rPr lang="en-US" sz="4400" b="1" dirty="0">
                <a:solidFill>
                  <a:schemeClr val="accent1">
                    <a:lumMod val="60000"/>
                    <a:lumOff val="40000"/>
                  </a:schemeClr>
                </a:solidFill>
              </a:rPr>
              <a:t>Firewalls don't manage themselves. How are security policies maintained, reviewed, and changed over time?</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05F1-4798-415F-DBE4-C1A0830FF07E}"/>
              </a:ext>
            </a:extLst>
          </p:cNvPr>
          <p:cNvSpPr>
            <a:spLocks noGrp="1"/>
          </p:cNvSpPr>
          <p:nvPr>
            <p:ph type="ctrTitle"/>
          </p:nvPr>
        </p:nvSpPr>
        <p:spPr/>
        <p:txBody>
          <a:bodyPr/>
          <a:lstStyle/>
          <a:p>
            <a:pPr>
              <a:defRPr sz="6600" b="1">
                <a:latin typeface="Helvetica Neue Condensed"/>
              </a:defRPr>
            </a:pPr>
            <a:r>
              <a:t>Administration &amp; Governance</a:t>
            </a:r>
          </a:p>
        </p:txBody>
      </p:sp>
      <p:sp>
        <p:nvSpPr>
          <p:cNvPr id="4" name="Subtitle 3">
            <a:extLst>
              <a:ext uri="{FF2B5EF4-FFF2-40B4-BE49-F238E27FC236}">
                <a16:creationId xmlns:a16="http://schemas.microsoft.com/office/drawing/2014/main" id="{C53D4556-A5D7-7B8B-F233-9248B3716E2F}"/>
              </a:ext>
            </a:extLst>
          </p:cNvPr>
          <p:cNvSpPr>
            <a:spLocks noGrp="1"/>
          </p:cNvSpPr>
          <p:nvPr>
            <p:ph type="subTitle" idx="1"/>
          </p:nvPr>
        </p:nvSpPr>
        <p:spPr/>
        <p:txBody>
          <a:bodyPr/>
          <a:lstStyle/>
          <a:p>
            <a:r>
              <a:rPr lang="en-US" dirty="0"/>
              <a:t>Chapter 8</a:t>
            </a:r>
          </a:p>
        </p:txBody>
      </p:sp>
    </p:spTree>
    <p:extLst>
      <p:ext uri="{BB962C8B-B14F-4D97-AF65-F5344CB8AC3E}">
        <p14:creationId xmlns:p14="http://schemas.microsoft.com/office/powerpoint/2010/main" val="231626492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rPr lang="en-US" dirty="0"/>
              <a:t>Examiner Question</a:t>
            </a:r>
            <a:endParaRPr dirty="0"/>
          </a:p>
        </p:txBody>
      </p:sp>
      <p:sp>
        <p:nvSpPr>
          <p:cNvPr id="3" name="Subtitle 2"/>
          <p:cNvSpPr>
            <a:spLocks noGrp="1"/>
          </p:cNvSpPr>
          <p:nvPr>
            <p:ph idx="1"/>
          </p:nvPr>
        </p:nvSpPr>
        <p:spPr/>
        <p:txBody>
          <a:bodyPr>
            <a:normAutofit/>
          </a:bodyPr>
          <a:lstStyle/>
          <a:p>
            <a:pPr>
              <a:defRPr sz="3000">
                <a:latin typeface="Helvetica Neue"/>
              </a:defRPr>
            </a:pPr>
            <a:r>
              <a:rPr sz="3600" i="1" dirty="0"/>
              <a:t>Who is responsible for managing security controls?</a:t>
            </a:r>
          </a:p>
          <a:p>
            <a:pPr>
              <a:defRPr sz="3000">
                <a:latin typeface="Helvetica Neue"/>
              </a:defRPr>
            </a:pPr>
            <a:endParaRPr lang="en-US" sz="3600" dirty="0"/>
          </a:p>
          <a:p>
            <a:pPr>
              <a:defRPr sz="3000">
                <a:latin typeface="Helvetica Neue"/>
              </a:defRPr>
            </a:pPr>
            <a:r>
              <a:rPr lang="en-US" sz="3600" dirty="0"/>
              <a:t>What’s the difference between administration and governance, anyway?</a:t>
            </a:r>
          </a:p>
          <a:p>
            <a:pPr lvl="1">
              <a:defRPr sz="3000">
                <a:latin typeface="Helvetica Neue"/>
              </a:defRPr>
            </a:pPr>
            <a:r>
              <a:rPr lang="en-US" sz="3000" dirty="0"/>
              <a:t>Doing the work</a:t>
            </a:r>
          </a:p>
          <a:p>
            <a:pPr lvl="1">
              <a:defRPr sz="3000">
                <a:latin typeface="Helvetica Neue"/>
              </a:defRPr>
            </a:pPr>
            <a:r>
              <a:rPr lang="en-US" sz="3000" dirty="0"/>
              <a:t>Making sure the right work is being done, right.</a:t>
            </a:r>
          </a:p>
          <a:p>
            <a:pPr lvl="1">
              <a:defRPr sz="3000">
                <a:latin typeface="Helvetica Neue"/>
              </a:defRPr>
            </a:pPr>
            <a:endParaRPr lang="en-US" sz="3000" dirty="0"/>
          </a:p>
          <a:p>
            <a:pPr>
              <a:defRPr sz="3000">
                <a:latin typeface="Helvetica Neue"/>
              </a:defRPr>
            </a:pPr>
            <a:r>
              <a:rPr lang="en-US" sz="3600" dirty="0"/>
              <a:t>Administration asks: "How is this control operated and maintained?"</a:t>
            </a:r>
          </a:p>
          <a:p>
            <a:pPr>
              <a:defRPr sz="3000">
                <a:latin typeface="Helvetica Neue"/>
              </a:defRPr>
            </a:pPr>
            <a:r>
              <a:rPr lang="en-US" sz="3600" dirty="0"/>
              <a:t>Governance asks: "Who decided what is required, who is accountable, and how do we know it's being done?”</a:t>
            </a:r>
          </a:p>
          <a:p>
            <a:pPr>
              <a:defRPr sz="3000">
                <a:latin typeface="Helvetica Neue"/>
              </a:defRPr>
            </a:pPr>
            <a:endParaRPr lang="en-US" sz="3600" dirty="0"/>
          </a:p>
          <a:p>
            <a:pPr>
              <a:defRPr sz="3000">
                <a:latin typeface="Helvetica Neue"/>
              </a:defRPr>
            </a:pPr>
            <a:r>
              <a:rPr lang="en-US" sz="3600" dirty="0"/>
              <a:t>The responsibility for each rests with different teams.</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t>Security Is a Process, Not a Project</a:t>
            </a:r>
          </a:p>
        </p:txBody>
      </p:sp>
      <p:sp>
        <p:nvSpPr>
          <p:cNvPr id="3" name="Subtitle 2"/>
          <p:cNvSpPr>
            <a:spLocks noGrp="1"/>
          </p:cNvSpPr>
          <p:nvPr>
            <p:ph idx="1"/>
          </p:nvPr>
        </p:nvSpPr>
        <p:spPr/>
        <p:txBody>
          <a:bodyPr>
            <a:noAutofit/>
          </a:bodyPr>
          <a:lstStyle/>
          <a:p>
            <a:pPr>
              <a:defRPr sz="3000">
                <a:latin typeface="Helvetica Neue"/>
              </a:defRPr>
            </a:pPr>
            <a:r>
              <a:rPr sz="3600" dirty="0"/>
              <a:t>Security requires ongoing management.</a:t>
            </a:r>
            <a:endParaRPr lang="en-US" sz="3600" dirty="0"/>
          </a:p>
          <a:p>
            <a:pPr>
              <a:defRPr sz="3000">
                <a:latin typeface="Helvetica Neue"/>
              </a:defRPr>
            </a:pPr>
            <a:r>
              <a:rPr lang="en-US" sz="3600" dirty="0"/>
              <a:t>The threat landscape evolves every day</a:t>
            </a:r>
            <a:endParaRPr sz="3600" dirty="0"/>
          </a:p>
          <a:p>
            <a:pPr lvl="1">
              <a:defRPr sz="3000">
                <a:latin typeface="Helvetica Neue"/>
              </a:defRPr>
            </a:pPr>
            <a:r>
              <a:rPr lang="en-US" dirty="0"/>
              <a:t>Different motivations, goals, capabilities, methods, tools</a:t>
            </a:r>
          </a:p>
          <a:p>
            <a:pPr>
              <a:defRPr sz="3000">
                <a:latin typeface="Helvetica Neue"/>
              </a:defRPr>
            </a:pPr>
            <a:r>
              <a:rPr sz="3600" dirty="0"/>
              <a:t>Technology changes continuously.</a:t>
            </a:r>
            <a:endParaRPr lang="en-US" sz="3600" dirty="0"/>
          </a:p>
          <a:p>
            <a:pPr lvl="1">
              <a:defRPr sz="3000">
                <a:latin typeface="Helvetica Neue"/>
              </a:defRPr>
            </a:pPr>
            <a:r>
              <a:rPr lang="en-US" dirty="0"/>
              <a:t>Firewalls have evolved enormously</a:t>
            </a:r>
          </a:p>
          <a:p>
            <a:pPr lvl="1">
              <a:defRPr sz="3000">
                <a:latin typeface="Helvetica Neue"/>
              </a:defRPr>
            </a:pPr>
            <a:r>
              <a:rPr lang="en-US" dirty="0"/>
              <a:t>Firewalls aren’t even just firewalls any more…</a:t>
            </a:r>
            <a:endParaRPr dirty="0"/>
          </a:p>
          <a:p>
            <a:pPr>
              <a:defRPr sz="3000">
                <a:latin typeface="Helvetica Neue"/>
              </a:defRPr>
            </a:pPr>
            <a:r>
              <a:rPr sz="3600" dirty="0"/>
              <a:t>Governance keeps controls effective over time.</a:t>
            </a:r>
            <a:endParaRPr lang="en-US" sz="3600" dirty="0"/>
          </a:p>
          <a:p>
            <a:pPr lvl="1">
              <a:defRPr sz="3000">
                <a:latin typeface="Helvetica Neue"/>
              </a:defRPr>
            </a:pPr>
            <a:r>
              <a:rPr lang="en-US" dirty="0"/>
              <a:t>Some degree of “watching the watchmen”</a:t>
            </a:r>
          </a:p>
          <a:p>
            <a:pPr lvl="1">
              <a:defRPr sz="3000">
                <a:latin typeface="Helvetica Neue"/>
              </a:defRPr>
            </a:pPr>
            <a:r>
              <a:rPr lang="en-US" dirty="0"/>
              <a:t>Also just steering the ship of tech</a:t>
            </a:r>
          </a:p>
          <a:p>
            <a:pPr lvl="1">
              <a:defRPr sz="3000">
                <a:latin typeface="Helvetica Neue"/>
              </a:defRPr>
            </a:pPr>
            <a:r>
              <a:rPr lang="en-US" dirty="0"/>
              <a:t>Must be part of running the business</a:t>
            </a:r>
          </a:p>
          <a:p>
            <a:pPr lvl="2">
              <a:defRPr sz="3000">
                <a:latin typeface="Helvetica Neue"/>
              </a:defRPr>
            </a:pPr>
            <a:r>
              <a:rPr lang="en-US" sz="3600" dirty="0"/>
              <a:t>Seen as </a:t>
            </a:r>
            <a:r>
              <a:rPr lang="en-US" sz="3600" dirty="0" err="1"/>
              <a:t>opex</a:t>
            </a:r>
            <a:r>
              <a:rPr lang="en-US" sz="3600" dirty="0"/>
              <a:t> by some</a:t>
            </a:r>
          </a:p>
          <a:p>
            <a:pPr lvl="2">
              <a:defRPr sz="3000">
                <a:latin typeface="Helvetica Neue"/>
              </a:defRPr>
            </a:pPr>
            <a:r>
              <a:rPr lang="en-US" sz="3600" dirty="0"/>
              <a:t>More enlightened idea is opportunity</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t>Roles &amp; Responsibilities</a:t>
            </a:r>
          </a:p>
        </p:txBody>
      </p:sp>
      <p:sp>
        <p:nvSpPr>
          <p:cNvPr id="3" name="Subtitle 2"/>
          <p:cNvSpPr>
            <a:spLocks noGrp="1"/>
          </p:cNvSpPr>
          <p:nvPr>
            <p:ph idx="1"/>
          </p:nvPr>
        </p:nvSpPr>
        <p:spPr/>
        <p:txBody>
          <a:bodyPr>
            <a:normAutofit/>
          </a:bodyPr>
          <a:lstStyle/>
          <a:p>
            <a:pPr>
              <a:defRPr sz="3000">
                <a:latin typeface="Helvetica Neue"/>
              </a:defRPr>
            </a:pPr>
            <a:r>
              <a:rPr sz="3600" dirty="0"/>
              <a:t>Board</a:t>
            </a:r>
            <a:r>
              <a:rPr lang="en-US" sz="3600" dirty="0"/>
              <a:t>: </a:t>
            </a:r>
            <a:r>
              <a:rPr sz="3600" dirty="0"/>
              <a:t>Oversight</a:t>
            </a:r>
          </a:p>
          <a:p>
            <a:pPr>
              <a:defRPr sz="3000">
                <a:latin typeface="Helvetica Neue"/>
              </a:defRPr>
            </a:pPr>
            <a:r>
              <a:rPr sz="3600" dirty="0"/>
              <a:t>Cindy</a:t>
            </a:r>
            <a:r>
              <a:rPr lang="en-US" sz="3600" dirty="0"/>
              <a:t>: </a:t>
            </a:r>
            <a:r>
              <a:rPr sz="3600" dirty="0"/>
              <a:t>Risk management</a:t>
            </a:r>
          </a:p>
          <a:p>
            <a:pPr>
              <a:defRPr sz="3000">
                <a:latin typeface="Helvetica Neue"/>
              </a:defRPr>
            </a:pPr>
            <a:r>
              <a:rPr sz="3600" dirty="0"/>
              <a:t>Tom</a:t>
            </a:r>
            <a:r>
              <a:rPr lang="en-US" sz="3600" dirty="0"/>
              <a:t>: </a:t>
            </a:r>
            <a:r>
              <a:rPr sz="3600" dirty="0"/>
              <a:t>Administration</a:t>
            </a:r>
          </a:p>
          <a:p>
            <a:pPr>
              <a:defRPr sz="3000">
                <a:latin typeface="Helvetica Neue"/>
              </a:defRPr>
            </a:pPr>
            <a:r>
              <a:rPr sz="3600" dirty="0"/>
              <a:t>Northwoods</a:t>
            </a:r>
            <a:r>
              <a:rPr lang="en-US" sz="3600" dirty="0"/>
              <a:t>:</a:t>
            </a:r>
            <a:r>
              <a:rPr sz="3600" dirty="0"/>
              <a:t> Technical implementation</a:t>
            </a:r>
          </a:p>
          <a:p>
            <a:pPr>
              <a:defRPr sz="3000">
                <a:latin typeface="Helvetica Neue"/>
              </a:defRPr>
            </a:pPr>
            <a:r>
              <a:rPr sz="3600" dirty="0"/>
              <a:t>Audit</a:t>
            </a:r>
            <a:r>
              <a:rPr lang="en-US" sz="3600" dirty="0"/>
              <a:t>:</a:t>
            </a:r>
            <a:r>
              <a:rPr sz="3600" dirty="0"/>
              <a:t> Independent review</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t>Security Policies</a:t>
            </a:r>
          </a:p>
        </p:txBody>
      </p:sp>
      <p:sp>
        <p:nvSpPr>
          <p:cNvPr id="3" name="Subtitle 2"/>
          <p:cNvSpPr>
            <a:spLocks noGrp="1"/>
          </p:cNvSpPr>
          <p:nvPr>
            <p:ph idx="1"/>
          </p:nvPr>
        </p:nvSpPr>
        <p:spPr/>
        <p:txBody>
          <a:bodyPr>
            <a:normAutofit/>
          </a:bodyPr>
          <a:lstStyle/>
          <a:p>
            <a:pPr>
              <a:defRPr sz="3000">
                <a:latin typeface="Helvetica Neue"/>
              </a:defRPr>
            </a:pPr>
            <a:r>
              <a:rPr sz="3600" dirty="0"/>
              <a:t>Define expectations.</a:t>
            </a:r>
          </a:p>
          <a:p>
            <a:pPr>
              <a:defRPr sz="3000">
                <a:latin typeface="Helvetica Neue"/>
              </a:defRPr>
            </a:pPr>
            <a:r>
              <a:rPr sz="3600" dirty="0"/>
              <a:t>Assign responsibilities.</a:t>
            </a:r>
          </a:p>
          <a:p>
            <a:pPr>
              <a:defRPr sz="3000">
                <a:latin typeface="Helvetica Neue"/>
              </a:defRPr>
            </a:pPr>
            <a:r>
              <a:rPr sz="3600" dirty="0"/>
              <a:t>Provide the basis for consistent decisions.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t>Change Management</a:t>
            </a:r>
          </a:p>
        </p:txBody>
      </p:sp>
      <p:sp>
        <p:nvSpPr>
          <p:cNvPr id="3" name="Subtitle 2"/>
          <p:cNvSpPr>
            <a:spLocks noGrp="1"/>
          </p:cNvSpPr>
          <p:nvPr>
            <p:ph idx="1"/>
          </p:nvPr>
        </p:nvSpPr>
        <p:spPr>
          <a:xfrm>
            <a:off x="1257300" y="2193131"/>
            <a:ext cx="8450904" cy="6967198"/>
          </a:xfrm>
        </p:spPr>
        <p:txBody>
          <a:bodyPr>
            <a:normAutofit/>
          </a:bodyPr>
          <a:lstStyle/>
          <a:p>
            <a:pPr>
              <a:defRPr sz="3000">
                <a:latin typeface="Helvetica Neue"/>
              </a:defRPr>
            </a:pPr>
            <a:r>
              <a:rPr lang="en-US" sz="3600" dirty="0"/>
              <a:t>Consult security strategy</a:t>
            </a:r>
          </a:p>
          <a:p>
            <a:pPr>
              <a:defRPr sz="3000">
                <a:latin typeface="Helvetica Neue"/>
              </a:defRPr>
            </a:pPr>
            <a:r>
              <a:rPr sz="3600" dirty="0"/>
              <a:t>Request</a:t>
            </a:r>
            <a:endParaRPr lang="en-US" sz="3600" dirty="0"/>
          </a:p>
          <a:p>
            <a:pPr>
              <a:defRPr sz="3000">
                <a:latin typeface="Helvetica Neue"/>
              </a:defRPr>
            </a:pPr>
            <a:r>
              <a:rPr lang="en-US" sz="3600" dirty="0"/>
              <a:t>Assess &amp; </a:t>
            </a:r>
            <a:r>
              <a:rPr sz="3600" dirty="0"/>
              <a:t>Review</a:t>
            </a:r>
            <a:endParaRPr lang="en-US" sz="3600" dirty="0"/>
          </a:p>
          <a:p>
            <a:pPr>
              <a:defRPr sz="3000">
                <a:latin typeface="Helvetica Neue"/>
              </a:defRPr>
            </a:pPr>
            <a:r>
              <a:rPr lang="en-US" sz="3600" dirty="0"/>
              <a:t>A</a:t>
            </a:r>
            <a:r>
              <a:rPr sz="3600" dirty="0"/>
              <a:t>pproval</a:t>
            </a:r>
            <a:r>
              <a:rPr lang="en-US" sz="3600" dirty="0"/>
              <a:t> (or not)</a:t>
            </a:r>
            <a:endParaRPr sz="3600" dirty="0"/>
          </a:p>
          <a:p>
            <a:pPr>
              <a:defRPr sz="3000">
                <a:latin typeface="Helvetica Neue"/>
              </a:defRPr>
            </a:pPr>
            <a:r>
              <a:rPr sz="3600" dirty="0"/>
              <a:t>Implementation</a:t>
            </a:r>
          </a:p>
          <a:p>
            <a:pPr>
              <a:defRPr sz="3000">
                <a:latin typeface="Helvetica Neue"/>
              </a:defRPr>
            </a:pPr>
            <a:r>
              <a:rPr sz="3600" dirty="0"/>
              <a:t>Verification &amp; documentation</a:t>
            </a:r>
            <a:endParaRPr lang="en-US" sz="3600" dirty="0"/>
          </a:p>
          <a:p>
            <a:pPr>
              <a:defRPr sz="3000">
                <a:latin typeface="Helvetica Neue"/>
              </a:defRPr>
            </a:pPr>
            <a:r>
              <a:rPr lang="en-US" sz="3600" dirty="0"/>
              <a:t>What triggers the tasks in a change management process?</a:t>
            </a:r>
          </a:p>
          <a:p>
            <a:pPr lvl="1">
              <a:defRPr sz="3000">
                <a:latin typeface="Helvetica Neue"/>
              </a:defRPr>
            </a:pPr>
            <a:r>
              <a:rPr lang="en-US" dirty="0"/>
              <a:t>Events</a:t>
            </a:r>
          </a:p>
          <a:p>
            <a:pPr lvl="1">
              <a:defRPr sz="3000">
                <a:latin typeface="Helvetica Neue"/>
              </a:defRPr>
            </a:pPr>
            <a:r>
              <a:rPr lang="en-US" dirty="0"/>
              <a:t>Periodic</a:t>
            </a:r>
          </a:p>
          <a:p>
            <a:pPr lvl="1">
              <a:defRPr sz="3000">
                <a:latin typeface="Helvetica Neue"/>
              </a:defRPr>
            </a:pPr>
            <a:r>
              <a:rPr lang="en-US" dirty="0"/>
              <a:t>What else?</a:t>
            </a:r>
          </a:p>
          <a:p>
            <a:pPr lvl="1">
              <a:defRPr sz="3000">
                <a:latin typeface="Helvetica Neue"/>
              </a:defRPr>
            </a:pPr>
            <a:endParaRPr dirty="0"/>
          </a:p>
        </p:txBody>
      </p:sp>
      <p:graphicFrame>
        <p:nvGraphicFramePr>
          <p:cNvPr id="5" name="Diagram 4">
            <a:extLst>
              <a:ext uri="{FF2B5EF4-FFF2-40B4-BE49-F238E27FC236}">
                <a16:creationId xmlns:a16="http://schemas.microsoft.com/office/drawing/2014/main" id="{049B1408-1B2B-78A2-544D-B0173912ED8C}"/>
              </a:ext>
            </a:extLst>
          </p:cNvPr>
          <p:cNvGraphicFramePr/>
          <p:nvPr/>
        </p:nvGraphicFramePr>
        <p:xfrm>
          <a:off x="9863847" y="1738819"/>
          <a:ext cx="6809362" cy="68093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rPr lang="en-US" dirty="0"/>
              <a:t>Firewall </a:t>
            </a:r>
            <a:r>
              <a:rPr dirty="0"/>
              <a:t>Rule Review</a:t>
            </a:r>
          </a:p>
        </p:txBody>
      </p:sp>
      <p:sp>
        <p:nvSpPr>
          <p:cNvPr id="3" name="Subtitle 2"/>
          <p:cNvSpPr>
            <a:spLocks noGrp="1"/>
          </p:cNvSpPr>
          <p:nvPr>
            <p:ph idx="1"/>
          </p:nvPr>
        </p:nvSpPr>
        <p:spPr>
          <a:xfrm>
            <a:off x="1257300" y="2193131"/>
            <a:ext cx="10372725" cy="6967198"/>
          </a:xfrm>
        </p:spPr>
        <p:txBody>
          <a:bodyPr>
            <a:normAutofit lnSpcReduction="10000"/>
          </a:bodyPr>
          <a:lstStyle/>
          <a:p>
            <a:pPr>
              <a:defRPr sz="3000">
                <a:latin typeface="Helvetica Neue"/>
              </a:defRPr>
            </a:pPr>
            <a:r>
              <a:rPr lang="en-US" sz="3600" dirty="0"/>
              <a:t>Formerly simply looking for open ports</a:t>
            </a:r>
          </a:p>
          <a:p>
            <a:pPr>
              <a:defRPr sz="3000">
                <a:latin typeface="Helvetica Neue"/>
              </a:defRPr>
            </a:pPr>
            <a:r>
              <a:rPr lang="en-US" sz="3600" dirty="0"/>
              <a:t>Modern firewall capabilities make this much more subtle</a:t>
            </a:r>
          </a:p>
          <a:p>
            <a:pPr>
              <a:defRPr sz="3000">
                <a:latin typeface="Helvetica Neue"/>
              </a:defRPr>
            </a:pPr>
            <a:r>
              <a:rPr lang="en-US" sz="3600" dirty="0"/>
              <a:t>Firewalls exist on many devices, for different reasons</a:t>
            </a:r>
          </a:p>
          <a:p>
            <a:pPr lvl="1">
              <a:defRPr sz="3000">
                <a:latin typeface="Helvetica Neue"/>
              </a:defRPr>
            </a:pPr>
            <a:r>
              <a:rPr lang="en-US" sz="3200" dirty="0"/>
              <a:t>Perimeter firewalls (attempt to) protect everything inside the bank</a:t>
            </a:r>
          </a:p>
          <a:p>
            <a:pPr lvl="1">
              <a:defRPr sz="3000">
                <a:latin typeface="Helvetica Neue"/>
              </a:defRPr>
            </a:pPr>
            <a:r>
              <a:rPr lang="en-US" sz="3200" dirty="0"/>
              <a:t>Device firewalls only address internals</a:t>
            </a:r>
          </a:p>
          <a:p>
            <a:pPr lvl="1">
              <a:defRPr sz="3000">
                <a:latin typeface="Helvetica Neue"/>
              </a:defRPr>
            </a:pPr>
            <a:r>
              <a:rPr lang="en-US" sz="3200" dirty="0"/>
              <a:t>Others might be deployed for specific reasons</a:t>
            </a:r>
          </a:p>
          <a:p>
            <a:pPr>
              <a:defRPr sz="3000">
                <a:latin typeface="Helvetica Neue"/>
              </a:defRPr>
            </a:pPr>
            <a:r>
              <a:rPr sz="3600" dirty="0"/>
              <a:t>Review</a:t>
            </a:r>
            <a:r>
              <a:rPr lang="en-US" sz="3600" dirty="0"/>
              <a:t> perimeter</a:t>
            </a:r>
            <a:r>
              <a:rPr sz="3600" dirty="0"/>
              <a:t> firewall rules periodically.</a:t>
            </a:r>
          </a:p>
          <a:p>
            <a:pPr>
              <a:defRPr sz="3000">
                <a:latin typeface="Helvetica Neue"/>
              </a:defRPr>
            </a:pPr>
            <a:r>
              <a:rPr sz="3600" dirty="0"/>
              <a:t>Remove obsolete rules.</a:t>
            </a:r>
          </a:p>
          <a:p>
            <a:pPr>
              <a:defRPr sz="3000">
                <a:latin typeface="Helvetica Neue"/>
              </a:defRPr>
            </a:pPr>
            <a:r>
              <a:rPr sz="3600" dirty="0"/>
              <a:t>Verify business justification for exceptions.</a:t>
            </a:r>
          </a:p>
        </p:txBody>
      </p:sp>
      <p:sp>
        <p:nvSpPr>
          <p:cNvPr id="4" name="TextBox 3">
            <a:extLst>
              <a:ext uri="{FF2B5EF4-FFF2-40B4-BE49-F238E27FC236}">
                <a16:creationId xmlns:a16="http://schemas.microsoft.com/office/drawing/2014/main" id="{9BA6C100-1B2A-1BFC-B949-74D0CDB6F9C4}"/>
              </a:ext>
            </a:extLst>
          </p:cNvPr>
          <p:cNvSpPr txBox="1"/>
          <p:nvPr/>
        </p:nvSpPr>
        <p:spPr>
          <a:xfrm>
            <a:off x="11944351" y="5143500"/>
            <a:ext cx="6057900" cy="3785652"/>
          </a:xfrm>
          <a:prstGeom prst="rect">
            <a:avLst/>
          </a:prstGeom>
          <a:noFill/>
        </p:spPr>
        <p:txBody>
          <a:bodyPr wrap="square" rtlCol="0">
            <a:spAutoFit/>
          </a:bodyPr>
          <a:lstStyle/>
          <a:p>
            <a:r>
              <a:rPr lang="en-US" sz="4000" dirty="0">
                <a:solidFill>
                  <a:schemeClr val="accent1">
                    <a:lumMod val="60000"/>
                    <a:lumOff val="40000"/>
                  </a:schemeClr>
                </a:solidFill>
              </a:rPr>
              <a:t>The examiner doesn't need to judge every firewall rule; the examiner needs to determine whether the bank has a credible process for doing so.</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rPr dirty="0"/>
              <a:t>Administrative Access</a:t>
            </a:r>
            <a:r>
              <a:rPr lang="en-US" dirty="0"/>
              <a:t> Review</a:t>
            </a:r>
            <a:endParaRPr dirty="0"/>
          </a:p>
        </p:txBody>
      </p:sp>
      <p:sp>
        <p:nvSpPr>
          <p:cNvPr id="3" name="Subtitle 2"/>
          <p:cNvSpPr>
            <a:spLocks noGrp="1"/>
          </p:cNvSpPr>
          <p:nvPr>
            <p:ph idx="1"/>
          </p:nvPr>
        </p:nvSpPr>
        <p:spPr/>
        <p:txBody>
          <a:bodyPr>
            <a:normAutofit/>
          </a:bodyPr>
          <a:lstStyle/>
          <a:p>
            <a:pPr>
              <a:defRPr sz="3000">
                <a:latin typeface="Helvetica Neue"/>
              </a:defRPr>
            </a:pPr>
            <a:r>
              <a:rPr lang="en-US" sz="3600" b="1" dirty="0"/>
              <a:t>Who is allowed to make what changes?</a:t>
            </a:r>
          </a:p>
          <a:p>
            <a:pPr>
              <a:defRPr sz="3000">
                <a:latin typeface="Helvetica Neue"/>
              </a:defRPr>
            </a:pPr>
            <a:r>
              <a:rPr lang="en-US" sz="3600" dirty="0"/>
              <a:t>Perhaps the most critical security question of all!</a:t>
            </a:r>
          </a:p>
          <a:p>
            <a:pPr lvl="1">
              <a:defRPr sz="3000">
                <a:latin typeface="Helvetica Neue"/>
              </a:defRPr>
            </a:pPr>
            <a:r>
              <a:rPr sz="3000" dirty="0"/>
              <a:t>Named accounts</a:t>
            </a:r>
          </a:p>
          <a:p>
            <a:pPr lvl="1">
              <a:defRPr sz="3000">
                <a:latin typeface="Helvetica Neue"/>
              </a:defRPr>
            </a:pPr>
            <a:r>
              <a:rPr sz="3000" dirty="0"/>
              <a:t>Least privilege</a:t>
            </a:r>
          </a:p>
          <a:p>
            <a:pPr lvl="1">
              <a:defRPr sz="3000">
                <a:latin typeface="Helvetica Neue"/>
              </a:defRPr>
            </a:pPr>
            <a:r>
              <a:rPr sz="3000" dirty="0"/>
              <a:t>MFA</a:t>
            </a:r>
          </a:p>
          <a:p>
            <a:pPr lvl="1">
              <a:defRPr sz="3000">
                <a:latin typeface="Helvetica Neue"/>
              </a:defRPr>
            </a:pPr>
            <a:r>
              <a:rPr sz="3000" dirty="0"/>
              <a:t>Administrative activity is logged</a:t>
            </a:r>
            <a:endParaRPr lang="en-US" sz="3000" dirty="0"/>
          </a:p>
          <a:p>
            <a:pPr>
              <a:defRPr sz="3000">
                <a:latin typeface="Helvetica Neue"/>
              </a:defRPr>
            </a:pPr>
            <a:r>
              <a:rPr lang="en-US" sz="3600" dirty="0"/>
              <a:t>Often exists in an “obvious” matter-of-fact zone</a:t>
            </a:r>
          </a:p>
          <a:p>
            <a:pPr lvl="1">
              <a:defRPr sz="3000">
                <a:latin typeface="Helvetica Neue"/>
              </a:defRPr>
            </a:pPr>
            <a:r>
              <a:rPr lang="en-US" sz="3000" dirty="0"/>
              <a:t>But should be reviewed often</a:t>
            </a:r>
          </a:p>
          <a:p>
            <a:pPr lvl="1">
              <a:defRPr sz="3000">
                <a:latin typeface="Helvetica Neue"/>
              </a:defRPr>
            </a:pPr>
            <a:endParaRPr sz="3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t>Vendor Oversight</a:t>
            </a:r>
          </a:p>
        </p:txBody>
      </p:sp>
      <p:sp>
        <p:nvSpPr>
          <p:cNvPr id="3" name="Subtitle 2"/>
          <p:cNvSpPr>
            <a:spLocks noGrp="1"/>
          </p:cNvSpPr>
          <p:nvPr>
            <p:ph idx="1"/>
          </p:nvPr>
        </p:nvSpPr>
        <p:spPr/>
        <p:txBody>
          <a:bodyPr>
            <a:normAutofit/>
          </a:bodyPr>
          <a:lstStyle/>
          <a:p>
            <a:pPr>
              <a:defRPr sz="3000">
                <a:latin typeface="Helvetica Neue"/>
              </a:defRPr>
            </a:pPr>
            <a:r>
              <a:rPr sz="3600" dirty="0"/>
              <a:t>Outsourcing does not outsource responsibility.</a:t>
            </a:r>
          </a:p>
          <a:p>
            <a:pPr>
              <a:defRPr sz="3000">
                <a:latin typeface="Helvetica Neue"/>
              </a:defRPr>
            </a:pPr>
            <a:r>
              <a:rPr sz="3600" dirty="0"/>
              <a:t>Define</a:t>
            </a:r>
            <a:r>
              <a:rPr lang="en-US" sz="3600" dirty="0"/>
              <a:t> and document:</a:t>
            </a:r>
          </a:p>
          <a:p>
            <a:pPr lvl="1">
              <a:defRPr sz="3000">
                <a:latin typeface="Helvetica Neue"/>
              </a:defRPr>
            </a:pPr>
            <a:r>
              <a:rPr lang="en-US" sz="3200" dirty="0"/>
              <a:t>Expectations</a:t>
            </a:r>
          </a:p>
          <a:p>
            <a:pPr lvl="1">
              <a:defRPr sz="3000">
                <a:latin typeface="Helvetica Neue"/>
              </a:defRPr>
            </a:pPr>
            <a:r>
              <a:rPr lang="en-US" sz="3200" dirty="0"/>
              <a:t>R</a:t>
            </a:r>
            <a:r>
              <a:rPr sz="3200" dirty="0"/>
              <a:t>oles</a:t>
            </a:r>
            <a:endParaRPr lang="en-US" sz="3200" dirty="0"/>
          </a:p>
          <a:p>
            <a:pPr lvl="1">
              <a:defRPr sz="3000">
                <a:latin typeface="Helvetica Neue"/>
              </a:defRPr>
            </a:pPr>
            <a:r>
              <a:rPr lang="en-US" sz="3200" dirty="0"/>
              <a:t>E</a:t>
            </a:r>
            <a:r>
              <a:rPr sz="3200" dirty="0"/>
              <a:t>scalation</a:t>
            </a:r>
          </a:p>
          <a:p>
            <a:pPr>
              <a:defRPr sz="3000">
                <a:latin typeface="Helvetica Neue"/>
              </a:defRPr>
            </a:pPr>
            <a:r>
              <a:rPr sz="3600" dirty="0"/>
              <a:t>Review reports, changes, and service performance.</a:t>
            </a:r>
          </a:p>
        </p:txBody>
      </p:sp>
      <p:sp>
        <p:nvSpPr>
          <p:cNvPr id="4" name="TextBox 3">
            <a:extLst>
              <a:ext uri="{FF2B5EF4-FFF2-40B4-BE49-F238E27FC236}">
                <a16:creationId xmlns:a16="http://schemas.microsoft.com/office/drawing/2014/main" id="{DDE9F480-4A6B-4C06-9E66-86E0AFF0D908}"/>
              </a:ext>
            </a:extLst>
          </p:cNvPr>
          <p:cNvSpPr txBox="1"/>
          <p:nvPr/>
        </p:nvSpPr>
        <p:spPr>
          <a:xfrm>
            <a:off x="11972926" y="7221337"/>
            <a:ext cx="6057900" cy="1938992"/>
          </a:xfrm>
          <a:prstGeom prst="rect">
            <a:avLst/>
          </a:prstGeom>
          <a:noFill/>
        </p:spPr>
        <p:txBody>
          <a:bodyPr wrap="square" rtlCol="0">
            <a:spAutoFit/>
          </a:bodyPr>
          <a:lstStyle/>
          <a:p>
            <a:r>
              <a:rPr lang="en-US" sz="4000" dirty="0">
                <a:solidFill>
                  <a:schemeClr val="accent1">
                    <a:lumMod val="60000"/>
                    <a:lumOff val="40000"/>
                  </a:schemeClr>
                </a:solidFill>
              </a:rPr>
              <a:t>How does Cindy know that Northwoods is doing what Pine Valley expects?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t>Documentation</a:t>
            </a:r>
          </a:p>
        </p:txBody>
      </p:sp>
      <p:sp>
        <p:nvSpPr>
          <p:cNvPr id="3" name="Subtitle 2"/>
          <p:cNvSpPr>
            <a:spLocks noGrp="1"/>
          </p:cNvSpPr>
          <p:nvPr>
            <p:ph idx="1"/>
          </p:nvPr>
        </p:nvSpPr>
        <p:spPr/>
        <p:txBody>
          <a:bodyPr>
            <a:normAutofit/>
          </a:bodyPr>
          <a:lstStyle/>
          <a:p>
            <a:pPr>
              <a:defRPr sz="3000">
                <a:latin typeface="Helvetica Neue"/>
              </a:defRPr>
            </a:pPr>
            <a:r>
              <a:rPr sz="3600" dirty="0"/>
              <a:t>Network diagrams</a:t>
            </a:r>
          </a:p>
          <a:p>
            <a:pPr>
              <a:defRPr sz="3000">
                <a:latin typeface="Helvetica Neue"/>
              </a:defRPr>
            </a:pPr>
            <a:r>
              <a:rPr sz="3600" dirty="0"/>
              <a:t>Firewall rules</a:t>
            </a:r>
          </a:p>
          <a:p>
            <a:pPr>
              <a:defRPr sz="3000">
                <a:latin typeface="Helvetica Neue"/>
              </a:defRPr>
            </a:pPr>
            <a:r>
              <a:rPr sz="3600" dirty="0"/>
              <a:t>Recovery procedures</a:t>
            </a:r>
          </a:p>
          <a:p>
            <a:pPr>
              <a:defRPr sz="3000">
                <a:latin typeface="Helvetica Neue"/>
              </a:defRPr>
            </a:pPr>
            <a:r>
              <a:rPr sz="3600" dirty="0"/>
              <a:t>Vendor contacts</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t>Governance in Practice</a:t>
            </a:r>
          </a:p>
        </p:txBody>
      </p:sp>
      <p:sp>
        <p:nvSpPr>
          <p:cNvPr id="3" name="Subtitle 2"/>
          <p:cNvSpPr>
            <a:spLocks noGrp="1"/>
          </p:cNvSpPr>
          <p:nvPr>
            <p:ph idx="1"/>
          </p:nvPr>
        </p:nvSpPr>
        <p:spPr/>
        <p:txBody>
          <a:bodyPr>
            <a:normAutofit/>
          </a:bodyPr>
          <a:lstStyle/>
          <a:p>
            <a:pPr>
              <a:defRPr sz="3000">
                <a:latin typeface="Helvetica Neue"/>
              </a:defRPr>
            </a:pPr>
            <a:r>
              <a:rPr sz="3600" dirty="0"/>
              <a:t>Tom identifies a need</a:t>
            </a:r>
          </a:p>
          <a:p>
            <a:pPr>
              <a:defRPr sz="3000">
                <a:latin typeface="Helvetica Neue"/>
              </a:defRPr>
            </a:pPr>
            <a:r>
              <a:rPr sz="3600" dirty="0"/>
              <a:t>Cindy evaluates risk</a:t>
            </a:r>
          </a:p>
          <a:p>
            <a:pPr>
              <a:defRPr sz="3000">
                <a:latin typeface="Helvetica Neue"/>
              </a:defRPr>
            </a:pPr>
            <a:r>
              <a:rPr sz="3600" dirty="0"/>
              <a:t>Management approves</a:t>
            </a:r>
          </a:p>
          <a:p>
            <a:pPr>
              <a:defRPr sz="3000">
                <a:latin typeface="Helvetica Neue"/>
              </a:defRPr>
            </a:pPr>
            <a:r>
              <a:rPr sz="3600" dirty="0"/>
              <a:t>Northwoods implements</a:t>
            </a:r>
          </a:p>
          <a:p>
            <a:pPr>
              <a:defRPr sz="3000">
                <a:latin typeface="Helvetica Neue"/>
              </a:defRPr>
            </a:pPr>
            <a:r>
              <a:rPr sz="3600" dirty="0"/>
              <a:t>Tom verifies</a:t>
            </a:r>
          </a:p>
          <a:p>
            <a:pPr>
              <a:defRPr sz="3000">
                <a:latin typeface="Helvetica Neue"/>
              </a:defRPr>
            </a:pPr>
            <a:r>
              <a:rPr sz="3600" dirty="0"/>
              <a:t>Board receives summary</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rPr dirty="0"/>
              <a:t>Evidence</a:t>
            </a:r>
            <a:r>
              <a:rPr lang="en-US" dirty="0"/>
              <a:t> for </a:t>
            </a:r>
            <a:r>
              <a:rPr dirty="0"/>
              <a:t>Examiner</a:t>
            </a:r>
            <a:r>
              <a:rPr lang="en-US" dirty="0"/>
              <a:t>s</a:t>
            </a:r>
            <a:endParaRPr dirty="0"/>
          </a:p>
        </p:txBody>
      </p:sp>
      <p:sp>
        <p:nvSpPr>
          <p:cNvPr id="3" name="Subtitle 2"/>
          <p:cNvSpPr>
            <a:spLocks noGrp="1"/>
          </p:cNvSpPr>
          <p:nvPr>
            <p:ph idx="1"/>
          </p:nvPr>
        </p:nvSpPr>
        <p:spPr/>
        <p:txBody>
          <a:bodyPr>
            <a:normAutofit/>
          </a:bodyPr>
          <a:lstStyle/>
          <a:p>
            <a:pPr>
              <a:defRPr sz="3000">
                <a:latin typeface="Helvetica Neue"/>
              </a:defRPr>
            </a:pPr>
            <a:r>
              <a:rPr sz="3600" dirty="0"/>
              <a:t>Policies</a:t>
            </a:r>
          </a:p>
          <a:p>
            <a:pPr>
              <a:defRPr sz="3000">
                <a:latin typeface="Helvetica Neue"/>
              </a:defRPr>
            </a:pPr>
            <a:r>
              <a:rPr sz="3600" dirty="0"/>
              <a:t>Change records</a:t>
            </a:r>
          </a:p>
          <a:p>
            <a:pPr>
              <a:defRPr sz="3000">
                <a:latin typeface="Helvetica Neue"/>
              </a:defRPr>
            </a:pPr>
            <a:r>
              <a:rPr sz="3600" dirty="0"/>
              <a:t>Rule reviews</a:t>
            </a:r>
          </a:p>
          <a:p>
            <a:pPr>
              <a:defRPr sz="3000">
                <a:latin typeface="Helvetica Neue"/>
              </a:defRPr>
            </a:pPr>
            <a:r>
              <a:rPr sz="3600" dirty="0"/>
              <a:t>Configuration backups</a:t>
            </a:r>
          </a:p>
          <a:p>
            <a:pPr>
              <a:defRPr sz="3000">
                <a:latin typeface="Helvetica Neue"/>
              </a:defRPr>
            </a:pPr>
            <a:r>
              <a:rPr sz="3600" dirty="0"/>
              <a:t>Audit logs</a:t>
            </a:r>
          </a:p>
          <a:p>
            <a:pPr>
              <a:defRPr sz="3000">
                <a:latin typeface="Helvetica Neue"/>
              </a:defRPr>
            </a:pPr>
            <a:r>
              <a:rPr sz="3600" dirty="0"/>
              <a:t>Testing results</a:t>
            </a:r>
            <a:endParaRPr lang="en-US" sz="3600" dirty="0"/>
          </a:p>
          <a:p>
            <a:pPr marL="0" indent="0">
              <a:buNone/>
              <a:defRPr sz="3000">
                <a:latin typeface="Helvetica Neue"/>
              </a:defRPr>
            </a:pPr>
            <a:endParaRPr sz="36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t>Building a Security Program</a:t>
            </a:r>
          </a:p>
        </p:txBody>
      </p:sp>
      <p:sp>
        <p:nvSpPr>
          <p:cNvPr id="3" name="Subtitle 2"/>
          <p:cNvSpPr>
            <a:spLocks noGrp="1"/>
          </p:cNvSpPr>
          <p:nvPr>
            <p:ph idx="1"/>
          </p:nvPr>
        </p:nvSpPr>
        <p:spPr/>
        <p:txBody>
          <a:bodyPr>
            <a:normAutofit/>
          </a:bodyPr>
          <a:lstStyle/>
          <a:p>
            <a:pPr>
              <a:defRPr sz="3000">
                <a:latin typeface="Helvetica Neue"/>
              </a:defRPr>
            </a:pPr>
            <a:r>
              <a:rPr sz="3600" dirty="0"/>
              <a:t>Architecture</a:t>
            </a:r>
          </a:p>
          <a:p>
            <a:pPr>
              <a:defRPr sz="3000">
                <a:latin typeface="Helvetica Neue"/>
              </a:defRPr>
            </a:pPr>
            <a:r>
              <a:rPr sz="3600" dirty="0"/>
              <a:t>Firewalls</a:t>
            </a:r>
          </a:p>
          <a:p>
            <a:pPr>
              <a:defRPr sz="3000">
                <a:latin typeface="Helvetica Neue"/>
              </a:defRPr>
            </a:pPr>
            <a:r>
              <a:rPr sz="3600" dirty="0"/>
              <a:t>Monitoring</a:t>
            </a:r>
          </a:p>
          <a:p>
            <a:pPr>
              <a:defRPr sz="3000">
                <a:latin typeface="Helvetica Neue"/>
              </a:defRPr>
            </a:pPr>
            <a:r>
              <a:rPr sz="3600" dirty="0"/>
              <a:t>Administration</a:t>
            </a:r>
          </a:p>
          <a:p>
            <a:pPr>
              <a:defRPr sz="3000">
                <a:latin typeface="Helvetica Neue"/>
              </a:defRPr>
            </a:pPr>
            <a:r>
              <a:rPr sz="3600" dirty="0"/>
              <a:t>Continuous improvement</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6600" b="1">
                <a:latin typeface="Helvetica Neue Condensed"/>
              </a:defRPr>
            </a:pPr>
            <a:r>
              <a:t>Key Takeaways / Looking Ahead</a:t>
            </a:r>
          </a:p>
        </p:txBody>
      </p:sp>
      <p:sp>
        <p:nvSpPr>
          <p:cNvPr id="3" name="Subtitle 2"/>
          <p:cNvSpPr>
            <a:spLocks noGrp="1"/>
          </p:cNvSpPr>
          <p:nvPr>
            <p:ph idx="1"/>
          </p:nvPr>
        </p:nvSpPr>
        <p:spPr/>
        <p:txBody>
          <a:bodyPr>
            <a:normAutofit/>
          </a:bodyPr>
          <a:lstStyle/>
          <a:p>
            <a:pPr>
              <a:defRPr sz="3000">
                <a:latin typeface="Helvetica Neue"/>
              </a:defRPr>
            </a:pPr>
            <a:r>
              <a:rPr sz="3600" dirty="0"/>
              <a:t>Security is managed, not installed.</a:t>
            </a:r>
          </a:p>
          <a:p>
            <a:pPr>
              <a:defRPr sz="3000">
                <a:latin typeface="Helvetica Neue"/>
              </a:defRPr>
            </a:pPr>
            <a:r>
              <a:rPr sz="3600" dirty="0"/>
              <a:t>Governance keeps controls effective.</a:t>
            </a:r>
          </a:p>
          <a:p>
            <a:pPr>
              <a:defRPr sz="3000">
                <a:latin typeface="Helvetica Neue"/>
              </a:defRPr>
            </a:pPr>
            <a:r>
              <a:rPr sz="3600" dirty="0"/>
              <a:t>Next: Board Risk Briefing / Incident Response</a:t>
            </a:r>
          </a:p>
        </p:txBody>
      </p:sp>
      <p:sp>
        <p:nvSpPr>
          <p:cNvPr id="4" name="TextBox 3">
            <a:extLst>
              <a:ext uri="{FF2B5EF4-FFF2-40B4-BE49-F238E27FC236}">
                <a16:creationId xmlns:a16="http://schemas.microsoft.com/office/drawing/2014/main" id="{8792D705-554C-5BB5-25AD-3508FE37A91F}"/>
              </a:ext>
            </a:extLst>
          </p:cNvPr>
          <p:cNvSpPr txBox="1"/>
          <p:nvPr/>
        </p:nvSpPr>
        <p:spPr>
          <a:xfrm>
            <a:off x="2713950" y="6816596"/>
            <a:ext cx="11514377" cy="2554545"/>
          </a:xfrm>
          <a:prstGeom prst="rect">
            <a:avLst/>
          </a:prstGeom>
          <a:noFill/>
        </p:spPr>
        <p:txBody>
          <a:bodyPr wrap="square" rtlCol="0">
            <a:spAutoFit/>
          </a:bodyPr>
          <a:lstStyle/>
          <a:p>
            <a:pPr algn="ctr"/>
            <a:r>
              <a:rPr lang="en-US" sz="4000" b="1" dirty="0">
                <a:solidFill>
                  <a:schemeClr val="accent1">
                    <a:lumMod val="60000"/>
                    <a:lumOff val="40000"/>
                  </a:schemeClr>
                </a:solidFill>
              </a:rPr>
              <a:t>Administration operates the controls; governance ensures they remain appropriate and effective. </a:t>
            </a:r>
          </a:p>
          <a:p>
            <a:pPr algn="ctr"/>
            <a:r>
              <a:rPr lang="en-US" sz="4000" b="1" dirty="0">
                <a:solidFill>
                  <a:schemeClr val="accent1">
                    <a:lumMod val="60000"/>
                    <a:lumOff val="40000"/>
                  </a:schemeClr>
                </a:solidFill>
              </a:rPr>
              <a:t>Examiners look for evidence that both are actually happening.</a:t>
            </a:r>
            <a:endParaRPr lang="en-US" sz="4000" dirty="0">
              <a:solidFill>
                <a:schemeClr val="accent1">
                  <a:lumMod val="60000"/>
                  <a:lumOff val="40000"/>
                </a:schemeClr>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05F1-4798-415F-DBE4-C1A0830FF07E}"/>
              </a:ext>
            </a:extLst>
          </p:cNvPr>
          <p:cNvSpPr>
            <a:spLocks noGrp="1"/>
          </p:cNvSpPr>
          <p:nvPr>
            <p:ph type="ctrTitle"/>
          </p:nvPr>
        </p:nvSpPr>
        <p:spPr>
          <a:xfrm>
            <a:off x="2286000" y="1683545"/>
            <a:ext cx="13716000" cy="3581400"/>
          </a:xfrm>
        </p:spPr>
        <p:txBody>
          <a:bodyPr/>
          <a:lstStyle/>
          <a:p>
            <a:r>
              <a:rPr lang="en-US"/>
              <a:t>Incident Response</a:t>
            </a:r>
          </a:p>
        </p:txBody>
      </p:sp>
      <p:sp>
        <p:nvSpPr>
          <p:cNvPr id="4" name="Subtitle 3">
            <a:extLst>
              <a:ext uri="{FF2B5EF4-FFF2-40B4-BE49-F238E27FC236}">
                <a16:creationId xmlns:a16="http://schemas.microsoft.com/office/drawing/2014/main" id="{C53D4556-A5D7-7B8B-F233-9248B3716E2F}"/>
              </a:ext>
            </a:extLst>
          </p:cNvPr>
          <p:cNvSpPr>
            <a:spLocks noGrp="1"/>
          </p:cNvSpPr>
          <p:nvPr>
            <p:ph type="subTitle" idx="1"/>
          </p:nvPr>
        </p:nvSpPr>
        <p:spPr>
          <a:xfrm>
            <a:off x="2286000" y="5403057"/>
            <a:ext cx="13716000" cy="2483643"/>
          </a:xfrm>
        </p:spPr>
        <p:txBody>
          <a:bodyPr/>
          <a:lstStyle/>
          <a:p>
            <a:r>
              <a:rPr lang="en-US" dirty="0"/>
              <a:t>Chapter 9</a:t>
            </a:r>
          </a:p>
        </p:txBody>
      </p:sp>
    </p:spTree>
    <p:extLst>
      <p:ext uri="{BB962C8B-B14F-4D97-AF65-F5344CB8AC3E}">
        <p14:creationId xmlns:p14="http://schemas.microsoft.com/office/powerpoint/2010/main" val="366372621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dirty="0"/>
              <a:t>Examiner Question</a:t>
            </a:r>
          </a:p>
        </p:txBody>
      </p:sp>
      <p:sp>
        <p:nvSpPr>
          <p:cNvPr id="3" name="Subtitle 2"/>
          <p:cNvSpPr>
            <a:spLocks noGrp="1"/>
          </p:cNvSpPr>
          <p:nvPr>
            <p:ph idx="1"/>
          </p:nvPr>
        </p:nvSpPr>
        <p:spPr>
          <a:xfrm>
            <a:off x="1257300" y="2193131"/>
            <a:ext cx="15773400" cy="6967198"/>
          </a:xfrm>
        </p:spPr>
        <p:txBody>
          <a:bodyPr/>
          <a:lstStyle/>
          <a:p>
            <a:r>
              <a:rPr lang="en-US" dirty="0"/>
              <a:t>How does the bank recognize and respond to a significant security event?</a:t>
            </a:r>
          </a:p>
          <a:p>
            <a:r>
              <a:rPr lang="en-US" dirty="0"/>
              <a:t>Furthermore, it may be worth asking:</a:t>
            </a:r>
          </a:p>
          <a:p>
            <a:pPr lvl="1"/>
            <a:r>
              <a:rPr lang="en-US" dirty="0"/>
              <a:t>What makes an event significant?</a:t>
            </a:r>
          </a:p>
          <a:p>
            <a:pPr lvl="1"/>
            <a:r>
              <a:rPr lang="en-US" dirty="0"/>
              <a:t>Who decides when an event becomes an incident?</a:t>
            </a:r>
          </a:p>
          <a:p>
            <a:pPr lvl="1"/>
            <a:r>
              <a:rPr lang="en-US" dirty="0"/>
              <a:t>Who needs to know, and how quickly?</a:t>
            </a:r>
          </a:p>
          <a:p>
            <a:pPr lvl="1"/>
            <a:r>
              <a:rPr lang="en-US" dirty="0"/>
              <a:t>How does the bank know its response will work?</a:t>
            </a:r>
          </a:p>
          <a:p>
            <a:r>
              <a:rPr lang="en-US" dirty="0"/>
              <a:t>Incident response is literally waiting for an accident to happen</a:t>
            </a:r>
          </a:p>
          <a:p>
            <a:r>
              <a:rPr lang="en-US" dirty="0"/>
              <a:t>If only every incident were an accident!</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Assume Something Will Get Through</a:t>
            </a:r>
          </a:p>
        </p:txBody>
      </p:sp>
      <p:sp>
        <p:nvSpPr>
          <p:cNvPr id="3" name="Subtitle 2"/>
          <p:cNvSpPr>
            <a:spLocks noGrp="1"/>
          </p:cNvSpPr>
          <p:nvPr>
            <p:ph idx="1"/>
          </p:nvPr>
        </p:nvSpPr>
        <p:spPr>
          <a:xfrm>
            <a:off x="1257300" y="2192338"/>
            <a:ext cx="8629650" cy="6967537"/>
          </a:xfrm>
        </p:spPr>
        <p:txBody>
          <a:bodyPr>
            <a:normAutofit fontScale="92500"/>
          </a:bodyPr>
          <a:lstStyle/>
          <a:p>
            <a:r>
              <a:rPr lang="en-US" dirty="0"/>
              <a:t>Preventive controls reduce risk; they do not eliminate it.</a:t>
            </a:r>
          </a:p>
          <a:p>
            <a:r>
              <a:rPr lang="en-US" dirty="0"/>
              <a:t>Modern attacks are stealthy!</a:t>
            </a:r>
          </a:p>
          <a:p>
            <a:r>
              <a:rPr lang="en-US" dirty="0"/>
              <a:t>Detection, containment, recovery, and learning limit the damage.</a:t>
            </a:r>
          </a:p>
          <a:p>
            <a:r>
              <a:rPr lang="en-US" dirty="0"/>
              <a:t>A prepared bank makes fewer decisions for the first time during a crisis.</a:t>
            </a:r>
          </a:p>
          <a:p>
            <a:pPr lvl="1"/>
            <a:r>
              <a:rPr lang="en-US" dirty="0"/>
              <a:t>Preparation is everything, even when there are unknowns</a:t>
            </a:r>
          </a:p>
          <a:p>
            <a:pPr lvl="1"/>
            <a:r>
              <a:rPr lang="en-US" dirty="0"/>
              <a:t>Pilots use checklists to handle emergencies and novel situations</a:t>
            </a:r>
          </a:p>
          <a:p>
            <a:pPr lvl="1"/>
            <a:endParaRPr lang="en-US" dirty="0"/>
          </a:p>
        </p:txBody>
      </p:sp>
      <p:pic>
        <p:nvPicPr>
          <p:cNvPr id="9" name="Picture 8" descr="A jet flying in the sky&#10;&#10;AI-generated content may be incorrect.">
            <a:extLst>
              <a:ext uri="{FF2B5EF4-FFF2-40B4-BE49-F238E27FC236}">
                <a16:creationId xmlns:a16="http://schemas.microsoft.com/office/drawing/2014/main" id="{BDA529EC-0A38-EF46-E6C5-4E3DA6EE0D40}"/>
              </a:ext>
            </a:extLst>
          </p:cNvPr>
          <p:cNvPicPr>
            <a:picLocks noChangeAspect="1"/>
          </p:cNvPicPr>
          <p:nvPr/>
        </p:nvPicPr>
        <p:blipFill>
          <a:blip r:embed="rId2"/>
          <a:stretch>
            <a:fillRect/>
          </a:stretch>
        </p:blipFill>
        <p:spPr>
          <a:xfrm>
            <a:off x="11468100" y="1930400"/>
            <a:ext cx="4629894" cy="6967537"/>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What Counts as an Incident?</a:t>
            </a:r>
          </a:p>
        </p:txBody>
      </p:sp>
      <p:sp>
        <p:nvSpPr>
          <p:cNvPr id="3" name="Subtitle 2"/>
          <p:cNvSpPr>
            <a:spLocks noGrp="1"/>
          </p:cNvSpPr>
          <p:nvPr>
            <p:ph idx="1"/>
          </p:nvPr>
        </p:nvSpPr>
        <p:spPr>
          <a:xfrm>
            <a:off x="1257300" y="2193131"/>
            <a:ext cx="15773400" cy="6967198"/>
          </a:xfrm>
        </p:spPr>
        <p:txBody>
          <a:bodyPr/>
          <a:lstStyle/>
          <a:p>
            <a:r>
              <a:rPr lang="en-US" dirty="0"/>
              <a:t>Security compromise </a:t>
            </a:r>
          </a:p>
          <a:p>
            <a:pPr lvl="1"/>
            <a:r>
              <a:rPr lang="en-US" dirty="0"/>
              <a:t>Malware, ransomware, unauthorized access</a:t>
            </a:r>
          </a:p>
          <a:p>
            <a:r>
              <a:rPr lang="en-US" dirty="0"/>
              <a:t>Data compromise</a:t>
            </a:r>
          </a:p>
          <a:p>
            <a:pPr lvl="1"/>
            <a:r>
              <a:rPr lang="en-US" dirty="0"/>
              <a:t>Loss, theft, disclosure</a:t>
            </a:r>
          </a:p>
          <a:p>
            <a:r>
              <a:rPr lang="en-US" dirty="0"/>
              <a:t>Operational disruption</a:t>
            </a:r>
          </a:p>
          <a:p>
            <a:pPr lvl="1"/>
            <a:r>
              <a:rPr lang="en-US" dirty="0"/>
              <a:t>Systems, network, DDoS, critical services</a:t>
            </a:r>
          </a:p>
          <a:p>
            <a:r>
              <a:rPr lang="en-US" dirty="0"/>
              <a:t>Third-party incident</a:t>
            </a:r>
          </a:p>
          <a:p>
            <a:pPr lvl="1"/>
            <a:r>
              <a:rPr lang="en-US" dirty="0"/>
              <a:t>Provider incident affecting the bank</a:t>
            </a:r>
          </a:p>
          <a:p>
            <a:endParaRPr lang="en-US" dirty="0"/>
          </a:p>
          <a:p>
            <a:r>
              <a:rPr lang="en-US" dirty="0"/>
              <a:t>An incident doesn't have to involve stolen data.</a:t>
            </a:r>
          </a:p>
        </p:txBody>
      </p:sp>
      <p:pic>
        <p:nvPicPr>
          <p:cNvPr id="8" name="Picture 7">
            <a:extLst>
              <a:ext uri="{FF2B5EF4-FFF2-40B4-BE49-F238E27FC236}">
                <a16:creationId xmlns:a16="http://schemas.microsoft.com/office/drawing/2014/main" id="{DFB71F32-1BAC-BF79-0C9E-2208B85BBA4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792200" y="3448051"/>
            <a:ext cx="3036093" cy="373673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5BA09-3974-4634-AD02-950E3B07188C}"/>
              </a:ext>
            </a:extLst>
          </p:cNvPr>
          <p:cNvSpPr>
            <a:spLocks noGrp="1"/>
          </p:cNvSpPr>
          <p:nvPr>
            <p:ph type="title"/>
          </p:nvPr>
        </p:nvSpPr>
        <p:spPr/>
        <p:txBody>
          <a:bodyPr/>
          <a:lstStyle/>
          <a:p>
            <a:r>
              <a:rPr lang="en-US" dirty="0"/>
              <a:t>Incident Response Planning	</a:t>
            </a:r>
          </a:p>
        </p:txBody>
      </p:sp>
      <p:sp>
        <p:nvSpPr>
          <p:cNvPr id="3" name="Content Placeholder 2">
            <a:extLst>
              <a:ext uri="{FF2B5EF4-FFF2-40B4-BE49-F238E27FC236}">
                <a16:creationId xmlns:a16="http://schemas.microsoft.com/office/drawing/2014/main" id="{4A0D9667-F10F-4300-A585-0751D5EA8D19}"/>
              </a:ext>
            </a:extLst>
          </p:cNvPr>
          <p:cNvSpPr>
            <a:spLocks noGrp="1"/>
          </p:cNvSpPr>
          <p:nvPr>
            <p:ph idx="1"/>
          </p:nvPr>
        </p:nvSpPr>
        <p:spPr>
          <a:xfrm>
            <a:off x="1257300" y="2193131"/>
            <a:ext cx="8858250" cy="6967198"/>
          </a:xfrm>
        </p:spPr>
        <p:txBody>
          <a:bodyPr/>
          <a:lstStyle/>
          <a:p>
            <a:r>
              <a:rPr lang="en-US" dirty="0"/>
              <a:t>Banks should have a plan that:</a:t>
            </a:r>
          </a:p>
          <a:p>
            <a:pPr lvl="1"/>
            <a:r>
              <a:rPr lang="en-US" dirty="0"/>
              <a:t>Defines what constitutes an incident and how severity is determined</a:t>
            </a:r>
          </a:p>
          <a:p>
            <a:pPr lvl="1"/>
            <a:r>
              <a:rPr lang="en-US" dirty="0"/>
              <a:t>Establishes roles, responsibilities, and decision authority</a:t>
            </a:r>
          </a:p>
          <a:p>
            <a:pPr lvl="1"/>
            <a:r>
              <a:rPr lang="en-US" dirty="0"/>
              <a:t>Defines escalation, communication, and regulatory notification</a:t>
            </a:r>
          </a:p>
          <a:p>
            <a:pPr lvl="1"/>
            <a:r>
              <a:rPr lang="en-US" dirty="0"/>
              <a:t>Documents response and recovery procedures</a:t>
            </a:r>
          </a:p>
          <a:p>
            <a:pPr lvl="1"/>
            <a:r>
              <a:rPr lang="en-US" dirty="0"/>
              <a:t>Include contact information for critical third parties</a:t>
            </a:r>
          </a:p>
        </p:txBody>
      </p:sp>
      <p:pic>
        <p:nvPicPr>
          <p:cNvPr id="4" name="Picture 3">
            <a:extLst>
              <a:ext uri="{FF2B5EF4-FFF2-40B4-BE49-F238E27FC236}">
                <a16:creationId xmlns:a16="http://schemas.microsoft.com/office/drawing/2014/main" id="{1FB2C7A0-A459-EE5A-225C-BB9335154602}"/>
              </a:ext>
            </a:extLst>
          </p:cNvPr>
          <p:cNvPicPr>
            <a:picLocks noChangeAspect="1"/>
          </p:cNvPicPr>
          <p:nvPr/>
        </p:nvPicPr>
        <p:blipFill>
          <a:blip r:embed="rId2"/>
          <a:stretch>
            <a:fillRect/>
          </a:stretch>
        </p:blipFill>
        <p:spPr>
          <a:xfrm>
            <a:off x="11958005" y="3415266"/>
            <a:ext cx="4857750" cy="4857750"/>
          </a:xfrm>
          <a:prstGeom prst="rect">
            <a:avLst/>
          </a:prstGeom>
        </p:spPr>
      </p:pic>
    </p:spTree>
    <p:extLst>
      <p:ext uri="{BB962C8B-B14F-4D97-AF65-F5344CB8AC3E}">
        <p14:creationId xmlns:p14="http://schemas.microsoft.com/office/powerpoint/2010/main" val="243150194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The Response Lifecycle</a:t>
            </a:r>
          </a:p>
        </p:txBody>
      </p:sp>
      <p:sp>
        <p:nvSpPr>
          <p:cNvPr id="3" name="Subtitle 2"/>
          <p:cNvSpPr>
            <a:spLocks noGrp="1"/>
          </p:cNvSpPr>
          <p:nvPr>
            <p:ph idx="1"/>
          </p:nvPr>
        </p:nvSpPr>
        <p:spPr>
          <a:xfrm>
            <a:off x="1257300" y="2193131"/>
            <a:ext cx="15773400" cy="6967198"/>
          </a:xfrm>
        </p:spPr>
        <p:txBody>
          <a:bodyPr/>
          <a:lstStyle/>
          <a:p>
            <a:r>
              <a:rPr lang="en-US"/>
              <a:t>Prepare</a:t>
            </a:r>
          </a:p>
          <a:p>
            <a:r>
              <a:rPr lang="en-US"/>
              <a:t>Detect &amp; analyze</a:t>
            </a:r>
          </a:p>
          <a:p>
            <a:r>
              <a:rPr lang="en-US"/>
              <a:t>Contain</a:t>
            </a:r>
          </a:p>
          <a:p>
            <a:r>
              <a:rPr lang="en-US"/>
              <a:t>Eradicate</a:t>
            </a:r>
          </a:p>
          <a:p>
            <a:r>
              <a:rPr lang="en-US"/>
              <a:t>Recover</a:t>
            </a:r>
          </a:p>
          <a:p>
            <a:r>
              <a:rPr lang="en-US"/>
              <a:t>Learn &amp; improve</a:t>
            </a:r>
          </a:p>
        </p:txBody>
      </p:sp>
      <p:pic>
        <p:nvPicPr>
          <p:cNvPr id="9" name="Picture 8">
            <a:extLst>
              <a:ext uri="{FF2B5EF4-FFF2-40B4-BE49-F238E27FC236}">
                <a16:creationId xmlns:a16="http://schemas.microsoft.com/office/drawing/2014/main" id="{851EA354-6E48-020A-50F3-D0F69E990AB5}"/>
              </a:ext>
            </a:extLst>
          </p:cNvPr>
          <p:cNvPicPr>
            <a:picLocks noChangeAspect="1"/>
          </p:cNvPicPr>
          <p:nvPr/>
        </p:nvPicPr>
        <p:blipFill>
          <a:blip r:embed="rId2"/>
          <a:stretch>
            <a:fillRect/>
          </a:stretch>
        </p:blipFill>
        <p:spPr>
          <a:xfrm>
            <a:off x="7391400" y="3097274"/>
            <a:ext cx="9823365" cy="5157663"/>
          </a:xfrm>
          <a:prstGeom prst="rect">
            <a:avLst/>
          </a:prstGeom>
        </p:spPr>
      </p:pic>
      <p:sp>
        <p:nvSpPr>
          <p:cNvPr id="10" name="TextBox 9">
            <a:extLst>
              <a:ext uri="{FF2B5EF4-FFF2-40B4-BE49-F238E27FC236}">
                <a16:creationId xmlns:a16="http://schemas.microsoft.com/office/drawing/2014/main" id="{D4A9F4CC-3B1B-4AC4-4A3F-015152D0695E}"/>
              </a:ext>
            </a:extLst>
          </p:cNvPr>
          <p:cNvSpPr txBox="1"/>
          <p:nvPr/>
        </p:nvSpPr>
        <p:spPr>
          <a:xfrm>
            <a:off x="9010650" y="8953500"/>
            <a:ext cx="6534150" cy="769441"/>
          </a:xfrm>
          <a:prstGeom prst="rect">
            <a:avLst/>
          </a:prstGeom>
          <a:noFill/>
        </p:spPr>
        <p:txBody>
          <a:bodyPr wrap="square" rtlCol="0">
            <a:spAutoFit/>
          </a:bodyPr>
          <a:lstStyle/>
          <a:p>
            <a:pPr algn="ctr"/>
            <a:r>
              <a:rPr lang="en-US" sz="4400" dirty="0"/>
              <a:t>NIST Incident Response</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Roles During an Incident</a:t>
            </a:r>
          </a:p>
        </p:txBody>
      </p:sp>
      <p:sp>
        <p:nvSpPr>
          <p:cNvPr id="3" name="Subtitle 2"/>
          <p:cNvSpPr>
            <a:spLocks noGrp="1"/>
          </p:cNvSpPr>
          <p:nvPr>
            <p:ph idx="1"/>
          </p:nvPr>
        </p:nvSpPr>
        <p:spPr>
          <a:xfrm>
            <a:off x="1257300" y="2192338"/>
            <a:ext cx="16002000" cy="6967537"/>
          </a:xfrm>
        </p:spPr>
        <p:txBody>
          <a:bodyPr/>
          <a:lstStyle/>
          <a:p>
            <a:r>
              <a:rPr lang="en-US" dirty="0"/>
              <a:t>Tom / IT — technical coordination and evidence</a:t>
            </a:r>
          </a:p>
          <a:p>
            <a:r>
              <a:rPr lang="en-US" dirty="0"/>
              <a:t>Northwoods / providers — investigation, containment, recovery</a:t>
            </a:r>
          </a:p>
          <a:p>
            <a:r>
              <a:rPr lang="en-US" dirty="0"/>
              <a:t>Cindy / management — business decisions and escalation</a:t>
            </a:r>
          </a:p>
          <a:p>
            <a:r>
              <a:rPr lang="en-US" dirty="0"/>
              <a:t>Legal, compliance, communications — notification and messaging</a:t>
            </a:r>
          </a:p>
          <a:p>
            <a:r>
              <a:rPr lang="en-US" dirty="0"/>
              <a:t>Board — oversight and significant-event awareness</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dirty="0"/>
              <a:t>The Firewall During an Incident</a:t>
            </a:r>
          </a:p>
        </p:txBody>
      </p:sp>
      <p:graphicFrame>
        <p:nvGraphicFramePr>
          <p:cNvPr id="8" name="Content Placeholder 7">
            <a:extLst>
              <a:ext uri="{FF2B5EF4-FFF2-40B4-BE49-F238E27FC236}">
                <a16:creationId xmlns:a16="http://schemas.microsoft.com/office/drawing/2014/main" id="{64C37CDC-3916-E69A-C1E2-2295E461D8D1}"/>
              </a:ext>
            </a:extLst>
          </p:cNvPr>
          <p:cNvGraphicFramePr>
            <a:graphicFrameLocks noGrp="1"/>
          </p:cNvGraphicFramePr>
          <p:nvPr>
            <p:ph idx="1"/>
          </p:nvPr>
        </p:nvGraphicFramePr>
        <p:xfrm>
          <a:off x="2828924" y="6667501"/>
          <a:ext cx="12630151" cy="2011680"/>
        </p:xfrm>
        <a:graphic>
          <a:graphicData uri="http://schemas.openxmlformats.org/drawingml/2006/table">
            <a:tbl>
              <a:tblPr firstRow="1" bandRow="1">
                <a:tableStyleId>{5C22544A-7EE6-4342-B048-85BDC9FD1C3A}</a:tableStyleId>
              </a:tblPr>
              <a:tblGrid>
                <a:gridCol w="3486150">
                  <a:extLst>
                    <a:ext uri="{9D8B030D-6E8A-4147-A177-3AD203B41FA5}">
                      <a16:colId xmlns:a16="http://schemas.microsoft.com/office/drawing/2014/main" val="21148457"/>
                    </a:ext>
                  </a:extLst>
                </a:gridCol>
                <a:gridCol w="3371850">
                  <a:extLst>
                    <a:ext uri="{9D8B030D-6E8A-4147-A177-3AD203B41FA5}">
                      <a16:colId xmlns:a16="http://schemas.microsoft.com/office/drawing/2014/main" val="2132867283"/>
                    </a:ext>
                  </a:extLst>
                </a:gridCol>
                <a:gridCol w="5772151">
                  <a:extLst>
                    <a:ext uri="{9D8B030D-6E8A-4147-A177-3AD203B41FA5}">
                      <a16:colId xmlns:a16="http://schemas.microsoft.com/office/drawing/2014/main" val="142077375"/>
                    </a:ext>
                  </a:extLst>
                </a:gridCol>
              </a:tblGrid>
              <a:tr h="370840">
                <a:tc>
                  <a:txBody>
                    <a:bodyPr/>
                    <a:lstStyle/>
                    <a:p>
                      <a:r>
                        <a:rPr lang="en-US" dirty="0"/>
                        <a:t>Detect</a:t>
                      </a:r>
                    </a:p>
                  </a:txBody>
                  <a:tcPr/>
                </a:tc>
                <a:tc>
                  <a:txBody>
                    <a:bodyPr/>
                    <a:lstStyle/>
                    <a:p>
                      <a:r>
                        <a:rPr lang="en-US" dirty="0"/>
                        <a:t>Contain</a:t>
                      </a:r>
                    </a:p>
                  </a:txBody>
                  <a:tcPr/>
                </a:tc>
                <a:tc>
                  <a:txBody>
                    <a:bodyPr/>
                    <a:lstStyle/>
                    <a:p>
                      <a:r>
                        <a:rPr lang="en-US" dirty="0"/>
                        <a:t>Recover</a:t>
                      </a:r>
                    </a:p>
                  </a:txBody>
                  <a:tcPr/>
                </a:tc>
                <a:extLst>
                  <a:ext uri="{0D108BD9-81ED-4DB2-BD59-A6C34878D82A}">
                    <a16:rowId xmlns:a16="http://schemas.microsoft.com/office/drawing/2014/main" val="1047442285"/>
                  </a:ext>
                </a:extLst>
              </a:tr>
              <a:tr h="370840">
                <a:tc>
                  <a:txBody>
                    <a:bodyPr/>
                    <a:lstStyle/>
                    <a:p>
                      <a:r>
                        <a:rPr lang="en-US" dirty="0"/>
                        <a:t>Logs &amp; Evidence</a:t>
                      </a:r>
                    </a:p>
                  </a:txBody>
                  <a:tcPr/>
                </a:tc>
                <a:tc>
                  <a:txBody>
                    <a:bodyPr/>
                    <a:lstStyle/>
                    <a:p>
                      <a:r>
                        <a:rPr lang="en-US" dirty="0"/>
                        <a:t>Block Traffic</a:t>
                      </a:r>
                    </a:p>
                  </a:txBody>
                  <a:tcPr/>
                </a:tc>
                <a:tc>
                  <a:txBody>
                    <a:bodyPr/>
                    <a:lstStyle/>
                    <a:p>
                      <a:r>
                        <a:rPr lang="en-US" dirty="0"/>
                        <a:t>Restore Controlled Access</a:t>
                      </a:r>
                    </a:p>
                  </a:txBody>
                  <a:tcPr/>
                </a:tc>
                <a:extLst>
                  <a:ext uri="{0D108BD9-81ED-4DB2-BD59-A6C34878D82A}">
                    <a16:rowId xmlns:a16="http://schemas.microsoft.com/office/drawing/2014/main" val="3672296978"/>
                  </a:ext>
                </a:extLst>
              </a:tr>
              <a:tr h="370840">
                <a:tc>
                  <a:txBody>
                    <a:bodyPr/>
                    <a:lstStyle/>
                    <a:p>
                      <a:r>
                        <a:rPr lang="en-US" dirty="0"/>
                        <a:t>EDR/XDR telemetry</a:t>
                      </a:r>
                    </a:p>
                  </a:txBody>
                  <a:tcPr/>
                </a:tc>
                <a:tc>
                  <a:txBody>
                    <a:bodyPr/>
                    <a:lstStyle/>
                    <a:p>
                      <a:r>
                        <a:rPr lang="en-US" dirty="0"/>
                        <a:t>Isolate Segments</a:t>
                      </a:r>
                    </a:p>
                  </a:txBody>
                  <a:tcPr/>
                </a:tc>
                <a:tc>
                  <a:txBody>
                    <a:bodyPr/>
                    <a:lstStyle/>
                    <a:p>
                      <a:r>
                        <a:rPr lang="en-US" dirty="0"/>
                        <a:t>Alternate Connectivity</a:t>
                      </a:r>
                    </a:p>
                  </a:txBody>
                  <a:tcPr/>
                </a:tc>
                <a:extLst>
                  <a:ext uri="{0D108BD9-81ED-4DB2-BD59-A6C34878D82A}">
                    <a16:rowId xmlns:a16="http://schemas.microsoft.com/office/drawing/2014/main" val="3799718270"/>
                  </a:ext>
                </a:extLst>
              </a:tr>
              <a:tr h="370840">
                <a:tc>
                  <a:txBody>
                    <a:bodyPr/>
                    <a:lstStyle/>
                    <a:p>
                      <a:r>
                        <a:rPr lang="en-US" dirty="0"/>
                        <a:t>Identify Connections</a:t>
                      </a:r>
                    </a:p>
                  </a:txBody>
                  <a:tcPr/>
                </a:tc>
                <a:tc>
                  <a:txBody>
                    <a:bodyPr/>
                    <a:lstStyle/>
                    <a:p>
                      <a:r>
                        <a:rPr lang="en-US" dirty="0"/>
                        <a:t>Emergency Rules</a:t>
                      </a:r>
                    </a:p>
                  </a:txBody>
                  <a:tcPr/>
                </a:tc>
                <a:tc>
                  <a:txBody>
                    <a:bodyPr/>
                    <a:lstStyle/>
                    <a:p>
                      <a:r>
                        <a:rPr lang="en-US" dirty="0"/>
                        <a:t>Monitor Restored Traffic</a:t>
                      </a:r>
                    </a:p>
                  </a:txBody>
                  <a:tcPr/>
                </a:tc>
                <a:extLst>
                  <a:ext uri="{0D108BD9-81ED-4DB2-BD59-A6C34878D82A}">
                    <a16:rowId xmlns:a16="http://schemas.microsoft.com/office/drawing/2014/main" val="3299379476"/>
                  </a:ext>
                </a:extLst>
              </a:tr>
            </a:tbl>
          </a:graphicData>
        </a:graphic>
      </p:graphicFrame>
      <p:sp>
        <p:nvSpPr>
          <p:cNvPr id="9" name="Subtitle 2">
            <a:extLst>
              <a:ext uri="{FF2B5EF4-FFF2-40B4-BE49-F238E27FC236}">
                <a16:creationId xmlns:a16="http://schemas.microsoft.com/office/drawing/2014/main" id="{3A620C81-CE88-6820-8D65-C9F4283D293F}"/>
              </a:ext>
            </a:extLst>
          </p:cNvPr>
          <p:cNvSpPr txBox="1">
            <a:spLocks/>
          </p:cNvSpPr>
          <p:nvPr/>
        </p:nvSpPr>
        <p:spPr>
          <a:xfrm>
            <a:off x="1257300" y="2192339"/>
            <a:ext cx="14763750" cy="4475162"/>
          </a:xfrm>
          <a:prstGeom prst="rect">
            <a:avLst/>
          </a:prstGeom>
        </p:spPr>
        <p:txBody>
          <a:bodyPr vert="horz" lIns="91440" tIns="45720" rIns="91440" bIns="45720" rtlCol="0">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dirty="0"/>
              <a:t>Modern firewalls have many capabilities, all of which can play different roles during an incident</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Containment: Stop the Spread</a:t>
            </a:r>
          </a:p>
        </p:txBody>
      </p:sp>
      <p:sp>
        <p:nvSpPr>
          <p:cNvPr id="3" name="Subtitle 2"/>
          <p:cNvSpPr>
            <a:spLocks noGrp="1"/>
          </p:cNvSpPr>
          <p:nvPr>
            <p:ph idx="1"/>
          </p:nvPr>
        </p:nvSpPr>
        <p:spPr>
          <a:xfrm>
            <a:off x="1257300" y="2192338"/>
            <a:ext cx="8420100" cy="6967537"/>
          </a:xfrm>
        </p:spPr>
        <p:txBody>
          <a:bodyPr/>
          <a:lstStyle/>
          <a:p>
            <a:r>
              <a:rPr lang="en-US" dirty="0"/>
              <a:t>Isolate affected systems or network segments.</a:t>
            </a:r>
          </a:p>
          <a:p>
            <a:r>
              <a:rPr lang="en-US" dirty="0"/>
              <a:t>Disable compromised accounts and remote access.</a:t>
            </a:r>
          </a:p>
          <a:p>
            <a:r>
              <a:rPr lang="en-US" dirty="0"/>
              <a:t>Block malicious destinations, addresses, or services.</a:t>
            </a:r>
          </a:p>
          <a:p>
            <a:r>
              <a:rPr lang="en-US" dirty="0"/>
              <a:t>Preserve enough evidence to understand what happened.</a:t>
            </a:r>
          </a:p>
        </p:txBody>
      </p:sp>
      <p:pic>
        <p:nvPicPr>
          <p:cNvPr id="6" name="Picture 5">
            <a:extLst>
              <a:ext uri="{FF2B5EF4-FFF2-40B4-BE49-F238E27FC236}">
                <a16:creationId xmlns:a16="http://schemas.microsoft.com/office/drawing/2014/main" id="{F27D8718-17AD-CD56-84CB-31CAE3884FF0}"/>
              </a:ext>
            </a:extLst>
          </p:cNvPr>
          <p:cNvPicPr>
            <a:picLocks noChangeAspect="1"/>
          </p:cNvPicPr>
          <p:nvPr/>
        </p:nvPicPr>
        <p:blipFill>
          <a:blip r:embed="rId2"/>
          <a:stretch>
            <a:fillRect/>
          </a:stretch>
        </p:blipFill>
        <p:spPr>
          <a:xfrm>
            <a:off x="13906500" y="2514600"/>
            <a:ext cx="1943100" cy="777240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Communication &amp; Escalation</a:t>
            </a:r>
          </a:p>
        </p:txBody>
      </p:sp>
      <p:sp>
        <p:nvSpPr>
          <p:cNvPr id="3" name="Subtitle 2"/>
          <p:cNvSpPr>
            <a:spLocks noGrp="1"/>
          </p:cNvSpPr>
          <p:nvPr>
            <p:ph idx="1"/>
          </p:nvPr>
        </p:nvSpPr>
        <p:spPr>
          <a:xfrm>
            <a:off x="1257300" y="2192338"/>
            <a:ext cx="9525000" cy="6967537"/>
          </a:xfrm>
        </p:spPr>
        <p:txBody>
          <a:bodyPr/>
          <a:lstStyle/>
          <a:p>
            <a:r>
              <a:rPr lang="en-US" dirty="0"/>
              <a:t>Who declares an incident?</a:t>
            </a:r>
          </a:p>
          <a:p>
            <a:r>
              <a:rPr lang="en-US" dirty="0"/>
              <a:t>Who must be contacted, and when?</a:t>
            </a:r>
          </a:p>
          <a:p>
            <a:r>
              <a:rPr lang="en-US" dirty="0"/>
              <a:t>How are executives and the board kept informed?</a:t>
            </a:r>
          </a:p>
          <a:p>
            <a:r>
              <a:rPr lang="en-US" dirty="0"/>
              <a:t>How are vendors, customers, regulators, law enforcement, or insurers involved?</a:t>
            </a:r>
          </a:p>
          <a:p>
            <a:r>
              <a:rPr lang="en-US" dirty="0"/>
              <a:t>Regulatory Notice Plan</a:t>
            </a:r>
          </a:p>
          <a:p>
            <a:pPr lvl="1"/>
            <a:r>
              <a:rPr lang="en-US" dirty="0"/>
              <a:t>Material disruption or degradation must be reported in &lt; 36 hours</a:t>
            </a:r>
          </a:p>
          <a:p>
            <a:pPr lvl="1"/>
            <a:endParaRPr lang="en-US" dirty="0"/>
          </a:p>
        </p:txBody>
      </p:sp>
      <p:pic>
        <p:nvPicPr>
          <p:cNvPr id="6" name="Picture 5">
            <a:extLst>
              <a:ext uri="{FF2B5EF4-FFF2-40B4-BE49-F238E27FC236}">
                <a16:creationId xmlns:a16="http://schemas.microsoft.com/office/drawing/2014/main" id="{FD035B8C-FE52-92A4-9E11-3149407037E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591800" y="4319588"/>
            <a:ext cx="6683829" cy="4386263"/>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Third Parties in Incident Response</a:t>
            </a:r>
          </a:p>
        </p:txBody>
      </p:sp>
      <p:sp>
        <p:nvSpPr>
          <p:cNvPr id="3" name="Subtitle 2"/>
          <p:cNvSpPr>
            <a:spLocks noGrp="1"/>
          </p:cNvSpPr>
          <p:nvPr>
            <p:ph idx="1"/>
          </p:nvPr>
        </p:nvSpPr>
        <p:spPr>
          <a:xfrm>
            <a:off x="1257300" y="2193131"/>
            <a:ext cx="15773400" cy="6967198"/>
          </a:xfrm>
        </p:spPr>
        <p:txBody>
          <a:bodyPr/>
          <a:lstStyle/>
          <a:p>
            <a:r>
              <a:rPr lang="en-US" dirty="0"/>
              <a:t>Know which providers are expected to respond, and their roles</a:t>
            </a:r>
          </a:p>
          <a:p>
            <a:r>
              <a:rPr lang="en-US" dirty="0"/>
              <a:t>Document contacts, authority, escalation paths, and service expectations.</a:t>
            </a:r>
          </a:p>
          <a:p>
            <a:r>
              <a:rPr lang="en-US" dirty="0"/>
              <a:t>Coordinate evidence, containment, recovery, and communications.</a:t>
            </a:r>
          </a:p>
          <a:p>
            <a:r>
              <a:rPr lang="en-US" dirty="0"/>
              <a:t>Test the handoffs before an actual incident.</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Recovery Is More Than Turning It Back On</a:t>
            </a:r>
          </a:p>
        </p:txBody>
      </p:sp>
      <p:sp>
        <p:nvSpPr>
          <p:cNvPr id="3" name="Subtitle 2"/>
          <p:cNvSpPr>
            <a:spLocks noGrp="1"/>
          </p:cNvSpPr>
          <p:nvPr>
            <p:ph idx="1"/>
          </p:nvPr>
        </p:nvSpPr>
        <p:spPr>
          <a:xfrm>
            <a:off x="1257300" y="2193131"/>
            <a:ext cx="15773400" cy="6967198"/>
          </a:xfrm>
        </p:spPr>
        <p:txBody>
          <a:bodyPr/>
          <a:lstStyle/>
          <a:p>
            <a:r>
              <a:rPr lang="en-US"/>
              <a:t>Restore systems and connectivity safely.</a:t>
            </a:r>
          </a:p>
          <a:p>
            <a:r>
              <a:rPr lang="en-US"/>
              <a:t>Verify that the cause has been addressed.</a:t>
            </a:r>
          </a:p>
          <a:p>
            <a:r>
              <a:rPr lang="en-US"/>
              <a:t>Monitor closely for recurrence.</a:t>
            </a:r>
          </a:p>
          <a:p>
            <a:r>
              <a:rPr lang="en-US"/>
              <a:t>Return to normal operations deliberately, not merely quickly.</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Testing the Plan</a:t>
            </a:r>
          </a:p>
        </p:txBody>
      </p:sp>
      <p:sp>
        <p:nvSpPr>
          <p:cNvPr id="3" name="Subtitle 2"/>
          <p:cNvSpPr>
            <a:spLocks noGrp="1"/>
          </p:cNvSpPr>
          <p:nvPr>
            <p:ph idx="1"/>
          </p:nvPr>
        </p:nvSpPr>
        <p:spPr>
          <a:xfrm>
            <a:off x="1257300" y="2193131"/>
            <a:ext cx="15773400" cy="6967198"/>
          </a:xfrm>
        </p:spPr>
        <p:txBody>
          <a:bodyPr/>
          <a:lstStyle/>
          <a:p>
            <a:r>
              <a:rPr lang="en-US"/>
              <a:t>Tabletop exercises test decisions and communication.</a:t>
            </a:r>
          </a:p>
          <a:p>
            <a:r>
              <a:rPr lang="en-US"/>
              <a:t>Technical tests validate backups, failover, access, and recovery.</a:t>
            </a:r>
          </a:p>
          <a:p>
            <a:r>
              <a:rPr lang="en-US"/>
              <a:t>Lessons learned should produce documented improvements.</a:t>
            </a:r>
          </a:p>
          <a:p>
            <a:r>
              <a:rPr lang="en-US"/>
              <a:t>An untested plan is evidence of intent, not evidence of capability.</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Evidence for Examiners</a:t>
            </a:r>
          </a:p>
        </p:txBody>
      </p:sp>
      <p:sp>
        <p:nvSpPr>
          <p:cNvPr id="3" name="Subtitle 2"/>
          <p:cNvSpPr>
            <a:spLocks noGrp="1"/>
          </p:cNvSpPr>
          <p:nvPr>
            <p:ph idx="1"/>
          </p:nvPr>
        </p:nvSpPr>
        <p:spPr>
          <a:xfrm>
            <a:off x="1257300" y="2192338"/>
            <a:ext cx="13430250" cy="6967537"/>
          </a:xfrm>
        </p:spPr>
        <p:txBody>
          <a:bodyPr/>
          <a:lstStyle/>
          <a:p>
            <a:r>
              <a:rPr lang="en-US" dirty="0"/>
              <a:t>Incident response policy and plan</a:t>
            </a:r>
          </a:p>
          <a:p>
            <a:r>
              <a:rPr lang="en-US" dirty="0"/>
              <a:t>Roles, contacts, and escalation procedures</a:t>
            </a:r>
          </a:p>
          <a:p>
            <a:r>
              <a:rPr lang="en-US" dirty="0"/>
              <a:t>Exercise and test results</a:t>
            </a:r>
          </a:p>
          <a:p>
            <a:r>
              <a:rPr lang="en-US" dirty="0"/>
              <a:t>Incident tickets, timelines, and after-action reports</a:t>
            </a:r>
          </a:p>
          <a:p>
            <a:r>
              <a:rPr lang="en-US" dirty="0"/>
              <a:t>Evidence that findings led to corrective action</a:t>
            </a:r>
          </a:p>
          <a:p>
            <a:r>
              <a:rPr lang="en-US" dirty="0"/>
              <a:t>Regulatory notification records</a:t>
            </a:r>
          </a:p>
        </p:txBody>
      </p:sp>
      <p:pic>
        <p:nvPicPr>
          <p:cNvPr id="6" name="Picture 5">
            <a:extLst>
              <a:ext uri="{FF2B5EF4-FFF2-40B4-BE49-F238E27FC236}">
                <a16:creationId xmlns:a16="http://schemas.microsoft.com/office/drawing/2014/main" id="{B7CD9765-3EA3-5982-C8BD-2B568BDECFC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752614" y="5416550"/>
            <a:ext cx="4278086" cy="3743325"/>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p>
            <a:r>
              <a:rPr lang="en-US"/>
              <a:t>Key Takeaways</a:t>
            </a:r>
          </a:p>
        </p:txBody>
      </p:sp>
      <p:sp>
        <p:nvSpPr>
          <p:cNvPr id="3" name="Subtitle 2"/>
          <p:cNvSpPr>
            <a:spLocks noGrp="1"/>
          </p:cNvSpPr>
          <p:nvPr>
            <p:ph idx="1"/>
          </p:nvPr>
        </p:nvSpPr>
        <p:spPr>
          <a:xfrm>
            <a:off x="1257300" y="2192338"/>
            <a:ext cx="10344150" cy="6967537"/>
          </a:xfrm>
        </p:spPr>
        <p:txBody>
          <a:bodyPr/>
          <a:lstStyle/>
          <a:p>
            <a:r>
              <a:rPr lang="en-US" dirty="0"/>
              <a:t>Prevention will sometimes fail; preparation limits the consequences.</a:t>
            </a:r>
          </a:p>
          <a:p>
            <a:r>
              <a:rPr lang="en-US" dirty="0"/>
              <a:t>Effective response combines technology, people, decisions, and communication.</a:t>
            </a:r>
          </a:p>
          <a:p>
            <a:r>
              <a:rPr lang="en-US" dirty="0"/>
              <a:t>The examiner's job is to determine whether the bank can manage cyber risk</a:t>
            </a:r>
          </a:p>
          <a:p>
            <a:pPr lvl="1"/>
            <a:r>
              <a:rPr lang="en-US" dirty="0"/>
              <a:t>Not whether it can eliminate it.</a:t>
            </a:r>
          </a:p>
        </p:txBody>
      </p:sp>
      <p:pic>
        <p:nvPicPr>
          <p:cNvPr id="7" name="Picture 6" descr="A white bowl with chopsticks in it&#10;&#10;AI-generated content may be incorrect.">
            <a:extLst>
              <a:ext uri="{FF2B5EF4-FFF2-40B4-BE49-F238E27FC236}">
                <a16:creationId xmlns:a16="http://schemas.microsoft.com/office/drawing/2014/main" id="{2B0F53B1-320D-E6B5-F7B8-76281B2C4BA4}"/>
              </a:ext>
            </a:extLst>
          </p:cNvPr>
          <p:cNvPicPr>
            <a:picLocks noChangeAspect="1"/>
          </p:cNvPicPr>
          <p:nvPr/>
        </p:nvPicPr>
        <p:blipFill>
          <a:blip r:embed="rId2"/>
          <a:stretch>
            <a:fillRect/>
          </a:stretch>
        </p:blipFill>
        <p:spPr>
          <a:xfrm>
            <a:off x="9702800" y="6386512"/>
            <a:ext cx="4597400" cy="3416300"/>
          </a:xfrm>
          <a:prstGeom prst="rect">
            <a:avLst/>
          </a:prstGeom>
        </p:spPr>
      </p:pic>
      <p:pic>
        <p:nvPicPr>
          <p:cNvPr id="8" name="Picture 7" descr="A white bowl with chopsticks in it&#10;&#10;AI-generated content may be incorrect.">
            <a:extLst>
              <a:ext uri="{FF2B5EF4-FFF2-40B4-BE49-F238E27FC236}">
                <a16:creationId xmlns:a16="http://schemas.microsoft.com/office/drawing/2014/main" id="{23D114A7-A190-D350-8AF7-5EA481712B96}"/>
              </a:ext>
            </a:extLst>
          </p:cNvPr>
          <p:cNvPicPr>
            <a:picLocks noChangeAspect="1"/>
          </p:cNvPicPr>
          <p:nvPr/>
        </p:nvPicPr>
        <p:blipFill>
          <a:blip r:embed="rId2"/>
          <a:stretch>
            <a:fillRect/>
          </a:stretch>
        </p:blipFill>
        <p:spPr>
          <a:xfrm>
            <a:off x="11074400" y="1968500"/>
            <a:ext cx="4597400" cy="3416300"/>
          </a:xfrm>
          <a:prstGeom prst="rect">
            <a:avLst/>
          </a:prstGeom>
        </p:spPr>
      </p:pic>
      <p:pic>
        <p:nvPicPr>
          <p:cNvPr id="9" name="Picture 8" descr="A white bowl with chopsticks in it&#10;&#10;AI-generated content may be incorrect.">
            <a:extLst>
              <a:ext uri="{FF2B5EF4-FFF2-40B4-BE49-F238E27FC236}">
                <a16:creationId xmlns:a16="http://schemas.microsoft.com/office/drawing/2014/main" id="{E5488451-19C8-0D77-0EC3-50DAF2167E6D}"/>
              </a:ext>
            </a:extLst>
          </p:cNvPr>
          <p:cNvPicPr>
            <a:picLocks noChangeAspect="1"/>
          </p:cNvPicPr>
          <p:nvPr/>
        </p:nvPicPr>
        <p:blipFill>
          <a:blip r:embed="rId2"/>
          <a:stretch>
            <a:fillRect/>
          </a:stretch>
        </p:blipFill>
        <p:spPr>
          <a:xfrm>
            <a:off x="13627100" y="5053012"/>
            <a:ext cx="4597400" cy="341630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6527" name="Rectangle 15"/>
          <p:cNvSpPr>
            <a:spLocks noGrp="1" noChangeArrowheads="1"/>
          </p:cNvSpPr>
          <p:nvPr>
            <p:ph type="ctrTitle"/>
          </p:nvPr>
        </p:nvSpPr>
        <p:spPr/>
        <p:txBody>
          <a:bodyPr>
            <a:normAutofit/>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Thus </a:t>
            </a:r>
            <a:r>
              <a:rPr lang="en-US" b="1" dirty="0" err="1">
                <a:latin typeface="Helvetica Neue Condensed" panose="02000503000000020004" pitchFamily="2" charset="0"/>
                <a:ea typeface="Helvetica Neue Condensed" panose="02000503000000020004" pitchFamily="2" charset="0"/>
                <a:cs typeface="Helvetica Neue Condensed" panose="02000503000000020004" pitchFamily="2" charset="0"/>
              </a:rPr>
              <a:t>Endeth</a:t>
            </a:r>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 the Lessons</a:t>
            </a:r>
          </a:p>
        </p:txBody>
      </p:sp>
      <p:sp>
        <p:nvSpPr>
          <p:cNvPr id="3776528" name="Rectangle 16"/>
          <p:cNvSpPr>
            <a:spLocks noGrp="1" noChangeArrowheads="1"/>
          </p:cNvSpPr>
          <p:nvPr>
            <p:ph type="subTitle" idx="1"/>
          </p:nvPr>
        </p:nvSpPr>
        <p:spPr/>
        <p:txBody>
          <a:bodyPr/>
          <a:lstStyle/>
          <a:p>
            <a:r>
              <a:rPr lang="en-US" dirty="0"/>
              <a:t>Congratulations on a completing a big three days!</a:t>
            </a:r>
          </a:p>
        </p:txBody>
      </p:sp>
    </p:spTree>
    <p:custDataLst>
      <p:tags r:id="rId1"/>
    </p:custDataLst>
    <p:extLst>
      <p:ext uri="{BB962C8B-B14F-4D97-AF65-F5344CB8AC3E}">
        <p14:creationId xmlns:p14="http://schemas.microsoft.com/office/powerpoint/2010/main" val="528680325"/>
      </p:ext>
    </p:extLst>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6527" name="Rectangle 15"/>
          <p:cNvSpPr>
            <a:spLocks noGrp="1" noChangeArrowheads="1"/>
          </p:cNvSpPr>
          <p:nvPr>
            <p:ph type="ctrTitle"/>
          </p:nvPr>
        </p:nvSpPr>
        <p:spPr>
          <a:xfrm>
            <a:off x="-1560788" y="3352800"/>
            <a:ext cx="13716000" cy="3581400"/>
          </a:xfrm>
        </p:spPr>
        <p:txBody>
          <a:bodyPr>
            <a:normAutofit/>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Thank You!</a:t>
            </a:r>
          </a:p>
        </p:txBody>
      </p:sp>
      <p:pic>
        <p:nvPicPr>
          <p:cNvPr id="4" name="Picture 3">
            <a:extLst>
              <a:ext uri="{FF2B5EF4-FFF2-40B4-BE49-F238E27FC236}">
                <a16:creationId xmlns:a16="http://schemas.microsoft.com/office/drawing/2014/main" id="{04CBB715-8F5F-6841-B189-CFB0E023824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306663" y="2251472"/>
            <a:ext cx="3981099" cy="2202657"/>
          </a:xfrm>
          <a:prstGeom prst="rect">
            <a:avLst/>
          </a:prstGeom>
        </p:spPr>
      </p:pic>
      <p:sp>
        <p:nvSpPr>
          <p:cNvPr id="3" name="TextBox 2">
            <a:extLst>
              <a:ext uri="{FF2B5EF4-FFF2-40B4-BE49-F238E27FC236}">
                <a16:creationId xmlns:a16="http://schemas.microsoft.com/office/drawing/2014/main" id="{1A2142B8-811C-854F-A43C-822049310D39}"/>
              </a:ext>
            </a:extLst>
          </p:cNvPr>
          <p:cNvSpPr txBox="1"/>
          <p:nvPr/>
        </p:nvSpPr>
        <p:spPr>
          <a:xfrm>
            <a:off x="10984474" y="1894791"/>
            <a:ext cx="5805802" cy="5632311"/>
          </a:xfrm>
          <a:prstGeom prst="rect">
            <a:avLst/>
          </a:prstGeom>
          <a:noFill/>
        </p:spPr>
        <p:txBody>
          <a:bodyPr wrap="square" rtlCol="0">
            <a:spAutoFit/>
          </a:bodyPr>
          <a:lstStyle/>
          <a:p>
            <a:r>
              <a:rPr lang="en-US" sz="3600" b="1" dirty="0"/>
              <a:t>Matt Kolon</a:t>
            </a:r>
          </a:p>
          <a:p>
            <a:r>
              <a:rPr lang="en-US" sz="3600" dirty="0" err="1"/>
              <a:t>matt@hillvt.com</a:t>
            </a:r>
            <a:endParaRPr lang="en-US" sz="3600" dirty="0"/>
          </a:p>
          <a:p>
            <a:r>
              <a:rPr lang="en-US" sz="3600" dirty="0"/>
              <a:t>(802) 899-0704</a:t>
            </a:r>
          </a:p>
          <a:p>
            <a:endParaRPr lang="en-US" sz="3600" dirty="0"/>
          </a:p>
          <a:p>
            <a:r>
              <a:rPr lang="en-US" sz="3600" dirty="0"/>
              <a:t>My main social media is </a:t>
            </a:r>
            <a:r>
              <a:rPr lang="en-US" sz="3600" b="1" dirty="0"/>
              <a:t>Strava</a:t>
            </a:r>
            <a:r>
              <a:rPr lang="en-US" sz="3600" dirty="0"/>
              <a:t>. I’ll follow you back! </a:t>
            </a:r>
            <a:r>
              <a:rPr lang="en-US" sz="3600" dirty="0">
                <a:sym typeface="Wingdings" pitchFamily="2" charset="2"/>
              </a:rPr>
              <a:t></a:t>
            </a:r>
          </a:p>
          <a:p>
            <a:endParaRPr lang="en-US" sz="3600" dirty="0"/>
          </a:p>
          <a:p>
            <a:r>
              <a:rPr lang="en-US" sz="3600" dirty="0"/>
              <a:t>The </a:t>
            </a:r>
            <a:r>
              <a:rPr lang="en-US" sz="3600" b="1" dirty="0" err="1"/>
              <a:t>class.hillvt.com</a:t>
            </a:r>
            <a:r>
              <a:rPr lang="en-US" sz="3600" dirty="0"/>
              <a:t> site will be up for a couple weeks at least.</a:t>
            </a:r>
          </a:p>
        </p:txBody>
      </p:sp>
    </p:spTree>
    <p:custDataLst>
      <p:tags r:id="rId1"/>
    </p:custDataLst>
    <p:extLst>
      <p:ext uri="{BB962C8B-B14F-4D97-AF65-F5344CB8AC3E}">
        <p14:creationId xmlns:p14="http://schemas.microsoft.com/office/powerpoint/2010/main" val="2714140963"/>
      </p:ext>
    </p:extLst>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6210" name="Rectangle 2"/>
          <p:cNvSpPr>
            <a:spLocks noGrp="1" noChangeArrowheads="1"/>
          </p:cNvSpPr>
          <p:nvPr>
            <p:ph type="title"/>
          </p:nvPr>
        </p:nvSpPr>
        <p:spPr/>
        <p:txBody>
          <a:bodyPr/>
          <a:lstStyle/>
          <a:p>
            <a:r>
              <a:rPr lang="en-US"/>
              <a:t>Who We Are</a:t>
            </a:r>
          </a:p>
        </p:txBody>
      </p:sp>
      <p:sp>
        <p:nvSpPr>
          <p:cNvPr id="3806211" name="Rectangle 3"/>
          <p:cNvSpPr>
            <a:spLocks noGrp="1" noChangeArrowheads="1"/>
          </p:cNvSpPr>
          <p:nvPr>
            <p:ph sz="half" idx="1"/>
          </p:nvPr>
        </p:nvSpPr>
        <p:spPr>
          <a:xfrm>
            <a:off x="8445500" y="6155148"/>
            <a:ext cx="6172200" cy="3676650"/>
          </a:xfrm>
        </p:spPr>
        <p:txBody>
          <a:bodyPr/>
          <a:lstStyle/>
          <a:p>
            <a:pPr marL="0" indent="0">
              <a:buNone/>
            </a:pPr>
            <a:endParaRPr lang="en-US" sz="3000" dirty="0"/>
          </a:p>
          <a:p>
            <a:pPr marL="578645" lvl="1" indent="0">
              <a:buNone/>
            </a:pPr>
            <a:r>
              <a:rPr lang="en-US" sz="2550" dirty="0"/>
              <a:t>Hill Associates, Inc.</a:t>
            </a:r>
          </a:p>
          <a:p>
            <a:pPr marL="578645" lvl="1" indent="0">
              <a:buNone/>
            </a:pPr>
            <a:r>
              <a:rPr lang="en-US" sz="2550" dirty="0"/>
              <a:t>PO Box 9 </a:t>
            </a:r>
          </a:p>
          <a:p>
            <a:pPr marL="578645" lvl="1" indent="0">
              <a:buNone/>
            </a:pPr>
            <a:r>
              <a:rPr lang="en-US" sz="2550" dirty="0"/>
              <a:t>Milton, VT 05468</a:t>
            </a:r>
          </a:p>
          <a:p>
            <a:pPr marL="578645" lvl="1" indent="0">
              <a:buNone/>
            </a:pPr>
            <a:r>
              <a:rPr lang="en-US" sz="2550" dirty="0"/>
              <a:t>+1.802.655.0940</a:t>
            </a:r>
            <a:endParaRPr lang="en-US" sz="3000" dirty="0"/>
          </a:p>
        </p:txBody>
      </p:sp>
      <p:sp>
        <p:nvSpPr>
          <p:cNvPr id="3806214" name="Text Box 6"/>
          <p:cNvSpPr txBox="1">
            <a:spLocks noChangeArrowheads="1"/>
          </p:cNvSpPr>
          <p:nvPr/>
        </p:nvSpPr>
        <p:spPr bwMode="auto">
          <a:xfrm>
            <a:off x="2078832" y="2882834"/>
            <a:ext cx="12201525" cy="2925513"/>
          </a:xfrm>
          <a:prstGeom prst="rect">
            <a:avLst/>
          </a:prstGeom>
          <a:solidFill>
            <a:schemeClr val="bg1">
              <a:lumMod val="75000"/>
            </a:schemeClr>
          </a:solidFill>
          <a:ln w="9525">
            <a:solidFill>
              <a:schemeClr val="accent2">
                <a:lumMod val="20000"/>
                <a:lumOff val="80000"/>
              </a:schemeClr>
            </a:solidFill>
            <a:miter lim="800000"/>
            <a:headEnd/>
            <a:tailEnd/>
          </a:ln>
          <a:effectLst/>
          <a:scene3d>
            <a:camera prst="orthographicFront"/>
            <a:lightRig rig="threePt" dir="t"/>
          </a:scene3d>
          <a:sp3d>
            <a:bevelT w="165100" prst="coolSlant"/>
          </a:sp3d>
        </p:spPr>
        <p:txBody>
          <a:bodyPr wrap="square" lIns="154014" tIns="77010" rIns="154014" bIns="77010" anchor="ctr" anchorCtr="0">
            <a:spAutoFit/>
          </a:bodyPr>
          <a:lstStyle/>
          <a:p>
            <a:pPr defTabSz="1540670">
              <a:spcBef>
                <a:spcPct val="5000"/>
              </a:spcBef>
              <a:spcAft>
                <a:spcPct val="5000"/>
              </a:spcAft>
            </a:pPr>
            <a:r>
              <a:rPr lang="en-US" sz="3000" i="1" dirty="0"/>
              <a:t>At Hill Associates, we excel at creating custom talent development programs.  </a:t>
            </a:r>
            <a:br>
              <a:rPr lang="en-US" sz="3000" i="1" dirty="0"/>
            </a:br>
            <a:r>
              <a:rPr lang="en-US" sz="3000" i="1" dirty="0"/>
              <a:t>Our experts help identify and assess your needs, and create training and educational programs that exactly meet those needs. Though we specialize in information technology, we’ve strengthened companies and organizations in a wide range of industries for over 30 years. Let us help you create a world-class talent development program that moves your business forward.</a:t>
            </a:r>
          </a:p>
        </p:txBody>
      </p:sp>
    </p:spTree>
    <p:custDataLst>
      <p:tags r:id="rId1"/>
    </p:custDataLst>
    <p:extLst>
      <p:ext uri="{BB962C8B-B14F-4D97-AF65-F5344CB8AC3E}">
        <p14:creationId xmlns:p14="http://schemas.microsoft.com/office/powerpoint/2010/main" val="20091542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Pro_Tech">
      <a:dk1>
        <a:sysClr val="windowText" lastClr="000000"/>
      </a:dk1>
      <a:lt1>
        <a:sysClr val="window" lastClr="FFFFFF"/>
      </a:lt1>
      <a:dk2>
        <a:srgbClr val="373545"/>
      </a:dk2>
      <a:lt2>
        <a:srgbClr val="FFFFFF"/>
      </a:lt2>
      <a:accent1>
        <a:srgbClr val="1D397A"/>
      </a:accent1>
      <a:accent2>
        <a:srgbClr val="32539A"/>
      </a:accent2>
      <a:accent3>
        <a:srgbClr val="4D6088"/>
      </a:accent3>
      <a:accent4>
        <a:srgbClr val="55849D"/>
      </a:accent4>
      <a:accent5>
        <a:srgbClr val="9FA09F"/>
      </a:accent5>
      <a:accent6>
        <a:srgbClr val="FFFFFF"/>
      </a:accent6>
      <a:hlink>
        <a:srgbClr val="FFFFFF"/>
      </a:hlink>
      <a:folHlink>
        <a:srgbClr val="FFFF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ill Associates">
  <a:themeElements>
    <a:clrScheme name="Hill Associates">
      <a:dk1>
        <a:srgbClr val="000000"/>
      </a:dk1>
      <a:lt1>
        <a:srgbClr val="FFFFFF"/>
      </a:lt1>
      <a:dk2>
        <a:srgbClr val="FFFFFF"/>
      </a:dk2>
      <a:lt2>
        <a:srgbClr val="000000"/>
      </a:lt2>
      <a:accent1>
        <a:srgbClr val="B4B5DC"/>
      </a:accent1>
      <a:accent2>
        <a:srgbClr val="C6D6E8"/>
      </a:accent2>
      <a:accent3>
        <a:srgbClr val="77B800"/>
      </a:accent3>
      <a:accent4>
        <a:srgbClr val="FBDE81"/>
      </a:accent4>
      <a:accent5>
        <a:srgbClr val="F07B05"/>
      </a:accent5>
      <a:accent6>
        <a:srgbClr val="E53B30"/>
      </a:accent6>
      <a:hlink>
        <a:srgbClr val="2A6EBB"/>
      </a:hlink>
      <a:folHlink>
        <a:srgbClr val="E53B30"/>
      </a:folHlink>
    </a:clrScheme>
    <a:fontScheme name="hill_20100317">
      <a:majorFont>
        <a:latin typeface="Arial"/>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ctr" defTabSz="1027113" rtl="0" eaLnBrk="1" fontAlgn="base" latinLnBrk="0" hangingPunct="1">
          <a:lnSpc>
            <a:spcPct val="85000"/>
          </a:lnSpc>
          <a:spcBef>
            <a:spcPct val="0"/>
          </a:spcBef>
          <a:spcAft>
            <a:spcPct val="0"/>
          </a:spcAft>
          <a:buClrTx/>
          <a:buSzTx/>
          <a:buFontTx/>
          <a:buNone/>
          <a:tabLst/>
          <a:defRPr kumimoji="0" lang="en-US" sz="2200" b="1"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ctr" defTabSz="1027113" rtl="0" eaLnBrk="1" fontAlgn="base" latinLnBrk="0" hangingPunct="1">
          <a:lnSpc>
            <a:spcPct val="85000"/>
          </a:lnSpc>
          <a:spcBef>
            <a:spcPct val="0"/>
          </a:spcBef>
          <a:spcAft>
            <a:spcPct val="0"/>
          </a:spcAft>
          <a:buClrTx/>
          <a:buSzTx/>
          <a:buFontTx/>
          <a:buNone/>
          <a:tabLst/>
          <a:defRPr kumimoji="0" lang="en-US" sz="2200" b="1" i="0" u="none" strike="noStrike" cap="none" normalizeH="0" baseline="0" smtClean="0">
            <a:ln>
              <a:noFill/>
            </a:ln>
            <a:solidFill>
              <a:schemeClr val="tx1"/>
            </a:solidFill>
            <a:effectLst/>
            <a:latin typeface="Arial Narrow" pitchFamily="34" charset="0"/>
          </a:defRPr>
        </a:defPPr>
      </a:lstStyle>
    </a:lnDef>
    <a:txDef>
      <a:spPr>
        <a:noFill/>
      </a:spPr>
      <a:bodyPr wrap="none" rtlCol="0">
        <a:spAutoFit/>
      </a:bodyPr>
      <a:lstStyle>
        <a:defPPr>
          <a:defRPr sz="2000" dirty="0" smtClean="0">
            <a:latin typeface="+mj-lt"/>
          </a:defRPr>
        </a:defPPr>
      </a:lstStyle>
    </a:txDef>
  </a:objectDefaults>
  <a:extraClrSchemeLst>
    <a:extraClrScheme>
      <a:clrScheme name="hill_20100317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hill_2010031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hill_20100317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hill_20100317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hill_2010031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hill_2010031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hill_2010031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hill_20100317 8">
        <a:dk1>
          <a:srgbClr val="000000"/>
        </a:dk1>
        <a:lt1>
          <a:srgbClr val="FFFFFF"/>
        </a:lt1>
        <a:dk2>
          <a:srgbClr val="FFFFFF"/>
        </a:dk2>
        <a:lt2>
          <a:srgbClr val="000000"/>
        </a:lt2>
        <a:accent1>
          <a:srgbClr val="FFCC00"/>
        </a:accent1>
        <a:accent2>
          <a:srgbClr val="3333CC"/>
        </a:accent2>
        <a:accent3>
          <a:srgbClr val="FFFFFF"/>
        </a:accent3>
        <a:accent4>
          <a:srgbClr val="000000"/>
        </a:accent4>
        <a:accent5>
          <a:srgbClr val="FFE2A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hill_20100317 9">
        <a:dk1>
          <a:srgbClr val="000000"/>
        </a:dk1>
        <a:lt1>
          <a:srgbClr val="FFFFFF"/>
        </a:lt1>
        <a:dk2>
          <a:srgbClr val="FFFFFF"/>
        </a:dk2>
        <a:lt2>
          <a:srgbClr val="000000"/>
        </a:lt2>
        <a:accent1>
          <a:srgbClr val="FFCC00"/>
        </a:accent1>
        <a:accent2>
          <a:srgbClr val="3333CC"/>
        </a:accent2>
        <a:accent3>
          <a:srgbClr val="FFFFFF"/>
        </a:accent3>
        <a:accent4>
          <a:srgbClr val="000000"/>
        </a:accent4>
        <a:accent5>
          <a:srgbClr val="FFE2AA"/>
        </a:accent5>
        <a:accent6>
          <a:srgbClr val="2D2DB9"/>
        </a:accent6>
        <a:hlink>
          <a:srgbClr val="333399"/>
        </a:hlink>
        <a:folHlink>
          <a:srgbClr val="9966FF"/>
        </a:folHlink>
      </a:clrScheme>
      <a:clrMap bg1="lt1" tx1="dk1" bg2="lt2" tx2="dk2" accent1="accent1" accent2="accent2" accent3="accent3" accent4="accent4" accent5="accent5" accent6="accent6" hlink="hlink" folHlink="folHlink"/>
    </a:extraClrScheme>
    <a:extraClrScheme>
      <a:clrScheme name="hill_20100317 10">
        <a:dk1>
          <a:srgbClr val="000000"/>
        </a:dk1>
        <a:lt1>
          <a:srgbClr val="FFFFFF"/>
        </a:lt1>
        <a:dk2>
          <a:srgbClr val="FFFFFF"/>
        </a:dk2>
        <a:lt2>
          <a:srgbClr val="000000"/>
        </a:lt2>
        <a:accent1>
          <a:srgbClr val="FFCC00"/>
        </a:accent1>
        <a:accent2>
          <a:srgbClr val="3333CC"/>
        </a:accent2>
        <a:accent3>
          <a:srgbClr val="FFFFFF"/>
        </a:accent3>
        <a:accent4>
          <a:srgbClr val="000000"/>
        </a:accent4>
        <a:accent5>
          <a:srgbClr val="FFE2AA"/>
        </a:accent5>
        <a:accent6>
          <a:srgbClr val="2D2DB9"/>
        </a:accent6>
        <a:hlink>
          <a:srgbClr val="333399"/>
        </a:hlink>
        <a:folHlink>
          <a:srgbClr val="9933FF"/>
        </a:folHlink>
      </a:clrScheme>
      <a:clrMap bg1="lt1" tx1="dk1" bg2="lt2" tx2="dk2" accent1="accent1" accent2="accent2" accent3="accent3" accent4="accent4" accent5="accent5" accent6="accent6" hlink="hlink" folHlink="folHlink"/>
    </a:extraClrScheme>
    <a:extraClrScheme>
      <a:clrScheme name="hill_20100317 11">
        <a:dk1>
          <a:srgbClr val="000000"/>
        </a:dk1>
        <a:lt1>
          <a:srgbClr val="FFFFFF"/>
        </a:lt1>
        <a:dk2>
          <a:srgbClr val="FFFFFF"/>
        </a:dk2>
        <a:lt2>
          <a:srgbClr val="000000"/>
        </a:lt2>
        <a:accent1>
          <a:srgbClr val="FFCC00"/>
        </a:accent1>
        <a:accent2>
          <a:srgbClr val="3333CC"/>
        </a:accent2>
        <a:accent3>
          <a:srgbClr val="FFFFFF"/>
        </a:accent3>
        <a:accent4>
          <a:srgbClr val="000000"/>
        </a:accent4>
        <a:accent5>
          <a:srgbClr val="FFE2AA"/>
        </a:accent5>
        <a:accent6>
          <a:srgbClr val="2D2DB9"/>
        </a:accent6>
        <a:hlink>
          <a:srgbClr val="333399"/>
        </a:hlink>
        <a:folHlink>
          <a:srgbClr val="CC0000"/>
        </a:folHlink>
      </a:clrScheme>
      <a:clrMap bg1="lt1" tx1="dk1" bg2="lt2" tx2="dk2" accent1="accent1" accent2="accent2" accent3="accent3" accent4="accent4" accent5="accent5" accent6="accent6" hlink="hlink" folHlink="folHlink"/>
    </a:extraClrScheme>
    <a:extraClrScheme>
      <a:clrScheme name="hill_20100317 12">
        <a:dk1>
          <a:srgbClr val="000000"/>
        </a:dk1>
        <a:lt1>
          <a:srgbClr val="FFFFFF"/>
        </a:lt1>
        <a:dk2>
          <a:srgbClr val="FFFFFF"/>
        </a:dk2>
        <a:lt2>
          <a:srgbClr val="000000"/>
        </a:lt2>
        <a:accent1>
          <a:srgbClr val="FFCCCC"/>
        </a:accent1>
        <a:accent2>
          <a:srgbClr val="3333CC"/>
        </a:accent2>
        <a:accent3>
          <a:srgbClr val="FFFFFF"/>
        </a:accent3>
        <a:accent4>
          <a:srgbClr val="000000"/>
        </a:accent4>
        <a:accent5>
          <a:srgbClr val="FFE2E2"/>
        </a:accent5>
        <a:accent6>
          <a:srgbClr val="2D2DB9"/>
        </a:accent6>
        <a:hlink>
          <a:srgbClr val="333399"/>
        </a:hlink>
        <a:folHlink>
          <a:srgbClr val="CC0000"/>
        </a:folHlink>
      </a:clrScheme>
      <a:clrMap bg1="lt1" tx1="dk1" bg2="lt2" tx2="dk2" accent1="accent1" accent2="accent2" accent3="accent3" accent4="accent4" accent5="accent5" accent6="accent6" hlink="hlink" folHlink="folHlink"/>
    </a:extraClrScheme>
    <a:extraClrScheme>
      <a:clrScheme name="hill_20100317 13">
        <a:dk1>
          <a:srgbClr val="000000"/>
        </a:dk1>
        <a:lt1>
          <a:srgbClr val="FFFFFF"/>
        </a:lt1>
        <a:dk2>
          <a:srgbClr val="FFFFFF"/>
        </a:dk2>
        <a:lt2>
          <a:srgbClr val="000000"/>
        </a:lt2>
        <a:accent1>
          <a:srgbClr val="FFCC99"/>
        </a:accent1>
        <a:accent2>
          <a:srgbClr val="3333CC"/>
        </a:accent2>
        <a:accent3>
          <a:srgbClr val="FFFFFF"/>
        </a:accent3>
        <a:accent4>
          <a:srgbClr val="000000"/>
        </a:accent4>
        <a:accent5>
          <a:srgbClr val="FFE2CA"/>
        </a:accent5>
        <a:accent6>
          <a:srgbClr val="2D2DB9"/>
        </a:accent6>
        <a:hlink>
          <a:srgbClr val="333399"/>
        </a:hlink>
        <a:folHlink>
          <a:srgbClr val="CC0000"/>
        </a:folHlink>
      </a:clrScheme>
      <a:clrMap bg1="lt1" tx1="dk1" bg2="lt2" tx2="dk2" accent1="accent1" accent2="accent2" accent3="accent3" accent4="accent4" accent5="accent5" accent6="accent6" hlink="hlink" folHlink="folHlink"/>
    </a:extraClrScheme>
    <a:extraClrScheme>
      <a:clrScheme name="hill_20100317 14">
        <a:dk1>
          <a:srgbClr val="000000"/>
        </a:dk1>
        <a:lt1>
          <a:srgbClr val="FFFFFF"/>
        </a:lt1>
        <a:dk2>
          <a:srgbClr val="FFFFFF"/>
        </a:dk2>
        <a:lt2>
          <a:srgbClr val="000000"/>
        </a:lt2>
        <a:accent1>
          <a:srgbClr val="FBDE81"/>
        </a:accent1>
        <a:accent2>
          <a:srgbClr val="3333CC"/>
        </a:accent2>
        <a:accent3>
          <a:srgbClr val="FFFFFF"/>
        </a:accent3>
        <a:accent4>
          <a:srgbClr val="000000"/>
        </a:accent4>
        <a:accent5>
          <a:srgbClr val="FDECC1"/>
        </a:accent5>
        <a:accent6>
          <a:srgbClr val="2D2DB9"/>
        </a:accent6>
        <a:hlink>
          <a:srgbClr val="333399"/>
        </a:hlink>
        <a:folHlink>
          <a:srgbClr val="CC0000"/>
        </a:folHlink>
      </a:clrScheme>
      <a:clrMap bg1="lt1" tx1="dk1" bg2="lt2" tx2="dk2" accent1="accent1" accent2="accent2" accent3="accent3" accent4="accent4" accent5="accent5" accent6="accent6" hlink="hlink" folHlink="folHlink"/>
    </a:extraClrScheme>
    <a:extraClrScheme>
      <a:clrScheme name="hill_20100317 15">
        <a:dk1>
          <a:srgbClr val="000000"/>
        </a:dk1>
        <a:lt1>
          <a:srgbClr val="FFFFFF"/>
        </a:lt1>
        <a:dk2>
          <a:srgbClr val="FFFFFF"/>
        </a:dk2>
        <a:lt2>
          <a:srgbClr val="000000"/>
        </a:lt2>
        <a:accent1>
          <a:srgbClr val="FBDE81"/>
        </a:accent1>
        <a:accent2>
          <a:srgbClr val="2A6EBB"/>
        </a:accent2>
        <a:accent3>
          <a:srgbClr val="FFFFFF"/>
        </a:accent3>
        <a:accent4>
          <a:srgbClr val="000000"/>
        </a:accent4>
        <a:accent5>
          <a:srgbClr val="FDECC1"/>
        </a:accent5>
        <a:accent6>
          <a:srgbClr val="2563A9"/>
        </a:accent6>
        <a:hlink>
          <a:srgbClr val="5F6A72"/>
        </a:hlink>
        <a:folHlink>
          <a:srgbClr val="E23B30"/>
        </a:folHlink>
      </a:clrScheme>
      <a:clrMap bg1="lt1" tx1="dk1" bg2="lt2" tx2="dk2" accent1="accent1" accent2="accent2" accent3="accent3" accent4="accent4" accent5="accent5" accent6="accent6" hlink="hlink" folHlink="folHlink"/>
    </a:extraClrScheme>
    <a:extraClrScheme>
      <a:clrScheme name="hill_20100317 16">
        <a:dk1>
          <a:srgbClr val="000000"/>
        </a:dk1>
        <a:lt1>
          <a:srgbClr val="FFFFFF"/>
        </a:lt1>
        <a:dk2>
          <a:srgbClr val="FFFFFF"/>
        </a:dk2>
        <a:lt2>
          <a:srgbClr val="000000"/>
        </a:lt2>
        <a:accent1>
          <a:srgbClr val="FBDE81"/>
        </a:accent1>
        <a:accent2>
          <a:srgbClr val="5F6A72"/>
        </a:accent2>
        <a:accent3>
          <a:srgbClr val="FFFFFF"/>
        </a:accent3>
        <a:accent4>
          <a:srgbClr val="000000"/>
        </a:accent4>
        <a:accent5>
          <a:srgbClr val="FDECC1"/>
        </a:accent5>
        <a:accent6>
          <a:srgbClr val="555F67"/>
        </a:accent6>
        <a:hlink>
          <a:srgbClr val="2A6EBB"/>
        </a:hlink>
        <a:folHlink>
          <a:srgbClr val="E23B3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79918</TotalTime>
  <Words>9273</Words>
  <Application>Microsoft Macintosh PowerPoint</Application>
  <PresentationFormat>Custom</PresentationFormat>
  <Paragraphs>1776</Paragraphs>
  <Slides>147</Slides>
  <Notes>82</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147</vt:i4>
      </vt:variant>
    </vt:vector>
  </HeadingPairs>
  <TitlesOfParts>
    <vt:vector size="161" baseType="lpstr">
      <vt:lpstr>Aptos Display</vt:lpstr>
      <vt:lpstr>Arial</vt:lpstr>
      <vt:lpstr>Arial Narrow</vt:lpstr>
      <vt:lpstr>Calibri</vt:lpstr>
      <vt:lpstr>Calibri Light</vt:lpstr>
      <vt:lpstr>Courier</vt:lpstr>
      <vt:lpstr>Helvetica Neue</vt:lpstr>
      <vt:lpstr>HELVETICA NEUE CONDENSED</vt:lpstr>
      <vt:lpstr>HELVETICA NEUE CONDENSED</vt:lpstr>
      <vt:lpstr>Helvetica Neue Medium</vt:lpstr>
      <vt:lpstr>Symbol</vt:lpstr>
      <vt:lpstr>Wingdings</vt:lpstr>
      <vt:lpstr>Office Theme</vt:lpstr>
      <vt:lpstr>Hill Associates</vt:lpstr>
      <vt:lpstr>PowerPoint Presentation</vt:lpstr>
      <vt:lpstr>An Important Resource</vt:lpstr>
      <vt:lpstr>Time for introductions: Hi, I’m Matt</vt:lpstr>
      <vt:lpstr>Introductions  </vt:lpstr>
      <vt:lpstr>Classroom Ops</vt:lpstr>
      <vt:lpstr>Reviews and Exercises</vt:lpstr>
      <vt:lpstr>Course Roadmap</vt:lpstr>
      <vt:lpstr>Introduction to Firewalls and Network Security</vt:lpstr>
      <vt:lpstr>Objectives</vt:lpstr>
      <vt:lpstr>So why are we here? </vt:lpstr>
      <vt:lpstr>Introducing Pine Valley Bank</vt:lpstr>
      <vt:lpstr>Tom Alvarez</vt:lpstr>
      <vt:lpstr>PVB’s Network</vt:lpstr>
      <vt:lpstr>Small Bank Operational Components</vt:lpstr>
      <vt:lpstr>Security is about Managing Risk</vt:lpstr>
      <vt:lpstr>PowerPoint Presentation</vt:lpstr>
      <vt:lpstr>Putting Information Technology in Perspective</vt:lpstr>
      <vt:lpstr>Firewalls as Controls</vt:lpstr>
      <vt:lpstr>What are community banks defending against?</vt:lpstr>
      <vt:lpstr>Why Networking Matters</vt:lpstr>
      <vt:lpstr>The Journey Ahead</vt:lpstr>
      <vt:lpstr>Networking Fundamentals</vt:lpstr>
      <vt:lpstr>Examiner Question</vt:lpstr>
      <vt:lpstr>What is a Network? </vt:lpstr>
      <vt:lpstr>PVB Network Resources</vt:lpstr>
      <vt:lpstr>Common Network Components</vt:lpstr>
      <vt:lpstr>PowerPoint Presentation</vt:lpstr>
      <vt:lpstr>LANs, WANs, and others</vt:lpstr>
      <vt:lpstr>How Internetworks Work—An Analogy</vt:lpstr>
      <vt:lpstr>Applying the Analogy</vt:lpstr>
      <vt:lpstr>IPv4 Address</vt:lpstr>
      <vt:lpstr>IP Address Assignment with DHCP*</vt:lpstr>
      <vt:lpstr>Well-Known TCP/UDP Ports</vt:lpstr>
      <vt:lpstr>Scanning for Listening Ports</vt:lpstr>
      <vt:lpstr>Private Address Space and NAT</vt:lpstr>
      <vt:lpstr>The Internet: A Global, Public, Packet Network</vt:lpstr>
      <vt:lpstr>Encryption in Transit</vt:lpstr>
      <vt:lpstr>Models and the TCP/IP Protocol Stack</vt:lpstr>
      <vt:lpstr>Where do Security Controls Live?</vt:lpstr>
      <vt:lpstr>What an Examiner might ask at PVB</vt:lpstr>
      <vt:lpstr>Summary</vt:lpstr>
      <vt:lpstr>Firewalls and Security Architecture</vt:lpstr>
      <vt:lpstr>Examiner Question</vt:lpstr>
      <vt:lpstr>PowerPoint Presentation</vt:lpstr>
      <vt:lpstr>What is a Firewall?</vt:lpstr>
      <vt:lpstr>Why Bank Use Firewalls</vt:lpstr>
      <vt:lpstr>IP Header Filters</vt:lpstr>
      <vt:lpstr>Packet Filtering</vt:lpstr>
      <vt:lpstr>Stateful Inspection</vt:lpstr>
      <vt:lpstr>Sample Connection State Table</vt:lpstr>
      <vt:lpstr>What are Firewall rules?</vt:lpstr>
      <vt:lpstr>(Web) Application Firewalls</vt:lpstr>
      <vt:lpstr>Unified Threat Management (or NGFW)</vt:lpstr>
      <vt:lpstr>Today one platform (sometimes) does it all</vt:lpstr>
      <vt:lpstr>UTM the New Norm</vt:lpstr>
      <vt:lpstr>Where Firewalls Live</vt:lpstr>
      <vt:lpstr>Security is a Multi-layer Problem</vt:lpstr>
      <vt:lpstr>What firewalls don’t do</vt:lpstr>
      <vt:lpstr>Zero Trust Network Access</vt:lpstr>
      <vt:lpstr>ZTNA in Practice</vt:lpstr>
      <vt:lpstr>Managing Firewall Risk</vt:lpstr>
      <vt:lpstr>When someone else manages the firewall</vt:lpstr>
      <vt:lpstr>Firewalls and Security Architecture</vt:lpstr>
      <vt:lpstr>PowerPoint Presentation</vt:lpstr>
      <vt:lpstr>Key Takeaways</vt:lpstr>
      <vt:lpstr>PowerPoint Presentation</vt:lpstr>
      <vt:lpstr>Network Vulnerabilities and Attacks</vt:lpstr>
      <vt:lpstr>Examiner Question</vt:lpstr>
      <vt:lpstr>Thinking Like an Attacker</vt:lpstr>
      <vt:lpstr>Remember the Cyber Kill Chain?</vt:lpstr>
      <vt:lpstr>Attacking People</vt:lpstr>
      <vt:lpstr>Attacking Credentials</vt:lpstr>
      <vt:lpstr>Attacking Systems</vt:lpstr>
      <vt:lpstr>Attacking Communications</vt:lpstr>
      <vt:lpstr>Who Initiates DDoS Attacks</vt:lpstr>
      <vt:lpstr>Botnets</vt:lpstr>
      <vt:lpstr>Example SYN Flood</vt:lpstr>
      <vt:lpstr>DDoS Mitigation Technology Approaches</vt:lpstr>
      <vt:lpstr>Compare Solutions</vt:lpstr>
      <vt:lpstr>Defense in Depth Revisited</vt:lpstr>
      <vt:lpstr>PowerPoint Presentation</vt:lpstr>
      <vt:lpstr>Key Takeaways</vt:lpstr>
      <vt:lpstr>PowerPoint Presentation</vt:lpstr>
      <vt:lpstr>Network Segmentation</vt:lpstr>
      <vt:lpstr>Why Segment a Network?</vt:lpstr>
      <vt:lpstr>Examiner Question</vt:lpstr>
      <vt:lpstr>Security Zones</vt:lpstr>
      <vt:lpstr>VLANs, SSIDs, and Subnets</vt:lpstr>
      <vt:lpstr>Routing and Policy Enforcement</vt:lpstr>
      <vt:lpstr>Internal Firewalls</vt:lpstr>
      <vt:lpstr>What an Examiner Should Ask</vt:lpstr>
      <vt:lpstr>Key Takeaways / Looking Ahead</vt:lpstr>
      <vt:lpstr>Availability &amp; Resilience</vt:lpstr>
      <vt:lpstr>Why Availability Matters</vt:lpstr>
      <vt:lpstr>Examiner Question(s)</vt:lpstr>
      <vt:lpstr>Availability in the CIA Triad</vt:lpstr>
      <vt:lpstr>Single Points of Failure</vt:lpstr>
      <vt:lpstr>Building Resilience</vt:lpstr>
      <vt:lpstr>Internet Failover</vt:lpstr>
      <vt:lpstr>Firewall Availability</vt:lpstr>
      <vt:lpstr>Third-Party Dependencies</vt:lpstr>
      <vt:lpstr>Business Continuity vs. Disaster Recovery</vt:lpstr>
      <vt:lpstr>What an Examiner might look for</vt:lpstr>
      <vt:lpstr>Key Takeaways / Looking Ahead</vt:lpstr>
      <vt:lpstr>Monitoring &amp; Detection</vt:lpstr>
      <vt:lpstr>Examiner Question</vt:lpstr>
      <vt:lpstr>A Cycle of Awareness</vt:lpstr>
      <vt:lpstr>Not Every Event Is a Security Incident</vt:lpstr>
      <vt:lpstr>What Should Be Monitored?</vt:lpstr>
      <vt:lpstr>Firewall Logs</vt:lpstr>
      <vt:lpstr>Alerts vs. Logs</vt:lpstr>
      <vt:lpstr>Who Watches the Alerts?</vt:lpstr>
      <vt:lpstr>Modern Monitoring Platforms</vt:lpstr>
      <vt:lpstr>What Makes a Good Alert?</vt:lpstr>
      <vt:lpstr>Key Takeaways / Looking Ahead</vt:lpstr>
      <vt:lpstr>Administration &amp; Governance</vt:lpstr>
      <vt:lpstr>Examiner Question</vt:lpstr>
      <vt:lpstr>Security Is a Process, Not a Project</vt:lpstr>
      <vt:lpstr>Roles &amp; Responsibilities</vt:lpstr>
      <vt:lpstr>Security Policies</vt:lpstr>
      <vt:lpstr>Change Management</vt:lpstr>
      <vt:lpstr>Firewall Rule Review</vt:lpstr>
      <vt:lpstr>Administrative Access Review</vt:lpstr>
      <vt:lpstr>Vendor Oversight</vt:lpstr>
      <vt:lpstr>Documentation</vt:lpstr>
      <vt:lpstr>Governance in Practice</vt:lpstr>
      <vt:lpstr>Evidence for Examiners</vt:lpstr>
      <vt:lpstr>Building a Security Program</vt:lpstr>
      <vt:lpstr>Key Takeaways / Looking Ahead</vt:lpstr>
      <vt:lpstr>Incident Response</vt:lpstr>
      <vt:lpstr>Examiner Question</vt:lpstr>
      <vt:lpstr>Assume Something Will Get Through</vt:lpstr>
      <vt:lpstr>What Counts as an Incident?</vt:lpstr>
      <vt:lpstr>Incident Response Planning </vt:lpstr>
      <vt:lpstr>The Response Lifecycle</vt:lpstr>
      <vt:lpstr>Roles During an Incident</vt:lpstr>
      <vt:lpstr>The Firewall During an Incident</vt:lpstr>
      <vt:lpstr>Containment: Stop the Spread</vt:lpstr>
      <vt:lpstr>Communication &amp; Escalation</vt:lpstr>
      <vt:lpstr>Third Parties in Incident Response</vt:lpstr>
      <vt:lpstr>Recovery Is More Than Turning It Back On</vt:lpstr>
      <vt:lpstr>Testing the Plan</vt:lpstr>
      <vt:lpstr>Evidence for Examiners</vt:lpstr>
      <vt:lpstr>Key Takeaways</vt:lpstr>
      <vt:lpstr>Thus Endeth the Lessons</vt:lpstr>
      <vt:lpstr>Thank You!</vt:lpstr>
      <vt:lpstr>Who We 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PresenterMedia.com</dc:creator>
  <cp:lastModifiedBy>Matt Kolon</cp:lastModifiedBy>
  <cp:revision>73</cp:revision>
  <dcterms:created xsi:type="dcterms:W3CDTF">2016-01-13T17:16:24Z</dcterms:created>
  <dcterms:modified xsi:type="dcterms:W3CDTF">2026-08-20T03:50:03Z</dcterms:modified>
</cp:coreProperties>
</file>