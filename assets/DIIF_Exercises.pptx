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2" r:id="rId1"/>
    <p:sldMasterId id="2147483798" r:id="rId2"/>
  </p:sldMasterIdLst>
  <p:notesMasterIdLst>
    <p:notesMasterId r:id="rId23"/>
  </p:notesMasterIdLst>
  <p:handoutMasterIdLst>
    <p:handoutMasterId r:id="rId24"/>
  </p:handoutMasterIdLst>
  <p:sldIdLst>
    <p:sldId id="1301" r:id="rId3"/>
    <p:sldId id="1300" r:id="rId4"/>
    <p:sldId id="1316" r:id="rId5"/>
    <p:sldId id="1302" r:id="rId6"/>
    <p:sldId id="1305" r:id="rId7"/>
    <p:sldId id="1304" r:id="rId8"/>
    <p:sldId id="1306" r:id="rId9"/>
    <p:sldId id="1307" r:id="rId10"/>
    <p:sldId id="1308" r:id="rId11"/>
    <p:sldId id="1315" r:id="rId12"/>
    <p:sldId id="1053" r:id="rId13"/>
    <p:sldId id="1054" r:id="rId14"/>
    <p:sldId id="1055" r:id="rId15"/>
    <p:sldId id="1314" r:id="rId16"/>
    <p:sldId id="1303" r:id="rId17"/>
    <p:sldId id="1309" r:id="rId18"/>
    <p:sldId id="1310" r:id="rId19"/>
    <p:sldId id="1311" r:id="rId20"/>
    <p:sldId id="1312" r:id="rId21"/>
    <p:sldId id="1313" r:id="rId2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eepiker" initials="F" lastIdx="1" clrIdx="0">
    <p:extLst>
      <p:ext uri="{19B8F6BF-5375-455C-9EA6-DF929625EA0E}">
        <p15:presenceInfo xmlns:p15="http://schemas.microsoft.com/office/powerpoint/2012/main" userId="Freepiker" providerId="None"/>
      </p:ext>
    </p:extLst>
  </p:cmAuthor>
  <p:cmAuthor id="2" name="User" initials="U" lastIdx="3" clrIdx="1">
    <p:extLst>
      <p:ext uri="{19B8F6BF-5375-455C-9EA6-DF929625EA0E}">
        <p15:presenceInfo xmlns:p15="http://schemas.microsoft.com/office/powerpoint/2012/main" userId="User" providerId="None"/>
      </p:ext>
    </p:extLst>
  </p:cmAuthor>
  <p:cmAuthor id="3" name="Trevor Hindson" initials="TH" lastIdx="32" clrIdx="2">
    <p:extLst>
      <p:ext uri="{19B8F6BF-5375-455C-9EA6-DF929625EA0E}">
        <p15:presenceInfo xmlns:p15="http://schemas.microsoft.com/office/powerpoint/2012/main" userId="Trevor Hinds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E4C59"/>
    <a:srgbClr val="E6E6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4320"/>
  </p:normalViewPr>
  <p:slideViewPr>
    <p:cSldViewPr snapToGrid="0">
      <p:cViewPr varScale="1">
        <p:scale>
          <a:sx n="64" d="100"/>
          <a:sy n="64" d="100"/>
        </p:scale>
        <p:origin x="176" y="600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F1CD92-DA11-42CA-9E28-F57FD4F371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37265-C715-4164-8B30-E32A9AE553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52FC6-64DD-41BE-A95D-2E3785E1B9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45297-E8C3-4A56-9516-E18309FF2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28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10FA5-98E6-FB4E-97B6-D4EB979E8963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2E1E8-19DD-9846-964E-7494B0E7F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2E1E8-19DD-9846-964E-7494B0E7F5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29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2E1E8-19DD-9846-964E-7494B0E7F5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088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interview questions:</a:t>
            </a:r>
          </a:p>
          <a:p>
            <a:r>
              <a:rPr lang="en-US" dirty="0"/>
              <a:t>Who is authorized to make changes to the firewall, and how are those changes approved?</a:t>
            </a:r>
          </a:p>
          <a:p>
            <a:r>
              <a:rPr lang="en-US" dirty="0"/>
              <a:t>How often are firewall rules reviewed, and when was the last review?</a:t>
            </a:r>
          </a:p>
          <a:p>
            <a:r>
              <a:rPr lang="en-US" dirty="0"/>
              <a:t>If the firewall is vendor-managed, how does the bank oversee that vendor's work?</a:t>
            </a:r>
          </a:p>
          <a:p>
            <a:endParaRPr lang="en-US" dirty="0"/>
          </a:p>
          <a:p>
            <a:r>
              <a:rPr lang="en-US" dirty="0"/>
              <a:t>Model evidence to request:</a:t>
            </a:r>
          </a:p>
          <a:p>
            <a:r>
              <a:rPr lang="en-US" dirty="0"/>
              <a:t>Firewall change log or change management records</a:t>
            </a:r>
          </a:p>
          <a:p>
            <a:r>
              <a:rPr lang="en-US" dirty="0"/>
              <a:t>Most recent firewall rule review or audit</a:t>
            </a:r>
          </a:p>
          <a:p>
            <a:r>
              <a:rPr lang="en-US" dirty="0"/>
              <a:t>Vendor contract or SLA for firewall management, if applicable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interview questions:</a:t>
            </a:r>
          </a:p>
          <a:p>
            <a:r>
              <a:rPr lang="en-US" dirty="0"/>
              <a:t>How is guest network traffic kept separate from internal systems?</a:t>
            </a:r>
          </a:p>
          <a:p>
            <a:r>
              <a:rPr lang="en-US" dirty="0"/>
              <a:t>What prevents a device on one network segment from reaching another?</a:t>
            </a:r>
          </a:p>
          <a:p>
            <a:r>
              <a:rPr lang="en-US" dirty="0"/>
              <a:t>Has segmentation ever actually been tested?</a:t>
            </a:r>
          </a:p>
          <a:p>
            <a:endParaRPr lang="en-US" dirty="0"/>
          </a:p>
          <a:p>
            <a:r>
              <a:rPr lang="en-US" dirty="0"/>
              <a:t>Model evidence to request:</a:t>
            </a:r>
          </a:p>
          <a:p>
            <a:r>
              <a:rPr lang="en-US" dirty="0"/>
              <a:t>Network diagram showing segments or zones</a:t>
            </a:r>
          </a:p>
          <a:p>
            <a:r>
              <a:rPr lang="en-US" dirty="0"/>
              <a:t>Results of any segmentation or penetration testing</a:t>
            </a:r>
          </a:p>
          <a:p>
            <a:r>
              <a:rPr lang="en-US" dirty="0"/>
              <a:t>VLAN or access control list configuration summary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interview questions:</a:t>
            </a:r>
          </a:p>
          <a:p>
            <a:r>
              <a:rPr lang="en-US" dirty="0"/>
              <a:t>What happens if a branch's internet connection goes down?</a:t>
            </a:r>
          </a:p>
          <a:p>
            <a:r>
              <a:rPr lang="en-US" dirty="0"/>
              <a:t>Is there a backup or failover path, and has it been tested?</a:t>
            </a:r>
          </a:p>
          <a:p>
            <a:r>
              <a:rPr lang="en-US" dirty="0"/>
              <a:t>Who is responsible for restoring service if the firewall itself fails?</a:t>
            </a:r>
          </a:p>
          <a:p>
            <a:endParaRPr lang="en-US" dirty="0"/>
          </a:p>
          <a:p>
            <a:r>
              <a:rPr lang="en-US" dirty="0"/>
              <a:t>Model evidence to request:</a:t>
            </a:r>
          </a:p>
          <a:p>
            <a:r>
              <a:rPr lang="en-US" dirty="0"/>
              <a:t>Business continuity / disaster recovery plan</a:t>
            </a:r>
          </a:p>
          <a:p>
            <a:r>
              <a:rPr lang="en-US" dirty="0"/>
              <a:t>Failover test results</a:t>
            </a:r>
          </a:p>
          <a:p>
            <a:r>
              <a:rPr lang="en-US" dirty="0"/>
              <a:t>Firewall or hardware support and replacement contract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interview questions:</a:t>
            </a:r>
          </a:p>
          <a:p>
            <a:r>
              <a:rPr lang="en-US" dirty="0"/>
              <a:t>Who reviews firewall logs and alerts, and how often?</a:t>
            </a:r>
          </a:p>
          <a:p>
            <a:r>
              <a:rPr lang="en-US" dirty="0"/>
              <a:t>What happens after hours or on weekends?</a:t>
            </a:r>
          </a:p>
          <a:p>
            <a:r>
              <a:rPr lang="en-US" dirty="0"/>
              <a:t>How would the bank know if something suspicious happened last night?</a:t>
            </a:r>
          </a:p>
          <a:p>
            <a:endParaRPr lang="en-US" dirty="0"/>
          </a:p>
          <a:p>
            <a:r>
              <a:rPr lang="en-US" dirty="0"/>
              <a:t>Model evidence to request:</a:t>
            </a:r>
          </a:p>
          <a:p>
            <a:r>
              <a:rPr lang="en-US" dirty="0"/>
              <a:t>Sample of recent alert or incident review records</a:t>
            </a:r>
          </a:p>
          <a:p>
            <a:r>
              <a:rPr lang="en-US" dirty="0"/>
              <a:t>Monitoring policy or procedure documentation</a:t>
            </a:r>
          </a:p>
          <a:p>
            <a:r>
              <a:rPr lang="en-US" dirty="0"/>
              <a:t>Escalation or after-hours contact list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interview questions:</a:t>
            </a:r>
          </a:p>
          <a:p>
            <a:r>
              <a:rPr lang="en-US" dirty="0"/>
              <a:t>Is there a written policy governing firewall use and administration?</a:t>
            </a:r>
          </a:p>
          <a:p>
            <a:r>
              <a:rPr lang="en-US" dirty="0"/>
              <a:t>Who approves significant changes to the bank's security posture?</a:t>
            </a:r>
          </a:p>
          <a:p>
            <a:r>
              <a:rPr lang="en-US" dirty="0"/>
              <a:t>How does the bank keep this program current as things change?</a:t>
            </a:r>
          </a:p>
          <a:p>
            <a:endParaRPr lang="en-US" dirty="0"/>
          </a:p>
          <a:p>
            <a:r>
              <a:rPr lang="en-US" dirty="0"/>
              <a:t>Model evidence to request:</a:t>
            </a:r>
          </a:p>
          <a:p>
            <a:r>
              <a:rPr lang="en-US" dirty="0"/>
              <a:t>Written information security or firewall policy</a:t>
            </a:r>
          </a:p>
          <a:p>
            <a:r>
              <a:rPr lang="en-US" dirty="0"/>
              <a:t>Meeting minutes or approvals for security-related decisions</a:t>
            </a:r>
          </a:p>
          <a:p>
            <a:r>
              <a:rPr lang="en-US" dirty="0"/>
              <a:t>Most recent risk assessment covering network security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Hill Associates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4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439" y="204786"/>
            <a:ext cx="15773400" cy="1988345"/>
          </a:xfrm>
        </p:spPr>
        <p:txBody>
          <a:bodyPr/>
          <a:lstStyle>
            <a:lvl1pPr>
              <a:defRPr b="1" i="0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193131"/>
            <a:ext cx="15773400" cy="6967198"/>
          </a:xfrm>
        </p:spPr>
        <p:txBody>
          <a:bodyPr/>
          <a:lstStyle>
            <a:lvl1pPr>
              <a:defRPr b="0" i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  <a:lvl2pPr>
              <a:defRPr b="0" i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2pPr>
            <a:lvl3pPr>
              <a:defRPr b="0" i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3pPr>
            <a:lvl4pPr>
              <a:defRPr b="0" i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4pPr>
            <a:lvl5pPr>
              <a:defRPr b="0" i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Hill Associates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8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Hill Associates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7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Hill Associates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36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Hill Associates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10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Hill Associates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3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Hill Associates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78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Hill Associates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Hill Associates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56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Hill Associates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2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Hill Associates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1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Ful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63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21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473200" y="4343402"/>
            <a:ext cx="15544800" cy="2100263"/>
          </a:xfrm>
        </p:spPr>
        <p:txBody>
          <a:bodyPr/>
          <a:lstStyle>
            <a:lvl1pPr algn="ctr">
              <a:lnSpc>
                <a:spcPct val="90000"/>
              </a:lnSpc>
              <a:defRPr sz="7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021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8343902"/>
            <a:ext cx="15544800" cy="1159670"/>
          </a:xfrm>
        </p:spPr>
        <p:txBody>
          <a:bodyPr/>
          <a:lstStyle>
            <a:lvl1pPr marL="0" indent="0" algn="ctr">
              <a:lnSpc>
                <a:spcPct val="80000"/>
              </a:lnSpc>
              <a:buFont typeface="Wingdings" pitchFamily="2" charset="2"/>
              <a:buNone/>
              <a:defRPr sz="3900">
                <a:solidFill>
                  <a:srgbClr val="4C565A"/>
                </a:solidFill>
                <a:latin typeface="Arial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B11B9B-8F4E-4BC4-8130-714A696E3BE8}"/>
              </a:ext>
            </a:extLst>
          </p:cNvPr>
          <p:cNvGrpSpPr/>
          <p:nvPr userDrawn="1"/>
        </p:nvGrpSpPr>
        <p:grpSpPr>
          <a:xfrm>
            <a:off x="685800" y="865550"/>
            <a:ext cx="3657600" cy="2628899"/>
            <a:chOff x="3784600" y="1828800"/>
            <a:chExt cx="2438400" cy="17525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1F65BE-7918-47FF-B64C-0AF634FD4A96}"/>
                </a:ext>
              </a:extLst>
            </p:cNvPr>
            <p:cNvSpPr/>
            <p:nvPr/>
          </p:nvSpPr>
          <p:spPr bwMode="auto">
            <a:xfrm>
              <a:off x="3784600" y="1828800"/>
              <a:ext cx="2438400" cy="1752599"/>
            </a:xfrm>
            <a:prstGeom prst="rect">
              <a:avLst/>
            </a:prstGeom>
            <a:solidFill>
              <a:srgbClr val="FFFFFF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15406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EFB8F39-2D7E-47F2-9909-46D0E2F15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37000" y="2028825"/>
              <a:ext cx="1983183" cy="14001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6144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6E8DCF4-EBDD-4FE1-8465-FD383573D554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E36F477-0DD7-4923-A829-813EC8FBB589}"/>
              </a:ext>
            </a:extLst>
          </p:cNvPr>
          <p:cNvGrpSpPr/>
          <p:nvPr userDrawn="1"/>
        </p:nvGrpSpPr>
        <p:grpSpPr>
          <a:xfrm>
            <a:off x="15627536" y="898857"/>
            <a:ext cx="2247990" cy="1615743"/>
            <a:chOff x="3784600" y="1952781"/>
            <a:chExt cx="2438400" cy="175259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AC1E56-BE08-42FA-A9F9-21BFC34044CE}"/>
                </a:ext>
              </a:extLst>
            </p:cNvPr>
            <p:cNvSpPr/>
            <p:nvPr/>
          </p:nvSpPr>
          <p:spPr bwMode="auto">
            <a:xfrm>
              <a:off x="3784600" y="1952781"/>
              <a:ext cx="2438400" cy="1752599"/>
            </a:xfrm>
            <a:prstGeom prst="rect">
              <a:avLst/>
            </a:prstGeom>
            <a:solidFill>
              <a:srgbClr val="FFFFFF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15406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571F3C-A8F3-44A9-BC7D-DCDD18F0F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28777" y="2093624"/>
              <a:ext cx="1799629" cy="1270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3370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2171700"/>
            <a:ext cx="8353427" cy="7658100"/>
          </a:xfrm>
        </p:spPr>
        <p:txBody>
          <a:bodyPr/>
          <a:lstStyle>
            <a:lvl1pPr>
              <a:defRPr sz="33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5427" y="2171700"/>
            <a:ext cx="8353424" cy="7658100"/>
          </a:xfrm>
        </p:spPr>
        <p:txBody>
          <a:bodyPr/>
          <a:lstStyle>
            <a:lvl1pPr>
              <a:defRPr sz="33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6728E46-6CCC-4700-BAC6-A5BE0E758C8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90E1B0E-F32A-4A0E-A603-9D760BD4BF4B}"/>
              </a:ext>
            </a:extLst>
          </p:cNvPr>
          <p:cNvGrpSpPr/>
          <p:nvPr userDrawn="1"/>
        </p:nvGrpSpPr>
        <p:grpSpPr>
          <a:xfrm>
            <a:off x="15627536" y="898857"/>
            <a:ext cx="2247990" cy="1615743"/>
            <a:chOff x="3784600" y="1952781"/>
            <a:chExt cx="2438400" cy="17525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3CFF9C4-1931-4883-B7CC-082C4FBBC56E}"/>
                </a:ext>
              </a:extLst>
            </p:cNvPr>
            <p:cNvSpPr/>
            <p:nvPr/>
          </p:nvSpPr>
          <p:spPr bwMode="auto">
            <a:xfrm>
              <a:off x="3784600" y="1952781"/>
              <a:ext cx="2438400" cy="1752599"/>
            </a:xfrm>
            <a:prstGeom prst="rect">
              <a:avLst/>
            </a:prstGeom>
            <a:solidFill>
              <a:srgbClr val="FFFFFF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15406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A74DFBB-B6D3-4291-BC6E-E3A1926A9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28777" y="2093624"/>
              <a:ext cx="1799629" cy="1270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4654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1" y="1828800"/>
            <a:ext cx="8080376" cy="959643"/>
          </a:xfrm>
        </p:spPr>
        <p:txBody>
          <a:bodyPr anchor="b"/>
          <a:lstStyle>
            <a:lvl1pPr marL="0" indent="0">
              <a:buNone/>
              <a:defRPr sz="3600" b="1" i="1">
                <a:solidFill>
                  <a:srgbClr val="E23A30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409" y="2857500"/>
            <a:ext cx="8226368" cy="6858000"/>
          </a:xfrm>
        </p:spPr>
        <p:txBody>
          <a:bodyPr/>
          <a:lstStyle>
            <a:lvl1pPr>
              <a:defRPr sz="33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3" y="1828800"/>
            <a:ext cx="8083550" cy="959643"/>
          </a:xfrm>
        </p:spPr>
        <p:txBody>
          <a:bodyPr anchor="b"/>
          <a:lstStyle>
            <a:lvl1pPr marL="0" indent="0">
              <a:buNone/>
              <a:defRPr sz="3600" b="1" i="1">
                <a:solidFill>
                  <a:srgbClr val="E23A30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44002" y="2857500"/>
            <a:ext cx="8229600" cy="6858000"/>
          </a:xfrm>
        </p:spPr>
        <p:txBody>
          <a:bodyPr/>
          <a:lstStyle>
            <a:lvl1pPr>
              <a:defRPr sz="33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3B8A5F-FA89-44A6-8CAF-38AEABA584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4478000" cy="1028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572A2D3-09BF-499A-A004-030D65E3AE69}"/>
              </a:ext>
            </a:extLst>
          </p:cNvPr>
          <p:cNvGrpSpPr/>
          <p:nvPr userDrawn="1"/>
        </p:nvGrpSpPr>
        <p:grpSpPr>
          <a:xfrm>
            <a:off x="15627536" y="898857"/>
            <a:ext cx="2247990" cy="1615743"/>
            <a:chOff x="3784600" y="1952781"/>
            <a:chExt cx="2438400" cy="175259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9834F0-6E7D-4116-B271-024B72517E40}"/>
                </a:ext>
              </a:extLst>
            </p:cNvPr>
            <p:cNvSpPr/>
            <p:nvPr/>
          </p:nvSpPr>
          <p:spPr bwMode="auto">
            <a:xfrm>
              <a:off x="3784600" y="1952781"/>
              <a:ext cx="2438400" cy="1752599"/>
            </a:xfrm>
            <a:prstGeom prst="rect">
              <a:avLst/>
            </a:prstGeom>
            <a:solidFill>
              <a:srgbClr val="FFFFFF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15406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E2754DD-1969-4A5D-A2B5-C73F88137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28777" y="2093624"/>
              <a:ext cx="1799629" cy="1270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4095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B67DA5-9DD9-4BCA-8370-9CA784C1DE9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5DFE1C-4910-4C32-B5CB-59564CAF2AC8}"/>
              </a:ext>
            </a:extLst>
          </p:cNvPr>
          <p:cNvGrpSpPr/>
          <p:nvPr userDrawn="1"/>
        </p:nvGrpSpPr>
        <p:grpSpPr>
          <a:xfrm>
            <a:off x="15627536" y="898857"/>
            <a:ext cx="2247990" cy="1615743"/>
            <a:chOff x="3784600" y="1952781"/>
            <a:chExt cx="2438400" cy="17525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D6D32C-6F1B-4977-B375-D3D44A6DFA92}"/>
                </a:ext>
              </a:extLst>
            </p:cNvPr>
            <p:cNvSpPr/>
            <p:nvPr/>
          </p:nvSpPr>
          <p:spPr bwMode="auto">
            <a:xfrm>
              <a:off x="3784600" y="1952781"/>
              <a:ext cx="2438400" cy="1752599"/>
            </a:xfrm>
            <a:prstGeom prst="rect">
              <a:avLst/>
            </a:prstGeom>
            <a:solidFill>
              <a:srgbClr val="FFFFFF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15406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00A7623-599B-48AE-8B02-75813559C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28777" y="2093624"/>
              <a:ext cx="1799629" cy="1270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8774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5416C4-976B-49A2-8A0D-BDA9290581E1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45445C-72CD-48DC-8306-FF7E10F7C9A2}"/>
              </a:ext>
            </a:extLst>
          </p:cNvPr>
          <p:cNvGrpSpPr/>
          <p:nvPr userDrawn="1"/>
        </p:nvGrpSpPr>
        <p:grpSpPr>
          <a:xfrm>
            <a:off x="15627536" y="898857"/>
            <a:ext cx="2247990" cy="1615743"/>
            <a:chOff x="3784600" y="1952781"/>
            <a:chExt cx="2438400" cy="17525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373A853-775D-4128-990F-4D959C82815C}"/>
                </a:ext>
              </a:extLst>
            </p:cNvPr>
            <p:cNvSpPr/>
            <p:nvPr/>
          </p:nvSpPr>
          <p:spPr bwMode="auto">
            <a:xfrm>
              <a:off x="3784600" y="1952781"/>
              <a:ext cx="2438400" cy="1752599"/>
            </a:xfrm>
            <a:prstGeom prst="rect">
              <a:avLst/>
            </a:prstGeom>
            <a:solidFill>
              <a:srgbClr val="FFFFFF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15406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E586EAC-5C5A-4A6B-9E80-0A0BA3F64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28777" y="2093624"/>
              <a:ext cx="1799629" cy="1270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9605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4478000" cy="1028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2" y="2171700"/>
            <a:ext cx="17011650" cy="76581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5400" y="9829800"/>
            <a:ext cx="1498601" cy="600075"/>
          </a:xfrm>
        </p:spPr>
        <p:txBody>
          <a:bodyPr/>
          <a:lstStyle>
            <a:lvl1pPr>
              <a:defRPr/>
            </a:lvl1pPr>
          </a:lstStyle>
          <a:p>
            <a:fld id="{F3DBB2C8-7501-47ED-BE63-6A2BF2C0A9C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3E21666-214D-4E25-A102-11D19EC94679}"/>
              </a:ext>
            </a:extLst>
          </p:cNvPr>
          <p:cNvGrpSpPr/>
          <p:nvPr userDrawn="1"/>
        </p:nvGrpSpPr>
        <p:grpSpPr>
          <a:xfrm>
            <a:off x="15627536" y="898857"/>
            <a:ext cx="2247990" cy="1615743"/>
            <a:chOff x="3784600" y="1952781"/>
            <a:chExt cx="2438400" cy="175259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A0D361-D363-4FCF-A26A-54C18695E0FC}"/>
                </a:ext>
              </a:extLst>
            </p:cNvPr>
            <p:cNvSpPr/>
            <p:nvPr/>
          </p:nvSpPr>
          <p:spPr bwMode="auto">
            <a:xfrm>
              <a:off x="3784600" y="1952781"/>
              <a:ext cx="2438400" cy="1752599"/>
            </a:xfrm>
            <a:prstGeom prst="rect">
              <a:avLst/>
            </a:prstGeom>
            <a:solidFill>
              <a:srgbClr val="FFFFFF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15406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32E5305-A099-403C-8A8F-EDA0AF4EC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28777" y="2093624"/>
              <a:ext cx="1799629" cy="12705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4601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9A86CED-FF10-4A3B-B08A-A634AA73B437}"/>
              </a:ext>
            </a:extLst>
          </p:cNvPr>
          <p:cNvGrpSpPr/>
          <p:nvPr userDrawn="1"/>
        </p:nvGrpSpPr>
        <p:grpSpPr>
          <a:xfrm>
            <a:off x="15627536" y="898857"/>
            <a:ext cx="2247990" cy="1615743"/>
            <a:chOff x="3784600" y="1952781"/>
            <a:chExt cx="2438400" cy="17525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F5CC47-1C96-43D4-8943-05B86E69EC08}"/>
                </a:ext>
              </a:extLst>
            </p:cNvPr>
            <p:cNvSpPr/>
            <p:nvPr/>
          </p:nvSpPr>
          <p:spPr bwMode="auto">
            <a:xfrm>
              <a:off x="3784600" y="1952781"/>
              <a:ext cx="2438400" cy="1752599"/>
            </a:xfrm>
            <a:prstGeom prst="rect">
              <a:avLst/>
            </a:prstGeom>
            <a:solidFill>
              <a:srgbClr val="FFFFFF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154067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3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C0E1746-3FA3-4614-9B47-3C6ABE1AE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28777" y="2093624"/>
              <a:ext cx="1799629" cy="1270578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9B77CF5-3B72-4D3E-8894-E634CC995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F4C9F-E6A7-45E3-85B8-543155841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85ADE-73F2-433C-9F2B-AB922498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705-8523-46A2-A3B2-2B38235B534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3BD03-2AB0-416A-B3EA-079DE81A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DB8E0-4D86-4A6F-8340-85E4C7EF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D9D12-19B9-42AB-8AD7-5653C77A8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05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73D457C-25ED-9A44-A323-71B6ADD9446C}"/>
              </a:ext>
            </a:extLst>
          </p:cNvPr>
          <p:cNvSpPr/>
          <p:nvPr userDrawn="1"/>
        </p:nvSpPr>
        <p:spPr>
          <a:xfrm>
            <a:off x="0" y="0"/>
            <a:ext cx="18288000" cy="5476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Hill Associates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EFABEC-E756-8E44-841A-502FD0AAB099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66634" y="0"/>
            <a:ext cx="1021366" cy="5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21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61" r:id="rId12"/>
  </p:sldLayoutIdLst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0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144780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76" tIns="45689" rIns="91376" bIns="456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Here for title </a:t>
            </a:r>
          </a:p>
        </p:txBody>
      </p:sp>
      <p:sp>
        <p:nvSpPr>
          <p:cNvPr id="380109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2" y="2171700"/>
            <a:ext cx="17011650" cy="765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76" tIns="45689" rIns="91376" bIns="456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First Bullet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  <a:p>
            <a:pPr lvl="4"/>
            <a:endParaRPr lang="en-US"/>
          </a:p>
        </p:txBody>
      </p:sp>
      <p:sp>
        <p:nvSpPr>
          <p:cNvPr id="380109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400" y="9829800"/>
            <a:ext cx="1498601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80000"/>
              </a:lnSpc>
              <a:defRPr sz="1350" b="0">
                <a:latin typeface="+mj-lt"/>
              </a:defRPr>
            </a:lvl1pPr>
          </a:lstStyle>
          <a:p>
            <a:fld id="{1DB1BB89-678D-4E59-AA99-3F7365C7B2A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7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</p:sldLayoutIdLst>
  <p:hf hdr="0" ftr="0" dt="0"/>
  <p:txStyles>
    <p:titleStyle>
      <a:lvl1pPr algn="l" defTabSz="1369220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900" b="1">
          <a:solidFill>
            <a:schemeClr val="bg1"/>
          </a:solidFill>
          <a:latin typeface="+mj-lt"/>
          <a:ea typeface="+mj-ea"/>
          <a:cs typeface="+mj-cs"/>
        </a:defRPr>
      </a:lvl1pPr>
      <a:lvl2pPr algn="l" defTabSz="1369220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900" b="1">
          <a:solidFill>
            <a:schemeClr val="bg1"/>
          </a:solidFill>
          <a:latin typeface="Arial" charset="0"/>
        </a:defRPr>
      </a:lvl2pPr>
      <a:lvl3pPr algn="l" defTabSz="1369220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900" b="1">
          <a:solidFill>
            <a:schemeClr val="bg1"/>
          </a:solidFill>
          <a:latin typeface="Arial" charset="0"/>
        </a:defRPr>
      </a:lvl3pPr>
      <a:lvl4pPr algn="l" defTabSz="1369220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900" b="1">
          <a:solidFill>
            <a:schemeClr val="bg1"/>
          </a:solidFill>
          <a:latin typeface="Arial" charset="0"/>
        </a:defRPr>
      </a:lvl4pPr>
      <a:lvl5pPr algn="l" defTabSz="1369220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900" b="1">
          <a:solidFill>
            <a:schemeClr val="bg1"/>
          </a:solidFill>
          <a:latin typeface="Arial" charset="0"/>
        </a:defRPr>
      </a:lvl5pPr>
      <a:lvl6pPr marL="685800" algn="l" defTabSz="1369220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900" b="1">
          <a:solidFill>
            <a:schemeClr val="bg1"/>
          </a:solidFill>
          <a:latin typeface="Arial" charset="0"/>
        </a:defRPr>
      </a:lvl6pPr>
      <a:lvl7pPr marL="1371600" algn="l" defTabSz="1369220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900" b="1">
          <a:solidFill>
            <a:schemeClr val="bg1"/>
          </a:solidFill>
          <a:latin typeface="Arial" charset="0"/>
        </a:defRPr>
      </a:lvl7pPr>
      <a:lvl8pPr marL="2057400" algn="l" defTabSz="1369220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900" b="1">
          <a:solidFill>
            <a:schemeClr val="bg1"/>
          </a:solidFill>
          <a:latin typeface="Arial" charset="0"/>
        </a:defRPr>
      </a:lvl8pPr>
      <a:lvl9pPr marL="2743200" algn="l" defTabSz="1369220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900" b="1">
          <a:solidFill>
            <a:schemeClr val="bg1"/>
          </a:solidFill>
          <a:latin typeface="Arial" charset="0"/>
        </a:defRPr>
      </a:lvl9pPr>
    </p:titleStyle>
    <p:bodyStyle>
      <a:lvl1pPr marL="433388" indent="-433388" algn="l" defTabSz="1369220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SzPct val="75000"/>
        <a:buFont typeface="Wingdings" pitchFamily="2" charset="2"/>
        <a:buChar char="l"/>
        <a:defRPr sz="3300" b="1">
          <a:solidFill>
            <a:schemeClr val="tx1"/>
          </a:solidFill>
          <a:latin typeface="+mn-lt"/>
          <a:ea typeface="+mn-ea"/>
          <a:cs typeface="+mn-cs"/>
        </a:defRPr>
      </a:lvl1pPr>
      <a:lvl2pPr marL="1119188" indent="-442913" algn="l" defTabSz="1369220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Symbol" pitchFamily="18" charset="2"/>
        <a:buChar char="-"/>
        <a:defRPr sz="3000" b="1">
          <a:solidFill>
            <a:schemeClr val="tx1"/>
          </a:solidFill>
          <a:latin typeface="+mn-lt"/>
        </a:defRPr>
      </a:lvl2pPr>
      <a:lvl3pPr marL="1719263" indent="-381000" algn="l" defTabSz="1369220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Symbol" pitchFamily="18" charset="2"/>
        <a:buChar char="-"/>
        <a:defRPr b="1">
          <a:solidFill>
            <a:schemeClr val="tx1"/>
          </a:solidFill>
          <a:latin typeface="+mn-lt"/>
        </a:defRPr>
      </a:lvl3pPr>
      <a:lvl4pPr marL="2202657" indent="-292895" algn="l" defTabSz="1369220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-"/>
        <a:defRPr b="1">
          <a:solidFill>
            <a:schemeClr val="tx1"/>
          </a:solidFill>
          <a:latin typeface="+mn-lt"/>
        </a:defRPr>
      </a:lvl4pPr>
      <a:lvl5pPr marL="2686050" indent="-290513" algn="l" defTabSz="1369220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-"/>
        <a:defRPr sz="3000" b="1">
          <a:solidFill>
            <a:schemeClr val="tx1"/>
          </a:solidFill>
          <a:latin typeface="+mn-lt"/>
        </a:defRPr>
      </a:lvl5pPr>
      <a:lvl6pPr marL="3371850" indent="-290513" algn="l" defTabSz="1369220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-"/>
        <a:defRPr sz="3000" b="1">
          <a:solidFill>
            <a:schemeClr val="tx1"/>
          </a:solidFill>
          <a:latin typeface="+mn-lt"/>
        </a:defRPr>
      </a:lvl6pPr>
      <a:lvl7pPr marL="4057650" indent="-290513" algn="l" defTabSz="1369220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-"/>
        <a:defRPr sz="3000" b="1">
          <a:solidFill>
            <a:schemeClr val="tx1"/>
          </a:solidFill>
          <a:latin typeface="+mn-lt"/>
        </a:defRPr>
      </a:lvl7pPr>
      <a:lvl8pPr marL="4743450" indent="-290513" algn="l" defTabSz="1369220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-"/>
        <a:defRPr sz="3000" b="1">
          <a:solidFill>
            <a:schemeClr val="tx1"/>
          </a:solidFill>
          <a:latin typeface="+mn-lt"/>
        </a:defRPr>
      </a:lvl8pPr>
      <a:lvl9pPr marL="5429250" indent="-290513" algn="l" defTabSz="1369220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-"/>
        <a:defRPr sz="3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3535-66E5-A001-D4D3-C38B37C8BF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DIIF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2E747-B99F-981C-6056-88F0E848F0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4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92E9B-1A7C-4650-D94A-65A87F4B7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84450-FAAD-DE18-C6B6-B21DF3A1C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Pine Valley Network Design Review</a:t>
            </a:r>
          </a:p>
          <a:p>
            <a:pPr lvl="1"/>
            <a:r>
              <a:rPr lang="en-US" dirty="0"/>
              <a:t>Each table reviews a branch network for Pine Valley.</a:t>
            </a:r>
          </a:p>
          <a:p>
            <a:r>
              <a:rPr lang="en-US" dirty="0"/>
              <a:t>Find us a Small Bank Firewall</a:t>
            </a:r>
          </a:p>
          <a:p>
            <a:pPr lvl="1"/>
            <a:r>
              <a:rPr lang="en-US" dirty="0"/>
              <a:t>Each table recommends a firewall for the bank to buy or lease.</a:t>
            </a:r>
          </a:p>
          <a:p>
            <a:r>
              <a:rPr lang="en-US" dirty="0"/>
              <a:t>Build your exam toolkit</a:t>
            </a:r>
          </a:p>
          <a:p>
            <a:pPr lvl="1"/>
            <a:r>
              <a:rPr lang="en-US" dirty="0"/>
              <a:t>Imagine what you’d ask and request in an exam</a:t>
            </a:r>
          </a:p>
        </p:txBody>
      </p:sp>
    </p:spTree>
    <p:extLst>
      <p:ext uri="{BB962C8B-B14F-4D97-AF65-F5344CB8AC3E}">
        <p14:creationId xmlns:p14="http://schemas.microsoft.com/office/powerpoint/2010/main" val="472683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D72C6-3FD5-9A54-71B6-A279A72AB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84F96-B81E-6858-F13A-6225AED197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C28BC6D-2D13-CCFC-AA39-01C4665C10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85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85FF4-FB4B-1D1B-FFBF-C3D264AB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Pine Valley Network Design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F55DC-4C66-F4DA-8783-B6D868831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table gets a different Pine Valley branch, with visit notes describing something the branch manager or IT found there</a:t>
            </a:r>
          </a:p>
          <a:p>
            <a:r>
              <a:rPr lang="en-US" dirty="0"/>
              <a:t>Your table’s job: read the notes and figure out what's actually wrong — and what could go wrong because of it</a:t>
            </a:r>
          </a:p>
          <a:p>
            <a:r>
              <a:rPr lang="en-US" dirty="0"/>
              <a:t>Discuss as a table for about 30 minutes, using the questions on your slide as a guide</a:t>
            </a:r>
          </a:p>
          <a:p>
            <a:r>
              <a:rPr lang="en-US" dirty="0"/>
              <a:t>One person per table reports back — every branch has a different problem, </a:t>
            </a:r>
            <a:r>
              <a:rPr lang="en-US"/>
              <a:t>so you'll </a:t>
            </a:r>
            <a:r>
              <a:rPr lang="en-US" dirty="0"/>
              <a:t>hear five different stories</a:t>
            </a:r>
          </a:p>
        </p:txBody>
      </p:sp>
    </p:spTree>
    <p:extLst>
      <p:ext uri="{BB962C8B-B14F-4D97-AF65-F5344CB8AC3E}">
        <p14:creationId xmlns:p14="http://schemas.microsoft.com/office/powerpoint/2010/main" val="1426000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1: Maple Street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Branch visit notes:</a:t>
            </a:r>
          </a:p>
          <a:p>
            <a:pPr lvl="1"/>
            <a:r>
              <a:rPr lang="en-US" dirty="0"/>
              <a:t>The branch firewall has an “allow any” rule permitting all outbound traffic, put in place when the firewall was installed.</a:t>
            </a:r>
          </a:p>
          <a:p>
            <a:pPr lvl="1"/>
            <a:r>
              <a:rPr lang="en-US" dirty="0"/>
              <a:t>Nobody at the branch — or at Northwoods, the bank’s MSP — remembers why it’s there.</a:t>
            </a:r>
          </a:p>
          <a:p>
            <a:pPr lvl="1"/>
            <a:r>
              <a:rPr lang="en-US" dirty="0"/>
              <a:t>It has never once been reviewed since installation.</a:t>
            </a:r>
          </a:p>
          <a:p>
            <a:endParaRPr lang="en-US" dirty="0"/>
          </a:p>
          <a:p>
            <a:r>
              <a:rPr lang="en-US" dirty="0"/>
              <a:t>Discuss at your table:</a:t>
            </a:r>
          </a:p>
          <a:p>
            <a:pPr lvl="1"/>
            <a:r>
              <a:rPr lang="en-US" dirty="0"/>
              <a:t>What’s the risk here, in plain language — what could actually happen?</a:t>
            </a:r>
          </a:p>
          <a:p>
            <a:pPr lvl="1"/>
            <a:r>
              <a:rPr lang="en-US" dirty="0"/>
              <a:t>Whose job was it to catch this, and why didn’t they?</a:t>
            </a:r>
          </a:p>
          <a:p>
            <a:pPr lvl="1"/>
            <a:r>
              <a:rPr lang="en-US" dirty="0"/>
              <a:t>What would you tell Tom to fix, and how urgently?</a:t>
            </a:r>
          </a:p>
          <a:p>
            <a:pPr lvl="1"/>
            <a:r>
              <a:rPr lang="en-US" dirty="0"/>
              <a:t>What would you ask about if you found this during an exam?</a:t>
            </a:r>
          </a:p>
        </p:txBody>
      </p:sp>
    </p:spTree>
    <p:extLst>
      <p:ext uri="{BB962C8B-B14F-4D97-AF65-F5344CB8AC3E}">
        <p14:creationId xmlns:p14="http://schemas.microsoft.com/office/powerpoint/2010/main" val="629465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2: Riverside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Branch visit notes:</a:t>
            </a:r>
          </a:p>
          <a:p>
            <a:pPr lvl="1"/>
            <a:r>
              <a:rPr lang="en-US" dirty="0"/>
              <a:t>Riverside’s firewall is fully managed by Northwoods Technology Services.</a:t>
            </a:r>
          </a:p>
          <a:p>
            <a:pPr lvl="1"/>
            <a:r>
              <a:rPr lang="en-US" dirty="0"/>
              <a:t>When asked who can make changes to it, the branch manager shrugs: “Northwoods handles all that.”</a:t>
            </a:r>
          </a:p>
          <a:p>
            <a:pPr lvl="1"/>
            <a:r>
              <a:rPr lang="en-US" dirty="0"/>
              <a:t>She can’t say how she’d know if a change had been made, or who approved it.</a:t>
            </a:r>
          </a:p>
          <a:p>
            <a:endParaRPr lang="en-US" dirty="0"/>
          </a:p>
          <a:p>
            <a:r>
              <a:rPr lang="en-US" dirty="0"/>
              <a:t>Discuss at your table:</a:t>
            </a:r>
          </a:p>
          <a:p>
            <a:pPr lvl="1"/>
            <a:r>
              <a:rPr lang="en-US" dirty="0"/>
              <a:t>What’s the risk here, in plain language — what could actually happen?</a:t>
            </a:r>
          </a:p>
          <a:p>
            <a:pPr lvl="1"/>
            <a:r>
              <a:rPr lang="en-US" dirty="0"/>
              <a:t>Whose job was it to catch this, and why didn’t they?</a:t>
            </a:r>
          </a:p>
          <a:p>
            <a:pPr lvl="1"/>
            <a:r>
              <a:rPr lang="en-US" dirty="0"/>
              <a:t>What would you tell Tom to fix, and how urgently?</a:t>
            </a:r>
          </a:p>
          <a:p>
            <a:pPr lvl="1"/>
            <a:r>
              <a:rPr lang="en-US" dirty="0"/>
              <a:t>What would you ask about if you found this during an exam?</a:t>
            </a:r>
          </a:p>
        </p:txBody>
      </p:sp>
    </p:spTree>
    <p:extLst>
      <p:ext uri="{BB962C8B-B14F-4D97-AF65-F5344CB8AC3E}">
        <p14:creationId xmlns:p14="http://schemas.microsoft.com/office/powerpoint/2010/main" val="629465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3: Elm Street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Branch visit notes:</a:t>
            </a:r>
          </a:p>
          <a:p>
            <a:pPr lvl="1"/>
            <a:r>
              <a:rPr lang="en-US" dirty="0"/>
              <a:t>The branch’s guest Wi-Fi has been slow, so an employee brought in a personal travel router from home.</a:t>
            </a:r>
          </a:p>
          <a:p>
            <a:pPr lvl="1"/>
            <a:r>
              <a:rPr lang="en-US" dirty="0"/>
              <a:t>It’s plugged into an open network jack, creating a second connection straight out to the internet — outside the branch firewall.</a:t>
            </a:r>
          </a:p>
          <a:p>
            <a:pPr lvl="1"/>
            <a:r>
              <a:rPr lang="en-US" dirty="0"/>
              <a:t>It’s been running for three weeks and nobody has flagged it.</a:t>
            </a:r>
          </a:p>
          <a:p>
            <a:endParaRPr lang="en-US" dirty="0"/>
          </a:p>
          <a:p>
            <a:r>
              <a:rPr lang="en-US" dirty="0"/>
              <a:t>Discuss at your table:</a:t>
            </a:r>
          </a:p>
          <a:p>
            <a:pPr lvl="1"/>
            <a:r>
              <a:rPr lang="en-US" dirty="0"/>
              <a:t>What’s the risk here, in plain language — what could actually happen?</a:t>
            </a:r>
          </a:p>
          <a:p>
            <a:pPr lvl="1"/>
            <a:r>
              <a:rPr lang="en-US" dirty="0"/>
              <a:t>Whose job was it to catch this, and why didn’t they?</a:t>
            </a:r>
          </a:p>
          <a:p>
            <a:pPr lvl="1"/>
            <a:r>
              <a:rPr lang="en-US" dirty="0"/>
              <a:t>What would you tell Tom to fix, and how urgently?</a:t>
            </a:r>
          </a:p>
          <a:p>
            <a:pPr lvl="1"/>
            <a:r>
              <a:rPr lang="en-US" dirty="0"/>
              <a:t>What would you ask about if you found this during an exam?</a:t>
            </a:r>
          </a:p>
        </p:txBody>
      </p:sp>
    </p:spTree>
    <p:extLst>
      <p:ext uri="{BB962C8B-B14F-4D97-AF65-F5344CB8AC3E}">
        <p14:creationId xmlns:p14="http://schemas.microsoft.com/office/powerpoint/2010/main" val="629465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4: Hillside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Branch visit notes:</a:t>
            </a:r>
          </a:p>
          <a:p>
            <a:pPr lvl="1"/>
            <a:r>
              <a:rPr lang="en-US" dirty="0"/>
              <a:t>Hillside’s firewall appliance was installed seven years ago and reached end-of-support last year.</a:t>
            </a:r>
          </a:p>
          <a:p>
            <a:pPr lvl="1"/>
            <a:r>
              <a:rPr lang="en-US" dirty="0"/>
              <a:t>Nobody has applied a firmware update in over a year.</a:t>
            </a:r>
          </a:p>
          <a:p>
            <a:pPr lvl="1"/>
            <a:r>
              <a:rPr lang="en-US" dirty="0"/>
              <a:t>The branch has no maintenance contract covering the device.</a:t>
            </a:r>
          </a:p>
          <a:p>
            <a:endParaRPr lang="en-US" dirty="0"/>
          </a:p>
          <a:p>
            <a:r>
              <a:rPr lang="en-US" dirty="0"/>
              <a:t>Discuss at your table:</a:t>
            </a:r>
          </a:p>
          <a:p>
            <a:pPr lvl="1"/>
            <a:r>
              <a:rPr lang="en-US" dirty="0"/>
              <a:t>What’s the risk here, in plain language — what could actually happen?</a:t>
            </a:r>
          </a:p>
          <a:p>
            <a:pPr lvl="1"/>
            <a:r>
              <a:rPr lang="en-US" dirty="0"/>
              <a:t>Whose job was it to catch this, and why didn’t they?</a:t>
            </a:r>
          </a:p>
          <a:p>
            <a:pPr lvl="1"/>
            <a:r>
              <a:rPr lang="en-US" dirty="0"/>
              <a:t>What would you tell Tom to fix, and how urgently?</a:t>
            </a:r>
          </a:p>
          <a:p>
            <a:pPr lvl="1"/>
            <a:r>
              <a:rPr lang="en-US" dirty="0"/>
              <a:t>What would you ask about if you found this during an exam?</a:t>
            </a:r>
          </a:p>
        </p:txBody>
      </p:sp>
    </p:spTree>
    <p:extLst>
      <p:ext uri="{BB962C8B-B14F-4D97-AF65-F5344CB8AC3E}">
        <p14:creationId xmlns:p14="http://schemas.microsoft.com/office/powerpoint/2010/main" val="629465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5: Downtown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Branch visit notes:</a:t>
            </a:r>
          </a:p>
          <a:p>
            <a:pPr lvl="1"/>
            <a:r>
              <a:rPr lang="en-US" dirty="0"/>
              <a:t>Downtown’s customer guest Wi-Fi and teller workstations are supposed to be on separate networks.</a:t>
            </a:r>
          </a:p>
          <a:p>
            <a:pPr lvl="1"/>
            <a:r>
              <a:rPr lang="en-US" dirty="0"/>
              <a:t>Last month, a customer mentioned they could see a bank printer show up when they connected to guest Wi-Fi.</a:t>
            </a:r>
          </a:p>
          <a:p>
            <a:pPr lvl="1"/>
            <a:r>
              <a:rPr lang="en-US" dirty="0"/>
              <a:t>Nobody at the branch can explain how that’s possible.</a:t>
            </a:r>
          </a:p>
          <a:p>
            <a:endParaRPr lang="en-US" dirty="0"/>
          </a:p>
          <a:p>
            <a:r>
              <a:rPr lang="en-US" dirty="0"/>
              <a:t>Discuss at your table:</a:t>
            </a:r>
          </a:p>
          <a:p>
            <a:pPr lvl="1"/>
            <a:r>
              <a:rPr lang="en-US" dirty="0"/>
              <a:t>What’s the risk here, in plain language — what could actually happen?</a:t>
            </a:r>
          </a:p>
          <a:p>
            <a:pPr lvl="1"/>
            <a:r>
              <a:rPr lang="en-US" dirty="0"/>
              <a:t>Whose job was it to catch this, and why didn’t they?</a:t>
            </a:r>
          </a:p>
          <a:p>
            <a:pPr lvl="1"/>
            <a:r>
              <a:rPr lang="en-US" dirty="0"/>
              <a:t>What would you tell Tom to fix, and how urgently?</a:t>
            </a:r>
          </a:p>
          <a:p>
            <a:pPr lvl="1"/>
            <a:r>
              <a:rPr lang="en-US" dirty="0"/>
              <a:t>What would you ask about if you found this during an exam?</a:t>
            </a:r>
          </a:p>
        </p:txBody>
      </p:sp>
    </p:spTree>
    <p:extLst>
      <p:ext uri="{BB962C8B-B14F-4D97-AF65-F5344CB8AC3E}">
        <p14:creationId xmlns:p14="http://schemas.microsoft.com/office/powerpoint/2010/main" val="629465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C7454-068E-5948-BF1A-0A4F8902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718E20-1B8C-AF23-D779-5DD2028AF9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6525FD7-B929-1CA9-FD66-E15675F5B2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19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08CFDF-572A-5F46-87F7-21B82AA57384}"/>
              </a:ext>
            </a:extLst>
          </p:cNvPr>
          <p:cNvSpPr/>
          <p:nvPr/>
        </p:nvSpPr>
        <p:spPr>
          <a:xfrm>
            <a:off x="0" y="575733"/>
            <a:ext cx="18288000" cy="9711267"/>
          </a:xfrm>
          <a:prstGeom prst="rect">
            <a:avLst/>
          </a:prstGeom>
          <a:solidFill>
            <a:srgbClr val="EE4C59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Find us a </a:t>
            </a:r>
            <a:r>
              <a:rPr lang="en-US" dirty="0" err="1"/>
              <a:t>FinSec</a:t>
            </a:r>
            <a:r>
              <a:rPr lang="en-US" dirty="0"/>
              <a:t> 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table will consider a firewall platform from a major vendor.</a:t>
            </a:r>
          </a:p>
          <a:p>
            <a:r>
              <a:rPr lang="en-US" dirty="0"/>
              <a:t>You’re looking to secure PVB</a:t>
            </a:r>
          </a:p>
          <a:p>
            <a:pPr lvl="1"/>
            <a:r>
              <a:rPr lang="en-US" dirty="0"/>
              <a:t>1 HQ, 5 branches, 90 employees, 15,000 customers</a:t>
            </a:r>
          </a:p>
          <a:p>
            <a:pPr lvl="1"/>
            <a:r>
              <a:rPr lang="en-US" dirty="0"/>
              <a:t>Some in-house talent (Tom) but assume outside management/SOC</a:t>
            </a:r>
          </a:p>
          <a:p>
            <a:endParaRPr lang="en-US" dirty="0"/>
          </a:p>
          <a:p>
            <a:r>
              <a:rPr lang="en-US" dirty="0"/>
              <a:t>Things you’re concerned with:</a:t>
            </a:r>
          </a:p>
          <a:p>
            <a:pPr lvl="1"/>
            <a:r>
              <a:rPr lang="en-US" dirty="0"/>
              <a:t>Cost (this may be hard to find, just Google around)</a:t>
            </a:r>
          </a:p>
          <a:p>
            <a:pPr lvl="1"/>
            <a:r>
              <a:rPr lang="en-US" dirty="0"/>
              <a:t>Ease of use</a:t>
            </a:r>
          </a:p>
          <a:p>
            <a:pPr lvl="1"/>
            <a:r>
              <a:rPr lang="en-US" dirty="0"/>
              <a:t>Comprehensiveness of solution</a:t>
            </a:r>
          </a:p>
          <a:p>
            <a:pPr lvl="2"/>
            <a:r>
              <a:rPr lang="en-US" dirty="0"/>
              <a:t>Types of threats protected against</a:t>
            </a:r>
          </a:p>
          <a:p>
            <a:pPr lvl="1"/>
            <a:r>
              <a:rPr lang="en-US" dirty="0"/>
              <a:t>Investment Protection</a:t>
            </a:r>
          </a:p>
          <a:p>
            <a:pPr lvl="2"/>
            <a:r>
              <a:rPr lang="en-US" dirty="0"/>
              <a:t>Cloud readiness</a:t>
            </a:r>
          </a:p>
          <a:p>
            <a:pPr lvl="2"/>
            <a:r>
              <a:rPr lang="en-US" dirty="0"/>
              <a:t>Room to grow/expand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DE612-848D-6B4C-9B36-92254B1431EF}"/>
              </a:ext>
            </a:extLst>
          </p:cNvPr>
          <p:cNvSpPr txBox="1"/>
          <p:nvPr/>
        </p:nvSpPr>
        <p:spPr>
          <a:xfrm>
            <a:off x="12948558" y="4656214"/>
            <a:ext cx="5029726" cy="507831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3600" dirty="0">
                <a:solidFill>
                  <a:srgbClr val="FF0000"/>
                </a:solidFill>
              </a:rPr>
              <a:t>Companies to Consider:</a:t>
            </a:r>
          </a:p>
          <a:p>
            <a:pPr algn="l"/>
            <a:endParaRPr lang="en-US" sz="3600" dirty="0">
              <a:solidFill>
                <a:srgbClr val="FF0000"/>
              </a:solidFill>
            </a:endParaRPr>
          </a:p>
          <a:p>
            <a:pPr algn="l"/>
            <a:r>
              <a:rPr lang="en-US" sz="3600" dirty="0">
                <a:solidFill>
                  <a:srgbClr val="FF0000"/>
                </a:solidFill>
              </a:rPr>
              <a:t>1: Fortinet</a:t>
            </a:r>
          </a:p>
          <a:p>
            <a:pPr algn="l"/>
            <a:r>
              <a:rPr lang="en-US" sz="3600" dirty="0">
                <a:solidFill>
                  <a:srgbClr val="FF0000"/>
                </a:solidFill>
              </a:rPr>
              <a:t>2: Palo Alto</a:t>
            </a:r>
          </a:p>
          <a:p>
            <a:pPr algn="l"/>
            <a:r>
              <a:rPr lang="en-US" sz="3600" dirty="0">
                <a:solidFill>
                  <a:srgbClr val="FF0000"/>
                </a:solidFill>
              </a:rPr>
              <a:t>3: SonicWall</a:t>
            </a:r>
          </a:p>
          <a:p>
            <a:pPr algn="l"/>
            <a:r>
              <a:rPr lang="en-US" sz="3600" dirty="0">
                <a:solidFill>
                  <a:srgbClr val="FF0000"/>
                </a:solidFill>
              </a:rPr>
              <a:t>4: Barracuda</a:t>
            </a:r>
          </a:p>
          <a:p>
            <a:pPr algn="l"/>
            <a:r>
              <a:rPr lang="en-US" sz="3600" dirty="0">
                <a:solidFill>
                  <a:srgbClr val="FF0000"/>
                </a:solidFill>
              </a:rPr>
              <a:t>5: Cisco</a:t>
            </a:r>
          </a:p>
          <a:p>
            <a:pPr algn="l"/>
            <a:r>
              <a:rPr lang="en-US" sz="3600" dirty="0">
                <a:solidFill>
                  <a:srgbClr val="FF0000"/>
                </a:solidFill>
              </a:rPr>
              <a:t>6. Ubiquiti</a:t>
            </a:r>
          </a:p>
          <a:p>
            <a:pPr algn="l"/>
            <a:endParaRPr lang="en-US" sz="36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9465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9C5904-22AE-2C49-81B0-60DFB41E705D}"/>
              </a:ext>
            </a:extLst>
          </p:cNvPr>
          <p:cNvSpPr/>
          <p:nvPr/>
        </p:nvSpPr>
        <p:spPr>
          <a:xfrm>
            <a:off x="0" y="575733"/>
            <a:ext cx="18288000" cy="9711267"/>
          </a:xfrm>
          <a:prstGeom prst="rect">
            <a:avLst/>
          </a:prstGeom>
          <a:solidFill>
            <a:srgbClr val="EE4C59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Exercise: Find us a </a:t>
            </a:r>
            <a:r>
              <a:rPr lang="en-US" err="1"/>
              <a:t>FinSec</a:t>
            </a:r>
            <a:r>
              <a:rPr lang="en-US"/>
              <a:t> Firewall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09" y="2193131"/>
            <a:ext cx="11328733" cy="76581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Questions to ask:</a:t>
            </a:r>
          </a:p>
          <a:p>
            <a:pPr lvl="1"/>
            <a:r>
              <a:rPr lang="en-US" dirty="0"/>
              <a:t>Is this solution a firewall? UTM? NGFW? Something else?</a:t>
            </a:r>
          </a:p>
          <a:p>
            <a:pPr lvl="1"/>
            <a:r>
              <a:rPr lang="en-US" dirty="0"/>
              <a:t>Is it an appliance? Is there a virtual appliance available for the cloud?</a:t>
            </a:r>
          </a:p>
          <a:p>
            <a:pPr lvl="1"/>
            <a:r>
              <a:rPr lang="en-US" dirty="0"/>
              <a:t>Is there a service associated with it to identify threats and update a threat database?</a:t>
            </a:r>
          </a:p>
          <a:p>
            <a:pPr lvl="1"/>
            <a:r>
              <a:rPr lang="en-US" dirty="0"/>
              <a:t>Does this manufacturer identify Financial entities or FinTech as a target vertical?</a:t>
            </a:r>
          </a:p>
          <a:p>
            <a:pPr lvl="1"/>
            <a:r>
              <a:rPr lang="en-US" dirty="0"/>
              <a:t>Do they have specific financial industry solutions available?</a:t>
            </a:r>
          </a:p>
          <a:p>
            <a:pPr lvl="1"/>
            <a:r>
              <a:rPr lang="en-US" dirty="0"/>
              <a:t>Are there case studies or other documents available in the financial area?</a:t>
            </a:r>
          </a:p>
          <a:p>
            <a:pPr lvl="1"/>
            <a:r>
              <a:rPr lang="en-US" dirty="0"/>
              <a:t>Is there anything else of interest to banks?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2E789-986D-2346-9A71-CD72684827AB}"/>
              </a:ext>
            </a:extLst>
          </p:cNvPr>
          <p:cNvSpPr txBox="1"/>
          <p:nvPr/>
        </p:nvSpPr>
        <p:spPr>
          <a:xfrm>
            <a:off x="13167430" y="3760023"/>
            <a:ext cx="5258326" cy="45243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n-US" sz="3600" dirty="0">
                <a:solidFill>
                  <a:srgbClr val="FF0000"/>
                </a:solidFill>
              </a:rPr>
              <a:t>Companies to Consider:</a:t>
            </a:r>
          </a:p>
          <a:p>
            <a:pPr algn="l"/>
            <a:endParaRPr lang="en-US" sz="3600" dirty="0">
              <a:solidFill>
                <a:srgbClr val="FF0000"/>
              </a:solidFill>
            </a:endParaRPr>
          </a:p>
          <a:p>
            <a:pPr algn="l"/>
            <a:r>
              <a:rPr lang="en-US" sz="3600" dirty="0">
                <a:solidFill>
                  <a:srgbClr val="FF0000"/>
                </a:solidFill>
              </a:rPr>
              <a:t>1: Fortinet</a:t>
            </a:r>
          </a:p>
          <a:p>
            <a:pPr algn="l"/>
            <a:r>
              <a:rPr lang="en-US" sz="3600" dirty="0">
                <a:solidFill>
                  <a:srgbClr val="FF0000"/>
                </a:solidFill>
              </a:rPr>
              <a:t>2: Palo Alto</a:t>
            </a:r>
          </a:p>
          <a:p>
            <a:pPr algn="l"/>
            <a:r>
              <a:rPr lang="en-US" sz="3600" dirty="0">
                <a:solidFill>
                  <a:srgbClr val="FF0000"/>
                </a:solidFill>
              </a:rPr>
              <a:t>3: SonicWall</a:t>
            </a:r>
          </a:p>
          <a:p>
            <a:pPr algn="l"/>
            <a:r>
              <a:rPr lang="en-US" sz="3600" dirty="0">
                <a:solidFill>
                  <a:srgbClr val="FF0000"/>
                </a:solidFill>
              </a:rPr>
              <a:t>4: Barracuda</a:t>
            </a:r>
          </a:p>
          <a:p>
            <a:pPr algn="l"/>
            <a:r>
              <a:rPr lang="en-US" sz="3600" dirty="0">
                <a:solidFill>
                  <a:srgbClr val="FF0000"/>
                </a:solidFill>
              </a:rPr>
              <a:t>5: Cisco</a:t>
            </a:r>
          </a:p>
          <a:p>
            <a:r>
              <a:rPr lang="en-US" sz="3600" dirty="0">
                <a:solidFill>
                  <a:srgbClr val="FF0000"/>
                </a:solidFill>
              </a:rPr>
              <a:t>6. Ubiquiti</a:t>
            </a:r>
            <a:endParaRPr lang="en-US" sz="36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5433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EEC9-6478-014E-9A00-8A6DF3F75505}"/>
              </a:ext>
            </a:extLst>
          </p:cNvPr>
          <p:cNvSpPr/>
          <p:nvPr/>
        </p:nvSpPr>
        <p:spPr>
          <a:xfrm>
            <a:off x="0" y="575733"/>
            <a:ext cx="18288000" cy="9711267"/>
          </a:xfrm>
          <a:prstGeom prst="rect">
            <a:avLst/>
          </a:prstGeom>
          <a:solidFill>
            <a:srgbClr val="EE4C59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345E3A-9EAE-DB48-92FE-C47F1617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Debrief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C1B1-2011-AE43-ADAA-34F1EFBB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193130"/>
            <a:ext cx="16255448" cy="77261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Make a single slide that reviews: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Pros and cons of the company, platform, approach, product?</a:t>
            </a:r>
          </a:p>
          <a:p>
            <a:r>
              <a:rPr lang="en-US" dirty="0"/>
              <a:t>Ideas about the changes required to implement it?</a:t>
            </a:r>
          </a:p>
          <a:p>
            <a:r>
              <a:rPr lang="en-US" dirty="0"/>
              <a:t>Plans for maintenance and upkeep?</a:t>
            </a:r>
          </a:p>
          <a:p>
            <a:r>
              <a:rPr lang="en-US" dirty="0"/>
              <a:t>Thoughts about what else should be considered to keep the bank network safe? Did you feel there were important things missing?</a:t>
            </a:r>
          </a:p>
          <a:p>
            <a:r>
              <a:rPr lang="en-US" dirty="0"/>
              <a:t>Other considerations or thoughts?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 pressure here, the “slide” is just a suggestion. I just would like someone from each team to review what you thought about the assigned platform.</a:t>
            </a:r>
          </a:p>
        </p:txBody>
      </p:sp>
    </p:spTree>
    <p:extLst>
      <p:ext uri="{BB962C8B-B14F-4D97-AF65-F5344CB8AC3E}">
        <p14:creationId xmlns:p14="http://schemas.microsoft.com/office/powerpoint/2010/main" val="3431008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1B7392-F1A9-ECA2-2181-F23FBBD194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Exercise 3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C59FCD8-D319-0E88-B267-A58B6272D2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4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22AD1-AFFE-364E-1848-B240DB0F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6D033-6E41-80ED-EE3F-91E66EB5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3: Build your exam toolkit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80CFD-490D-1C15-2261-E3642FA83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table gets a different exam domain from this week: Firewall Management, Segmentation, Availability, Monitoring, or Governance</a:t>
            </a:r>
          </a:p>
          <a:p>
            <a:r>
              <a:rPr lang="en-US" dirty="0"/>
              <a:t>Your job: put on your examiner hat and draft what you'd ask and request if you were reviewing Pine Valley on this topic</a:t>
            </a:r>
          </a:p>
          <a:p>
            <a:r>
              <a:rPr lang="en-US" dirty="0"/>
              <a:t>Keep it short — 2-3 interview questions and a few pieces of documentation or evidence you'd request</a:t>
            </a:r>
          </a:p>
          <a:p>
            <a:r>
              <a:rPr lang="en-US" dirty="0"/>
              <a:t>One person per table reports back — by the end we'll have a real starter checklist across all five exam areas</a:t>
            </a:r>
          </a:p>
        </p:txBody>
      </p:sp>
    </p:spTree>
    <p:extLst>
      <p:ext uri="{BB962C8B-B14F-4D97-AF65-F5344CB8AC3E}">
        <p14:creationId xmlns:p14="http://schemas.microsoft.com/office/powerpoint/2010/main" val="2594563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1: Firewall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Draft 2-3 interview questions you’d ask bank staff about this topic</a:t>
            </a:r>
          </a:p>
          <a:p>
            <a:pPr lvl="1"/>
            <a:r>
              <a:rPr lang="en-US" dirty="0"/>
              <a:t>Think about who actually has their hands on the keyboard, and how you'd know if a change happened that you didn't expect.</a:t>
            </a:r>
          </a:p>
          <a:p>
            <a:pPr lvl="1"/>
            <a:endParaRPr lang="en-US" dirty="0"/>
          </a:p>
          <a:p>
            <a:r>
              <a:rPr lang="en-US" dirty="0"/>
              <a:t>List documentation or evidence you’d request to verify what they tell you</a:t>
            </a:r>
          </a:p>
          <a:p>
            <a:endParaRPr lang="en-US" dirty="0"/>
          </a:p>
          <a:p>
            <a:r>
              <a:rPr lang="en-US" dirty="0"/>
              <a:t>Be ready to report back to the class</a:t>
            </a:r>
          </a:p>
        </p:txBody>
      </p:sp>
    </p:spTree>
    <p:extLst>
      <p:ext uri="{BB962C8B-B14F-4D97-AF65-F5344CB8AC3E}">
        <p14:creationId xmlns:p14="http://schemas.microsoft.com/office/powerpoint/2010/main" val="2669932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2: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Draft 2-3 interview questions you’d ask bank staff about this topic</a:t>
            </a:r>
          </a:p>
          <a:p>
            <a:pPr lvl="1"/>
            <a:r>
              <a:rPr lang="en-US" dirty="0"/>
              <a:t>"Separate" is a claim, not a fact. Think about how you'd verify it rather than just accepting someone's word for it.</a:t>
            </a:r>
          </a:p>
          <a:p>
            <a:pPr lvl="1"/>
            <a:endParaRPr lang="en-US" dirty="0"/>
          </a:p>
          <a:p>
            <a:r>
              <a:rPr lang="en-US" dirty="0"/>
              <a:t>List documentation or evidence you’d request to verify what they tell you</a:t>
            </a:r>
          </a:p>
          <a:p>
            <a:endParaRPr lang="en-US" dirty="0"/>
          </a:p>
          <a:p>
            <a:r>
              <a:rPr lang="en-US" dirty="0"/>
              <a:t>Be ready to report back to the class</a:t>
            </a:r>
          </a:p>
        </p:txBody>
      </p:sp>
    </p:spTree>
    <p:extLst>
      <p:ext uri="{BB962C8B-B14F-4D97-AF65-F5344CB8AC3E}">
        <p14:creationId xmlns:p14="http://schemas.microsoft.com/office/powerpoint/2010/main" val="1814930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3: Availability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Draft 2-3 interview questions you’d ask bank staff about this topic</a:t>
            </a:r>
          </a:p>
          <a:p>
            <a:pPr lvl="1"/>
            <a:r>
              <a:rPr lang="en-US" dirty="0"/>
              <a:t>Don't just ask if a backup plan exists — ask when it was last actually tried.</a:t>
            </a:r>
          </a:p>
          <a:p>
            <a:pPr lvl="1"/>
            <a:endParaRPr lang="en-US" dirty="0"/>
          </a:p>
          <a:p>
            <a:r>
              <a:rPr lang="en-US" dirty="0"/>
              <a:t>List documentation or evidence you’d request to verify what they tell you</a:t>
            </a:r>
          </a:p>
          <a:p>
            <a:endParaRPr lang="en-US" dirty="0"/>
          </a:p>
          <a:p>
            <a:r>
              <a:rPr lang="en-US" dirty="0"/>
              <a:t>Be ready to report back to the class</a:t>
            </a:r>
          </a:p>
        </p:txBody>
      </p:sp>
    </p:spTree>
    <p:extLst>
      <p:ext uri="{BB962C8B-B14F-4D97-AF65-F5344CB8AC3E}">
        <p14:creationId xmlns:p14="http://schemas.microsoft.com/office/powerpoint/2010/main" val="4077276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4: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Draft 2-3 interview questions you’d ask bank staff about this topic</a:t>
            </a:r>
          </a:p>
          <a:p>
            <a:pPr lvl="1"/>
            <a:r>
              <a:rPr lang="en-US" dirty="0"/>
              <a:t>Logs existing and logs being watched are two different things. Think about how you'd tell which one you're looking at.</a:t>
            </a:r>
          </a:p>
          <a:p>
            <a:pPr lvl="1"/>
            <a:endParaRPr lang="en-US" dirty="0"/>
          </a:p>
          <a:p>
            <a:r>
              <a:rPr lang="en-US" dirty="0"/>
              <a:t>List documentation or evidence you’d request to verify what they tell you</a:t>
            </a:r>
          </a:p>
          <a:p>
            <a:endParaRPr lang="en-US" dirty="0"/>
          </a:p>
          <a:p>
            <a:r>
              <a:rPr lang="en-US" dirty="0"/>
              <a:t>Be ready to report back to the class</a:t>
            </a:r>
          </a:p>
        </p:txBody>
      </p:sp>
    </p:spTree>
    <p:extLst>
      <p:ext uri="{BB962C8B-B14F-4D97-AF65-F5344CB8AC3E}">
        <p14:creationId xmlns:p14="http://schemas.microsoft.com/office/powerpoint/2010/main" val="3367426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56D8-54E8-0B46-B06F-9C438FD5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5: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2B11D-0E02-B145-9F3C-91379F2E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Draft 2-3 interview questions you’d ask bank staff about this topic</a:t>
            </a:r>
          </a:p>
          <a:p>
            <a:pPr lvl="1"/>
            <a:r>
              <a:rPr lang="en-US" dirty="0"/>
              <a:t>Look for the difference between things that are written down and things everyone just "knows." Which one holds up during an exam?</a:t>
            </a:r>
          </a:p>
          <a:p>
            <a:pPr lvl="1"/>
            <a:endParaRPr lang="en-US" dirty="0"/>
          </a:p>
          <a:p>
            <a:r>
              <a:rPr lang="en-US" dirty="0"/>
              <a:t>List documentation or evidence you’d request to verify what they tell you</a:t>
            </a:r>
          </a:p>
          <a:p>
            <a:endParaRPr lang="en-US" dirty="0"/>
          </a:p>
          <a:p>
            <a:r>
              <a:rPr lang="en-US" dirty="0"/>
              <a:t>Be ready to report back to the class</a:t>
            </a:r>
          </a:p>
        </p:txBody>
      </p:sp>
    </p:spTree>
    <p:extLst>
      <p:ext uri="{BB962C8B-B14F-4D97-AF65-F5344CB8AC3E}">
        <p14:creationId xmlns:p14="http://schemas.microsoft.com/office/powerpoint/2010/main" val="2090168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_Tech">
      <a:dk1>
        <a:sysClr val="windowText" lastClr="000000"/>
      </a:dk1>
      <a:lt1>
        <a:sysClr val="window" lastClr="FFFFFF"/>
      </a:lt1>
      <a:dk2>
        <a:srgbClr val="373545"/>
      </a:dk2>
      <a:lt2>
        <a:srgbClr val="FFFFFF"/>
      </a:lt2>
      <a:accent1>
        <a:srgbClr val="1D397A"/>
      </a:accent1>
      <a:accent2>
        <a:srgbClr val="32539A"/>
      </a:accent2>
      <a:accent3>
        <a:srgbClr val="4D6088"/>
      </a:accent3>
      <a:accent4>
        <a:srgbClr val="55849D"/>
      </a:accent4>
      <a:accent5>
        <a:srgbClr val="9FA09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ll Associates">
  <a:themeElements>
    <a:clrScheme name="Hill Associates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B4B5DC"/>
      </a:accent1>
      <a:accent2>
        <a:srgbClr val="C6D6E8"/>
      </a:accent2>
      <a:accent3>
        <a:srgbClr val="77B800"/>
      </a:accent3>
      <a:accent4>
        <a:srgbClr val="FBDE81"/>
      </a:accent4>
      <a:accent5>
        <a:srgbClr val="F07B05"/>
      </a:accent5>
      <a:accent6>
        <a:srgbClr val="E53B30"/>
      </a:accent6>
      <a:hlink>
        <a:srgbClr val="2A6EBB"/>
      </a:hlink>
      <a:folHlink>
        <a:srgbClr val="E53B30"/>
      </a:folHlink>
    </a:clrScheme>
    <a:fontScheme name="hill_20100317">
      <a:majorFont>
        <a:latin typeface="Arial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1027113" rtl="0" eaLnBrk="1" fontAlgn="base" latinLnBrk="0" hangingPunct="1">
          <a:lnSpc>
            <a:spcPct val="8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1027113" rtl="0" eaLnBrk="1" fontAlgn="base" latinLnBrk="0" hangingPunct="1">
          <a:lnSpc>
            <a:spcPct val="8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2000" dirty="0" smtClean="0">
            <a:latin typeface="+mj-lt"/>
          </a:defRPr>
        </a:defPPr>
      </a:lstStyle>
    </a:txDef>
  </a:objectDefaults>
  <a:extraClrSchemeLst>
    <a:extraClrScheme>
      <a:clrScheme name="hill_20100317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ll_20100317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8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CC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9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CC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2DB9"/>
        </a:accent6>
        <a:hlink>
          <a:srgbClr val="333399"/>
        </a:hlink>
        <a:folHlink>
          <a:srgbClr val="99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10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CC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2DB9"/>
        </a:accent6>
        <a:hlink>
          <a:srgbClr val="333399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11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CC00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2DB9"/>
        </a:accent6>
        <a:hlink>
          <a:srgbClr val="333399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12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CCCC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2D2DB9"/>
        </a:accent6>
        <a:hlink>
          <a:srgbClr val="333399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13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F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2D2DB9"/>
        </a:accent6>
        <a:hlink>
          <a:srgbClr val="333399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14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BDE81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DECC1"/>
        </a:accent5>
        <a:accent6>
          <a:srgbClr val="2D2DB9"/>
        </a:accent6>
        <a:hlink>
          <a:srgbClr val="333399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15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BDE81"/>
        </a:accent1>
        <a:accent2>
          <a:srgbClr val="2A6EBB"/>
        </a:accent2>
        <a:accent3>
          <a:srgbClr val="FFFFFF"/>
        </a:accent3>
        <a:accent4>
          <a:srgbClr val="000000"/>
        </a:accent4>
        <a:accent5>
          <a:srgbClr val="FDECC1"/>
        </a:accent5>
        <a:accent6>
          <a:srgbClr val="2563A9"/>
        </a:accent6>
        <a:hlink>
          <a:srgbClr val="5F6A72"/>
        </a:hlink>
        <a:folHlink>
          <a:srgbClr val="E23B3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ll_20100317 16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FBDE81"/>
        </a:accent1>
        <a:accent2>
          <a:srgbClr val="5F6A72"/>
        </a:accent2>
        <a:accent3>
          <a:srgbClr val="FFFFFF"/>
        </a:accent3>
        <a:accent4>
          <a:srgbClr val="000000"/>
        </a:accent4>
        <a:accent5>
          <a:srgbClr val="FDECC1"/>
        </a:accent5>
        <a:accent6>
          <a:srgbClr val="555F67"/>
        </a:accent6>
        <a:hlink>
          <a:srgbClr val="2A6EBB"/>
        </a:hlink>
        <a:folHlink>
          <a:srgbClr val="E23B3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71064</TotalTime>
  <Words>1744</Words>
  <Application>Microsoft Macintosh PowerPoint</Application>
  <PresentationFormat>Custom</PresentationFormat>
  <Paragraphs>207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Arial Narrow</vt:lpstr>
      <vt:lpstr>Calibri</vt:lpstr>
      <vt:lpstr>Calibri Light</vt:lpstr>
      <vt:lpstr>Helvetica Neue Condensed</vt:lpstr>
      <vt:lpstr>Helvetica Neue Medium</vt:lpstr>
      <vt:lpstr>Symbol</vt:lpstr>
      <vt:lpstr>Wingdings</vt:lpstr>
      <vt:lpstr>Office Theme</vt:lpstr>
      <vt:lpstr>Hill Associates</vt:lpstr>
      <vt:lpstr>DIIF Exercises</vt:lpstr>
      <vt:lpstr>Exercises</vt:lpstr>
      <vt:lpstr>Exercise 1</vt:lpstr>
      <vt:lpstr>Exercise 1: Pine Valley Network Design Review</vt:lpstr>
      <vt:lpstr>Table 1: Maple Street Branch</vt:lpstr>
      <vt:lpstr>Table 2: Riverside Branch</vt:lpstr>
      <vt:lpstr>Table 3: Elm Street Branch</vt:lpstr>
      <vt:lpstr>Table 4: Hillside Branch</vt:lpstr>
      <vt:lpstr>Table 5: Downtown Branch</vt:lpstr>
      <vt:lpstr>Exercise 2</vt:lpstr>
      <vt:lpstr>Exercise 2: Find us a FinSec Firewall</vt:lpstr>
      <vt:lpstr>Exercise: Find us a FinSec Firewall (cont.)</vt:lpstr>
      <vt:lpstr>Exercise Debrief</vt:lpstr>
      <vt:lpstr>Exercise 3</vt:lpstr>
      <vt:lpstr>Exercise 3: Build your exam toolkit</vt:lpstr>
      <vt:lpstr>Table 1: Firewall Management</vt:lpstr>
      <vt:lpstr>Table 2: Segmentation</vt:lpstr>
      <vt:lpstr>Table 3: Availability</vt:lpstr>
      <vt:lpstr>Table 4: Monitoring</vt:lpstr>
      <vt:lpstr>Table 5: Governance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PresenterMedia.com</dc:creator>
  <cp:lastModifiedBy>Matt Kolon</cp:lastModifiedBy>
  <cp:revision>59</cp:revision>
  <dcterms:created xsi:type="dcterms:W3CDTF">2016-01-13T17:16:24Z</dcterms:created>
  <dcterms:modified xsi:type="dcterms:W3CDTF">2026-08-24T02:15:13Z</dcterms:modified>
</cp:coreProperties>
</file>